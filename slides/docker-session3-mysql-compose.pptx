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5" r:id="rId21"/>
    <p:sldId id="276" r:id="rId22"/>
    <p:sldId id="274" r:id="rId23"/>
    <p:sldId id="275" r:id="rId24"/>
    <p:sldId id="277" r:id="rId25"/>
    <p:sldId id="278" r:id="rId26"/>
    <p:sldId id="279" r:id="rId27"/>
    <p:sldId id="320" r:id="rId28"/>
    <p:sldId id="280" r:id="rId29"/>
    <p:sldId id="281" r:id="rId30"/>
    <p:sldId id="282" r:id="rId31"/>
    <p:sldId id="283" r:id="rId32"/>
    <p:sldId id="289" r:id="rId33"/>
    <p:sldId id="290" r:id="rId34"/>
    <p:sldId id="296" r:id="rId35"/>
    <p:sldId id="298" r:id="rId36"/>
    <p:sldId id="299" r:id="rId37"/>
    <p:sldId id="300" r:id="rId38"/>
    <p:sldId id="302" r:id="rId3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0"/>
    <p:restoredTop sz="94653"/>
  </p:normalViewPr>
  <p:slideViewPr>
    <p:cSldViewPr snapToGrid="0">
      <p:cViewPr varScale="1">
        <p:scale>
          <a:sx n="77" d="100"/>
          <a:sy n="77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035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9599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BAF8CC-A11E-4B41-A4AC-BEAF420C0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8968" r="18968"/>
          <a:stretch>
            <a:fillRect/>
          </a:stretch>
        </p:blipFill>
        <p:spPr>
          <a:xfrm>
            <a:off x="4629150" y="0"/>
            <a:ext cx="756285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D6F607-9DF1-4376-A659-533EE507A4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5000">
                <a:srgbClr val="07111F">
                  <a:alpha val="98000"/>
                </a:srgbClr>
              </a:gs>
              <a:gs pos="64000">
                <a:srgbClr val="07111F">
                  <a:alpha val="48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F6BF591-D149-46FE-8B21-8F613E69C0F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13360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8E6193-FA12-4F3C-BCAD-9B7316512F76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3 堂 | Multi-container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42F13-0BF4-4EE2-A7FB-4D0BF71C70E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096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MySQL、Docker Compose 與多容器管理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B0E5B7-E26C-4A7E-BF4F-DEFF9866631F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從單一容器，進入資料庫與多服務開發環境。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1EDCAFA-44E6-4D62-BF3B-52B489AA847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810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FA5798-34B6-4643-8689-3D47C6F7750E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8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今天完成：跑起 MySQL、保存資料、用 compose.yaml 一次管理多個服務。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8AD43-5323-4B3C-8FD3-4195D2E2589F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92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34F06D7-789F-4A23-A029-BC561ACDBD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6BA731-CCCA-4AD1-B7A2-04A2F07EFB0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37B5D27-67B3-41F4-94C7-3456D934EC5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03D4BE2-AD85-49AA-A1FB-BC499C3DE62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6FB1B-B3E2-437B-ACF7-3CE54206F277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75FFC-9791-42B4-A123-156FB2346B25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容器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16264B-EAFE-42A2-846E-A2BFDEB6F73F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 Docker Hub 參數，啟動 MySQL，連線並做 CRUD。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24BE0D8-0ECB-494C-82F3-8BB6AF520F33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3B011-082D-40BD-B526-8734582BD5E3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EAD48E5-36B9-4081-A402-865CD45C06D1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E879886-7B99-414F-8401-4E55F8EC216E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A5ABFF-337F-4C58-9212-BDD3955F7C99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417B24-338C-482C-8986-39EFF8CA1EEC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E4EEB-E7F3-4884-9518-A32B57389E7E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把多個容器設定寫進 compose.yaml，一鍵啟動。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A3A8DB-1510-418D-BEDA-F0C25D639689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9B3C8F-028A-498A-A201-AB7D834105E3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BC9131E-883D-4CF5-81D7-1BAB8DAFA2AA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DAA681F4-6485-4BFA-8180-1E7D191CE9A7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55E961-F165-4A28-9E1F-D339150AA8BF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B858FA-C719-4BD0-BCBA-052994314DDC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多容器實戰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275480-66EE-42F5-ACEA-11973F23E7A4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+ MySQL；</a:t>
            </a:r>
            <a:r>
              <a:rPr lang="zh-TW" altLang="en-US"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多版本 </a:t>
            </a:r>
            <a:r>
              <a:rPr lang="en-US"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MySQL、Docker Hub </a:t>
            </a:r>
            <a:r>
              <a:rPr lang="zh-TW" altLang="en-US"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探索與清理。</a:t>
            </a:r>
            <a:endParaRPr sz="15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E560534-4529-4484-8FAD-68CB6BDDB12C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28E40B-8166-48BF-8F2C-667C64348C46}"/>
              </a:ext>
            </a:extLst>
          </p:cNvPr>
          <p:cNvSpPr>
            <a:spLocks noGrp="1"/>
          </p:cNvSpPr>
          <p:nvPr/>
        </p:nvSpPr>
        <p:spPr>
          <a:xfrm>
            <a:off x="82677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09D5A4-3BB7-40F1-8F85-40E7A8853EE4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這堂課的核心是：服務變多時，不要靠記憶管理長指令，要靠設定檔管理環境。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7DC6F5-2ECA-4F81-A444-561AFCF28CB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26A291-E480-4889-90BB-EF37789E292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976B8E-2450-4EDC-92BA-7DBD4F9FD31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46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661F470-52D5-47B4-A0F8-71DB8F9050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MYSQL IN DEVELOPMENT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C5C02-AD6D-4658-AD29-D60488B1FB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開發環境很適合用 Docker 跑資料庫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4091940-2C1B-4AE7-A64C-1EB19223E9A3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814CE1-9013-479D-9BF9-64A3BF4630AB}"/>
              </a:ext>
            </a:extLst>
          </p:cNvPr>
          <p:cNvSpPr>
            <a:spLocks noGrp="1"/>
          </p:cNvSpPr>
          <p:nvPr/>
        </p:nvSpPr>
        <p:spPr>
          <a:xfrm>
            <a:off x="108585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傳統安裝 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31935A-DE10-4807-8E85-422712FB9CDE}"/>
              </a:ext>
            </a:extLst>
          </p:cNvPr>
          <p:cNvSpPr>
            <a:spLocks noGrp="1"/>
          </p:cNvSpPr>
          <p:nvPr/>
        </p:nvSpPr>
        <p:spPr>
          <a:xfrm>
            <a:off x="108585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下載安裝程式、設定服務、調整密碼與路徑；要移除時還可能留下殘留檔。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6DF5EE0-3A95-466A-9E83-F9358242F704}"/>
              </a:ext>
            </a:extLst>
          </p:cNvPr>
          <p:cNvSpPr>
            <a:spLocks noGrp="1"/>
          </p:cNvSpPr>
          <p:nvPr/>
        </p:nvSpPr>
        <p:spPr>
          <a:xfrm>
            <a:off x="693420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EF763-6D5F-4BB8-ACF6-BF32B2D6A1E6}"/>
              </a:ext>
            </a:extLst>
          </p:cNvPr>
          <p:cNvSpPr>
            <a:spLocks noGrp="1"/>
          </p:cNvSpPr>
          <p:nvPr/>
        </p:nvSpPr>
        <p:spPr>
          <a:xfrm>
            <a:off x="716280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跑 MySQL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9D43EB-D9A5-433A-BC39-A29447D3408D}"/>
              </a:ext>
            </a:extLst>
          </p:cNvPr>
          <p:cNvSpPr>
            <a:spLocks noGrp="1"/>
          </p:cNvSpPr>
          <p:nvPr/>
        </p:nvSpPr>
        <p:spPr>
          <a:xfrm>
            <a:off x="716280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一行指令啟動；不想要了刪容器。還能同時跑不同版本。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24478BA-BE2A-4C1C-A4F2-FD9431C2F88B}"/>
              </a:ext>
            </a:extLst>
          </p:cNvPr>
          <p:cNvSpPr>
            <a:spLocks noGrp="1"/>
          </p:cNvSpPr>
          <p:nvPr/>
        </p:nvSpPr>
        <p:spPr>
          <a:xfrm>
            <a:off x="5619750" y="2552700"/>
            <a:ext cx="952500" cy="4381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FC2DC52-71F4-4081-ABB2-05F591534EA5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9067800" cy="723900"/>
          </a:xfrm>
          <a:prstGeom prst="roundRect">
            <a:avLst>
              <a:gd name="adj" fmla="val 1578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F5F81-A704-4C03-B2B9-0871D6AA6E0A}"/>
              </a:ext>
            </a:extLst>
          </p:cNvPr>
          <p:cNvSpPr>
            <a:spLocks noGrp="1"/>
          </p:cNvSpPr>
          <p:nvPr/>
        </p:nvSpPr>
        <p:spPr>
          <a:xfrm>
            <a:off x="1924050" y="4762500"/>
            <a:ext cx="834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35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正式環境資料不能丟，通常用雲端託管資料庫；Docker DB 在本課程定位是開發與測試。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77BBD4-338D-44E6-AFDE-CB0B8E49C7B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2EA0ED-24BB-46A4-86DD-DBCCD17E99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314DC5-687E-4145-8E4A-5B15E958255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B3AE2D9-D253-4EB7-AF7C-586680AE0D8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51BB0-2584-4C31-A8E6-CC8E2FB21A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1：Docker DB 用在哪裡？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4A525E-7A98-40A1-BE02-C5AE31A48E99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10401300" cy="1123950"/>
          </a:xfrm>
          <a:prstGeom prst="roundRect">
            <a:avLst>
              <a:gd name="adj" fmla="val 11864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5325A4-5B1C-4139-8461-9607B6F0C0D5}"/>
              </a:ext>
            </a:extLst>
          </p:cNvPr>
          <p:cNvSpPr>
            <a:spLocks noGrp="1"/>
          </p:cNvSpPr>
          <p:nvPr/>
        </p:nvSpPr>
        <p:spPr>
          <a:xfrm>
            <a:off x="1181100" y="184785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為什麼開發環境適合用 Docker 跑資料庫，但生產環境不建議？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2501A8-BEFA-4658-89EA-5A0654CBE64B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BC604B-3C04-43B9-B812-DE8C33F55DCB}"/>
              </a:ext>
            </a:extLst>
          </p:cNvPr>
          <p:cNvSpPr>
            <a:spLocks noGrp="1"/>
          </p:cNvSpPr>
          <p:nvPr/>
        </p:nvSpPr>
        <p:spPr>
          <a:xfrm>
            <a:off x="137160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開發環境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CB3D47-F564-4A70-8D97-FEC02AF5A0B7}"/>
              </a:ext>
            </a:extLst>
          </p:cNvPr>
          <p:cNvSpPr>
            <a:spLocks noGrp="1"/>
          </p:cNvSpPr>
          <p:nvPr/>
        </p:nvSpPr>
        <p:spPr>
          <a:xfrm>
            <a:off x="137160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測試資料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一行指令啟動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刪掉重來成本低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670618-97F3-4A9E-8C51-0F1F526F4BB5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7B5A74-5E85-48AA-B54B-233981BB73D7}"/>
              </a:ext>
            </a:extLst>
          </p:cNvPr>
          <p:cNvSpPr>
            <a:spLocks noGrp="1"/>
          </p:cNvSpPr>
          <p:nvPr/>
        </p:nvSpPr>
        <p:spPr>
          <a:xfrm>
            <a:off x="699135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生產環境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6EACF8-ECB4-41D2-9D9B-02A8D21EE1D4}"/>
              </a:ext>
            </a:extLst>
          </p:cNvPr>
          <p:cNvSpPr>
            <a:spLocks noGrp="1"/>
          </p:cNvSpPr>
          <p:nvPr/>
        </p:nvSpPr>
        <p:spPr>
          <a:xfrm>
            <a:off x="699135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真實資料不能丟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需要穩定 I/O、備份、複製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通常用託管資料庫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64F3DB-B669-49FC-A0C9-F04464E6CA8E}"/>
              </a:ext>
            </a:extLst>
          </p:cNvPr>
          <p:cNvSpPr>
            <a:spLocks noGrp="1"/>
          </p:cNvSpPr>
          <p:nvPr/>
        </p:nvSpPr>
        <p:spPr>
          <a:xfrm>
            <a:off x="1524000" y="560070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先自己回答，再用兩邊關鍵字檢查是否講到資料風險與環境定位。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9E339E-18E2-4F26-A0CD-93F9BC8B8B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781AC4-CBCD-4CA6-920B-80DA6892F84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2AA9C0-2D67-4852-BAF1-C5EE4DB638B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998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89460A0-199F-4930-AAB8-47D8B4BC02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HUB DOCS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24CFCF-184E-4FF4-B65B-D8A55BD7A4C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使用新 Image 前先看 Docker Hub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3ABA597-693A-4B3A-99CE-3EF4B05970B6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7CC3C-8E83-4816-86DD-079C2454C9C6}"/>
              </a:ext>
            </a:extLst>
          </p:cNvPr>
          <p:cNvSpPr>
            <a:spLocks noGrp="1"/>
          </p:cNvSpPr>
          <p:nvPr/>
        </p:nvSpPr>
        <p:spPr>
          <a:xfrm>
            <a:off x="1276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038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How to use this image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ED857E-9AE4-4CCD-B703-5E511770F9D2}"/>
              </a:ext>
            </a:extLst>
          </p:cNvPr>
          <p:cNvSpPr>
            <a:spLocks noGrp="1"/>
          </p:cNvSpPr>
          <p:nvPr/>
        </p:nvSpPr>
        <p:spPr>
          <a:xfrm>
            <a:off x="1333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啟動容器的範例指令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80E90FC-B3EE-4DAC-A55B-4098DEF64F57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0BDA71-1A9D-4100-B665-426D49B95256}"/>
              </a:ext>
            </a:extLst>
          </p:cNvPr>
          <p:cNvSpPr>
            <a:spLocks noGrp="1"/>
          </p:cNvSpPr>
          <p:nvPr/>
        </p:nvSpPr>
        <p:spPr>
          <a:xfrm>
            <a:off x="4705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67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Environment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CF4E08-07C7-465A-884B-CDC93EA75640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 可以設定哪些值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B62470E-CE14-4B78-85DC-1DA68985FA80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BF1204-3A73-43A7-9747-D69CD340CB9F}"/>
              </a:ext>
            </a:extLst>
          </p:cNvPr>
          <p:cNvSpPr>
            <a:spLocks noGrp="1"/>
          </p:cNvSpPr>
          <p:nvPr/>
        </p:nvSpPr>
        <p:spPr>
          <a:xfrm>
            <a:off x="8134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Where to Store Data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D69BC2-FC5A-46BD-B1D0-6F2A4732C08F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資料在容器裡存在哪個路徑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310ED4-0600-46AF-927B-81F26DA9F9DA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59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對 MySQL 來說，重點就是環境變數與 /var/lib/mysql。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62723E-C6A7-4575-957E-E78980D85E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D4D877-E8B2-4E34-B4A6-A55853A9FB7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796056-1102-4E10-BABC-6B5BA468B6C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369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E0EF49B-E437-46A9-A0F0-7CF85A3CBD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ENVIRONMENT VARIABLES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F0EA4-0812-4E4B-AB89-6133ACDC3B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常用環境變數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988FEDC-777C-4222-B034-360E6FBD1DB2}"/>
              </a:ext>
            </a:extLst>
          </p:cNvPr>
          <p:cNvSpPr>
            <a:spLocks noGrp="1"/>
          </p:cNvSpPr>
          <p:nvPr/>
        </p:nvSpPr>
        <p:spPr>
          <a:xfrm>
            <a:off x="1562100" y="15240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2189196-1918-49F9-A8C3-D59BAFAF7FFE}"/>
              </a:ext>
            </a:extLst>
          </p:cNvPr>
          <p:cNvSpPr>
            <a:spLocks noGrp="1"/>
          </p:cNvSpPr>
          <p:nvPr/>
        </p:nvSpPr>
        <p:spPr>
          <a:xfrm>
            <a:off x="5657850" y="15240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6C5A698-8D0D-463A-89FA-F8D9FDCDB71F}"/>
              </a:ext>
            </a:extLst>
          </p:cNvPr>
          <p:cNvSpPr>
            <a:spLocks noGrp="1"/>
          </p:cNvSpPr>
          <p:nvPr/>
        </p:nvSpPr>
        <p:spPr>
          <a:xfrm>
            <a:off x="8801100" y="15240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AA3271-1ECA-44A3-9319-3C5085DA70CB}"/>
              </a:ext>
            </a:extLst>
          </p:cNvPr>
          <p:cNvSpPr>
            <a:spLocks noGrp="1"/>
          </p:cNvSpPr>
          <p:nvPr/>
        </p:nvSpPr>
        <p:spPr>
          <a:xfrm>
            <a:off x="1752600" y="16383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MYSQL_ROOT_PASSWORD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51F44C-7338-48DC-82C6-3B8EAAB8848D}"/>
              </a:ext>
            </a:extLst>
          </p:cNvPr>
          <p:cNvSpPr>
            <a:spLocks noGrp="1"/>
          </p:cNvSpPr>
          <p:nvPr/>
        </p:nvSpPr>
        <p:spPr>
          <a:xfrm>
            <a:off x="5848350" y="16287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密碼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C4453C-31BF-4E57-9B1E-4C4859ECC7DA}"/>
              </a:ext>
            </a:extLst>
          </p:cNvPr>
          <p:cNvSpPr>
            <a:spLocks noGrp="1"/>
          </p:cNvSpPr>
          <p:nvPr/>
        </p:nvSpPr>
        <p:spPr>
          <a:xfrm>
            <a:off x="8991600" y="16287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必填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842FE6-F71A-442E-967F-3F5D06DCA29D}"/>
              </a:ext>
            </a:extLst>
          </p:cNvPr>
          <p:cNvSpPr>
            <a:spLocks noGrp="1"/>
          </p:cNvSpPr>
          <p:nvPr/>
        </p:nvSpPr>
        <p:spPr>
          <a:xfrm>
            <a:off x="1562100" y="20764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CD15D61-6B2A-4599-94FF-CB0AFF8AF9FC}"/>
              </a:ext>
            </a:extLst>
          </p:cNvPr>
          <p:cNvSpPr>
            <a:spLocks noGrp="1"/>
          </p:cNvSpPr>
          <p:nvPr/>
        </p:nvSpPr>
        <p:spPr>
          <a:xfrm>
            <a:off x="5657850" y="20764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5DFAA5E-9E29-4DCE-807E-06840EB14FAA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0F7B5E-3AE5-4EC0-BFC5-50E5632187C3}"/>
              </a:ext>
            </a:extLst>
          </p:cNvPr>
          <p:cNvSpPr>
            <a:spLocks noGrp="1"/>
          </p:cNvSpPr>
          <p:nvPr/>
        </p:nvSpPr>
        <p:spPr>
          <a:xfrm>
            <a:off x="1752600" y="21907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MYSQL_DATABASE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DF8813-81A0-428D-A321-5D038D9549DE}"/>
              </a:ext>
            </a:extLst>
          </p:cNvPr>
          <p:cNvSpPr>
            <a:spLocks noGrp="1"/>
          </p:cNvSpPr>
          <p:nvPr/>
        </p:nvSpPr>
        <p:spPr>
          <a:xfrm>
            <a:off x="5848350" y="21812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自動建立資料庫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4FA632-2550-4502-8C95-AC728C1CFC3B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6F687DA-D056-4CC3-972D-B5CE88B7B03F}"/>
              </a:ext>
            </a:extLst>
          </p:cNvPr>
          <p:cNvSpPr>
            <a:spLocks noGrp="1"/>
          </p:cNvSpPr>
          <p:nvPr/>
        </p:nvSpPr>
        <p:spPr>
          <a:xfrm>
            <a:off x="1562100" y="26289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7545DA-4058-4DDF-A733-FF07788E9FFA}"/>
              </a:ext>
            </a:extLst>
          </p:cNvPr>
          <p:cNvSpPr>
            <a:spLocks noGrp="1"/>
          </p:cNvSpPr>
          <p:nvPr/>
        </p:nvSpPr>
        <p:spPr>
          <a:xfrm>
            <a:off x="5657850" y="26289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E893052-6940-4AA3-AF20-4EDC5A86DEB8}"/>
              </a:ext>
            </a:extLst>
          </p:cNvPr>
          <p:cNvSpPr>
            <a:spLocks noGrp="1"/>
          </p:cNvSpPr>
          <p:nvPr/>
        </p:nvSpPr>
        <p:spPr>
          <a:xfrm>
            <a:off x="8801100" y="2628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10A63B-E375-40E3-B23E-D077DD647C4A}"/>
              </a:ext>
            </a:extLst>
          </p:cNvPr>
          <p:cNvSpPr>
            <a:spLocks noGrp="1"/>
          </p:cNvSpPr>
          <p:nvPr/>
        </p:nvSpPr>
        <p:spPr>
          <a:xfrm>
            <a:off x="1752600" y="27432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MYSQL_USER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46B13-452F-46B2-995B-5153E614D26C}"/>
              </a:ext>
            </a:extLst>
          </p:cNvPr>
          <p:cNvSpPr>
            <a:spLocks noGrp="1"/>
          </p:cNvSpPr>
          <p:nvPr/>
        </p:nvSpPr>
        <p:spPr>
          <a:xfrm>
            <a:off x="5848350" y="27336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自動建立使用者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7FF874-F5D3-4972-A755-706B6D424FBE}"/>
              </a:ext>
            </a:extLst>
          </p:cNvPr>
          <p:cNvSpPr>
            <a:spLocks noGrp="1"/>
          </p:cNvSpPr>
          <p:nvPr/>
        </p:nvSpPr>
        <p:spPr>
          <a:xfrm>
            <a:off x="8991600" y="27336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0AD65B9-4768-43C0-8D8F-78164553B8F2}"/>
              </a:ext>
            </a:extLst>
          </p:cNvPr>
          <p:cNvSpPr>
            <a:spLocks noGrp="1"/>
          </p:cNvSpPr>
          <p:nvPr/>
        </p:nvSpPr>
        <p:spPr>
          <a:xfrm>
            <a:off x="1562100" y="31813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3508DFF-D0F1-412E-B16C-923BED0BCFA4}"/>
              </a:ext>
            </a:extLst>
          </p:cNvPr>
          <p:cNvSpPr>
            <a:spLocks noGrp="1"/>
          </p:cNvSpPr>
          <p:nvPr/>
        </p:nvSpPr>
        <p:spPr>
          <a:xfrm>
            <a:off x="5657850" y="31813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438A0B8-23B1-4287-BEA7-E88AE7F446FC}"/>
              </a:ext>
            </a:extLst>
          </p:cNvPr>
          <p:cNvSpPr>
            <a:spLocks noGrp="1"/>
          </p:cNvSpPr>
          <p:nvPr/>
        </p:nvSpPr>
        <p:spPr>
          <a:xfrm>
            <a:off x="8801100" y="31813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15A0B4-2BC9-4469-BE77-B582E13720CE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MYSQL_PASSWORD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37F8E9-2A2B-46E8-B542-8DBAD5143260}"/>
              </a:ext>
            </a:extLst>
          </p:cNvPr>
          <p:cNvSpPr>
            <a:spLocks noGrp="1"/>
          </p:cNvSpPr>
          <p:nvPr/>
        </p:nvSpPr>
        <p:spPr>
          <a:xfrm>
            <a:off x="5848350" y="32861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使用者密碼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73264-0E5E-4A95-9FD8-E98972F9F04F}"/>
              </a:ext>
            </a:extLst>
          </p:cNvPr>
          <p:cNvSpPr>
            <a:spLocks noGrp="1"/>
          </p:cNvSpPr>
          <p:nvPr/>
        </p:nvSpPr>
        <p:spPr>
          <a:xfrm>
            <a:off x="8991600" y="32861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F6E0EB7-A3C6-45BE-ADA1-03CA305FA3C4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3A5D580-6C27-41BA-974A-D07DCA24DAAC}"/>
              </a:ext>
            </a:extLst>
          </p:cNvPr>
          <p:cNvSpPr>
            <a:spLocks noGrp="1"/>
          </p:cNvSpPr>
          <p:nvPr/>
        </p:nvSpPr>
        <p:spPr>
          <a:xfrm>
            <a:off x="5657850" y="37338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D52BE24-6056-48E7-BC7E-2244662DA91E}"/>
              </a:ext>
            </a:extLst>
          </p:cNvPr>
          <p:cNvSpPr>
            <a:spLocks noGrp="1"/>
          </p:cNvSpPr>
          <p:nvPr/>
        </p:nvSpPr>
        <p:spPr>
          <a:xfrm>
            <a:off x="8801100" y="37338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6A3BB7F-405A-48FB-BE58-C16D284B41DC}"/>
              </a:ext>
            </a:extLst>
          </p:cNvPr>
          <p:cNvSpPr>
            <a:spLocks noGrp="1"/>
          </p:cNvSpPr>
          <p:nvPr/>
        </p:nvSpPr>
        <p:spPr>
          <a:xfrm>
            <a:off x="1752600" y="38481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MYSQL_ALLOW_EMPTY_PASSWORD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A636F2-1222-4175-BBB1-65C519E5D274}"/>
              </a:ext>
            </a:extLst>
          </p:cNvPr>
          <p:cNvSpPr>
            <a:spLocks noGrp="1"/>
          </p:cNvSpPr>
          <p:nvPr/>
        </p:nvSpPr>
        <p:spPr>
          <a:xfrm>
            <a:off x="5848350" y="38385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允許空密碼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B41401-7107-4026-9F8E-F7446029F069}"/>
              </a:ext>
            </a:extLst>
          </p:cNvPr>
          <p:cNvSpPr>
            <a:spLocks noGrp="1"/>
          </p:cNvSpPr>
          <p:nvPr/>
        </p:nvSpPr>
        <p:spPr>
          <a:xfrm>
            <a:off x="8991600" y="38385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091B4535-808F-49C3-9E19-6DF0944065AD}"/>
              </a:ext>
            </a:extLst>
          </p:cNvPr>
          <p:cNvSpPr>
            <a:spLocks noGrp="1"/>
          </p:cNvSpPr>
          <p:nvPr/>
        </p:nvSpPr>
        <p:spPr>
          <a:xfrm>
            <a:off x="1562100" y="42862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511A939-D836-456B-AAB2-5C6F832F5D14}"/>
              </a:ext>
            </a:extLst>
          </p:cNvPr>
          <p:cNvSpPr>
            <a:spLocks noGrp="1"/>
          </p:cNvSpPr>
          <p:nvPr/>
        </p:nvSpPr>
        <p:spPr>
          <a:xfrm>
            <a:off x="5657850" y="42862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EB5889D-4B6F-4D13-A1C4-A7598DA35F3A}"/>
              </a:ext>
            </a:extLst>
          </p:cNvPr>
          <p:cNvSpPr>
            <a:spLocks noGrp="1"/>
          </p:cNvSpPr>
          <p:nvPr/>
        </p:nvSpPr>
        <p:spPr>
          <a:xfrm>
            <a:off x="8801100" y="42862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973A6F7-7192-45C3-A365-BC1BB8A877A9}"/>
              </a:ext>
            </a:extLst>
          </p:cNvPr>
          <p:cNvSpPr>
            <a:spLocks noGrp="1"/>
          </p:cNvSpPr>
          <p:nvPr/>
        </p:nvSpPr>
        <p:spPr>
          <a:xfrm>
            <a:off x="1752600" y="44005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MYSQL_RANDOM_ROOT_PASSWORD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62FD61-EE30-4C9C-BC0D-CAE6960F49DE}"/>
              </a:ext>
            </a:extLst>
          </p:cNvPr>
          <p:cNvSpPr>
            <a:spLocks noGrp="1"/>
          </p:cNvSpPr>
          <p:nvPr/>
        </p:nvSpPr>
        <p:spPr>
          <a:xfrm>
            <a:off x="5848350" y="43910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自動產生 root 密碼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0A49232-3A53-4B6A-B35A-CF12C3752CAB}"/>
              </a:ext>
            </a:extLst>
          </p:cNvPr>
          <p:cNvSpPr>
            <a:spLocks noGrp="1"/>
          </p:cNvSpPr>
          <p:nvPr/>
        </p:nvSpPr>
        <p:spPr>
          <a:xfrm>
            <a:off x="8991600" y="43910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90" lnSpcReduction="1000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5379F7-17F1-40A2-B1B3-4DC41B6EF14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E4C3C3D-05A3-4B80-BF25-1B99071EFF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3BAF342-7E29-4F1E-8166-CC9CB89669F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68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FF8A8F4-1514-4E72-90CF-2945D35D64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RUN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6C3A99-47E3-457A-A3CE-EE8653E876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 docker run 啟動 MySQL 8.0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FCD383-2FE0-4135-B7A6-9403415C62D2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6572250" cy="3695700"/>
          </a:xfrm>
          <a:prstGeom prst="roundRect">
            <a:avLst>
              <a:gd name="adj" fmla="val 257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1CE8D52-E14C-4525-A048-0E170ABEDD6F}"/>
              </a:ext>
            </a:extLst>
          </p:cNvPr>
          <p:cNvSpPr>
            <a:spLocks noGrp="1"/>
          </p:cNvSpPr>
          <p:nvPr/>
        </p:nvSpPr>
        <p:spPr>
          <a:xfrm>
            <a:off x="95250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9F32203-D5CE-4EF3-AC27-BE905EAF0E2B}"/>
              </a:ext>
            </a:extLst>
          </p:cNvPr>
          <p:cNvSpPr>
            <a:spLocks noGrp="1"/>
          </p:cNvSpPr>
          <p:nvPr/>
        </p:nvSpPr>
        <p:spPr>
          <a:xfrm>
            <a:off x="112395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06F1F48-1A56-4B1F-8D7B-1FE758758164}"/>
              </a:ext>
            </a:extLst>
          </p:cNvPr>
          <p:cNvSpPr>
            <a:spLocks noGrp="1"/>
          </p:cNvSpPr>
          <p:nvPr/>
        </p:nvSpPr>
        <p:spPr>
          <a:xfrm>
            <a:off x="129540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52AFDB-4983-48A8-A74B-236B69D5A9A4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61531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7F20F67-91C7-441E-B30A-FB090138361C}"/>
              </a:ext>
            </a:extLst>
          </p:cNvPr>
          <p:cNvSpPr>
            <a:spLocks noGrp="1"/>
          </p:cNvSpPr>
          <p:nvPr/>
        </p:nvSpPr>
        <p:spPr>
          <a:xfrm>
            <a:off x="7962900" y="14287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179F8-7F54-4C55-A0F5-BE8087625705}"/>
              </a:ext>
            </a:extLst>
          </p:cNvPr>
          <p:cNvSpPr>
            <a:spLocks noGrp="1"/>
          </p:cNvSpPr>
          <p:nvPr/>
        </p:nvSpPr>
        <p:spPr>
          <a:xfrm>
            <a:off x="8210550" y="15621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4516F-0388-4D21-854D-56603D1B3126}"/>
              </a:ext>
            </a:extLst>
          </p:cNvPr>
          <p:cNvSpPr>
            <a:spLocks noGrp="1"/>
          </p:cNvSpPr>
          <p:nvPr/>
        </p:nvSpPr>
        <p:spPr>
          <a:xfrm>
            <a:off x="9620250" y="15716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背景執行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92255E2-F8BF-4687-9431-F80ABAE8E85E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C35427-A345-4897-9360-40A769FEEA9D}"/>
              </a:ext>
            </a:extLst>
          </p:cNvPr>
          <p:cNvSpPr>
            <a:spLocks noGrp="1"/>
          </p:cNvSpPr>
          <p:nvPr/>
        </p:nvSpPr>
        <p:spPr>
          <a:xfrm>
            <a:off x="8210550" y="22860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--name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AC5AF2-7042-4EAD-A936-806CA4460A0C}"/>
              </a:ext>
            </a:extLst>
          </p:cNvPr>
          <p:cNvSpPr>
            <a:spLocks noGrp="1"/>
          </p:cNvSpPr>
          <p:nvPr/>
        </p:nvSpPr>
        <p:spPr>
          <a:xfrm>
            <a:off x="9620250" y="22955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容器名稱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F7EB88E-BAD6-4B17-95C8-B490BAF10A88}"/>
              </a:ext>
            </a:extLst>
          </p:cNvPr>
          <p:cNvSpPr>
            <a:spLocks noGrp="1"/>
          </p:cNvSpPr>
          <p:nvPr/>
        </p:nvSpPr>
        <p:spPr>
          <a:xfrm>
            <a:off x="7962900" y="28765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352390-DD59-4090-99BD-5E8A1C2C88E5}"/>
              </a:ext>
            </a:extLst>
          </p:cNvPr>
          <p:cNvSpPr>
            <a:spLocks noGrp="1"/>
          </p:cNvSpPr>
          <p:nvPr/>
        </p:nvSpPr>
        <p:spPr>
          <a:xfrm>
            <a:off x="8210550" y="30099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D4EDFA-FDA4-46D3-8008-76F4B06EEB59}"/>
              </a:ext>
            </a:extLst>
          </p:cNvPr>
          <p:cNvSpPr>
            <a:spLocks noGrp="1"/>
          </p:cNvSpPr>
          <p:nvPr/>
        </p:nvSpPr>
        <p:spPr>
          <a:xfrm>
            <a:off x="9620250" y="30194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環境變數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035CB95-4D60-4CF9-BFB8-D91F552BE0C4}"/>
              </a:ext>
            </a:extLst>
          </p:cNvPr>
          <p:cNvSpPr>
            <a:spLocks noGrp="1"/>
          </p:cNvSpPr>
          <p:nvPr/>
        </p:nvSpPr>
        <p:spPr>
          <a:xfrm>
            <a:off x="7962900" y="36004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FA1ED1-2DB9-44CE-961E-8507159726C1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-p 3306:3306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3EF6C4-FB51-466F-9BC8-DAACE1542454}"/>
              </a:ext>
            </a:extLst>
          </p:cNvPr>
          <p:cNvSpPr>
            <a:spLocks noGrp="1"/>
          </p:cNvSpPr>
          <p:nvPr/>
        </p:nvSpPr>
        <p:spPr>
          <a:xfrm>
            <a:off x="9620250" y="37433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09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MySQL 端口映射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9EE353F-F999-465C-9589-9A9D22848708}"/>
              </a:ext>
            </a:extLst>
          </p:cNvPr>
          <p:cNvSpPr>
            <a:spLocks noGrp="1"/>
          </p:cNvSpPr>
          <p:nvPr/>
        </p:nvSpPr>
        <p:spPr>
          <a:xfrm>
            <a:off x="7962900" y="43243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B25A2B-5299-43AE-A188-1172E9BDBAAF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29" lnSpcReduction="10000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mysql:8.0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AF038A-570E-4448-B0BF-D23BE415CFD6}"/>
              </a:ext>
            </a:extLst>
          </p:cNvPr>
          <p:cNvSpPr>
            <a:spLocks noGrp="1"/>
          </p:cNvSpPr>
          <p:nvPr/>
        </p:nvSpPr>
        <p:spPr>
          <a:xfrm>
            <a:off x="9620250" y="4467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指定版本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F68B69-6ECD-46B8-853F-0A239668F33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AD7D01-B3AD-4FC9-AB43-58231B0C559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9B9BDD-453F-4AA7-8666-489CD9C59AF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657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93D531-26B7-4CFC-994D-71F57D620CAC}"/>
              </a:ext>
            </a:extLst>
          </p:cNvPr>
          <p:cNvSpPr>
            <a:spLocks noGrp="1"/>
          </p:cNvSpPr>
          <p:nvPr/>
        </p:nvSpPr>
        <p:spPr>
          <a:xfrm>
            <a:off x="344424" y="151584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endParaRPr sz="2850" b="1" dirty="0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6DF65-5547-467A-A93D-90483702FF0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51A1BC-477C-4DE6-902C-98D296EF41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B5C6F9-447F-45E4-A611-F765BC6072D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F312FD1-A973-C1E5-7C88-B4FCE2217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36363"/>
            <a:ext cx="5582429" cy="588727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7A170EA-FF7F-ED24-5B37-DC6393080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71" y="1622884"/>
            <a:ext cx="3943900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9CF4FA-2A7E-4243-8A20-7F300658EF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CONNECT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93D531-26B7-4CFC-994D-71F57D620C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看到 ready for connections 才算啟動完成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715AA3-56F5-47AF-A0DE-4EF48F2A43EF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334000" cy="2038350"/>
          </a:xfrm>
          <a:prstGeom prst="roundRect">
            <a:avLst>
              <a:gd name="adj" fmla="val 467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0D42916-F547-4261-B023-396D15DC32EF}"/>
              </a:ext>
            </a:extLst>
          </p:cNvPr>
          <p:cNvSpPr>
            <a:spLocks noGrp="1"/>
          </p:cNvSpPr>
          <p:nvPr/>
        </p:nvSpPr>
        <p:spPr>
          <a:xfrm>
            <a:off x="9906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BFCA455-E91E-4575-BFA2-C98F66D1C652}"/>
              </a:ext>
            </a:extLst>
          </p:cNvPr>
          <p:cNvSpPr>
            <a:spLocks noGrp="1"/>
          </p:cNvSpPr>
          <p:nvPr/>
        </p:nvSpPr>
        <p:spPr>
          <a:xfrm>
            <a:off x="11620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EA45D13-1DEB-4259-8E61-0D6716128BCF}"/>
              </a:ext>
            </a:extLst>
          </p:cNvPr>
          <p:cNvSpPr>
            <a:spLocks noGrp="1"/>
          </p:cNvSpPr>
          <p:nvPr/>
        </p:nvSpPr>
        <p:spPr>
          <a:xfrm>
            <a:off x="13335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56925-41F3-4198-A73C-E1DFE558A6CC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49149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ps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my-mysql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B943CF9-78D9-453A-B6A4-7DE7636A730E}"/>
              </a:ext>
            </a:extLst>
          </p:cNvPr>
          <p:cNvSpPr>
            <a:spLocks noGrp="1"/>
          </p:cNvSpPr>
          <p:nvPr/>
        </p:nvSpPr>
        <p:spPr>
          <a:xfrm>
            <a:off x="6953250" y="1676400"/>
            <a:ext cx="3714750" cy="1638300"/>
          </a:xfrm>
          <a:prstGeom prst="roundRect">
            <a:avLst>
              <a:gd name="adj" fmla="val 697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11AEA2-9C77-47D4-90A0-7F74E0829C30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容器 Up 不等於服務可用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46D89F-351B-4051-B0E8-A9CEF9B8CDD2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3257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容器啟動後還需要初始化資料目錄。logs 看到 ready for connections 再連線。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6DF65-5547-467A-A93D-90483702FF0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51A1BC-477C-4DE6-902C-98D296EF41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B5C6F9-447F-45E4-A611-F765BC6072D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4523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FE34096B-C4FB-41CC-8440-9C10237C825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SQL PRACTICE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777D2B-14CD-4676-8C43-8D68D7B1C5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MySQL 後做一輪基本 CRUD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C41BDD-741B-42A9-806C-BF8C6A87D59C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FB262F-443D-40A6-87C9-48A9A0A13321}"/>
              </a:ext>
            </a:extLst>
          </p:cNvPr>
          <p:cNvSpPr>
            <a:spLocks noGrp="1"/>
          </p:cNvSpPr>
          <p:nvPr/>
        </p:nvSpPr>
        <p:spPr>
          <a:xfrm>
            <a:off x="10096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CREATE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26AA2-8790-4A1F-853F-CC948088E2A5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3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 Product 資料表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8851C87-5D0F-48EF-8490-184F7E422EA1}"/>
              </a:ext>
            </a:extLst>
          </p:cNvPr>
          <p:cNvSpPr>
            <a:spLocks noGrp="1"/>
          </p:cNvSpPr>
          <p:nvPr/>
        </p:nvSpPr>
        <p:spPr>
          <a:xfrm>
            <a:off x="26289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56C6031-1198-4B7B-9CDE-783626367429}"/>
              </a:ext>
            </a:extLst>
          </p:cNvPr>
          <p:cNvSpPr>
            <a:spLocks noGrp="1"/>
          </p:cNvSpPr>
          <p:nvPr/>
        </p:nvSpPr>
        <p:spPr>
          <a:xfrm>
            <a:off x="29908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CE3649-C83F-45D1-94A0-46A72AC5FF4A}"/>
              </a:ext>
            </a:extLst>
          </p:cNvPr>
          <p:cNvSpPr>
            <a:spLocks noGrp="1"/>
          </p:cNvSpPr>
          <p:nvPr/>
        </p:nvSpPr>
        <p:spPr>
          <a:xfrm>
            <a:off x="31623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INSERT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8F08E9-5B6D-40E0-9525-E62A1BF83C2E}"/>
              </a:ext>
            </a:extLst>
          </p:cNvPr>
          <p:cNvSpPr>
            <a:spLocks noGrp="1"/>
          </p:cNvSpPr>
          <p:nvPr/>
        </p:nvSpPr>
        <p:spPr>
          <a:xfrm>
            <a:off x="31623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新增測試產品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3239328-2012-49D2-9044-295D69487222}"/>
              </a:ext>
            </a:extLst>
          </p:cNvPr>
          <p:cNvSpPr>
            <a:spLocks noGrp="1"/>
          </p:cNvSpPr>
          <p:nvPr/>
        </p:nvSpPr>
        <p:spPr>
          <a:xfrm>
            <a:off x="47815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3966DD7-0E34-4DFA-B8B6-EEEEBB6992E3}"/>
              </a:ext>
            </a:extLst>
          </p:cNvPr>
          <p:cNvSpPr>
            <a:spLocks noGrp="1"/>
          </p:cNvSpPr>
          <p:nvPr/>
        </p:nvSpPr>
        <p:spPr>
          <a:xfrm>
            <a:off x="51435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252DFC-36F7-4302-AE99-9970B264FE84}"/>
              </a:ext>
            </a:extLst>
          </p:cNvPr>
          <p:cNvSpPr>
            <a:spLocks noGrp="1"/>
          </p:cNvSpPr>
          <p:nvPr/>
        </p:nvSpPr>
        <p:spPr>
          <a:xfrm>
            <a:off x="53149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SELECT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C3FBC1-7C95-4E59-85C2-6E247ABF4DE6}"/>
              </a:ext>
            </a:extLst>
          </p:cNvPr>
          <p:cNvSpPr>
            <a:spLocks noGrp="1"/>
          </p:cNvSpPr>
          <p:nvPr/>
        </p:nvSpPr>
        <p:spPr>
          <a:xfrm>
            <a:off x="53149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查詢庫存與總價值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CF73BACC-859D-4FB6-818A-3A325A2A157D}"/>
              </a:ext>
            </a:extLst>
          </p:cNvPr>
          <p:cNvSpPr>
            <a:spLocks noGrp="1"/>
          </p:cNvSpPr>
          <p:nvPr/>
        </p:nvSpPr>
        <p:spPr>
          <a:xfrm>
            <a:off x="69342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FA93CF9-613C-473E-BA2C-B0F460407A22}"/>
              </a:ext>
            </a:extLst>
          </p:cNvPr>
          <p:cNvSpPr>
            <a:spLocks noGrp="1"/>
          </p:cNvSpPr>
          <p:nvPr/>
        </p:nvSpPr>
        <p:spPr>
          <a:xfrm>
            <a:off x="72961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407DD-2C9F-4767-A4FF-9B4046A3E89F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UPDATE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BD848E-B382-406B-9252-734814738852}"/>
              </a:ext>
            </a:extLst>
          </p:cNvPr>
          <p:cNvSpPr>
            <a:spLocks noGrp="1"/>
          </p:cNvSpPr>
          <p:nvPr/>
        </p:nvSpPr>
        <p:spPr>
          <a:xfrm>
            <a:off x="74676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更新藍牙耳機價格</a:t>
            </a: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6CFCD01C-A9DD-44CE-A612-DDEC53D9AC3E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F021A65-B4F1-4FBC-B4CD-D83A316E9BC9}"/>
              </a:ext>
            </a:extLst>
          </p:cNvPr>
          <p:cNvSpPr>
            <a:spLocks noGrp="1"/>
          </p:cNvSpPr>
          <p:nvPr/>
        </p:nvSpPr>
        <p:spPr>
          <a:xfrm>
            <a:off x="94488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AA1FC8-4292-416C-81CE-059253B176D9}"/>
              </a:ext>
            </a:extLst>
          </p:cNvPr>
          <p:cNvSpPr>
            <a:spLocks noGrp="1"/>
          </p:cNvSpPr>
          <p:nvPr/>
        </p:nvSpPr>
        <p:spPr>
          <a:xfrm>
            <a:off x="96202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DELETE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0FB012-61DA-4B84-8B04-6281DC2767CE}"/>
              </a:ext>
            </a:extLst>
          </p:cNvPr>
          <p:cNvSpPr>
            <a:spLocks noGrp="1"/>
          </p:cNvSpPr>
          <p:nvPr/>
        </p:nvSpPr>
        <p:spPr>
          <a:xfrm>
            <a:off x="96202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刪除 USB-C 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0F0C1-746C-4353-AE94-7FE7C17F1B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024B11-6E93-4210-96B9-0863EAB823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B2BFD82-8392-4524-AAD2-A8BE7DB1683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8292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E06751EF-DCCA-42CF-BA7B-86B1385703BC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880F540-D81A-4F7D-8181-5B8B3FCA398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範例程式碼：Product 資料表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0E8D265-93AB-4F07-8456-38E7940659BC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AA93120-A65C-4EEB-8427-1A546BC4AFE3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20A73A0-D35E-4A71-94B4-3B5AD47E1AC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 TABLE Product (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Id INT NOT NULL AUTO_INCREMENT PRIMARY KEY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產品編號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Name VARCHAR(100) NOT NULL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產品名稱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Price DECIMAL(10,2) NOT NULL DEFAULT 0.00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售價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Stock INT NOT NULL DEFAULT 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庫存數量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TIMESTAMP NOT NULL DEFAULT CURRENT_TIMESTAMP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建立時間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) ENGINE=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DEFAULT CHARSET=utf8mb4 COMMENT='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產品資料表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';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B743D44-211E-4EE6-9BF6-D87752AA9EB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9F6D0C5-8BF4-470B-A1CB-1DAB9150BA9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613158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5A432CF-8E88-4E7E-8D3B-C98215E5CE92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F29CD34-D96F-47B2-8DE2-7D05C2D8A1D3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範例程式碼：新增與查詢資料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4768CD1-6AAD-4A82-BC33-20D827C8F79B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95FE38F7-8033-46DF-BD53-16DF629BB37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9B5E2494-4D7F-46FA-860E-79A7EB7B8F7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endParaRPr lang="en-US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INSERT INTO Product (Name, Price, Stock) VALUES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('Bluetooth Headphones', 1290.00, 50),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('USB-C Cable', 299.00, 150),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('Mechanical Keyboard', 2490.00, 30);</a:t>
            </a:r>
          </a:p>
          <a:p>
            <a:endParaRPr lang="en-US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* FROM Product;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Name, Price FROM Product WHERE Price &gt; 1000;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UPDATE Product SET Price = 1190.00 WHERE Name = 'Bluetooth Headphones';</a:t>
            </a:r>
          </a:p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DELETE FROM Product WHERE Name = 'USB-C Cable';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B9C80AC-914B-46A0-8DC5-B2F5011C781C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D0CC169-F2D5-4C3B-8FE4-58F17E0CE78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76687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F0CFFB7-8352-4D09-9AFA-6A3D05FB44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PERSISTENCE PROBLEM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DF85A9-103C-4E60-8C7C-F397A683C33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刪掉容器後，資料也會消失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925C180-401A-4B8F-A4C6-6187793A9EE2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C9BEDA-F6AC-4E5D-8C29-9F9101477257}"/>
              </a:ext>
            </a:extLst>
          </p:cNvPr>
          <p:cNvSpPr>
            <a:spLocks noGrp="1"/>
          </p:cNvSpPr>
          <p:nvPr/>
        </p:nvSpPr>
        <p:spPr>
          <a:xfrm>
            <a:off x="11811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0" lnSpcReduction="1000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1. 新增資料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33EFFE-8C56-4359-B383-F24E7296B063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 table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測試資料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E39BFC8A-C3A0-4219-BAA1-54290255E1D7}"/>
              </a:ext>
            </a:extLst>
          </p:cNvPr>
          <p:cNvSpPr>
            <a:spLocks noGrp="1"/>
          </p:cNvSpPr>
          <p:nvPr/>
        </p:nvSpPr>
        <p:spPr>
          <a:xfrm>
            <a:off x="40957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A6D434-FCFD-4D0D-A798-C43D28DEBF3D}"/>
              </a:ext>
            </a:extLst>
          </p:cNvPr>
          <p:cNvSpPr>
            <a:spLocks noGrp="1"/>
          </p:cNvSpPr>
          <p:nvPr/>
        </p:nvSpPr>
        <p:spPr>
          <a:xfrm>
            <a:off x="50673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E75B83-FB2D-4038-B124-AD3D06866662}"/>
              </a:ext>
            </a:extLst>
          </p:cNvPr>
          <p:cNvSpPr>
            <a:spLocks noGrp="1"/>
          </p:cNvSpPr>
          <p:nvPr/>
        </p:nvSpPr>
        <p:spPr>
          <a:xfrm>
            <a:off x="53340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0" lnSpcReduction="1000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2. docker rm -f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639866-ED0C-456B-9786-F67C823D1A11}"/>
              </a:ext>
            </a:extLst>
          </p:cNvPr>
          <p:cNvSpPr>
            <a:spLocks noGrp="1"/>
          </p:cNvSpPr>
          <p:nvPr/>
        </p:nvSpPr>
        <p:spPr>
          <a:xfrm>
            <a:off x="5334000" y="2895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11D48"/>
                </a:solidFill>
                <a:latin typeface="Aptos"/>
                <a:ea typeface="Aptos"/>
                <a:cs typeface="Aptos"/>
              </a:rPr>
              <a:t>刪除容器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E9079F0E-56AF-4859-9184-1CEAEEFC3FBA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93F2FF7-7763-42F2-9FEC-3545287BBF4C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2095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3969AB-CE7F-4C6D-932C-DACC0DA57C8A}"/>
              </a:ext>
            </a:extLst>
          </p:cNvPr>
          <p:cNvSpPr>
            <a:spLocks noGrp="1"/>
          </p:cNvSpPr>
          <p:nvPr/>
        </p:nvSpPr>
        <p:spPr>
          <a:xfrm>
            <a:off x="9448800" y="2133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19" lnSpcReduction="1000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3. 重建容器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FE1746-EBD8-484E-9042-6CB14AEA441F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testdb 不見了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EA4F3E-C91D-40AA-AC31-1326E9C693D4}"/>
              </a:ext>
            </a:extLst>
          </p:cNvPr>
          <p:cNvSpPr>
            <a:spLocks noGrp="1"/>
          </p:cNvSpPr>
          <p:nvPr/>
        </p:nvSpPr>
        <p:spPr>
          <a:xfrm>
            <a:off x="1924050" y="5181600"/>
            <a:ext cx="8343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144" lnSpcReduction="20000"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my-mysql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my-mysql -e MYSQL_ROOT_PASSWORD=my-secret-pw -p 3306:3306 mysql:8.0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53B47A-D6F7-4905-9B1E-87D7155C519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644B8D-58E4-40AA-AD13-356BFE7D16A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FDF1B3-A819-4870-8ACE-953F1F18915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49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A106E4F-DF8D-4573-A3EB-2A1731808E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NAMED VOLUME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2FC30-9ADE-4AAA-A3DE-66CF25987A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用 named volume 保存 MySQL 資料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73F75CC-6642-4615-8E7A-23E3715C3C23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6191250" cy="3276600"/>
          </a:xfrm>
          <a:prstGeom prst="roundRect">
            <a:avLst>
              <a:gd name="adj" fmla="val 290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D91823E-8A28-4229-8C0B-16FFA153F036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B06F2E8-8900-4222-B48F-94E903958F66}"/>
              </a:ext>
            </a:extLst>
          </p:cNvPr>
          <p:cNvSpPr>
            <a:spLocks noGrp="1"/>
          </p:cNvSpPr>
          <p:nvPr/>
        </p:nvSpPr>
        <p:spPr>
          <a:xfrm>
            <a:off x="1162050" y="1647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DFA2A87-CCCA-42FA-B2E3-0BE3EF90919D}"/>
              </a:ext>
            </a:extLst>
          </p:cNvPr>
          <p:cNvSpPr>
            <a:spLocks noGrp="1"/>
          </p:cNvSpPr>
          <p:nvPr/>
        </p:nvSpPr>
        <p:spPr>
          <a:xfrm>
            <a:off x="1333500" y="1647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6B40C1-1587-404D-9E4D-9EE5A28D7EE3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57721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-v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1DAB92B-4CEB-45E5-920D-F1060998B89D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E53D5A-EC1B-40E7-B7D2-2D4834235289}"/>
              </a:ext>
            </a:extLst>
          </p:cNvPr>
          <p:cNvSpPr>
            <a:spLocks noGrp="1"/>
          </p:cNvSpPr>
          <p:nvPr/>
        </p:nvSpPr>
        <p:spPr>
          <a:xfrm>
            <a:off x="7905750" y="19812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mysql-data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20312-44B5-4177-923F-F7CEEF159F8E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171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管理的資料卷名稱。容器刪掉後，資料卷還在。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0980C9C-5B21-480A-8929-FFF09EBA40B7}"/>
              </a:ext>
            </a:extLst>
          </p:cNvPr>
          <p:cNvSpPr>
            <a:spLocks noGrp="1"/>
          </p:cNvSpPr>
          <p:nvPr/>
        </p:nvSpPr>
        <p:spPr>
          <a:xfrm>
            <a:off x="7677150" y="354330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E62DE2-338E-4051-9BC6-297B66AB9C1E}"/>
              </a:ext>
            </a:extLst>
          </p:cNvPr>
          <p:cNvSpPr>
            <a:spLocks noGrp="1"/>
          </p:cNvSpPr>
          <p:nvPr/>
        </p:nvSpPr>
        <p:spPr>
          <a:xfrm>
            <a:off x="7905750" y="37338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/var/lib/mysql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8DA2EF-DDA8-410B-87A1-64B057300597}"/>
              </a:ext>
            </a:extLst>
          </p:cNvPr>
          <p:cNvSpPr>
            <a:spLocks noGrp="1"/>
          </p:cNvSpPr>
          <p:nvPr/>
        </p:nvSpPr>
        <p:spPr>
          <a:xfrm>
            <a:off x="7905750" y="4152900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6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官方 Image 的資料存放路徑。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5ED1D3-6E25-45CB-A8DC-C34F81377F61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868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加入資料 -&gt; 刪容器 -&gt; 重建容器並掛同一個 Volume -&gt; 資料仍在。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7B5049-9EFB-43B3-884B-55340C81B7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9F29F0-B460-4855-96EB-1609915667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4D4847-81BF-435C-8362-75111BC1C0B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3805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20079566-3754-461D-A30E-2C7C90F09A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4BAC72-8877-45C3-AB81-D69192B3D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P1：MySQL 完整操作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7AFB05B-F83D-40F0-86DC-42EDC7D3D110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10591800" cy="4057650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1113890-0C09-4378-8783-A255FC360CEF}"/>
              </a:ext>
            </a:extLst>
          </p:cNvPr>
          <p:cNvSpPr>
            <a:spLocks noGrp="1"/>
          </p:cNvSpPr>
          <p:nvPr/>
        </p:nvSpPr>
        <p:spPr>
          <a:xfrm>
            <a:off x="12001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223C18-E590-415B-8943-BA70F2B0C572}"/>
              </a:ext>
            </a:extLst>
          </p:cNvPr>
          <p:cNvSpPr>
            <a:spLocks noGrp="1"/>
          </p:cNvSpPr>
          <p:nvPr/>
        </p:nvSpPr>
        <p:spPr>
          <a:xfrm>
            <a:off x="12001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45E241-BA11-4A81-B144-48E35B90DE3D}"/>
              </a:ext>
            </a:extLst>
          </p:cNvPr>
          <p:cNvSpPr>
            <a:spLocks noGrp="1"/>
          </p:cNvSpPr>
          <p:nvPr/>
        </p:nvSpPr>
        <p:spPr>
          <a:xfrm>
            <a:off x="17526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 MySQL 8.0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FBD62-6123-45B1-BACB-58513A6E3243}"/>
              </a:ext>
            </a:extLst>
          </p:cNvPr>
          <p:cNvSpPr>
            <a:spLocks noGrp="1"/>
          </p:cNvSpPr>
          <p:nvPr/>
        </p:nvSpPr>
        <p:spPr>
          <a:xfrm>
            <a:off x="17526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設定 root 密碼與自動建立資料庫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87FAD17-AEB2-43FC-BBEF-CFF08404D37D}"/>
              </a:ext>
            </a:extLst>
          </p:cNvPr>
          <p:cNvSpPr>
            <a:spLocks noGrp="1"/>
          </p:cNvSpPr>
          <p:nvPr/>
        </p:nvSpPr>
        <p:spPr>
          <a:xfrm>
            <a:off x="63436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E951F0-C9CB-48CD-8567-4F0F242449A4}"/>
              </a:ext>
            </a:extLst>
          </p:cNvPr>
          <p:cNvSpPr>
            <a:spLocks noGrp="1"/>
          </p:cNvSpPr>
          <p:nvPr/>
        </p:nvSpPr>
        <p:spPr>
          <a:xfrm>
            <a:off x="63436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A24156-0AAB-4C18-AA8C-CDF7530BF844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進入 MySQL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DEE5AD-7735-40BF-8EE1-C7187A0526B4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docker exec 登入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81EC0B5-6A6D-45FE-AEDD-F1D7E400C3BA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BCA00F-F4C7-4494-B48F-C9F484E4FA7A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EBD65C-61BC-492B-8982-526E52B6E5EE}"/>
              </a:ext>
            </a:extLst>
          </p:cNvPr>
          <p:cNvSpPr>
            <a:spLocks noGrp="1"/>
          </p:cNvSpPr>
          <p:nvPr/>
        </p:nvSpPr>
        <p:spPr>
          <a:xfrm>
            <a:off x="17526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 employees 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AB12F7-8E79-4FDE-88CE-0ABADD3C521E}"/>
              </a:ext>
            </a:extLst>
          </p:cNvPr>
          <p:cNvSpPr>
            <a:spLocks noGrp="1"/>
          </p:cNvSpPr>
          <p:nvPr/>
        </p:nvSpPr>
        <p:spPr>
          <a:xfrm>
            <a:off x="17526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id、name、department、salary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F43F5AA-990D-4EB1-95A1-4F815FEF3D49}"/>
              </a:ext>
            </a:extLst>
          </p:cNvPr>
          <p:cNvSpPr>
            <a:spLocks noGrp="1"/>
          </p:cNvSpPr>
          <p:nvPr/>
        </p:nvSpPr>
        <p:spPr>
          <a:xfrm>
            <a:off x="63436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D2C90B-7A81-4C09-B06D-1374C6FEA039}"/>
              </a:ext>
            </a:extLst>
          </p:cNvPr>
          <p:cNvSpPr>
            <a:spLocks noGrp="1"/>
          </p:cNvSpPr>
          <p:nvPr/>
        </p:nvSpPr>
        <p:spPr>
          <a:xfrm>
            <a:off x="63436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CA0FD5-D64D-41FB-8505-E4306D8E5D3D}"/>
              </a:ext>
            </a:extLst>
          </p:cNvPr>
          <p:cNvSpPr>
            <a:spLocks noGrp="1"/>
          </p:cNvSpPr>
          <p:nvPr/>
        </p:nvSpPr>
        <p:spPr>
          <a:xfrm>
            <a:off x="68961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插入 3 筆資料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C260E8-ECF9-43C5-BA6F-470ADE3722AD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至少三個不同員工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EFEF19A-8CFA-4457-99E2-1D4049BB8C56}"/>
              </a:ext>
            </a:extLst>
          </p:cNvPr>
          <p:cNvSpPr>
            <a:spLocks noGrp="1"/>
          </p:cNvSpPr>
          <p:nvPr/>
        </p:nvSpPr>
        <p:spPr>
          <a:xfrm>
            <a:off x="12001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F6DB0-2228-4A53-9415-760F8F898083}"/>
              </a:ext>
            </a:extLst>
          </p:cNvPr>
          <p:cNvSpPr>
            <a:spLocks noGrp="1"/>
          </p:cNvSpPr>
          <p:nvPr/>
        </p:nvSpPr>
        <p:spPr>
          <a:xfrm>
            <a:off x="12001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A1B8A-F4E6-4ABB-B915-BE668B53ABBB}"/>
              </a:ext>
            </a:extLst>
          </p:cNvPr>
          <p:cNvSpPr>
            <a:spLocks noGrp="1"/>
          </p:cNvSpPr>
          <p:nvPr/>
        </p:nvSpPr>
        <p:spPr>
          <a:xfrm>
            <a:off x="17526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查詢薪水 &gt; 50000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1A6E7C-A5BB-44F4-98D7-C2736E2FFA62}"/>
              </a:ext>
            </a:extLst>
          </p:cNvPr>
          <p:cNvSpPr>
            <a:spLocks noGrp="1"/>
          </p:cNvSpPr>
          <p:nvPr/>
        </p:nvSpPr>
        <p:spPr>
          <a:xfrm>
            <a:off x="17526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SELECT 條件查詢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4276F9E-DC46-4314-B07E-63A43914F265}"/>
              </a:ext>
            </a:extLst>
          </p:cNvPr>
          <p:cNvSpPr>
            <a:spLocks noGrp="1"/>
          </p:cNvSpPr>
          <p:nvPr/>
        </p:nvSpPr>
        <p:spPr>
          <a:xfrm>
            <a:off x="63436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3F465F-B143-48F7-A5AE-3543027CA155}"/>
              </a:ext>
            </a:extLst>
          </p:cNvPr>
          <p:cNvSpPr>
            <a:spLocks noGrp="1"/>
          </p:cNvSpPr>
          <p:nvPr/>
        </p:nvSpPr>
        <p:spPr>
          <a:xfrm>
            <a:off x="63436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5D21F-A062-445E-A73B-89D86D9DDC36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更新部門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E7C31C-A414-4044-91C7-34B7904CD36D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 某位員工資料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9EC4C87F-5D74-4DA1-9AF9-FEC3493F7054}"/>
              </a:ext>
            </a:extLst>
          </p:cNvPr>
          <p:cNvSpPr>
            <a:spLocks noGrp="1"/>
          </p:cNvSpPr>
          <p:nvPr/>
        </p:nvSpPr>
        <p:spPr>
          <a:xfrm>
            <a:off x="12001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CA2F54-4B42-488C-A937-3AA66520FCEC}"/>
              </a:ext>
            </a:extLst>
          </p:cNvPr>
          <p:cNvSpPr>
            <a:spLocks noGrp="1"/>
          </p:cNvSpPr>
          <p:nvPr/>
        </p:nvSpPr>
        <p:spPr>
          <a:xfrm>
            <a:off x="12001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1EF067-AADC-44FF-9FE6-0C8D47CD41CE}"/>
              </a:ext>
            </a:extLst>
          </p:cNvPr>
          <p:cNvSpPr>
            <a:spLocks noGrp="1"/>
          </p:cNvSpPr>
          <p:nvPr/>
        </p:nvSpPr>
        <p:spPr>
          <a:xfrm>
            <a:off x="17526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刪除一筆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806693-6079-4F3D-A670-FAECD19A4CD7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DELETE 後再次 SELECT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28207302-B9FA-4AD5-A593-B491C7089E05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AFCDA7-D9B8-4899-ABD3-9E86502231E5}"/>
              </a:ext>
            </a:extLst>
          </p:cNvPr>
          <p:cNvSpPr>
            <a:spLocks noGrp="1"/>
          </p:cNvSpPr>
          <p:nvPr/>
        </p:nvSpPr>
        <p:spPr>
          <a:xfrm>
            <a:off x="63436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851" lnSpcReduction="1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AF1ADB-A31B-4C1A-8A78-FBD0CC2CDF87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63" lnSpcReduction="10000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離開並清理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85E20F-4844-4946-A8B7-10DB3531F3C3}"/>
              </a:ext>
            </a:extLst>
          </p:cNvPr>
          <p:cNvSpPr>
            <a:spLocks noGrp="1"/>
          </p:cNvSpPr>
          <p:nvPr/>
        </p:nvSpPr>
        <p:spPr>
          <a:xfrm>
            <a:off x="68961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容器與資料依需求保留或刪除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C7F46A8C-D085-4C5E-AF15-793675083973}"/>
              </a:ext>
            </a:extLst>
          </p:cNvPr>
          <p:cNvSpPr>
            <a:spLocks noGrp="1"/>
          </p:cNvSpPr>
          <p:nvPr/>
        </p:nvSpPr>
        <p:spPr>
          <a:xfrm>
            <a:off x="2057400" y="5753100"/>
            <a:ext cx="8077200" cy="419100"/>
          </a:xfrm>
          <a:prstGeom prst="roundRect">
            <a:avLst>
              <a:gd name="adj" fmla="val 2272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33CF91-F215-403B-80C7-52745BAE0230}"/>
              </a:ext>
            </a:extLst>
          </p:cNvPr>
          <p:cNvSpPr>
            <a:spLocks noGrp="1"/>
          </p:cNvSpPr>
          <p:nvPr/>
        </p:nvSpPr>
        <p:spPr>
          <a:xfrm>
            <a:off x="2343150" y="5867400"/>
            <a:ext cx="7505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54" lnSpcReduction="10000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完成標準：能展示 employees 查詢結果，並說明資料是否需要用 Volume 保留。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A27C30-DB91-4A84-9644-B57B2AC900A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18A661-E4B1-4FB7-9548-3F2A9CB3391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E90E26-693F-4D4F-BE4F-7167B5C3184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1619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1E88B00-B7A0-4A36-AE32-760966DD06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COMPOSE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309440-396D-44C3-B705-F07F396BA28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解決長指令和多服務管理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B52611F-450B-42B0-B934-F328615E3F70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591800" cy="1162050"/>
          </a:xfrm>
          <a:prstGeom prst="roundRect">
            <a:avLst>
              <a:gd name="adj" fmla="val 819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E4283DA-8066-4A7D-BA8B-E3994B3B431A}"/>
              </a:ext>
            </a:extLst>
          </p:cNvPr>
          <p:cNvSpPr>
            <a:spLocks noGrp="1"/>
          </p:cNvSpPr>
          <p:nvPr/>
        </p:nvSpPr>
        <p:spPr>
          <a:xfrm>
            <a:off x="97155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68ABD3D-88A4-4B93-839D-8305E8B012DD}"/>
              </a:ext>
            </a:extLst>
          </p:cNvPr>
          <p:cNvSpPr>
            <a:spLocks noGrp="1"/>
          </p:cNvSpPr>
          <p:nvPr/>
        </p:nvSpPr>
        <p:spPr>
          <a:xfrm>
            <a:off x="114300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F144EEF-829D-4A3A-A5B2-6C9391B3B434}"/>
              </a:ext>
            </a:extLst>
          </p:cNvPr>
          <p:cNvSpPr>
            <a:spLocks noGrp="1"/>
          </p:cNvSpPr>
          <p:nvPr/>
        </p:nvSpPr>
        <p:spPr>
          <a:xfrm>
            <a:off x="131445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12284D-0459-44BC-8D1C-F38B50C852DA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1017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-e MYSQL_ROOT_PASSWORD=my-secret-pw -e MYSQL_DATABASE=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-e MYSQL_USER=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-e MYSQL_PASSWORD=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-p 3306:3306 -v 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2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2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mysql:8.0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1189D8FA-D4EA-490B-86B9-5E9FF8018E4E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952500" cy="419100"/>
          </a:xfrm>
          <a:prstGeom prst="rightArrow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CEE4F12-17BB-4879-9B8F-0F76EA8B89C7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6743700" cy="990600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0530F-DF26-4CDA-A633-9B9FB42A0944}"/>
              </a:ext>
            </a:extLst>
          </p:cNvPr>
          <p:cNvSpPr>
            <a:spLocks noGrp="1"/>
          </p:cNvSpPr>
          <p:nvPr/>
        </p:nvSpPr>
        <p:spPr>
          <a:xfrm>
            <a:off x="3086100" y="4400550"/>
            <a:ext cx="601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21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設定寫進 compose.yaml（舊名 docker-compose.yml 仍可用）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8B03E0-4072-4310-B6ED-8601342FCA7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7F5CA-F2DF-426C-B150-F8E8171FD86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2F3DC1-4933-49DF-AE6A-DFC700FDB50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9315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B1070DD-3F0F-42F9-9CE9-8F84F12638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YAML BASICS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02B34-A66B-4265-82CC-2AD8129F34E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YAML 是靠縮排表達層級的設定檔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47C7DA-5851-433E-8EEE-6121F44DFE86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4476750" cy="238125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C16A646-5330-4F3A-9D60-D3CBAA6272A7}"/>
              </a:ext>
            </a:extLst>
          </p:cNvPr>
          <p:cNvSpPr>
            <a:spLocks noGrp="1"/>
          </p:cNvSpPr>
          <p:nvPr/>
        </p:nvSpPr>
        <p:spPr>
          <a:xfrm>
            <a:off x="12192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B33A80C-EF8F-421D-9802-8B838DA6C756}"/>
              </a:ext>
            </a:extLst>
          </p:cNvPr>
          <p:cNvSpPr>
            <a:spLocks noGrp="1"/>
          </p:cNvSpPr>
          <p:nvPr/>
        </p:nvSpPr>
        <p:spPr>
          <a:xfrm>
            <a:off x="13906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932BBB0-DB68-4481-9FBC-92F4A9468E11}"/>
              </a:ext>
            </a:extLst>
          </p:cNvPr>
          <p:cNvSpPr>
            <a:spLocks noGrp="1"/>
          </p:cNvSpPr>
          <p:nvPr/>
        </p:nvSpPr>
        <p:spPr>
          <a:xfrm>
            <a:off x="15621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C9411-F19F-4CBE-8CB0-FF17CC7EB6E2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40576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7"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my-app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ports: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"8080:80"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"443:443"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environment: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DB_HOST: mysql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DB_PORT: 3306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BECE0B4-EA66-41B7-AF79-731B66FCAFE0}"/>
              </a:ext>
            </a:extLst>
          </p:cNvPr>
          <p:cNvSpPr>
            <a:spLocks noGrp="1"/>
          </p:cNvSpPr>
          <p:nvPr/>
        </p:nvSpPr>
        <p:spPr>
          <a:xfrm>
            <a:off x="653415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3D61BF-C0BE-4000-97D7-82367E8877CF}"/>
              </a:ext>
            </a:extLst>
          </p:cNvPr>
          <p:cNvSpPr>
            <a:spLocks noGrp="1"/>
          </p:cNvSpPr>
          <p:nvPr/>
        </p:nvSpPr>
        <p:spPr>
          <a:xfrm>
            <a:off x="676275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空格縮排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399B4C-3E14-430C-BB7D-E418EA337A24}"/>
              </a:ext>
            </a:extLst>
          </p:cNvPr>
          <p:cNvSpPr>
            <a:spLocks noGrp="1"/>
          </p:cNvSpPr>
          <p:nvPr/>
        </p:nvSpPr>
        <p:spPr>
          <a:xfrm>
            <a:off x="676275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不能用 Tab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869D883-7DEE-4A23-BC4E-D61E669F65E5}"/>
              </a:ext>
            </a:extLst>
          </p:cNvPr>
          <p:cNvSpPr>
            <a:spLocks noGrp="1"/>
          </p:cNvSpPr>
          <p:nvPr/>
        </p:nvSpPr>
        <p:spPr>
          <a:xfrm>
            <a:off x="883920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DE7BE-F83B-4198-B921-5215E41A70CD}"/>
              </a:ext>
            </a:extLst>
          </p:cNvPr>
          <p:cNvSpPr>
            <a:spLocks noGrp="1"/>
          </p:cNvSpPr>
          <p:nvPr/>
        </p:nvSpPr>
        <p:spPr>
          <a:xfrm>
            <a:off x="906780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key: value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5752E4-F56E-4056-A18A-70472AD9973F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冒號後面有空格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7DA133F-769B-4D64-B946-ED3E0D6B7C18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739321-2EAE-48D6-A7F4-D4D95967930E}"/>
              </a:ext>
            </a:extLst>
          </p:cNvPr>
          <p:cNvSpPr>
            <a:spLocks noGrp="1"/>
          </p:cNvSpPr>
          <p:nvPr/>
        </p:nvSpPr>
        <p:spPr>
          <a:xfrm>
            <a:off x="676275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- 清單項目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BEA532-362F-4E91-A153-3F24C7E9A2F2}"/>
              </a:ext>
            </a:extLst>
          </p:cNvPr>
          <p:cNvSpPr>
            <a:spLocks noGrp="1"/>
          </p:cNvSpPr>
          <p:nvPr/>
        </p:nvSpPr>
        <p:spPr>
          <a:xfrm>
            <a:off x="676275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826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 這類通常是清單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A576E9E-95BF-4251-A3E7-1CABADF35AFF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693600-26C2-4C2E-A926-AC3EFFCB292B}"/>
              </a:ext>
            </a:extLst>
          </p:cNvPr>
          <p:cNvSpPr>
            <a:spLocks noGrp="1"/>
          </p:cNvSpPr>
          <p:nvPr/>
        </p:nvSpPr>
        <p:spPr>
          <a:xfrm>
            <a:off x="906780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# 註解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D4E869-C941-49B2-9D04-0B8C52AFD7FB}"/>
              </a:ext>
            </a:extLst>
          </p:cNvPr>
          <p:cNvSpPr>
            <a:spLocks noGrp="1"/>
          </p:cNvSpPr>
          <p:nvPr/>
        </p:nvSpPr>
        <p:spPr>
          <a:xfrm>
            <a:off x="906780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給人看的說明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EA6C1A-A9FA-40AE-A923-6783B5E08E50}"/>
              </a:ext>
            </a:extLst>
          </p:cNvPr>
          <p:cNvSpPr>
            <a:spLocks noGrp="1"/>
          </p:cNvSpPr>
          <p:nvPr/>
        </p:nvSpPr>
        <p:spPr>
          <a:xfrm>
            <a:off x="2286000" y="5105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YAML 對縮排非常敏感，建議用 VS Code 編輯。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C40828-2F2D-4D1E-88F9-B135A3D352D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E0992B-05D8-436F-91B1-3D262624088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8DF2E9-BF8A-4F32-BD8A-85775029BCE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832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C388A98-7B23-4AB4-BA63-DD3EDC5545F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FILE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DAE367-B8BB-47CC-A6B6-6AD651E5267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my-mysql 改寫成 Compose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3F5C191-62CB-43E1-8D71-1AF0145FFEB4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10287000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EF3E7D-0471-43B7-9BC3-918009420245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services: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74B43C0-6667-4CB0-8053-BA0804CAE4F4}"/>
              </a:ext>
            </a:extLst>
          </p:cNvPr>
          <p:cNvSpPr>
            <a:spLocks noGrp="1"/>
          </p:cNvSpPr>
          <p:nvPr/>
        </p:nvSpPr>
        <p:spPr>
          <a:xfrm>
            <a:off x="18097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A42540-9639-4A89-A87D-185193B9D29B}"/>
              </a:ext>
            </a:extLst>
          </p:cNvPr>
          <p:cNvSpPr>
            <a:spLocks noGrp="1"/>
          </p:cNvSpPr>
          <p:nvPr/>
        </p:nvSpPr>
        <p:spPr>
          <a:xfrm>
            <a:off x="20383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AFC092-BF8A-4EF4-B659-8AAC90D18DDD}"/>
              </a:ext>
            </a:extLst>
          </p:cNvPr>
          <p:cNvSpPr>
            <a:spLocks noGrp="1"/>
          </p:cNvSpPr>
          <p:nvPr/>
        </p:nvSpPr>
        <p:spPr>
          <a:xfrm>
            <a:off x="20383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81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image: mysql:8.0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container_name: my-mysql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47B396F-D8EB-4C6A-9353-BC29DAE8D3C5}"/>
              </a:ext>
            </a:extLst>
          </p:cNvPr>
          <p:cNvSpPr>
            <a:spLocks noGrp="1"/>
          </p:cNvSpPr>
          <p:nvPr/>
        </p:nvSpPr>
        <p:spPr>
          <a:xfrm>
            <a:off x="48196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C13A50-07E2-4E7B-80E5-AC8105D5A691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867EA-CB03-44CF-A253-92F6D4FCE0BB}"/>
              </a:ext>
            </a:extLst>
          </p:cNvPr>
          <p:cNvSpPr>
            <a:spLocks noGrp="1"/>
          </p:cNvSpPr>
          <p:nvPr/>
        </p:nvSpPr>
        <p:spPr>
          <a:xfrm>
            <a:off x="50482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password / db / user / pass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ports: "3306:3306"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41535A-C462-4069-BE63-90812CEE8BB7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598" lnSpcReduction="10000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AB4621-40B9-4532-9708-FE15E21E2135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CA69E-9D68-4564-9851-A6B5CD5B134D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000" lnSpcReduction="20000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mysql-data:/var/lib/mysql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B66095-14BA-4199-B0B7-4636102DDDA0}"/>
              </a:ext>
            </a:extLst>
          </p:cNvPr>
          <p:cNvSpPr>
            <a:spLocks noGrp="1"/>
          </p:cNvSpPr>
          <p:nvPr/>
        </p:nvSpPr>
        <p:spPr>
          <a:xfrm>
            <a:off x="8420100" y="3467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662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資料放在 named volume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768008-D004-4AF9-B3CD-17E3C0274888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先延續前面的 MySQL，不換題目，讓每一行都有 docker run 對照。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3E99D5-E3B3-45F2-AA9E-711270902D0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91E6D7-629E-4386-870D-D100734C8FB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3B16CA-155D-480D-AF79-256A1412F5F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7652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0E8FD50-7D2B-4388-8383-C2562A33D37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44A6EB-4D78-4C78-87E0-59C504159C3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範例程式碼：compose.yaml（MySQL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9487AB3-79B8-47E5-9EAE-CBC7B3B293FE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CFBC6C51-0D5A-43D4-ACE2-CD7CECEE505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5EA7E73-D8B7-4251-A481-26E9D4ECF9F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539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lang="en-US"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restart: unless-stopped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my-secret-pw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50F08EE-78FB-440C-90A7-DEBE07E5DE85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827F1AEC-E7B4-40EB-9C91-09C7BF1E0F2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482518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5AF08A8-1CA5-415F-A56A-91254978F3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RESTART POLICY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3CB3F6-CFAD-4065-9DC6-1EDF088022C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restart policy：四種用法差異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A63FB9B-70C2-49D4-9B43-27D1C0682BEB}"/>
              </a:ext>
            </a:extLst>
          </p:cNvPr>
          <p:cNvSpPr>
            <a:spLocks noGrp="1"/>
          </p:cNvSpPr>
          <p:nvPr/>
        </p:nvSpPr>
        <p:spPr>
          <a:xfrm>
            <a:off x="1428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C4018D-EB74-4957-B32D-B265FCC114A8}"/>
              </a:ext>
            </a:extLst>
          </p:cNvPr>
          <p:cNvSpPr>
            <a:spLocks noGrp="1"/>
          </p:cNvSpPr>
          <p:nvPr/>
        </p:nvSpPr>
        <p:spPr>
          <a:xfrm>
            <a:off x="1657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no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06772B-D1C1-4DCF-AC38-DE56F2BCBA7D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預設值。停了就停，不會自動回來。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DF1DF70-32B8-4747-976A-0A15F688364A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51E87B-B6C9-445E-BAE4-3C853CDF4ADC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 dirty="0">
                <a:solidFill>
                  <a:srgbClr val="0B1220"/>
                </a:solidFill>
                <a:latin typeface="Aptos Display"/>
              </a:rPr>
              <a:t>on-failure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4E2F70-CAC7-4E18-AF5E-EA7499764026}"/>
              </a:ext>
            </a:extLst>
          </p:cNvPr>
          <p:cNvSpPr>
            <a:spLocks noGrp="1"/>
          </p:cNvSpPr>
          <p:nvPr/>
        </p:nvSpPr>
        <p:spPr>
          <a:xfrm>
            <a:off x="6991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只有程式錯誤結束才重啟</a:t>
            </a:r>
            <a:r>
              <a:rPr sz="157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14290D8-9C07-4E80-8711-9DB37C90CB52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0EF29-FBC8-4DBA-B1F6-66072797E1A0}"/>
              </a:ext>
            </a:extLst>
          </p:cNvPr>
          <p:cNvSpPr>
            <a:spLocks noGrp="1"/>
          </p:cNvSpPr>
          <p:nvPr/>
        </p:nvSpPr>
        <p:spPr>
          <a:xfrm>
            <a:off x="1657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always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B70660-CA94-4E2B-B79E-FEB9B1BD445D}"/>
              </a:ext>
            </a:extLst>
          </p:cNvPr>
          <p:cNvSpPr>
            <a:spLocks noGrp="1"/>
          </p:cNvSpPr>
          <p:nvPr/>
        </p:nvSpPr>
        <p:spPr>
          <a:xfrm>
            <a:off x="1657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831"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停止後自動重啟；Docker 重開也會帶起。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5A5A794-4FF4-4B82-B827-20EA4181353E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663F9F-A415-40EB-BD39-80D50BB9CFEC}"/>
              </a:ext>
            </a:extLst>
          </p:cNvPr>
          <p:cNvSpPr>
            <a:spLocks noGrp="1"/>
          </p:cNvSpPr>
          <p:nvPr/>
        </p:nvSpPr>
        <p:spPr>
          <a:xfrm>
            <a:off x="6991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unless-stopped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3CB7EC-09A0-4E14-BC57-0C089A76E5D2}"/>
              </a:ext>
            </a:extLst>
          </p:cNvPr>
          <p:cNvSpPr>
            <a:spLocks noGrp="1"/>
          </p:cNvSpPr>
          <p:nvPr/>
        </p:nvSpPr>
        <p:spPr>
          <a:xfrm>
            <a:off x="6991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36"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意外停止會重啟；手動 stop 後維持停止。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1CBF9-3694-4C40-A431-FD18D7D10B1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6D5C91-A181-4190-B136-30D8EEB4FA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087516-30F8-415E-B8F1-C8AD5AB4753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6081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EA10F21-2DF7-4C2C-99AA-C8E411D4A8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COMPOSE COMMANDS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B1630E-8AD7-4CEB-9AD7-79545F99651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Compose 日常指令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C5D75E3-7F27-408C-A56F-B17876D27C2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143500" cy="3829050"/>
          </a:xfrm>
          <a:prstGeom prst="roundRect">
            <a:avLst>
              <a:gd name="adj" fmla="val 248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FEE69C07-D11F-41CB-A8C7-1B3A56BE03FD}"/>
              </a:ext>
            </a:extLst>
          </p:cNvPr>
          <p:cNvSpPr>
            <a:spLocks noGrp="1"/>
          </p:cNvSpPr>
          <p:nvPr/>
        </p:nvSpPr>
        <p:spPr>
          <a:xfrm>
            <a:off x="10477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E542999-9D18-4F49-9730-578564D6740B}"/>
              </a:ext>
            </a:extLst>
          </p:cNvPr>
          <p:cNvSpPr>
            <a:spLocks noGrp="1"/>
          </p:cNvSpPr>
          <p:nvPr/>
        </p:nvSpPr>
        <p:spPr>
          <a:xfrm>
            <a:off x="12192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8A553D8-9900-470E-80A4-9BED3F9F1E6D}"/>
              </a:ext>
            </a:extLst>
          </p:cNvPr>
          <p:cNvSpPr>
            <a:spLocks noGrp="1"/>
          </p:cNvSpPr>
          <p:nvPr/>
        </p:nvSpPr>
        <p:spPr>
          <a:xfrm>
            <a:off x="13906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9F3665-9D2F-475E-8B29-9CA9276980AE}"/>
              </a:ext>
            </a:extLst>
          </p:cNvPr>
          <p:cNvSpPr>
            <a:spLocks noGrp="1"/>
          </p:cNvSpPr>
          <p:nvPr/>
        </p:nvSpPr>
        <p:spPr>
          <a:xfrm>
            <a:off x="1085850" y="1847850"/>
            <a:ext cx="472440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75"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~/docker-lab/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-compose</a:t>
            </a: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</a:t>
            </a: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 -f</a:t>
            </a:r>
          </a:p>
          <a:p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 -v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C894CA9-16C8-421B-886B-76042BBE3F82}"/>
              </a:ext>
            </a:extLst>
          </p:cNvPr>
          <p:cNvSpPr>
            <a:spLocks noGrp="1"/>
          </p:cNvSpPr>
          <p:nvPr/>
        </p:nvSpPr>
        <p:spPr>
          <a:xfrm>
            <a:off x="6991350" y="14287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2ED0D7-60CD-4B58-9048-4AF1D3C5A819}"/>
              </a:ext>
            </a:extLst>
          </p:cNvPr>
          <p:cNvSpPr>
            <a:spLocks noGrp="1"/>
          </p:cNvSpPr>
          <p:nvPr/>
        </p:nvSpPr>
        <p:spPr>
          <a:xfrm>
            <a:off x="7219950" y="15906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up -d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4F3587-6A76-4FC7-8D5B-E1AB11968195}"/>
              </a:ext>
            </a:extLst>
          </p:cNvPr>
          <p:cNvSpPr>
            <a:spLocks noGrp="1"/>
          </p:cNvSpPr>
          <p:nvPr/>
        </p:nvSpPr>
        <p:spPr>
          <a:xfrm>
            <a:off x="8458200" y="16002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背景啟動所有服務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B00EA28-4D25-45EF-89D9-BA682D695598}"/>
              </a:ext>
            </a:extLst>
          </p:cNvPr>
          <p:cNvSpPr>
            <a:spLocks noGrp="1"/>
          </p:cNvSpPr>
          <p:nvPr/>
        </p:nvSpPr>
        <p:spPr>
          <a:xfrm>
            <a:off x="6991350" y="21717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D975E7-91E0-4B33-AB0E-D3E39CC4551F}"/>
              </a:ext>
            </a:extLst>
          </p:cNvPr>
          <p:cNvSpPr>
            <a:spLocks noGrp="1"/>
          </p:cNvSpPr>
          <p:nvPr/>
        </p:nvSpPr>
        <p:spPr>
          <a:xfrm>
            <a:off x="7219950" y="23336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ps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366F8F-2EBF-4469-AF62-54220F2F1D5A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查看服務狀態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EAF919B-DDD8-41F0-8C67-5CF550451F97}"/>
              </a:ext>
            </a:extLst>
          </p:cNvPr>
          <p:cNvSpPr>
            <a:spLocks noGrp="1"/>
          </p:cNvSpPr>
          <p:nvPr/>
        </p:nvSpPr>
        <p:spPr>
          <a:xfrm>
            <a:off x="6991350" y="29146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F562FE-482C-49D0-8BD1-D4534579FDDF}"/>
              </a:ext>
            </a:extLst>
          </p:cNvPr>
          <p:cNvSpPr>
            <a:spLocks noGrp="1"/>
          </p:cNvSpPr>
          <p:nvPr/>
        </p:nvSpPr>
        <p:spPr>
          <a:xfrm>
            <a:off x="7219950" y="30765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logs -f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B69731-D922-4375-8079-693FF55BC868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即時追蹤 log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C47C1B-A54D-4819-A6CE-D7FDCF77FACB}"/>
              </a:ext>
            </a:extLst>
          </p:cNvPr>
          <p:cNvSpPr>
            <a:spLocks noGrp="1"/>
          </p:cNvSpPr>
          <p:nvPr/>
        </p:nvSpPr>
        <p:spPr>
          <a:xfrm>
            <a:off x="6991350" y="36576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038A22-D999-4DF3-870C-4DD1A0CD95FA}"/>
              </a:ext>
            </a:extLst>
          </p:cNvPr>
          <p:cNvSpPr>
            <a:spLocks noGrp="1"/>
          </p:cNvSpPr>
          <p:nvPr/>
        </p:nvSpPr>
        <p:spPr>
          <a:xfrm>
            <a:off x="7219950" y="3819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2CBA7B0-A1C3-4DB5-A89F-0D4DB12598AD}"/>
              </a:ext>
            </a:extLst>
          </p:cNvPr>
          <p:cNvSpPr>
            <a:spLocks noGrp="1"/>
          </p:cNvSpPr>
          <p:nvPr/>
        </p:nvSpPr>
        <p:spPr>
          <a:xfrm>
            <a:off x="8458200" y="38290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停止並刪除容器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6BF69F2D-400C-40E7-A125-AA0C50168D09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BEA021-5069-4937-91EF-1F78F821F7F5}"/>
              </a:ext>
            </a:extLst>
          </p:cNvPr>
          <p:cNvSpPr>
            <a:spLocks noGrp="1"/>
          </p:cNvSpPr>
          <p:nvPr/>
        </p:nvSpPr>
        <p:spPr>
          <a:xfrm>
            <a:off x="7219950" y="45624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 -v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D6EE55-50D0-48B4-A4EB-15C929DBDB80}"/>
              </a:ext>
            </a:extLst>
          </p:cNvPr>
          <p:cNvSpPr>
            <a:spLocks noGrp="1"/>
          </p:cNvSpPr>
          <p:nvPr/>
        </p:nvSpPr>
        <p:spPr>
          <a:xfrm>
            <a:off x="8458200" y="45720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連 Volume 一起刪除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BF0452-A79C-4757-B451-8F7B08093E0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DF2EB9-139B-4C86-9B52-9FC854A780B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9F3A51-4BAF-40F6-A319-E1287BEDB87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86245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80D54E2-8513-4E99-BC9B-9E38E27A830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09EA44-085C-470F-BAB1-D84F811D59A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設定對應 docker run 參數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DDA5286-1B15-40E1-BD32-B92CD885B144}"/>
              </a:ext>
            </a:extLst>
          </p:cNvPr>
          <p:cNvSpPr>
            <a:spLocks noGrp="1"/>
          </p:cNvSpPr>
          <p:nvPr/>
        </p:nvSpPr>
        <p:spPr>
          <a:xfrm>
            <a:off x="1428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A58904-72B2-4ABF-B09A-E5B23B4BE46C}"/>
              </a:ext>
            </a:extLst>
          </p:cNvPr>
          <p:cNvSpPr>
            <a:spLocks noGrp="1"/>
          </p:cNvSpPr>
          <p:nvPr/>
        </p:nvSpPr>
        <p:spPr>
          <a:xfrm>
            <a:off x="1657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image: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1B659-FD79-406D-9731-B4B09086F3C4}"/>
              </a:ext>
            </a:extLst>
          </p:cNvPr>
          <p:cNvSpPr>
            <a:spLocks noGrp="1"/>
          </p:cNvSpPr>
          <p:nvPr/>
        </p:nvSpPr>
        <p:spPr>
          <a:xfrm>
            <a:off x="3619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名稱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5FA0DD3-1B1D-4740-8FC4-3E81F3710B3F}"/>
              </a:ext>
            </a:extLst>
          </p:cNvPr>
          <p:cNvSpPr>
            <a:spLocks noGrp="1"/>
          </p:cNvSpPr>
          <p:nvPr/>
        </p:nvSpPr>
        <p:spPr>
          <a:xfrm>
            <a:off x="6762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B7221-3B6D-4674-A8F6-8EC6E48B51C5}"/>
              </a:ext>
            </a:extLst>
          </p:cNvPr>
          <p:cNvSpPr>
            <a:spLocks noGrp="1"/>
          </p:cNvSpPr>
          <p:nvPr/>
        </p:nvSpPr>
        <p:spPr>
          <a:xfrm>
            <a:off x="6991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container_name: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DF0BC4-CDF0-4009-98A3-35BA8290447E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--name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3DB6422-F040-4F4E-8F27-E3A2DA9EE480}"/>
              </a:ext>
            </a:extLst>
          </p:cNvPr>
          <p:cNvSpPr>
            <a:spLocks noGrp="1"/>
          </p:cNvSpPr>
          <p:nvPr/>
        </p:nvSpPr>
        <p:spPr>
          <a:xfrm>
            <a:off x="1428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C5E810-EF9C-42A7-8E19-60C1DD624DE6}"/>
              </a:ext>
            </a:extLst>
          </p:cNvPr>
          <p:cNvSpPr>
            <a:spLocks noGrp="1"/>
          </p:cNvSpPr>
          <p:nvPr/>
        </p:nvSpPr>
        <p:spPr>
          <a:xfrm>
            <a:off x="1657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ports: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89572-7F51-4C4F-B4A9-2A1A66E6F3E6}"/>
              </a:ext>
            </a:extLst>
          </p:cNvPr>
          <p:cNvSpPr>
            <a:spLocks noGrp="1"/>
          </p:cNvSpPr>
          <p:nvPr/>
        </p:nvSpPr>
        <p:spPr>
          <a:xfrm>
            <a:off x="3619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-p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CD37D1-2107-4702-B2FE-D102264E2289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73ACEB-2458-4527-ACCC-697D32D33889}"/>
              </a:ext>
            </a:extLst>
          </p:cNvPr>
          <p:cNvSpPr>
            <a:spLocks noGrp="1"/>
          </p:cNvSpPr>
          <p:nvPr/>
        </p:nvSpPr>
        <p:spPr>
          <a:xfrm>
            <a:off x="6991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85BFDE-CB7B-4270-B7D2-37233BE9FABF}"/>
              </a:ext>
            </a:extLst>
          </p:cNvPr>
          <p:cNvSpPr>
            <a:spLocks noGrp="1"/>
          </p:cNvSpPr>
          <p:nvPr/>
        </p:nvSpPr>
        <p:spPr>
          <a:xfrm>
            <a:off x="8953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-v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EAEE3F-43D6-46DE-8E0A-F0CBFF929E50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D2FF4F-63A3-4E08-96E9-A2B112160520}"/>
              </a:ext>
            </a:extLst>
          </p:cNvPr>
          <p:cNvSpPr>
            <a:spLocks noGrp="1"/>
          </p:cNvSpPr>
          <p:nvPr/>
        </p:nvSpPr>
        <p:spPr>
          <a:xfrm>
            <a:off x="1657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environment: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C03B1B-9F29-462A-9C9A-A1F44C7BC22D}"/>
              </a:ext>
            </a:extLst>
          </p:cNvPr>
          <p:cNvSpPr>
            <a:spLocks noGrp="1"/>
          </p:cNvSpPr>
          <p:nvPr/>
        </p:nvSpPr>
        <p:spPr>
          <a:xfrm>
            <a:off x="3619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CA47FEC-84C2-4979-BD76-D42EEC243B77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C61044-3E74-48B2-ABEB-3FF39B7F5ADD}"/>
              </a:ext>
            </a:extLst>
          </p:cNvPr>
          <p:cNvSpPr>
            <a:spLocks noGrp="1"/>
          </p:cNvSpPr>
          <p:nvPr/>
        </p:nvSpPr>
        <p:spPr>
          <a:xfrm>
            <a:off x="6991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working_dir: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1FF92C-B551-477E-AED9-4D0CA791D5A4}"/>
              </a:ext>
            </a:extLst>
          </p:cNvPr>
          <p:cNvSpPr>
            <a:spLocks noGrp="1"/>
          </p:cNvSpPr>
          <p:nvPr/>
        </p:nvSpPr>
        <p:spPr>
          <a:xfrm>
            <a:off x="8953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-w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0BF3FF4-14FD-4A08-94DA-8575B01415E6}"/>
              </a:ext>
            </a:extLst>
          </p:cNvPr>
          <p:cNvSpPr>
            <a:spLocks noGrp="1"/>
          </p:cNvSpPr>
          <p:nvPr/>
        </p:nvSpPr>
        <p:spPr>
          <a:xfrm>
            <a:off x="1428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2966FB-F4E3-48F5-A9DE-8883B8EF738D}"/>
              </a:ext>
            </a:extLst>
          </p:cNvPr>
          <p:cNvSpPr>
            <a:spLocks noGrp="1"/>
          </p:cNvSpPr>
          <p:nvPr/>
        </p:nvSpPr>
        <p:spPr>
          <a:xfrm>
            <a:off x="1657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command: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EB8ECC-D481-4259-B702-3E400B470EA1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最後面的指令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FF0E503-196B-46AF-BD6D-2C84064FB430}"/>
              </a:ext>
            </a:extLst>
          </p:cNvPr>
          <p:cNvSpPr>
            <a:spLocks noGrp="1"/>
          </p:cNvSpPr>
          <p:nvPr/>
        </p:nvSpPr>
        <p:spPr>
          <a:xfrm>
            <a:off x="6762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3387C4-54F3-4204-A5AC-1F6F025D9CCF}"/>
              </a:ext>
            </a:extLst>
          </p:cNvPr>
          <p:cNvSpPr>
            <a:spLocks noGrp="1"/>
          </p:cNvSpPr>
          <p:nvPr/>
        </p:nvSpPr>
        <p:spPr>
          <a:xfrm>
            <a:off x="6991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depends_on: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1CE8D3-A1A7-408E-8BB8-A4DEAF389393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啟動順序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3DAFD-A2C0-42D5-A49C-597914D5C78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9CE049-EE0D-4919-88A1-F32B70E8075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2C9D97-D4EF-4BAC-A33E-12821432368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091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33ED3AE-1CA0-48D7-B672-DD405F2830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ORCHESTRATION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7A76F2-BEDE-49A4-ABA3-46F067CFE3C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 Compose 檔案協調多個服務</a:t>
            </a: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rcRect l="5014" r="5014"/>
          <a:stretch>
            <a:fillRect/>
          </a:stretch>
        </p:blipFill>
        <p:spPr>
          <a:xfrm>
            <a:off x="6572250" y="1447800"/>
            <a:ext cx="4476750" cy="2800350"/>
          </a:xfrm>
          <a:prstGeom prst="round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2DF5BC-1AF6-49D4-A41C-64505F24E8AD}"/>
              </a:ext>
            </a:extLst>
          </p:cNvPr>
          <p:cNvSpPr>
            <a:spLocks noGrp="1"/>
          </p:cNvSpPr>
          <p:nvPr/>
        </p:nvSpPr>
        <p:spPr>
          <a:xfrm>
            <a:off x="6572250" y="1447800"/>
            <a:ext cx="4476750" cy="2800350"/>
          </a:xfrm>
          <a:prstGeom prst="roundRect">
            <a:avLst>
              <a:gd name="adj" fmla="val 4762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199AD43-F1E9-4DAB-A91F-5D148A1D82CA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92CBFA-9F5B-472C-8DC3-593D81AA9841}"/>
              </a:ext>
            </a:extLst>
          </p:cNvPr>
          <p:cNvSpPr>
            <a:spLocks noGrp="1"/>
          </p:cNvSpPr>
          <p:nvPr/>
        </p:nvSpPr>
        <p:spPr>
          <a:xfrm>
            <a:off x="121920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自動建立網路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BDFA72-1172-4005-9A01-1941E25A6F0A}"/>
              </a:ext>
            </a:extLst>
          </p:cNvPr>
          <p:cNvSpPr>
            <a:spLocks noGrp="1"/>
          </p:cNvSpPr>
          <p:nvPr/>
        </p:nvSpPr>
        <p:spPr>
          <a:xfrm>
            <a:off x="1219200" y="228600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同一份 compose 裡的服務可以用服務名稱互相連線，例如 app 連 db。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E938B29-FF9E-4D81-B9E4-BB0123DEF706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A32E6C-25B0-47B4-A7ED-2C3B63B8126E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project name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1A7E63-C4E6-4693-B544-8A08876225F4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78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資料夾名稱會變成預設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project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name，用來管理同一組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container、network、volume</a:t>
            </a: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411338-2654-41CC-9FF8-69F14E261BFA}"/>
              </a:ext>
            </a:extLst>
          </p:cNvPr>
          <p:cNvSpPr>
            <a:spLocks noGrp="1"/>
          </p:cNvSpPr>
          <p:nvPr/>
        </p:nvSpPr>
        <p:spPr>
          <a:xfrm>
            <a:off x="1905000" y="54292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先記住：service name 給容器互連；project name 管整組 Compose 環境。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D8D9F4-E682-472D-A758-E77A180C5F5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543241-4B2C-4679-A8AE-7FE52D0CA29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A390C1-9377-4ED5-9581-FB17733E7C0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547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5AF08A8-1CA5-415F-A56A-91254978F3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BENEFITS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3CB3F6-CFAD-4065-9DC6-1EDF088022C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的四個好處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A63FB9B-70C2-49D4-9B43-27D1C0682BEB}"/>
              </a:ext>
            </a:extLst>
          </p:cNvPr>
          <p:cNvSpPr>
            <a:spLocks noGrp="1"/>
          </p:cNvSpPr>
          <p:nvPr/>
        </p:nvSpPr>
        <p:spPr>
          <a:xfrm>
            <a:off x="1428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C4018D-EB74-4957-B32D-B265FCC114A8}"/>
              </a:ext>
            </a:extLst>
          </p:cNvPr>
          <p:cNvSpPr>
            <a:spLocks noGrp="1"/>
          </p:cNvSpPr>
          <p:nvPr/>
        </p:nvSpPr>
        <p:spPr>
          <a:xfrm>
            <a:off x="1657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06772B-D1C1-4DCF-AC38-DE56F2BCBA7D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不用記一堆長指令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DF1DF70-32B8-4747-976A-0A15F688364A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51E87B-B6C9-445E-BAE4-3C853CDF4ADC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可重複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4E2F70-CAC7-4E18-AF5E-EA7499764026}"/>
              </a:ext>
            </a:extLst>
          </p:cNvPr>
          <p:cNvSpPr>
            <a:spLocks noGrp="1"/>
          </p:cNvSpPr>
          <p:nvPr/>
        </p:nvSpPr>
        <p:spPr>
          <a:xfrm>
            <a:off x="6991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compose.yaml 可以 commit 進 Git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14290D8-9C07-4E80-8711-9DB37C90CB52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20EF29-FBC8-4DBA-B1F6-66072797E1A0}"/>
              </a:ext>
            </a:extLst>
          </p:cNvPr>
          <p:cNvSpPr>
            <a:spLocks noGrp="1"/>
          </p:cNvSpPr>
          <p:nvPr/>
        </p:nvSpPr>
        <p:spPr>
          <a:xfrm>
            <a:off x="1657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自動網路（先會用）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B70660-CA94-4E2B-B79E-FEB9B1BD445D}"/>
              </a:ext>
            </a:extLst>
          </p:cNvPr>
          <p:cNvSpPr>
            <a:spLocks noGrp="1"/>
          </p:cNvSpPr>
          <p:nvPr/>
        </p:nvSpPr>
        <p:spPr>
          <a:xfrm>
            <a:off x="1657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服務可用名稱互相連線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5A5A794-4FF4-4B82-B827-20EA4181353E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663F9F-A415-40EB-BD39-80D50BB9CFEC}"/>
              </a:ext>
            </a:extLst>
          </p:cNvPr>
          <p:cNvSpPr>
            <a:spLocks noGrp="1"/>
          </p:cNvSpPr>
          <p:nvPr/>
        </p:nvSpPr>
        <p:spPr>
          <a:xfrm>
            <a:off x="6991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一鍵控制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3CB7EC-09A0-4E14-BC57-0C089A76E5D2}"/>
              </a:ext>
            </a:extLst>
          </p:cNvPr>
          <p:cNvSpPr>
            <a:spLocks noGrp="1"/>
          </p:cNvSpPr>
          <p:nvPr/>
        </p:nvSpPr>
        <p:spPr>
          <a:xfrm>
            <a:off x="6991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 / down 管理整組環境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1CBF9-3694-4C40-A431-FD18D7D10B1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6D5C91-A181-4190-B136-30D8EEB4FA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087516-30F8-415E-B8F1-C8AD5AB4753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4608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66E06E0-BEB0-4178-A369-7BB6FDEDD1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73B865-6C6A-499C-8CBF-2639E264D9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練習 P2：Flask 連 MySQL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66BF06-DC00-4A64-BEAF-FC459666301C}"/>
              </a:ext>
            </a:extLst>
          </p:cNvPr>
          <p:cNvSpPr>
            <a:spLocks noGrp="1"/>
          </p:cNvSpPr>
          <p:nvPr/>
        </p:nvSpPr>
        <p:spPr>
          <a:xfrm>
            <a:off x="857250" y="13525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沿用前一段 MySQL Compose，只新增 Flask 連到 db。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6C7190D-6B4B-45EE-B2D4-493F5F60E45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02DD2D-4B4C-42A7-BBC6-E4F76E23AD46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Flask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319DD3-257A-4F15-A2EE-F73ABB4F41CF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5000:5000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主機連 Flask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02D4DC5-10DC-4D80-B36F-D23DA8BEFD5A}"/>
              </a:ext>
            </a:extLst>
          </p:cNvPr>
          <p:cNvSpPr>
            <a:spLocks noGrp="1"/>
          </p:cNvSpPr>
          <p:nvPr/>
        </p:nvSpPr>
        <p:spPr>
          <a:xfrm>
            <a:off x="3619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22132E-A5E5-46CF-A13D-1D5889D0627F}"/>
              </a:ext>
            </a:extLst>
          </p:cNvPr>
          <p:cNvSpPr>
            <a:spLocks noGrp="1"/>
          </p:cNvSpPr>
          <p:nvPr/>
        </p:nvSpPr>
        <p:spPr>
          <a:xfrm>
            <a:off x="3848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FAB6B3-BA8B-4E65-8C54-ACD5BB4C0E5A}"/>
              </a:ext>
            </a:extLst>
          </p:cNvPr>
          <p:cNvSpPr>
            <a:spLocks noGrp="1"/>
          </p:cNvSpPr>
          <p:nvPr/>
        </p:nvSpPr>
        <p:spPr>
          <a:xfrm>
            <a:off x="3848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mysql:8.0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3306:3306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mysql-data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42DE65-C542-4780-9A80-24A41BD5CD88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585D1C-8FCA-4317-80E7-24D62A894460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AE5AA4-496A-4696-825A-8F9DFC025220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DB_HOST=db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testdb / testuser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5ED96AC-EBF9-412D-80AD-BB7BA28030CD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A3B52C-530F-4067-ACCD-039A9D1C0079}"/>
              </a:ext>
            </a:extLst>
          </p:cNvPr>
          <p:cNvSpPr>
            <a:spLocks noGrp="1"/>
          </p:cNvSpPr>
          <p:nvPr/>
        </p:nvSpPr>
        <p:spPr>
          <a:xfrm>
            <a:off x="9563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驗證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B6DC46-D592-47B8-A182-F00B111006CA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compose up -d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瀏覽器開 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visits 會增加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E317CC9-3198-42B7-9BBF-B44163AC38A5}"/>
              </a:ext>
            </a:extLst>
          </p:cNvPr>
          <p:cNvSpPr>
            <a:spLocks noGrp="1"/>
          </p:cNvSpPr>
          <p:nvPr/>
        </p:nvSpPr>
        <p:spPr>
          <a:xfrm>
            <a:off x="2381250" y="4400550"/>
            <a:ext cx="7429500" cy="123825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00D2942-D235-4BB8-9686-F84C4C32C6A5}"/>
              </a:ext>
            </a:extLst>
          </p:cNvPr>
          <p:cNvSpPr>
            <a:spLocks noGrp="1"/>
          </p:cNvSpPr>
          <p:nvPr/>
        </p:nvSpPr>
        <p:spPr>
          <a:xfrm>
            <a:off x="2552700" y="4562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5678687-1712-4279-97BA-265FDAD7BEFE}"/>
              </a:ext>
            </a:extLst>
          </p:cNvPr>
          <p:cNvSpPr>
            <a:spLocks noGrp="1"/>
          </p:cNvSpPr>
          <p:nvPr/>
        </p:nvSpPr>
        <p:spPr>
          <a:xfrm>
            <a:off x="2724150" y="45624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B2A3BF7E-6F76-493E-A9A1-D0582C1E672A}"/>
              </a:ext>
            </a:extLst>
          </p:cNvPr>
          <p:cNvSpPr>
            <a:spLocks noGrp="1"/>
          </p:cNvSpPr>
          <p:nvPr/>
        </p:nvSpPr>
        <p:spPr>
          <a:xfrm>
            <a:off x="2895600" y="45624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C9516F-C9AF-481D-9821-46A21321175D}"/>
              </a:ext>
            </a:extLst>
          </p:cNvPr>
          <p:cNvSpPr>
            <a:spLocks noGrp="1"/>
          </p:cNvSpPr>
          <p:nvPr/>
        </p:nvSpPr>
        <p:spPr>
          <a:xfrm>
            <a:off x="2590800" y="4819650"/>
            <a:ext cx="701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 &amp;&amp; docker compose up -d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 &amp;&amp; curl http://localhost:5000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FFDE36-270B-49FB-B8FF-ACBF238A59D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D94594-5F55-4231-A50B-98EDA53B4C7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5C865D-AAA8-477E-9AF3-E7AA547F09A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1128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範例程式碼：Flask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+ MySQL（1/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：app </a:t>
            </a:r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關鍵片段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28469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先看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Flask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如何用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DB_HOST=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db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連資料庫</a:t>
            </a:r>
            <a:r>
              <a:rPr lang="zh-TW" altLang="en-US"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</a:t>
            </a:r>
            <a:endParaRPr sz="12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9" name="Code">
            <a:extLst>
              <a:ext uri="{FF2B5EF4-FFF2-40B4-BE49-F238E27FC236}">
                <a16:creationId xmlns:a16="http://schemas.microsoft.com/office/drawing/2014/main" id="{8140682F-EB2D-7748-7DE1-3B286F71E2FE}"/>
              </a:ext>
            </a:extLst>
          </p:cNvPr>
          <p:cNvSpPr>
            <a:spLocks noGrp="1"/>
          </p:cNvSpPr>
          <p:nvPr/>
        </p:nvSpPr>
        <p:spPr>
          <a:xfrm>
            <a:off x="609600" y="1544693"/>
            <a:ext cx="10550000" cy="44012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import time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pymysql</a:t>
            </a:r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from flask import Flask,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jsonify</a:t>
            </a:r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app = Flask(__name__)</a:t>
            </a:r>
          </a:p>
          <a:p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get_db_connection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while True: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try: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return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pymysql.connect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host=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os.environ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["DB_HOST"],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user=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os.environ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["DB_USER"],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password=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os.environ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["DB_PASSWORD"],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database=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os.environ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["DB_NAME"],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cursorclass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pymysql.cursors.DictCursor</a:t>
            </a:r>
            <a:endParaRPr lang="en-US" altLang="zh-TW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)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except Exception as e: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print(f"</a:t>
            </a:r>
            <a:r>
              <a:rPr lang="zh-TW" alt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資料庫連線中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...: {e}")</a:t>
            </a:r>
          </a:p>
          <a:p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zh-TW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zh-TW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範例程式碼：Flask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+ MySQL（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：app </a:t>
            </a:r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關鍵片段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28469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先看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Flask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如何用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DB_HOST=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db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連資料庫</a:t>
            </a:r>
            <a:r>
              <a:rPr lang="zh-TW" altLang="en-US"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</a:t>
            </a:r>
            <a:endParaRPr sz="12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21000" y="1810213"/>
            <a:ext cx="10550000" cy="470065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@app.get("/")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def home():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connection =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get_db_connection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try: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with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connection.cursor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as cursor: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= "SELECT Id, Name, Price, Stock,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CreatedAt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FROM Product"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cursor.execute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rows =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cursor.fetchall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for row in rows: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if row['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CreatedAt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']: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row['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CreatedAt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'] = row['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CreatedAt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'].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('%Y-%m-%d %H:%M:%S')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return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status="success",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product_count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(rows),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products=rows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finally: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connection.close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if __name__ == "__main__":</a:t>
            </a:r>
          </a:p>
          <a:p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TW" sz="11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n-US" altLang="zh-TW" sz="11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(host="0.0.0.0", port=5000)</a:t>
            </a:r>
          </a:p>
          <a:p>
            <a:endParaRPr lang="en-US" altLang="zh-TW" sz="11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148879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範例程式碼：Flask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+ MySQL（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：依賴套件）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</a:t>
            </a:r>
            <a:r>
              <a:rPr sz="1250" dirty="0" err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PyMySQL</a:t>
            </a:r>
            <a:r>
              <a:rPr sz="125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 是 Flask 連 MySQL 的 driver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en-US" altLang="zh-TW" dirty="0">
                <a:solidFill>
                  <a:srgbClr val="E5E7EB"/>
                </a:solidFill>
                <a:latin typeface="Consolas"/>
              </a:rPr>
              <a:t>requirements</a:t>
            </a:r>
            <a:r>
              <a:rPr lang="en-US" dirty="0">
                <a:solidFill>
                  <a:srgbClr val="E5E7EB"/>
                </a:solidFill>
                <a:latin typeface="Consolas"/>
              </a:rPr>
              <a:t>.t</a:t>
            </a:r>
            <a:r>
              <a:rPr lang="en-US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xt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</a:t>
            </a:r>
          </a:p>
          <a:p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pymysql</a:t>
            </a:r>
            <a:endParaRPr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cryptography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範例程式碼：Flask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+ MySQL（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：Compose app）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app 對主機開 5000，並用 DB_HOST=db 找 MySQL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  <a:endParaRPr lang="en-US"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lang="en-US"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working_dir</a:t>
            </a:r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 /app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DB_HOST: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endParaRPr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DB_NAME: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endParaRPr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DB_USER: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endParaRPr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DB_PASSWORD: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endParaRPr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"5000:5000"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depends_on</a:t>
            </a:r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sz="12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endParaRPr sz="12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</a:t>
            </a:r>
            <a:r>
              <a:rPr lang="en-US"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bash</a:t>
            </a:r>
            <a:r>
              <a:rPr sz="1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F364CA04-9970-4B23-859B-7B554CD48367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3302FD-2FF9-4CF6-A594-74C37F108E6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範例程式碼：Flask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 + MySQL（</a:t>
            </a:r>
            <a:r>
              <a:rPr lang="en-US"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5/5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：Compose </a:t>
            </a:r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db</a:t>
            </a:r>
            <a:r>
              <a:rPr sz="2300" b="1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23B0136-4615-44B6-858C-3187F16F94F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db 沿用第一段 MySQL Compose，設定不換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5AF73C6B-4F9A-4EE7-9112-9ACD73CA5F4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D534A58-388B-45A0-ACFE-A10572319886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lang="zh-TW" altLang="en-US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restart: unless-stopped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my-secret-pw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endParaRPr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endParaRPr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endParaRPr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</a:t>
            </a:r>
            <a:endParaRPr lang="en-US"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lang="zh-TW" altLang="en-US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en-US" altLang="zh-TW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external: true(</a:t>
            </a:r>
            <a:r>
              <a:rPr lang="zh-TW" altLang="en-US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選填</a:t>
            </a:r>
            <a:r>
              <a:rPr lang="en-US" altLang="zh-TW" sz="11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lang="zh-TW" altLang="en-US" sz="11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A12A03C-B4E1-4C98-9FE4-16BFA62FE74A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16DDE08F-61AF-4B4B-AF89-7B087CC4D39C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532388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6D58D26-6956-47B3-B68B-681BAF02199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1F5298-34CB-439F-B4CF-B8B8494FEEB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下一段：Flask + MySQL Compose 完整實作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app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
5000:5000
DB_HOST=db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15" name="app-bg 15">
            <a:extLst>
              <a:ext uri="{FF2B5EF4-FFF2-40B4-BE49-F238E27FC236}">
                <a16:creationId xmlns:a16="http://schemas.microsoft.com/office/drawing/2014/main"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467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app-title 16">
            <a:extLst>
              <a:ext uri="{FF2B5EF4-FFF2-40B4-BE49-F238E27FC236}">
                <a16:creationId xmlns:a16="http://schemas.microsoft.com/office/drawing/2014/main"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489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17" name="app-body 17">
            <a:extLst>
              <a:ext uri="{FF2B5EF4-FFF2-40B4-BE49-F238E27FC236}">
                <a16:creationId xmlns:a16="http://schemas.microsoft.com/office/drawing/2014/main"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489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mysql:8.0
3306:3306
mysql-data:/var/lib/mysql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arrow 18">
            <a:extLst>
              <a:ext uri="{FF2B5EF4-FFF2-40B4-BE49-F238E27FC236}">
                <a16:creationId xmlns:a16="http://schemas.microsoft.com/office/drawing/2014/main"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ECBE324-C5C4-40A4-A155-F0AD81F28311}"/>
              </a:ext>
            </a:extLst>
          </p:cNvPr>
          <p:cNvSpPr>
            <a:spLocks noGrp="1"/>
          </p:cNvSpPr>
          <p:nvPr/>
        </p:nvSpPr>
        <p:spPr>
          <a:xfrm>
            <a:off x="858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96E05-42D6-426F-9E39-F26B5455104E}"/>
              </a:ext>
            </a:extLst>
          </p:cNvPr>
          <p:cNvSpPr>
            <a:spLocks noGrp="1"/>
          </p:cNvSpPr>
          <p:nvPr/>
        </p:nvSpPr>
        <p:spPr>
          <a:xfrm>
            <a:off x="880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compose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C26342-4228-40DB-83E4-AFD769D68D97}"/>
              </a:ext>
            </a:extLst>
          </p:cNvPr>
          <p:cNvSpPr>
            <a:spLocks noGrp="1"/>
          </p:cNvSpPr>
          <p:nvPr/>
        </p:nvSpPr>
        <p:spPr>
          <a:xfrm>
            <a:off x="880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 / ps / logs
down / down -v
config 檢查設定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5F95F12-5EAE-4C8C-8431-DF60F81EDB97}"/>
              </a:ext>
            </a:extLst>
          </p:cNvPr>
          <p:cNvSpPr>
            <a:spLocks noGrp="1"/>
          </p:cNvSpPr>
          <p:nvPr/>
        </p:nvSpPr>
        <p:spPr>
          <a:xfrm>
            <a:off x="4057650" y="4495799"/>
            <a:ext cx="4076700" cy="1238251"/>
          </a:xfrm>
          <a:prstGeom prst="roundRect">
            <a:avLst>
              <a:gd name="adj" fmla="val 1562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4F2BA7-319A-4B4F-9D60-CB172BB2364E}"/>
              </a:ext>
            </a:extLst>
          </p:cNvPr>
          <p:cNvSpPr>
            <a:spLocks noGrp="1"/>
          </p:cNvSpPr>
          <p:nvPr/>
        </p:nvSpPr>
        <p:spPr>
          <a:xfrm>
            <a:off x="4362450" y="46863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這段只保留 app / db；沿用上一段設定，重點放在 Compose 如何管理兩個容器。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6537A2-DAB9-4330-A390-0B2C7290ED4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37674C-273F-4B0D-BD12-98A95411085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C8BA44-EAEF-42EF-969D-58C83BE64F2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2722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27C3C1A-A6A3-42AF-81D2-9B5708BC3F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BEHAVIOR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83BB24-A86C-4685-AF49-0880B352699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depends_on</a:t>
            </a:r>
            <a:r>
              <a:rPr sz="2850" b="1" dirty="0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 與 Flask retry </a:t>
            </a:r>
            <a:r>
              <a:rPr sz="2850" b="1" dirty="0" err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解決不同問題</a:t>
            </a:r>
            <a:endParaRPr sz="2850" b="1" dirty="0">
              <a:solidFill>
                <a:srgbClr val="0B122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F8BA7C-79C7-402E-A7EE-19E911CC2BC2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2BCF9F-2206-4FAA-9B29-E3AE778D0804}"/>
              </a:ext>
            </a:extLst>
          </p:cNvPr>
          <p:cNvSpPr>
            <a:spLocks noGrp="1"/>
          </p:cNvSpPr>
          <p:nvPr/>
        </p:nvSpPr>
        <p:spPr>
          <a:xfrm>
            <a:off x="1276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Flask retry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EE671A-6BA5-4D42-842C-EBA63F582D9A}"/>
              </a:ext>
            </a:extLst>
          </p:cNvPr>
          <p:cNvSpPr>
            <a:spLocks noGrp="1"/>
          </p:cNvSpPr>
          <p:nvPr/>
        </p:nvSpPr>
        <p:spPr>
          <a:xfrm>
            <a:off x="1276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資料庫還沒 ready 時，程式端等待後重試連線。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279916A-6C45-4C62-8D53-118AD52420A4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ECC99-4C68-4D57-9919-3DA5C4EF3A76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depends_on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4CE6B-6303-4DE4-8CCB-411BB65EF604}"/>
              </a:ext>
            </a:extLst>
          </p:cNvPr>
          <p:cNvSpPr>
            <a:spLocks noGrp="1"/>
          </p:cNvSpPr>
          <p:nvPr/>
        </p:nvSpPr>
        <p:spPr>
          <a:xfrm>
            <a:off x="6991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只控制啟動順序，不保證 MySQL 已 ready。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D6A20E7-82D3-4F71-8DF2-FFC0575F4047}"/>
              </a:ext>
            </a:extLst>
          </p:cNvPr>
          <p:cNvSpPr>
            <a:spLocks noGrp="1"/>
          </p:cNvSpPr>
          <p:nvPr/>
        </p:nvSpPr>
        <p:spPr>
          <a:xfrm>
            <a:off x="1752600" y="4457700"/>
            <a:ext cx="8686800" cy="742950"/>
          </a:xfrm>
          <a:prstGeom prst="roundRect">
            <a:avLst>
              <a:gd name="adj" fmla="val 15385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69899D-555C-44BE-B17C-5BAD4B91A83A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重點：depends_on 管容器啟動順序；retry 管應用程式連線可靠性。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538722-87FF-42AF-85BC-17A144FF37C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2429AE-6EA6-4F8F-A273-961BD7D19F2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73FC2C-6001-42AD-9AE9-92F76E97AD3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00558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BA052DC-6B9D-469B-AC4A-81779AA429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Q2-Q3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2F36AC-15CC-4F9E-876A-B8E8D3A7E7E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2：Compose 行為判斷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6C2D666-0DFA-497C-8E16-C9A82A29B02A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18F2BC-234B-4E90-A82D-FF53FC1C09CB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Q2：depends_on 能保證什麼？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ED8AD1-3535-4D7D-978F-68E857DCFF5D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能保證啟動順序。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不能保證 MySQL 已 ready。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程式端仍需要重試。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3F96140-6366-4E42-8DDE-2D442CC762B5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44DF0B-E080-40ED-8985-2FC6A29DC549}"/>
              </a:ext>
            </a:extLst>
          </p:cNvPr>
          <p:cNvSpPr>
            <a:spLocks noGrp="1"/>
          </p:cNvSpPr>
          <p:nvPr/>
        </p:nvSpPr>
        <p:spPr>
          <a:xfrm>
            <a:off x="67437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Q3：unless-stopped vs always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3955D-CEA8-4942-B656-861BEB8CC53B}"/>
              </a:ext>
            </a:extLst>
          </p:cNvPr>
          <p:cNvSpPr>
            <a:spLocks noGrp="1"/>
          </p:cNvSpPr>
          <p:nvPr/>
        </p:nvSpPr>
        <p:spPr>
          <a:xfrm>
            <a:off x="67437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always：停止就自動重啟。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unless-stopped：除非手動 stop，否則自動重啟。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差別在手動停止後的行為。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79C5880-2105-4375-871F-D4578A56F490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86868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13ACF-DF7B-46CB-BE6F-B416CB61F0F6}"/>
              </a:ext>
            </a:extLst>
          </p:cNvPr>
          <p:cNvSpPr>
            <a:spLocks noGrp="1"/>
          </p:cNvSpPr>
          <p:nvPr/>
        </p:nvSpPr>
        <p:spPr>
          <a:xfrm>
            <a:off x="2095500" y="50292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47" lnSpcReduction="10000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討論方式：先讓學生口頭回答，再打開 logs 或重啟容器驗證。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B7B25E-0772-4A2E-BE0E-7B1B0E1065C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76779E-2C33-4DCA-A28B-273365E36E6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D774C0-A783-4326-9A07-F6D0CE11641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28251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10E04D7-C178-4CC5-8F7D-D54FC634B7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VERIFY SERVICES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018045-3CE1-4E1F-90F7-174D5AB2BA1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啟動後用三個訊號確認服務正常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09FB19-6852-4793-8696-402AF282377E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03D5A7-C9C2-4A06-A207-7FBE9A97DEB5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DBD69-CDD9-4A2D-AED5-C55FDDBD21FD}"/>
              </a:ext>
            </a:extLst>
          </p:cNvPr>
          <p:cNvSpPr>
            <a:spLocks noGrp="1"/>
          </p:cNvSpPr>
          <p:nvPr/>
        </p:nvSpPr>
        <p:spPr>
          <a:xfrm>
            <a:off x="13335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 / db 都應該是 Up。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5A721C4-EA40-4B64-88CE-165FD05DF1F5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A4E409-8EE5-439F-B1BF-60FEC30411AB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86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EBC94-9D0A-4C93-B001-797300F0F64A}"/>
              </a:ext>
            </a:extLst>
          </p:cNvPr>
          <p:cNvSpPr>
            <a:spLocks noGrp="1"/>
          </p:cNvSpPr>
          <p:nvPr/>
        </p:nvSpPr>
        <p:spPr>
          <a:xfrm>
            <a:off x="46863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Flask 與 MySQL 沒有錯誤；若 MySQL 還沒 ready，Flask retry 會等它。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FE2CB71-7B50-4A2A-A588-518F70C79896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6E8068-854B-4FA6-81A0-AD52772501BD}"/>
              </a:ext>
            </a:extLst>
          </p:cNvPr>
          <p:cNvSpPr>
            <a:spLocks noGrp="1"/>
          </p:cNvSpPr>
          <p:nvPr/>
        </p:nvSpPr>
        <p:spPr>
          <a:xfrm>
            <a:off x="8039100" y="2886075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250" b="1" dirty="0" err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瀏覽器</a:t>
            </a:r>
            <a:r>
              <a:rPr sz="1250" b="1" dirty="0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zh-TW" altLang="en-US" sz="1250" b="1" dirty="0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打開觀察</a:t>
            </a:r>
            <a:endParaRPr sz="1250" b="1" dirty="0">
              <a:solidFill>
                <a:srgbClr val="04785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2A01B3-454B-441B-94D2-D57C8015926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27B77B-999F-42C9-8BBD-566A42BFF9A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C2F858-4505-4B32-A68F-4653D2DEAA9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1657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C626EA8-5ACB-4C15-8E32-33E2A508F5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SHUTDOWN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4547F5-4919-40F2-AA7C-3CAA94EBED3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down 與 down -v 的差別很重要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22086E6-93B6-4355-91D6-7E6E7C3D990C}"/>
              </a:ext>
            </a:extLst>
          </p:cNvPr>
          <p:cNvSpPr>
            <a:spLocks noGrp="1"/>
          </p:cNvSpPr>
          <p:nvPr/>
        </p:nvSpPr>
        <p:spPr>
          <a:xfrm>
            <a:off x="131445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E8BBD2-0899-4331-B487-02FBF5523C18}"/>
              </a:ext>
            </a:extLst>
          </p:cNvPr>
          <p:cNvSpPr>
            <a:spLocks noGrp="1"/>
          </p:cNvSpPr>
          <p:nvPr/>
        </p:nvSpPr>
        <p:spPr>
          <a:xfrm>
            <a:off x="154305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down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156D9E-6826-40A6-B44D-814EB1169666}"/>
              </a:ext>
            </a:extLst>
          </p:cNvPr>
          <p:cNvSpPr>
            <a:spLocks noGrp="1"/>
          </p:cNvSpPr>
          <p:nvPr/>
        </p:nvSpPr>
        <p:spPr>
          <a:xfrm>
            <a:off x="154305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 Compose 建立的容器與網路。Named Volume 保留。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EB3A4F8-1CDE-4C92-A821-A95167D2A242}"/>
              </a:ext>
            </a:extLst>
          </p:cNvPr>
          <p:cNvSpPr>
            <a:spLocks noGrp="1"/>
          </p:cNvSpPr>
          <p:nvPr/>
        </p:nvSpPr>
        <p:spPr>
          <a:xfrm>
            <a:off x="678180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D6E432-B905-4C04-9DBE-C113D9B8F3FA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1" lnSpcReduction="10000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docker compose down -v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6DCB-B197-4B65-8FD5-012C10533421}"/>
              </a:ext>
            </a:extLst>
          </p:cNvPr>
          <p:cNvSpPr>
            <a:spLocks noGrp="1"/>
          </p:cNvSpPr>
          <p:nvPr/>
        </p:nvSpPr>
        <p:spPr>
          <a:xfrm>
            <a:off x="701040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停止並刪除容器、網路，連 Volume 也刪掉。資料庫資料會消失。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2E884B-1C98-40BA-B297-85414312D778}"/>
              </a:ext>
            </a:extLst>
          </p:cNvPr>
          <p:cNvSpPr>
            <a:spLocks noGrp="1"/>
          </p:cNvSpPr>
          <p:nvPr/>
        </p:nvSpPr>
        <p:spPr>
          <a:xfrm>
            <a:off x="1885950" y="4953000"/>
            <a:ext cx="842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開發清空環境可以用 -v；只是暫停服務不要加 -v。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05F853-13AE-4244-B1CE-AF98E63F8F6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012212-7EBF-49BC-83F2-89D8AA1ECAE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515E6C-9207-4057-BE42-FC3779D8A39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47648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91F89E3-6C5E-4260-A6A3-AF21573AC7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MULTI-VERSION AND CLEANUP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EC029D-3F16-46BA-A7DB-A62433F3A8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管兩個 MySQL 版本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7DEB307-D7E5-49E1-88CE-E0E75862FE61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744200" cy="2400300"/>
          </a:xfrm>
          <a:prstGeom prst="roundRect">
            <a:avLst>
              <a:gd name="adj" fmla="val 396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1234011-8807-4B56-8352-C679411F2C0B}"/>
              </a:ext>
            </a:extLst>
          </p:cNvPr>
          <p:cNvSpPr>
            <a:spLocks noGrp="1"/>
          </p:cNvSpPr>
          <p:nvPr/>
        </p:nvSpPr>
        <p:spPr>
          <a:xfrm>
            <a:off x="895350" y="16287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5F81F8B-615F-4837-A652-73E2F3E3B50C}"/>
              </a:ext>
            </a:extLst>
          </p:cNvPr>
          <p:cNvSpPr>
            <a:spLocks noGrp="1"/>
          </p:cNvSpPr>
          <p:nvPr/>
        </p:nvSpPr>
        <p:spPr>
          <a:xfrm>
            <a:off x="1066800" y="16287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E23743D-F912-4F9B-88D8-2E6FF593C594}"/>
              </a:ext>
            </a:extLst>
          </p:cNvPr>
          <p:cNvSpPr>
            <a:spLocks noGrp="1"/>
          </p:cNvSpPr>
          <p:nvPr/>
        </p:nvSpPr>
        <p:spPr>
          <a:xfrm>
            <a:off x="1238250" y="16287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F7957A-3D1E-4FDE-94C2-C5A784DEDD6C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103251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</a:t>
            </a:r>
            <a:r>
              <a:rPr sz="13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2D68711-7153-4D0E-9FA6-2335EB7A2B52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AC709-5020-498E-8BD2-89C90C44EBC2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關鍵觀念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EEE478-6962-4E69-8885-4F765EB7BA62}"/>
              </a:ext>
            </a:extLst>
          </p:cNvPr>
          <p:cNvSpPr>
            <a:spLocks noGrp="1"/>
          </p:cNvSpPr>
          <p:nvPr/>
        </p:nvSpPr>
        <p:spPr>
          <a:xfrm>
            <a:off x="14668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兩個容器內部都是 3306；主機對外 port 要錯開成 3306 和 3307。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776D02B-A812-485C-844A-499740EF2B5F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495787-BA55-4676-BDE2-78CBF0168A04}"/>
              </a:ext>
            </a:extLst>
          </p:cNvPr>
          <p:cNvSpPr>
            <a:spLocks noGrp="1"/>
          </p:cNvSpPr>
          <p:nvPr/>
        </p:nvSpPr>
        <p:spPr>
          <a:xfrm>
            <a:off x="69913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清理提醒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5DF6C-0AF9-48D3-97B1-9ABFCC966771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116" lnSpcReduction="10000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compose down -v 會連 Volume 一起刪，確認後再執行。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830DF6-7690-4190-8C76-C0DF7BF93A2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B9AAF-C80D-429C-9222-08DCC4A7A6F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73D08D-4626-4010-9617-F8EB7EB24A6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12774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87DB311C-8E8E-4C76-9D74-CF1698ED409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9F863F-45E0-46F1-94DB-34D0ACAACA4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4462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 dirty="0" err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</a:t>
            </a:r>
            <a:endParaRPr sz="2300" b="1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83E66F7-D4F5-4E63-BD02-1D1B4D8676FA}"/>
              </a:ext>
            </a:extLst>
          </p:cNvPr>
          <p:cNvSpPr>
            <a:spLocks noGrp="1"/>
          </p:cNvSpPr>
          <p:nvPr/>
        </p:nvSpPr>
        <p:spPr>
          <a:xfrm>
            <a:off x="517392" y="1330093"/>
            <a:ext cx="10550000" cy="49398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TW" altLang="en-US" sz="1050" dirty="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mysql8: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image: mysql:8.0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restart: unless-stopped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environment: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MYSQL_ROOT_PASSWORD: my-secret-pw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MYSQL_DATABASE: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testdb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MYSQL_USER: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testuser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MYSQL_PASSWORD: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testpass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ports: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- "3306:3306"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volumes: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- mysql8-data:/var/lib/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mysql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mysql9: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image: mysql:9.0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restart: unless-stopped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environment: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MYSQL_ROOT_PASSWORD: my-secret-pw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MYSQL_DATABASE: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testdb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MYSQL_USER: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testuser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MYSQL_PASSWORD: 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testpass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ports: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- "3307:3306"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volumes: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- mysql9-data:/var/lib/</a:t>
            </a:r>
            <a:r>
              <a:rPr lang="en-US" altLang="zh-TW" sz="105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mysql</a:t>
            </a:r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volumes: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mysql8-data:</a:t>
            </a:r>
          </a:p>
          <a:p>
            <a:r>
              <a:rPr lang="en-US" altLang="zh-TW" sz="105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mysql9-data:</a:t>
            </a:r>
          </a:p>
          <a:p>
            <a:endParaRPr lang="en-US" altLang="zh-TW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0577E29-140E-4EAF-BD3F-7DE317364DC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E88DE876-D7EA-415F-9D42-45C02E5114A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83127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2F684B1-2C17-4B01-951D-AB4E5E6EEF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4A60BE-DDC1-437D-A99C-565B334080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P3：多版本 MySQL 並存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CAD7A30-5DB5-4B9C-94F4-28F19E0EBA80}"/>
              </a:ext>
            </a:extLst>
          </p:cNvPr>
          <p:cNvSpPr>
            <a:spLocks noGrp="1"/>
          </p:cNvSpPr>
          <p:nvPr/>
        </p:nvSpPr>
        <p:spPr>
          <a:xfrm>
            <a:off x="723900" y="1390649"/>
            <a:ext cx="10744200" cy="2783967"/>
          </a:xfrm>
          <a:prstGeom prst="roundRect">
            <a:avLst>
              <a:gd name="adj" fmla="val 373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A9BF3D3-9B99-4870-9992-AA91DAB47D81}"/>
              </a:ext>
            </a:extLst>
          </p:cNvPr>
          <p:cNvSpPr>
            <a:spLocks noGrp="1"/>
          </p:cNvSpPr>
          <p:nvPr/>
        </p:nvSpPr>
        <p:spPr>
          <a:xfrm>
            <a:off x="895350" y="1552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D54A2B8-BF1C-4B4E-BCB4-4B4A5AC458DB}"/>
              </a:ext>
            </a:extLst>
          </p:cNvPr>
          <p:cNvSpPr>
            <a:spLocks noGrp="1"/>
          </p:cNvSpPr>
          <p:nvPr/>
        </p:nvSpPr>
        <p:spPr>
          <a:xfrm>
            <a:off x="1066800" y="1552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9E54312-9104-4A34-BB5A-7660CD4272AB}"/>
              </a:ext>
            </a:extLst>
          </p:cNvPr>
          <p:cNvSpPr>
            <a:spLocks noGrp="1"/>
          </p:cNvSpPr>
          <p:nvPr/>
        </p:nvSpPr>
        <p:spPr>
          <a:xfrm>
            <a:off x="1238250" y="1552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A447A-8AC0-4C1F-80E7-9AE76AA1C732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10325100" cy="23648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</a:t>
            </a:r>
            <a:r>
              <a:rPr sz="13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</a:t>
            </a:r>
            <a:r>
              <a:rPr lang="zh-TW" alt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進入 </a:t>
            </a:r>
            <a:r>
              <a:rPr 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mysql8 </a:t>
            </a:r>
            <a:r>
              <a:rPr lang="zh-TW" alt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容器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exec mysql8 bash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3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lang="en-US" sz="13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-u root –p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dirty="0"/>
              <a:t>#</a:t>
            </a:r>
            <a:r>
              <a:rPr lang="zh-TW" altLang="en-US" dirty="0"/>
              <a:t> 這是 </a:t>
            </a:r>
            <a:r>
              <a:rPr lang="en-US" altLang="zh-TW" dirty="0"/>
              <a:t>MySQL </a:t>
            </a:r>
            <a:r>
              <a:rPr lang="zh-TW" altLang="en-US" dirty="0"/>
              <a:t>內部的指令，最後記得加分號 </a:t>
            </a:r>
            <a:endParaRPr lang="en-US" altLang="zh-TW" dirty="0"/>
          </a:p>
          <a:p>
            <a:pPr algn="l">
              <a:lnSpc>
                <a:spcPct val="104000"/>
              </a:lnSpc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dirty="0"/>
              <a:t>SELECT VERSION();</a:t>
            </a:r>
            <a:endParaRPr lang="en-US" sz="135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lang="en-US" sz="13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880EE4-8A7B-48AC-9D9A-526321E48013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97DAC-F0A6-44BC-8E95-C2315E170EC8}"/>
              </a:ext>
            </a:extLst>
          </p:cNvPr>
          <p:cNvSpPr>
            <a:spLocks noGrp="1"/>
          </p:cNvSpPr>
          <p:nvPr/>
        </p:nvSpPr>
        <p:spPr>
          <a:xfrm>
            <a:off x="11811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port 檢查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A09A93-E670-49BB-876E-91DC4D36636B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3306 -&gt; mysql8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3307 -&gt; mysql9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FD76C92-3228-4999-9DCA-7490B688006E}"/>
              </a:ext>
            </a:extLst>
          </p:cNvPr>
          <p:cNvSpPr>
            <a:spLocks noGrp="1"/>
          </p:cNvSpPr>
          <p:nvPr/>
        </p:nvSpPr>
        <p:spPr>
          <a:xfrm>
            <a:off x="46863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FC5DC5-54D9-4349-8BD0-B9F3A28813DB}"/>
              </a:ext>
            </a:extLst>
          </p:cNvPr>
          <p:cNvSpPr>
            <a:spLocks noGrp="1"/>
          </p:cNvSpPr>
          <p:nvPr/>
        </p:nvSpPr>
        <p:spPr>
          <a:xfrm>
            <a:off x="49149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版本檢查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9EE890-5782-4D4A-AE77-FB9322861F36}"/>
              </a:ext>
            </a:extLst>
          </p:cNvPr>
          <p:cNvSpPr>
            <a:spLocks noGrp="1"/>
          </p:cNvSpPr>
          <p:nvPr/>
        </p:nvSpPr>
        <p:spPr>
          <a:xfrm>
            <a:off x="49149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兩次 SELECT VERSION()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應該看到不同版本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235AFB1-AB7E-47F7-AF35-0E7FA37FE0F4}"/>
              </a:ext>
            </a:extLst>
          </p:cNvPr>
          <p:cNvSpPr>
            <a:spLocks noGrp="1"/>
          </p:cNvSpPr>
          <p:nvPr/>
        </p:nvSpPr>
        <p:spPr>
          <a:xfrm>
            <a:off x="84201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FBBF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AF5D1-4401-4928-9EC0-38F3503C59F9}"/>
              </a:ext>
            </a:extLst>
          </p:cNvPr>
          <p:cNvSpPr>
            <a:spLocks noGrp="1"/>
          </p:cNvSpPr>
          <p:nvPr/>
        </p:nvSpPr>
        <p:spPr>
          <a:xfrm>
            <a:off x="86487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清理檢查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F2A973-7E6E-4406-B6AD-88D6F526BDBB}"/>
              </a:ext>
            </a:extLst>
          </p:cNvPr>
          <p:cNvSpPr>
            <a:spLocks noGrp="1"/>
          </p:cNvSpPr>
          <p:nvPr/>
        </p:nvSpPr>
        <p:spPr>
          <a:xfrm>
            <a:off x="86487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docker compose down -v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會刪資料，確認後再執行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857602-8D70-4295-84D5-9F44348CA25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0D2EEC-3384-4D01-8D77-9819DEE2FDD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BF70F4-A37F-4D29-8803-C3A62356089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581643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2603</Words>
  <Application>Microsoft Office PowerPoint</Application>
  <DocSecurity>0</DocSecurity>
  <PresentationFormat>寬螢幕</PresentationFormat>
  <Paragraphs>601</Paragraphs>
  <Slides>38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42</cp:revision>
  <dcterms:created xsi:type="dcterms:W3CDTF">2026-06-25T15:11:11Z</dcterms:created>
  <dcterms:modified xsi:type="dcterms:W3CDTF">2026-08-16T13:30:14Z</dcterms:modified>
</cp:coreProperties>
</file>