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76" r:id="rId31"/>
    <p:sldId id="27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4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8968" r="18968"/>
          <a:stretch>
            <a:fillRect/>
          </a:stretch>
        </p:blipFill>
        <p:spPr>
          <a:xfrm>
            <a:off x="4629150" y="0"/>
            <a:ext cx="75628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1336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8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compose.yaml 一次管理多個服務。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B34F06D7-789F-4A23-A029-BC561ACDBD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6BA731-CCCA-4AD1-B7A2-04A2F07EFB0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37B5D27-67B3-41F4-94C7-3456D934EC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03D4BE2-AD85-49AA-A1FB-BC499C3DE621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146FB1B-B3E2-437B-ACF7-3CE54206F277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75FFC-9791-42B4-A123-156FB2346B25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16264B-EAFE-42A2-846E-A2BFDEB6F73F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524BE0D8-0ECB-494C-82F3-8BB6AF520F3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83B011-082D-40BD-B526-8734582BD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6EAD48E5-36B9-4081-A402-865CD45C06D1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3E879886-7B99-414F-8401-4E55F8EC216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A5ABFF-337F-4C58-9212-BDD3955F7C99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417B24-338C-482C-8986-39EFF8CA1EEC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DE4EEB-E7F3-4884-9518-A32B57389E7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compose.yaml，一鍵啟動。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CA3A8DB-1510-418D-BEDA-F0C25D639689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9B3C8F-028A-498A-A201-AB7D834105E3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ABC9131E-883D-4CF5-81D7-1BAB8DAFA2A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DAA681F4-6485-4BFA-8180-1E7D191CE9A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855E961-F165-4A28-9E1F-D339150AA8BF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6B858FA-C719-4BD0-BCBA-052994314DD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E275480-66EE-42F5-ACEA-11973F23E7A4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+ Flask + MySQL、多版本 MySQL、Docker Hub 探索與清理。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4E560534-4529-4484-8FAD-68CB6BDDB12C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528E40B-8166-48BF-8F2C-667C64348C46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109D5A4-3BB7-40F1-8F85-40E7A8853EE4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7DC6F5-2ECA-4F81-A444-561AFCF28CB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926A291-E480-4889-90BB-EF37789E292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2976B8E-2450-4EDC-92BA-7DBD4F9FD31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2460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noGrp="1"/>
          </p:cNvSpPr>
          <p:nvPr/>
        </p:nvSpPr>
        <p:spPr>
          <a:xfrm>
            <a:off x="108585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noGrp="1"/>
          </p:cNvSpPr>
          <p:nvPr/>
        </p:nvSpPr>
        <p:spPr>
          <a:xfrm>
            <a:off x="108585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noGrp="1"/>
          </p:cNvSpPr>
          <p:nvPr/>
        </p:nvSpPr>
        <p:spPr>
          <a:xfrm>
            <a:off x="693420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noGrp="1"/>
          </p:cNvSpPr>
          <p:nvPr/>
        </p:nvSpPr>
        <p:spPr>
          <a:xfrm>
            <a:off x="716280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noGrp="1"/>
          </p:cNvSpPr>
          <p:nvPr/>
        </p:nvSpPr>
        <p:spPr>
          <a:xfrm>
            <a:off x="716280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noGrp="1"/>
          </p:cNvSpPr>
          <p:nvPr/>
        </p:nvSpPr>
        <p:spPr>
          <a:xfrm>
            <a:off x="5619750" y="2552700"/>
            <a:ext cx="952500" cy="4381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noGrp="1"/>
          </p:cNvSpPr>
          <p:nvPr/>
        </p:nvSpPr>
        <p:spPr>
          <a:xfrm>
            <a:off x="1562100" y="4514850"/>
            <a:ext cx="9067800" cy="723900"/>
          </a:xfrm>
          <a:prstGeom prst="roundRect">
            <a:avLst>
              <a:gd name="adj" fmla="val 1578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noGrp="1"/>
          </p:cNvSpPr>
          <p:nvPr/>
        </p:nvSpPr>
        <p:spPr>
          <a:xfrm>
            <a:off x="1924050" y="4762500"/>
            <a:ext cx="834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0401300" cy="1123950"/>
          </a:xfrm>
          <a:prstGeom prst="roundRect">
            <a:avLst>
              <a:gd name="adj" fmla="val 11864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971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noGrp="1"/>
          </p:cNvSpPr>
          <p:nvPr/>
        </p:nvSpPr>
        <p:spPr>
          <a:xfrm>
            <a:off x="114300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noGrp="1"/>
          </p:cNvSpPr>
          <p:nvPr/>
        </p:nvSpPr>
        <p:spPr>
          <a:xfrm>
            <a:off x="676275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noGrp="1"/>
          </p:cNvSpPr>
          <p:nvPr/>
        </p:nvSpPr>
        <p:spPr>
          <a:xfrm>
            <a:off x="699135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noGrp="1"/>
          </p:cNvSpPr>
          <p:nvPr/>
        </p:nvSpPr>
        <p:spPr>
          <a:xfrm>
            <a:off x="699135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noGrp="1"/>
          </p:cNvSpPr>
          <p:nvPr/>
        </p:nvSpPr>
        <p:spPr>
          <a:xfrm>
            <a:off x="1524000" y="56007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noGrp="1"/>
          </p:cNvSpPr>
          <p:nvPr/>
        </p:nvSpPr>
        <p:spPr>
          <a:xfrm>
            <a:off x="1276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38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noGrp="1"/>
          </p:cNvSpPr>
          <p:nvPr/>
        </p:nvSpPr>
        <p:spPr>
          <a:xfrm>
            <a:off x="1333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noGrp="1"/>
          </p:cNvSpPr>
          <p:nvPr/>
        </p:nvSpPr>
        <p:spPr>
          <a:xfrm>
            <a:off x="4476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noGrp="1"/>
          </p:cNvSpPr>
          <p:nvPr/>
        </p:nvSpPr>
        <p:spPr>
          <a:xfrm>
            <a:off x="4705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67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noGrp="1"/>
          </p:cNvSpPr>
          <p:nvPr/>
        </p:nvSpPr>
        <p:spPr>
          <a:xfrm>
            <a:off x="8134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noGrp="1"/>
          </p:cNvSpPr>
          <p:nvPr/>
        </p:nvSpPr>
        <p:spPr>
          <a:xfrm>
            <a:off x="8191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noGrp="1"/>
          </p:cNvSpPr>
          <p:nvPr/>
        </p:nvSpPr>
        <p:spPr>
          <a:xfrm>
            <a:off x="1562100" y="15240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noGrp="1"/>
          </p:cNvSpPr>
          <p:nvPr/>
        </p:nvSpPr>
        <p:spPr>
          <a:xfrm>
            <a:off x="5657850" y="15240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noGrp="1"/>
          </p:cNvSpPr>
          <p:nvPr/>
        </p:nvSpPr>
        <p:spPr>
          <a:xfrm>
            <a:off x="8801100" y="15240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noGrp="1"/>
          </p:cNvSpPr>
          <p:nvPr/>
        </p:nvSpPr>
        <p:spPr>
          <a:xfrm>
            <a:off x="1752600" y="16383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noGrp="1"/>
          </p:cNvSpPr>
          <p:nvPr/>
        </p:nvSpPr>
        <p:spPr>
          <a:xfrm>
            <a:off x="5848350" y="16287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noGrp="1"/>
          </p:cNvSpPr>
          <p:nvPr/>
        </p:nvSpPr>
        <p:spPr>
          <a:xfrm>
            <a:off x="8991600" y="16287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noGrp="1"/>
          </p:cNvSpPr>
          <p:nvPr/>
        </p:nvSpPr>
        <p:spPr>
          <a:xfrm>
            <a:off x="1562100" y="20764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noGrp="1"/>
          </p:cNvSpPr>
          <p:nvPr/>
        </p:nvSpPr>
        <p:spPr>
          <a:xfrm>
            <a:off x="5657850" y="20764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noGrp="1"/>
          </p:cNvSpPr>
          <p:nvPr/>
        </p:nvSpPr>
        <p:spPr>
          <a:xfrm>
            <a:off x="5848350" y="21812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noGrp="1"/>
          </p:cNvSpPr>
          <p:nvPr/>
        </p:nvSpPr>
        <p:spPr>
          <a:xfrm>
            <a:off x="8991600" y="2181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noGrp="1"/>
          </p:cNvSpPr>
          <p:nvPr/>
        </p:nvSpPr>
        <p:spPr>
          <a:xfrm>
            <a:off x="1562100" y="26289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noGrp="1"/>
          </p:cNvSpPr>
          <p:nvPr/>
        </p:nvSpPr>
        <p:spPr>
          <a:xfrm>
            <a:off x="8801100" y="26289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noGrp="1"/>
          </p:cNvSpPr>
          <p:nvPr/>
        </p:nvSpPr>
        <p:spPr>
          <a:xfrm>
            <a:off x="1752600" y="27432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noGrp="1"/>
          </p:cNvSpPr>
          <p:nvPr/>
        </p:nvSpPr>
        <p:spPr>
          <a:xfrm>
            <a:off x="5848350" y="27336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noGrp="1"/>
          </p:cNvSpPr>
          <p:nvPr/>
        </p:nvSpPr>
        <p:spPr>
          <a:xfrm>
            <a:off x="8991600" y="27336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noGrp="1"/>
          </p:cNvSpPr>
          <p:nvPr/>
        </p:nvSpPr>
        <p:spPr>
          <a:xfrm>
            <a:off x="1562100" y="31813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noGrp="1"/>
          </p:cNvSpPr>
          <p:nvPr/>
        </p:nvSpPr>
        <p:spPr>
          <a:xfrm>
            <a:off x="5657850" y="31813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noGrp="1"/>
          </p:cNvSpPr>
          <p:nvPr/>
        </p:nvSpPr>
        <p:spPr>
          <a:xfrm>
            <a:off x="8801100" y="31813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noGrp="1"/>
          </p:cNvSpPr>
          <p:nvPr/>
        </p:nvSpPr>
        <p:spPr>
          <a:xfrm>
            <a:off x="1752600" y="32956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noGrp="1"/>
          </p:cNvSpPr>
          <p:nvPr/>
        </p:nvSpPr>
        <p:spPr>
          <a:xfrm>
            <a:off x="5848350" y="32861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noGrp="1"/>
          </p:cNvSpPr>
          <p:nvPr/>
        </p:nvSpPr>
        <p:spPr>
          <a:xfrm>
            <a:off x="8991600" y="32861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noGrp="1"/>
          </p:cNvSpPr>
          <p:nvPr/>
        </p:nvSpPr>
        <p:spPr>
          <a:xfrm>
            <a:off x="1562100" y="37338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: 圓角 27">
            <a:extLst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noGrp="1"/>
          </p:cNvSpPr>
          <p:nvPr/>
        </p:nvSpPr>
        <p:spPr>
          <a:xfrm>
            <a:off x="5657850" y="37338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noGrp="1"/>
          </p:cNvSpPr>
          <p:nvPr/>
        </p:nvSpPr>
        <p:spPr>
          <a:xfrm>
            <a:off x="1752600" y="38481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noGrp="1"/>
          </p:cNvSpPr>
          <p:nvPr/>
        </p:nvSpPr>
        <p:spPr>
          <a:xfrm>
            <a:off x="5848350" y="38385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noGrp="1"/>
          </p:cNvSpPr>
          <p:nvPr/>
        </p:nvSpPr>
        <p:spPr>
          <a:xfrm>
            <a:off x="8991600" y="38385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noGrp="1"/>
          </p:cNvSpPr>
          <p:nvPr/>
        </p:nvSpPr>
        <p:spPr>
          <a:xfrm>
            <a:off x="1562100" y="42862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noGrp="1"/>
          </p:cNvSpPr>
          <p:nvPr/>
        </p:nvSpPr>
        <p:spPr>
          <a:xfrm>
            <a:off x="5657850" y="42862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noGrp="1"/>
          </p:cNvSpPr>
          <p:nvPr/>
        </p:nvSpPr>
        <p:spPr>
          <a:xfrm>
            <a:off x="8801100" y="42862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noGrp="1"/>
          </p:cNvSpPr>
          <p:nvPr/>
        </p:nvSpPr>
        <p:spPr>
          <a:xfrm>
            <a:off x="1752600" y="44005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noGrp="1"/>
          </p:cNvSpPr>
          <p:nvPr/>
        </p:nvSpPr>
        <p:spPr>
          <a:xfrm>
            <a:off x="5848350" y="43910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noGrp="1"/>
          </p:cNvSpPr>
          <p:nvPr/>
        </p:nvSpPr>
        <p:spPr>
          <a:xfrm>
            <a:off x="8991600" y="43910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572250" cy="3695700"/>
          </a:xfrm>
          <a:prstGeom prst="roundRect">
            <a:avLst>
              <a:gd name="adj" fmla="val 257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153150" cy="3143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noGrp="1"/>
          </p:cNvSpPr>
          <p:nvPr/>
        </p:nvSpPr>
        <p:spPr>
          <a:xfrm>
            <a:off x="7962900" y="14287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noGrp="1"/>
          </p:cNvSpPr>
          <p:nvPr/>
        </p:nvSpPr>
        <p:spPr>
          <a:xfrm>
            <a:off x="8210550" y="15621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noGrp="1"/>
          </p:cNvSpPr>
          <p:nvPr/>
        </p:nvSpPr>
        <p:spPr>
          <a:xfrm>
            <a:off x="9620250" y="15716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noGrp="1"/>
          </p:cNvSpPr>
          <p:nvPr/>
        </p:nvSpPr>
        <p:spPr>
          <a:xfrm>
            <a:off x="7962900" y="21526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noGrp="1"/>
          </p:cNvSpPr>
          <p:nvPr/>
        </p:nvSpPr>
        <p:spPr>
          <a:xfrm>
            <a:off x="8210550" y="22860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noGrp="1"/>
          </p:cNvSpPr>
          <p:nvPr/>
        </p:nvSpPr>
        <p:spPr>
          <a:xfrm>
            <a:off x="8210550" y="30099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noGrp="1"/>
          </p:cNvSpPr>
          <p:nvPr/>
        </p:nvSpPr>
        <p:spPr>
          <a:xfrm>
            <a:off x="9620250" y="30194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noGrp="1"/>
          </p:cNvSpPr>
          <p:nvPr/>
        </p:nvSpPr>
        <p:spPr>
          <a:xfrm>
            <a:off x="7962900" y="36004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noGrp="1"/>
          </p:cNvSpPr>
          <p:nvPr/>
        </p:nvSpPr>
        <p:spPr>
          <a:xfrm>
            <a:off x="9620250" y="37433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309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noGrp="1"/>
          </p:cNvSpPr>
          <p:nvPr/>
        </p:nvSpPr>
        <p:spPr>
          <a:xfrm>
            <a:off x="7962900" y="43243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noGrp="1"/>
          </p:cNvSpPr>
          <p:nvPr/>
        </p:nvSpPr>
        <p:spPr>
          <a:xfrm>
            <a:off x="8210550" y="44577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noGrp="1"/>
          </p:cNvSpPr>
          <p:nvPr/>
        </p:nvSpPr>
        <p:spPr>
          <a:xfrm>
            <a:off x="9620250" y="4467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334000" cy="2038350"/>
          </a:xfrm>
          <a:prstGeom prst="roundRect">
            <a:avLst>
              <a:gd name="adj" fmla="val 467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noGrp="1"/>
          </p:cNvSpPr>
          <p:nvPr/>
        </p:nvSpPr>
        <p:spPr>
          <a:xfrm>
            <a:off x="9906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noGrp="1"/>
          </p:cNvSpPr>
          <p:nvPr/>
        </p:nvSpPr>
        <p:spPr>
          <a:xfrm>
            <a:off x="11620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noGrp="1"/>
          </p:cNvSpPr>
          <p:nvPr/>
        </p:nvSpPr>
        <p:spPr>
          <a:xfrm>
            <a:off x="13335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noGrp="1"/>
          </p:cNvSpPr>
          <p:nvPr/>
        </p:nvSpPr>
        <p:spPr>
          <a:xfrm>
            <a:off x="1028700" y="2038350"/>
            <a:ext cx="49149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noGrp="1"/>
          </p:cNvSpPr>
          <p:nvPr/>
        </p:nvSpPr>
        <p:spPr>
          <a:xfrm>
            <a:off x="6953250" y="1676400"/>
            <a:ext cx="3714750" cy="1638300"/>
          </a:xfrm>
          <a:prstGeom prst="roundRect">
            <a:avLst>
              <a:gd name="adj" fmla="val 697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noGrp="1"/>
          </p:cNvSpPr>
          <p:nvPr/>
        </p:nvSpPr>
        <p:spPr>
          <a:xfrm>
            <a:off x="7181850" y="18669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noGrp="1"/>
          </p:cNvSpPr>
          <p:nvPr/>
        </p:nvSpPr>
        <p:spPr>
          <a:xfrm>
            <a:off x="7181850" y="2286000"/>
            <a:ext cx="32575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7357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noGrp="1"/>
          </p:cNvSpPr>
          <p:nvPr/>
        </p:nvSpPr>
        <p:spPr>
          <a:xfrm>
            <a:off x="8382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53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noGrp="1"/>
          </p:cNvSpPr>
          <p:nvPr/>
        </p:nvSpPr>
        <p:spPr>
          <a:xfrm>
            <a:off x="26289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noGrp="1"/>
          </p:cNvSpPr>
          <p:nvPr/>
        </p:nvSpPr>
        <p:spPr>
          <a:xfrm>
            <a:off x="29908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noGrp="1"/>
          </p:cNvSpPr>
          <p:nvPr/>
        </p:nvSpPr>
        <p:spPr>
          <a:xfrm>
            <a:off x="31623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noGrp="1"/>
          </p:cNvSpPr>
          <p:nvPr/>
        </p:nvSpPr>
        <p:spPr>
          <a:xfrm>
            <a:off x="51435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noGrp="1"/>
          </p:cNvSpPr>
          <p:nvPr/>
        </p:nvSpPr>
        <p:spPr>
          <a:xfrm>
            <a:off x="53149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noGrp="1"/>
          </p:cNvSpPr>
          <p:nvPr/>
        </p:nvSpPr>
        <p:spPr>
          <a:xfrm>
            <a:off x="69342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noGrp="1"/>
          </p:cNvSpPr>
          <p:nvPr/>
        </p:nvSpPr>
        <p:spPr>
          <a:xfrm>
            <a:off x="74676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noGrp="1"/>
          </p:cNvSpPr>
          <p:nvPr/>
        </p:nvSpPr>
        <p:spPr>
          <a:xfrm>
            <a:off x="96202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noGrp="1"/>
          </p:cNvSpPr>
          <p:nvPr/>
        </p:nvSpPr>
        <p:spPr>
          <a:xfrm>
            <a:off x="96202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E06751EF-DCCA-42CF-BA7B-86B1385703BC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880F540-D81A-4F7D-8181-5B8B3FCA398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0E8D265-93AB-4F07-8456-38E7940659BC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AA93120-A65C-4EEB-8427-1A546BC4AFE3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20A73A0-D35E-4A71-94B4-3B5AD47E1AC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產品編號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產品名稱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售價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庫存數量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CreatedAt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TIMESTAMP NOT NULL DEFAULT CURRENT_TIMESTAMP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建立時間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InnoDB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DEFAULT CHARSET=utf8mb4 COMMENT='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產品資料表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';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B743D44-211E-4EE6-9BF6-D87752AA9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9F6D0C5-8BF4-470B-A1CB-1DAB9150BA9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613158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5A432CF-8E88-4E7E-8D3B-C98215E5CE92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F29CD34-D96F-47B2-8DE2-7D05C2D8A1D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4768CD1-6AAD-4A82-BC33-20D827C8F79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5FE38F7-8033-46DF-BD53-16DF629BB37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9B5E2494-4D7F-46FA-860E-79A7EB7B8F7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58532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藍牙耳機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 1290.00, 50),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線', 299.00, 150),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機械鍵盤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 2490.00, 30);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藍牙耳機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';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線';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B9C80AC-914B-46A0-8DC5-B2F5011C781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D0CC169-F2D5-4C3B-8FE4-58F17E0CE78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6870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noGrp="1"/>
          </p:cNvSpPr>
          <p:nvPr/>
        </p:nvSpPr>
        <p:spPr>
          <a:xfrm>
            <a:off x="11811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noGrp="1"/>
          </p:cNvSpPr>
          <p:nvPr/>
        </p:nvSpPr>
        <p:spPr>
          <a:xfrm>
            <a:off x="40957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noGrp="1"/>
          </p:cNvSpPr>
          <p:nvPr/>
        </p:nvSpPr>
        <p:spPr>
          <a:xfrm>
            <a:off x="50673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noGrp="1"/>
          </p:cNvSpPr>
          <p:nvPr/>
        </p:nvSpPr>
        <p:spPr>
          <a:xfrm>
            <a:off x="53340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noGrp="1"/>
          </p:cNvSpPr>
          <p:nvPr/>
        </p:nvSpPr>
        <p:spPr>
          <a:xfrm>
            <a:off x="5334000" y="2895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noGrp="1"/>
          </p:cNvSpPr>
          <p:nvPr/>
        </p:nvSpPr>
        <p:spPr>
          <a:xfrm>
            <a:off x="9220200" y="1809750"/>
            <a:ext cx="2095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noGrp="1"/>
          </p:cNvSpPr>
          <p:nvPr/>
        </p:nvSpPr>
        <p:spPr>
          <a:xfrm>
            <a:off x="1924050" y="5181600"/>
            <a:ext cx="8343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6644" lnSpcReduction="1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noGrp="1"/>
          </p:cNvSpPr>
          <p:nvPr/>
        </p:nvSpPr>
        <p:spPr>
          <a:xfrm>
            <a:off x="819150" y="1485900"/>
            <a:ext cx="6191250" cy="3276600"/>
          </a:xfrm>
          <a:prstGeom prst="roundRect">
            <a:avLst>
              <a:gd name="adj" fmla="val 290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noGrp="1"/>
          </p:cNvSpPr>
          <p:nvPr/>
        </p:nvSpPr>
        <p:spPr>
          <a:xfrm>
            <a:off x="1162050" y="1647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noGrp="1"/>
          </p:cNvSpPr>
          <p:nvPr/>
        </p:nvSpPr>
        <p:spPr>
          <a:xfrm>
            <a:off x="1333500" y="1647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noGrp="1"/>
          </p:cNvSpPr>
          <p:nvPr/>
        </p:nvSpPr>
        <p:spPr>
          <a:xfrm>
            <a:off x="1028700" y="1905000"/>
            <a:ext cx="57721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</a:t>
            </a:r>
            <a:r>
              <a:rPr lang="en-US" altLang="zh-TW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</a:t>
            </a:r>
            <a:r>
              <a:rPr lang="en-US" altLang="zh-TW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</a:t>
            </a:r>
            <a:r>
              <a:rPr lang="en-US" altLang="zh-TW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</a:t>
            </a:r>
            <a:r>
              <a:rPr lang="en-US" altLang="zh-TW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noGrp="1"/>
          </p:cNvSpPr>
          <p:nvPr/>
        </p:nvSpPr>
        <p:spPr>
          <a:xfrm>
            <a:off x="7677150" y="1790700"/>
            <a:ext cx="3143250" cy="1333500"/>
          </a:xfrm>
          <a:prstGeom prst="roundRect">
            <a:avLst>
              <a:gd name="adj" fmla="val 857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noGrp="1"/>
          </p:cNvSpPr>
          <p:nvPr/>
        </p:nvSpPr>
        <p:spPr>
          <a:xfrm>
            <a:off x="7905750" y="19812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noGrp="1"/>
          </p:cNvSpPr>
          <p:nvPr/>
        </p:nvSpPr>
        <p:spPr>
          <a:xfrm>
            <a:off x="7905750" y="24765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1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noGrp="1"/>
          </p:cNvSpPr>
          <p:nvPr/>
        </p:nvSpPr>
        <p:spPr>
          <a:xfrm>
            <a:off x="7677150" y="3543300"/>
            <a:ext cx="3143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noGrp="1"/>
          </p:cNvSpPr>
          <p:nvPr/>
        </p:nvSpPr>
        <p:spPr>
          <a:xfrm>
            <a:off x="7905750" y="3733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noGrp="1"/>
          </p:cNvSpPr>
          <p:nvPr/>
        </p:nvSpPr>
        <p:spPr>
          <a:xfrm>
            <a:off x="7905750" y="4152900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66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noGrp="1"/>
          </p:cNvSpPr>
          <p:nvPr/>
        </p:nvSpPr>
        <p:spPr>
          <a:xfrm>
            <a:off x="1752600" y="5429250"/>
            <a:ext cx="868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10591800" cy="405765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noGrp="1"/>
          </p:cNvSpPr>
          <p:nvPr/>
        </p:nvSpPr>
        <p:spPr>
          <a:xfrm>
            <a:off x="12001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noGrp="1"/>
          </p:cNvSpPr>
          <p:nvPr/>
        </p:nvSpPr>
        <p:spPr>
          <a:xfrm>
            <a:off x="12001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noGrp="1"/>
          </p:cNvSpPr>
          <p:nvPr/>
        </p:nvSpPr>
        <p:spPr>
          <a:xfrm>
            <a:off x="17526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noGrp="1"/>
          </p:cNvSpPr>
          <p:nvPr/>
        </p:nvSpPr>
        <p:spPr>
          <a:xfrm>
            <a:off x="63436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noGrp="1"/>
          </p:cNvSpPr>
          <p:nvPr/>
        </p:nvSpPr>
        <p:spPr>
          <a:xfrm>
            <a:off x="63436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noGrp="1"/>
          </p:cNvSpPr>
          <p:nvPr/>
        </p:nvSpPr>
        <p:spPr>
          <a:xfrm>
            <a:off x="12001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noGrp="1"/>
          </p:cNvSpPr>
          <p:nvPr/>
        </p:nvSpPr>
        <p:spPr>
          <a:xfrm>
            <a:off x="12001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noGrp="1"/>
          </p:cNvSpPr>
          <p:nvPr/>
        </p:nvSpPr>
        <p:spPr>
          <a:xfrm>
            <a:off x="17526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noGrp="1"/>
          </p:cNvSpPr>
          <p:nvPr/>
        </p:nvSpPr>
        <p:spPr>
          <a:xfrm>
            <a:off x="63436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noGrp="1"/>
          </p:cNvSpPr>
          <p:nvPr/>
        </p:nvSpPr>
        <p:spPr>
          <a:xfrm>
            <a:off x="63436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noGrp="1"/>
          </p:cNvSpPr>
          <p:nvPr/>
        </p:nvSpPr>
        <p:spPr>
          <a:xfrm>
            <a:off x="12001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noGrp="1"/>
          </p:cNvSpPr>
          <p:nvPr/>
        </p:nvSpPr>
        <p:spPr>
          <a:xfrm>
            <a:off x="12001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noGrp="1"/>
          </p:cNvSpPr>
          <p:nvPr/>
        </p:nvSpPr>
        <p:spPr>
          <a:xfrm>
            <a:off x="17526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noGrp="1"/>
          </p:cNvSpPr>
          <p:nvPr/>
        </p:nvSpPr>
        <p:spPr>
          <a:xfrm>
            <a:off x="63436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noGrp="1"/>
          </p:cNvSpPr>
          <p:nvPr/>
        </p:nvSpPr>
        <p:spPr>
          <a:xfrm>
            <a:off x="68961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noGrp="1"/>
          </p:cNvSpPr>
          <p:nvPr/>
        </p:nvSpPr>
        <p:spPr>
          <a:xfrm>
            <a:off x="17526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noGrp="1"/>
          </p:cNvSpPr>
          <p:nvPr/>
        </p:nvSpPr>
        <p:spPr>
          <a:xfrm>
            <a:off x="68961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noGrp="1"/>
          </p:cNvSpPr>
          <p:nvPr/>
        </p:nvSpPr>
        <p:spPr>
          <a:xfrm>
            <a:off x="2057400" y="5753100"/>
            <a:ext cx="8077200" cy="419100"/>
          </a:xfrm>
          <a:prstGeom prst="roundRect">
            <a:avLst>
              <a:gd name="adj" fmla="val 2272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noGrp="1"/>
          </p:cNvSpPr>
          <p:nvPr/>
        </p:nvSpPr>
        <p:spPr>
          <a:xfrm>
            <a:off x="2343150" y="5867400"/>
            <a:ext cx="7505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254" lnSpcReduction="10000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105918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1017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952500" cy="419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990600"/>
          </a:xfrm>
          <a:prstGeom prst="roundRect">
            <a:avLst>
              <a:gd name="adj" fmla="val 11538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noGrp="1"/>
          </p:cNvSpPr>
          <p:nvPr/>
        </p:nvSpPr>
        <p:spPr>
          <a:xfrm>
            <a:off x="3086100" y="4400550"/>
            <a:ext cx="601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2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設定寫進 compose.yaml（舊名 docker-compose.yml 仍可用）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4476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noGrp="1"/>
          </p:cNvSpPr>
          <p:nvPr/>
        </p:nvSpPr>
        <p:spPr>
          <a:xfrm>
            <a:off x="12192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noGrp="1"/>
          </p:cNvSpPr>
          <p:nvPr/>
        </p:nvSpPr>
        <p:spPr>
          <a:xfrm>
            <a:off x="13906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noGrp="1"/>
          </p:cNvSpPr>
          <p:nvPr/>
        </p:nvSpPr>
        <p:spPr>
          <a:xfrm>
            <a:off x="15621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noGrp="1"/>
          </p:cNvSpPr>
          <p:nvPr/>
        </p:nvSpPr>
        <p:spPr>
          <a:xfrm>
            <a:off x="1257300" y="2038350"/>
            <a:ext cx="4057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7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noGrp="1"/>
          </p:cNvSpPr>
          <p:nvPr/>
        </p:nvSpPr>
        <p:spPr>
          <a:xfrm>
            <a:off x="653415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noGrp="1"/>
          </p:cNvSpPr>
          <p:nvPr/>
        </p:nvSpPr>
        <p:spPr>
          <a:xfrm>
            <a:off x="676275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noGrp="1"/>
          </p:cNvSpPr>
          <p:nvPr/>
        </p:nvSpPr>
        <p:spPr>
          <a:xfrm>
            <a:off x="676275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noGrp="1"/>
          </p:cNvSpPr>
          <p:nvPr/>
        </p:nvSpPr>
        <p:spPr>
          <a:xfrm>
            <a:off x="883920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noGrp="1"/>
          </p:cNvSpPr>
          <p:nvPr/>
        </p:nvSpPr>
        <p:spPr>
          <a:xfrm>
            <a:off x="906780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noGrp="1"/>
          </p:cNvSpPr>
          <p:nvPr/>
        </p:nvSpPr>
        <p:spPr>
          <a:xfrm>
            <a:off x="676275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noGrp="1"/>
          </p:cNvSpPr>
          <p:nvPr/>
        </p:nvSpPr>
        <p:spPr>
          <a:xfrm>
            <a:off x="676275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826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noGrp="1"/>
          </p:cNvSpPr>
          <p:nvPr/>
        </p:nvSpPr>
        <p:spPr>
          <a:xfrm>
            <a:off x="906780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noGrp="1"/>
          </p:cNvSpPr>
          <p:nvPr/>
        </p:nvSpPr>
        <p:spPr>
          <a:xfrm>
            <a:off x="2286000" y="5105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102870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noGrp="1"/>
          </p:cNvSpPr>
          <p:nvPr/>
        </p:nvSpPr>
        <p:spPr>
          <a:xfrm>
            <a:off x="20383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noGrp="1"/>
          </p:cNvSpPr>
          <p:nvPr/>
        </p:nvSpPr>
        <p:spPr>
          <a:xfrm>
            <a:off x="20383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81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noGrp="1"/>
          </p:cNvSpPr>
          <p:nvPr/>
        </p:nvSpPr>
        <p:spPr>
          <a:xfrm>
            <a:off x="48196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noGrp="1"/>
          </p:cNvSpPr>
          <p:nvPr/>
        </p:nvSpPr>
        <p:spPr>
          <a:xfrm>
            <a:off x="50482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noGrp="1"/>
          </p:cNvSpPr>
          <p:nvPr/>
        </p:nvSpPr>
        <p:spPr>
          <a:xfrm>
            <a:off x="800100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2190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noGrp="1"/>
          </p:cNvSpPr>
          <p:nvPr/>
        </p:nvSpPr>
        <p:spPr>
          <a:xfrm>
            <a:off x="8420100" y="3048000"/>
            <a:ext cx="173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000" lnSpcReduction="2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noGrp="1"/>
          </p:cNvSpPr>
          <p:nvPr/>
        </p:nvSpPr>
        <p:spPr>
          <a:xfrm>
            <a:off x="8420100" y="346710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62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0E8FD50-7D2B-4388-8383-C2562A33D37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44A6EB-4D78-4C78-87E0-59C504159C3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範例程式碼：compose.yaml（MySQL）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9487AB3-79B8-47E5-9EAE-CBC7B3B293F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CFBC6C51-0D5A-43D4-ACE2-CD7CECEE505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5EA7E73-D8B7-4251-A481-26E9D4ECF9F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7548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container_name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 my-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50F08EE-78FB-440C-90A7-DEBE07E5DE85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827F1AEC-E7B4-40EB-9C91-09C7BF1E0F2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825180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noGrp="1"/>
          </p:cNvSpPr>
          <p:nvPr/>
        </p:nvSpPr>
        <p:spPr>
          <a:xfrm>
            <a:off x="1428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noGrp="1"/>
          </p:cNvSpPr>
          <p:nvPr/>
        </p:nvSpPr>
        <p:spPr>
          <a:xfrm>
            <a:off x="1657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noGrp="1"/>
          </p:cNvSpPr>
          <p:nvPr/>
        </p:nvSpPr>
        <p:spPr>
          <a:xfrm>
            <a:off x="3619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noGrp="1"/>
          </p:cNvSpPr>
          <p:nvPr/>
        </p:nvSpPr>
        <p:spPr>
          <a:xfrm>
            <a:off x="6762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noGrp="1"/>
          </p:cNvSpPr>
          <p:nvPr/>
        </p:nvSpPr>
        <p:spPr>
          <a:xfrm>
            <a:off x="6991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noGrp="1"/>
          </p:cNvSpPr>
          <p:nvPr/>
        </p:nvSpPr>
        <p:spPr>
          <a:xfrm>
            <a:off x="8953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noGrp="1"/>
          </p:cNvSpPr>
          <p:nvPr/>
        </p:nvSpPr>
        <p:spPr>
          <a:xfrm>
            <a:off x="1428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noGrp="1"/>
          </p:cNvSpPr>
          <p:nvPr/>
        </p:nvSpPr>
        <p:spPr>
          <a:xfrm>
            <a:off x="3619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noGrp="1"/>
          </p:cNvSpPr>
          <p:nvPr/>
        </p:nvSpPr>
        <p:spPr>
          <a:xfrm>
            <a:off x="6991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noGrp="1"/>
          </p:cNvSpPr>
          <p:nvPr/>
        </p:nvSpPr>
        <p:spPr>
          <a:xfrm>
            <a:off x="8953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noGrp="1"/>
          </p:cNvSpPr>
          <p:nvPr/>
        </p:nvSpPr>
        <p:spPr>
          <a:xfrm>
            <a:off x="1657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noGrp="1"/>
          </p:cNvSpPr>
          <p:nvPr/>
        </p:nvSpPr>
        <p:spPr>
          <a:xfrm>
            <a:off x="3619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noGrp="1"/>
          </p:cNvSpPr>
          <p:nvPr/>
        </p:nvSpPr>
        <p:spPr>
          <a:xfrm>
            <a:off x="8953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noGrp="1"/>
          </p:cNvSpPr>
          <p:nvPr/>
        </p:nvSpPr>
        <p:spPr>
          <a:xfrm>
            <a:off x="1428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noGrp="1"/>
          </p:cNvSpPr>
          <p:nvPr/>
        </p:nvSpPr>
        <p:spPr>
          <a:xfrm>
            <a:off x="1657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noGrp="1"/>
          </p:cNvSpPr>
          <p:nvPr/>
        </p:nvSpPr>
        <p:spPr>
          <a:xfrm>
            <a:off x="3619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noGrp="1"/>
          </p:cNvSpPr>
          <p:nvPr/>
        </p:nvSpPr>
        <p:spPr>
          <a:xfrm>
            <a:off x="6762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noGrp="1"/>
          </p:cNvSpPr>
          <p:nvPr/>
        </p:nvSpPr>
        <p:spPr>
          <a:xfrm>
            <a:off x="6991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noGrp="1"/>
          </p:cNvSpPr>
          <p:nvPr/>
        </p:nvSpPr>
        <p:spPr>
          <a:xfrm>
            <a:off x="8953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  <a:endParaRPr sz="900" b="1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3"/>
          <a:srcRect l="5014" r="5014"/>
          <a:stretch>
            <a:fillRect/>
          </a:stretch>
        </p:blipFill>
        <p:spPr>
          <a:xfrm>
            <a:off x="6572250" y="1447800"/>
            <a:ext cx="4476750" cy="28003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noGrp="1"/>
          </p:cNvSpPr>
          <p:nvPr/>
        </p:nvSpPr>
        <p:spPr>
          <a:xfrm>
            <a:off x="6572250" y="1447800"/>
            <a:ext cx="4476750" cy="2800350"/>
          </a:xfrm>
          <a:prstGeom prst="roundRect">
            <a:avLst>
              <a:gd name="adj" fmla="val 4762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app 連 db。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project name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資料夾名稱會變成預設 project name，用來管理同一組 container、network、volume。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noGrp="1"/>
          </p:cNvSpPr>
          <p:nvPr/>
        </p:nvSpPr>
        <p:spPr>
          <a:xfrm>
            <a:off x="1905000" y="5429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先記住：service name 給容器互連；project name 管整組 Compose 環境。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  <a:endParaRPr sz="900" b="1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5143500" cy="3829050"/>
          </a:xfrm>
          <a:prstGeom prst="roundRect">
            <a:avLst>
              <a:gd name="adj" fmla="val 24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noGrp="1"/>
          </p:cNvSpPr>
          <p:nvPr/>
        </p:nvSpPr>
        <p:spPr>
          <a:xfrm>
            <a:off x="10477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noGrp="1"/>
          </p:cNvSpPr>
          <p:nvPr/>
        </p:nvSpPr>
        <p:spPr>
          <a:xfrm>
            <a:off x="12192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noGrp="1"/>
          </p:cNvSpPr>
          <p:nvPr/>
        </p:nvSpPr>
        <p:spPr>
          <a:xfrm>
            <a:off x="13906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noGrp="1"/>
          </p:cNvSpPr>
          <p:nvPr/>
        </p:nvSpPr>
        <p:spPr>
          <a:xfrm>
            <a:off x="1085850" y="1847850"/>
            <a:ext cx="4724400" cy="3276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675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~/docker-lab/mysql-compose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noGrp="1"/>
          </p:cNvSpPr>
          <p:nvPr/>
        </p:nvSpPr>
        <p:spPr>
          <a:xfrm>
            <a:off x="6991350" y="14287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noGrp="1"/>
          </p:cNvSpPr>
          <p:nvPr/>
        </p:nvSpPr>
        <p:spPr>
          <a:xfrm>
            <a:off x="7219950" y="15906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noGrp="1"/>
          </p:cNvSpPr>
          <p:nvPr/>
        </p:nvSpPr>
        <p:spPr>
          <a:xfrm>
            <a:off x="8458200" y="16002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noGrp="1"/>
          </p:cNvSpPr>
          <p:nvPr/>
        </p:nvSpPr>
        <p:spPr>
          <a:xfrm>
            <a:off x="6991350" y="21717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noGrp="1"/>
          </p:cNvSpPr>
          <p:nvPr/>
        </p:nvSpPr>
        <p:spPr>
          <a:xfrm>
            <a:off x="7219950" y="23336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noGrp="1"/>
          </p:cNvSpPr>
          <p:nvPr/>
        </p:nvSpPr>
        <p:spPr>
          <a:xfrm>
            <a:off x="6991350" y="29146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noGrp="1"/>
          </p:cNvSpPr>
          <p:nvPr/>
        </p:nvSpPr>
        <p:spPr>
          <a:xfrm>
            <a:off x="7219950" y="30765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noGrp="1"/>
          </p:cNvSpPr>
          <p:nvPr/>
        </p:nvSpPr>
        <p:spPr>
          <a:xfrm>
            <a:off x="8458200" y="30861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noGrp="1"/>
          </p:cNvSpPr>
          <p:nvPr/>
        </p:nvSpPr>
        <p:spPr>
          <a:xfrm>
            <a:off x="6991350" y="36576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noGrp="1"/>
          </p:cNvSpPr>
          <p:nvPr/>
        </p:nvSpPr>
        <p:spPr>
          <a:xfrm>
            <a:off x="7219950" y="38195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noGrp="1"/>
          </p:cNvSpPr>
          <p:nvPr/>
        </p:nvSpPr>
        <p:spPr>
          <a:xfrm>
            <a:off x="8458200" y="38290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noGrp="1"/>
          </p:cNvSpPr>
          <p:nvPr/>
        </p:nvSpPr>
        <p:spPr>
          <a:xfrm>
            <a:off x="7219950" y="45624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noGrp="1"/>
          </p:cNvSpPr>
          <p:nvPr/>
        </p:nvSpPr>
        <p:spPr>
          <a:xfrm>
            <a:off x="8458200" y="45720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  <a:endParaRPr sz="900" b="1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 可以 commit 進 Git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  <a:endParaRPr sz="900" b="1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C66E06E0-BEB0-4178-A369-7BB6FDEDD1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73B865-6C6A-499C-8CBF-2639E264D91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P2：照解答跑 Nginx + Flask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66BF06-DC00-4A64-BEAF-FC459666301C}"/>
              </a:ext>
            </a:extLst>
          </p:cNvPr>
          <p:cNvSpPr>
            <a:spLocks noGrp="1"/>
          </p:cNvSpPr>
          <p:nvPr/>
        </p:nvSpPr>
        <p:spPr>
          <a:xfrm>
            <a:off x="857250" y="135255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先照講義完整解答跑起來，觀察 Nginx 如何用 service name 連到 Flask。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46C7190D-6B4B-45EE-B2D4-493F5F60E45A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02DD2D-4B4C-42A7-BBC6-E4F76E23AD46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Nginx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A319DD3-257A-4F15-A2EE-F73ABB4F41CF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nginx:alpine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proxy_pass app:5000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02D4DC5-10DC-4D80-B36F-D23DA8BEFD5A}"/>
              </a:ext>
            </a:extLst>
          </p:cNvPr>
          <p:cNvSpPr>
            <a:spLocks noGrp="1"/>
          </p:cNvSpPr>
          <p:nvPr/>
        </p:nvSpPr>
        <p:spPr>
          <a:xfrm>
            <a:off x="3619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22132E-A5E5-46CF-A13D-1D5889D0627F}"/>
              </a:ext>
            </a:extLst>
          </p:cNvPr>
          <p:cNvSpPr>
            <a:spLocks noGrp="1"/>
          </p:cNvSpPr>
          <p:nvPr/>
        </p:nvSpPr>
        <p:spPr>
          <a:xfrm>
            <a:off x="3848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FAB6B3-BA8B-4E65-8C54-ACD5BB4C0E5A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expose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不對主機開 port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442DE65-C542-4780-9A80-24A41BD5CD88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585D1C-8FCA-4317-80E7-24D62A89446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4AE5AA4-496A-4696-825A-8F9DFC02522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用 app:5000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連到 Flask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55ED96AC-EBF9-412D-80AD-BB7BA28030CD}"/>
              </a:ext>
            </a:extLst>
          </p:cNvPr>
          <p:cNvSpPr>
            <a:spLocks noGrp="1"/>
          </p:cNvSpPr>
          <p:nvPr/>
        </p:nvSpPr>
        <p:spPr>
          <a:xfrm>
            <a:off x="9334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A3B52C-530F-4067-ACCD-039A9D1C0079}"/>
              </a:ext>
            </a:extLst>
          </p:cNvPr>
          <p:cNvSpPr>
            <a:spLocks noGrp="1"/>
          </p:cNvSpPr>
          <p:nvPr/>
        </p:nvSpPr>
        <p:spPr>
          <a:xfrm>
            <a:off x="9563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AB6DC46-D592-47B8-A182-F00B111006CA}"/>
              </a:ext>
            </a:extLst>
          </p:cNvPr>
          <p:cNvSpPr>
            <a:spLocks noGrp="1"/>
          </p:cNvSpPr>
          <p:nvPr/>
        </p:nvSpPr>
        <p:spPr>
          <a:xfrm>
            <a:off x="9563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瀏覽器開 8080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exec web wget app:5000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E317CC9-3198-42B7-9BBF-B44163AC38A5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1238250"/>
          </a:xfrm>
          <a:prstGeom prst="roundRect">
            <a:avLst>
              <a:gd name="adj" fmla="val 769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0D2942-D235-4BB8-9686-F84C4C32C6A5}"/>
              </a:ext>
            </a:extLst>
          </p:cNvPr>
          <p:cNvSpPr>
            <a:spLocks noGrp="1"/>
          </p:cNvSpPr>
          <p:nvPr/>
        </p:nvSpPr>
        <p:spPr>
          <a:xfrm>
            <a:off x="2552700" y="4562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85678687-1712-4279-97BA-265FDAD7BEFE}"/>
              </a:ext>
            </a:extLst>
          </p:cNvPr>
          <p:cNvSpPr>
            <a:spLocks noGrp="1"/>
          </p:cNvSpPr>
          <p:nvPr/>
        </p:nvSpPr>
        <p:spPr>
          <a:xfrm>
            <a:off x="2724150" y="4562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2A3BF7E-6F76-493E-A9A1-D0582C1E672A}"/>
              </a:ext>
            </a:extLst>
          </p:cNvPr>
          <p:cNvSpPr>
            <a:spLocks noGrp="1"/>
          </p:cNvSpPr>
          <p:nvPr/>
        </p:nvSpPr>
        <p:spPr>
          <a:xfrm>
            <a:off x="2895600" y="4562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C9516F-C9AF-481D-9821-46A21321175D}"/>
              </a:ext>
            </a:extLst>
          </p:cNvPr>
          <p:cNvSpPr>
            <a:spLocks noGrp="1"/>
          </p:cNvSpPr>
          <p:nvPr/>
        </p:nvSpPr>
        <p:spPr>
          <a:xfrm>
            <a:off x="2590800" y="4819650"/>
            <a:ext cx="7010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 &amp;&amp; docker compose up -d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 &amp;&amp; docker compose exec web wget app:5000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9FFDE36-270B-49FB-B8FF-ACBF238A59D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AD94594-5F55-4231-A50B-98EDA53B4C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35C865D-AAA8-477E-9AF3-E7AA547F09A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  <a:endParaRPr sz="900" b="1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112828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socket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message="Hello from Flask behind Nginx",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hostname=socket.gethostname(),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F364CA04-9970-4B23-859B-7B554CD48367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3302FD-2FF9-4CF6-A594-74C37F108E6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23B0136-4615-44B6-858C-3187F16F94F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5AF73C6B-4F9A-4EE7-9112-9ACD73CA5F4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D534A58-388B-45A0-ACFE-A1057231988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A12A03C-B4E1-4C98-9FE4-16BFA62FE74A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16DDE08F-61AF-4B4B-AF89-7B087CC4D39C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323884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96D58D26-6956-47B3-B68B-681BAF0219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31F5298-34CB-439F-B4CF-B8B8494FEEB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下一段：Nginx + Flask + MySQL 完整實作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990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990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nginx:alpine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 app:5000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36195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15" name="app-bg 15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467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pp-title 16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489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</a:t>
            </a:r>
          </a:p>
        </p:txBody>
      </p:sp>
      <p:sp>
        <p:nvSpPr>
          <p:cNvPr id="17" name="app-body 17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489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expose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DB_HOST=db</a:t>
            </a:r>
          </a:p>
        </p:txBody>
      </p:sp>
      <p:sp>
        <p:nvSpPr>
          <p:cNvPr id="18" name="arrow 18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BECBE324-C5C4-40A4-A155-F0AD81F28311}"/>
              </a:ext>
            </a:extLst>
          </p:cNvPr>
          <p:cNvSpPr>
            <a:spLocks noGrp="1"/>
          </p:cNvSpPr>
          <p:nvPr/>
        </p:nvSpPr>
        <p:spPr>
          <a:xfrm>
            <a:off x="858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C96E05-42D6-426F-9E39-F26B5455104E}"/>
              </a:ext>
            </a:extLst>
          </p:cNvPr>
          <p:cNvSpPr>
            <a:spLocks noGrp="1"/>
          </p:cNvSpPr>
          <p:nvPr/>
        </p:nvSpPr>
        <p:spPr>
          <a:xfrm>
            <a:off x="880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DC26342-4228-40DB-83E4-AFD769D68D97}"/>
              </a:ext>
            </a:extLst>
          </p:cNvPr>
          <p:cNvSpPr>
            <a:spLocks noGrp="1"/>
          </p:cNvSpPr>
          <p:nvPr/>
        </p:nvSpPr>
        <p:spPr>
          <a:xfrm>
            <a:off x="880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db-data:/var/lib/mysql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45F95F12-5EAE-4C8C-8431-DF60F81EDB97}"/>
              </a:ext>
            </a:extLst>
          </p:cNvPr>
          <p:cNvSpPr>
            <a:spLocks noGrp="1"/>
          </p:cNvSpPr>
          <p:nvPr/>
        </p:nvSpPr>
        <p:spPr>
          <a:xfrm>
            <a:off x="4057650" y="4495800"/>
            <a:ext cx="40767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E4F2BA7-319A-4B4F-9D60-CB172BB2364E}"/>
              </a:ext>
            </a:extLst>
          </p:cNvPr>
          <p:cNvSpPr>
            <a:spLocks noGrp="1"/>
          </p:cNvSpPr>
          <p:nvPr/>
        </p:nvSpPr>
        <p:spPr>
          <a:xfrm>
            <a:off x="4362450" y="46863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這段由老師帶著做，重點是 Nginx 用 app、Flask 用 db 兩段 service name。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D6537A2-DAB9-4330-A390-0B2C7290ED4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37674C-273F-4B0D-BD12-98A9541108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C8BA44-EAEF-42EF-969D-58C83BE64F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  <a:endParaRPr sz="900" b="1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9527227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F5F6E50D-6D30-4F37-8FA5-007A176C56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COMPOSE.YAML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9BC23C-60C0-421F-AE44-9C30942A389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+ Flask + MySQL：三個 service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A3C863A-6120-4B59-846C-3E1502B0227D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6191250" cy="4324350"/>
          </a:xfrm>
          <a:prstGeom prst="roundRect">
            <a:avLst>
              <a:gd name="adj" fmla="val 220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EE3B805-8BB9-4395-B89E-B3E7CB10A4D0}"/>
              </a:ext>
            </a:extLst>
          </p:cNvPr>
          <p:cNvSpPr>
            <a:spLocks noGrp="1"/>
          </p:cNvSpPr>
          <p:nvPr/>
        </p:nvSpPr>
        <p:spPr>
          <a:xfrm>
            <a:off x="952500" y="1514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8A6AC720-D60C-4834-843F-1D41CE4E28F4}"/>
              </a:ext>
            </a:extLst>
          </p:cNvPr>
          <p:cNvSpPr>
            <a:spLocks noGrp="1"/>
          </p:cNvSpPr>
          <p:nvPr/>
        </p:nvSpPr>
        <p:spPr>
          <a:xfrm>
            <a:off x="1123950" y="1514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3D8E5DA2-972C-482D-9CA4-75FB49827877}"/>
              </a:ext>
            </a:extLst>
          </p:cNvPr>
          <p:cNvSpPr>
            <a:spLocks noGrp="1"/>
          </p:cNvSpPr>
          <p:nvPr/>
        </p:nvSpPr>
        <p:spPr>
          <a:xfrm>
            <a:off x="1295400" y="1514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B22E41-4D3A-47CF-B07B-370413B3D7FB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5772150" cy="3771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 ["8080:80"]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 [app]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 ["5000"]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 { DB_HOST: db }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 [db]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 [db-data:/var/lib/mysql]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 { db-data: }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3E9D994-B65F-48F1-9CF3-8CD8B4E21661}"/>
              </a:ext>
            </a:extLst>
          </p:cNvPr>
          <p:cNvSpPr>
            <a:spLocks noGrp="1"/>
          </p:cNvSpPr>
          <p:nvPr/>
        </p:nvSpPr>
        <p:spPr>
          <a:xfrm>
            <a:off x="7715250" y="17907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6912E67-435C-4960-BA49-8E1581214B84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651D17A-B978-4D35-86B6-E23C0034438E}"/>
              </a:ext>
            </a:extLst>
          </p:cNvPr>
          <p:cNvSpPr>
            <a:spLocks noGrp="1"/>
          </p:cNvSpPr>
          <p:nvPr/>
        </p:nvSpPr>
        <p:spPr>
          <a:xfrm>
            <a:off x="7943850" y="24193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Nginx 對外 8080，proxy 到 app:5000。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868C442-7CEE-4950-9DB0-596E61080983}"/>
              </a:ext>
            </a:extLst>
          </p:cNvPr>
          <p:cNvSpPr>
            <a:spLocks noGrp="1"/>
          </p:cNvSpPr>
          <p:nvPr/>
        </p:nvSpPr>
        <p:spPr>
          <a:xfrm>
            <a:off x="7715250" y="34290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B65744-0F9F-4D7E-B829-53961A8FD0D6}"/>
              </a:ext>
            </a:extLst>
          </p:cNvPr>
          <p:cNvSpPr>
            <a:spLocks noGrp="1"/>
          </p:cNvSpPr>
          <p:nvPr/>
        </p:nvSpPr>
        <p:spPr>
          <a:xfrm>
            <a:off x="7943850" y="3619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app / db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41A815E-DD04-4E3B-8124-FF9D09E70645}"/>
              </a:ext>
            </a:extLst>
          </p:cNvPr>
          <p:cNvSpPr>
            <a:spLocks noGrp="1"/>
          </p:cNvSpPr>
          <p:nvPr/>
        </p:nvSpPr>
        <p:spPr>
          <a:xfrm>
            <a:off x="7943850" y="40576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Flask 用 DB_HOST=db 連 MySQL。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B347B9-D0D3-4479-9F09-2EE754AF1A1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04A8BA3-F032-4E41-A2B0-1B6AE28E19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419D7E4-41D6-413F-86B3-143FF8D6D59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  <a:endParaRPr sz="900" b="1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5704948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與 depends_on 只解決部分問題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noGrp="1"/>
          </p:cNvSpPr>
          <p:nvPr/>
        </p:nvSpPr>
        <p:spPr>
          <a:xfrm>
            <a:off x="1276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restart: unless-stopped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noGrp="1"/>
          </p:cNvSpPr>
          <p:nvPr/>
        </p:nvSpPr>
        <p:spPr>
          <a:xfrm>
            <a:off x="1276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開發環境常用。容器非手動停止時會自動重啟；手動 stop 後維持停止。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noGrp="1"/>
          </p:cNvSpPr>
          <p:nvPr/>
        </p:nvSpPr>
        <p:spPr>
          <a:xfrm>
            <a:off x="6991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控制啟動順序，例如先啟動 db 再啟動 web。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8686800" cy="742950"/>
          </a:xfrm>
          <a:prstGeom prst="roundRect">
            <a:avLst>
              <a:gd name="adj" fmla="val 1538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depends_on 只保證容器先啟動，不保證 MySQL 已經 ready；程式端仍需要重試機制。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  <a:endParaRPr sz="900" b="1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noGrp="1"/>
          </p:cNvSpPr>
          <p:nvPr/>
        </p:nvSpPr>
        <p:spPr>
          <a:xfrm>
            <a:off x="11430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noGrp="1"/>
          </p:cNvSpPr>
          <p:nvPr/>
        </p:nvSpPr>
        <p:spPr>
          <a:xfrm>
            <a:off x="67437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noGrp="1"/>
          </p:cNvSpPr>
          <p:nvPr/>
        </p:nvSpPr>
        <p:spPr>
          <a:xfrm>
            <a:off x="67437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noGrp="1"/>
          </p:cNvSpPr>
          <p:nvPr/>
        </p:nvSpPr>
        <p:spPr>
          <a:xfrm>
            <a:off x="2095500" y="50292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  <a:endParaRPr sz="900" b="1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1/3）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pymysql.connect(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user=os.environ["DB_USER"],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password=os.environ["DB_PASSWORD"],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database=os.environ["DB_NAME"],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charset="utf8mb4",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cursorclass=pymysql.cursors.DictCursor,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2/3）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last_error = None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_ in range(10):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with connect_db() as conn: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with conn.cursor() as cursor: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CREATE TABLE IF NOT EXISTS visits 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id INT NOT NULL AUTO_INCREMENT PRIMARY KEY,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created_at TIMESTAMP NOT NULL DEFAULT CURRENT_TIMESTAMP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cursor.execute("INSERT INTO visits () VALUES ()")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conn.commit()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cursor.execute("SELECT COUNT(*) AS count FROM visits")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row = cursor.fetchone()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3/3）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message="Flask connected to MySQL through the Compose network",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db_host=os.environ["DB_HOST"],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visits=row["count"],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error: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last_error = error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jsonify(error=str(last_error)), 500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 + MySQL）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 + MySQL）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93D84B4A-E046-40ED-9E71-096B3DC5790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C191322-06B3-4D73-A1A7-F79E43954A3F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1/3）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F27A23E-710D-4343-A225-6D0587756BBD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827D97E-A273-4D25-A370-AEE82808B959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E8AAFA7A-AC22-4BB3-B190-C54852FABD0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demo-nginx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0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demo-flask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199D8C1-384E-4F9D-B08A-D6059DA79F3B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739286C1-B53C-4A23-8195-4CA3B90AF435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430890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24F5EF18-1A9B-4B89-92AF-49233194FD3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364DB57-A4B1-45A8-8A74-18BFB1BEAE2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2/3）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4F9B1FE-66EA-4F8C-93D5-40458BEB753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EB565F5-3DC6-43CA-BA4A-491958A83D81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BE462DF9-535B-47C0-B625-08597191E45E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demo_db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B8F98F6-AD64-489C-9A27-AE918DCC719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3D9FDE10-2783-4745-BAD1-C61D862DEBC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962730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3/3）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noGrp="1"/>
          </p:cNvSpPr>
          <p:nvPr/>
        </p:nvSpPr>
        <p:spPr>
          <a:xfrm>
            <a:off x="11049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noGrp="1"/>
          </p:cNvSpPr>
          <p:nvPr/>
        </p:nvSpPr>
        <p:spPr>
          <a:xfrm>
            <a:off x="13335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三個服務都應該是 Up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noGrp="1"/>
          </p:cNvSpPr>
          <p:nvPr/>
        </p:nvSpPr>
        <p:spPr>
          <a:xfrm>
            <a:off x="44577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noGrp="1"/>
          </p:cNvSpPr>
          <p:nvPr/>
        </p:nvSpPr>
        <p:spPr>
          <a:xfrm>
            <a:off x="46863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86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Nginx、Flask 與 MySQL 沒有錯誤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noGrp="1"/>
          </p:cNvSpPr>
          <p:nvPr/>
        </p:nvSpPr>
        <p:spPr>
          <a:xfrm>
            <a:off x="80391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7C817E8-0011-4826-8F01-798A70884307}"/>
              </a:ext>
            </a:extLst>
          </p:cNvPr>
          <p:cNvSpPr>
            <a:spLocks noGrp="1"/>
          </p:cNvSpPr>
          <p:nvPr/>
        </p:nvSpPr>
        <p:spPr>
          <a:xfrm>
            <a:off x="80391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localhost:8080 看 JSON；localhost:3306 連 MySQL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740A2432-9FD1-40E5-B2FC-3083BBEC00BC}"/>
              </a:ext>
            </a:extLst>
          </p:cNvPr>
          <p:cNvSpPr>
            <a:spLocks noGrp="1"/>
          </p:cNvSpPr>
          <p:nvPr/>
        </p:nvSpPr>
        <p:spPr>
          <a:xfrm>
            <a:off x="3143250" y="4838700"/>
            <a:ext cx="5905500" cy="1028700"/>
          </a:xfrm>
          <a:prstGeom prst="roundRect">
            <a:avLst>
              <a:gd name="adj" fmla="val 92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E9EB53A2-4F81-46F8-A271-EDA4B5C9105C}"/>
              </a:ext>
            </a:extLst>
          </p:cNvPr>
          <p:cNvSpPr>
            <a:spLocks noGrp="1"/>
          </p:cNvSpPr>
          <p:nvPr/>
        </p:nvSpPr>
        <p:spPr>
          <a:xfrm>
            <a:off x="331470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746AA9D5-A746-4448-9710-5D15E8FB4F61}"/>
              </a:ext>
            </a:extLst>
          </p:cNvPr>
          <p:cNvSpPr>
            <a:spLocks noGrp="1"/>
          </p:cNvSpPr>
          <p:nvPr/>
        </p:nvSpPr>
        <p:spPr>
          <a:xfrm>
            <a:off x="348615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7CFE7939-1036-4BEE-ABF2-789D02FF5655}"/>
              </a:ext>
            </a:extLst>
          </p:cNvPr>
          <p:cNvSpPr>
            <a:spLocks noGrp="1"/>
          </p:cNvSpPr>
          <p:nvPr/>
        </p:nvSpPr>
        <p:spPr>
          <a:xfrm>
            <a:off x="365760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17B639E-D924-4BB1-AFF6-27B5738A39B5}"/>
              </a:ext>
            </a:extLst>
          </p:cNvPr>
          <p:cNvSpPr>
            <a:spLocks noGrp="1"/>
          </p:cNvSpPr>
          <p:nvPr/>
        </p:nvSpPr>
        <p:spPr>
          <a:xfrm>
            <a:off x="3352800" y="5257800"/>
            <a:ext cx="5486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5527" lnSpcReduction="1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  <a:endParaRPr sz="900" b="1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305CE85E-B951-41C2-A31D-898FB0D1E7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4803DDD-2EDE-461E-8408-9CEC6BD8AA0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demo-mysql 確認 Flask 寫入資料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A0FDC53-9C70-463C-B8D3-71F1E8B8BD80}"/>
              </a:ext>
            </a:extLst>
          </p:cNvPr>
          <p:cNvSpPr>
            <a:spLocks noGrp="1"/>
          </p:cNvSpPr>
          <p:nvPr/>
        </p:nvSpPr>
        <p:spPr>
          <a:xfrm>
            <a:off x="819150" y="1428750"/>
            <a:ext cx="6858000" cy="3505200"/>
          </a:xfrm>
          <a:prstGeom prst="roundRect">
            <a:avLst>
              <a:gd name="adj" fmla="val 27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5C5C32F-EB97-468B-A621-C145EADC9CAD}"/>
              </a:ext>
            </a:extLst>
          </p:cNvPr>
          <p:cNvSpPr>
            <a:spLocks noGrp="1"/>
          </p:cNvSpPr>
          <p:nvPr/>
        </p:nvSpPr>
        <p:spPr>
          <a:xfrm>
            <a:off x="99060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846E790F-732F-4F34-943E-F987B54E31BA}"/>
              </a:ext>
            </a:extLst>
          </p:cNvPr>
          <p:cNvSpPr>
            <a:spLocks noGrp="1"/>
          </p:cNvSpPr>
          <p:nvPr/>
        </p:nvSpPr>
        <p:spPr>
          <a:xfrm>
            <a:off x="116205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327BB44-9687-4C34-B84D-7207D9887591}"/>
              </a:ext>
            </a:extLst>
          </p:cNvPr>
          <p:cNvSpPr>
            <a:spLocks noGrp="1"/>
          </p:cNvSpPr>
          <p:nvPr/>
        </p:nvSpPr>
        <p:spPr>
          <a:xfrm>
            <a:off x="133350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BD62FC-5561-4062-82C4-F68DF7FC29EF}"/>
              </a:ext>
            </a:extLst>
          </p:cNvPr>
          <p:cNvSpPr>
            <a:spLocks noGrp="1"/>
          </p:cNvSpPr>
          <p:nvPr/>
        </p:nvSpPr>
        <p:spPr>
          <a:xfrm>
            <a:off x="1028700" y="1847850"/>
            <a:ext cx="64389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demo-mysql mysql -u demo_user -p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demo_db;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visits;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112AC9D-6ED5-4411-978E-DA57123544BF}"/>
              </a:ext>
            </a:extLst>
          </p:cNvPr>
          <p:cNvSpPr>
            <a:spLocks noGrp="1"/>
          </p:cNvSpPr>
          <p:nvPr/>
        </p:nvSpPr>
        <p:spPr>
          <a:xfrm>
            <a:off x="8172450" y="2038350"/>
            <a:ext cx="2857500" cy="1600200"/>
          </a:xfrm>
          <a:prstGeom prst="roundRect">
            <a:avLst>
              <a:gd name="adj" fmla="val 7143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E612176-FA1F-492C-B481-489F034269ED}"/>
              </a:ext>
            </a:extLst>
          </p:cNvPr>
          <p:cNvSpPr>
            <a:spLocks noGrp="1"/>
          </p:cNvSpPr>
          <p:nvPr/>
        </p:nvSpPr>
        <p:spPr>
          <a:xfrm>
            <a:off x="8401050" y="22288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07A063A-3D12-4F65-B219-669D15634A99}"/>
              </a:ext>
            </a:extLst>
          </p:cNvPr>
          <p:cNvSpPr>
            <a:spLocks noGrp="1"/>
          </p:cNvSpPr>
          <p:nvPr/>
        </p:nvSpPr>
        <p:spPr>
          <a:xfrm>
            <a:off x="8401050" y="2647950"/>
            <a:ext cx="2400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不是只看容器 Up，而是確認 Flask 真的透過 db 寫入 MySQL。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14DE522-3962-44B7-879B-6F43B4EB0C8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615CFC8-DC87-441C-828E-7A339002929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B4A4B2D-FD34-4D67-86F2-E7856800CF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  <a:endParaRPr sz="900" b="1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8905043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noGrp="1"/>
          </p:cNvSpPr>
          <p:nvPr/>
        </p:nvSpPr>
        <p:spPr>
          <a:xfrm>
            <a:off x="13144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noGrp="1"/>
          </p:cNvSpPr>
          <p:nvPr/>
        </p:nvSpPr>
        <p:spPr>
          <a:xfrm>
            <a:off x="15430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noGrp="1"/>
          </p:cNvSpPr>
          <p:nvPr/>
        </p:nvSpPr>
        <p:spPr>
          <a:xfrm>
            <a:off x="67818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noGrp="1"/>
          </p:cNvSpPr>
          <p:nvPr/>
        </p:nvSpPr>
        <p:spPr>
          <a:xfrm>
            <a:off x="70104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noGrp="1"/>
          </p:cNvSpPr>
          <p:nvPr/>
        </p:nvSpPr>
        <p:spPr>
          <a:xfrm>
            <a:off x="701040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noGrp="1"/>
          </p:cNvSpPr>
          <p:nvPr/>
        </p:nvSpPr>
        <p:spPr>
          <a:xfrm>
            <a:off x="1885950" y="4953000"/>
            <a:ext cx="8420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  <a:endParaRPr sz="900" b="1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91F89E3-6C5E-4260-A6A3-AF21573AC7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EC029D-3F16-46BA-A7DB-A62433F3A8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讓多版本 MySQL 可以並存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7DEB307-D7E5-49E1-88CE-E0E75862FE61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10744200" cy="2400300"/>
          </a:xfrm>
          <a:prstGeom prst="roundRect">
            <a:avLst>
              <a:gd name="adj" fmla="val 39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61234011-8807-4B56-8352-C679411F2C0B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35F81F8B-615F-4837-A652-73E2F3E3B50C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E23743D-F912-4F9B-88D8-2E6FF593C594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F7957A-3D1E-4FDE-94C2-C5A784DEDD6C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103251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D68711-7153-4D0E-9FA6-2335EB7A2B52}"/>
              </a:ext>
            </a:extLst>
          </p:cNvPr>
          <p:cNvSpPr>
            <a:spLocks noGrp="1"/>
          </p:cNvSpPr>
          <p:nvPr/>
        </p:nvSpPr>
        <p:spPr>
          <a:xfrm>
            <a:off x="12382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9AC709-5020-498E-8BD2-89C90C44EBC2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CEEE478-6962-4E69-8885-4F765EB7BA62}"/>
              </a:ext>
            </a:extLst>
          </p:cNvPr>
          <p:cNvSpPr>
            <a:spLocks noGrp="1"/>
          </p:cNvSpPr>
          <p:nvPr/>
        </p:nvSpPr>
        <p:spPr>
          <a:xfrm>
            <a:off x="14668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776D02B-A812-485C-844A-499740EF2B5F}"/>
              </a:ext>
            </a:extLst>
          </p:cNvPr>
          <p:cNvSpPr>
            <a:spLocks noGrp="1"/>
          </p:cNvSpPr>
          <p:nvPr/>
        </p:nvSpPr>
        <p:spPr>
          <a:xfrm>
            <a:off x="67627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495787-BA55-4676-BDE2-78CBF0168A04}"/>
              </a:ext>
            </a:extLst>
          </p:cNvPr>
          <p:cNvSpPr>
            <a:spLocks noGrp="1"/>
          </p:cNvSpPr>
          <p:nvPr/>
        </p:nvSpPr>
        <p:spPr>
          <a:xfrm>
            <a:off x="69913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E5DF6C-0AF9-48D3-97B1-9ABFCC966771}"/>
              </a:ext>
            </a:extLst>
          </p:cNvPr>
          <p:cNvSpPr>
            <a:spLocks noGrp="1"/>
          </p:cNvSpPr>
          <p:nvPr/>
        </p:nvSpPr>
        <p:spPr>
          <a:xfrm>
            <a:off x="69913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prune、image prune、system prune -a 都要確認後再執行。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A830DF6-7690-4190-8C76-C0DF7BF93A2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BB9AAF-C80D-429C-9222-08DCC4A7A6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73D08D-4626-4010-9617-F8EB7EB24A6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  <a:endParaRPr sz="900" b="1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127748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87DB311C-8E8E-4C76-9D74-CF1698ED409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69F863F-45E0-46F1-94DB-34D0ACAACA4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範例程式碼：compose.yaml（多版本 MySQL 1/2）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CA4C807-06C5-4997-85A5-33BCFD01DED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694DFF00-7A47-491B-9D3A-47A6E607FDE5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83E66F7-D4F5-4E63-BD02-1D1B4D8676FA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0577E29-140E-4EAF-BD3F-7DE317364DC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E88DE876-D7EA-415F-9D42-45C02E5114A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831272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6E71E3EE-27C0-4E02-BED7-ECE531FAC4C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E04A94C-942F-44E0-84AA-5908B8B844DD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範例程式碼：compose.yaml（多版本 MySQL 2/2）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AB1A58-1566-42E2-8650-EFD37FDED80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6EDE3A0-0B39-4C30-B378-FDB5C4162911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2BD9E99F-CF50-40C9-A22D-1FF8EF07399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68E727E-9D59-437D-B5C5-DAEABF3B0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0E06D9B8-FC21-4B8D-8800-479C12044EE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192201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72F684B1-2C17-4B01-951D-AB4E5E6EE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4A60BE-DDC1-437D-A99C-565B334080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CAD7A30-5DB5-4B9C-94F4-28F19E0EBA80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2552700"/>
          </a:xfrm>
          <a:prstGeom prst="roundRect">
            <a:avLst>
              <a:gd name="adj" fmla="val 373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A9BF3D3-9B99-4870-9992-AA91DAB47D81}"/>
              </a:ext>
            </a:extLst>
          </p:cNvPr>
          <p:cNvSpPr>
            <a:spLocks noGrp="1"/>
          </p:cNvSpPr>
          <p:nvPr/>
        </p:nvSpPr>
        <p:spPr>
          <a:xfrm>
            <a:off x="89535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D54A2B8-BF1C-4B4E-BCB4-4B4A5AC458DB}"/>
              </a:ext>
            </a:extLst>
          </p:cNvPr>
          <p:cNvSpPr>
            <a:spLocks noGrp="1"/>
          </p:cNvSpPr>
          <p:nvPr/>
        </p:nvSpPr>
        <p:spPr>
          <a:xfrm>
            <a:off x="106680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9E54312-9104-4A34-BB5A-7660CD4272AB}"/>
              </a:ext>
            </a:extLst>
          </p:cNvPr>
          <p:cNvSpPr>
            <a:spLocks noGrp="1"/>
          </p:cNvSpPr>
          <p:nvPr/>
        </p:nvSpPr>
        <p:spPr>
          <a:xfrm>
            <a:off x="123825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57A447A-8AC0-4C1F-80E7-9AE76AA1C732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10325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880EE4-8A7B-48AC-9D9A-526321E48013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8397DAC-F0A6-44BC-8E95-C2315E170EC8}"/>
              </a:ext>
            </a:extLst>
          </p:cNvPr>
          <p:cNvSpPr>
            <a:spLocks noGrp="1"/>
          </p:cNvSpPr>
          <p:nvPr/>
        </p:nvSpPr>
        <p:spPr>
          <a:xfrm>
            <a:off x="11811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A09A93-E670-49BB-876E-91DC4D36636B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FD76C92-3228-4999-9DCA-7490B688006E}"/>
              </a:ext>
            </a:extLst>
          </p:cNvPr>
          <p:cNvSpPr>
            <a:spLocks noGrp="1"/>
          </p:cNvSpPr>
          <p:nvPr/>
        </p:nvSpPr>
        <p:spPr>
          <a:xfrm>
            <a:off x="46863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FC5DC5-54D9-4349-8BD0-B9F3A28813DB}"/>
              </a:ext>
            </a:extLst>
          </p:cNvPr>
          <p:cNvSpPr>
            <a:spLocks noGrp="1"/>
          </p:cNvSpPr>
          <p:nvPr/>
        </p:nvSpPr>
        <p:spPr>
          <a:xfrm>
            <a:off x="49149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9EE890-5782-4D4A-AE77-FB9322861F36}"/>
              </a:ext>
            </a:extLst>
          </p:cNvPr>
          <p:cNvSpPr>
            <a:spLocks noGrp="1"/>
          </p:cNvSpPr>
          <p:nvPr/>
        </p:nvSpPr>
        <p:spPr>
          <a:xfrm>
            <a:off x="49149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235AFB1-AB7E-47F7-AF35-0E7FA37FE0F4}"/>
              </a:ext>
            </a:extLst>
          </p:cNvPr>
          <p:cNvSpPr>
            <a:spLocks noGrp="1"/>
          </p:cNvSpPr>
          <p:nvPr/>
        </p:nvSpPr>
        <p:spPr>
          <a:xfrm>
            <a:off x="84201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51AF5D1-4401-4928-9EC0-38F3503C59F9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F2A973-7E6E-4406-B6AD-88D6F526BDBB}"/>
              </a:ext>
            </a:extLst>
          </p:cNvPr>
          <p:cNvSpPr>
            <a:spLocks noGrp="1"/>
          </p:cNvSpPr>
          <p:nvPr/>
        </p:nvSpPr>
        <p:spPr>
          <a:xfrm>
            <a:off x="86487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mysql8 mysql9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需要資料才加 volume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8857602-8D70-4295-84D5-9F44348CA2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E0D2EEC-3384-4D01-8D77-9819DEE2FDD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6BF70F4-A37F-4D29-8803-C3A6235608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29</a:t>
            </a:r>
            <a:endParaRPr sz="900" b="1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0581643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0711F0B6-62AA-43D4-B556-696DB35A5C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01BE7D2-8043-4DAC-A573-AEA1E6301AA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0B94D57-EB94-478C-BE50-387A3CF60771}"/>
              </a:ext>
            </a:extLst>
          </p:cNvPr>
          <p:cNvSpPr>
            <a:spLocks noGrp="1"/>
          </p:cNvSpPr>
          <p:nvPr/>
        </p:nvSpPr>
        <p:spPr>
          <a:xfrm>
            <a:off x="9144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0D3D806-EAC1-4087-9ED8-25520A3BC727}"/>
              </a:ext>
            </a:extLst>
          </p:cNvPr>
          <p:cNvSpPr>
            <a:spLocks noGrp="1"/>
          </p:cNvSpPr>
          <p:nvPr/>
        </p:nvSpPr>
        <p:spPr>
          <a:xfrm>
            <a:off x="11430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C1：Nginx + Flask +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A401198-E200-44DE-8207-E6BAAED867B3}"/>
              </a:ext>
            </a:extLst>
          </p:cNvPr>
          <p:cNvSpPr>
            <a:spLocks noGrp="1"/>
          </p:cNvSpPr>
          <p:nvPr/>
        </p:nvSpPr>
        <p:spPr>
          <a:xfrm>
            <a:off x="11430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參考前面解答，改出 Browser -&gt; Nginx -&gt; Flask -&gt; MySQL 的三服務 Compose，並用 docker compose config、ps、wget 和 docker stats 觀察狀態與資源。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3DD4825-0C2A-4AF8-8077-AC6D442009B3}"/>
              </a:ext>
            </a:extLst>
          </p:cNvPr>
          <p:cNvSpPr>
            <a:spLocks noGrp="1"/>
          </p:cNvSpPr>
          <p:nvPr/>
        </p:nvSpPr>
        <p:spPr>
          <a:xfrm>
            <a:off x="65151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F87105D-AB09-46AD-A622-3F102B60F746}"/>
              </a:ext>
            </a:extLst>
          </p:cNvPr>
          <p:cNvSpPr>
            <a:spLocks noGrp="1"/>
          </p:cNvSpPr>
          <p:nvPr/>
        </p:nvSpPr>
        <p:spPr>
          <a:xfrm>
            <a:off x="67437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D90466-E0E5-4B1D-8558-37B915E0D9CD}"/>
              </a:ext>
            </a:extLst>
          </p:cNvPr>
          <p:cNvSpPr>
            <a:spLocks noGrp="1"/>
          </p:cNvSpPr>
          <p:nvPr/>
        </p:nvSpPr>
        <p:spPr>
          <a:xfrm>
            <a:off x="67437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374C755-3EA3-4D16-ABF8-B2086E0D3444}"/>
              </a:ext>
            </a:extLst>
          </p:cNvPr>
          <p:cNvSpPr>
            <a:spLocks noGrp="1"/>
          </p:cNvSpPr>
          <p:nvPr/>
        </p:nvSpPr>
        <p:spPr>
          <a:xfrm>
            <a:off x="2076450" y="4762500"/>
            <a:ext cx="80391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D1EF222-50D8-41A6-893C-1BD1FE17A576}"/>
              </a:ext>
            </a:extLst>
          </p:cNvPr>
          <p:cNvSpPr>
            <a:spLocks noGrp="1"/>
          </p:cNvSpPr>
          <p:nvPr/>
        </p:nvSpPr>
        <p:spPr>
          <a:xfrm>
            <a:off x="2381250" y="49530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ACF5D00-94EE-4B22-AADA-24028FAF78D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F44DFF-C1C0-47E4-A541-993BD10068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0C3ED2C-3B43-47D6-9CF0-CD0383C42BF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lang="en-US" altLang="zh-TW"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  <a:endParaRPr sz="900" b="1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6451213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完整程式碼：p2-nginx-flask-compose/solution/app/app.py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socket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message="Hello from Flask behind Nginx",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hostname=socket.gethostname(),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完整程式碼：p2-nginx-flask-compose/solution/app/requirements.txt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完整程式碼：p2-nginx-flask-compose/solution/nginx/default.conf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883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完整程式碼：p2-nginx-flask-compose/solution/compose.yaml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practice-nginx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practice-flask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883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完整程式碼：p2-nginx-flask-compose/solution/compose.yaml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(1/3)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pymysql.connect(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user=os.environ["DB_USER"],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password=os.environ["DB_PASSWORD"],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database=os.environ["DB_NAME"],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charset="utf8mb4",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cursorclass=pymysql.cursors.DictCursor,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(2/3)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last_error = None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_ in range(10):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with connect_db() as conn: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with conn.cursor() as cursor: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CREATE TABLE IF NOT EXISTS visits 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id INT NOT NULL AUTO_INCREMENT PRIMARY KEY,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created_at TIMESTAMP NOT NULL DEFAULT CURRENT_TIMESTAMP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cursor.execute("INSERT INTO visits () VALUES ()")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conn.commit()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cursor.execute("SELECT COUNT(*) AS count FROM visits")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row = cursor.fetchone()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message="Flask connected to MySQL through the Compose network",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db_host=os.environ["DB_HOST"],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(3/3)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visits=row["count"],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error: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last_error = error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jsonify(error=str(last_error)), 500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完整程式碼：compose-nginx-flask-mysql/nginx/default.conf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(1/3)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demo_db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(2/3)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(3/3)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完整程式碼：p3-mysql-versions/compose.yaml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完整程式碼：p3-mysql-versions/compose.yaml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4915</Words>
  <Application>Microsoft Office PowerPoint</Application>
  <DocSecurity>0</DocSecurity>
  <PresentationFormat>寬螢幕</PresentationFormat>
  <Paragraphs>1021</Paragraphs>
  <Slides>62</Slides>
  <Notes>62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62</vt:i4>
      </vt:variant>
    </vt:vector>
  </HeadingPairs>
  <TitlesOfParts>
    <vt:vector size="67" baseType="lpstr"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9</cp:revision>
  <dcterms:created xsi:type="dcterms:W3CDTF">2026-06-24T09:51:49Z</dcterms:created>
  <dcterms:modified xsi:type="dcterms:W3CDTF">2026-06-25T09:14:49Z</dcterms:modified>
</cp:coreProperties>
</file>