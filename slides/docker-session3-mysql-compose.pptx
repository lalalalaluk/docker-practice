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4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9BAF8CC-A11E-4B41-A4AC-BEAF420C087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8968" r="18968"/>
          <a:stretch>
            <a:fillRect/>
          </a:stretch>
        </p:blipFill>
        <p:spPr>
          <a:xfrm>
            <a:off x="4629150" y="0"/>
            <a:ext cx="75628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01D6F607-9DF1-4376-A659-533EE507A49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5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BF6BF591-D149-46FE-8B21-8F613E69C0F4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1336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68E6193-FA12-4F3C-BCAD-9B7316512F76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981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3 堂 | Multi-container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42F13-0BF4-4EE2-A7FB-4D0BF71C70EE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MySQL、Docker Compose 與多容器管理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B0E5B7-E26C-4A7E-BF4F-DEFF9866631F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從單一容器，進入資料庫與多服務開發環境。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1EDCAFA-44E6-4D62-BF3B-52B489AA847A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FA5798-34B6-4643-8689-3D47C6F7750E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8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今天完成：跑起 MySQL、保存資料、用 compose.yaml 一次管理多個服務。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3E8AD43-5323-4B3C-8FD3-4195D2E2589F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09269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B34F06D7-789F-4A23-A029-BC561ACDBD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6BA731-CCCA-4AD1-B7A2-04A2F07EFB0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37B5D27-67B3-41F4-94C7-3456D934EC58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03D4BE2-AD85-49AA-A1FB-BC499C3DE621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146FB1B-B3E2-437B-ACF7-3CE54206F277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75FFC-9791-42B4-A123-156FB2346B25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容器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16264B-EAFE-42A2-846E-A2BFDEB6F73F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 Docker Hub 參數，啟動 MySQL，連線並做 CRUD。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24BE0D8-0ECB-494C-82F3-8BB6AF520F3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483B011-082D-40BD-B526-8734582BD5E3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6EAD48E5-36B9-4081-A402-865CD45C06D1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3E879886-7B99-414F-8401-4E55F8EC216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A5ABFF-337F-4C58-9212-BDD3955F7C99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417B24-338C-482C-8986-39EFF8CA1EEC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FDE4EEB-E7F3-4884-9518-A32B57389E7E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把多個容器設定寫進 compose.yaml，一鍵啟動。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CA3A8DB-1510-418D-BEDA-F0C25D639689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9B3C8F-028A-498A-A201-AB7D834105E3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4F46E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F46E5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ABC9131E-883D-4CF5-81D7-1BAB8DAFA2A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DAA681F4-6485-4BFA-8180-1E7D191CE9A7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855E961-F165-4A28-9E1F-D339150AA8BF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6B858FA-C719-4BD0-BCBA-052994314DD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多容器實戰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E275480-66EE-42F5-ACEA-11973F23E7A4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 + Flask + MySQL、多版本 MySQL、Docker Hub 探索與清理。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4E560534-4529-4484-8FAD-68CB6BDDB12C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528E40B-8166-48BF-8F2C-667C64348C46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109D5A4-3BB7-40F1-8F85-40E7A8853EE4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這堂課的核心是：服務變多時，不要靠記憶管理長指令，要靠設定檔管理環境。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E7DC6F5-2ECA-4F81-A444-561AFCF28CB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926A291-E480-4889-90BB-EF37789E292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2976B8E-2450-4EDC-92BA-7DBD4F9FD31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524604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F661F470-52D5-47B4-A0F8-71DB8F905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 DEVELOPMENT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EC5C02-AD6D-4658-AD29-D60488B1FB9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開發環境很適合用 Docker 跑資料庫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4091940-2C1B-4AE7-A64C-1EB19223E9A3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8814CE1-9013-479D-9BF9-64A3BF4630AB}"/>
              </a:ext>
            </a:extLst>
          </p:cNvPr>
          <p:cNvSpPr>
            <a:spLocks noGrp="1"/>
          </p:cNvSpPr>
          <p:nvPr/>
        </p:nvSpPr>
        <p:spPr>
          <a:xfrm>
            <a:off x="108585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傳統安裝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31935A-DE10-4807-8E85-422712FB9CDE}"/>
              </a:ext>
            </a:extLst>
          </p:cNvPr>
          <p:cNvSpPr>
            <a:spLocks noGrp="1"/>
          </p:cNvSpPr>
          <p:nvPr/>
        </p:nvSpPr>
        <p:spPr>
          <a:xfrm>
            <a:off x="108585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下載安裝程式、設定服務、調整密碼與路徑；要移除時還可能留下殘留檔。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A6DF5EE0-3A95-466A-9E83-F9358242F704}"/>
              </a:ext>
            </a:extLst>
          </p:cNvPr>
          <p:cNvSpPr>
            <a:spLocks noGrp="1"/>
          </p:cNvSpPr>
          <p:nvPr/>
        </p:nvSpPr>
        <p:spPr>
          <a:xfrm>
            <a:off x="6934200" y="1695450"/>
            <a:ext cx="440055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6FEF763-6D5F-4BB8-ACF6-BF32B2D6A1E6}"/>
              </a:ext>
            </a:extLst>
          </p:cNvPr>
          <p:cNvSpPr>
            <a:spLocks noGrp="1"/>
          </p:cNvSpPr>
          <p:nvPr/>
        </p:nvSpPr>
        <p:spPr>
          <a:xfrm>
            <a:off x="7162800" y="188595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跑 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A9D43EB-D9A5-433A-BC39-A29447D3408D}"/>
              </a:ext>
            </a:extLst>
          </p:cNvPr>
          <p:cNvSpPr>
            <a:spLocks noGrp="1"/>
          </p:cNvSpPr>
          <p:nvPr/>
        </p:nvSpPr>
        <p:spPr>
          <a:xfrm>
            <a:off x="7162800" y="2476500"/>
            <a:ext cx="39433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一行指令啟動；不想要了刪容器。還能同時跑不同版本。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D24478BA-BE2A-4C1C-A4F2-FD9431C2F88B}"/>
              </a:ext>
            </a:extLst>
          </p:cNvPr>
          <p:cNvSpPr>
            <a:spLocks noGrp="1"/>
          </p:cNvSpPr>
          <p:nvPr/>
        </p:nvSpPr>
        <p:spPr>
          <a:xfrm>
            <a:off x="5619750" y="2552700"/>
            <a:ext cx="952500" cy="4381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FC2DC52-71F4-4081-ABB2-05F591534EA5}"/>
              </a:ext>
            </a:extLst>
          </p:cNvPr>
          <p:cNvSpPr>
            <a:spLocks noGrp="1"/>
          </p:cNvSpPr>
          <p:nvPr/>
        </p:nvSpPr>
        <p:spPr>
          <a:xfrm>
            <a:off x="1562100" y="4514850"/>
            <a:ext cx="9067800" cy="723900"/>
          </a:xfrm>
          <a:prstGeom prst="roundRect">
            <a:avLst>
              <a:gd name="adj" fmla="val 1578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CF5F81-A704-4C03-B2B9-0871D6AA6E0A}"/>
              </a:ext>
            </a:extLst>
          </p:cNvPr>
          <p:cNvSpPr>
            <a:spLocks noGrp="1"/>
          </p:cNvSpPr>
          <p:nvPr/>
        </p:nvSpPr>
        <p:spPr>
          <a:xfrm>
            <a:off x="1924050" y="4762500"/>
            <a:ext cx="834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正式環境資料不能丟，通常用雲端託管資料庫；Docker DB 在本課程定位是開發與測試。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F77BBD4-338D-44E6-AFDE-CB0B8E49C7B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62EA0ED-24BB-46A4-86DD-DBCCD17E99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2314DC5-687E-4145-8E4A-5B15E958255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52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B3AE2D9-D253-4EB7-AF7C-586680AE0D8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651BB0-2584-4C31-A8E6-CC8E2FB21AD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1：Docker DB 用在哪裡？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44A525E-7A98-40A1-BE02-C5AE31A48E99}"/>
              </a:ext>
            </a:extLst>
          </p:cNvPr>
          <p:cNvSpPr>
            <a:spLocks noGrp="1"/>
          </p:cNvSpPr>
          <p:nvPr/>
        </p:nvSpPr>
        <p:spPr>
          <a:xfrm>
            <a:off x="838200" y="1524000"/>
            <a:ext cx="10401300" cy="1123950"/>
          </a:xfrm>
          <a:prstGeom prst="roundRect">
            <a:avLst>
              <a:gd name="adj" fmla="val 11864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5325A4-5B1C-4139-8461-9607B6F0C0D5}"/>
              </a:ext>
            </a:extLst>
          </p:cNvPr>
          <p:cNvSpPr>
            <a:spLocks noGrp="1"/>
          </p:cNvSpPr>
          <p:nvPr/>
        </p:nvSpPr>
        <p:spPr>
          <a:xfrm>
            <a:off x="1181100" y="1847850"/>
            <a:ext cx="9715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為什麼開發環境適合用 Docker 跑資料庫，但生產環境不建議？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92501A8-BEFA-4658-89EA-5A0654CBE64B}"/>
              </a:ext>
            </a:extLst>
          </p:cNvPr>
          <p:cNvSpPr>
            <a:spLocks noGrp="1"/>
          </p:cNvSpPr>
          <p:nvPr/>
        </p:nvSpPr>
        <p:spPr>
          <a:xfrm>
            <a:off x="114300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7BC604B-3C04-43B9-B812-DE8C33F55DCB}"/>
              </a:ext>
            </a:extLst>
          </p:cNvPr>
          <p:cNvSpPr>
            <a:spLocks noGrp="1"/>
          </p:cNvSpPr>
          <p:nvPr/>
        </p:nvSpPr>
        <p:spPr>
          <a:xfrm>
            <a:off x="137160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5CB3D47-F564-4A70-8D97-FEC02AF5A0B7}"/>
              </a:ext>
            </a:extLst>
          </p:cNvPr>
          <p:cNvSpPr>
            <a:spLocks noGrp="1"/>
          </p:cNvSpPr>
          <p:nvPr/>
        </p:nvSpPr>
        <p:spPr>
          <a:xfrm>
            <a:off x="137160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測試資料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一行指令啟動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刪掉重來成本低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670618-97F3-4A9E-8C51-0F1F526F4BB5}"/>
              </a:ext>
            </a:extLst>
          </p:cNvPr>
          <p:cNvSpPr>
            <a:spLocks noGrp="1"/>
          </p:cNvSpPr>
          <p:nvPr/>
        </p:nvSpPr>
        <p:spPr>
          <a:xfrm>
            <a:off x="6762750" y="3276600"/>
            <a:ext cx="4286250" cy="1695450"/>
          </a:xfrm>
          <a:prstGeom prst="roundRect">
            <a:avLst>
              <a:gd name="adj" fmla="val 6742"/>
            </a:avLst>
          </a:prstGeom>
          <a:solidFill>
            <a:srgbClr val="111827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57B5A74-5E85-48AA-B54B-233981BB73D7}"/>
              </a:ext>
            </a:extLst>
          </p:cNvPr>
          <p:cNvSpPr>
            <a:spLocks noGrp="1"/>
          </p:cNvSpPr>
          <p:nvPr/>
        </p:nvSpPr>
        <p:spPr>
          <a:xfrm>
            <a:off x="6991350" y="34671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生產環境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46EACF8-ECB4-41D2-9D9B-02A8D21EE1D4}"/>
              </a:ext>
            </a:extLst>
          </p:cNvPr>
          <p:cNvSpPr>
            <a:spLocks noGrp="1"/>
          </p:cNvSpPr>
          <p:nvPr/>
        </p:nvSpPr>
        <p:spPr>
          <a:xfrm>
            <a:off x="6991350" y="3981450"/>
            <a:ext cx="3829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真實資料不能丟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需要穩定 I/O、備份、複製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通常用託管資料庫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64F3DB-B669-49FC-A0C9-F04464E6CA8E}"/>
              </a:ext>
            </a:extLst>
          </p:cNvPr>
          <p:cNvSpPr>
            <a:spLocks noGrp="1"/>
          </p:cNvSpPr>
          <p:nvPr/>
        </p:nvSpPr>
        <p:spPr>
          <a:xfrm>
            <a:off x="1524000" y="56007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先自己回答，再用兩邊關鍵字檢查是否講到資料風險與環境定位。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A9E339E-18E2-4F26-A0CD-93F9BC8B8B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781AC4-CBCD-4CA6-920B-80DA6892F84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B2AA9C0-2D67-4852-BAF1-C5EE4DB638B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39989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89460A0-199F-4930-AAB8-47D8B4BC02C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HUB DOCS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124CFCF-184E-4FF4-B65B-D8A55BD7A4C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使用新 Image 前先看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3ABA597-693A-4B3A-99CE-3EF4B05970B6}"/>
              </a:ext>
            </a:extLst>
          </p:cNvPr>
          <p:cNvSpPr>
            <a:spLocks noGrp="1"/>
          </p:cNvSpPr>
          <p:nvPr/>
        </p:nvSpPr>
        <p:spPr>
          <a:xfrm>
            <a:off x="1047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87CC3C-8E83-4816-86DD-079C2454C9C6}"/>
              </a:ext>
            </a:extLst>
          </p:cNvPr>
          <p:cNvSpPr>
            <a:spLocks noGrp="1"/>
          </p:cNvSpPr>
          <p:nvPr/>
        </p:nvSpPr>
        <p:spPr>
          <a:xfrm>
            <a:off x="1276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038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How to use this 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FED857E-9AE4-4CCD-B703-5E511770F9D2}"/>
              </a:ext>
            </a:extLst>
          </p:cNvPr>
          <p:cNvSpPr>
            <a:spLocks noGrp="1"/>
          </p:cNvSpPr>
          <p:nvPr/>
        </p:nvSpPr>
        <p:spPr>
          <a:xfrm>
            <a:off x="1333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啟動容器的範例指令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80E90FC-B3EE-4DAC-A55B-4098DEF64F57}"/>
              </a:ext>
            </a:extLst>
          </p:cNvPr>
          <p:cNvSpPr>
            <a:spLocks noGrp="1"/>
          </p:cNvSpPr>
          <p:nvPr/>
        </p:nvSpPr>
        <p:spPr>
          <a:xfrm>
            <a:off x="4476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00BDA71-1A9D-4100-B665-426D49B95256}"/>
              </a:ext>
            </a:extLst>
          </p:cNvPr>
          <p:cNvSpPr>
            <a:spLocks noGrp="1"/>
          </p:cNvSpPr>
          <p:nvPr/>
        </p:nvSpPr>
        <p:spPr>
          <a:xfrm>
            <a:off x="4705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67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Environment Variables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CF4E08-07C7-465A-884B-CDC93EA75640}"/>
              </a:ext>
            </a:extLst>
          </p:cNvPr>
          <p:cNvSpPr>
            <a:spLocks noGrp="1"/>
          </p:cNvSpPr>
          <p:nvPr/>
        </p:nvSpPr>
        <p:spPr>
          <a:xfrm>
            <a:off x="4762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 可以設定哪些值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B62470E-CE14-4B78-85DC-1DA68985FA80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6BF1204-3A73-43A7-9747-D69CD340CB9F}"/>
              </a:ext>
            </a:extLst>
          </p:cNvPr>
          <p:cNvSpPr>
            <a:spLocks noGrp="1"/>
          </p:cNvSpPr>
          <p:nvPr/>
        </p:nvSpPr>
        <p:spPr>
          <a:xfrm>
            <a:off x="8134350" y="2343150"/>
            <a:ext cx="2400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Where to Store Data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D69BC2-FC5A-46BD-B1D0-6F2A4732C08F}"/>
              </a:ext>
            </a:extLst>
          </p:cNvPr>
          <p:cNvSpPr>
            <a:spLocks noGrp="1"/>
          </p:cNvSpPr>
          <p:nvPr/>
        </p:nvSpPr>
        <p:spPr>
          <a:xfrm>
            <a:off x="8191500" y="314325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資料在容器裡存在哪個路徑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310ED4-0600-46AF-927B-81F26DA9F9DA}"/>
              </a:ext>
            </a:extLst>
          </p:cNvPr>
          <p:cNvSpPr>
            <a:spLocks noGrp="1"/>
          </p:cNvSpPr>
          <p:nvPr/>
        </p:nvSpPr>
        <p:spPr>
          <a:xfrm>
            <a:off x="1809750" y="476250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對 MySQL 來說，重點就是環境變數與 /var/lib/mysql。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462723E-C6A7-4575-957E-E78980D85E0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D4D877-E8B2-4E34-B4A6-A55853A9FB7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796056-1102-4E10-BABC-6B5BA468B6C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53698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EE0EF49B-E437-46A9-A0F0-7CF85A3CBDC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ENVIRONMENT VARIABLES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31F0EA4-0812-4E4B-AB89-6133ACDC3B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MySQL 常用環境變數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988FEDC-777C-4222-B034-360E6FBD1DB2}"/>
              </a:ext>
            </a:extLst>
          </p:cNvPr>
          <p:cNvSpPr>
            <a:spLocks noGrp="1"/>
          </p:cNvSpPr>
          <p:nvPr/>
        </p:nvSpPr>
        <p:spPr>
          <a:xfrm>
            <a:off x="1562100" y="15240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2189196-1918-49F9-A8C3-D59BAFAF7FFE}"/>
              </a:ext>
            </a:extLst>
          </p:cNvPr>
          <p:cNvSpPr>
            <a:spLocks noGrp="1"/>
          </p:cNvSpPr>
          <p:nvPr/>
        </p:nvSpPr>
        <p:spPr>
          <a:xfrm>
            <a:off x="5657850" y="15240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6C5A698-8D0D-463A-89FA-F8D9FDCDB71F}"/>
              </a:ext>
            </a:extLst>
          </p:cNvPr>
          <p:cNvSpPr>
            <a:spLocks noGrp="1"/>
          </p:cNvSpPr>
          <p:nvPr/>
        </p:nvSpPr>
        <p:spPr>
          <a:xfrm>
            <a:off x="8801100" y="15240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AA3271-1ECA-44A3-9319-3C5085DA70CB}"/>
              </a:ext>
            </a:extLst>
          </p:cNvPr>
          <p:cNvSpPr>
            <a:spLocks noGrp="1"/>
          </p:cNvSpPr>
          <p:nvPr/>
        </p:nvSpPr>
        <p:spPr>
          <a:xfrm>
            <a:off x="1752600" y="16383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MYSQL_ROOT_PASSWORD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751F44C-7338-48DC-82C6-3B8EAAB8848D}"/>
              </a:ext>
            </a:extLst>
          </p:cNvPr>
          <p:cNvSpPr>
            <a:spLocks noGrp="1"/>
          </p:cNvSpPr>
          <p:nvPr/>
        </p:nvSpPr>
        <p:spPr>
          <a:xfrm>
            <a:off x="5848350" y="16287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密碼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5C4453C-31BF-4E57-9B1E-4C4859ECC7DA}"/>
              </a:ext>
            </a:extLst>
          </p:cNvPr>
          <p:cNvSpPr>
            <a:spLocks noGrp="1"/>
          </p:cNvSpPr>
          <p:nvPr/>
        </p:nvSpPr>
        <p:spPr>
          <a:xfrm>
            <a:off x="8991600" y="16287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必填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842FE6-F71A-442E-967F-3F5D06DCA29D}"/>
              </a:ext>
            </a:extLst>
          </p:cNvPr>
          <p:cNvSpPr>
            <a:spLocks noGrp="1"/>
          </p:cNvSpPr>
          <p:nvPr/>
        </p:nvSpPr>
        <p:spPr>
          <a:xfrm>
            <a:off x="1562100" y="20764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CD15D61-6B2A-4599-94FF-CB0AFF8AF9FC}"/>
              </a:ext>
            </a:extLst>
          </p:cNvPr>
          <p:cNvSpPr>
            <a:spLocks noGrp="1"/>
          </p:cNvSpPr>
          <p:nvPr/>
        </p:nvSpPr>
        <p:spPr>
          <a:xfrm>
            <a:off x="5657850" y="20764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5DFAA5E-9E29-4DCE-807E-06840EB14FAA}"/>
              </a:ext>
            </a:extLst>
          </p:cNvPr>
          <p:cNvSpPr>
            <a:spLocks noGrp="1"/>
          </p:cNvSpPr>
          <p:nvPr/>
        </p:nvSpPr>
        <p:spPr>
          <a:xfrm>
            <a:off x="8801100" y="20764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0F7B5E-3AE5-4EC0-BFC5-50E5632187C3}"/>
              </a:ext>
            </a:extLst>
          </p:cNvPr>
          <p:cNvSpPr>
            <a:spLocks noGrp="1"/>
          </p:cNvSpPr>
          <p:nvPr/>
        </p:nvSpPr>
        <p:spPr>
          <a:xfrm>
            <a:off x="1752600" y="21907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MYSQL_DATABASE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EDF8813-81A0-428D-A321-5D038D9549DE}"/>
              </a:ext>
            </a:extLst>
          </p:cNvPr>
          <p:cNvSpPr>
            <a:spLocks noGrp="1"/>
          </p:cNvSpPr>
          <p:nvPr/>
        </p:nvSpPr>
        <p:spPr>
          <a:xfrm>
            <a:off x="5848350" y="21812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自動建立資料庫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4FA632-2550-4502-8C95-AC728C1CFC3B}"/>
              </a:ext>
            </a:extLst>
          </p:cNvPr>
          <p:cNvSpPr>
            <a:spLocks noGrp="1"/>
          </p:cNvSpPr>
          <p:nvPr/>
        </p:nvSpPr>
        <p:spPr>
          <a:xfrm>
            <a:off x="8991600" y="2181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16F687DA-D056-4CC3-972D-B5CE88B7B03F}"/>
              </a:ext>
            </a:extLst>
          </p:cNvPr>
          <p:cNvSpPr>
            <a:spLocks noGrp="1"/>
          </p:cNvSpPr>
          <p:nvPr/>
        </p:nvSpPr>
        <p:spPr>
          <a:xfrm>
            <a:off x="1562100" y="26289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4A7545DA-4058-4DDF-A733-FF07788E9FFA}"/>
              </a:ext>
            </a:extLst>
          </p:cNvPr>
          <p:cNvSpPr>
            <a:spLocks noGrp="1"/>
          </p:cNvSpPr>
          <p:nvPr/>
        </p:nvSpPr>
        <p:spPr>
          <a:xfrm>
            <a:off x="5657850" y="26289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E893052-6940-4AA3-AF20-4EDC5A86DEB8}"/>
              </a:ext>
            </a:extLst>
          </p:cNvPr>
          <p:cNvSpPr>
            <a:spLocks noGrp="1"/>
          </p:cNvSpPr>
          <p:nvPr/>
        </p:nvSpPr>
        <p:spPr>
          <a:xfrm>
            <a:off x="8801100" y="26289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310A63B-E375-40E3-B23E-D077DD647C4A}"/>
              </a:ext>
            </a:extLst>
          </p:cNvPr>
          <p:cNvSpPr>
            <a:spLocks noGrp="1"/>
          </p:cNvSpPr>
          <p:nvPr/>
        </p:nvSpPr>
        <p:spPr>
          <a:xfrm>
            <a:off x="1752600" y="27432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146B13-452F-46B2-995B-5153E614D26C}"/>
              </a:ext>
            </a:extLst>
          </p:cNvPr>
          <p:cNvSpPr>
            <a:spLocks noGrp="1"/>
          </p:cNvSpPr>
          <p:nvPr/>
        </p:nvSpPr>
        <p:spPr>
          <a:xfrm>
            <a:off x="5848350" y="27336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自動建立使用者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7FF874-F5D3-4972-A755-706B6D424FBE}"/>
              </a:ext>
            </a:extLst>
          </p:cNvPr>
          <p:cNvSpPr>
            <a:spLocks noGrp="1"/>
          </p:cNvSpPr>
          <p:nvPr/>
        </p:nvSpPr>
        <p:spPr>
          <a:xfrm>
            <a:off x="8991600" y="27336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00AD65B9-4768-43C0-8D8F-78164553B8F2}"/>
              </a:ext>
            </a:extLst>
          </p:cNvPr>
          <p:cNvSpPr>
            <a:spLocks noGrp="1"/>
          </p:cNvSpPr>
          <p:nvPr/>
        </p:nvSpPr>
        <p:spPr>
          <a:xfrm>
            <a:off x="1562100" y="31813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33508DFF-D0F1-412E-B16C-923BED0BCFA4}"/>
              </a:ext>
            </a:extLst>
          </p:cNvPr>
          <p:cNvSpPr>
            <a:spLocks noGrp="1"/>
          </p:cNvSpPr>
          <p:nvPr/>
        </p:nvSpPr>
        <p:spPr>
          <a:xfrm>
            <a:off x="5657850" y="31813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9438A0B8-23B1-4287-BEA7-E88AE7F446FC}"/>
              </a:ext>
            </a:extLst>
          </p:cNvPr>
          <p:cNvSpPr>
            <a:spLocks noGrp="1"/>
          </p:cNvSpPr>
          <p:nvPr/>
        </p:nvSpPr>
        <p:spPr>
          <a:xfrm>
            <a:off x="8801100" y="31813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615A0B4-2BC9-4469-BE77-B582E13720CE}"/>
              </a:ext>
            </a:extLst>
          </p:cNvPr>
          <p:cNvSpPr>
            <a:spLocks noGrp="1"/>
          </p:cNvSpPr>
          <p:nvPr/>
        </p:nvSpPr>
        <p:spPr>
          <a:xfrm>
            <a:off x="1752600" y="32956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MYSQL_PASSWORD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F37F8E9-2A2B-46E8-B542-8DBAD5143260}"/>
              </a:ext>
            </a:extLst>
          </p:cNvPr>
          <p:cNvSpPr>
            <a:spLocks noGrp="1"/>
          </p:cNvSpPr>
          <p:nvPr/>
        </p:nvSpPr>
        <p:spPr>
          <a:xfrm>
            <a:off x="5848350" y="32861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使用者密碼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A973264-0E5E-4A95-9FD8-E98972F9F04F}"/>
              </a:ext>
            </a:extLst>
          </p:cNvPr>
          <p:cNvSpPr>
            <a:spLocks noGrp="1"/>
          </p:cNvSpPr>
          <p:nvPr/>
        </p:nvSpPr>
        <p:spPr>
          <a:xfrm>
            <a:off x="8991600" y="32861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27" name="矩形: 圓角 26">
            <a:extLst>
              <a:ext uri="{FF2B5EF4-FFF2-40B4-BE49-F238E27FC236}">
                <a16:creationId xmlns:a16="http://schemas.microsoft.com/office/drawing/2014/main" id="{1F6E0EB7-A3C6-45BE-ADA1-03CA305FA3C4}"/>
              </a:ext>
            </a:extLst>
          </p:cNvPr>
          <p:cNvSpPr>
            <a:spLocks noGrp="1"/>
          </p:cNvSpPr>
          <p:nvPr/>
        </p:nvSpPr>
        <p:spPr>
          <a:xfrm>
            <a:off x="1562100" y="373380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: 圓角 27">
            <a:extLst>
              <a:ext uri="{FF2B5EF4-FFF2-40B4-BE49-F238E27FC236}">
                <a16:creationId xmlns:a16="http://schemas.microsoft.com/office/drawing/2014/main" id="{33A5D580-6C27-41BA-974A-D07DCA24DAAC}"/>
              </a:ext>
            </a:extLst>
          </p:cNvPr>
          <p:cNvSpPr>
            <a:spLocks noGrp="1"/>
          </p:cNvSpPr>
          <p:nvPr/>
        </p:nvSpPr>
        <p:spPr>
          <a:xfrm>
            <a:off x="5657850" y="373380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ED52BE24-6056-48E7-BC7E-2244662DA91E}"/>
              </a:ext>
            </a:extLst>
          </p:cNvPr>
          <p:cNvSpPr>
            <a:spLocks noGrp="1"/>
          </p:cNvSpPr>
          <p:nvPr/>
        </p:nvSpPr>
        <p:spPr>
          <a:xfrm>
            <a:off x="8801100" y="373380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6A3BB7F-405A-48FB-BE58-C16D284B41DC}"/>
              </a:ext>
            </a:extLst>
          </p:cNvPr>
          <p:cNvSpPr>
            <a:spLocks noGrp="1"/>
          </p:cNvSpPr>
          <p:nvPr/>
        </p:nvSpPr>
        <p:spPr>
          <a:xfrm>
            <a:off x="1752600" y="384810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MYSQL_ALLOW_EMPTY_PASSWORD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0A636F2-1222-4175-BBB1-65C519E5D274}"/>
              </a:ext>
            </a:extLst>
          </p:cNvPr>
          <p:cNvSpPr>
            <a:spLocks noGrp="1"/>
          </p:cNvSpPr>
          <p:nvPr/>
        </p:nvSpPr>
        <p:spPr>
          <a:xfrm>
            <a:off x="5848350" y="383857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允許空密碼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3B41401-7107-4026-9F8E-F7446029F069}"/>
              </a:ext>
            </a:extLst>
          </p:cNvPr>
          <p:cNvSpPr>
            <a:spLocks noGrp="1"/>
          </p:cNvSpPr>
          <p:nvPr/>
        </p:nvSpPr>
        <p:spPr>
          <a:xfrm>
            <a:off x="8991600" y="383857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3" name="矩形: 圓角 32">
            <a:extLst>
              <a:ext uri="{FF2B5EF4-FFF2-40B4-BE49-F238E27FC236}">
                <a16:creationId xmlns:a16="http://schemas.microsoft.com/office/drawing/2014/main" id="{091B4535-808F-49C3-9E19-6DF0944065AD}"/>
              </a:ext>
            </a:extLst>
          </p:cNvPr>
          <p:cNvSpPr>
            <a:spLocks noGrp="1"/>
          </p:cNvSpPr>
          <p:nvPr/>
        </p:nvSpPr>
        <p:spPr>
          <a:xfrm>
            <a:off x="1562100" y="4286250"/>
            <a:ext cx="4095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511A939-D836-456B-AAB2-5C6F832F5D14}"/>
              </a:ext>
            </a:extLst>
          </p:cNvPr>
          <p:cNvSpPr>
            <a:spLocks noGrp="1"/>
          </p:cNvSpPr>
          <p:nvPr/>
        </p:nvSpPr>
        <p:spPr>
          <a:xfrm>
            <a:off x="5657850" y="4286250"/>
            <a:ext cx="31432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4EB5889D-4B6F-4D13-A1C4-A7598DA35F3A}"/>
              </a:ext>
            </a:extLst>
          </p:cNvPr>
          <p:cNvSpPr>
            <a:spLocks noGrp="1"/>
          </p:cNvSpPr>
          <p:nvPr/>
        </p:nvSpPr>
        <p:spPr>
          <a:xfrm>
            <a:off x="8801100" y="4286250"/>
            <a:ext cx="1428750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7973A6F7-7192-45C3-A365-BC1BB8A877A9}"/>
              </a:ext>
            </a:extLst>
          </p:cNvPr>
          <p:cNvSpPr>
            <a:spLocks noGrp="1"/>
          </p:cNvSpPr>
          <p:nvPr/>
        </p:nvSpPr>
        <p:spPr>
          <a:xfrm>
            <a:off x="1752600" y="4400550"/>
            <a:ext cx="3714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2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MYSQL_RANDOM_ROOT_PASSWORD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962FD61-EE30-4C9C-BC0D-CAE6960F49DE}"/>
              </a:ext>
            </a:extLst>
          </p:cNvPr>
          <p:cNvSpPr>
            <a:spLocks noGrp="1"/>
          </p:cNvSpPr>
          <p:nvPr/>
        </p:nvSpPr>
        <p:spPr>
          <a:xfrm>
            <a:off x="5848350" y="4391025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自動產生 root 密碼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0A49232-3A53-4B6A-B35A-CF12C3752CAB}"/>
              </a:ext>
            </a:extLst>
          </p:cNvPr>
          <p:cNvSpPr>
            <a:spLocks noGrp="1"/>
          </p:cNvSpPr>
          <p:nvPr/>
        </p:nvSpPr>
        <p:spPr>
          <a:xfrm>
            <a:off x="8991600" y="43910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選填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25379F7-17F1-40A2-B1B3-4DC41B6EF1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EE4C3C3D-05A3-4B80-BF25-1B99071EFFF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3BAF342-7E29-4F1E-8166-CC9CB89669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6680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FF8A8F4-1514-4E72-90CF-2945D35D64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6C3A99-47E3-457A-A3CE-EE8653E876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用 docker run 啟動 MySQL 8.0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FCD383-2FE0-4135-B7A6-9403415C62D2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572250" cy="3695700"/>
          </a:xfrm>
          <a:prstGeom prst="roundRect">
            <a:avLst>
              <a:gd name="adj" fmla="val 257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1CE8D52-E14C-4525-A048-0E170ABEDD6F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9F32203-D5CE-4EF3-AC27-BE905EAF0E2B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06F1F48-1A56-4B1F-8D7B-1FE75875816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52AFDB-4983-48A8-A74B-236B69D5A9A4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153150" cy="3143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testdb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testuser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</a:t>
            </a:r>
            <a:r>
              <a:rPr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testpass</a:t>
            </a: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</a:t>
            </a: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F20F67-91C7-441E-B30A-FB090138361C}"/>
              </a:ext>
            </a:extLst>
          </p:cNvPr>
          <p:cNvSpPr>
            <a:spLocks noGrp="1"/>
          </p:cNvSpPr>
          <p:nvPr/>
        </p:nvSpPr>
        <p:spPr>
          <a:xfrm>
            <a:off x="7962900" y="14287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2179F8-7F54-4C55-A0F5-BE8087625705}"/>
              </a:ext>
            </a:extLst>
          </p:cNvPr>
          <p:cNvSpPr>
            <a:spLocks noGrp="1"/>
          </p:cNvSpPr>
          <p:nvPr/>
        </p:nvSpPr>
        <p:spPr>
          <a:xfrm>
            <a:off x="8210550" y="15621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5C4516F-0388-4D21-854D-56603D1B3126}"/>
              </a:ext>
            </a:extLst>
          </p:cNvPr>
          <p:cNvSpPr>
            <a:spLocks noGrp="1"/>
          </p:cNvSpPr>
          <p:nvPr/>
        </p:nvSpPr>
        <p:spPr>
          <a:xfrm>
            <a:off x="9620250" y="15716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92255E2-F8BF-4687-9431-F80ABAE8E85E}"/>
              </a:ext>
            </a:extLst>
          </p:cNvPr>
          <p:cNvSpPr>
            <a:spLocks noGrp="1"/>
          </p:cNvSpPr>
          <p:nvPr/>
        </p:nvSpPr>
        <p:spPr>
          <a:xfrm>
            <a:off x="7962900" y="21526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1C35427-A345-4897-9360-40A769FEEA9D}"/>
              </a:ext>
            </a:extLst>
          </p:cNvPr>
          <p:cNvSpPr>
            <a:spLocks noGrp="1"/>
          </p:cNvSpPr>
          <p:nvPr/>
        </p:nvSpPr>
        <p:spPr>
          <a:xfrm>
            <a:off x="8210550" y="22860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AC5AF2-7042-4EAD-A936-806CA4460A0C}"/>
              </a:ext>
            </a:extLst>
          </p:cNvPr>
          <p:cNvSpPr>
            <a:spLocks noGrp="1"/>
          </p:cNvSpPr>
          <p:nvPr/>
        </p:nvSpPr>
        <p:spPr>
          <a:xfrm>
            <a:off x="9620250" y="22955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容器名稱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8F7EB88E-BAD6-4B17-95C8-B490BAF10A88}"/>
              </a:ext>
            </a:extLst>
          </p:cNvPr>
          <p:cNvSpPr>
            <a:spLocks noGrp="1"/>
          </p:cNvSpPr>
          <p:nvPr/>
        </p:nvSpPr>
        <p:spPr>
          <a:xfrm>
            <a:off x="7962900" y="28765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7352390-DD59-4090-99BD-5E8A1C2C88E5}"/>
              </a:ext>
            </a:extLst>
          </p:cNvPr>
          <p:cNvSpPr>
            <a:spLocks noGrp="1"/>
          </p:cNvSpPr>
          <p:nvPr/>
        </p:nvSpPr>
        <p:spPr>
          <a:xfrm>
            <a:off x="8210550" y="30099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D4EDFA-FDA4-46D3-8008-76F4B06EEB59}"/>
              </a:ext>
            </a:extLst>
          </p:cNvPr>
          <p:cNvSpPr>
            <a:spLocks noGrp="1"/>
          </p:cNvSpPr>
          <p:nvPr/>
        </p:nvSpPr>
        <p:spPr>
          <a:xfrm>
            <a:off x="9620250" y="30194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環境變數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035CB95-4D60-4CF9-BFB8-D91F552BE0C4}"/>
              </a:ext>
            </a:extLst>
          </p:cNvPr>
          <p:cNvSpPr>
            <a:spLocks noGrp="1"/>
          </p:cNvSpPr>
          <p:nvPr/>
        </p:nvSpPr>
        <p:spPr>
          <a:xfrm>
            <a:off x="7962900" y="36004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BFA1ED1-2DB9-44CE-961E-8507159726C1}"/>
              </a:ext>
            </a:extLst>
          </p:cNvPr>
          <p:cNvSpPr>
            <a:spLocks noGrp="1"/>
          </p:cNvSpPr>
          <p:nvPr/>
        </p:nvSpPr>
        <p:spPr>
          <a:xfrm>
            <a:off x="8210550" y="37338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3306:3306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A3EF6C4-FB51-466F-9BC8-DAACE1542454}"/>
              </a:ext>
            </a:extLst>
          </p:cNvPr>
          <p:cNvSpPr>
            <a:spLocks noGrp="1"/>
          </p:cNvSpPr>
          <p:nvPr/>
        </p:nvSpPr>
        <p:spPr>
          <a:xfrm>
            <a:off x="9620250" y="37433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309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MySQL 端口映射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9EE353F-F999-465C-9589-9A9D22848708}"/>
              </a:ext>
            </a:extLst>
          </p:cNvPr>
          <p:cNvSpPr>
            <a:spLocks noGrp="1"/>
          </p:cNvSpPr>
          <p:nvPr/>
        </p:nvSpPr>
        <p:spPr>
          <a:xfrm>
            <a:off x="7962900" y="4324350"/>
            <a:ext cx="3009900" cy="609600"/>
          </a:xfrm>
          <a:prstGeom prst="roundRect">
            <a:avLst>
              <a:gd name="adj" fmla="val 15625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CB25A2B-5299-43AE-A188-1172E9BDBAAF}"/>
              </a:ext>
            </a:extLst>
          </p:cNvPr>
          <p:cNvSpPr>
            <a:spLocks noGrp="1"/>
          </p:cNvSpPr>
          <p:nvPr/>
        </p:nvSpPr>
        <p:spPr>
          <a:xfrm>
            <a:off x="8210550" y="4457700"/>
            <a:ext cx="12954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029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mysql:8.0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2AF038A-570E-4448-B0BF-D23BE415CFD6}"/>
              </a:ext>
            </a:extLst>
          </p:cNvPr>
          <p:cNvSpPr>
            <a:spLocks noGrp="1"/>
          </p:cNvSpPr>
          <p:nvPr/>
        </p:nvSpPr>
        <p:spPr>
          <a:xfrm>
            <a:off x="9620250" y="4467225"/>
            <a:ext cx="10477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指定版本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7F68B69-6ECD-46B8-853F-0A239668F33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CAD7D01-B3AD-4FC9-AB43-58231B0C559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D9B9BDD-453F-4AA7-8666-489CD9C59AF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436572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範例程式碼：啟動 MySQL 8.0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MYSQL_USER=testuser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MYSQL_PASSWORD=testpass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9CF4FA-2A7E-4243-8A20-7F300658EF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CONNECT MYSQL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B93D531-26B7-4CFC-994D-71F57D620C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看到 ready for connections 才算啟動完成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6715AA3-56F5-47AF-A0DE-4EF48F2A43EF}"/>
              </a:ext>
            </a:extLst>
          </p:cNvPr>
          <p:cNvSpPr>
            <a:spLocks noGrp="1"/>
          </p:cNvSpPr>
          <p:nvPr/>
        </p:nvSpPr>
        <p:spPr>
          <a:xfrm>
            <a:off x="819150" y="1619250"/>
            <a:ext cx="5334000" cy="2038350"/>
          </a:xfrm>
          <a:prstGeom prst="roundRect">
            <a:avLst>
              <a:gd name="adj" fmla="val 467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0D42916-F547-4261-B023-396D15DC32EF}"/>
              </a:ext>
            </a:extLst>
          </p:cNvPr>
          <p:cNvSpPr>
            <a:spLocks noGrp="1"/>
          </p:cNvSpPr>
          <p:nvPr/>
        </p:nvSpPr>
        <p:spPr>
          <a:xfrm>
            <a:off x="9906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BFCA455-E91E-4575-BFA2-C98F66D1C652}"/>
              </a:ext>
            </a:extLst>
          </p:cNvPr>
          <p:cNvSpPr>
            <a:spLocks noGrp="1"/>
          </p:cNvSpPr>
          <p:nvPr/>
        </p:nvSpPr>
        <p:spPr>
          <a:xfrm>
            <a:off x="11620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EA45D13-1DEB-4259-8E61-0D6716128BCF}"/>
              </a:ext>
            </a:extLst>
          </p:cNvPr>
          <p:cNvSpPr>
            <a:spLocks noGrp="1"/>
          </p:cNvSpPr>
          <p:nvPr/>
        </p:nvSpPr>
        <p:spPr>
          <a:xfrm>
            <a:off x="13335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056925-41F3-4198-A73C-E1DFE558A6CC}"/>
              </a:ext>
            </a:extLst>
          </p:cNvPr>
          <p:cNvSpPr>
            <a:spLocks noGrp="1"/>
          </p:cNvSpPr>
          <p:nvPr/>
        </p:nvSpPr>
        <p:spPr>
          <a:xfrm>
            <a:off x="1028700" y="2038350"/>
            <a:ext cx="49149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my-mysql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my-mysql mysql -u root -p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BB943CF9-78D9-453A-B6A4-7DE7636A730E}"/>
              </a:ext>
            </a:extLst>
          </p:cNvPr>
          <p:cNvSpPr>
            <a:spLocks noGrp="1"/>
          </p:cNvSpPr>
          <p:nvPr/>
        </p:nvSpPr>
        <p:spPr>
          <a:xfrm>
            <a:off x="6953250" y="1676400"/>
            <a:ext cx="3714750" cy="1638300"/>
          </a:xfrm>
          <a:prstGeom prst="roundRect">
            <a:avLst>
              <a:gd name="adj" fmla="val 697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711AEA2-9C77-47D4-90A0-7F74E0829C30}"/>
              </a:ext>
            </a:extLst>
          </p:cNvPr>
          <p:cNvSpPr>
            <a:spLocks noGrp="1"/>
          </p:cNvSpPr>
          <p:nvPr/>
        </p:nvSpPr>
        <p:spPr>
          <a:xfrm>
            <a:off x="7181850" y="18669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容器 Up 不等於服務可用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46D89F-351B-4051-B0E8-A9CEF9B8CDD2}"/>
              </a:ext>
            </a:extLst>
          </p:cNvPr>
          <p:cNvSpPr>
            <a:spLocks noGrp="1"/>
          </p:cNvSpPr>
          <p:nvPr/>
        </p:nvSpPr>
        <p:spPr>
          <a:xfrm>
            <a:off x="7181850" y="2286000"/>
            <a:ext cx="32575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容器啟動後還需要初始化資料目錄。logs 看到 ready for connections 再連線。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E401B3A-1248-4279-AD25-75E9E9986B48}"/>
              </a:ext>
            </a:extLst>
          </p:cNvPr>
          <p:cNvSpPr>
            <a:spLocks noGrp="1"/>
          </p:cNvSpPr>
          <p:nvPr/>
        </p:nvSpPr>
        <p:spPr>
          <a:xfrm>
            <a:off x="1809750" y="4514850"/>
            <a:ext cx="85725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0AE15A-17CF-48F6-B7EB-D0E45EC6C303}"/>
              </a:ext>
            </a:extLst>
          </p:cNvPr>
          <p:cNvSpPr>
            <a:spLocks noGrp="1"/>
          </p:cNvSpPr>
          <p:nvPr/>
        </p:nvSpPr>
        <p:spPr>
          <a:xfrm>
            <a:off x="2095500" y="47244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主機工具也能連：localhost:3306，root / my-secret-pw 或 testuser / testpass。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B6DF65-5547-467A-A93D-90483702FF0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551A1BC-477C-4DE6-902C-98D296EF415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4B5C6F9-447F-45E4-A611-F765BC6072D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27357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FE34096B-C4FB-41CC-8440-9C10237C82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SQL PRACTICE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777D2B-14CD-4676-8C43-8D68D7B1C5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MySQL 後做一輪基本 CRUD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C41BDD-741B-42A9-806C-BF8C6A87D59C}"/>
              </a:ext>
            </a:extLst>
          </p:cNvPr>
          <p:cNvSpPr>
            <a:spLocks noGrp="1"/>
          </p:cNvSpPr>
          <p:nvPr/>
        </p:nvSpPr>
        <p:spPr>
          <a:xfrm>
            <a:off x="8382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FB262F-443D-40A6-87C9-48A9A0A13321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026AA2-8790-4A1F-853F-CC948088E2A5}"/>
              </a:ext>
            </a:extLst>
          </p:cNvPr>
          <p:cNvSpPr>
            <a:spLocks noGrp="1"/>
          </p:cNvSpPr>
          <p:nvPr/>
        </p:nvSpPr>
        <p:spPr>
          <a:xfrm>
            <a:off x="10096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53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 Product 資料表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8851C87-5D0F-48EF-8490-184F7E422EA1}"/>
              </a:ext>
            </a:extLst>
          </p:cNvPr>
          <p:cNvSpPr>
            <a:spLocks noGrp="1"/>
          </p:cNvSpPr>
          <p:nvPr/>
        </p:nvSpPr>
        <p:spPr>
          <a:xfrm>
            <a:off x="26289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256C6031-1198-4B7B-9CDE-783626367429}"/>
              </a:ext>
            </a:extLst>
          </p:cNvPr>
          <p:cNvSpPr>
            <a:spLocks noGrp="1"/>
          </p:cNvSpPr>
          <p:nvPr/>
        </p:nvSpPr>
        <p:spPr>
          <a:xfrm>
            <a:off x="29908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CE3649-C83F-45D1-94A0-46A72AC5FF4A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INSERT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D8F08E9-5B6D-40E0-9525-E62A1BF83C2E}"/>
              </a:ext>
            </a:extLst>
          </p:cNvPr>
          <p:cNvSpPr>
            <a:spLocks noGrp="1"/>
          </p:cNvSpPr>
          <p:nvPr/>
        </p:nvSpPr>
        <p:spPr>
          <a:xfrm>
            <a:off x="31623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新增測試產品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93239328-2012-49D2-9044-295D69487222}"/>
              </a:ext>
            </a:extLst>
          </p:cNvPr>
          <p:cNvSpPr>
            <a:spLocks noGrp="1"/>
          </p:cNvSpPr>
          <p:nvPr/>
        </p:nvSpPr>
        <p:spPr>
          <a:xfrm>
            <a:off x="47815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13966DD7-0E34-4DFA-B8B6-EEEEBB6992E3}"/>
              </a:ext>
            </a:extLst>
          </p:cNvPr>
          <p:cNvSpPr>
            <a:spLocks noGrp="1"/>
          </p:cNvSpPr>
          <p:nvPr/>
        </p:nvSpPr>
        <p:spPr>
          <a:xfrm>
            <a:off x="51435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7252DFC-36F7-4302-AE99-9970B264FE84}"/>
              </a:ext>
            </a:extLst>
          </p:cNvPr>
          <p:cNvSpPr>
            <a:spLocks noGrp="1"/>
          </p:cNvSpPr>
          <p:nvPr/>
        </p:nvSpPr>
        <p:spPr>
          <a:xfrm>
            <a:off x="53149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SELECT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C3FBC1-7C95-4E59-85C2-6E247ABF4DE6}"/>
              </a:ext>
            </a:extLst>
          </p:cNvPr>
          <p:cNvSpPr>
            <a:spLocks noGrp="1"/>
          </p:cNvSpPr>
          <p:nvPr/>
        </p:nvSpPr>
        <p:spPr>
          <a:xfrm>
            <a:off x="53149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查詢庫存與總價值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F73BACC-859D-4FB6-818A-3A325A2A157D}"/>
              </a:ext>
            </a:extLst>
          </p:cNvPr>
          <p:cNvSpPr>
            <a:spLocks noGrp="1"/>
          </p:cNvSpPr>
          <p:nvPr/>
        </p:nvSpPr>
        <p:spPr>
          <a:xfrm>
            <a:off x="693420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0FA93CF9-613C-473E-BA2C-B0F460407A22}"/>
              </a:ext>
            </a:extLst>
          </p:cNvPr>
          <p:cNvSpPr>
            <a:spLocks noGrp="1"/>
          </p:cNvSpPr>
          <p:nvPr/>
        </p:nvSpPr>
        <p:spPr>
          <a:xfrm>
            <a:off x="729615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D407DD-2C9F-4767-A4FF-9B4046A3E89F}"/>
              </a:ext>
            </a:extLst>
          </p:cNvPr>
          <p:cNvSpPr>
            <a:spLocks noGrp="1"/>
          </p:cNvSpPr>
          <p:nvPr/>
        </p:nvSpPr>
        <p:spPr>
          <a:xfrm>
            <a:off x="746760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UPDATE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BD848E-B382-406B-9252-734814738852}"/>
              </a:ext>
            </a:extLst>
          </p:cNvPr>
          <p:cNvSpPr>
            <a:spLocks noGrp="1"/>
          </p:cNvSpPr>
          <p:nvPr/>
        </p:nvSpPr>
        <p:spPr>
          <a:xfrm>
            <a:off x="746760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更新藍牙耳機價格</a:t>
            </a:r>
          </a:p>
        </p:txBody>
      </p:sp>
      <p:sp>
        <p:nvSpPr>
          <p:cNvPr id="18" name="箭號: 向右 17">
            <a:extLst>
              <a:ext uri="{FF2B5EF4-FFF2-40B4-BE49-F238E27FC236}">
                <a16:creationId xmlns:a16="http://schemas.microsoft.com/office/drawing/2014/main" id="{6CFCD01C-A9DD-44CE-A612-DDEC53D9AC3E}"/>
              </a:ext>
            </a:extLst>
          </p:cNvPr>
          <p:cNvSpPr>
            <a:spLocks noGrp="1"/>
          </p:cNvSpPr>
          <p:nvPr/>
        </p:nvSpPr>
        <p:spPr>
          <a:xfrm>
            <a:off x="9086850" y="2514600"/>
            <a:ext cx="419100" cy="2667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2F021A65-B4F1-4FBC-B4CD-D83A316E9BC9}"/>
              </a:ext>
            </a:extLst>
          </p:cNvPr>
          <p:cNvSpPr>
            <a:spLocks noGrp="1"/>
          </p:cNvSpPr>
          <p:nvPr/>
        </p:nvSpPr>
        <p:spPr>
          <a:xfrm>
            <a:off x="9448800" y="1981200"/>
            <a:ext cx="1714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6AA1FC8-4292-416C-81CE-059253B176D9}"/>
              </a:ext>
            </a:extLst>
          </p:cNvPr>
          <p:cNvSpPr>
            <a:spLocks noGrp="1"/>
          </p:cNvSpPr>
          <p:nvPr/>
        </p:nvSpPr>
        <p:spPr>
          <a:xfrm>
            <a:off x="9620250" y="2286000"/>
            <a:ext cx="1371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DELETE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40FB012-61DA-4B84-8B04-6281DC2767CE}"/>
              </a:ext>
            </a:extLst>
          </p:cNvPr>
          <p:cNvSpPr>
            <a:spLocks noGrp="1"/>
          </p:cNvSpPr>
          <p:nvPr/>
        </p:nvSpPr>
        <p:spPr>
          <a:xfrm>
            <a:off x="9620250" y="2819400"/>
            <a:ext cx="1371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 USB-C 線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D08DF8A1-8F19-41FB-BA68-0E0DF0DD2228}"/>
              </a:ext>
            </a:extLst>
          </p:cNvPr>
          <p:cNvSpPr>
            <a:spLocks noGrp="1"/>
          </p:cNvSpPr>
          <p:nvPr/>
        </p:nvSpPr>
        <p:spPr>
          <a:xfrm>
            <a:off x="3048000" y="4362450"/>
            <a:ext cx="6096000" cy="1181100"/>
          </a:xfrm>
          <a:prstGeom prst="roundRect">
            <a:avLst>
              <a:gd name="adj" fmla="val 8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E2744DB9-10AC-49AF-9FFA-407C0FC2B155}"/>
              </a:ext>
            </a:extLst>
          </p:cNvPr>
          <p:cNvSpPr>
            <a:spLocks noGrp="1"/>
          </p:cNvSpPr>
          <p:nvPr/>
        </p:nvSpPr>
        <p:spPr>
          <a:xfrm>
            <a:off x="3219450" y="4524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C836E7DC-8A77-4B24-94CB-A115DBCA26BE}"/>
              </a:ext>
            </a:extLst>
          </p:cNvPr>
          <p:cNvSpPr>
            <a:spLocks noGrp="1"/>
          </p:cNvSpPr>
          <p:nvPr/>
        </p:nvSpPr>
        <p:spPr>
          <a:xfrm>
            <a:off x="3390900" y="4524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B84D46FC-FEB1-45CD-928C-A84D1A316B00}"/>
              </a:ext>
            </a:extLst>
          </p:cNvPr>
          <p:cNvSpPr>
            <a:spLocks noGrp="1"/>
          </p:cNvSpPr>
          <p:nvPr/>
        </p:nvSpPr>
        <p:spPr>
          <a:xfrm>
            <a:off x="3562350" y="4524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F587ACA-67E0-4354-BFE7-16A8A145DDC9}"/>
              </a:ext>
            </a:extLst>
          </p:cNvPr>
          <p:cNvSpPr>
            <a:spLocks noGrp="1"/>
          </p:cNvSpPr>
          <p:nvPr/>
        </p:nvSpPr>
        <p:spPr>
          <a:xfrm>
            <a:off x="3257550" y="4781550"/>
            <a:ext cx="56769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testdb;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AB0F0C1-746C-4353-AE94-7FE7C17F1B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024B11-6E93-4210-96B9-0863EAB823D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B2BFD82-8392-4524-AAD2-A8BE7DB1683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28292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06751EF-DCCA-42CF-BA7B-86B1385703BC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880F540-D81A-4F7D-8181-5B8B3FCA398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 資料表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0E8D265-93AB-4F07-8456-38E7940659B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AA93120-A65C-4EEB-8427-1A546BC4AFE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20A73A0-D35E-4A71-94B4-3B5AD47E1AC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CREATE TABLE Product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Id INT NOT NULL AUTO_INCREMENT PRIMARY KEY COMMENT '產品編號',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Name VARCHAR(100) NOT NULL COMMENT '產品名稱',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Price DECIMAL(10,2) NOT NULL DEFAULT 0.00 COMMENT '售價',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Stock INT NOT NULL DEFAULT 0 COMMENT '庫存數量',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CreatedAt TIMESTAMP NOT NULL DEFAULT CURRENT_TIMESTAMP COMMENT '建立時間'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) ENGINE=InnoDB DEFAULT CHARSET=utf8mb4 COMMENT='產品資料表';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B743D44-211E-4EE6-9BF6-D87752AA9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9F6D0C5-8BF4-470B-A1CB-1DAB9150BA9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613158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5A432CF-8E88-4E7E-8D3B-C98215E5CE9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F29CD34-D96F-47B2-8DE2-7D05C2D8A1D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範例程式碼：新增與查詢資料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4768CD1-6AAD-4A82-BC33-20D827C8F79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95FE38F7-8033-46DF-BD53-16DF629BB37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B5E2494-4D7F-46FA-860E-79A7EB7B8F72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INSERT INTO Product (Name, Price, Stock) VALUES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('藍牙耳機', 1290.00, 50),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('USB-C 線', 299.00, 150),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('機械鍵盤', 2490.00, 30);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Product;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Name, Price FROM Product WHERE Price &gt; 1000;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UPDATE Product SET Price = 1190.00 WHERE Name = '藍牙耳機';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DELETE FROM Product WHERE Name = 'USB-C 線';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5B9C80AC-914B-46A0-8DC5-B2F5011C781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D0CC169-F2D5-4C3B-8FE4-58F17E0CE78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68701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AF0CFFB7-8352-4D09-9AFA-6A3D05FB446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PERSISTENCE PROBLEM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F85A9-103C-4E60-8C7C-F397A683C33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刪掉容器後，資料也會消失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925C180-401A-4B8F-A4C6-6187793A9EE2}"/>
              </a:ext>
            </a:extLst>
          </p:cNvPr>
          <p:cNvSpPr>
            <a:spLocks noGrp="1"/>
          </p:cNvSpPr>
          <p:nvPr/>
        </p:nvSpPr>
        <p:spPr>
          <a:xfrm>
            <a:off x="9144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C9BEDA-F6AC-4E5D-8C29-9F9101477257}"/>
              </a:ext>
            </a:extLst>
          </p:cNvPr>
          <p:cNvSpPr>
            <a:spLocks noGrp="1"/>
          </p:cNvSpPr>
          <p:nvPr/>
        </p:nvSpPr>
        <p:spPr>
          <a:xfrm>
            <a:off x="11811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1. 新增資料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33EFFE-8C56-4359-B383-F24E7296B063}"/>
              </a:ext>
            </a:extLst>
          </p:cNvPr>
          <p:cNvSpPr>
            <a:spLocks noGrp="1"/>
          </p:cNvSpPr>
          <p:nvPr/>
        </p:nvSpPr>
        <p:spPr>
          <a:xfrm>
            <a:off x="1181100" y="2781300"/>
            <a:ext cx="238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Product table</a:t>
            </a:r>
          </a:p>
          <a:p>
            <a:pPr algn="ctr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測試資料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E39BFC8A-C3A0-4219-BAA1-54290255E1D7}"/>
              </a:ext>
            </a:extLst>
          </p:cNvPr>
          <p:cNvSpPr>
            <a:spLocks noGrp="1"/>
          </p:cNvSpPr>
          <p:nvPr/>
        </p:nvSpPr>
        <p:spPr>
          <a:xfrm>
            <a:off x="40957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69A6D434-FCFD-4D0D-A798-C43D28DEBF3D}"/>
              </a:ext>
            </a:extLst>
          </p:cNvPr>
          <p:cNvSpPr>
            <a:spLocks noGrp="1"/>
          </p:cNvSpPr>
          <p:nvPr/>
        </p:nvSpPr>
        <p:spPr>
          <a:xfrm>
            <a:off x="5067300" y="1809750"/>
            <a:ext cx="2952750" cy="19050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BE75B83-FB2D-4038-B124-AD3D06866662}"/>
              </a:ext>
            </a:extLst>
          </p:cNvPr>
          <p:cNvSpPr>
            <a:spLocks noGrp="1"/>
          </p:cNvSpPr>
          <p:nvPr/>
        </p:nvSpPr>
        <p:spPr>
          <a:xfrm>
            <a:off x="5334000" y="2133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2. docker rm -f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639866-ED0C-456B-9786-F67C823D1A11}"/>
              </a:ext>
            </a:extLst>
          </p:cNvPr>
          <p:cNvSpPr>
            <a:spLocks noGrp="1"/>
          </p:cNvSpPr>
          <p:nvPr/>
        </p:nvSpPr>
        <p:spPr>
          <a:xfrm>
            <a:off x="5334000" y="28956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11D48"/>
                </a:solidFill>
                <a:latin typeface="Aptos"/>
                <a:ea typeface="Aptos"/>
                <a:cs typeface="Aptos"/>
              </a:rPr>
              <a:t>刪除容器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E9079F0E-56AF-4859-9184-1CEAEEFC3FBA}"/>
              </a:ext>
            </a:extLst>
          </p:cNvPr>
          <p:cNvSpPr>
            <a:spLocks noGrp="1"/>
          </p:cNvSpPr>
          <p:nvPr/>
        </p:nvSpPr>
        <p:spPr>
          <a:xfrm>
            <a:off x="8248650" y="2609850"/>
            <a:ext cx="762000" cy="3619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93F2FF7-7763-42F2-9FEC-3545287BBF4C}"/>
              </a:ext>
            </a:extLst>
          </p:cNvPr>
          <p:cNvSpPr>
            <a:spLocks noGrp="1"/>
          </p:cNvSpPr>
          <p:nvPr/>
        </p:nvSpPr>
        <p:spPr>
          <a:xfrm>
            <a:off x="9220200" y="1809750"/>
            <a:ext cx="2095500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43969AB-CE7F-4C6D-932C-DACC0DA57C8A}"/>
              </a:ext>
            </a:extLst>
          </p:cNvPr>
          <p:cNvSpPr>
            <a:spLocks noGrp="1"/>
          </p:cNvSpPr>
          <p:nvPr/>
        </p:nvSpPr>
        <p:spPr>
          <a:xfrm>
            <a:off x="9448800" y="2133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3. 重建容器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7FE1746-EBD8-484E-9042-6CB14AEA441F}"/>
              </a:ext>
            </a:extLst>
          </p:cNvPr>
          <p:cNvSpPr>
            <a:spLocks noGrp="1"/>
          </p:cNvSpPr>
          <p:nvPr/>
        </p:nvSpPr>
        <p:spPr>
          <a:xfrm>
            <a:off x="9448800" y="2895600"/>
            <a:ext cx="163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testdb 不見了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932D5C7-6B00-4D7B-9236-01CAD5160FF6}"/>
              </a:ext>
            </a:extLst>
          </p:cNvPr>
          <p:cNvSpPr>
            <a:spLocks noGrp="1"/>
          </p:cNvSpPr>
          <p:nvPr/>
        </p:nvSpPr>
        <p:spPr>
          <a:xfrm>
            <a:off x="1714500" y="4762500"/>
            <a:ext cx="87630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267E2742-48DA-46D9-ABB1-9DC3E1309430}"/>
              </a:ext>
            </a:extLst>
          </p:cNvPr>
          <p:cNvSpPr>
            <a:spLocks noGrp="1"/>
          </p:cNvSpPr>
          <p:nvPr/>
        </p:nvSpPr>
        <p:spPr>
          <a:xfrm>
            <a:off x="18859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E5ED9988-D1C3-418C-B913-387174541BE5}"/>
              </a:ext>
            </a:extLst>
          </p:cNvPr>
          <p:cNvSpPr>
            <a:spLocks noGrp="1"/>
          </p:cNvSpPr>
          <p:nvPr/>
        </p:nvSpPr>
        <p:spPr>
          <a:xfrm>
            <a:off x="20574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ABA9B00C-6F12-423F-B08E-C803831C8BDE}"/>
              </a:ext>
            </a:extLst>
          </p:cNvPr>
          <p:cNvSpPr>
            <a:spLocks noGrp="1"/>
          </p:cNvSpPr>
          <p:nvPr/>
        </p:nvSpPr>
        <p:spPr>
          <a:xfrm>
            <a:off x="22288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1EA4F3E-C91D-40AA-AC31-1326E9C693D4}"/>
              </a:ext>
            </a:extLst>
          </p:cNvPr>
          <p:cNvSpPr>
            <a:spLocks noGrp="1"/>
          </p:cNvSpPr>
          <p:nvPr/>
        </p:nvSpPr>
        <p:spPr>
          <a:xfrm>
            <a:off x="1924050" y="5181600"/>
            <a:ext cx="83439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144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my-mysql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-p 3306:3306 mysql:8.0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53B47A-D6F7-4905-9B1E-87D7155C519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D644B8D-58E4-40AA-AD13-356BFE7D16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3FDF1B3-A819-4870-8ACE-953F1F1891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1149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2A106E4F-DF8D-4573-A3EB-2A1731808ED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NAMED VOLUME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42FC30-9ADE-4AAA-A3DE-66CF25987AA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 named volume 保存 MySQL 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73F75CC-6642-4615-8E7A-23E3715C3C23}"/>
              </a:ext>
            </a:extLst>
          </p:cNvPr>
          <p:cNvSpPr>
            <a:spLocks noGrp="1"/>
          </p:cNvSpPr>
          <p:nvPr/>
        </p:nvSpPr>
        <p:spPr>
          <a:xfrm>
            <a:off x="819150" y="1485900"/>
            <a:ext cx="6191250" cy="3276600"/>
          </a:xfrm>
          <a:prstGeom prst="roundRect">
            <a:avLst>
              <a:gd name="adj" fmla="val 290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D91823E-8A28-4229-8C0B-16FFA153F036}"/>
              </a:ext>
            </a:extLst>
          </p:cNvPr>
          <p:cNvSpPr>
            <a:spLocks noGrp="1"/>
          </p:cNvSpPr>
          <p:nvPr/>
        </p:nvSpPr>
        <p:spPr>
          <a:xfrm>
            <a:off x="990600" y="1647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B06F2E8-8900-4222-B48F-94E903958F66}"/>
              </a:ext>
            </a:extLst>
          </p:cNvPr>
          <p:cNvSpPr>
            <a:spLocks noGrp="1"/>
          </p:cNvSpPr>
          <p:nvPr/>
        </p:nvSpPr>
        <p:spPr>
          <a:xfrm>
            <a:off x="1162050" y="1647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DFA2A87-CCCA-42FA-B2E3-0BE3EF90919D}"/>
              </a:ext>
            </a:extLst>
          </p:cNvPr>
          <p:cNvSpPr>
            <a:spLocks noGrp="1"/>
          </p:cNvSpPr>
          <p:nvPr/>
        </p:nvSpPr>
        <p:spPr>
          <a:xfrm>
            <a:off x="1333500" y="1647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66B40C1-1587-404D-9E4D-9EE5A28D7EE3}"/>
              </a:ext>
            </a:extLst>
          </p:cNvPr>
          <p:cNvSpPr>
            <a:spLocks noGrp="1"/>
          </p:cNvSpPr>
          <p:nvPr/>
        </p:nvSpPr>
        <p:spPr>
          <a:xfrm>
            <a:off x="1028700" y="1905000"/>
            <a:ext cx="5772150" cy="2724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my-mysql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MYSQL_ROOT_PASSWORD=my-secret-pw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MYSQL_DATABASE=testdb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3306:3306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mysql-data:/var/lib/mysql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1DAB92B-4CEB-45E5-920D-F1060998B89D}"/>
              </a:ext>
            </a:extLst>
          </p:cNvPr>
          <p:cNvSpPr>
            <a:spLocks noGrp="1"/>
          </p:cNvSpPr>
          <p:nvPr/>
        </p:nvSpPr>
        <p:spPr>
          <a:xfrm>
            <a:off x="7677150" y="1790700"/>
            <a:ext cx="3143250" cy="1333500"/>
          </a:xfrm>
          <a:prstGeom prst="roundRect">
            <a:avLst>
              <a:gd name="adj" fmla="val 857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3E53D5A-EC1B-40E7-B7D2-2D4834235289}"/>
              </a:ext>
            </a:extLst>
          </p:cNvPr>
          <p:cNvSpPr>
            <a:spLocks noGrp="1"/>
          </p:cNvSpPr>
          <p:nvPr/>
        </p:nvSpPr>
        <p:spPr>
          <a:xfrm>
            <a:off x="7905750" y="19812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mysql-data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20312-44B5-4177-923F-F7CEEF159F8E}"/>
              </a:ext>
            </a:extLst>
          </p:cNvPr>
          <p:cNvSpPr>
            <a:spLocks noGrp="1"/>
          </p:cNvSpPr>
          <p:nvPr/>
        </p:nvSpPr>
        <p:spPr>
          <a:xfrm>
            <a:off x="7905750" y="2476500"/>
            <a:ext cx="2686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671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管理的資料卷名稱。容器刪掉後，資料卷還在。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D0980C9C-5B21-480A-8929-FFF09EBA40B7}"/>
              </a:ext>
            </a:extLst>
          </p:cNvPr>
          <p:cNvSpPr>
            <a:spLocks noGrp="1"/>
          </p:cNvSpPr>
          <p:nvPr/>
        </p:nvSpPr>
        <p:spPr>
          <a:xfrm>
            <a:off x="7677150" y="3543300"/>
            <a:ext cx="314325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1E62DE2-338E-4051-9BC6-297B66AB9C1E}"/>
              </a:ext>
            </a:extLst>
          </p:cNvPr>
          <p:cNvSpPr>
            <a:spLocks noGrp="1"/>
          </p:cNvSpPr>
          <p:nvPr/>
        </p:nvSpPr>
        <p:spPr>
          <a:xfrm>
            <a:off x="7905750" y="37338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/var/lib/mysql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8DA2EF-DDA8-410B-87A1-64B057300597}"/>
              </a:ext>
            </a:extLst>
          </p:cNvPr>
          <p:cNvSpPr>
            <a:spLocks noGrp="1"/>
          </p:cNvSpPr>
          <p:nvPr/>
        </p:nvSpPr>
        <p:spPr>
          <a:xfrm>
            <a:off x="7905750" y="4152900"/>
            <a:ext cx="2686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66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 官方 Image 的資料存放路徑。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ED1D3-6E25-45CB-A8DC-C34F81377F61}"/>
              </a:ext>
            </a:extLst>
          </p:cNvPr>
          <p:cNvSpPr>
            <a:spLocks noGrp="1"/>
          </p:cNvSpPr>
          <p:nvPr/>
        </p:nvSpPr>
        <p:spPr>
          <a:xfrm>
            <a:off x="1752600" y="5429250"/>
            <a:ext cx="868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加入資料 -&gt; 刪容器 -&gt; 重建容器並掛同一個 Volume -&gt; 資料仍在。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C7B5049-9EFB-43B3-884B-55340C81B7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9F29F0-B460-4855-96EB-1609915667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4D4847-81BF-435C-8362-75111BC1C0B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538050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20079566-3754-461D-A30E-2C7C90F09A7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4BAC72-8877-45C3-AB81-D69192B3D60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P1：MySQL 完整操作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7AFB05B-F83D-40F0-86DC-42EDC7D3D110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10591800" cy="405765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1113890-0C09-4378-8783-A255FC360CEF}"/>
              </a:ext>
            </a:extLst>
          </p:cNvPr>
          <p:cNvSpPr>
            <a:spLocks noGrp="1"/>
          </p:cNvSpPr>
          <p:nvPr/>
        </p:nvSpPr>
        <p:spPr>
          <a:xfrm>
            <a:off x="12001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223C18-E590-415B-8943-BA70F2B0C572}"/>
              </a:ext>
            </a:extLst>
          </p:cNvPr>
          <p:cNvSpPr>
            <a:spLocks noGrp="1"/>
          </p:cNvSpPr>
          <p:nvPr/>
        </p:nvSpPr>
        <p:spPr>
          <a:xfrm>
            <a:off x="12001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745E241-BA11-4A81-B144-48E35B90DE3D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MySQL 8.0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6DFBD62-6123-45B1-BACB-58513A6E3243}"/>
              </a:ext>
            </a:extLst>
          </p:cNvPr>
          <p:cNvSpPr>
            <a:spLocks noGrp="1"/>
          </p:cNvSpPr>
          <p:nvPr/>
        </p:nvSpPr>
        <p:spPr>
          <a:xfrm>
            <a:off x="17526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 root 密碼與自動建立資料庫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487FAD17-AEB2-43FC-BBEF-CFF08404D37D}"/>
              </a:ext>
            </a:extLst>
          </p:cNvPr>
          <p:cNvSpPr>
            <a:spLocks noGrp="1"/>
          </p:cNvSpPr>
          <p:nvPr/>
        </p:nvSpPr>
        <p:spPr>
          <a:xfrm>
            <a:off x="6343650" y="17907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E951F0-C9CB-48CD-8567-4F0F242449A4}"/>
              </a:ext>
            </a:extLst>
          </p:cNvPr>
          <p:cNvSpPr>
            <a:spLocks noGrp="1"/>
          </p:cNvSpPr>
          <p:nvPr/>
        </p:nvSpPr>
        <p:spPr>
          <a:xfrm>
            <a:off x="6343650" y="18669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A24156-0AAB-4C18-AA8C-CDF7530BF844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 MySQL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3DEE5AD-7735-40BF-8EE1-C7187A0526B4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docker exec 登入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181EC0B5-6A6D-45FE-AEDD-F1D7E400C3BA}"/>
              </a:ext>
            </a:extLst>
          </p:cNvPr>
          <p:cNvSpPr>
            <a:spLocks noGrp="1"/>
          </p:cNvSpPr>
          <p:nvPr/>
        </p:nvSpPr>
        <p:spPr>
          <a:xfrm>
            <a:off x="12001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BCA00F-F4C7-4494-B48F-C9F484E4FA7A}"/>
              </a:ext>
            </a:extLst>
          </p:cNvPr>
          <p:cNvSpPr>
            <a:spLocks noGrp="1"/>
          </p:cNvSpPr>
          <p:nvPr/>
        </p:nvSpPr>
        <p:spPr>
          <a:xfrm>
            <a:off x="12001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EBD65C-61BC-492B-8982-526E52B6E5EE}"/>
              </a:ext>
            </a:extLst>
          </p:cNvPr>
          <p:cNvSpPr>
            <a:spLocks noGrp="1"/>
          </p:cNvSpPr>
          <p:nvPr/>
        </p:nvSpPr>
        <p:spPr>
          <a:xfrm>
            <a:off x="17526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 employees 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7AB12F7-8E79-4FDE-88CE-0ABADD3C521E}"/>
              </a:ext>
            </a:extLst>
          </p:cNvPr>
          <p:cNvSpPr>
            <a:spLocks noGrp="1"/>
          </p:cNvSpPr>
          <p:nvPr/>
        </p:nvSpPr>
        <p:spPr>
          <a:xfrm>
            <a:off x="17526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id、name、department、salary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9F43F5AA-990D-4EB1-95A1-4F815FEF3D49}"/>
              </a:ext>
            </a:extLst>
          </p:cNvPr>
          <p:cNvSpPr>
            <a:spLocks noGrp="1"/>
          </p:cNvSpPr>
          <p:nvPr/>
        </p:nvSpPr>
        <p:spPr>
          <a:xfrm>
            <a:off x="6343650" y="26289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D2C90B-7A81-4C09-B06D-1374C6FEA039}"/>
              </a:ext>
            </a:extLst>
          </p:cNvPr>
          <p:cNvSpPr>
            <a:spLocks noGrp="1"/>
          </p:cNvSpPr>
          <p:nvPr/>
        </p:nvSpPr>
        <p:spPr>
          <a:xfrm>
            <a:off x="6343650" y="27051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7CA0FD5-D64D-41FB-8505-E4306D8E5D3D}"/>
              </a:ext>
            </a:extLst>
          </p:cNvPr>
          <p:cNvSpPr>
            <a:spLocks noGrp="1"/>
          </p:cNvSpPr>
          <p:nvPr/>
        </p:nvSpPr>
        <p:spPr>
          <a:xfrm>
            <a:off x="6896100" y="25908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插入 3 筆資料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C260E8-ECF9-43C5-BA6F-470ADE3722AD}"/>
              </a:ext>
            </a:extLst>
          </p:cNvPr>
          <p:cNvSpPr>
            <a:spLocks noGrp="1"/>
          </p:cNvSpPr>
          <p:nvPr/>
        </p:nvSpPr>
        <p:spPr>
          <a:xfrm>
            <a:off x="6896100" y="28956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至少三個不同員工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FEFEF19A-8CFA-4457-99E2-1D4049BB8C56}"/>
              </a:ext>
            </a:extLst>
          </p:cNvPr>
          <p:cNvSpPr>
            <a:spLocks noGrp="1"/>
          </p:cNvSpPr>
          <p:nvPr/>
        </p:nvSpPr>
        <p:spPr>
          <a:xfrm>
            <a:off x="12001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7F6DB0-2228-4A53-9415-760F8F898083}"/>
              </a:ext>
            </a:extLst>
          </p:cNvPr>
          <p:cNvSpPr>
            <a:spLocks noGrp="1"/>
          </p:cNvSpPr>
          <p:nvPr/>
        </p:nvSpPr>
        <p:spPr>
          <a:xfrm>
            <a:off x="12001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D4A1B8A-F4E6-4ABB-B915-BE668B53ABBB}"/>
              </a:ext>
            </a:extLst>
          </p:cNvPr>
          <p:cNvSpPr>
            <a:spLocks noGrp="1"/>
          </p:cNvSpPr>
          <p:nvPr/>
        </p:nvSpPr>
        <p:spPr>
          <a:xfrm>
            <a:off x="17526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查詢薪水 &gt; 50000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A1A6E7C-A5BB-44F4-98D7-C2736E2FFA62}"/>
              </a:ext>
            </a:extLst>
          </p:cNvPr>
          <p:cNvSpPr>
            <a:spLocks noGrp="1"/>
          </p:cNvSpPr>
          <p:nvPr/>
        </p:nvSpPr>
        <p:spPr>
          <a:xfrm>
            <a:off x="17526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SELECT 條件查詢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B4276F9E-DC46-4314-B07E-63A43914F265}"/>
              </a:ext>
            </a:extLst>
          </p:cNvPr>
          <p:cNvSpPr>
            <a:spLocks noGrp="1"/>
          </p:cNvSpPr>
          <p:nvPr/>
        </p:nvSpPr>
        <p:spPr>
          <a:xfrm>
            <a:off x="6343650" y="34671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43F465F-B143-48F7-A5AE-3543027CA155}"/>
              </a:ext>
            </a:extLst>
          </p:cNvPr>
          <p:cNvSpPr>
            <a:spLocks noGrp="1"/>
          </p:cNvSpPr>
          <p:nvPr/>
        </p:nvSpPr>
        <p:spPr>
          <a:xfrm>
            <a:off x="6343650" y="35433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A5D21F-A062-445E-A73B-89D86D9DDC36}"/>
              </a:ext>
            </a:extLst>
          </p:cNvPr>
          <p:cNvSpPr>
            <a:spLocks noGrp="1"/>
          </p:cNvSpPr>
          <p:nvPr/>
        </p:nvSpPr>
        <p:spPr>
          <a:xfrm>
            <a:off x="6896100" y="34290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更新部門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AE7C31C-A414-4044-91C7-34B7904CD36D}"/>
              </a:ext>
            </a:extLst>
          </p:cNvPr>
          <p:cNvSpPr>
            <a:spLocks noGrp="1"/>
          </p:cNvSpPr>
          <p:nvPr/>
        </p:nvSpPr>
        <p:spPr>
          <a:xfrm>
            <a:off x="6896100" y="37338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UPDATE 某位員工資料</a:t>
            </a:r>
          </a:p>
        </p:txBody>
      </p:sp>
      <p:sp>
        <p:nvSpPr>
          <p:cNvPr id="28" name="橢圓 27">
            <a:extLst>
              <a:ext uri="{FF2B5EF4-FFF2-40B4-BE49-F238E27FC236}">
                <a16:creationId xmlns:a16="http://schemas.microsoft.com/office/drawing/2014/main" id="{9EC4C87F-5D74-4DA1-9AF9-FEC3493F7054}"/>
              </a:ext>
            </a:extLst>
          </p:cNvPr>
          <p:cNvSpPr>
            <a:spLocks noGrp="1"/>
          </p:cNvSpPr>
          <p:nvPr/>
        </p:nvSpPr>
        <p:spPr>
          <a:xfrm>
            <a:off x="12001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A2F54-4B42-488C-A937-3AA66520FCEC}"/>
              </a:ext>
            </a:extLst>
          </p:cNvPr>
          <p:cNvSpPr>
            <a:spLocks noGrp="1"/>
          </p:cNvSpPr>
          <p:nvPr/>
        </p:nvSpPr>
        <p:spPr>
          <a:xfrm>
            <a:off x="12001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7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11EF067-AADC-44FF-9FE6-0C8D47CD41CE}"/>
              </a:ext>
            </a:extLst>
          </p:cNvPr>
          <p:cNvSpPr>
            <a:spLocks noGrp="1"/>
          </p:cNvSpPr>
          <p:nvPr/>
        </p:nvSpPr>
        <p:spPr>
          <a:xfrm>
            <a:off x="17526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刪除一筆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6806693-6079-4F3D-A670-FAECD19A4CD7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DELETE 後再次 SELECT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28207302-B9FA-4AD5-A593-B491C7089E05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400050" cy="4000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FAFCDA7-D9B8-4899-ABD3-9E86502231E5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8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5AF1ADB-A31B-4C1A-8A78-FBD0CC2CDF87}"/>
              </a:ext>
            </a:extLst>
          </p:cNvPr>
          <p:cNvSpPr>
            <a:spLocks noGrp="1"/>
          </p:cNvSpPr>
          <p:nvPr/>
        </p:nvSpPr>
        <p:spPr>
          <a:xfrm>
            <a:off x="6896100" y="4267200"/>
            <a:ext cx="3714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76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離開並清理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485E20F-4844-4946-A8B7-10DB3531F3C3}"/>
              </a:ext>
            </a:extLst>
          </p:cNvPr>
          <p:cNvSpPr>
            <a:spLocks noGrp="1"/>
          </p:cNvSpPr>
          <p:nvPr/>
        </p:nvSpPr>
        <p:spPr>
          <a:xfrm>
            <a:off x="6896100" y="4572000"/>
            <a:ext cx="3714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容器與資料依需求保留或刪除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C7F46A8C-D085-4C5E-AF15-793675083973}"/>
              </a:ext>
            </a:extLst>
          </p:cNvPr>
          <p:cNvSpPr>
            <a:spLocks noGrp="1"/>
          </p:cNvSpPr>
          <p:nvPr/>
        </p:nvSpPr>
        <p:spPr>
          <a:xfrm>
            <a:off x="2057400" y="5753100"/>
            <a:ext cx="8077200" cy="419100"/>
          </a:xfrm>
          <a:prstGeom prst="roundRect">
            <a:avLst>
              <a:gd name="adj" fmla="val 22727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233CF91-F215-403B-80C7-52745BAE0230}"/>
              </a:ext>
            </a:extLst>
          </p:cNvPr>
          <p:cNvSpPr>
            <a:spLocks noGrp="1"/>
          </p:cNvSpPr>
          <p:nvPr/>
        </p:nvSpPr>
        <p:spPr>
          <a:xfrm>
            <a:off x="2343150" y="5867400"/>
            <a:ext cx="7505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754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完成標準：能展示 employees 查詢結果，並說明資料是否需要用 Volume 保留。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A27C30-DB91-4A84-9644-B57B2AC900A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618A661-E4B1-4FB7-9548-3F2A9CB3391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E90E26-693F-4D4F-BE4F-7167B5C3184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816195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B1E88B00-B7A0-4A36-AE32-760966DD065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4309440-396D-44C3-B705-F07F396BA28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解決長指令和多服務管理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B52611F-450B-42B0-B934-F328615E3F70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105918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E4283DA-8066-4A7D-BA8B-E3994B3B431A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68ABD3D-88A4-4B93-839D-8305E8B012DD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DF144EEF-829D-4A3A-A5B2-6C9391B3B434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12284D-0459-44BC-8D1C-F38B50C852DA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101727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my-mysql -e MYSQL_ROOT_PASSWORD=my-secret-pw -e MYSQL_DATABASE=testdb -e MYSQL_USER=testuser -e MYSQL_PASSWORD=testpass -p 3306:3306 -v mysql-data:/var/lib/mysql mysql:8.0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1189D8FA-D4EA-490B-86B9-5E9FF8018E4E}"/>
              </a:ext>
            </a:extLst>
          </p:cNvPr>
          <p:cNvSpPr>
            <a:spLocks noGrp="1"/>
          </p:cNvSpPr>
          <p:nvPr/>
        </p:nvSpPr>
        <p:spPr>
          <a:xfrm>
            <a:off x="5619750" y="3238500"/>
            <a:ext cx="952500" cy="419100"/>
          </a:xfrm>
          <a:prstGeom prst="rightArrow">
            <a:avLst/>
          </a:prstGeom>
          <a:solidFill>
            <a:srgbClr val="4F46E5"/>
          </a:solidFill>
          <a:ln w="0">
            <a:solidFill>
              <a:srgbClr val="4F46E5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EE4F12-17BB-4879-9B8F-0F76EA8B89C7}"/>
              </a:ext>
            </a:extLst>
          </p:cNvPr>
          <p:cNvSpPr>
            <a:spLocks noGrp="1"/>
          </p:cNvSpPr>
          <p:nvPr/>
        </p:nvSpPr>
        <p:spPr>
          <a:xfrm>
            <a:off x="2724150" y="4095750"/>
            <a:ext cx="6743700" cy="990600"/>
          </a:xfrm>
          <a:prstGeom prst="roundRect">
            <a:avLst>
              <a:gd name="adj" fmla="val 11538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0530F-DF26-4CDA-A633-9B9FB42A0944}"/>
              </a:ext>
            </a:extLst>
          </p:cNvPr>
          <p:cNvSpPr>
            <a:spLocks noGrp="1"/>
          </p:cNvSpPr>
          <p:nvPr/>
        </p:nvSpPr>
        <p:spPr>
          <a:xfrm>
            <a:off x="3086100" y="4400550"/>
            <a:ext cx="6019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21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設定寫進 compose.yaml（舊名 docker-compose.yml 仍可用）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C8B03E0-4072-4310-B6ED-8601342FCA7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D67F5CA-F2DF-426C-B150-F8E8171FD86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B2F3DC1-4933-49DF-AE6A-DFC700FDB5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093156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9B1070DD-3F0F-42F9-9CE9-8F84F12638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YAML BASICS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AD02B34-A66B-4265-82CC-2AD8129F34E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YAML 是靠縮排表達層級的設定檔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47C7DA-5851-433E-8EEE-6121F44DFE86}"/>
              </a:ext>
            </a:extLst>
          </p:cNvPr>
          <p:cNvSpPr>
            <a:spLocks noGrp="1"/>
          </p:cNvSpPr>
          <p:nvPr/>
        </p:nvSpPr>
        <p:spPr>
          <a:xfrm>
            <a:off x="1047750" y="1619250"/>
            <a:ext cx="447675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C16A646-5330-4F3A-9D60-D3CBAA6272A7}"/>
              </a:ext>
            </a:extLst>
          </p:cNvPr>
          <p:cNvSpPr>
            <a:spLocks noGrp="1"/>
          </p:cNvSpPr>
          <p:nvPr/>
        </p:nvSpPr>
        <p:spPr>
          <a:xfrm>
            <a:off x="12192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B33A80C-EF8F-421D-9802-8B838DA6C756}"/>
              </a:ext>
            </a:extLst>
          </p:cNvPr>
          <p:cNvSpPr>
            <a:spLocks noGrp="1"/>
          </p:cNvSpPr>
          <p:nvPr/>
        </p:nvSpPr>
        <p:spPr>
          <a:xfrm>
            <a:off x="13906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7932BBB0-DB68-4481-9FBC-92F4A9468E11}"/>
              </a:ext>
            </a:extLst>
          </p:cNvPr>
          <p:cNvSpPr>
            <a:spLocks noGrp="1"/>
          </p:cNvSpPr>
          <p:nvPr/>
        </p:nvSpPr>
        <p:spPr>
          <a:xfrm>
            <a:off x="15621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DEC9411-F19F-4CBE-8CB0-FF17CC7EB6E2}"/>
              </a:ext>
            </a:extLst>
          </p:cNvPr>
          <p:cNvSpPr>
            <a:spLocks noGrp="1"/>
          </p:cNvSpPr>
          <p:nvPr/>
        </p:nvSpPr>
        <p:spPr>
          <a:xfrm>
            <a:off x="1257300" y="2038350"/>
            <a:ext cx="405765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557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name: my-app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ports: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"8080:80"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 "443:443"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environment: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DB_HOST: mysql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DB_PORT: 3306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BECE0B4-EA66-41B7-AF79-731B66FCAFE0}"/>
              </a:ext>
            </a:extLst>
          </p:cNvPr>
          <p:cNvSpPr>
            <a:spLocks noGrp="1"/>
          </p:cNvSpPr>
          <p:nvPr/>
        </p:nvSpPr>
        <p:spPr>
          <a:xfrm>
            <a:off x="653415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93D61BF-C0BE-4000-97D7-82367E8877CF}"/>
              </a:ext>
            </a:extLst>
          </p:cNvPr>
          <p:cNvSpPr>
            <a:spLocks noGrp="1"/>
          </p:cNvSpPr>
          <p:nvPr/>
        </p:nvSpPr>
        <p:spPr>
          <a:xfrm>
            <a:off x="676275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空格縮排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399B4C-3E14-430C-BB7D-E418EA337A24}"/>
              </a:ext>
            </a:extLst>
          </p:cNvPr>
          <p:cNvSpPr>
            <a:spLocks noGrp="1"/>
          </p:cNvSpPr>
          <p:nvPr/>
        </p:nvSpPr>
        <p:spPr>
          <a:xfrm>
            <a:off x="676275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不能用 Tab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869D883-7DEE-4A23-BC4E-D61E669F65E5}"/>
              </a:ext>
            </a:extLst>
          </p:cNvPr>
          <p:cNvSpPr>
            <a:spLocks noGrp="1"/>
          </p:cNvSpPr>
          <p:nvPr/>
        </p:nvSpPr>
        <p:spPr>
          <a:xfrm>
            <a:off x="8839200" y="160020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74DE7BE-F83B-4198-B921-5215E41A70CD}"/>
              </a:ext>
            </a:extLst>
          </p:cNvPr>
          <p:cNvSpPr>
            <a:spLocks noGrp="1"/>
          </p:cNvSpPr>
          <p:nvPr/>
        </p:nvSpPr>
        <p:spPr>
          <a:xfrm>
            <a:off x="9067800" y="179070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key: value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5752E4-F56E-4056-A18A-70472AD9973F}"/>
              </a:ext>
            </a:extLst>
          </p:cNvPr>
          <p:cNvSpPr>
            <a:spLocks noGrp="1"/>
          </p:cNvSpPr>
          <p:nvPr/>
        </p:nvSpPr>
        <p:spPr>
          <a:xfrm>
            <a:off x="9067800" y="215265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冒號後面有空格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7DA133F-769B-4D64-B946-ED3E0D6B7C18}"/>
              </a:ext>
            </a:extLst>
          </p:cNvPr>
          <p:cNvSpPr>
            <a:spLocks noGrp="1"/>
          </p:cNvSpPr>
          <p:nvPr/>
        </p:nvSpPr>
        <p:spPr>
          <a:xfrm>
            <a:off x="653415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739321-2EAE-48D6-A7F4-D4D95967930E}"/>
              </a:ext>
            </a:extLst>
          </p:cNvPr>
          <p:cNvSpPr>
            <a:spLocks noGrp="1"/>
          </p:cNvSpPr>
          <p:nvPr/>
        </p:nvSpPr>
        <p:spPr>
          <a:xfrm>
            <a:off x="676275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 清單項目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1BEA532-362F-4E91-A153-3F24C7E9A2F2}"/>
              </a:ext>
            </a:extLst>
          </p:cNvPr>
          <p:cNvSpPr>
            <a:spLocks noGrp="1"/>
          </p:cNvSpPr>
          <p:nvPr/>
        </p:nvSpPr>
        <p:spPr>
          <a:xfrm>
            <a:off x="676275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26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 這類通常是清單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4A576E9E-95BF-4251-A3E7-1CABADF35AFF}"/>
              </a:ext>
            </a:extLst>
          </p:cNvPr>
          <p:cNvSpPr>
            <a:spLocks noGrp="1"/>
          </p:cNvSpPr>
          <p:nvPr/>
        </p:nvSpPr>
        <p:spPr>
          <a:xfrm>
            <a:off x="8839200" y="3028950"/>
            <a:ext cx="200025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0693600-26C2-4C2E-A926-AC3EFFCB292B}"/>
              </a:ext>
            </a:extLst>
          </p:cNvPr>
          <p:cNvSpPr>
            <a:spLocks noGrp="1"/>
          </p:cNvSpPr>
          <p:nvPr/>
        </p:nvSpPr>
        <p:spPr>
          <a:xfrm>
            <a:off x="9067800" y="3219450"/>
            <a:ext cx="1543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# 註解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DD4E869-C941-49B2-9D04-0B8C52AFD7FB}"/>
              </a:ext>
            </a:extLst>
          </p:cNvPr>
          <p:cNvSpPr>
            <a:spLocks noGrp="1"/>
          </p:cNvSpPr>
          <p:nvPr/>
        </p:nvSpPr>
        <p:spPr>
          <a:xfrm>
            <a:off x="9067800" y="3581400"/>
            <a:ext cx="1543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給人看的說明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6C1A-A9FA-40AE-A923-6783B5E08E50}"/>
              </a:ext>
            </a:extLst>
          </p:cNvPr>
          <p:cNvSpPr>
            <a:spLocks noGrp="1"/>
          </p:cNvSpPr>
          <p:nvPr/>
        </p:nvSpPr>
        <p:spPr>
          <a:xfrm>
            <a:off x="2286000" y="51054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YAML 對縮排非常敏感，建議用 VS Code 編輯。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C40828-2F2D-4D1E-88F9-B135A3D352D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CE0992B-05D8-436F-91B1-3D262624088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38DF2E9-BF8A-4F32-BD8A-85775029BCE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683223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5C388A98-7B23-4AB4-BA63-DD3EDC5545F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9DAE367-B8BB-47CC-A6B6-6AD651E5267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my-mysql 改寫成 Compose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3F5C191-62CB-43E1-8D71-1AF0145FFEB4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10287000" cy="314325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F3E7D-0471-43B7-9BC3-918009420245}"/>
              </a:ext>
            </a:extLst>
          </p:cNvPr>
          <p:cNvSpPr>
            <a:spLocks noGrp="1"/>
          </p:cNvSpPr>
          <p:nvPr/>
        </p:nvSpPr>
        <p:spPr>
          <a:xfrm>
            <a:off x="142875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services: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D74B43C0-6667-4CB0-8053-BA0804CAE4F4}"/>
              </a:ext>
            </a:extLst>
          </p:cNvPr>
          <p:cNvSpPr>
            <a:spLocks noGrp="1"/>
          </p:cNvSpPr>
          <p:nvPr/>
        </p:nvSpPr>
        <p:spPr>
          <a:xfrm>
            <a:off x="18097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A42540-9639-4A89-A87D-185193B9D29B}"/>
              </a:ext>
            </a:extLst>
          </p:cNvPr>
          <p:cNvSpPr>
            <a:spLocks noGrp="1"/>
          </p:cNvSpPr>
          <p:nvPr/>
        </p:nvSpPr>
        <p:spPr>
          <a:xfrm>
            <a:off x="20383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7AFC092-BF8A-4EF4-B659-8AAC90D18DDD}"/>
              </a:ext>
            </a:extLst>
          </p:cNvPr>
          <p:cNvSpPr>
            <a:spLocks noGrp="1"/>
          </p:cNvSpPr>
          <p:nvPr/>
        </p:nvSpPr>
        <p:spPr>
          <a:xfrm>
            <a:off x="20383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981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mysql:8.0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container_name: my-mysql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47B396F-D8EB-4C6A-9353-BC29DAE8D3C5}"/>
              </a:ext>
            </a:extLst>
          </p:cNvPr>
          <p:cNvSpPr>
            <a:spLocks noGrp="1"/>
          </p:cNvSpPr>
          <p:nvPr/>
        </p:nvSpPr>
        <p:spPr>
          <a:xfrm>
            <a:off x="4819650" y="2667000"/>
            <a:ext cx="2571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FC13A50-07E2-4E7B-80E5-AC8105D5A691}"/>
              </a:ext>
            </a:extLst>
          </p:cNvPr>
          <p:cNvSpPr>
            <a:spLocks noGrp="1"/>
          </p:cNvSpPr>
          <p:nvPr/>
        </p:nvSpPr>
        <p:spPr>
          <a:xfrm>
            <a:off x="5048250" y="285750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environment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A0867EA-CB03-44CF-A253-92F6D4FCE0BB}"/>
              </a:ext>
            </a:extLst>
          </p:cNvPr>
          <p:cNvSpPr>
            <a:spLocks noGrp="1"/>
          </p:cNvSpPr>
          <p:nvPr/>
        </p:nvSpPr>
        <p:spPr>
          <a:xfrm>
            <a:off x="5048250" y="3276600"/>
            <a:ext cx="2114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root password / db / user / pass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ports: "3306:3306"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841535A-C462-4069-BE63-90812CEE8BB7}"/>
              </a:ext>
            </a:extLst>
          </p:cNvPr>
          <p:cNvSpPr>
            <a:spLocks noGrp="1"/>
          </p:cNvSpPr>
          <p:nvPr/>
        </p:nvSpPr>
        <p:spPr>
          <a:xfrm>
            <a:off x="8001000" y="19621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22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DAB4621-40B9-4532-9708-FE15E21E2135}"/>
              </a:ext>
            </a:extLst>
          </p:cNvPr>
          <p:cNvSpPr>
            <a:spLocks noGrp="1"/>
          </p:cNvSpPr>
          <p:nvPr/>
        </p:nvSpPr>
        <p:spPr>
          <a:xfrm>
            <a:off x="8191500" y="2857500"/>
            <a:ext cx="2190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BECA69E-9D68-4564-9851-A6B5CD5B134D}"/>
              </a:ext>
            </a:extLst>
          </p:cNvPr>
          <p:cNvSpPr>
            <a:spLocks noGrp="1"/>
          </p:cNvSpPr>
          <p:nvPr/>
        </p:nvSpPr>
        <p:spPr>
          <a:xfrm>
            <a:off x="8420100" y="3048000"/>
            <a:ext cx="173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mysql-data:/var/lib/mysql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B66095-14BA-4199-B0B7-4636102DDDA0}"/>
              </a:ext>
            </a:extLst>
          </p:cNvPr>
          <p:cNvSpPr>
            <a:spLocks noGrp="1"/>
          </p:cNvSpPr>
          <p:nvPr/>
        </p:nvSpPr>
        <p:spPr>
          <a:xfrm>
            <a:off x="8420100" y="3467100"/>
            <a:ext cx="1733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162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資料放在 named volume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E768008-D004-4AF9-B3CD-17E3C0274888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先延續前面的 MySQL，不換題目，讓每一行都有 docker run 對照。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3E99D5-E3B3-45F2-AA9E-711270902D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091E6D7-629E-4386-870D-D100734C8FB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B16CA-155D-480D-AF79-256A1412F5F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276526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0E8FD50-7D2B-4388-8383-C2562A33D37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44A6EB-4D78-4C78-87E0-59C504159C3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9487AB3-79B8-47E5-9EAE-CBC7B3B293F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BC6C51-0D5A-43D4-ACE2-CD7CECEE50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5EA7E73-D8B7-4251-A481-26E9D4ECF9F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my-secret-pw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testdb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testuser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testpass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mysql-data:/var/lib/mysql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50F08EE-78FB-440C-90A7-DEBE07E5DE8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27F1AEC-E7B4-40EB-9C91-09C7BF1E0F2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825180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E80D54E2-8513-4E99-BC9B-9E38E27A830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MAPPING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209EA44-085C-470F-BAB1-D84F811D59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Compose 設定對應 docker run 參數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DDA5286-1B15-40E1-BD32-B92CD885B144}"/>
              </a:ext>
            </a:extLst>
          </p:cNvPr>
          <p:cNvSpPr>
            <a:spLocks noGrp="1"/>
          </p:cNvSpPr>
          <p:nvPr/>
        </p:nvSpPr>
        <p:spPr>
          <a:xfrm>
            <a:off x="1428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6A58904-72B2-4ABF-B09A-E5B23B4BE46C}"/>
              </a:ext>
            </a:extLst>
          </p:cNvPr>
          <p:cNvSpPr>
            <a:spLocks noGrp="1"/>
          </p:cNvSpPr>
          <p:nvPr/>
        </p:nvSpPr>
        <p:spPr>
          <a:xfrm>
            <a:off x="1657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image: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D1B659-FD79-406D-9731-B4B09086F3C4}"/>
              </a:ext>
            </a:extLst>
          </p:cNvPr>
          <p:cNvSpPr>
            <a:spLocks noGrp="1"/>
          </p:cNvSpPr>
          <p:nvPr/>
        </p:nvSpPr>
        <p:spPr>
          <a:xfrm>
            <a:off x="3619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名稱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5FA0DD3-1B1D-4740-8FC4-3E81F3710B3F}"/>
              </a:ext>
            </a:extLst>
          </p:cNvPr>
          <p:cNvSpPr>
            <a:spLocks noGrp="1"/>
          </p:cNvSpPr>
          <p:nvPr/>
        </p:nvSpPr>
        <p:spPr>
          <a:xfrm>
            <a:off x="6762750" y="15049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F1B7221-3B6D-4674-A8F6-8EC6E48B51C5}"/>
              </a:ext>
            </a:extLst>
          </p:cNvPr>
          <p:cNvSpPr>
            <a:spLocks noGrp="1"/>
          </p:cNvSpPr>
          <p:nvPr/>
        </p:nvSpPr>
        <p:spPr>
          <a:xfrm>
            <a:off x="6991350" y="16764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container_name: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DF0BC4-CDF0-4009-98A3-35BA8290447E}"/>
              </a:ext>
            </a:extLst>
          </p:cNvPr>
          <p:cNvSpPr>
            <a:spLocks noGrp="1"/>
          </p:cNvSpPr>
          <p:nvPr/>
        </p:nvSpPr>
        <p:spPr>
          <a:xfrm>
            <a:off x="8953500" y="16764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--name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3DB6422-F040-4F4E-8F27-E3A2DA9EE480}"/>
              </a:ext>
            </a:extLst>
          </p:cNvPr>
          <p:cNvSpPr>
            <a:spLocks noGrp="1"/>
          </p:cNvSpPr>
          <p:nvPr/>
        </p:nvSpPr>
        <p:spPr>
          <a:xfrm>
            <a:off x="1428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C5E810-EF9C-42A7-8E19-60C1DD624DE6}"/>
              </a:ext>
            </a:extLst>
          </p:cNvPr>
          <p:cNvSpPr>
            <a:spLocks noGrp="1"/>
          </p:cNvSpPr>
          <p:nvPr/>
        </p:nvSpPr>
        <p:spPr>
          <a:xfrm>
            <a:off x="1657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ports: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289572-7F51-4C4F-B4A9-2A1A66E6F3E6}"/>
              </a:ext>
            </a:extLst>
          </p:cNvPr>
          <p:cNvSpPr>
            <a:spLocks noGrp="1"/>
          </p:cNvSpPr>
          <p:nvPr/>
        </p:nvSpPr>
        <p:spPr>
          <a:xfrm>
            <a:off x="3619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25CD37D1-2107-4702-B2FE-D102264E2289}"/>
              </a:ext>
            </a:extLst>
          </p:cNvPr>
          <p:cNvSpPr>
            <a:spLocks noGrp="1"/>
          </p:cNvSpPr>
          <p:nvPr/>
        </p:nvSpPr>
        <p:spPr>
          <a:xfrm>
            <a:off x="6762750" y="23431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73ACEB-2458-4527-ACCC-697D32D33889}"/>
              </a:ext>
            </a:extLst>
          </p:cNvPr>
          <p:cNvSpPr>
            <a:spLocks noGrp="1"/>
          </p:cNvSpPr>
          <p:nvPr/>
        </p:nvSpPr>
        <p:spPr>
          <a:xfrm>
            <a:off x="6991350" y="25146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volumes: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E85BFDE-CB7B-4270-B7D2-37233BE9FABF}"/>
              </a:ext>
            </a:extLst>
          </p:cNvPr>
          <p:cNvSpPr>
            <a:spLocks noGrp="1"/>
          </p:cNvSpPr>
          <p:nvPr/>
        </p:nvSpPr>
        <p:spPr>
          <a:xfrm>
            <a:off x="8953500" y="25146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2EEAEE3F-43D6-46DE-8E0A-F0CBFF929E50}"/>
              </a:ext>
            </a:extLst>
          </p:cNvPr>
          <p:cNvSpPr>
            <a:spLocks noGrp="1"/>
          </p:cNvSpPr>
          <p:nvPr/>
        </p:nvSpPr>
        <p:spPr>
          <a:xfrm>
            <a:off x="1428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BD2FF4F-63A3-4E08-96E9-A2B112160520}"/>
              </a:ext>
            </a:extLst>
          </p:cNvPr>
          <p:cNvSpPr>
            <a:spLocks noGrp="1"/>
          </p:cNvSpPr>
          <p:nvPr/>
        </p:nvSpPr>
        <p:spPr>
          <a:xfrm>
            <a:off x="1657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environment: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C03B1B-9F29-462A-9C9A-A1F44C7BC22D}"/>
              </a:ext>
            </a:extLst>
          </p:cNvPr>
          <p:cNvSpPr>
            <a:spLocks noGrp="1"/>
          </p:cNvSpPr>
          <p:nvPr/>
        </p:nvSpPr>
        <p:spPr>
          <a:xfrm>
            <a:off x="3619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-e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CA47FEC-84C2-4979-BD76-D42EEC243B77}"/>
              </a:ext>
            </a:extLst>
          </p:cNvPr>
          <p:cNvSpPr>
            <a:spLocks noGrp="1"/>
          </p:cNvSpPr>
          <p:nvPr/>
        </p:nvSpPr>
        <p:spPr>
          <a:xfrm>
            <a:off x="6762750" y="31813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C61044-3E74-48B2-ABEB-3FF39B7F5ADD}"/>
              </a:ext>
            </a:extLst>
          </p:cNvPr>
          <p:cNvSpPr>
            <a:spLocks noGrp="1"/>
          </p:cNvSpPr>
          <p:nvPr/>
        </p:nvSpPr>
        <p:spPr>
          <a:xfrm>
            <a:off x="6991350" y="33528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working_dir: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51FF92C-B551-477E-AED9-4D0CA791D5A4}"/>
              </a:ext>
            </a:extLst>
          </p:cNvPr>
          <p:cNvSpPr>
            <a:spLocks noGrp="1"/>
          </p:cNvSpPr>
          <p:nvPr/>
        </p:nvSpPr>
        <p:spPr>
          <a:xfrm>
            <a:off x="8953500" y="3352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-w</a:t>
            </a: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40BF3FF4-14FD-4A08-94DA-8575B01415E6}"/>
              </a:ext>
            </a:extLst>
          </p:cNvPr>
          <p:cNvSpPr>
            <a:spLocks noGrp="1"/>
          </p:cNvSpPr>
          <p:nvPr/>
        </p:nvSpPr>
        <p:spPr>
          <a:xfrm>
            <a:off x="1428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32966FB-F4E3-48F5-A9DE-8883B8EF738D}"/>
              </a:ext>
            </a:extLst>
          </p:cNvPr>
          <p:cNvSpPr>
            <a:spLocks noGrp="1"/>
          </p:cNvSpPr>
          <p:nvPr/>
        </p:nvSpPr>
        <p:spPr>
          <a:xfrm>
            <a:off x="1657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command: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EB8ECC-D481-4259-B702-3E400B470EA1}"/>
              </a:ext>
            </a:extLst>
          </p:cNvPr>
          <p:cNvSpPr>
            <a:spLocks noGrp="1"/>
          </p:cNvSpPr>
          <p:nvPr/>
        </p:nvSpPr>
        <p:spPr>
          <a:xfrm>
            <a:off x="3619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最後面的指令</a:t>
            </a:r>
          </a:p>
        </p:txBody>
      </p:sp>
      <p:sp>
        <p:nvSpPr>
          <p:cNvPr id="24" name="矩形: 圓角 23">
            <a:extLst>
              <a:ext uri="{FF2B5EF4-FFF2-40B4-BE49-F238E27FC236}">
                <a16:creationId xmlns:a16="http://schemas.microsoft.com/office/drawing/2014/main" id="{8FF0E503-196B-46AF-BD6D-2C84064FB430}"/>
              </a:ext>
            </a:extLst>
          </p:cNvPr>
          <p:cNvSpPr>
            <a:spLocks noGrp="1"/>
          </p:cNvSpPr>
          <p:nvPr/>
        </p:nvSpPr>
        <p:spPr>
          <a:xfrm>
            <a:off x="6762750" y="4019550"/>
            <a:ext cx="4000500" cy="59055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C3387C4-54F3-4204-A5AC-1F6F025D9CCF}"/>
              </a:ext>
            </a:extLst>
          </p:cNvPr>
          <p:cNvSpPr>
            <a:spLocks noGrp="1"/>
          </p:cNvSpPr>
          <p:nvPr/>
        </p:nvSpPr>
        <p:spPr>
          <a:xfrm>
            <a:off x="6991350" y="4191000"/>
            <a:ext cx="1809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depends_on: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A1CE8D3-A1A7-408E-8BB8-A4DEAF389393}"/>
              </a:ext>
            </a:extLst>
          </p:cNvPr>
          <p:cNvSpPr>
            <a:spLocks noGrp="1"/>
          </p:cNvSpPr>
          <p:nvPr/>
        </p:nvSpPr>
        <p:spPr>
          <a:xfrm>
            <a:off x="8953500" y="41910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啟動順序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3DAFD-A2C0-42D5-A49C-597914D5C78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D9CE049-EE0D-4919-88A1-F32B70E8075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E2C9D97-D4EF-4BAC-A33E-12821432368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87091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527C3C1A-A6A3-42AF-81D2-9B5708BC3F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BEHAVIOR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3BB24-A86C-4685-AF49-0880B352699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restart 與 depends_on 只解決部分問題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9F8BA7C-79C7-402E-A7EE-19E911CC2BC2}"/>
              </a:ext>
            </a:extLst>
          </p:cNvPr>
          <p:cNvSpPr>
            <a:spLocks noGrp="1"/>
          </p:cNvSpPr>
          <p:nvPr/>
        </p:nvSpPr>
        <p:spPr>
          <a:xfrm>
            <a:off x="1047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2BCF9F-2206-4FAA-9B29-E3AE778D0804}"/>
              </a:ext>
            </a:extLst>
          </p:cNvPr>
          <p:cNvSpPr>
            <a:spLocks noGrp="1"/>
          </p:cNvSpPr>
          <p:nvPr/>
        </p:nvSpPr>
        <p:spPr>
          <a:xfrm>
            <a:off x="1276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restart: unless-stopped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1EE671A-6BA5-4D42-842C-EBA63F582D9A}"/>
              </a:ext>
            </a:extLst>
          </p:cNvPr>
          <p:cNvSpPr>
            <a:spLocks noGrp="1"/>
          </p:cNvSpPr>
          <p:nvPr/>
        </p:nvSpPr>
        <p:spPr>
          <a:xfrm>
            <a:off x="1276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開發環境常用。容器非手動停止時會自動重啟；手動 stop 後維持停止。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279916A-6C45-4C62-8D53-118AD52420A4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381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CECC99-4C68-4D57-9919-3DA5C4EF3A76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depends_on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6F4CE6B-6303-4DE4-8CCB-411BB65EF604}"/>
              </a:ext>
            </a:extLst>
          </p:cNvPr>
          <p:cNvSpPr>
            <a:spLocks noGrp="1"/>
          </p:cNvSpPr>
          <p:nvPr/>
        </p:nvSpPr>
        <p:spPr>
          <a:xfrm>
            <a:off x="6991350" y="2438400"/>
            <a:ext cx="392430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控制啟動順序，例如先啟動 db 再啟動 web。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6D6A20E7-82D3-4F71-8DF2-FFC0575F4047}"/>
              </a:ext>
            </a:extLst>
          </p:cNvPr>
          <p:cNvSpPr>
            <a:spLocks noGrp="1"/>
          </p:cNvSpPr>
          <p:nvPr/>
        </p:nvSpPr>
        <p:spPr>
          <a:xfrm>
            <a:off x="1752600" y="4457700"/>
            <a:ext cx="8686800" cy="742950"/>
          </a:xfrm>
          <a:prstGeom prst="roundRect">
            <a:avLst>
              <a:gd name="adj" fmla="val 1538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69899D-555C-44BE-B17C-5BAD4B91A83A}"/>
              </a:ext>
            </a:extLst>
          </p:cNvPr>
          <p:cNvSpPr>
            <a:spLocks noGrp="1"/>
          </p:cNvSpPr>
          <p:nvPr/>
        </p:nvSpPr>
        <p:spPr>
          <a:xfrm>
            <a:off x="2095500" y="468630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depends_on 只保證容器先啟動，不保證 MySQL 已經 ready；程式端仍需要重試機制。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D538722-87FF-42AF-85BC-17A144FF37C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E2429AE-6EA6-4F8F-A273-961BD7D19F2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673FC2C-6001-42AD-9AE9-92F76E97AD3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005582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CBA052DC-6B9D-469B-AC4A-81779AA429D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72F36AC-15CC-4F9E-876A-B8E8D3A7E7E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2：Compose 行為判斷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6C2D666-0DFA-497C-8E16-C9A82A29B02A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8F2BC-234B-4E90-A82D-FF53FC1C09CB}"/>
              </a:ext>
            </a:extLst>
          </p:cNvPr>
          <p:cNvSpPr>
            <a:spLocks noGrp="1"/>
          </p:cNvSpPr>
          <p:nvPr/>
        </p:nvSpPr>
        <p:spPr>
          <a:xfrm>
            <a:off x="11430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Q2：depends_on 能保證什麼？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ED8AD1-3535-4D7D-978F-68E857DCFF5D}"/>
              </a:ext>
            </a:extLst>
          </p:cNvPr>
          <p:cNvSpPr>
            <a:spLocks noGrp="1"/>
          </p:cNvSpPr>
          <p:nvPr/>
        </p:nvSpPr>
        <p:spPr>
          <a:xfrm>
            <a:off x="11430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能保證啟動順序。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不能保證 MySQL 已 ready。</a:t>
            </a:r>
          </a:p>
          <a:p>
            <a:pPr algn="ctr">
              <a:lnSpc>
                <a:spcPct val="106000"/>
              </a:lnSpc>
              <a:buNone/>
              <a:defRPr sz="17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程式端仍需要重試。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73F96140-6366-4E42-8DDE-2D442CC762B5}"/>
              </a:ext>
            </a:extLst>
          </p:cNvPr>
          <p:cNvSpPr>
            <a:spLocks noGrp="1"/>
          </p:cNvSpPr>
          <p:nvPr/>
        </p:nvSpPr>
        <p:spPr>
          <a:xfrm>
            <a:off x="6515100" y="1657350"/>
            <a:ext cx="4762500" cy="2438400"/>
          </a:xfrm>
          <a:prstGeom prst="roundRect">
            <a:avLst>
              <a:gd name="adj" fmla="val 4688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44DF0B-E080-40ED-8985-2FC6A29DC549}"/>
              </a:ext>
            </a:extLst>
          </p:cNvPr>
          <p:cNvSpPr>
            <a:spLocks noGrp="1"/>
          </p:cNvSpPr>
          <p:nvPr/>
        </p:nvSpPr>
        <p:spPr>
          <a:xfrm>
            <a:off x="6743700" y="18478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Q3：unless-stopped vs always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3955D-CEA8-4942-B656-861BEB8CC53B}"/>
              </a:ext>
            </a:extLst>
          </p:cNvPr>
          <p:cNvSpPr>
            <a:spLocks noGrp="1"/>
          </p:cNvSpPr>
          <p:nvPr/>
        </p:nvSpPr>
        <p:spPr>
          <a:xfrm>
            <a:off x="6743700" y="253365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always：停止就自動重啟。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unless-stopped：除非手動 stop，否則自動重啟。</a:t>
            </a:r>
          </a:p>
          <a:p>
            <a:pPr algn="ctr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差別在手動停止後的行為。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A79C5880-2105-4375-871F-D4578A56F490}"/>
              </a:ext>
            </a:extLst>
          </p:cNvPr>
          <p:cNvSpPr>
            <a:spLocks noGrp="1"/>
          </p:cNvSpPr>
          <p:nvPr/>
        </p:nvSpPr>
        <p:spPr>
          <a:xfrm>
            <a:off x="1752600" y="4819650"/>
            <a:ext cx="86868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8813ACF-DF7B-46CB-BE6F-B416CB61F0F6}"/>
              </a:ext>
            </a:extLst>
          </p:cNvPr>
          <p:cNvSpPr>
            <a:spLocks noGrp="1"/>
          </p:cNvSpPr>
          <p:nvPr/>
        </p:nvSpPr>
        <p:spPr>
          <a:xfrm>
            <a:off x="2095500" y="50292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847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討論方式：先讓學生口頭回答，再打開 logs 或重啟容器驗證。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0B7B25E-0772-4A2E-BE0E-7B1B0E1065C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76779E-2C33-4DCA-A28B-273365E36E6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D774C0-A783-4326-9A07-F6D0CE11641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282511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33ED3AE-1CA0-48D7-B672-DD405F28308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ORCHESTRATION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7A76F2-BEDE-49A4-ABA3-46F067CFE3C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 Compose 檔案協調多個服務</a:t>
            </a:r>
          </a:p>
        </p:txBody>
      </p:sp>
      <p:pic>
        <p:nvPicPr>
          <p:cNvPr id="18" name="圖片 17"/>
          <p:cNvPicPr>
            <a:picLocks noChangeAspect="1"/>
          </p:cNvPicPr>
          <p:nvPr/>
        </p:nvPicPr>
        <p:blipFill>
          <a:blip r:embed="rId3"/>
          <a:srcRect l="5014" r="5014"/>
          <a:stretch>
            <a:fillRect/>
          </a:stretch>
        </p:blipFill>
        <p:spPr>
          <a:xfrm>
            <a:off x="6572250" y="1447800"/>
            <a:ext cx="4476750" cy="28003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DE2DF5BC-1AF6-49D4-A41C-64505F24E8AD}"/>
              </a:ext>
            </a:extLst>
          </p:cNvPr>
          <p:cNvSpPr>
            <a:spLocks noGrp="1"/>
          </p:cNvSpPr>
          <p:nvPr/>
        </p:nvSpPr>
        <p:spPr>
          <a:xfrm>
            <a:off x="6572250" y="1447800"/>
            <a:ext cx="4476750" cy="2800350"/>
          </a:xfrm>
          <a:prstGeom prst="roundRect">
            <a:avLst>
              <a:gd name="adj" fmla="val 4762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199AD43-F1E9-4DAB-A91F-5D148A1D82CA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92CBFA-9F5B-472C-8DC3-593D81AA9841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自動建立網路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BDFA72-1172-4005-9A01-1941E25A6F0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同一份 compose 裡的服務可以用服務名稱互相連線，例如 app 連 db。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E938B29-FF9E-4D81-B9E4-BB0123DEF706}"/>
              </a:ext>
            </a:extLst>
          </p:cNvPr>
          <p:cNvSpPr>
            <a:spLocks noGrp="1"/>
          </p:cNvSpPr>
          <p:nvPr/>
        </p:nvSpPr>
        <p:spPr>
          <a:xfrm>
            <a:off x="990600" y="3486150"/>
            <a:ext cx="43815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A32E6C-25B0-47B4-A7ED-2C3B63B8126E}"/>
              </a:ext>
            </a:extLst>
          </p:cNvPr>
          <p:cNvSpPr>
            <a:spLocks noGrp="1"/>
          </p:cNvSpPr>
          <p:nvPr/>
        </p:nvSpPr>
        <p:spPr>
          <a:xfrm>
            <a:off x="1219200" y="36766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project name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51A7E63-C4E6-4693-B544-8A08876225F4}"/>
              </a:ext>
            </a:extLst>
          </p:cNvPr>
          <p:cNvSpPr>
            <a:spLocks noGrp="1"/>
          </p:cNvSpPr>
          <p:nvPr/>
        </p:nvSpPr>
        <p:spPr>
          <a:xfrm>
            <a:off x="1219200" y="4095750"/>
            <a:ext cx="39243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資料夾名稱會變成預設 project name，用來管理同一組 container、network、volume。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0411338-2654-41CC-9FF8-69F14E261BFA}"/>
              </a:ext>
            </a:extLst>
          </p:cNvPr>
          <p:cNvSpPr>
            <a:spLocks noGrp="1"/>
          </p:cNvSpPr>
          <p:nvPr/>
        </p:nvSpPr>
        <p:spPr>
          <a:xfrm>
            <a:off x="1905000" y="5429250"/>
            <a:ext cx="8382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先記住：service name 給容器互連；project name 管整組 Compose 環境。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D8D9F4-E682-472D-A758-E77A180C5F5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B543241-4B2C-4679-A8AE-7FE52D0CA2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BA390C1-9377-4ED5-9581-FB17733E7C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9547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4EA10F21-2DF7-4C2C-99AA-C8E411D4A8E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B1630E-8AD7-4CEB-9AD7-79545F99651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Compose 日常指令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5D75E3-7F27-408C-A56F-B17876D27C29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5143500" cy="3829050"/>
          </a:xfrm>
          <a:prstGeom prst="roundRect">
            <a:avLst>
              <a:gd name="adj" fmla="val 24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EE69C07-D11F-41CB-A8C7-1B3A56BE03FD}"/>
              </a:ext>
            </a:extLst>
          </p:cNvPr>
          <p:cNvSpPr>
            <a:spLocks noGrp="1"/>
          </p:cNvSpPr>
          <p:nvPr/>
        </p:nvSpPr>
        <p:spPr>
          <a:xfrm>
            <a:off x="10477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E542999-9D18-4F49-9730-578564D6740B}"/>
              </a:ext>
            </a:extLst>
          </p:cNvPr>
          <p:cNvSpPr>
            <a:spLocks noGrp="1"/>
          </p:cNvSpPr>
          <p:nvPr/>
        </p:nvSpPr>
        <p:spPr>
          <a:xfrm>
            <a:off x="12192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28A553D8-9900-470E-80A4-9BED3F9F1E6D}"/>
              </a:ext>
            </a:extLst>
          </p:cNvPr>
          <p:cNvSpPr>
            <a:spLocks noGrp="1"/>
          </p:cNvSpPr>
          <p:nvPr/>
        </p:nvSpPr>
        <p:spPr>
          <a:xfrm>
            <a:off x="13906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9F3665-9D2F-475E-8B29-9CA9276980AE}"/>
              </a:ext>
            </a:extLst>
          </p:cNvPr>
          <p:cNvSpPr>
            <a:spLocks noGrp="1"/>
          </p:cNvSpPr>
          <p:nvPr/>
        </p:nvSpPr>
        <p:spPr>
          <a:xfrm>
            <a:off x="1085850" y="1847850"/>
            <a:ext cx="4724400" cy="3276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175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~/docker-lab/mysql-compose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 -f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down -v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C894CA9-16C8-421B-886B-76042BBE3F82}"/>
              </a:ext>
            </a:extLst>
          </p:cNvPr>
          <p:cNvSpPr>
            <a:spLocks noGrp="1"/>
          </p:cNvSpPr>
          <p:nvPr/>
        </p:nvSpPr>
        <p:spPr>
          <a:xfrm>
            <a:off x="6991350" y="14287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82ED0D7-60CD-4B58-9048-4AF1D3C5A819}"/>
              </a:ext>
            </a:extLst>
          </p:cNvPr>
          <p:cNvSpPr>
            <a:spLocks noGrp="1"/>
          </p:cNvSpPr>
          <p:nvPr/>
        </p:nvSpPr>
        <p:spPr>
          <a:xfrm>
            <a:off x="7219950" y="15906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up -d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44F3587-6A76-4FC7-8D5B-E1AB11968195}"/>
              </a:ext>
            </a:extLst>
          </p:cNvPr>
          <p:cNvSpPr>
            <a:spLocks noGrp="1"/>
          </p:cNvSpPr>
          <p:nvPr/>
        </p:nvSpPr>
        <p:spPr>
          <a:xfrm>
            <a:off x="8458200" y="16002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背景啟動所有服務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B00EA28-4D25-45EF-89D9-BA682D695598}"/>
              </a:ext>
            </a:extLst>
          </p:cNvPr>
          <p:cNvSpPr>
            <a:spLocks noGrp="1"/>
          </p:cNvSpPr>
          <p:nvPr/>
        </p:nvSpPr>
        <p:spPr>
          <a:xfrm>
            <a:off x="6991350" y="21717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D975E7-91E0-4B33-AB0E-D3E39CC4551F}"/>
              </a:ext>
            </a:extLst>
          </p:cNvPr>
          <p:cNvSpPr>
            <a:spLocks noGrp="1"/>
          </p:cNvSpPr>
          <p:nvPr/>
        </p:nvSpPr>
        <p:spPr>
          <a:xfrm>
            <a:off x="7219950" y="23336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ps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366F8F-2EBF-4469-AF62-54220F2F1D5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查看服務狀態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6EAF919B-DDD8-41F0-8C67-5CF550451F97}"/>
              </a:ext>
            </a:extLst>
          </p:cNvPr>
          <p:cNvSpPr>
            <a:spLocks noGrp="1"/>
          </p:cNvSpPr>
          <p:nvPr/>
        </p:nvSpPr>
        <p:spPr>
          <a:xfrm>
            <a:off x="6991350" y="29146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1F562FE-482C-49D0-8BD1-D4534579FDDF}"/>
              </a:ext>
            </a:extLst>
          </p:cNvPr>
          <p:cNvSpPr>
            <a:spLocks noGrp="1"/>
          </p:cNvSpPr>
          <p:nvPr/>
        </p:nvSpPr>
        <p:spPr>
          <a:xfrm>
            <a:off x="7219950" y="30765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logs -f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0B69731-D922-4375-8079-693FF55BC868}"/>
              </a:ext>
            </a:extLst>
          </p:cNvPr>
          <p:cNvSpPr>
            <a:spLocks noGrp="1"/>
          </p:cNvSpPr>
          <p:nvPr/>
        </p:nvSpPr>
        <p:spPr>
          <a:xfrm>
            <a:off x="8458200" y="30861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即時追蹤 log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4C47C1B-A54D-4819-A6CE-D7FDCF77FACB}"/>
              </a:ext>
            </a:extLst>
          </p:cNvPr>
          <p:cNvSpPr>
            <a:spLocks noGrp="1"/>
          </p:cNvSpPr>
          <p:nvPr/>
        </p:nvSpPr>
        <p:spPr>
          <a:xfrm>
            <a:off x="6991350" y="365760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038A22-D999-4DF3-870C-4DD1A0CD95FA}"/>
              </a:ext>
            </a:extLst>
          </p:cNvPr>
          <p:cNvSpPr>
            <a:spLocks noGrp="1"/>
          </p:cNvSpPr>
          <p:nvPr/>
        </p:nvSpPr>
        <p:spPr>
          <a:xfrm>
            <a:off x="7219950" y="381952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2CBA7B0-A1C3-4DB5-A89F-0D4DB12598AD}"/>
              </a:ext>
            </a:extLst>
          </p:cNvPr>
          <p:cNvSpPr>
            <a:spLocks noGrp="1"/>
          </p:cNvSpPr>
          <p:nvPr/>
        </p:nvSpPr>
        <p:spPr>
          <a:xfrm>
            <a:off x="8458200" y="382905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停止並刪除容器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6BF69F2D-400C-40E7-A125-AA0C50168D09}"/>
              </a:ext>
            </a:extLst>
          </p:cNvPr>
          <p:cNvSpPr>
            <a:spLocks noGrp="1"/>
          </p:cNvSpPr>
          <p:nvPr/>
        </p:nvSpPr>
        <p:spPr>
          <a:xfrm>
            <a:off x="6991350" y="4400550"/>
            <a:ext cx="4000500" cy="552450"/>
          </a:xfrm>
          <a:prstGeom prst="roundRect">
            <a:avLst>
              <a:gd name="adj" fmla="val 17241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3BEA021-5069-4937-91EF-1F78F821F7F5}"/>
              </a:ext>
            </a:extLst>
          </p:cNvPr>
          <p:cNvSpPr>
            <a:spLocks noGrp="1"/>
          </p:cNvSpPr>
          <p:nvPr/>
        </p:nvSpPr>
        <p:spPr>
          <a:xfrm>
            <a:off x="7219950" y="4562475"/>
            <a:ext cx="1066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A5B4FC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A5B4FC"/>
                </a:solidFill>
                <a:latin typeface="Consolas"/>
                <a:ea typeface="Consolas"/>
                <a:cs typeface="Consolas"/>
              </a:rPr>
              <a:t>down -v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4D6EE55-50D0-48B4-A4EB-15C929DBDB80}"/>
              </a:ext>
            </a:extLst>
          </p:cNvPr>
          <p:cNvSpPr>
            <a:spLocks noGrp="1"/>
          </p:cNvSpPr>
          <p:nvPr/>
        </p:nvSpPr>
        <p:spPr>
          <a:xfrm>
            <a:off x="8458200" y="4572000"/>
            <a:ext cx="2209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連 Volume 一起刪除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0BF0452-A79C-4757-B451-8F7B08093E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5DF2EB9-139B-4C86-9B52-9FC854A780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E9F3A51-4BAF-40F6-A319-E1287BEDB87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624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C5AF08A8-1CA5-415F-A56A-91254978F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BENEFITS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73CB3F6-CFAD-4065-9DC6-1EDF088022C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的四個好處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63FB9B-70C2-49D4-9B43-27D1C0682BEB}"/>
              </a:ext>
            </a:extLst>
          </p:cNvPr>
          <p:cNvSpPr>
            <a:spLocks noGrp="1"/>
          </p:cNvSpPr>
          <p:nvPr/>
        </p:nvSpPr>
        <p:spPr>
          <a:xfrm>
            <a:off x="1428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C4018D-EB74-4957-B32D-B265FCC114A8}"/>
              </a:ext>
            </a:extLst>
          </p:cNvPr>
          <p:cNvSpPr>
            <a:spLocks noGrp="1"/>
          </p:cNvSpPr>
          <p:nvPr/>
        </p:nvSpPr>
        <p:spPr>
          <a:xfrm>
            <a:off x="1657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一個檔案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806772B-D1C1-4DCF-AC38-DE56F2BCBA7D}"/>
              </a:ext>
            </a:extLst>
          </p:cNvPr>
          <p:cNvSpPr>
            <a:spLocks noGrp="1"/>
          </p:cNvSpPr>
          <p:nvPr/>
        </p:nvSpPr>
        <p:spPr>
          <a:xfrm>
            <a:off x="1657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不用記一堆長指令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6DF1DF70-32B8-4747-976A-0A15F688364A}"/>
              </a:ext>
            </a:extLst>
          </p:cNvPr>
          <p:cNvSpPr>
            <a:spLocks noGrp="1"/>
          </p:cNvSpPr>
          <p:nvPr/>
        </p:nvSpPr>
        <p:spPr>
          <a:xfrm>
            <a:off x="6762750" y="167640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51E87B-B6C9-445E-BAE4-3C853CDF4ADC}"/>
              </a:ext>
            </a:extLst>
          </p:cNvPr>
          <p:cNvSpPr>
            <a:spLocks noGrp="1"/>
          </p:cNvSpPr>
          <p:nvPr/>
        </p:nvSpPr>
        <p:spPr>
          <a:xfrm>
            <a:off x="6991350" y="186690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可重複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24E2F70-CAC7-4E18-AF5E-EA7499764026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compose.yaml 可以 commit 進 Git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14290D8-9C07-4E80-8711-9DB37C90CB52}"/>
              </a:ext>
            </a:extLst>
          </p:cNvPr>
          <p:cNvSpPr>
            <a:spLocks noGrp="1"/>
          </p:cNvSpPr>
          <p:nvPr/>
        </p:nvSpPr>
        <p:spPr>
          <a:xfrm>
            <a:off x="1428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520EF29-FBC8-4DBA-B1F6-66072797E1A0}"/>
              </a:ext>
            </a:extLst>
          </p:cNvPr>
          <p:cNvSpPr>
            <a:spLocks noGrp="1"/>
          </p:cNvSpPr>
          <p:nvPr/>
        </p:nvSpPr>
        <p:spPr>
          <a:xfrm>
            <a:off x="1657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自動網路（先會用）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B70660-CA94-4E2B-B79E-FEB9B1BD445D}"/>
              </a:ext>
            </a:extLst>
          </p:cNvPr>
          <p:cNvSpPr>
            <a:spLocks noGrp="1"/>
          </p:cNvSpPr>
          <p:nvPr/>
        </p:nvSpPr>
        <p:spPr>
          <a:xfrm>
            <a:off x="1657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服務可用名稱互相連線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5A5A794-4FF4-4B82-B827-20EA4181353E}"/>
              </a:ext>
            </a:extLst>
          </p:cNvPr>
          <p:cNvSpPr>
            <a:spLocks noGrp="1"/>
          </p:cNvSpPr>
          <p:nvPr/>
        </p:nvSpPr>
        <p:spPr>
          <a:xfrm>
            <a:off x="6762750" y="3714750"/>
            <a:ext cx="4000500" cy="1352550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9663F9F-A415-40EB-BD39-80D50BB9CFEC}"/>
              </a:ext>
            </a:extLst>
          </p:cNvPr>
          <p:cNvSpPr>
            <a:spLocks noGrp="1"/>
          </p:cNvSpPr>
          <p:nvPr/>
        </p:nvSpPr>
        <p:spPr>
          <a:xfrm>
            <a:off x="6991350" y="39052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一鍵控制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E3CB7EC-09A0-4E14-BC57-0C089A76E5D2}"/>
              </a:ext>
            </a:extLst>
          </p:cNvPr>
          <p:cNvSpPr>
            <a:spLocks noGrp="1"/>
          </p:cNvSpPr>
          <p:nvPr/>
        </p:nvSpPr>
        <p:spPr>
          <a:xfrm>
            <a:off x="6991350" y="4438650"/>
            <a:ext cx="3543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 / down 管理整組環境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31CBF9-3694-4C40-A431-FD18D7D10B1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46D5C91-A181-4190-B136-30D8EEB4FA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4087516-30F8-415E-B8F1-C8AD5AB475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460811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C66E06E0-BEB0-4178-A369-7BB6FDEDD16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B73B865-6C6A-499C-8CBF-2639E264D91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練習 P2：照解答跑 Nginx + Flask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266BF06-DC00-4A64-BEAF-FC459666301C}"/>
              </a:ext>
            </a:extLst>
          </p:cNvPr>
          <p:cNvSpPr>
            <a:spLocks noGrp="1"/>
          </p:cNvSpPr>
          <p:nvPr/>
        </p:nvSpPr>
        <p:spPr>
          <a:xfrm>
            <a:off x="857250" y="135255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先照講義完整解答跑起來，觀察 Nginx 如何用 service name 連到 Flask。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46C7190D-6B4B-45EE-B2D4-493F5F60E45A}"/>
              </a:ext>
            </a:extLst>
          </p:cNvPr>
          <p:cNvSpPr>
            <a:spLocks noGrp="1"/>
          </p:cNvSpPr>
          <p:nvPr/>
        </p:nvSpPr>
        <p:spPr>
          <a:xfrm>
            <a:off x="762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002DD2D-4B4C-42A7-BBC6-E4F76E23AD46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Nginx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319DD3-257A-4F15-A2EE-F73ABB4F41CF}"/>
              </a:ext>
            </a:extLst>
          </p:cNvPr>
          <p:cNvSpPr>
            <a:spLocks noGrp="1"/>
          </p:cNvSpPr>
          <p:nvPr/>
        </p:nvSpPr>
        <p:spPr>
          <a:xfrm>
            <a:off x="990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image: 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proxy_pass app:5000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102D4DC5-10DC-4D80-B36F-D23DA8BEFD5A}"/>
              </a:ext>
            </a:extLst>
          </p:cNvPr>
          <p:cNvSpPr>
            <a:spLocks noGrp="1"/>
          </p:cNvSpPr>
          <p:nvPr/>
        </p:nvSpPr>
        <p:spPr>
          <a:xfrm>
            <a:off x="3619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22132E-A5E5-46CF-A13D-1D5889D0627F}"/>
              </a:ext>
            </a:extLst>
          </p:cNvPr>
          <p:cNvSpPr>
            <a:spLocks noGrp="1"/>
          </p:cNvSpPr>
          <p:nvPr/>
        </p:nvSpPr>
        <p:spPr>
          <a:xfrm>
            <a:off x="3848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FAB6B3-BA8B-4E65-8C54-ACD5BB4C0E5A}"/>
              </a:ext>
            </a:extLst>
          </p:cNvPr>
          <p:cNvSpPr>
            <a:spLocks noGrp="1"/>
          </p:cNvSpPr>
          <p:nvPr/>
        </p:nvSpPr>
        <p:spPr>
          <a:xfrm>
            <a:off x="3848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不對主機開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C442DE65-C542-4780-9A80-24A41BD5CD88}"/>
              </a:ext>
            </a:extLst>
          </p:cNvPr>
          <p:cNvSpPr>
            <a:spLocks noGrp="1"/>
          </p:cNvSpPr>
          <p:nvPr/>
        </p:nvSpPr>
        <p:spPr>
          <a:xfrm>
            <a:off x="64770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2585D1C-8FCA-4317-80E7-24D62A894460}"/>
              </a:ext>
            </a:extLst>
          </p:cNvPr>
          <p:cNvSpPr>
            <a:spLocks noGrp="1"/>
          </p:cNvSpPr>
          <p:nvPr/>
        </p:nvSpPr>
        <p:spPr>
          <a:xfrm>
            <a:off x="67056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F46E5"/>
                </a:solidFill>
                <a:latin typeface="Aptos Display"/>
                <a:ea typeface="Aptos Display"/>
                <a:cs typeface="Aptos Display"/>
              </a:rPr>
              <a:t>network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4AE5AA4-496A-4696-825A-8F9DFC025220}"/>
              </a:ext>
            </a:extLst>
          </p:cNvPr>
          <p:cNvSpPr>
            <a:spLocks noGrp="1"/>
          </p:cNvSpPr>
          <p:nvPr/>
        </p:nvSpPr>
        <p:spPr>
          <a:xfrm>
            <a:off x="67056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用 app:5000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連到 Flask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55ED96AC-EBF9-412D-80AD-BB7BA28030CD}"/>
              </a:ext>
            </a:extLst>
          </p:cNvPr>
          <p:cNvSpPr>
            <a:spLocks noGrp="1"/>
          </p:cNvSpPr>
          <p:nvPr/>
        </p:nvSpPr>
        <p:spPr>
          <a:xfrm>
            <a:off x="9334500" y="2000250"/>
            <a:ext cx="2476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A3B52C-530F-4067-ACCD-039A9D1C0079}"/>
              </a:ext>
            </a:extLst>
          </p:cNvPr>
          <p:cNvSpPr>
            <a:spLocks noGrp="1"/>
          </p:cNvSpPr>
          <p:nvPr/>
        </p:nvSpPr>
        <p:spPr>
          <a:xfrm>
            <a:off x="9563100" y="21907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驗證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AB6DC46-D592-47B8-A182-F00B111006CA}"/>
              </a:ext>
            </a:extLst>
          </p:cNvPr>
          <p:cNvSpPr>
            <a:spLocks noGrp="1"/>
          </p:cNvSpPr>
          <p:nvPr/>
        </p:nvSpPr>
        <p:spPr>
          <a:xfrm>
            <a:off x="9563100" y="2686050"/>
            <a:ext cx="2019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compose up -d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瀏覽器開 8080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exec web wget app:5000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E317CC9-3198-42B7-9BBF-B44163AC38A5}"/>
              </a:ext>
            </a:extLst>
          </p:cNvPr>
          <p:cNvSpPr>
            <a:spLocks noGrp="1"/>
          </p:cNvSpPr>
          <p:nvPr/>
        </p:nvSpPr>
        <p:spPr>
          <a:xfrm>
            <a:off x="2381250" y="4400550"/>
            <a:ext cx="7429500" cy="1238250"/>
          </a:xfrm>
          <a:prstGeom prst="roundRect">
            <a:avLst>
              <a:gd name="adj" fmla="val 769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0D2942-D235-4BB8-9686-F84C4C32C6A5}"/>
              </a:ext>
            </a:extLst>
          </p:cNvPr>
          <p:cNvSpPr>
            <a:spLocks noGrp="1"/>
          </p:cNvSpPr>
          <p:nvPr/>
        </p:nvSpPr>
        <p:spPr>
          <a:xfrm>
            <a:off x="2552700" y="4562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85678687-1712-4279-97BA-265FDAD7BEFE}"/>
              </a:ext>
            </a:extLst>
          </p:cNvPr>
          <p:cNvSpPr>
            <a:spLocks noGrp="1"/>
          </p:cNvSpPr>
          <p:nvPr/>
        </p:nvSpPr>
        <p:spPr>
          <a:xfrm>
            <a:off x="2724150" y="4562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2A3BF7E-6F76-493E-A9A1-D0582C1E672A}"/>
              </a:ext>
            </a:extLst>
          </p:cNvPr>
          <p:cNvSpPr>
            <a:spLocks noGrp="1"/>
          </p:cNvSpPr>
          <p:nvPr/>
        </p:nvSpPr>
        <p:spPr>
          <a:xfrm>
            <a:off x="2895600" y="4562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C9516F-C9AF-481D-9821-46A21321175D}"/>
              </a:ext>
            </a:extLst>
          </p:cNvPr>
          <p:cNvSpPr>
            <a:spLocks noGrp="1"/>
          </p:cNvSpPr>
          <p:nvPr/>
        </p:nvSpPr>
        <p:spPr>
          <a:xfrm>
            <a:off x="2590800" y="4819650"/>
            <a:ext cx="7010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 &amp;&amp; docker compose up -d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 &amp;&amp; docker compose exec web wget app:5000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9FFDE36-270B-49FB-B8FF-ACBF238A59D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AD94594-5F55-4231-A50B-98EDA53B4C7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35C865D-AAA8-477E-9AF3-E7AA547F09A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12828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F364CA04-9970-4B23-859B-7B554CD48367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13302FD-2FF9-4CF6-A594-74C37F108E6E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23B0136-4615-44B6-858C-3187F16F94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5AF73C6B-4F9A-4EE7-9112-9ACD73CA5F4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D534A58-388B-45A0-ACFE-A1057231988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compose-flask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A12A03C-B4E1-4C98-9FE4-16BFA62FE74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16DDE08F-61AF-4B4B-AF89-7B087CC4D39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323884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96D58D26-6956-47B3-B68B-681BAF0219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COMPOSE LAB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31F5298-34CB-439F-B4CF-B8B8494FEEB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下一段：Nginx + Flask + MySQL 完整實作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762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990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990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nginx:alpine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8080:80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proxy app:5000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36195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15" name="app-bg 15">
            <a:extLst>
              <a:ext uri="{FF2B5EF4-FFF2-40B4-BE49-F238E27FC236}">
                <a16:creationId xmlns:a16="http://schemas.microsoft.com/office/drawing/2014/main" id="{D7543E95-E053-4F61-BD58-361C6115308F}"/>
              </a:ext>
            </a:extLst>
          </p:cNvPr>
          <p:cNvSpPr>
            <a:spLocks noGrp="1"/>
          </p:cNvSpPr>
          <p:nvPr/>
        </p:nvSpPr>
        <p:spPr>
          <a:xfrm>
            <a:off x="467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app-title 16">
            <a:extLst>
              <a:ext uri="{FF2B5EF4-FFF2-40B4-BE49-F238E27FC236}">
                <a16:creationId xmlns:a16="http://schemas.microsoft.com/office/drawing/2014/main" id="{FBA7E642-D611-41EC-8307-CA62384A36CB}"/>
              </a:ext>
            </a:extLst>
          </p:cNvPr>
          <p:cNvSpPr>
            <a:spLocks noGrp="1"/>
          </p:cNvSpPr>
          <p:nvPr/>
        </p:nvSpPr>
        <p:spPr>
          <a:xfrm>
            <a:off x="489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app</a:t>
            </a:r>
          </a:p>
        </p:txBody>
      </p:sp>
      <p:sp>
        <p:nvSpPr>
          <p:cNvPr id="17" name="app-body 17">
            <a:extLst>
              <a:ext uri="{FF2B5EF4-FFF2-40B4-BE49-F238E27FC236}">
                <a16:creationId xmlns:a16="http://schemas.microsoft.com/office/drawing/2014/main" id="{412E79EA-94BE-40E7-AAAF-6A210C029C35}"/>
              </a:ext>
            </a:extLst>
          </p:cNvPr>
          <p:cNvSpPr>
            <a:spLocks noGrp="1"/>
          </p:cNvSpPr>
          <p:nvPr/>
        </p:nvSpPr>
        <p:spPr>
          <a:xfrm>
            <a:off x="489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expose 5000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DB_HOST=db</a:t>
            </a:r>
          </a:p>
        </p:txBody>
      </p:sp>
      <p:sp>
        <p:nvSpPr>
          <p:cNvPr id="18" name="arrow 18">
            <a:extLst>
              <a:ext uri="{FF2B5EF4-FFF2-40B4-BE49-F238E27FC236}">
                <a16:creationId xmlns:a16="http://schemas.microsoft.com/office/drawing/2014/main" id="{3DEE1030-DDDB-4356-AFC2-A265DB9238EB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914400" cy="361950"/>
          </a:xfrm>
          <a:prstGeom prst="rightArrow">
            <a:avLst/>
          </a:prstGeom>
          <a:solidFill>
            <a:srgbClr val="00A97F"/>
          </a:solidFill>
          <a:ln w="0">
            <a:solidFill>
              <a:srgbClr val="00A97F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ECBE324-C5C4-40A4-A155-F0AD81F28311}"/>
              </a:ext>
            </a:extLst>
          </p:cNvPr>
          <p:cNvSpPr>
            <a:spLocks noGrp="1"/>
          </p:cNvSpPr>
          <p:nvPr/>
        </p:nvSpPr>
        <p:spPr>
          <a:xfrm>
            <a:off x="8580000" y="219075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8C96E05-42D6-426F-9E39-F26B5455104E}"/>
              </a:ext>
            </a:extLst>
          </p:cNvPr>
          <p:cNvSpPr>
            <a:spLocks noGrp="1"/>
          </p:cNvSpPr>
          <p:nvPr/>
        </p:nvSpPr>
        <p:spPr>
          <a:xfrm>
            <a:off x="8808600" y="23812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26342-4228-40DB-83E4-AFD769D68D97}"/>
              </a:ext>
            </a:extLst>
          </p:cNvPr>
          <p:cNvSpPr>
            <a:spLocks noGrp="1"/>
          </p:cNvSpPr>
          <p:nvPr/>
        </p:nvSpPr>
        <p:spPr>
          <a:xfrm>
            <a:off x="8808600" y="2800350"/>
            <a:ext cx="24003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mysql:8.0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3306:3306</a:t>
            </a:r>
          </a:p>
          <a:p>
            <a:pPr algn="ctr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db-data:/var/lib/mysql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5F95F12-5EAE-4C8C-8431-DF60F81EDB97}"/>
              </a:ext>
            </a:extLst>
          </p:cNvPr>
          <p:cNvSpPr>
            <a:spLocks noGrp="1"/>
          </p:cNvSpPr>
          <p:nvPr/>
        </p:nvSpPr>
        <p:spPr>
          <a:xfrm>
            <a:off x="4057650" y="4495800"/>
            <a:ext cx="4076700" cy="609600"/>
          </a:xfrm>
          <a:prstGeom prst="roundRect">
            <a:avLst>
              <a:gd name="adj" fmla="val 1562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E4F2BA7-319A-4B4F-9D60-CB172BB2364E}"/>
              </a:ext>
            </a:extLst>
          </p:cNvPr>
          <p:cNvSpPr>
            <a:spLocks noGrp="1"/>
          </p:cNvSpPr>
          <p:nvPr/>
        </p:nvSpPr>
        <p:spPr>
          <a:xfrm>
            <a:off x="4362450" y="4686300"/>
            <a:ext cx="346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這段由老師帶著做，重點是 Nginx 用 app、Flask 用 db 兩段 service name。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D6537A2-DAB9-4330-A390-0B2C7290ED4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37674C-273F-4B0D-BD12-98A9541108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C8BA44-EAEF-42EF-969D-58C83BE64F2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27227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F5F6E50D-6D30-4F37-8FA5-007A176C56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COMPOSE.YAML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19BC23C-60C0-421F-AE44-9C30942A389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+ Flask + MySQL：三個 service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A3C863A-6120-4B59-846C-3E1502B0227D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6191250" cy="4324350"/>
          </a:xfrm>
          <a:prstGeom prst="roundRect">
            <a:avLst>
              <a:gd name="adj" fmla="val 220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EE3B805-8BB9-4395-B89E-B3E7CB10A4D0}"/>
              </a:ext>
            </a:extLst>
          </p:cNvPr>
          <p:cNvSpPr>
            <a:spLocks noGrp="1"/>
          </p:cNvSpPr>
          <p:nvPr/>
        </p:nvSpPr>
        <p:spPr>
          <a:xfrm>
            <a:off x="952500" y="15144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A6AC720-D60C-4834-843F-1D41CE4E28F4}"/>
              </a:ext>
            </a:extLst>
          </p:cNvPr>
          <p:cNvSpPr>
            <a:spLocks noGrp="1"/>
          </p:cNvSpPr>
          <p:nvPr/>
        </p:nvSpPr>
        <p:spPr>
          <a:xfrm>
            <a:off x="1123950" y="15144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D8E5DA2-972C-482D-9CA4-75FB49827877}"/>
              </a:ext>
            </a:extLst>
          </p:cNvPr>
          <p:cNvSpPr>
            <a:spLocks noGrp="1"/>
          </p:cNvSpPr>
          <p:nvPr/>
        </p:nvSpPr>
        <p:spPr>
          <a:xfrm>
            <a:off x="1295400" y="15144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B22E41-4D3A-47CF-B07B-370413B3D7FB}"/>
              </a:ext>
            </a:extLst>
          </p:cNvPr>
          <p:cNvSpPr>
            <a:spLocks noGrp="1"/>
          </p:cNvSpPr>
          <p:nvPr/>
        </p:nvSpPr>
        <p:spPr>
          <a:xfrm>
            <a:off x="990600" y="1771650"/>
            <a:ext cx="5772150" cy="3771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 ["8080:80"]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[app]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 ["5000"]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 { DB_HOST: db }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 [db]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 [db-data:/var/lib/mysql]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 { db-data: }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3E9D994-B65F-48F1-9CF3-8CD8B4E21661}"/>
              </a:ext>
            </a:extLst>
          </p:cNvPr>
          <p:cNvSpPr>
            <a:spLocks noGrp="1"/>
          </p:cNvSpPr>
          <p:nvPr/>
        </p:nvSpPr>
        <p:spPr>
          <a:xfrm>
            <a:off x="7715250" y="17907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6912E67-435C-4960-BA49-8E1581214B84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web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651D17A-B978-4D35-86B6-E23C0034438E}"/>
              </a:ext>
            </a:extLst>
          </p:cNvPr>
          <p:cNvSpPr>
            <a:spLocks noGrp="1"/>
          </p:cNvSpPr>
          <p:nvPr/>
        </p:nvSpPr>
        <p:spPr>
          <a:xfrm>
            <a:off x="7943850" y="24193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Nginx 對外 8080，proxy 到 app:5000。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868C442-7CEE-4950-9DB0-596E61080983}"/>
              </a:ext>
            </a:extLst>
          </p:cNvPr>
          <p:cNvSpPr>
            <a:spLocks noGrp="1"/>
          </p:cNvSpPr>
          <p:nvPr/>
        </p:nvSpPr>
        <p:spPr>
          <a:xfrm>
            <a:off x="7715250" y="3429000"/>
            <a:ext cx="3048000" cy="1123950"/>
          </a:xfrm>
          <a:prstGeom prst="roundRect">
            <a:avLst>
              <a:gd name="adj" fmla="val 1016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6B65744-0F9F-4D7E-B829-53961A8FD0D6}"/>
              </a:ext>
            </a:extLst>
          </p:cNvPr>
          <p:cNvSpPr>
            <a:spLocks noGrp="1"/>
          </p:cNvSpPr>
          <p:nvPr/>
        </p:nvSpPr>
        <p:spPr>
          <a:xfrm>
            <a:off x="7943850" y="361950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app / db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1A815E-DD04-4E3B-8124-FF9D09E70645}"/>
              </a:ext>
            </a:extLst>
          </p:cNvPr>
          <p:cNvSpPr>
            <a:spLocks noGrp="1"/>
          </p:cNvSpPr>
          <p:nvPr/>
        </p:nvSpPr>
        <p:spPr>
          <a:xfrm>
            <a:off x="7943850" y="4057650"/>
            <a:ext cx="25908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Flask 用 DB_HOST=db 連 MySQL。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B347B9-D0D3-4479-9F09-2EE754AF1A1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04A8BA3-F032-4E41-A2B0-1B6AE28E19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419D7E4-41D6-413F-86B3-143FF8D6D59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704948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範例程式碼：app/app.py（Nginx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範例程式碼：app/requirements.txt（Nginx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範例程式碼：nginx/default.conf（Nginx + Flask + MySQL）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3D84B4A-E046-40ED-9E71-096B3DC5790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191322-06B3-4D73-A1A7-F79E43954A3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1/3）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F27A23E-710D-4343-A225-6D0587756BBD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827D97E-A273-4D25-A370-AEE82808B959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E8AAFA7A-AC22-4BB3-B190-C54852FABD0C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0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C199D8C1-384E-4F9D-B08A-D6059DA79F3B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739286C1-B53C-4A23-8195-4CA3B90AF435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430890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24F5EF18-1A9B-4B89-92AF-49233194FD3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364DB57-A4B1-45A8-8A74-18BFB1BEAE2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2/3）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4F9B1FE-66EA-4F8C-93D5-40458BEB753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EB565F5-3DC6-43CA-BA4A-491958A83D8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BE462DF9-535B-47C0-B625-08597191E45E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B8F98F6-AD64-489C-9A27-AE918DCC719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3D9FDE10-2783-4745-BAD1-C61D862DEBC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962730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B967A86D-740C-453C-85CE-ECDE38C0579A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667399-5BCE-443C-9926-36A4AF0A95B9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範例程式碼：compose.yaml（Nginx + Flask + MySQL 3/3）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1F3ECF3-6798-4AA7-82D4-8313601A3442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94B6915-7C30-48F8-A652-A5345B30C4E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C2D6B00-AB5A-4C0A-BA55-55ECD129A185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44A80664-84B6-43D4-AE6E-89A63E279B8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4B7EBB24-9CFC-4402-BDBC-D3FF27686EA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148321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410E04D7-C178-4CC5-8F7D-D54FC634B7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VERIFY SERVICES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5018045-3CE1-4E1F-90F7-174D5AB2BA1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啟動後用三個訊號確認服務正常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C09FB19-6852-4793-8696-402AF282377E}"/>
              </a:ext>
            </a:extLst>
          </p:cNvPr>
          <p:cNvSpPr>
            <a:spLocks noGrp="1"/>
          </p:cNvSpPr>
          <p:nvPr/>
        </p:nvSpPr>
        <p:spPr>
          <a:xfrm>
            <a:off x="11049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03D5A7-C9C2-4A06-A207-7FBE9A97DEB5}"/>
              </a:ext>
            </a:extLst>
          </p:cNvPr>
          <p:cNvSpPr>
            <a:spLocks noGrp="1"/>
          </p:cNvSpPr>
          <p:nvPr/>
        </p:nvSpPr>
        <p:spPr>
          <a:xfrm>
            <a:off x="13335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94DBD69-CDD9-4A2D-AED5-C55FDDBD21FD}"/>
              </a:ext>
            </a:extLst>
          </p:cNvPr>
          <p:cNvSpPr>
            <a:spLocks noGrp="1"/>
          </p:cNvSpPr>
          <p:nvPr/>
        </p:nvSpPr>
        <p:spPr>
          <a:xfrm>
            <a:off x="13335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三個服務都應該是 Up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721C4-EA40-4B64-88CE-165FD05DF1F5}"/>
              </a:ext>
            </a:extLst>
          </p:cNvPr>
          <p:cNvSpPr>
            <a:spLocks noGrp="1"/>
          </p:cNvSpPr>
          <p:nvPr/>
        </p:nvSpPr>
        <p:spPr>
          <a:xfrm>
            <a:off x="44577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A4E409-8EE5-439F-B1BF-60FEC30411AB}"/>
              </a:ext>
            </a:extLst>
          </p:cNvPr>
          <p:cNvSpPr>
            <a:spLocks noGrp="1"/>
          </p:cNvSpPr>
          <p:nvPr/>
        </p:nvSpPr>
        <p:spPr>
          <a:xfrm>
            <a:off x="46863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86"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B1EBC94-9D0A-4C93-B001-797300F0F64A}"/>
              </a:ext>
            </a:extLst>
          </p:cNvPr>
          <p:cNvSpPr>
            <a:spLocks noGrp="1"/>
          </p:cNvSpPr>
          <p:nvPr/>
        </p:nvSpPr>
        <p:spPr>
          <a:xfrm>
            <a:off x="46863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Nginx、Flask 與 MySQL 沒有錯誤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FE2CB71-7B50-4A2A-A588-518F70C79896}"/>
              </a:ext>
            </a:extLst>
          </p:cNvPr>
          <p:cNvSpPr>
            <a:spLocks noGrp="1"/>
          </p:cNvSpPr>
          <p:nvPr/>
        </p:nvSpPr>
        <p:spPr>
          <a:xfrm>
            <a:off x="7810500" y="19431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6E8068-854B-4FA6-81A0-AD52772501BD}"/>
              </a:ext>
            </a:extLst>
          </p:cNvPr>
          <p:cNvSpPr>
            <a:spLocks noGrp="1"/>
          </p:cNvSpPr>
          <p:nvPr/>
        </p:nvSpPr>
        <p:spPr>
          <a:xfrm>
            <a:off x="8039100" y="2266950"/>
            <a:ext cx="2400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瀏覽器 / 工具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7C817E8-0011-4826-8F01-798A70884307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2400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localhost:8080 看 JSON；localhost:3306 連 MySQL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740A2432-9FD1-40E5-B2FC-3083BBEC00BC}"/>
              </a:ext>
            </a:extLst>
          </p:cNvPr>
          <p:cNvSpPr>
            <a:spLocks noGrp="1"/>
          </p:cNvSpPr>
          <p:nvPr/>
        </p:nvSpPr>
        <p:spPr>
          <a:xfrm>
            <a:off x="3143250" y="4838700"/>
            <a:ext cx="5905500" cy="1028700"/>
          </a:xfrm>
          <a:prstGeom prst="roundRect">
            <a:avLst>
              <a:gd name="adj" fmla="val 92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E9EB53A2-4F81-46F8-A271-EDA4B5C9105C}"/>
              </a:ext>
            </a:extLst>
          </p:cNvPr>
          <p:cNvSpPr>
            <a:spLocks noGrp="1"/>
          </p:cNvSpPr>
          <p:nvPr/>
        </p:nvSpPr>
        <p:spPr>
          <a:xfrm>
            <a:off x="3314700" y="5000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746AA9D5-A746-4448-9710-5D15E8FB4F61}"/>
              </a:ext>
            </a:extLst>
          </p:cNvPr>
          <p:cNvSpPr>
            <a:spLocks noGrp="1"/>
          </p:cNvSpPr>
          <p:nvPr/>
        </p:nvSpPr>
        <p:spPr>
          <a:xfrm>
            <a:off x="3486150" y="5000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7CFE7939-1036-4BEE-ABF2-789D02FF5655}"/>
              </a:ext>
            </a:extLst>
          </p:cNvPr>
          <p:cNvSpPr>
            <a:spLocks noGrp="1"/>
          </p:cNvSpPr>
          <p:nvPr/>
        </p:nvSpPr>
        <p:spPr>
          <a:xfrm>
            <a:off x="3657600" y="5000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7B639E-D924-4BB1-AFF6-27B5738A39B5}"/>
              </a:ext>
            </a:extLst>
          </p:cNvPr>
          <p:cNvSpPr>
            <a:spLocks noGrp="1"/>
          </p:cNvSpPr>
          <p:nvPr/>
        </p:nvSpPr>
        <p:spPr>
          <a:xfrm>
            <a:off x="3352800" y="5257800"/>
            <a:ext cx="5486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5527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config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up -d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ps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compose logs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42A01B3-454B-441B-94D2-D57C8015926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27B77B-999F-42C9-8BBD-566A42BFF9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0C2F858-4505-4B32-A68F-4653D2DEAA9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516572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305CE85E-B951-41C2-A31D-898FB0D1E7C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MYSQL INSIDE COMPOSE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4803DDD-2EDE-461E-8408-9CEC6BD8AA0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 demo-mysql 確認 Flask 寫入資料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A0FDC53-9C70-463C-B8D3-71F1E8B8BD80}"/>
              </a:ext>
            </a:extLst>
          </p:cNvPr>
          <p:cNvSpPr>
            <a:spLocks noGrp="1"/>
          </p:cNvSpPr>
          <p:nvPr/>
        </p:nvSpPr>
        <p:spPr>
          <a:xfrm>
            <a:off x="819150" y="1428750"/>
            <a:ext cx="6858000" cy="3505200"/>
          </a:xfrm>
          <a:prstGeom prst="roundRect">
            <a:avLst>
              <a:gd name="adj" fmla="val 27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5C5C32F-EB97-468B-A621-C145EADC9CAD}"/>
              </a:ext>
            </a:extLst>
          </p:cNvPr>
          <p:cNvSpPr>
            <a:spLocks noGrp="1"/>
          </p:cNvSpPr>
          <p:nvPr/>
        </p:nvSpPr>
        <p:spPr>
          <a:xfrm>
            <a:off x="99060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46E790F-732F-4F34-943E-F987B54E31BA}"/>
              </a:ext>
            </a:extLst>
          </p:cNvPr>
          <p:cNvSpPr>
            <a:spLocks noGrp="1"/>
          </p:cNvSpPr>
          <p:nvPr/>
        </p:nvSpPr>
        <p:spPr>
          <a:xfrm>
            <a:off x="116205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327BB44-9687-4C34-B84D-7207D9887591}"/>
              </a:ext>
            </a:extLst>
          </p:cNvPr>
          <p:cNvSpPr>
            <a:spLocks noGrp="1"/>
          </p:cNvSpPr>
          <p:nvPr/>
        </p:nvSpPr>
        <p:spPr>
          <a:xfrm>
            <a:off x="133350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BD62FC-5561-4062-82C4-F68DF7FC29EF}"/>
              </a:ext>
            </a:extLst>
          </p:cNvPr>
          <p:cNvSpPr>
            <a:spLocks noGrp="1"/>
          </p:cNvSpPr>
          <p:nvPr/>
        </p:nvSpPr>
        <p:spPr>
          <a:xfrm>
            <a:off x="1028700" y="1847850"/>
            <a:ext cx="6438900" cy="2952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demo-mysql mysql -u demo_user -p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SHOW DATABASES;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 demo_db;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SELECT * FROM visits;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EXIT;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112AC9D-6ED5-4411-978E-DA57123544BF}"/>
              </a:ext>
            </a:extLst>
          </p:cNvPr>
          <p:cNvSpPr>
            <a:spLocks noGrp="1"/>
          </p:cNvSpPr>
          <p:nvPr/>
        </p:nvSpPr>
        <p:spPr>
          <a:xfrm>
            <a:off x="8172450" y="2038350"/>
            <a:ext cx="2857500" cy="1600200"/>
          </a:xfrm>
          <a:prstGeom prst="roundRect">
            <a:avLst>
              <a:gd name="adj" fmla="val 7143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E612176-FA1F-492C-B481-489F034269ED}"/>
              </a:ext>
            </a:extLst>
          </p:cNvPr>
          <p:cNvSpPr>
            <a:spLocks noGrp="1"/>
          </p:cNvSpPr>
          <p:nvPr/>
        </p:nvSpPr>
        <p:spPr>
          <a:xfrm>
            <a:off x="8401050" y="22288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這一步驗證什麼？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07A063A-3D12-4F65-B219-669D15634A99}"/>
              </a:ext>
            </a:extLst>
          </p:cNvPr>
          <p:cNvSpPr>
            <a:spLocks noGrp="1"/>
          </p:cNvSpPr>
          <p:nvPr/>
        </p:nvSpPr>
        <p:spPr>
          <a:xfrm>
            <a:off x="8401050" y="2647950"/>
            <a:ext cx="240030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不是只看容器 Up，而是確認 Flask 真的透過 db 寫入 MySQL。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14DE522-3962-44B7-879B-6F43B4EB0C8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615CFC8-DC87-441C-828E-7A339002929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B4A4B2D-FD34-4D67-86F2-E7856800CF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8905043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C626EA8-5ACB-4C15-8E32-33E2A508F5C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SHUTDOWN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4547F5-4919-40F2-AA7C-3CAA94EBED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down 與 down -v 的差別很重要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22086E6-93B6-4355-91D6-7E6E7C3D990C}"/>
              </a:ext>
            </a:extLst>
          </p:cNvPr>
          <p:cNvSpPr>
            <a:spLocks noGrp="1"/>
          </p:cNvSpPr>
          <p:nvPr/>
        </p:nvSpPr>
        <p:spPr>
          <a:xfrm>
            <a:off x="13144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E8BBD2-0899-4331-B487-02FBF5523C18}"/>
              </a:ext>
            </a:extLst>
          </p:cNvPr>
          <p:cNvSpPr>
            <a:spLocks noGrp="1"/>
          </p:cNvSpPr>
          <p:nvPr/>
        </p:nvSpPr>
        <p:spPr>
          <a:xfrm>
            <a:off x="15430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 down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156D9E-6826-40A6-B44D-814EB1169666}"/>
              </a:ext>
            </a:extLst>
          </p:cNvPr>
          <p:cNvSpPr>
            <a:spLocks noGrp="1"/>
          </p:cNvSpPr>
          <p:nvPr/>
        </p:nvSpPr>
        <p:spPr>
          <a:xfrm>
            <a:off x="154305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 Compose 建立的容器與網路。Named Volume 保留。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EB3A4F8-1CDE-4C92-A821-A95167D2A242}"/>
              </a:ext>
            </a:extLst>
          </p:cNvPr>
          <p:cNvSpPr>
            <a:spLocks noGrp="1"/>
          </p:cNvSpPr>
          <p:nvPr/>
        </p:nvSpPr>
        <p:spPr>
          <a:xfrm>
            <a:off x="67818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8D6E432-B905-4C04-9DBE-C113D9B8F3FA}"/>
              </a:ext>
            </a:extLst>
          </p:cNvPr>
          <p:cNvSpPr>
            <a:spLocks noGrp="1"/>
          </p:cNvSpPr>
          <p:nvPr/>
        </p:nvSpPr>
        <p:spPr>
          <a:xfrm>
            <a:off x="70104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compose down -v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D596DCB-B197-4B65-8FD5-012C10533421}"/>
              </a:ext>
            </a:extLst>
          </p:cNvPr>
          <p:cNvSpPr>
            <a:spLocks noGrp="1"/>
          </p:cNvSpPr>
          <p:nvPr/>
        </p:nvSpPr>
        <p:spPr>
          <a:xfrm>
            <a:off x="7010400" y="2667000"/>
            <a:ext cx="363855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停止並刪除容器、網路，連 Volume 也刪掉。資料庫資料會消失。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2E884B-1C98-40BA-B297-85414312D778}"/>
              </a:ext>
            </a:extLst>
          </p:cNvPr>
          <p:cNvSpPr>
            <a:spLocks noGrp="1"/>
          </p:cNvSpPr>
          <p:nvPr/>
        </p:nvSpPr>
        <p:spPr>
          <a:xfrm>
            <a:off x="1885950" y="4953000"/>
            <a:ext cx="8420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開發清空環境可以用 -v；只是暫停服務不要加 -v。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05F853-13AE-4244-B1CE-AF98E63F8F6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012212-7EBF-49BC-83F2-89D8AA1ECAE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F515E6C-9207-4057-BE42-FC3779D8A3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4476488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91F89E3-6C5E-4260-A6A3-AF21573AC7E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MULTI-VERSION AND CLEANUP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EEC029D-3F16-46BA-A7DB-A62433F3A81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讓多版本 MySQL 可以並存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DEB307-D7E5-49E1-88CE-E0E75862FE61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10744200" cy="2400300"/>
          </a:xfrm>
          <a:prstGeom prst="roundRect">
            <a:avLst>
              <a:gd name="adj" fmla="val 39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61234011-8807-4B56-8352-C679411F2C0B}"/>
              </a:ext>
            </a:extLst>
          </p:cNvPr>
          <p:cNvSpPr>
            <a:spLocks noGrp="1"/>
          </p:cNvSpPr>
          <p:nvPr/>
        </p:nvSpPr>
        <p:spPr>
          <a:xfrm>
            <a:off x="89535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35F81F8B-615F-4837-A652-73E2F3E3B50C}"/>
              </a:ext>
            </a:extLst>
          </p:cNvPr>
          <p:cNvSpPr>
            <a:spLocks noGrp="1"/>
          </p:cNvSpPr>
          <p:nvPr/>
        </p:nvSpPr>
        <p:spPr>
          <a:xfrm>
            <a:off x="106680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E23743D-F912-4F9B-88D8-2E6FF593C594}"/>
              </a:ext>
            </a:extLst>
          </p:cNvPr>
          <p:cNvSpPr>
            <a:spLocks noGrp="1"/>
          </p:cNvSpPr>
          <p:nvPr/>
        </p:nvSpPr>
        <p:spPr>
          <a:xfrm>
            <a:off x="123825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EF7957A-3D1E-4FDE-94C2-C5A784DEDD6C}"/>
              </a:ext>
            </a:extLst>
          </p:cNvPr>
          <p:cNvSpPr>
            <a:spLocks noGrp="1"/>
          </p:cNvSpPr>
          <p:nvPr/>
        </p:nvSpPr>
        <p:spPr>
          <a:xfrm>
            <a:off x="933450" y="1885950"/>
            <a:ext cx="103251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D68711-7153-4D0E-9FA6-2335EB7A2B52}"/>
              </a:ext>
            </a:extLst>
          </p:cNvPr>
          <p:cNvSpPr>
            <a:spLocks noGrp="1"/>
          </p:cNvSpPr>
          <p:nvPr/>
        </p:nvSpPr>
        <p:spPr>
          <a:xfrm>
            <a:off x="12382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9AC709-5020-498E-8BD2-89C90C44EBC2}"/>
              </a:ext>
            </a:extLst>
          </p:cNvPr>
          <p:cNvSpPr>
            <a:spLocks noGrp="1"/>
          </p:cNvSpPr>
          <p:nvPr/>
        </p:nvSpPr>
        <p:spPr>
          <a:xfrm>
            <a:off x="14668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關鍵觀念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CEEE478-6962-4E69-8885-4F765EB7BA62}"/>
              </a:ext>
            </a:extLst>
          </p:cNvPr>
          <p:cNvSpPr>
            <a:spLocks noGrp="1"/>
          </p:cNvSpPr>
          <p:nvPr/>
        </p:nvSpPr>
        <p:spPr>
          <a:xfrm>
            <a:off x="14668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兩個容器內部都是 3306；主機對外 port 要錯開成 3306 和 3307。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776D02B-A812-485C-844A-499740EF2B5F}"/>
              </a:ext>
            </a:extLst>
          </p:cNvPr>
          <p:cNvSpPr>
            <a:spLocks noGrp="1"/>
          </p:cNvSpPr>
          <p:nvPr/>
        </p:nvSpPr>
        <p:spPr>
          <a:xfrm>
            <a:off x="6762750" y="4362450"/>
            <a:ext cx="4191000" cy="1162050"/>
          </a:xfrm>
          <a:prstGeom prst="roundRect">
            <a:avLst>
              <a:gd name="adj" fmla="val 98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9495787-BA55-4676-BDE2-78CBF0168A04}"/>
              </a:ext>
            </a:extLst>
          </p:cNvPr>
          <p:cNvSpPr>
            <a:spLocks noGrp="1"/>
          </p:cNvSpPr>
          <p:nvPr/>
        </p:nvSpPr>
        <p:spPr>
          <a:xfrm>
            <a:off x="6991350" y="45529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清理提醒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6E5DF6C-0AF9-48D3-97B1-9ABFCC966771}"/>
              </a:ext>
            </a:extLst>
          </p:cNvPr>
          <p:cNvSpPr>
            <a:spLocks noGrp="1"/>
          </p:cNvSpPr>
          <p:nvPr/>
        </p:nvSpPr>
        <p:spPr>
          <a:xfrm>
            <a:off x="6991350" y="4972050"/>
            <a:ext cx="37338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16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prune、image prune、system prune -a 都要確認後再執行。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830DF6-7690-4190-8C76-C0DF7BF93A2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BB9AAF-C80D-429C-9222-08DCC4A7A6F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D73D08D-4626-4010-9617-F8EB7EB24A6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1277486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7DB311C-8E8E-4C76-9D74-CF1698ED40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69F863F-45E0-46F1-94DB-34D0ACAACA4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1/2）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CA4C807-06C5-4997-85A5-33BCFD01DEDB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694DFF00-7A47-491B-9D3A-47A6E607FDE5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3E66F7-D4F5-4E63-BD02-1D1B4D8676FA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0577E29-140E-4EAF-BD3F-7DE317364DC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88DE876-D7EA-415F-9D42-45C02E5114A6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68312724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6E71E3EE-27C0-4E02-BED7-ECE531FAC4CD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5E04A94C-942F-44E0-84AA-5908B8B844DD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範例程式碼：compose.yaml（多版本 MySQL 2/2）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AB1A58-1566-42E2-8650-EFD37FDED80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6EDE3A0-0B39-4C30-B378-FDB5C416291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2BD9E99F-CF50-40C9-A22D-1FF8EF07399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68E727E-9D59-437D-B5C5-DAEABF3B0EB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E06D9B8-FC21-4B8D-8800-479C12044EE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1922012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72F684B1-2C17-4B01-951D-AB4E5E6EE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44A60BE-DDC1-437D-A99C-565B3340807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P3：多版本 MySQL 並存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CAD7A30-5DB5-4B9C-94F4-28F19E0EBA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2552700"/>
          </a:xfrm>
          <a:prstGeom prst="roundRect">
            <a:avLst>
              <a:gd name="adj" fmla="val 373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A9BF3D3-9B99-4870-9992-AA91DAB47D81}"/>
              </a:ext>
            </a:extLst>
          </p:cNvPr>
          <p:cNvSpPr>
            <a:spLocks noGrp="1"/>
          </p:cNvSpPr>
          <p:nvPr/>
        </p:nvSpPr>
        <p:spPr>
          <a:xfrm>
            <a:off x="89535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ED54A2B8-BF1C-4B4E-BCB4-4B4A5AC458DB}"/>
              </a:ext>
            </a:extLst>
          </p:cNvPr>
          <p:cNvSpPr>
            <a:spLocks noGrp="1"/>
          </p:cNvSpPr>
          <p:nvPr/>
        </p:nvSpPr>
        <p:spPr>
          <a:xfrm>
            <a:off x="106680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9E54312-9104-4A34-BB5A-7660CD4272AB}"/>
              </a:ext>
            </a:extLst>
          </p:cNvPr>
          <p:cNvSpPr>
            <a:spLocks noGrp="1"/>
          </p:cNvSpPr>
          <p:nvPr/>
        </p:nvSpPr>
        <p:spPr>
          <a:xfrm>
            <a:off x="123825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57A447A-8AC0-4C1F-80E7-9AE76AA1C732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10325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mysql8 -p 3306:3306 -e MYSQL_ROOT_PASSWORD=root123 mysql:8.0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mysql9 -p 3307:3306 -e MYSQL_ROOT_PASSWORD=root123 mysql:9.0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mysql8 mysql -u root -p -e "SELECT VERSION();"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mysql9 mysql -u root -p -e "SELECT VERSION();"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3880EE4-8A7B-48AC-9D9A-526321E48013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8397DAC-F0A6-44BC-8E95-C2315E170EC8}"/>
              </a:ext>
            </a:extLst>
          </p:cNvPr>
          <p:cNvSpPr>
            <a:spLocks noGrp="1"/>
          </p:cNvSpPr>
          <p:nvPr/>
        </p:nvSpPr>
        <p:spPr>
          <a:xfrm>
            <a:off x="11811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port 檢查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EA09A93-E670-49BB-876E-91DC4D36636B}"/>
              </a:ext>
            </a:extLst>
          </p:cNvPr>
          <p:cNvSpPr>
            <a:spLocks noGrp="1"/>
          </p:cNvSpPr>
          <p:nvPr/>
        </p:nvSpPr>
        <p:spPr>
          <a:xfrm>
            <a:off x="11811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3306 -&gt; mysql8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3307 -&gt; mysql9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5FD76C92-3228-4999-9DCA-7490B688006E}"/>
              </a:ext>
            </a:extLst>
          </p:cNvPr>
          <p:cNvSpPr>
            <a:spLocks noGrp="1"/>
          </p:cNvSpPr>
          <p:nvPr/>
        </p:nvSpPr>
        <p:spPr>
          <a:xfrm>
            <a:off x="46863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9FC5DC5-54D9-4349-8BD0-B9F3A28813DB}"/>
              </a:ext>
            </a:extLst>
          </p:cNvPr>
          <p:cNvSpPr>
            <a:spLocks noGrp="1"/>
          </p:cNvSpPr>
          <p:nvPr/>
        </p:nvSpPr>
        <p:spPr>
          <a:xfrm>
            <a:off x="49149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版本檢查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C9EE890-5782-4D4A-AE77-FB9322861F36}"/>
              </a:ext>
            </a:extLst>
          </p:cNvPr>
          <p:cNvSpPr>
            <a:spLocks noGrp="1"/>
          </p:cNvSpPr>
          <p:nvPr/>
        </p:nvSpPr>
        <p:spPr>
          <a:xfrm>
            <a:off x="49149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兩次 SELECT VERSION()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應該看到不同版本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0235AFB1-AB7E-47F7-AF35-0E7FA37FE0F4}"/>
              </a:ext>
            </a:extLst>
          </p:cNvPr>
          <p:cNvSpPr>
            <a:spLocks noGrp="1"/>
          </p:cNvSpPr>
          <p:nvPr/>
        </p:nvSpPr>
        <p:spPr>
          <a:xfrm>
            <a:off x="8420100" y="4552950"/>
            <a:ext cx="3048000" cy="1200150"/>
          </a:xfrm>
          <a:prstGeom prst="roundRect">
            <a:avLst>
              <a:gd name="adj" fmla="val 9524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51AF5D1-4401-4928-9EC0-38F3503C59F9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清理檢查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F2A973-7E6E-4406-B6AD-88D6F526BDBB}"/>
              </a:ext>
            </a:extLst>
          </p:cNvPr>
          <p:cNvSpPr>
            <a:spLocks noGrp="1"/>
          </p:cNvSpPr>
          <p:nvPr/>
        </p:nvSpPr>
        <p:spPr>
          <a:xfrm>
            <a:off x="8648700" y="5143500"/>
            <a:ext cx="2590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mysql8 mysql9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需要資料才加 volume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8857602-8D70-4295-84D5-9F44348CA25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0D2EEC-3384-4D01-8D77-9819DEE2FDD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6BF70F4-A37F-4D29-8803-C3A6235608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0581643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0711F0B6-62AA-43D4-B556-696DB35A5C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CHALLENGE C1-C2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01BE7D2-8043-4DAC-A573-AEA1E6301AA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挑戰題：把多容器環境做完整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B94D57-EB94-478C-BE50-387A3CF60771}"/>
              </a:ext>
            </a:extLst>
          </p:cNvPr>
          <p:cNvSpPr>
            <a:spLocks noGrp="1"/>
          </p:cNvSpPr>
          <p:nvPr/>
        </p:nvSpPr>
        <p:spPr>
          <a:xfrm>
            <a:off x="9144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0D3D806-EAC1-4087-9ED8-25520A3BC727}"/>
              </a:ext>
            </a:extLst>
          </p:cNvPr>
          <p:cNvSpPr>
            <a:spLocks noGrp="1"/>
          </p:cNvSpPr>
          <p:nvPr/>
        </p:nvSpPr>
        <p:spPr>
          <a:xfrm>
            <a:off x="11430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C1：Nginx + Flask + MySQL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A401198-E200-44DE-8207-E6BAAED867B3}"/>
              </a:ext>
            </a:extLst>
          </p:cNvPr>
          <p:cNvSpPr>
            <a:spLocks noGrp="1"/>
          </p:cNvSpPr>
          <p:nvPr/>
        </p:nvSpPr>
        <p:spPr>
          <a:xfrm>
            <a:off x="11430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參考前面解答，改出 Browser -&gt; Nginx -&gt; Flask -&gt; MySQL 的三服務 Compose，並用 docker compose config、ps、wget 和 docker stats 觀察狀態與資源。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3DD4825-0C2A-4AF8-8077-AC6D442009B3}"/>
              </a:ext>
            </a:extLst>
          </p:cNvPr>
          <p:cNvSpPr>
            <a:spLocks noGrp="1"/>
          </p:cNvSpPr>
          <p:nvPr/>
        </p:nvSpPr>
        <p:spPr>
          <a:xfrm>
            <a:off x="6515100" y="1695450"/>
            <a:ext cx="47625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F87105D-AB09-46AD-A622-3F102B60F746}"/>
              </a:ext>
            </a:extLst>
          </p:cNvPr>
          <p:cNvSpPr>
            <a:spLocks noGrp="1"/>
          </p:cNvSpPr>
          <p:nvPr/>
        </p:nvSpPr>
        <p:spPr>
          <a:xfrm>
            <a:off x="6743700" y="18859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C2：自己查 Docker Hub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D90466-E0E5-4B1D-8558-37B915E0D9CD}"/>
              </a:ext>
            </a:extLst>
          </p:cNvPr>
          <p:cNvSpPr>
            <a:spLocks noGrp="1"/>
          </p:cNvSpPr>
          <p:nvPr/>
        </p:nvSpPr>
        <p:spPr>
          <a:xfrm>
            <a:off x="6743700" y="2514600"/>
            <a:ext cx="43053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找一個課堂沒用過的 Image，讀官方文件，寫出 docker run 指令並把過程記錄下來。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374C755-3EA3-4D16-ABF8-B2086E0D3444}"/>
              </a:ext>
            </a:extLst>
          </p:cNvPr>
          <p:cNvSpPr>
            <a:spLocks noGrp="1"/>
          </p:cNvSpPr>
          <p:nvPr/>
        </p:nvSpPr>
        <p:spPr>
          <a:xfrm>
            <a:off x="2076450" y="4762500"/>
            <a:ext cx="80391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D1EF222-50D8-41A6-893C-1BD1FE17A576}"/>
              </a:ext>
            </a:extLst>
          </p:cNvPr>
          <p:cNvSpPr>
            <a:spLocks noGrp="1"/>
          </p:cNvSpPr>
          <p:nvPr/>
        </p:nvSpPr>
        <p:spPr>
          <a:xfrm>
            <a:off x="2381250" y="4953000"/>
            <a:ext cx="7429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下一堂：Dockerfile、映像檔優化與資源配置。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ACF5D00-94EE-4B22-AADA-24028FAF78D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EF44DFF-C1C0-47E4-A541-993BD10068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3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C3ED2C-3B43-47D6-9CF0-CD0383C42BF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64512132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完整程式碼：p2-nginx-flask-compose/solution/app/app.py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socket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home():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message="Hello from Flask behind Nginx",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hostname=socket.gethostname(),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完整程式碼：p2-nginx-flask-compose/solution/nginx/default.conf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practice-flask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883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完整程式碼：p2-nginx-flask-compose/solution/compose.yaml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os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time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pymysql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Flask, jsonify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connect_db():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pymysql.connect(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host=os.environ["DB_HOST"],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user=os.environ["DB_USER"],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password=os.environ["DB_PASSWORD"],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database=os.environ["DB_NAME"],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charset="utf8mb4",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cursorclass=pymysql.cursors.DictCursor,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last_error = None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_ in range(10):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try: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with connect_db() as conn: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with conn.cursor() as cursor: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CREATE TABLE IF NOT EXISTS visits 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id INT NOT NULL AUTO_INCREMENT PRIMARY KEY,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    created_at TIMESTAMP NOT NULL DEFAULT CURRENT_TIMESTAMP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   """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cursor.execute("INSERT INTO visits () VALUES ()")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conn.commit()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cursor.execute("SELECT COUNT(*) AS count FROM visits")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row = cursor.fetchone()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 jsonify(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message="Flask connected to MySQL through the Compose network",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db_host=os.environ["DB_HOST"],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完整程式碼：compose-nginx-flask-mysql/app/app.py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visits=row["count"],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error: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last_error = error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jsonify(error=str(last_error)), 500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完整程式碼：compose-nginx-flask-mysql/app/requirements.txt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flask==3.0.3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pymysql==1.1.1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cryptography==42.0.8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完整程式碼：compose-nginx-flask-mysql/nginx/default.conf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server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listen 80;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location / {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proxy_pass http://app:5000;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Host $host;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proxy_set_header X-Real-IP $remote_addr;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(1/3)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web: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nginx:alpine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demo-nginx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"8080:80"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./nginx/default.conf:/etc/nginx/conf.d/default.conf:ro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app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python:3.11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working_dir: 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./app:/app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DB_HOST: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DB_NAME: demo_db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(2/3)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DB_PASSWORD: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depends_on: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expose: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"5000"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command: bash -c "pip install -r requirements.txt &amp;&amp; python app.py"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demo-mysql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root1234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demo_db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MYSQL_USER: demo_user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MYSQL_PASSWORD: demo_pass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db-data:/var/lib/mysql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完整程式碼：compose-nginx-flask-mysql/compose.yaml (3/3)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db-data: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services: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mysql8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old_project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"3306:3306"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mysql8-data:/var/lib/mysql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image: mysql:9.0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container_name: mysql9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restart: unless-stopped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environment: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MYSQL_ROOT_PASSWORD: root123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MYSQL_DATABASE: new_project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ports: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"3307:3306"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FF337D1-1929-46D9-A0BA-63C322EB19EB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740228-2A7A-47BD-A2E7-66ED44087D8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完整程式碼：p3-mysql-versions/compose.yaml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7A05C-C1C0-4ACB-B795-D4256CD781A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3 堂 | 可直接照做的完整檔案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89A40FD-C55E-4B9E-979B-2FFDF26E2C6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C205C34-406F-4FC9-BE4F-564D0F93AD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- mysql9-data:/var/lib/mysql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volumes: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mysql8-data: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mysql9-data: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DA6DFBA-7EC5-4BC2-9EFA-65366EB64D16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3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7E90BBC-66B7-4325-9A06-07068649EB01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548490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5017</Words>
  <Application>Microsoft Office PowerPoint</Application>
  <DocSecurity>0</DocSecurity>
  <PresentationFormat>寬螢幕</PresentationFormat>
  <Paragraphs>1039</Paragraphs>
  <Slides>63</Slides>
  <Notes>63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63</vt:i4>
      </vt:variant>
    </vt:vector>
  </HeadingPairs>
  <TitlesOfParts>
    <vt:vector size="68" baseType="lpstr">
      <vt:lpstr>Aptos</vt:lpstr>
      <vt:lpstr>Aptos Display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2</cp:revision>
  <dcterms:created xsi:type="dcterms:W3CDTF">2026-06-24T09:51:49Z</dcterms:created>
  <dcterms:modified xsi:type="dcterms:W3CDTF">2026-06-25T07:57:57Z</dcterms:modified>
</cp:coreProperties>
</file>