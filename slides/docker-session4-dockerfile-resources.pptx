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9f01f4ecb54be7" /><Relationship Type="http://schemas.openxmlformats.org/officeDocument/2006/relationships/extended-properties" Target="/docProps/app.xml" Id="Rdce03d2bbed04164" /><Relationship Type="http://schemas.openxmlformats.org/officeDocument/2006/relationships/officeDocument" Target="/ppt/presentation.xml" Id="Rd3b6c93e6544451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306bc50a4841cd"/>
  </p:sldMasterIdLst>
  <p:notesMasterIdLst>
    <p:notesMasterId xmlns:r="http://schemas.openxmlformats.org/officeDocument/2006/relationships" r:id="R1b7618b550be4d09"/>
  </p:notesMasterIdLst>
  <p:sldIdLst>
    <p:sldId xmlns:r="http://schemas.openxmlformats.org/officeDocument/2006/relationships" id="256" r:id="R7a422db0e7e44e38"/>
    <p:sldId xmlns:r="http://schemas.openxmlformats.org/officeDocument/2006/relationships" id="257" r:id="R62c07908d3a049da"/>
    <p:sldId xmlns:r="http://schemas.openxmlformats.org/officeDocument/2006/relationships" id="258" r:id="R346711a0e635454a"/>
    <p:sldId xmlns:r="http://schemas.openxmlformats.org/officeDocument/2006/relationships" id="259" r:id="R1c0140129c654aa7"/>
    <p:sldId xmlns:r="http://schemas.openxmlformats.org/officeDocument/2006/relationships" id="260" r:id="R6d8b0ac0dafd4f78"/>
    <p:sldId xmlns:r="http://schemas.openxmlformats.org/officeDocument/2006/relationships" id="261" r:id="Rf14e0ed3633d4e78"/>
    <p:sldId xmlns:r="http://schemas.openxmlformats.org/officeDocument/2006/relationships" id="262" r:id="Rb1e2fe357e784f76"/>
    <p:sldId xmlns:r="http://schemas.openxmlformats.org/officeDocument/2006/relationships" id="263" r:id="R484c45a76d8c4b3c"/>
    <p:sldId xmlns:r="http://schemas.openxmlformats.org/officeDocument/2006/relationships" id="264" r:id="Rc8e07e35500e481b"/>
    <p:sldId xmlns:r="http://schemas.openxmlformats.org/officeDocument/2006/relationships" id="265" r:id="R07013582f8bf499b"/>
    <p:sldId xmlns:r="http://schemas.openxmlformats.org/officeDocument/2006/relationships" id="266" r:id="Rf69cce668a6444ab"/>
    <p:sldId xmlns:r="http://schemas.openxmlformats.org/officeDocument/2006/relationships" id="267" r:id="R16571a2505d94798"/>
    <p:sldId xmlns:r="http://schemas.openxmlformats.org/officeDocument/2006/relationships" id="268" r:id="R79c9c8a35a7c4831"/>
    <p:sldId xmlns:r="http://schemas.openxmlformats.org/officeDocument/2006/relationships" id="269" r:id="Rf0f5d04f76c24847"/>
    <p:sldId xmlns:r="http://schemas.openxmlformats.org/officeDocument/2006/relationships" id="270" r:id="Rab31183c113f4e3a"/>
    <p:sldId xmlns:r="http://schemas.openxmlformats.org/officeDocument/2006/relationships" id="271" r:id="Rf1af332f32f144ac"/>
    <p:sldId xmlns:r="http://schemas.openxmlformats.org/officeDocument/2006/relationships" id="272" r:id="Rb8a19cb68e8d47b5"/>
    <p:sldId xmlns:r="http://schemas.openxmlformats.org/officeDocument/2006/relationships" id="273" r:id="R696b6af09a754d76"/>
    <p:sldId xmlns:r="http://schemas.openxmlformats.org/officeDocument/2006/relationships" id="274" r:id="Rd6eb768eaad34a00"/>
    <p:sldId xmlns:r="http://schemas.openxmlformats.org/officeDocument/2006/relationships" id="275" r:id="R14f8e71c795b4760"/>
    <p:sldId xmlns:r="http://schemas.openxmlformats.org/officeDocument/2006/relationships" id="276" r:id="Rb7a580a85c07436d"/>
    <p:sldId xmlns:r="http://schemas.openxmlformats.org/officeDocument/2006/relationships" id="277" r:id="R59d6cdb9e3a54bc3"/>
    <p:sldId xmlns:r="http://schemas.openxmlformats.org/officeDocument/2006/relationships" id="278" r:id="Re7e00e1afb2c4bf0"/>
    <p:sldId xmlns:r="http://schemas.openxmlformats.org/officeDocument/2006/relationships" id="279" r:id="Rdbe059f125884852"/>
    <p:sldId xmlns:r="http://schemas.openxmlformats.org/officeDocument/2006/relationships" id="280" r:id="R1b88d735c4a4402c"/>
    <p:sldId xmlns:r="http://schemas.openxmlformats.org/officeDocument/2006/relationships" id="281" r:id="R42c3e495acab4100"/>
    <p:sldId xmlns:r="http://schemas.openxmlformats.org/officeDocument/2006/relationships" id="307" r:id="rIdCodexDevWorkflow52"/>
    <p:sldId xmlns:r="http://schemas.openxmlformats.org/officeDocument/2006/relationships" id="308" r:id="rIdCodexDevWorkflow53"/>
    <p:sldId xmlns:r="http://schemas.openxmlformats.org/officeDocument/2006/relationships" id="282" r:id="R0dccf130cb044c45"/>
    <p:sldId xmlns:r="http://schemas.openxmlformats.org/officeDocument/2006/relationships" id="283" r:id="R70ad2a0d40c24651"/>
    <p:sldId xmlns:r="http://schemas.openxmlformats.org/officeDocument/2006/relationships" id="284" r:id="R1d46b9e043764b70"/>
    <p:sldId xmlns:r="http://schemas.openxmlformats.org/officeDocument/2006/relationships" id="285" r:id="Re74d7fe9e57b44b3"/>
    <p:sldId xmlns:r="http://schemas.openxmlformats.org/officeDocument/2006/relationships" id="286" r:id="R86264c428b3d4a7d"/>
    <p:sldId xmlns:r="http://schemas.openxmlformats.org/officeDocument/2006/relationships" id="287" r:id="R8ec080bdcdea4d53"/>
    <p:sldId xmlns:r="http://schemas.openxmlformats.org/officeDocument/2006/relationships" id="288" r:id="R63770eca49ff4f27"/>
    <p:sldId xmlns:r="http://schemas.openxmlformats.org/officeDocument/2006/relationships" id="289" r:id="Rab1310f9c22c4273"/>
    <p:sldId xmlns:r="http://schemas.openxmlformats.org/officeDocument/2006/relationships" id="290" r:id="R1db15cbfdf334f74"/>
    <p:sldId xmlns:r="http://schemas.openxmlformats.org/officeDocument/2006/relationships" id="291" r:id="Ra1dbce7aeb034d56"/>
    <p:sldId xmlns:r="http://schemas.openxmlformats.org/officeDocument/2006/relationships" id="292" r:id="R0e029556386b457f"/>
    <p:sldId xmlns:r="http://schemas.openxmlformats.org/officeDocument/2006/relationships" id="293" r:id="R240f757fcd824ce7"/>
    <p:sldId xmlns:r="http://schemas.openxmlformats.org/officeDocument/2006/relationships" id="294" r:id="R3cbc14c582df43eb"/>
    <p:sldId xmlns:r="http://schemas.openxmlformats.org/officeDocument/2006/relationships" id="295" r:id="R3b71448a8a354a5b"/>
    <p:sldId xmlns:r="http://schemas.openxmlformats.org/officeDocument/2006/relationships" id="296" r:id="Rc60d9135c0e54def"/>
    <p:sldId xmlns:r="http://schemas.openxmlformats.org/officeDocument/2006/relationships" id="297" r:id="R46b02c967e4d4f32"/>
    <p:sldId xmlns:r="http://schemas.openxmlformats.org/officeDocument/2006/relationships" id="298" r:id="R1bdb4ab68f3a4e2a"/>
    <p:sldId xmlns:r="http://schemas.openxmlformats.org/officeDocument/2006/relationships" id="299" r:id="Rcd7b750bb591470e"/>
    <p:sldId xmlns:r="http://schemas.openxmlformats.org/officeDocument/2006/relationships" id="300" r:id="R743b24707ca141ec"/>
    <p:sldId xmlns:r="http://schemas.openxmlformats.org/officeDocument/2006/relationships" id="301" r:id="R42476f72c5a548a2"/>
    <p:sldId xmlns:r="http://schemas.openxmlformats.org/officeDocument/2006/relationships" id="302" r:id="R324517245e6b4217"/>
    <p:sldId xmlns:r="http://schemas.openxmlformats.org/officeDocument/2006/relationships" id="303" r:id="R79c1eeab2a1d4a64"/>
    <p:sldId xmlns:r="http://schemas.openxmlformats.org/officeDocument/2006/relationships" id="304" r:id="Re8201052dc6643fd"/>
    <p:sldId xmlns:r="http://schemas.openxmlformats.org/officeDocument/2006/relationships" id="305" r:id="Rfe75998c2fe7463a"/>
    <p:sldId xmlns:r="http://schemas.openxmlformats.org/officeDocument/2006/relationships" id="306" r:id="R72b2385661774e7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7112d4c5824212" /><Relationship Type="http://schemas.openxmlformats.org/officeDocument/2006/relationships/slideMaster" Target="/ppt/slideMasters/slideMaster1.xml" Id="Rb5306bc50a4841cd" /><Relationship Type="http://schemas.openxmlformats.org/officeDocument/2006/relationships/notesMaster" Target="/ppt/notesMasters/notesMaster1.xml" Id="R1b7618b550be4d09" /><Relationship Type="http://schemas.openxmlformats.org/officeDocument/2006/relationships/presProps" Target="/ppt/presProps.xml" Id="Rb4ac31dfb2c94ee3" /><Relationship Type="http://schemas.openxmlformats.org/officeDocument/2006/relationships/tableStyles" Target="/ppt/tableStyles.xml" Id="R8cc8181017004b31" /><Relationship Type="http://schemas.openxmlformats.org/officeDocument/2006/relationships/slide" Target="/ppt/slides/slide1.xml" Id="R7a422db0e7e44e38" /><Relationship Type="http://schemas.openxmlformats.org/officeDocument/2006/relationships/slide" Target="/ppt/slides/slide2.xml" Id="R62c07908d3a049da" /><Relationship Type="http://schemas.openxmlformats.org/officeDocument/2006/relationships/slide" Target="/ppt/slides/slide3.xml" Id="R346711a0e635454a" /><Relationship Type="http://schemas.openxmlformats.org/officeDocument/2006/relationships/slide" Target="/ppt/slides/slide4.xml" Id="R1c0140129c654aa7" /><Relationship Type="http://schemas.openxmlformats.org/officeDocument/2006/relationships/slide" Target="/ppt/slides/slide5.xml" Id="R6d8b0ac0dafd4f78" /><Relationship Type="http://schemas.openxmlformats.org/officeDocument/2006/relationships/slide" Target="/ppt/slides/slide6.xml" Id="Rf14e0ed3633d4e78" /><Relationship Type="http://schemas.openxmlformats.org/officeDocument/2006/relationships/slide" Target="/ppt/slides/slide7.xml" Id="Rb1e2fe357e784f76" /><Relationship Type="http://schemas.openxmlformats.org/officeDocument/2006/relationships/slide" Target="/ppt/slides/slide8.xml" Id="R484c45a76d8c4b3c" /><Relationship Type="http://schemas.openxmlformats.org/officeDocument/2006/relationships/slide" Target="/ppt/slides/slide9.xml" Id="Rc8e07e35500e481b" /><Relationship Type="http://schemas.openxmlformats.org/officeDocument/2006/relationships/slide" Target="/ppt/slides/slide10.xml" Id="R07013582f8bf499b" /><Relationship Type="http://schemas.openxmlformats.org/officeDocument/2006/relationships/slide" Target="/ppt/slides/slide11.xml" Id="Rf69cce668a6444ab" /><Relationship Type="http://schemas.openxmlformats.org/officeDocument/2006/relationships/slide" Target="/ppt/slides/slide12.xml" Id="R16571a2505d94798" /><Relationship Type="http://schemas.openxmlformats.org/officeDocument/2006/relationships/slide" Target="/ppt/slides/slide13.xml" Id="R79c9c8a35a7c4831" /><Relationship Type="http://schemas.openxmlformats.org/officeDocument/2006/relationships/slide" Target="/ppt/slides/slide14.xml" Id="Rf0f5d04f76c24847" /><Relationship Type="http://schemas.openxmlformats.org/officeDocument/2006/relationships/slide" Target="/ppt/slides/slide15.xml" Id="Rab31183c113f4e3a" /><Relationship Type="http://schemas.openxmlformats.org/officeDocument/2006/relationships/slide" Target="/ppt/slides/slide16.xml" Id="Rf1af332f32f144ac" /><Relationship Type="http://schemas.openxmlformats.org/officeDocument/2006/relationships/slide" Target="/ppt/slides/slide17.xml" Id="Rb8a19cb68e8d47b5" /><Relationship Type="http://schemas.openxmlformats.org/officeDocument/2006/relationships/slide" Target="/ppt/slides/slide18.xml" Id="R696b6af09a754d76" /><Relationship Type="http://schemas.openxmlformats.org/officeDocument/2006/relationships/slide" Target="/ppt/slides/slide19.xml" Id="Rd6eb768eaad34a00" /><Relationship Type="http://schemas.openxmlformats.org/officeDocument/2006/relationships/slide" Target="/ppt/slides/slide20.xml" Id="R14f8e71c795b4760" /><Relationship Type="http://schemas.openxmlformats.org/officeDocument/2006/relationships/slide" Target="/ppt/slides/slide21.xml" Id="Rb7a580a85c07436d" /><Relationship Type="http://schemas.openxmlformats.org/officeDocument/2006/relationships/slide" Target="/ppt/slides/slide22.xml" Id="R59d6cdb9e3a54bc3" /><Relationship Type="http://schemas.openxmlformats.org/officeDocument/2006/relationships/slide" Target="/ppt/slides/slide23.xml" Id="Re7e00e1afb2c4bf0" /><Relationship Type="http://schemas.openxmlformats.org/officeDocument/2006/relationships/slide" Target="/ppt/slides/slide24.xml" Id="Rdbe059f125884852" /><Relationship Type="http://schemas.openxmlformats.org/officeDocument/2006/relationships/slide" Target="/ppt/slides/slide25.xml" Id="R1b88d735c4a4402c" /><Relationship Type="http://schemas.openxmlformats.org/officeDocument/2006/relationships/slide" Target="/ppt/slides/slide26.xml" Id="R42c3e495acab4100" /><Relationship Type="http://schemas.openxmlformats.org/officeDocument/2006/relationships/slide" Target="/ppt/slides/slide27.xml" Id="R0dccf130cb044c45" /><Relationship Type="http://schemas.openxmlformats.org/officeDocument/2006/relationships/slide" Target="/ppt/slides/slide28.xml" Id="R70ad2a0d40c24651" /><Relationship Type="http://schemas.openxmlformats.org/officeDocument/2006/relationships/slide" Target="/ppt/slides/slide29.xml" Id="R1d46b9e043764b70" /><Relationship Type="http://schemas.openxmlformats.org/officeDocument/2006/relationships/slide" Target="/ppt/slides/slide30.xml" Id="Re74d7fe9e57b44b3" /><Relationship Type="http://schemas.openxmlformats.org/officeDocument/2006/relationships/slide" Target="/ppt/slides/slide31.xml" Id="R86264c428b3d4a7d" /><Relationship Type="http://schemas.openxmlformats.org/officeDocument/2006/relationships/slide" Target="/ppt/slides/slide32.xml" Id="R8ec080bdcdea4d53" /><Relationship Type="http://schemas.openxmlformats.org/officeDocument/2006/relationships/slide" Target="/ppt/slides/slide33.xml" Id="R63770eca49ff4f27" /><Relationship Type="http://schemas.openxmlformats.org/officeDocument/2006/relationships/slide" Target="/ppt/slides/slide34.xml" Id="Rab1310f9c22c4273" /><Relationship Type="http://schemas.openxmlformats.org/officeDocument/2006/relationships/slide" Target="/ppt/slides/slide35.xml" Id="R1db15cbfdf334f74" /><Relationship Type="http://schemas.openxmlformats.org/officeDocument/2006/relationships/slide" Target="/ppt/slides/slide36.xml" Id="Ra1dbce7aeb034d56" /><Relationship Type="http://schemas.openxmlformats.org/officeDocument/2006/relationships/slide" Target="/ppt/slides/slide37.xml" Id="R0e029556386b457f" /><Relationship Type="http://schemas.openxmlformats.org/officeDocument/2006/relationships/slide" Target="/ppt/slides/slide38.xml" Id="R240f757fcd824ce7" /><Relationship Type="http://schemas.openxmlformats.org/officeDocument/2006/relationships/slide" Target="/ppt/slides/slide39.xml" Id="R3cbc14c582df43eb" /><Relationship Type="http://schemas.openxmlformats.org/officeDocument/2006/relationships/slide" Target="/ppt/slides/slide40.xml" Id="R3b71448a8a354a5b" /><Relationship Type="http://schemas.openxmlformats.org/officeDocument/2006/relationships/slide" Target="/ppt/slides/slide41.xml" Id="Rc60d9135c0e54def" /><Relationship Type="http://schemas.openxmlformats.org/officeDocument/2006/relationships/slide" Target="/ppt/slides/slide42.xml" Id="R46b02c967e4d4f32" /><Relationship Type="http://schemas.openxmlformats.org/officeDocument/2006/relationships/slide" Target="/ppt/slides/slide43.xml" Id="R1bdb4ab68f3a4e2a" /><Relationship Type="http://schemas.openxmlformats.org/officeDocument/2006/relationships/slide" Target="/ppt/slides/slide44.xml" Id="Rcd7b750bb591470e" /><Relationship Type="http://schemas.openxmlformats.org/officeDocument/2006/relationships/slide" Target="/ppt/slides/slide45.xml" Id="R743b24707ca141ec" /><Relationship Type="http://schemas.openxmlformats.org/officeDocument/2006/relationships/slide" Target="/ppt/slides/slide46.xml" Id="R42476f72c5a548a2" /><Relationship Type="http://schemas.openxmlformats.org/officeDocument/2006/relationships/slide" Target="/ppt/slides/slide47.xml" Id="R324517245e6b4217" /><Relationship Type="http://schemas.openxmlformats.org/officeDocument/2006/relationships/slide" Target="/ppt/slides/slide48.xml" Id="R79c1eeab2a1d4a64" /><Relationship Type="http://schemas.openxmlformats.org/officeDocument/2006/relationships/slide" Target="/ppt/slides/slide49.xml" Id="Re8201052dc6643fd" /><Relationship Type="http://schemas.openxmlformats.org/officeDocument/2006/relationships/slide" Target="/ppt/slides/slide50.xml" Id="Rfe75998c2fe7463a" /><Relationship Type="http://schemas.openxmlformats.org/officeDocument/2006/relationships/slide" Target="/ppt/slides/slide51.xml" Id="R72b2385661774e7a" /><Relationship Id="rIdCodexDevWorkflow52" Type="http://schemas.openxmlformats.org/officeDocument/2006/relationships/slide" Target="slides/slide52.xml"/><Relationship Id="rIdCodexDevWorkflow53" Type="http://schemas.openxmlformats.org/officeDocument/2006/relationships/slide" Target="slides/slide53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76496a498c741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95c272e57e4476" /><Relationship Type="http://schemas.openxmlformats.org/officeDocument/2006/relationships/notesMaster" Target="/ppt/notesMasters/notesMaster1.xml" Id="R3fb77d87cb0d4c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caa7da1fa2429e" /><Relationship Type="http://schemas.openxmlformats.org/officeDocument/2006/relationships/notesMaster" Target="/ppt/notesMasters/notesMaster1.xml" Id="Rf0c69e8f35d54c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2c0c6366cd41a9" /><Relationship Type="http://schemas.openxmlformats.org/officeDocument/2006/relationships/notesMaster" Target="/ppt/notesMasters/notesMaster1.xml" Id="Reb3226b12e3543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57076da39e4d0e" /><Relationship Type="http://schemas.openxmlformats.org/officeDocument/2006/relationships/notesMaster" Target="/ppt/notesMasters/notesMaster1.xml" Id="R8a9f897eb82c4c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0923afd1c249ef" /><Relationship Type="http://schemas.openxmlformats.org/officeDocument/2006/relationships/notesMaster" Target="/ppt/notesMasters/notesMaster1.xml" Id="R43393cefd3214a7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ebed7257f34a10" /><Relationship Type="http://schemas.openxmlformats.org/officeDocument/2006/relationships/notesMaster" Target="/ppt/notesMasters/notesMaster1.xml" Id="R03c6a97a63b845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8930d28a4c4e8a" /><Relationship Type="http://schemas.openxmlformats.org/officeDocument/2006/relationships/notesMaster" Target="/ppt/notesMasters/notesMaster1.xml" Id="R48af03d709bf40a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20897306eb0496e" /><Relationship Type="http://schemas.openxmlformats.org/officeDocument/2006/relationships/notesMaster" Target="/ppt/notesMasters/notesMaster1.xml" Id="Rdb2a9689084143e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649cd8432124783" /><Relationship Type="http://schemas.openxmlformats.org/officeDocument/2006/relationships/notesMaster" Target="/ppt/notesMasters/notesMaster1.xml" Id="R336097cc477e4a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a941285c854d58" /><Relationship Type="http://schemas.openxmlformats.org/officeDocument/2006/relationships/notesMaster" Target="/ppt/notesMasters/notesMaster1.xml" Id="R406219c04489462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01592f7c8644941" /><Relationship Type="http://schemas.openxmlformats.org/officeDocument/2006/relationships/notesMaster" Target="/ppt/notesMasters/notesMaster1.xml" Id="R59a3537ceb4f4c1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63024398cac4d65" /><Relationship Type="http://schemas.openxmlformats.org/officeDocument/2006/relationships/notesMaster" Target="/ppt/notesMasters/notesMaster1.xml" Id="Rb2e6cab407ff4c7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419dc314a8a4a4f" /><Relationship Type="http://schemas.openxmlformats.org/officeDocument/2006/relationships/notesMaster" Target="/ppt/notesMasters/notesMaster1.xml" Id="R87106cc416e2461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6efe0097e6343cb" /><Relationship Type="http://schemas.openxmlformats.org/officeDocument/2006/relationships/notesMaster" Target="/ppt/notesMasters/notesMaster1.xml" Id="R8b763f039baa44d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ef99d8b90544e40" /><Relationship Type="http://schemas.openxmlformats.org/officeDocument/2006/relationships/notesMaster" Target="/ppt/notesMasters/notesMaster1.xml" Id="Rc290a6f576814ad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f159f63dc304262" /><Relationship Type="http://schemas.openxmlformats.org/officeDocument/2006/relationships/notesMaster" Target="/ppt/notesMasters/notesMaster1.xml" Id="R5a05c9fb80fd4e6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d55a9f0b8224afb" /><Relationship Type="http://schemas.openxmlformats.org/officeDocument/2006/relationships/notesMaster" Target="/ppt/notesMasters/notesMaster1.xml" Id="R09833c54ade44cc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54c06df8b524311" /><Relationship Type="http://schemas.openxmlformats.org/officeDocument/2006/relationships/notesMaster" Target="/ppt/notesMasters/notesMaster1.xml" Id="R17bd1605eb9e4f5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55b1c46147e4eb3" /><Relationship Type="http://schemas.openxmlformats.org/officeDocument/2006/relationships/notesMaster" Target="/ppt/notesMasters/notesMaster1.xml" Id="R3ca9bf3ebfbf40a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12840d85ef5434f" /><Relationship Type="http://schemas.openxmlformats.org/officeDocument/2006/relationships/notesMaster" Target="/ppt/notesMasters/notesMaster1.xml" Id="R37cc3cb525f7433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d36dc1e51254f0a" /><Relationship Type="http://schemas.openxmlformats.org/officeDocument/2006/relationships/notesMaster" Target="/ppt/notesMasters/notesMaster1.xml" Id="R94ab0e442c444e0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1a18026a7524e4d" /><Relationship Type="http://schemas.openxmlformats.org/officeDocument/2006/relationships/notesMaster" Target="/ppt/notesMasters/notesMaster1.xml" Id="R2314697ee77a45f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d5a601d3e4641a0" /><Relationship Type="http://schemas.openxmlformats.org/officeDocument/2006/relationships/notesMaster" Target="/ppt/notesMasters/notesMaster1.xml" Id="R3fa1b95f2ccc4c2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bd45c6fdfc04650" /><Relationship Type="http://schemas.openxmlformats.org/officeDocument/2006/relationships/notesMaster" Target="/ppt/notesMasters/notesMaster1.xml" Id="Reb1550a66f4c444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d357223a9d84c45" /><Relationship Type="http://schemas.openxmlformats.org/officeDocument/2006/relationships/notesMaster" Target="/ppt/notesMasters/notesMaster1.xml" Id="R0ca41bf175194ad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584f0194cec41ac" /><Relationship Type="http://schemas.openxmlformats.org/officeDocument/2006/relationships/notesMaster" Target="/ppt/notesMasters/notesMaster1.xml" Id="R0d888cf329e8402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7243092d4974a00" /><Relationship Type="http://schemas.openxmlformats.org/officeDocument/2006/relationships/notesMaster" Target="/ppt/notesMasters/notesMaster1.xml" Id="Rb4f20aa1fe2e499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e4870702a614a56" /><Relationship Type="http://schemas.openxmlformats.org/officeDocument/2006/relationships/notesMaster" Target="/ppt/notesMasters/notesMaster1.xml" Id="Rbdf2de331aaf4d7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262a2a0867d4421" /><Relationship Type="http://schemas.openxmlformats.org/officeDocument/2006/relationships/notesMaster" Target="/ppt/notesMasters/notesMaster1.xml" Id="Rf5b24a70d144478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41b30ddd10c4ff5" /><Relationship Type="http://schemas.openxmlformats.org/officeDocument/2006/relationships/notesMaster" Target="/ppt/notesMasters/notesMaster1.xml" Id="R2e797d7e41bb459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f722dcb28444083" /><Relationship Type="http://schemas.openxmlformats.org/officeDocument/2006/relationships/notesMaster" Target="/ppt/notesMasters/notesMaster1.xml" Id="R5acb1fc24fab430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3928d3263c1419b" /><Relationship Type="http://schemas.openxmlformats.org/officeDocument/2006/relationships/notesMaster" Target="/ppt/notesMasters/notesMaster1.xml" Id="R4df0afde68194cc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afc221b5cdb49b2" /><Relationship Type="http://schemas.openxmlformats.org/officeDocument/2006/relationships/notesMaster" Target="/ppt/notesMasters/notesMaster1.xml" Id="R61e78d6c611849a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4e3c847d6bd4b26" /><Relationship Type="http://schemas.openxmlformats.org/officeDocument/2006/relationships/notesMaster" Target="/ppt/notesMasters/notesMaster1.xml" Id="R8e914ea0c0e34d19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94ac5f93f124fd2" /><Relationship Type="http://schemas.openxmlformats.org/officeDocument/2006/relationships/notesMaster" Target="/ppt/notesMasters/notesMaster1.xml" Id="Raf13d4c7c691409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e81296fdae24f8a" /><Relationship Type="http://schemas.openxmlformats.org/officeDocument/2006/relationships/notesMaster" Target="/ppt/notesMasters/notesMaster1.xml" Id="R675480b423d6466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9597206da3ad4978" /><Relationship Type="http://schemas.openxmlformats.org/officeDocument/2006/relationships/notesMaster" Target="/ppt/notesMasters/notesMaster1.xml" Id="R967a29b2674e43c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7c161867f374e9c" /><Relationship Type="http://schemas.openxmlformats.org/officeDocument/2006/relationships/notesMaster" Target="/ppt/notesMasters/notesMaster1.xml" Id="R81d4e7f6cd63482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ca512cbff104f1b" /><Relationship Type="http://schemas.openxmlformats.org/officeDocument/2006/relationships/notesMaster" Target="/ppt/notesMasters/notesMaster1.xml" Id="R3e878aeb33e14665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a245747f22747e2" /><Relationship Type="http://schemas.openxmlformats.org/officeDocument/2006/relationships/notesMaster" Target="/ppt/notesMasters/notesMaster1.xml" Id="R054fa2da85c6452d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215e7935dbdf4332" /><Relationship Type="http://schemas.openxmlformats.org/officeDocument/2006/relationships/notesMaster" Target="/ppt/notesMasters/notesMaster1.xml" Id="R126d0f010b2c4d15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c6d714e41eac4fae" /><Relationship Type="http://schemas.openxmlformats.org/officeDocument/2006/relationships/notesMaster" Target="/ppt/notesMasters/notesMaster1.xml" Id="R8cb2ed71eb2f4dfc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2d1a65b3447746d2" /><Relationship Type="http://schemas.openxmlformats.org/officeDocument/2006/relationships/notesMaster" Target="/ppt/notesMasters/notesMaster1.xml" Id="R03cfb20c2f36419e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601f421fb24e49c9" /><Relationship Type="http://schemas.openxmlformats.org/officeDocument/2006/relationships/notesMaster" Target="/ppt/notesMasters/notesMaster1.xml" Id="Rc1f196b52dce4d9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bd3551de99c8407f" /><Relationship Type="http://schemas.openxmlformats.org/officeDocument/2006/relationships/notesMaster" Target="/ppt/notesMasters/notesMaster1.xml" Id="R106569123ac2481f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0bbfbafab4ef4572" /><Relationship Type="http://schemas.openxmlformats.org/officeDocument/2006/relationships/notesMaster" Target="/ppt/notesMasters/notesMaster1.xml" Id="R59b47677b8dc4233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126574792f4644c2" /><Relationship Type="http://schemas.openxmlformats.org/officeDocument/2006/relationships/notesMaster" Target="/ppt/notesMasters/notesMaster1.xml" Id="Rff036afedf814636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8da9f15da8684fd1" /><Relationship Type="http://schemas.openxmlformats.org/officeDocument/2006/relationships/notesMaster" Target="/ppt/notesMasters/notesMaster1.xml" Id="R7f229b9060684b46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283174a18fc347d4" /><Relationship Type="http://schemas.openxmlformats.org/officeDocument/2006/relationships/notesMaster" Target="/ppt/notesMasters/notesMaster1.xml" Id="Rcc8af7f429654457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c4e1fa729e8945ea" /><Relationship Type="http://schemas.openxmlformats.org/officeDocument/2006/relationships/notesMaster" Target="/ppt/notesMasters/notesMaster1.xml" Id="R7618c9dd261046ca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b9819a98c9f14a08" /><Relationship Type="http://schemas.openxmlformats.org/officeDocument/2006/relationships/notesMaster" Target="/ppt/notesMasters/notesMaster1.xml" Id="R9ee46022d41440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ecbc0e9f80469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95b6a0d6a1467b" /><Relationship Type="http://schemas.openxmlformats.org/officeDocument/2006/relationships/slideLayout" Target="/ppt/slideLayouts/slideLayout1.xml" Id="Rd69fa6930e6b4c0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9fa6930e6b4c0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b536b381ad403e" /><Relationship Type="http://schemas.openxmlformats.org/officeDocument/2006/relationships/image" Target="/ppt/media/image.png" Id="R32d5370563144fa1" /><Relationship Type="http://schemas.openxmlformats.org/officeDocument/2006/relationships/notesSlide" Target="/ppt/notesSlides/notesSlide1.xml" Id="R32377c2052d44e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c2be1d33a34dac" /><Relationship Type="http://schemas.openxmlformats.org/officeDocument/2006/relationships/notesSlide" Target="/ppt/notesSlides/notesSlide2.xml" Id="Rbc96c21546b846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7b24b7fd5a4383" /><Relationship Type="http://schemas.openxmlformats.org/officeDocument/2006/relationships/notesSlide" Target="/ppt/notesSlides/notesSlide3.xml" Id="R668b813a78bb4a5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c5c574c25e489b" /><Relationship Type="http://schemas.openxmlformats.org/officeDocument/2006/relationships/notesSlide" Target="/ppt/notesSlides/notesSlide4.xml" Id="R8f9f50374dad41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2b9af4052422a" /><Relationship Type="http://schemas.openxmlformats.org/officeDocument/2006/relationships/notesSlide" Target="/ppt/notesSlides/notesSlide5.xml" Id="Rd38ba583cd944a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abbda7f4c4684" /><Relationship Type="http://schemas.openxmlformats.org/officeDocument/2006/relationships/notesSlide" Target="/ppt/notesSlides/notesSlide6.xml" Id="R169292de4fd74fc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bbeb0d413745d2" /><Relationship Type="http://schemas.openxmlformats.org/officeDocument/2006/relationships/notesSlide" Target="/ppt/notesSlides/notesSlide7.xml" Id="R531a06df8a4a478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c24d7652d4ebe" /><Relationship Type="http://schemas.openxmlformats.org/officeDocument/2006/relationships/notesSlide" Target="/ppt/notesSlides/notesSlide8.xml" Id="Rfc72d779d1934fd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c328c08d734596" /><Relationship Type="http://schemas.openxmlformats.org/officeDocument/2006/relationships/notesSlide" Target="/ppt/notesSlides/notesSlide9.xml" Id="Rd4cc674ee3434fd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7e00761acc4f84" /><Relationship Type="http://schemas.openxmlformats.org/officeDocument/2006/relationships/notesSlide" Target="/ppt/notesSlides/notesSlide10.xml" Id="Ra4eba1a2e26147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d5108dcbe1463b" /><Relationship Type="http://schemas.openxmlformats.org/officeDocument/2006/relationships/notesSlide" Target="/ppt/notesSlides/notesSlide11.xml" Id="R1d6b56d07429489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9b0435b1d2453a" /><Relationship Type="http://schemas.openxmlformats.org/officeDocument/2006/relationships/notesSlide" Target="/ppt/notesSlides/notesSlide12.xml" Id="Ra79faeb917c7443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9545dcebb04b95" /><Relationship Type="http://schemas.openxmlformats.org/officeDocument/2006/relationships/notesSlide" Target="/ppt/notesSlides/notesSlide13.xml" Id="R0e2779b63f5a404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dbef5101a44e1d" /><Relationship Type="http://schemas.openxmlformats.org/officeDocument/2006/relationships/notesSlide" Target="/ppt/notesSlides/notesSlide14.xml" Id="R46cb63c5f30c459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dd081d325640c0" /><Relationship Type="http://schemas.openxmlformats.org/officeDocument/2006/relationships/notesSlide" Target="/ppt/notesSlides/notesSlide15.xml" Id="R4893bf952793414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25a1e11e6a4d7b" /><Relationship Type="http://schemas.openxmlformats.org/officeDocument/2006/relationships/notesSlide" Target="/ppt/notesSlides/notesSlide16.xml" Id="R1d04a8fea1b24d1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ab04166a524966" /><Relationship Type="http://schemas.openxmlformats.org/officeDocument/2006/relationships/notesSlide" Target="/ppt/notesSlides/notesSlide17.xml" Id="R44650b310a92426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bc4bd9a3b499f" /><Relationship Type="http://schemas.openxmlformats.org/officeDocument/2006/relationships/notesSlide" Target="/ppt/notesSlides/notesSlide18.xml" Id="Rdc1ee9c1708146b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6497a21c27435d" /><Relationship Type="http://schemas.openxmlformats.org/officeDocument/2006/relationships/notesSlide" Target="/ppt/notesSlides/notesSlide19.xml" Id="R0eb5377e265a439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f927a8b5cd44f9" /><Relationship Type="http://schemas.openxmlformats.org/officeDocument/2006/relationships/notesSlide" Target="/ppt/notesSlides/notesSlide20.xml" Id="R77e3477e82bd41e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6fc8f276ad48d8" /><Relationship Type="http://schemas.openxmlformats.org/officeDocument/2006/relationships/notesSlide" Target="/ppt/notesSlides/notesSlide21.xml" Id="R8f2d2e721b3e484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ddc02e42b0459e" /><Relationship Type="http://schemas.openxmlformats.org/officeDocument/2006/relationships/notesSlide" Target="/ppt/notesSlides/notesSlide22.xml" Id="R66f642024774462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6335de12a4132" /><Relationship Type="http://schemas.openxmlformats.org/officeDocument/2006/relationships/notesSlide" Target="/ppt/notesSlides/notesSlide23.xml" Id="R42de1bcc960a45f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13140b4c1340b6" /><Relationship Type="http://schemas.openxmlformats.org/officeDocument/2006/relationships/notesSlide" Target="/ppt/notesSlides/notesSlide24.xml" Id="Rc74ced428494487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74ee1d9814b24" /><Relationship Type="http://schemas.openxmlformats.org/officeDocument/2006/relationships/notesSlide" Target="/ppt/notesSlides/notesSlide25.xml" Id="R7b8e439c58d3436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a5859fa8d144aa" /><Relationship Type="http://schemas.openxmlformats.org/officeDocument/2006/relationships/notesSlide" Target="/ppt/notesSlides/notesSlide26.xml" Id="Rb66f885b73264ee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f63c7effbe4c5b" /><Relationship Type="http://schemas.openxmlformats.org/officeDocument/2006/relationships/notesSlide" Target="/ppt/notesSlides/notesSlide27.xml" Id="Rd9d43621ab304b9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0f2e0dcfd4474" /><Relationship Type="http://schemas.openxmlformats.org/officeDocument/2006/relationships/notesSlide" Target="/ppt/notesSlides/notesSlide28.xml" Id="R7d26eda596c44ca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4b5e1fb6604fab" /><Relationship Type="http://schemas.openxmlformats.org/officeDocument/2006/relationships/notesSlide" Target="/ppt/notesSlides/notesSlide29.xml" Id="Rd6c89289a51c42d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39dc25d28444fd" /><Relationship Type="http://schemas.openxmlformats.org/officeDocument/2006/relationships/notesSlide" Target="/ppt/notesSlides/notesSlide30.xml" Id="R4cc14bd75ccd4ef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f319e05abb4be2" /><Relationship Type="http://schemas.openxmlformats.org/officeDocument/2006/relationships/notesSlide" Target="/ppt/notesSlides/notesSlide31.xml" Id="Rcb1865c2eb7f4d9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d00c9956a4876" /><Relationship Type="http://schemas.openxmlformats.org/officeDocument/2006/relationships/notesSlide" Target="/ppt/notesSlides/notesSlide32.xml" Id="R99ffd4e8e00d48f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0dc0e8e4e470d" /><Relationship Type="http://schemas.openxmlformats.org/officeDocument/2006/relationships/notesSlide" Target="/ppt/notesSlides/notesSlide33.xml" Id="Rf8d208fcdfea4eb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fd62a56f7444e" /><Relationship Type="http://schemas.openxmlformats.org/officeDocument/2006/relationships/notesSlide" Target="/ppt/notesSlides/notesSlide34.xml" Id="R1cd7b67c42a6411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4d091437434c99" /><Relationship Type="http://schemas.openxmlformats.org/officeDocument/2006/relationships/notesSlide" Target="/ppt/notesSlides/notesSlide35.xml" Id="R054d922549954f9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dc83fd4eb48c7" /><Relationship Type="http://schemas.openxmlformats.org/officeDocument/2006/relationships/notesSlide" Target="/ppt/notesSlides/notesSlide36.xml" Id="Rcad906a2c67e4a6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ab4f59b6a84a13" /><Relationship Type="http://schemas.openxmlformats.org/officeDocument/2006/relationships/notesSlide" Target="/ppt/notesSlides/notesSlide37.xml" Id="Rde5da594dc3448f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16c5176e2f4e86" /><Relationship Type="http://schemas.openxmlformats.org/officeDocument/2006/relationships/notesSlide" Target="/ppt/notesSlides/notesSlide38.xml" Id="Rbd444b08d2844c07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7e911339ec4618" /><Relationship Type="http://schemas.openxmlformats.org/officeDocument/2006/relationships/notesSlide" Target="/ppt/notesSlides/notesSlide39.xml" Id="Reb1b43f0ea5248a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e716d80b144475" /><Relationship Type="http://schemas.openxmlformats.org/officeDocument/2006/relationships/notesSlide" Target="/ppt/notesSlides/notesSlide40.xml" Id="Rceded1e934e240b0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83c6b8d704127" /><Relationship Type="http://schemas.openxmlformats.org/officeDocument/2006/relationships/image" Target="/ppt/media/image2.png" Id="R6aefbdc54acb4323" /><Relationship Type="http://schemas.openxmlformats.org/officeDocument/2006/relationships/notesSlide" Target="/ppt/notesSlides/notesSlide41.xml" Id="R98c46933364c4be6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b9810b37f44d79" /><Relationship Type="http://schemas.openxmlformats.org/officeDocument/2006/relationships/notesSlide" Target="/ppt/notesSlides/notesSlide42.xml" Id="Reb8d0954ca7848a8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ec8727aa824460" /><Relationship Type="http://schemas.openxmlformats.org/officeDocument/2006/relationships/notesSlide" Target="/ppt/notesSlides/notesSlide43.xml" Id="Rbba12c7520894472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03b644dedb43b9" /><Relationship Type="http://schemas.openxmlformats.org/officeDocument/2006/relationships/notesSlide" Target="/ppt/notesSlides/notesSlide44.xml" Id="R30fda8ab645a4300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b54f34d114962" /><Relationship Type="http://schemas.openxmlformats.org/officeDocument/2006/relationships/notesSlide" Target="/ppt/notesSlides/notesSlide45.xml" Id="R7858e038fc2c48a1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24ce960a284898" /><Relationship Type="http://schemas.openxmlformats.org/officeDocument/2006/relationships/notesSlide" Target="/ppt/notesSlides/notesSlide46.xml" Id="Raff852eeb16149f4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30782ab0be4c2f" /><Relationship Type="http://schemas.openxmlformats.org/officeDocument/2006/relationships/notesSlide" Target="/ppt/notesSlides/notesSlide47.xml" Id="R094f88d888ae401c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2b44e238bf4f8f" /><Relationship Type="http://schemas.openxmlformats.org/officeDocument/2006/relationships/notesSlide" Target="/ppt/notesSlides/notesSlide48.xml" Id="R43aba6f385e341ff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419a62f3ca475a" /><Relationship Type="http://schemas.openxmlformats.org/officeDocument/2006/relationships/notesSlide" Target="/ppt/notesSlides/notesSlide49.xml" Id="Rf476b26a4fce4953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709e444f0d4998" /><Relationship Type="http://schemas.openxmlformats.org/officeDocument/2006/relationships/notesSlide" Target="/ppt/notesSlides/notesSlide50.xml" Id="R87d82c4f7afb4115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6229da4c474979" /><Relationship Type="http://schemas.openxmlformats.org/officeDocument/2006/relationships/notesSlide" Target="/ppt/notesSlides/notesSlide51.xml" Id="Red2f2e4dabeb4672" 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F59DAC-7E55-4518-86C6-5236E1F1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d5370563144fa1"/>
          <a:srcRect xmlns:a="http://schemas.openxmlformats.org/drawingml/2006/main" l="16310" t="0" r="163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81450" y="0"/>
            <a:ext cx="82105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1FCBD-85CC-45CE-B38D-5CE2D2DE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4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C18F6-4019-4FA7-9484-7B42A13F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209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38B2CC-F789-4BDF-A225-4E20D36A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4 堂 | Build &amp;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DB0813-D9C1-48A8-826F-5276B424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09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Dockerfile、映像檔優化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與資源配置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30E6B2-047D-4089-8753-9FC5217E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把可重複的環境寫進 Dockerfile，並學會限制容器吃掉的資源。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D0DD9-D01C-4353-A9B1-6468A039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75247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220AF7-292E-4D9D-8E32-CBA6CD7A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33900"/>
            <a:ext cx="695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今天完成：自製 Flask Image、推到 Docker Hub、用 Network 串接 MySQL、用 CPU/Memory 限制保護主機。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E5E0D-2ECA-4F44-8742-573FB0C9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234360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45D5B6-3C21-4551-BDE6-54A7D0B9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16ED0B-EB9D-4DC3-8319-A544A766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4ADBE-45C6-4900-B984-2F835F67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B760B-1B9B-4570-AB78-9E439EBC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F80F65-7632-46EF-A2AA-FD4C83DB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0558C-D35F-43D4-88B3-3740A5B4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與 Image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7808C-668C-4943-B8BB-E9110CFB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 Dockerfile、理解 cache 與 layers，做出可重複建構的 Flask Image。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2D89E-88FF-4B11-8C9C-28E4EBD3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CE950B-2225-4AA9-A4F4-8341F994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1.5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63D338-99EB-4100-B8EA-1689A249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48C454-E96B-45A7-A76A-49AC6EE8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01479C-CA18-44A3-AF86-8EE92001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70283-46B4-424C-A82D-A30740CF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915BC9-E838-4FDC-9D1B-DF9C28F4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Flask 與 MySQL 拆成不同容器，用自訂 network 串起來。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5924A6-C016-467E-914F-ED624EC1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150B18-076A-4AA6-9B99-BBE810B3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0.5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E8B027-11CF-443C-895B-97B7D4E5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B78D0-B8E6-4D36-A93D-FCE1F6F2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21B6FB-4EB6-4167-821D-C1742E57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A24AE2-27BE-4E01-BF05-766123D6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資源配置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94FC18-10FD-48FC-AF93-60F64A87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CPU、Memory、docker stats 和 docker update 控制容器資源。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FFC934-BFE5-4E8C-8793-5D2814C8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C4D777-2500-47FF-9828-22C71CBB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CADF91-1170-4182-BA07-AFFC575E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這堂課的關鍵句：Image 要能重建，Container 要能被限制。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3C8D62-9B42-41FA-9B60-1096A6C8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44CBED-9FB6-4D45-9CEF-77E343D4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E1DDA3-BDD2-4766-945E-5DF276EC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661774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3E9783-7AAC-41B6-8539-247941A6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CUSTOM IMAGES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57832C-518D-4C96-B0EB-0FF8CBDB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為什麼需要自製映像檔？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58BCB-DC45-4CF6-90D7-97047DB3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38300"/>
            <a:ext cx="4286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9AB1A-F5F0-4489-8750-F5F56EAA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288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手動安裝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462C7D-AC21-4280-8FA8-317856ED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193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進容器、apt install、pip install、複製檔案。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問題：換一台機器就要重做，容易少步驟。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8273FE-9A46-4FA9-A425-471756AD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647950"/>
            <a:ext cx="8953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20D5CE-72EE-4EC0-8239-C0EBFD23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638300"/>
            <a:ext cx="4286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E52CB-CB1E-4FD2-A88C-EF0F1081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288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63A157-A6FA-4DF1-AEB9-114EC1B6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193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把安裝流程寫成檔案。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結果：任何人都能 docker build 出同一個 Image。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10BCBA-7548-4B46-898F-20212B69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762500"/>
            <a:ext cx="8801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FF5476-5321-4186-9609-E5D7F681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7205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Dockerfile 是把「怎麼做環境」寫成版本可控、可重複、可分享的建構配方。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1A826C-F6D3-4EF9-AC2D-17BF3077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825D28-F458-4B25-98EE-45C9111E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BC476A-19EB-4CA4-BDB7-90B405A9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138565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D33314-FDF1-4E64-9D77-1E70FEB3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01AB52-AF72-42FC-B902-D76DDE1C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Dockerfile、Image、Container 的關係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4F33F0-0EE4-4BEA-9451-89144FB5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58297-BBEE-4AE5-9BC8-8B0F3162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C62E38-5156-4A13-9FEB-0089BACE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建構配方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DAA1F4-0388-463B-BF30-7EFC985F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857500"/>
            <a:ext cx="6667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C194A-3536-4819-8608-3AE4AF78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F80D7-0D18-4912-8019-DC4BC011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4CEFCA-D831-4581-B0B0-FFF7E1F7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唯讀模板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CC53A-894D-489E-9229-01B11B9D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857500"/>
            <a:ext cx="6667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8FD821-CBD8-4432-95A0-37FC20FB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884AFA-1B12-4A1E-8043-92A7B344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26F9AE-C708-4E85-9F5A-25A563CD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執行中的實例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EC1AAD-08F5-4CAE-827F-A7B39D69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838700"/>
            <a:ext cx="86106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4D069C-6C3C-49D0-9528-FF2E20BE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C0C01-1574-422A-AED7-82B41926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51E77E-47A5-4FEA-BD85-AC396795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90BD6D-FDEF-43FB-B020-9F6BC8CD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57800"/>
            <a:ext cx="819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 -p 5000:5000 my-flask-app:v1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389383-1A16-4358-9773-FE9EE8DE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8BE77B-896E-44E8-BE7A-A26FBDAB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D0D894-B4FF-4648-9F78-26269E95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463939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BD4690-EFD3-4423-BA10-417EAD0C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DOCKERFILE ANATOMY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40B62C-AF46-49D2-B92E-D6D5B620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 基礎語法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5D8050-55EC-4B79-BCBC-4755172B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6286500" cy="29527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FABAEE-04CF-4167-B3D1-0D8A5806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BF8E12-5F9A-4BBD-BAA3-AD2BC301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52FC2-2BEB-4181-93FC-A3759AE3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097C9-C592-4AFD-92A6-CAAA6EF4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66900"/>
            <a:ext cx="58674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67AA4A-FEE2-415B-B93F-300E8A4B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4287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D02EC6-E681-4365-9222-A99C3557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811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FROM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C6B862-D69B-4A90-A58F-0887929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5811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基礎 Image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7B9D9C-4C54-4A6D-B2DF-B77B31E5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145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3EA41F-ADE8-4156-9260-FC8FF360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669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WORKDIR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5E2C58-DAEB-4A39-A2D5-19F21074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669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容器內工作目錄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3F53D-B450-4D5D-8936-4E262FBC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003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CC02A8-F0F6-4E40-AC49-808B9DCF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527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COPY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70B169-20F9-4F20-91B3-7459BF8F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527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複製檔案到 Image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303596-78ED-4DB2-A341-1ACAEEE2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861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3EFF28-94FF-4BDE-BE37-C0C1DB87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385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RUN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DB2138-BF22-4DC7-AB7F-EE6F6F9D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build 時執行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7795EA-D145-4C30-AA89-2C135EAD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719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91228A-7D74-42DD-8B29-7E15D922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24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1082CD-4060-460D-B7AE-E56E7ACB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243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container 啟動時執行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525738-C170-446C-B62E-796B5F86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768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先會讀這七行，再慢慢加入優化。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F6A10E-8541-4738-8D43-A6C5957F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2FBF26-70F9-405B-9AF5-8323725C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A1F231-620E-4D01-964C-BDE357A5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205299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06EE71-30A5-48DA-A18E-348D1C30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A8F17-B956-4AEA-82F1-7ECFD47F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常見指令地圖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5EA444-587F-4213-B0F8-6AAED41A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FROM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base image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例：python:3.11-slim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45D3DE-FF4E-4861-B820-FF6D1E4D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設定工作目錄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後面的指令都在這裡跑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2EDE66-E9AA-44B8-BF89-F653F84A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把檔案放進 image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初學先用 COPY，不急著用 ADD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0E2469-16DB-4F4A-B83E-364BB1D1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時執行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安裝套件、建立資料夾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CBDD9-146F-4425-B3FC-5A68DA82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啟動時執行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通常放啟動程式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683526-325B-4080-B295-A42EEFF0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文件提示 port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不等於真的開 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723E17-3494-4826-A939-0FDC50C3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非機密設定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密碼、token 不放這裡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D66626-ED07-495D-AB3E-BDDEFB96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 root 跑程式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production 會更常看到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31139F-D564-4AC4-BC53-8F932FA0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10050"/>
            <a:ext cx="9144000" cy="609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這堂要會讀懂前七個；USER 和 ENV 先知道用途，細節之後遇到 production 再補。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FA5BC8-CCE4-4C28-97EA-0BF9DF07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E29A778-8AEE-46F6-91EB-CC766E99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7D1E8D-8355-4667-A11C-FCBB8FBE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05A</a:t>
            </a:r>
          </a:p>
        </p:txBody>
      </p:sp>
    </p:spTree>
    <p:extLst>
      <p:ext uri="{BB962C8B-B14F-4D97-AF65-F5344CB8AC3E}">
        <p14:creationId xmlns:p14="http://schemas.microsoft.com/office/powerpoint/2010/main" val="1542406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基礎 Dockerfile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使用 Python 3.11 精簡版作為基礎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設定工作目錄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先複製 requirements.txt 並安裝套件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（這樣做可以利用 Docker 的快取機制，後面會解釋）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再複製其餘程式碼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宣告使用 5000 port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容器啟動時執行 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324F87-7757-4EB6-AC9B-CA159A4F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66EFBA-621B-4328-A40B-0B8115D9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RUN / CMD / EXPOSE 差異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D1F372-0298-441B-8B68-35F45386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build image 的時候跑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會產生新的 image layer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例：RUN pip install -r requirements.txt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6BD907-C81A-419A-AB21-D9424CB7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啟動時跑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可被 docker run 後面的 command 覆蓋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例：CMD ["python", "app.py"]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59F0C2-7FFC-44DF-9E07-E25DC994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只是文件提示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不會自動對外開 port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仍要 -p 5000:5000 或 compose ports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BF8AE1-2C0C-44EA-9A89-5C5535D5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41525"/>
            <a:ext cx="10210800" cy="628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記法：RUN 做安裝，CMD 啟動程式，EXPOSE 留提醒。真的要開 port，要看 docker run -p 或 compose ports。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45B788F-81D4-4293-B970-4E90D7C4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1DADB5-E369-4D9B-88B5-D91D0B19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C6E237-F9B1-48D0-983A-9D3081EF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05B</a:t>
            </a:r>
          </a:p>
        </p:txBody>
      </p:sp>
    </p:spTree>
    <p:extLst>
      <p:ext uri="{BB962C8B-B14F-4D97-AF65-F5344CB8AC3E}">
        <p14:creationId xmlns:p14="http://schemas.microsoft.com/office/powerpoint/2010/main" val="14709516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B097E6-FED0-457F-9945-A8F72E2E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3E8409-14E9-4E4C-A9B7-7519F2D2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P1：從零建構自己的映像檔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7BF0F2-A7DE-4803-B2E2-740ECCB9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DB1F10-F17B-4622-B5B9-D96CA344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19578-9568-4C51-83C0-83E1AFC0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A7D2D-B395-4A2F-95B5-415CA266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Python 程式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77B0F1-D36A-4421-A2A0-047142E2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印出 Hello from my image!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A13F22-5285-4C1A-A91C-2DDE06D4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86875C-FF8D-4DAF-A75B-7DF23593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0163C9-09D6-4DB8-A679-0757A2B5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0FE7C3-80C3-4C3B-93F2-4CAEE3DA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寫 Dockerfile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762D4-3153-403D-8E54-B4647ACD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 python:3.11-slim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BC277C-E3D2-4CD3-B8A3-F9099FE1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4230C-3A3A-4218-BE59-42712C8C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1F1C2-8E15-48AF-BBC2-0E66DF6C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B8686E-7E86-4757-B3D2-4962D150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加 .dockerignore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A5733D-7221-4FF0-88D2-062A394B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排除 venv、cache、IDE 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EC7BAA-CA52-4479-86D1-583230AA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B5BDE2-E06B-44A7-9F93-CCA14C6A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8808A5-9CBB-41C7-945A-F88CC389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D9F342-34AF-4578-B784-3A58B1A2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/ run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B22BEB-7983-4EAD-AC69-0AF33DEC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1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確認輸出，再看 docker history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858293-1B08-49FA-B8DA-E108E67A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52950"/>
            <a:ext cx="7429500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4747DC-5E39-453F-BB2C-978AB6F7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37CF11-078B-4FED-9B86-AEADD917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5D8591-691D-4BA0-B1A0-33123572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67E988-2301-4CDF-A88C-6628A18B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72050"/>
            <a:ext cx="701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my-first-image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my-first-image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my-first-image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AED048-95C9-4CB0-A468-EA43E5F2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C5082D-10C9-4A16-9E78-37A82631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0CD6CE-19C7-41F1-8E55-1423DD4D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723754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94C558-CEFE-495D-BBA0-A5DD77D7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ADADE-EF22-46BD-8E25-C4FBB3B5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後要馬上 Run，確認 Image 真的能用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9B506F-79CB-45C2-A97F-956B1A55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04950"/>
            <a:ext cx="6096000" cy="34290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8AE9D5-3835-473B-A3D8-FE521622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87150-AF25-410D-AF8D-C407E736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1F491-A849-4F06-887A-883F8D4F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F6D624-B6C7-4CA6-808A-2DC21FE5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567690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test-flask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72A16D-5986-4693-BFB0-38E68E4E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09750"/>
            <a:ext cx="310515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812F8D-5852-4CCD-820A-9F2D8071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最小驗證循環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23E183-A1E9-44C8-B228-F38D164D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19350"/>
            <a:ext cx="26479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成功只代表 Image 被產出。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run、logs、curl 才能確認程式在容器裡真的啟動。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82D95-9473-42C3-AB9F-9CFD3F95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410200"/>
            <a:ext cx="826770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C3DC71-95D2-4556-9847-09F875EA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43550"/>
            <a:ext cx="7658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每次改 Dockerfile：build -&gt; run -&gt; logs -&gt; 清理測試容器。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344E7B-85DD-47F0-AEDC-23A1BB85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4FE1A-A1B1-4902-AC65-8F225132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1B041E-89A0-4511-9CA1-EB423B4A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364085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867030-5930-4462-8BEF-2063C172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8A659E-480D-4BC9-AF4A-79C16312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Build Cache：為什麼先 COPY requirements？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8BA79A-68BD-42BE-B959-FB19EE8B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04950"/>
            <a:ext cx="4762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1DC44-BC29-4D72-BE37-0925D4AA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954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好的順序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ECDC23-6C17-4151-809F-EE3D71FE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28850"/>
            <a:ext cx="4305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改 app.py 時，pip install 那層可重用快取。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8911A-67EB-4F9F-BBD0-A121EE78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04950"/>
            <a:ext cx="4762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09A1A9-E953-4A6B-B3B5-0A623BE2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954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不好的順序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0E7FE4-2C0B-464F-A827-BB0B4FFD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28850"/>
            <a:ext cx="4305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任何檔案變更都讓快取失效，套件常常重裝。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54871D-A33D-44DD-8298-6B515832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410200"/>
            <a:ext cx="922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先觀察兩種順序差異，再回到 build cache 原理。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F452EC-0E63-49ED-90C0-49175A8F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1B0C56-5F6B-47F6-8593-234C5FBD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A2C52E-B47D-4B96-8152-23BC1FAE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0682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015F098-BC60-441E-BD49-C48146D5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FFED027-BF07-42E8-B0C9-53986FF1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範例程式碼：Build cache 寫法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41A7E3C-3FB6-4BCD-8583-275BAD27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AEE85D3E-3A9C-40EC-AF5F-B20B8824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93BFF382-0EAF-4C1A-A115-8C71C583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好的做法 ✓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        # 這層只要 requirements.txt 沒變就用快取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套件不變就不用重裝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程式碼改了只有這層會重建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不好的做法 ✗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任何檔案一改，這層就失效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導致每次都要重裝套件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1560B4EB-BA6C-4D78-87E9-84FBDB95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D59F8B1C-AD15-48AA-8C14-15D99FDA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0710885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4AD856-0C1F-437C-B31B-2C78C9E4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7B4825-5B46-4C80-A52B-0263B1A5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是一層一層堆出來的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A48145-2C0B-4EFB-BD29-78D5A929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71800"/>
            <a:ext cx="50482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11430">
            <a:solidFill>
              <a:srgbClr val="0B5CA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0CF1BC-23F5-42AA-BF73-8B608863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885436-4F80-4DED-9C44-A9F33C48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533650"/>
            <a:ext cx="53911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11430">
            <a:solidFill>
              <a:srgbClr val="0478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D2C27-1527-4F6D-B1BD-88A35EF5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676525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COPY . 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BFDFF1-931F-4A1B-AE54-BEA64915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95500"/>
            <a:ext cx="57340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11430">
            <a:solidFill>
              <a:srgbClr val="B4530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C1D46E-E878-414D-A100-8914FF20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238375"/>
            <a:ext cx="497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RUN pip install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2EA85-57E4-4CFF-903B-44BDD92D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57350"/>
            <a:ext cx="60769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11430">
            <a:solidFill>
              <a:srgbClr val="4F46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82CFB-08D8-4B88-AD3B-793E02F3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800225"/>
            <a:ext cx="5314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COPY requirements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9CC07B-27A8-4CDF-ACD2-8D834587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219200"/>
            <a:ext cx="64198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C8388C-E58C-444D-BCC2-1041F1916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362075"/>
            <a:ext cx="5657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C8394B-38FE-435D-B89E-9AE64A0A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14500"/>
            <a:ext cx="31623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DAD5B-82BB-4154-9FFA-F2041E2F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05000"/>
            <a:ext cx="270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C13BA5-25C0-486A-899D-6CAE75DB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38400"/>
            <a:ext cx="27051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每個 RUN / COPY / ADD 通常都會產生新 layer。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上一層的內容不會因為下一層刪除檔案就真的消失。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F9AACF-353D-4CF3-9C41-DB8916D3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14900"/>
            <a:ext cx="72390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3FC10E-E064-4F12-AA87-59EB25B4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741C5A-DE54-46E7-8B5C-0198D965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A9C513-FCE9-45DB-AC80-2D0C6885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29A36C-58C8-4425-8610-74EE60A8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334000"/>
            <a:ext cx="6819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677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my-flask-app:v1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565A00-F9D7-45F2-8242-5D4D973C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1FE1E9-B358-4488-BA71-3445B6BF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87E3C2-43DC-4F9C-A25B-46884362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22638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31D668-0BFA-4D5D-9BA4-274EF5F9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1A0CD9-BEA7-44BA-B04D-9D3D1BDF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P2：分層比較實驗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7139DD-3CCB-4C38-AC6C-370C4183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6953250" cy="2838450"/>
          </a:xfrm>
          <a:prstGeom xmlns:a="http://schemas.openxmlformats.org/drawingml/2006/main" prst="roundRect">
            <a:avLst>
              <a:gd name="adj" fmla="val 335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B4C138-D4D0-4758-89A5-D29C7646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550006-3D51-4CDA-B9C6-39A67E45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466D5-3E17-47B9-9532-E83D3023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EAC471-8269-48EC-A614-B483C155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66900"/>
            <a:ext cx="65341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Dockerfile.many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install -y curl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rm -rf /var/lib/apt/lists/*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Dockerfile.one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&amp;&amp; apt-get install -y curl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rm -rf /var/lib/apt/lists/*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1ADBC-D10F-4316-8DF5-0CE54CA0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859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C5BBFE-1EB3-434F-871A-E6E90562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B7A1A4-F61A-424D-BED5-2CC5B19D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812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build -f Dockerfile.many -t layer-many 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EB74D-99E1-465C-97CF-7BAC00E8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908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0C89F-4030-476E-A602-D7EDB70A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813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Compare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0B7E0F-BA94-462F-BAC4-2117C762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861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images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docker history layer-many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487C25-E264-4270-A985-9C9041A7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957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7C8A83-7AD0-4861-9BEA-58F4E147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862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Discuss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80B51B-766D-408A-B95D-A0FD7ECD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910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哪個層數少？哪個更容易留下暫存檔？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28EFE0-C61F-4175-8D03-242DCCE8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05400"/>
            <a:ext cx="8572500" cy="476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E0CE8C-718E-4716-99C0-3C38239F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38750"/>
            <a:ext cx="792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完成標準：能用 docker images 與 docker history 說出大小與層數差異。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E54248-E453-45D3-90CC-AB033B8C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87536C-4949-4DA3-B4C3-254D2D50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70DAEB-3C1D-4368-8778-90E68A0B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805230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DACAD2-8668-4D93-8167-EE3D5AEE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OPTIMIZATION PLAYBOOK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5E6A40-D612-4FD9-9DC7-FA834F5D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優化的四個方向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1155B2-FE4A-412A-BBAC-08BA32D5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9545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C386C-E6DA-4BE6-A1A2-13D8D8B5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小一點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1D219-7D45-49A8-AB46-04A07173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4193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slim / alpine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移除 build 暫存檔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858C12-B794-44E1-BC5D-8D8D323B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9545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93DCAF-2BB2-4AFC-8AD0-A026265B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快一點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52C55F-927C-4C4C-9068-3A19D8BB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193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把不常變的層放前面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善用 build cache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6C8F64-E981-49F6-A4C6-36A66BF8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3380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E7F9DF-23E7-4549-AA23-E610D78D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24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乾淨一點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EB53CE-D254-4D1C-A22E-EB7EFD79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577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.dockerignore 排除 venv、cache、.git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A463F-4D20-4287-A421-A87ABE97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47E74F-D3B7-485D-BE8A-39D3CBA5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安全一點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223C4-D8CA-4CA2-A7A6-FAE3D494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577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不要用 root 跑 app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不要把 secret 寫進 Image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A6D42-7521-4807-922E-CBD5F145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3AAB70-419F-4894-8364-2154EB85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29ACEA-1C9F-46B8-8C27-59047CA2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524832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4E3BE8-9E5E-41FA-BB76-AA643245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28DD9-404C-463E-8969-961239C6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2：CMD / ENTRYPOINT / 非 root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1FD307-11F1-49B4-A922-BD096329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155C7-88AD-417C-B46B-6DD54351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Q2：CMD vs ENTRYPOINT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3BF36-675C-4731-8FF8-AF6725EE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44958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CMD 可以被 docker run 後面的參數覆蓋。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ENTRYPOINT 通常保留主程式，參數附加在後面。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3BCD75-A62F-4263-BBD1-207709B7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621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EE017A-5670-49BB-83DA-0C6F4EC2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526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Q3：為什麼不要 root？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EB187F-1F26-487B-BACC-69549471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4958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容器被入侵時，root 權限會放大風險。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改用非 root user 是降低攻擊面的基本防線。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9317C-19E4-4035-A2A3-8C811342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05350"/>
            <a:ext cx="64770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DC94EA-129E-4D56-A3F9-33D5252D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2509BA-F7BE-48DD-B946-077F7B91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C87776-C511-47D6-98C9-6F657101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0731B1-7576-45C9-8F76-9EEDC223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124450"/>
            <a:ext cx="6057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27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604DD-8260-4B62-8FDE-C1AAD243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0A4F1E-87BF-4C1B-B3F7-3469F888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2E8284-0EC2-44E9-BE16-60A4AF59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8024700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30D268-1A45-4EAB-B8C3-978F0176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46435F-713C-4BFB-8CF7-F64FAC0F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DOCKERFILE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02230D-32A0-40D1-A345-6248F189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CMD vs ENTRYPOINT：誰會被 docker run 覆蓋？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D4939C-7775-4AE5-9EDF-C7AA19B7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B08E6-3D17-48AC-B82C-3E0D7F2E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A6635-8265-45C3-A483-0860CE52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451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93C5FD"/>
                </a:solidFill>
              </a:defRPr>
            </a:pPr>
            <a:r>
              <a:rPr sz="1950" b="1">
                <a:solidFill>
                  <a:srgbClr val="93C5FD"/>
                </a:solidFill>
              </a:rPr>
              <a:t>CMD：預設指令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ED2816-4224-441C-A59A-2718D65B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451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使用者在 docker run 後面補指令時，整個 CMD 會被取代。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BB24C-1DE9-4243-91B9-838B8C08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4514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7D58BC-452B-4DDD-B9F2-B36B6263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147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bash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57BBED-35BC-4909-B3B3-CC8A7DCB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943100"/>
            <a:ext cx="451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ENTRYPOINT：固定主程式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69BC4F-0FD8-4A53-9F9A-6FFC2C06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419350"/>
            <a:ext cx="451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使用者補的內容通常會接在 ENTRYPOINT 後面，變成參數。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18840B-74F1-407B-969A-0A1E49A8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43250"/>
            <a:ext cx="4514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24678F-5DB3-4528-9E56-B9763162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["python", "app.py"]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python app.py bash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51357A-852D-473B-B5D3-02DDCB6E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10150"/>
            <a:ext cx="8191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E5D2C-00A1-4DF3-B70A-85B9DAAB1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219700"/>
            <a:ext cx="746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5E7EB"/>
                </a:solidFill>
              </a:defRPr>
            </a:pPr>
            <a:r>
              <a:rPr sz="1350">
                <a:solidFill>
                  <a:srgbClr val="E5E7EB"/>
                </a:solidFill>
              </a:rPr>
              <a:t>真的要換掉 ENTRYPOINT，可以用 --entrypoint；新手先記住：CMD 容易被取代，ENTRYPOINT 比較固定。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3793AB-ECD2-4773-82CD-FB618C15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C37016-0280-4EFC-A098-EC30CEA5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A89AC2-B8C3-4C58-87F1-78D58BBE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00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1</a:t>
            </a:r>
          </a:p>
        </p:txBody>
      </p:sp>
    </p:spTree>
    <p:extLst>
      <p:ext uri="{BB962C8B-B14F-4D97-AF65-F5344CB8AC3E}">
        <p14:creationId xmlns:p14="http://schemas.microsoft.com/office/powerpoint/2010/main" val="100149265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8A3494-4B9D-4BED-BAA7-9CC08735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0DCE9B-AB07-43D4-9AB4-67DB818A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BEST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470020-12EF-4C85-A0CD-4ADF38CC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實戰組合：ENTRYPOINT 放工具，CMD 放預設參數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427EE0-4D2F-47AD-94BB-4A827634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240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2E8F0"/>
                </a:solidFill>
              </a:defRPr>
            </a:pPr>
            <a:r>
              <a:rPr sz="1500">
                <a:solidFill>
                  <a:srgbClr val="E2E8F0"/>
                </a:solidFill>
              </a:rPr>
              <a:t>把固定不變的主程式放在 ENTRYPOINT，把可以被使用者替換的預設目標放在 CMD。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52BAF-1E7B-4805-BB0B-CA6A36C4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4762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354283-B5F9-4D4A-9855-3BE475F3E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4343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一定會執行的主程式</a:t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["ping"]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預設參數，可以被 docker run 後面的內容取代</a:t>
            </a:r>
          </a:p>
          <a:p xmlns:a="http://schemas.openxmlformats.org/drawingml/2006/main">
            <a:pPr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["google.com"]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A91E4C-4114-4E8B-AC40-0B23BA38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4286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99016E-7451-420C-9B6E-8316E1C7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241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1EE215-5779-404A-BA0C-A421D511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47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93C5FD"/>
                </a:solidFill>
              </a:defRPr>
            </a:pPr>
            <a:r>
              <a:rPr sz="1500" b="1">
                <a:solidFill>
                  <a:srgbClr val="93C5FD"/>
                </a:solidFill>
              </a:rPr>
              <a:t>=&gt; ping google.com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5BA40-09A0-41D8-AF68-C76850D8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90900"/>
            <a:ext cx="4286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56D24-2B6F-41DA-87DD-3284E684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5814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 yahoo.com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103952-8727-4573-BF4D-915BF8A3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6EFAC"/>
                </a:solidFill>
              </a:defRPr>
            </a:pPr>
            <a:r>
              <a:rPr sz="1500" b="1">
                <a:solidFill>
                  <a:srgbClr val="86EFAC"/>
                </a:solidFill>
              </a:rPr>
              <a:t>=&gt; ping yahoo.com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F076BE-085A-4B4D-8958-C2953733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953000"/>
            <a:ext cx="82677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9E3420-5F55-4A1D-8D12-C78A84C5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19700"/>
            <a:ext cx="7543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一句話：ENTRYPOINT 決定容器像什麼工具，CMD 提供這個工具的預設參數。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71035E-DB62-4B03-A501-2DF6C0BF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7AE55B-13E3-4E7D-B991-CFE036F4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AF5892-94CB-4824-94E3-3D7B8D47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00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2</a:t>
            </a:r>
          </a:p>
        </p:txBody>
      </p:sp>
    </p:spTree>
    <p:extLst>
      <p:ext uri="{BB962C8B-B14F-4D97-AF65-F5344CB8AC3E}">
        <p14:creationId xmlns:p14="http://schemas.microsoft.com/office/powerpoint/2010/main" val="187731658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01B379-ACD6-469F-A810-5396BA63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OPTIMIZED DOCKERFILE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E6233-77DE-4E65-A551-D52B379B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優化後的 Flask Dockerfile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0173D-B556-4B59-B3AB-C1FFA20B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6572250" cy="4457700"/>
          </a:xfrm>
          <a:prstGeom xmlns:a="http://schemas.openxmlformats.org/drawingml/2006/main" prst="roundRect">
            <a:avLst>
              <a:gd name="adj" fmla="val 213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C0D78-C989-4A7C-B07F-AEC930AC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4CA4FD-BBF3-4811-9759-2EAC5523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02BF8-D141-402D-8104-9ABDC47B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AD406E-60BD-4AEF-8A95-8846EAAC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33550"/>
            <a:ext cx="615315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maintainer="docker-course"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useradd -m appuser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A69AB-63AF-4F79-AAEC-B268D4E1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46685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46A02-6125-4E01-BD3B-E4BF524F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573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--no-cache-dir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768C2-0CFB-4F4C-9067-B1452F27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0500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不要留下 pip cache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C864B5-BBAC-4878-B05B-304DC581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0030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D684B5-A03C-4282-AE1E-2122A1B6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908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useradd + USER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AB978C-DC80-46FA-8E0E-9EC69386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3845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用非 root 執行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F51FB2-35C1-4A00-86F8-F6ABE7C7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3375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32019B-9471-4965-84D1-2C0ABF62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5242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COPY 分段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9BF6EC-9B19-4AFF-8FC3-BFE247A0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77190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保留 pip install cache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37C570-8F20-4654-80DD-8B3BF4C3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3300E7-BB55-4878-ACD6-C5E1BB62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577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ENV PYTHONUNBUFFERED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9A4532-217A-40C3-8446-B6C49B9A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0535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log 立即輸出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4E047A-6082-4B1D-B905-F0800E82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852F03-9840-49DF-9B50-0E7D3FE5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41C7EF-472E-40C0-A495-D49F82D9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1665552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4B6B9A50-F343-4EAF-9421-8C0CB258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8DA937F-85B9-436E-A564-FC03C3DE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6C59B346-C944-475A-8A36-0C277FA7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476EC34-D8EC-4A27-8F38-3512930E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8A3653C4-7185-46AA-BDB7-F555A573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加上標籤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maintainer="student@example.com"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version="1.0"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設定環境變數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安裝依賴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建立非 root 使用者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 &amp;&amp; chown -R appuser:appuser /app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複製程式碼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--chown=appuser:appuser . 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308A136-44D9-4FB1-B610-1EE237E3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6F8370FB-1C84-480D-ACDA-8BEAD269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4754508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345107F7-650A-45EC-988E-F8D3BDE4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5BBF3AE-751C-41D3-A516-86EE33A8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98BA933-A787-4D90-A9AD-FB76DCC7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E9DB4ACB-BDA6-4E51-B828-2495245B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3611B3B-B590-4033-A6F7-3D19246B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663DC27-EEA4-4780-8E8B-948EBFD2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AC2254C5-AD8E-4025-9C87-B837E3E7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6519986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36AF55-B89D-4533-B5CF-B527938B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127A0E-6CBA-4D53-8912-CC0048F4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.dockerignore 控制 build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07E39-DA42-4A6F-A946-237BB5D6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81150"/>
            <a:ext cx="4095750" cy="2857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DE6B0A-20A7-4E49-9F19-7CDB551B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5558C-11E8-4907-AFD9-72C4A4D1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35F2EA-020B-49CB-96F0-91916EB3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9A54D6-362A-464E-B907-FAF1CE97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36766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bigfile.dat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3771E3-24DB-4D67-A3EF-F4A3E63B6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1910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AD54E-F047-48FD-B911-A82FB5F0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沒有 .dockerignore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44EA93-BF18-4BB2-B52A-6156D2EA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907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0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把不必要檔案也送進 Docker daemon。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context 變大，可能把 secret 或 cache 帶進 Image。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4ACE6-8B0C-4FD4-A660-69BA0E1C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62350"/>
            <a:ext cx="41910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4868FA-BB59-4837-9583-C4892DB2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52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.dockerignore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63E0DB-C435-4B1D-BC09-1762C912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719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只送 app.py、requirements.txt 等真正需要的檔案。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更快、Image 更乾淨。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21A698-2EEB-4200-B7BE-43556B37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FE8091-4B69-46D6-90AA-A9012C04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22A8E-EC94-4BD0-8B90-45FBC550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3575846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A3424C4-16E1-4193-A046-430E7A02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F42ECE-6A71-4D19-956D-695AD9BF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6750850-B126-4F5A-AE6C-F778C930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1367CE2A-9968-4AC6-A5CD-AAAE6421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CD30AC67-CC18-4B7D-B52E-EDA3B948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版本控制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.gitignore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Python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*.pyo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.pytest_cache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IDE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.idea/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*.swp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其他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2CB8AC0-122E-4C4A-A12C-3A0D4CD6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115C63F-3CC6-44B9-B4BD-B7D0F96C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200719779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2A7DD5C-E147-4246-B79D-EB70D769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8C54A5A-F759-4307-A980-D989DE4C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C7C86205-13FB-4FF6-B47C-50F3F9F6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01706A7-AD93-4B01-9620-9A407F60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8C72097D-BE2D-45F0-8057-97C3334D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*.md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*.log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965EF12-A5BD-495E-9978-D516EF60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020C6078-E82F-48CB-AC33-CE8B5188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6608412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E1C78A-165D-43BD-B1DA-3A5274B6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TEST AND INSPECT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433F0-EE45-4729-849C-579C090A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測試 Image：不只看能不能啟動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91239F-A934-474E-B2E0-C616087A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9700"/>
            <a:ext cx="6096000" cy="39052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756B92-3C7C-4DA8-ABE4-CCB0A5A3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AF7D3-7E32-48E7-B61D-0EFCFD25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C59EF-7CD2-406D-B97C-0CE3C990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AF3E76-CAFB-476D-B514-C7C7E45B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28800"/>
            <a:ext cx="5676900" cy="335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test-flask bash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-la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list | findstr 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whoami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8156AF-62E6-47D8-8043-D0353C50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52400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260FE8-4334-4885-9FBB-56FCB196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145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63277-C186-42E3-8AF7-D9E7D682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4310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pwd 應該在 /app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88FE9-56C7-4B87-8C1C-E28A2A65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8125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2E6372-FB9E-4FC6-8637-11D83B26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717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D408F7-BD36-4D68-A2E0-BAA739AB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0035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app.py 與 requirements.txt 存在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A4EE6E-F75A-4500-A629-FB2F9610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3850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72B693-FA8D-4885-AA61-451F9CC2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4290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D5356D-A173-446C-91E2-A5ED5D6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5760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已安裝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F52AED-19FC-4CDB-8FC6-8B97A162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09575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AF4B52-1013-473A-A68E-06622150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862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A9E931-1EBF-44E7-B407-3A1395FA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1485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若設定 appuser，whoami 應顯示 appuser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500C40-5512-4AB2-8D77-2BACAAAA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6BB168-FD57-47E8-B0F5-DB30E620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DA01BA-C8B0-4EE4-B03C-773188CC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7370638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4E10EBE8-AA1C-48D5-8737-E64DF227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6957FD-4628-4307-9D5D-D164C0D8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範例程式碼：測試映像檔指令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D7DB353-8F88-4DBA-8CA4-BAA8FDB1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B87F9B4-9CAC-450F-BBBA-51C4F211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891D1F4-A8B0-426E-B0FE-46DE7F6B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查看容器詳情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D22FAA18-E3E1-487E-B11E-9A6FAA0E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7E58AB30-32DB-4991-ABBB-2FC86A6B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786810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C492C3-A6CF-4B3D-A085-63E466DA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0749C8-40C1-46B3-A03E-27038C32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save/load 與 export/import 不一樣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360FF-2C47-4A49-9740-E492EC02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573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9D0AF-B0F8-4D86-9AB6-9E2080B5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47850"/>
            <a:ext cx="411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save / load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ACB10C-496F-4103-8F80-08D3D413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57450"/>
            <a:ext cx="4114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Image。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會保留 layers、tag、history。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適合把建好的 Image 搬到另一台機器。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48DAFB-A6D2-4A44-9DE2-B002C36A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6573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196765-36B3-4B88-8AAC-A9F231F5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47850"/>
            <a:ext cx="411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export / import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95700-9DD9-45D1-B7D2-289A680F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57450"/>
            <a:ext cx="4114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Container 檔案系統。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不保留原本 Image 的 layer history。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較像把執行後的檔案系統打包。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3C036-39F9-43CE-B4F7-878E6A42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14900"/>
            <a:ext cx="74295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0D661-AFD4-4072-A60C-66A3AA55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08D93-09B2-436C-AE9F-13E8BFAF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62F00E-CB26-48B6-94B1-75A1FE4A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9ED1DD-464E-4156-8EC7-1E07C46C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334000"/>
            <a:ext cx="701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save my-flask-app:v3 -o my-flask-app.tar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load -i my-flask-app.tar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12D4F-03D9-419B-A36B-45B38C30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171904-E732-477C-845E-BD3FD877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71B497-8AFC-4797-AFD9-A4E2D191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2474467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D90E38-3499-45CA-958A-2BC97E53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REGISTRY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C4978-E532-410A-BB17-A16BA6DF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Image 發佈到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63E40-9D83-459E-A6CB-CB4F38A6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08115-FA35-4B6C-A622-AD3E0099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login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8C9FE6-AF8F-4784-970A-203F56EC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login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C28CC6-3CBF-45D0-A183-742174B6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3AC25E-ABC3-4D10-B881-0AA79C74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47751-CA03-410C-8D4F-1C0015FB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2D832-7669-45C4-97C2-7FB225C8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my-flask-app:v3 帳號/my-flask-app:v1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9866B9-F5FF-4F50-A9C0-EC93630D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AC0913-2AC4-4D30-B441-F33277D5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B3A091-8112-4CFB-A92F-81E22744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0847DA-91B4-45D3-9B66-92898C07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帳號/my-flask-app:v1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1A957B-73D7-47CB-8D68-AB40DD0E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EF14C9-9F46-4C9C-9E5F-E66DEBA6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471B1B-2E44-4323-AAD3-100CC297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pull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682FAC-844B-4D61-B9B5-8EB45AE2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pull 帳號/my-flask-app:v1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4F559A-EA51-477D-893D-6BA8F518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762500"/>
            <a:ext cx="90297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BAE04F-E0B4-4225-A02A-69AAD9C9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53000"/>
            <a:ext cx="834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提醒：不要把密碼、token、.env 或私密設定 bake 進 Image。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BD95C2-4361-43D0-83B5-F035C040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EF8DB4-9E9D-4EBB-98F2-8AFA27CD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967AC6-C962-43CC-8B57-4ACC86CA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9364228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56D5741F-4E75-43EE-9100-BE12797D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5AFE9A-3465-4853-BE12-EDF946414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Hub tag / push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B3AA4781-489D-4953-A924-66BA5EA5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6DF0F089-B1CE-48A6-BFCF-791D3342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3BEF95F2-319E-4D38-BA5C-3701EE77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myname/my-flask-app:latest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myname/my-flask-app:latest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8C78F36-B6AB-4873-B35A-77DEDF84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7F29C08D-DA75-4F63-A51A-3CA82F15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2519371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18F8B3-110E-4C55-98B6-5C0246E4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EBA34F-BD94-4BC5-9D8F-BFBDB6BB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P3：推上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3CF254-8AF5-40E2-9E8B-BE0B0494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6477000" cy="371475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14AA6-8F7B-425F-B119-AB0F74FC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F7E1DF-01B6-493A-A9A8-F757EE77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769B0-4CA7-4182-A82C-A8C6457E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E7053C-D226-4370-8169-7751DE9F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6057900" cy="316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my-first-image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yourname/my-first-image:v1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yourname/my-first-image:v1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AD0F0-7789-4959-8B8C-4C87FD12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62150"/>
            <a:ext cx="30480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A8255-0F5B-40C6-963A-054B16B5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526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356A96-516C-4C34-BBAD-9B1D89EE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86050"/>
            <a:ext cx="2590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78CF96-2FBF-45B2-AF6A-D7ECC54D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581650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yourname 要換成自己的 Docker Hub 帳號。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31AF31-2043-4F54-BE20-5B7B26E9A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E0657F-CDED-4181-BFEA-522692F4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08CAEF-4169-4522-882F-8E5A833A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3574219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557DB0-CA95-46EB-92B5-C29332DE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MULTI-CONTAINER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FA7974-7D63-479F-87E9-408A30A9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為什麼要把服務拆到不同容器？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985612-F612-48EF-BEFF-F3E59C08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573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24A2E1-3DCB-4B29-BDED-20C4384F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47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單一責任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DD0C59-7E6C-46BE-AD17-21D37480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3812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管應用，MySQL 管資料庫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A9875-3F82-4CA3-8F80-404703C6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DFBFB-CF33-4C49-BB32-48C11377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47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獨立升級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96534-09A4-46F4-891C-053D65C1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812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Web app 可重建，不影響資料庫版本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21F695-7982-4A48-B2FD-7EA85036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7BB6D2-B30F-48C0-AD34-3938ADFB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671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獨立資源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1EA07-3A5C-4B37-BC11-003B7B83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005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資料庫通常需要更多 CPU/Memory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E3084C-5507-4B82-88B9-90FC4757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766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B8D2CC-D2A0-4733-97CE-3F8ED107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8671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更接近實務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FD8EB9-F678-4C11-A6EC-9C4428F3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4005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服務間透過 network 溝通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E13932-E4DB-4714-8BF2-2075FD01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752FF1-515D-4514-AD5E-AF06F6F2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7696E3-F4B7-43BD-AB03-0140F20E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96410165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30B9F2-C985-4FC0-A50A-79AC6F0D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NETWORK 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39A9E5-CDFE-4621-8CC6-1C7C0535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Network：容器間的私人道路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5CE63-0738-4E82-A671-6C2FC43F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4286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B337AD-0A4D-4B2D-900E-2A1E2618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859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預設 bridge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59DF62-E47B-4AEB-8355-150BE0AF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3829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可以讓容器上網，但服務名稱解析與管理彈性較弱。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FD408-7D72-4070-95C0-0B320F3B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695450"/>
            <a:ext cx="4286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A6E1E-D291-4625-BA93-57B6C8D5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8859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自訂 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137AF-5B6F-4D91-9F41-B879B451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76500"/>
            <a:ext cx="3829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3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同一個 network 裡的容器可以用容器名稱互相連線，例如 host=mysql-db。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6E0667-5E06-4443-AF40-2952F0CD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10050"/>
            <a:ext cx="8763000" cy="137160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E6247-79CE-4F79-BBBB-BD818FC3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EB922-EAF2-4FA0-B025-AE6947D4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8319BC-86B9-4AF5-A75F-DCB3AD4A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78B49B-C3F7-4F4B-A71F-5C2F9C75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629150"/>
            <a:ext cx="8343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36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mysql-db --network flask-network mysql:8.0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flask-app --network flask-network my-flask-app:v4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64A8A9-CA8A-457D-A045-87FC1E1F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1C3C60-EEE5-4405-B069-1066D4CC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B038A8-C1EF-4B44-B17A-CF33BB0D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10600281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CE2C74-14AE-4E74-A95C-C40AD09F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CUSTOM NETWORK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9C38C1-CD67-4E26-8245-86050678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+ MySQL：用容器名稱當 DB_HOST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2F0303-8D22-4096-AC70-648D6876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0025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97DB52-3C6C-46DE-8C5E-E62FAE45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1907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flask-app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A51D68-62C0-4A03-82F8-D4B38854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0985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my-flask-app:v4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host = mysql-db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 = 3306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BC84E-3024-4A21-8255-F11E5F5F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62250"/>
            <a:ext cx="9906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solidFill>
              <a:srgbClr val="00A97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DDA0C6-8315-49E1-B855-84D3799C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025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FA081F-C13B-417A-BA67-64FE0DBE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F422E-0740-48EF-8929-6B18992F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0985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MYSQL_DATABASE=flaskdb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Volume 保存資料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A8F79F-68FD-4051-A27F-56A5ACA5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00550"/>
            <a:ext cx="7429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559C0B-C97D-4AD9-8DD6-CBD858AF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552950"/>
            <a:ext cx="674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flask-network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3CF61A-49C9-4785-83EE-E4DB4F72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025CE7-3B9A-4A8F-8B6F-336F274F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52EDD-A4E4-4FBD-916E-E9ABF0AA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67118139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58142FC-04FC-426C-89A8-D832AE0C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AA23089-9D32-4F8B-94EF-AD244BF0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(1/4)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016FA80C-9720-4B10-8129-D8CCE5F4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099DD23C-5B9E-4330-98B4-042B7B5B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D93BD5FE-C23F-45F0-A39C-6007F758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mysql.connector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get_db_connection():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"""建立資料庫連線"""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mysql.connector.connect(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host='mysql-db',          # 用容器名稱當主機名！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user='flaskuser',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password='flaskpass',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database='flaskdb'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init_db():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"""初始化資料庫"""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# 等待 MySQL 啟動完成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i in range(30):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 = conn.cursor()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06057E7B-4F63-48E5-9834-F3E24105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CEA1C0C1-6AEE-4E96-AED5-BED53A72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830893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EA0573E0-67CF-40AA-9A83-CB251647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DF04CA-C035-4DEC-A5DD-34F9BA07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(2/4)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3FAE033-6604-44E5-B439-3E73BF9D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7FBFED5-6287-4593-BCD3-3FBBCAE1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08AC9AF-BF8D-4257-B741-CAA52CC3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cursor.execute('''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CREATE TABLE IF NOT EXISTS visitors (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id INT AUTO_INCREMENT PRIMARY KEY,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visit_time TIMESTAMP DEFAULT CURRENT_TIMESTAMP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''')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conn.commit()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print("Database initialized!")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return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except Exception as e: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print(f"Waiting for MySQL... ({i+1}/30)")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time.sleep(2)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print("Failed to connect to MySQL!")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 = conn.cursor()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1B96E91-9639-4F37-9FB0-52A26F54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6D5362B-2922-4DFC-8420-F6D05573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0281050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709454E-7F1F-4225-821A-439188A0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12FA65-FC88-4668-A55F-0AAA1A8B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(3/4)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5888AC90-C8F9-4617-A618-7E372334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516726D-4961-43DA-8292-E47F68A6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E8143E75-18EF-41B0-B2AE-CC661BE1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# 記錄訪問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cursor.execute("INSERT INTO visitors () VALUES ()")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conn.commit()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# 取得總訪問次數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cursor.execute("SELECT COUNT(*) FROM visitors")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count = cursor.fetchone()[0]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f'&lt;h1&gt;Hello Docker!&lt;/h1&gt;&lt;p&gt;You are visitor #{count}&lt;/p&gt;'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except Exception as e: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f'&lt;h1&gt;Error&lt;/h1&gt;&lt;p&gt;{str(e)}&lt;/p&gt;'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@app.route('/visitors')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visitors():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 = conn.cursor()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cursor.execute("SELECT * FROM visitors ORDER BY visit_time DESC LIMIT 10")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rows = cursor.fetchall()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AE1BE27-D819-4D32-A5EC-25960B12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5A5F9C4-494B-4D20-95C9-7C1C54F3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9102385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1A7D275D-2627-4522-81DD-55C1ABA6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1E0CEA5-7F5E-42AF-9D8F-7F3BDD21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(4/4)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7870100-880E-4A4E-BDE4-7F3989E9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FD198DA-480F-44BB-B5BB-6B1258CD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86683E5-7EB7-4D31-9298-299C0BBE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cursor.close()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conn.close()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jsonify([{'id': r[0], 'time': str(r[1])} for r in rows])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except Exception as e: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jsonify({'error': str(e)})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init_db()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C03FFAC-D7A1-43EA-8AEA-00C4DF49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F283E421-D2D6-4BB9-988B-899CC9E7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84231539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0784A430-CD0B-4A37-BEDB-5542FFC0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BD31DC4-DB77-4428-B464-4F4AF267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容器指令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3FB8E6B-1E07-4284-9479-F2C51C35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0CEF9592-EC9D-4EE0-91B7-AC325B27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AA26FDF5-3B2D-4842-82F8-3FBDEA14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mysql-db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flask-network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MYSQL_ROOT_PASSWORD=root123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MYSQL_DATABASE=appdb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C:\docker-lab\flask-app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my-flask-app:v4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flask-web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flask-network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5000:5000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my-flask-app:v4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95735D8F-2FEF-40A4-9BAA-8F25842C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E4DD897F-92D3-40E1-9A83-BFC62DE5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3786601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24887D-B59A-4FA9-95FF-E3EAB52C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NETWORK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B0234-EFC2-4CF5-AE6D-91B0A285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Network 指令組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C65465-E29A-4C35-B8F7-B21B3B96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28750"/>
            <a:ext cx="6191250" cy="3752850"/>
          </a:xfrm>
          <a:prstGeom xmlns:a="http://schemas.openxmlformats.org/drawingml/2006/main" prst="roundRect">
            <a:avLst>
              <a:gd name="adj" fmla="val 25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6A75C2-3A67-45A1-B8B8-DD97F9C1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7EB2A9-3D48-4705-8703-BE6345D3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A0D69-FAAD-4C93-9B99-3B40FF27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788882-768D-405F-A194-656087A9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47850"/>
            <a:ext cx="577215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inspect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connect flask-network &lt;container&gt;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disconnect flask-network &lt;container&gt;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rm flask-network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F93ED4-08F5-46C7-9844-DAC9F52E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62150"/>
            <a:ext cx="295275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143768-920B-4542-89B9-71BDD5A0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5265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操作順序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78ACC0-00C8-419C-B2C9-B100E608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24955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建立 network -&gt; 啟動容器時加入 network -&gt; inspect 確認誰在裡面 -&gt; 用容器名稱連線。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B27121-BC24-4A2C-9735-C7CA2B08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830B8B-5ED5-40BA-8C5A-99DC16F2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058883-A2CF-4169-811E-93E8188A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914750288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B93076-BF4C-41EF-AC20-EA1DF7A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F45EA4-B987-4693-B077-C8801190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為什麼需要限制容器資源？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2C5722-F744-481F-B309-92F9BAB6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F4DA2-E17C-4803-864E-7D1E6059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CPU 被吃滿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2BB15-4714-4095-BD6D-979D7FA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一個失控程式讓其他容器變慢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BEB5E-2A78-4E03-904C-253AD5A0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AF1392-5B91-4572-80E2-C3C14539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記憶體爆掉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F2C999-4A72-42E4-BAB0-D2DDBA23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OOM 可能殺掉容器，甚至拖垮主機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238BB5-7416-4B69-AA95-C71A0021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B78523-80E5-433A-9A5A-AC785EEC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效能不穩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A5036F-CBBE-4025-BFC7-9F92F79A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多個服務互搶資源，測試結果不可靠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DA453A-86C7-4B13-AFD3-EE15071E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14900"/>
            <a:ext cx="67437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2F087D-F623-44EA-8BBB-452DD5C3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12EDF7-8155-4DEC-8FDF-969E3B8A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77292F-528F-4581-A9E0-06BAECB6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A11FD7-1588-491F-B40E-2901BA98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334000"/>
            <a:ext cx="632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92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info | findstr -i "cpu\|memory"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93616-4165-4511-A626-1DB9510A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1658DA-66F9-4D7F-9481-4266404A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FC2275-EA29-4D84-A4E7-0ACB7CDC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69790191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F38D56-11E6-4D28-8605-4B1655C4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DASHBOARD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0E46B2-CEB1-4EA7-AB5B-AE747B88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stats 讓資源使用變成可觀察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efbdc54acb4323"/>
          <a:srcRect xmlns:a="http://schemas.openxmlformats.org/drawingml/2006/main" l="6150" t="0" r="615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43650" y="1352550"/>
            <a:ext cx="4838700" cy="31051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7816CE-D008-4C71-998F-826BA75E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52550"/>
            <a:ext cx="48387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88783-72A2-48A4-975A-730ABF32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4857750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6EC25-5AD6-4454-8A2C-939C517D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F8D096-9D3E-4FEE-94DA-A7CDDBC5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4AEAB4-A16C-403C-B3A3-01300BC9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5B036C-631A-4ED6-A1AE-CA4DF91B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76450"/>
            <a:ext cx="44386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  CPU %   MEM USAGE / LIMIT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       0.50%   50MiB / 512MiB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       3.20%   420MiB / 2GiB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redis       0.10%   12MiB / 256MiB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C35007-ECC9-4235-ACD2-61E6F058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38600"/>
            <a:ext cx="40957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44D81F-A937-4800-9CF0-AC209CB0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2910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讀表重點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055C94-0244-47B1-90BD-051C4D76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24400"/>
            <a:ext cx="3638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2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CPU % 看是否被限制住。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MEM USAGE / LIMIT 看是否接近上限。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NET / BLOCK I/O 用來觀察流量與磁碟。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40AD58-FF31-4B1F-8FAD-EDB7C062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2C0D1B-6563-4943-9DEA-66AB6504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0645AD-0957-46C5-BEFB-1D258102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5845302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0CA56E-C62B-47B2-BE80-05464787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CEC0D3-8F7F-4B08-BC1F-66016093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CPU 限制：--cpus=0.5 是什麼意思？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4A768F-9FE9-46B5-8ADF-4F3FFFB1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6667500" cy="2876550"/>
          </a:xfrm>
          <a:prstGeom xmlns:a="http://schemas.openxmlformats.org/drawingml/2006/main" prst="roundRect">
            <a:avLst>
              <a:gd name="adj" fmla="val 331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ABA41-1196-4F57-97B5-33AB7E7B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70ADF6-D2B4-4879-9FD0-D368B82C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98CB4D-29F6-401F-BC40-45630FEA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328433-8863-4D47-BF2E-7FA54740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47850"/>
            <a:ext cx="62484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--cpus=1.5 --name cpu-test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half-cpu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--cpu-shares=2048 --name high-priority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--cpuset-cpus="0,1" --name pinned-cpu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F6652-FDB5-4331-B236-7B1D1DB2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752600"/>
            <a:ext cx="30670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D899E5-74CA-409F-848A-3E5CEF0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431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 討論提示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6FF685-CF31-4DFC-8962-3ED646E5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57450"/>
            <a:ext cx="2609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5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先判斷 --cpus 代表什麼，再討論 0.5 與 1.5 的差異。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462D86-84FA-4EA1-8F36-6FBAA428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105400"/>
            <a:ext cx="83058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094544-88B4-40E2-B801-25F4FC02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257800"/>
            <a:ext cx="7658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--cpu-shares 只在 CPU 競爭時才有明顯效果。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69FF25-BA16-4D27-A416-72DC69C9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E3C5C1-8BF9-4370-853F-2E820751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E2548E-4BC8-4904-8860-3B5A5B5B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1941618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BA323A-535C-4035-8678-7E067F9F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CPU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F9042C-F3FC-4358-B64E-B45EF7E4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實作：CPU 壓力測試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DCF02C-8958-4C19-8D8A-D79CB98E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7239000" cy="2686050"/>
          </a:xfrm>
          <a:prstGeom xmlns:a="http://schemas.openxmlformats.org/drawingml/2006/main" prst="roundRect">
            <a:avLst>
              <a:gd name="adj" fmla="val 354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F6649F-FF34-48AB-8E15-064BD711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A7536-DDDC-452E-AC15-C9472C41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919E2E-F444-4DA7-8543-0477022C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A2282-D212-42E8-808E-873E2B0F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85950"/>
            <a:ext cx="68199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alpine sh -c "while true; do :; done"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stress-limited alpine sh -c "while true; do :; done"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stress-no-limit stress-limited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273B14-2C12-420F-91C2-922747A3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733550"/>
            <a:ext cx="2381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74B4AD-71D5-4A8E-A435-7B150226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924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觀察結果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55CB8-B5AA-4C3D-B8D5-B398C0DB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4193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7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stress-no-limit 接近 100%。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stress-limited 被壓在約 50%。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188570-CA2F-4171-A351-5F218A7D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53000"/>
            <a:ext cx="8191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2098CB-48A8-4FAF-9E65-B92C60E3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124450"/>
            <a:ext cx="7543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壓力測試一定要清理，不然背景容器會一直吃 CPU。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E00D64-1E14-4343-9922-0B9F5ACD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8A670-F6DF-44A5-AF57-144B5026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1F77F9-D4CF-4398-B8E8-CECFC059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905272283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623C1F-00BF-4EE5-AE60-C5721E93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MEMORY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A8B12-5477-411E-A617-886AC8E4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Memory 限制：硬限制、Swap、軟限制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42C876-26B5-4502-A894-42DC849B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09700"/>
            <a:ext cx="7239000" cy="2914650"/>
          </a:xfrm>
          <a:prstGeom xmlns:a="http://schemas.openxmlformats.org/drawingml/2006/main" prst="roundRect">
            <a:avLst>
              <a:gd name="adj" fmla="val 326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F763A-827C-4094-8EDC-03BFAF1C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AB901B-E44E-4874-881F-3A5D6E88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AEFFD-7735-4738-AE0B-157DEE54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F76FE5-510A-4945-A871-8EE1E7FE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28800"/>
            <a:ext cx="68199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--name mem-limited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--memory-swap 512m --name mem-swap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--memory-reservation 128m --name mem-soft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527042-B4A0-4208-89F0-F855E43E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4668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60302-F8BD-4B7C-B949-1B5E3DDB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657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-m / --memory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A30268-781B-41BC-AEB4-76F73087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431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硬上限，超過可能 OOM Kill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CBC06D-9255-4E44-95F6-4F4E44CE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955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C9F8F1-9248-483E-AB8E-F5323DBC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6860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--memory-swap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D1080A-C4D3-4043-BFB3-D4B13B1C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718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記憶體 + swap 的總上限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230CAE-7DC0-4EDA-BFE8-7CC8D562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242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071FB3-DB93-47F9-AF9F-0F03A9D4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714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--memory-reservation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9FA261-75B5-4F17-8D5D-66CBBFD0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005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軟限制，Docker 會盡量維持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48B7E4-82E2-4A5D-BFDE-A987D286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238750"/>
            <a:ext cx="864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容器被 OOM Kill 後，通常要用 logs / inspect 找原因，不只看狀態。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A817D8-6D52-4125-9655-9F6ACDA7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970278-CE91-44E3-B82D-8A29BEC0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E1CEBA-1D8C-43AC-BA52-00E6995F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6659131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C1CB723A-8E1A-4EB6-A7BB-C2E0D364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E32C1A-1374-4D37-A4B0-DDFCE8FD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範例程式碼：CPU / Memory 壓力測試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7CBE8A70-CD14-4563-94CC-BB6351BD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2A7937C6-39F9-443F-861D-D7956409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77A13EE0-F658-42D9-8CBB-F94A6826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alpine sh -c "while true; do :; done"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stress-limited --cpus=0.5 alpine sh -c "while true; do :; done"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stress-no-limit stress-limited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100m --name oom-test python:3.11-slim sleep infinity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oom-test python -c "a = ' ' * (200 * 1024 * 1024)"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CC1DFE7-C61E-4AB9-8811-140490BC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EB2A945-C8FC-4736-B537-B23A1359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302552671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E2249B-6A1B-43A7-BECF-72C0BE93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LIVE UPDATE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47571E-6649-4FB4-BBF5-85DDFE51F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update：容器執行中也能調資源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D5209-816F-48F5-ADB6-3B39D35C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47800"/>
            <a:ext cx="6858000" cy="3257550"/>
          </a:xfrm>
          <a:prstGeom xmlns:a="http://schemas.openxmlformats.org/drawingml/2006/main" prst="roundRect">
            <a:avLst>
              <a:gd name="adj" fmla="val 292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6DECD0-07E4-480B-AE2E-6F15A465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8F09F4-04F0-43FE-8D6B-91132275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A0EFDE-293E-4C68-B8D6-F241F6FE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E6C25-5384-4369-9C7B-B9752305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66900"/>
            <a:ext cx="64389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live-update -m 256m --cpus=1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--memory 512m --memory-swap 1g live-update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 2 live-update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2A3468-21D8-45C1-9FE4-8721430F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19250"/>
            <a:ext cx="25717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1E2B80-AA64-4D66-B9DC-AC4F5994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097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可動態修改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60D744-F25D-4DEA-B7B0-8E1617F7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66950"/>
            <a:ext cx="2114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--cpu-shares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--cpuset-cpus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--memory-swap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--memory-reservation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8AC6D9-D610-41F8-9A33-9333D218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467350"/>
            <a:ext cx="948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注意：降低 memory 可能造成 OOM；Windows Docker Desktop 可能不支援部分動態調整。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D92F1A-8273-4C55-9AF5-759C3117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A810F1-6ABB-4138-9270-3B4BD5E5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7E2E5D-6788-40E2-BA17-CD41306E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89270928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E86305-0803-400F-ADF1-DC990BB6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5C5631-13A8-4B5C-A14C-9A702454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P4：資源限制實驗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10AD9-150E-4237-87B3-A1DBFE1B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62100"/>
            <a:ext cx="666750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0BACF-F260-450E-B778-1F9CA7F5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50416-444C-4A53-86C3-036641EC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9FAF37-2E7E-4E79-8813-16DDEDD6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D690B3-AFCC-4FD7-AED4-CC653131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81200"/>
            <a:ext cx="62484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no-limit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limited --cpus=0.5 -m 128m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--no-stream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no-limit limited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E45300-D40C-4147-98B3-E2A4425D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95450"/>
            <a:ext cx="28194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CD1AFB-B525-4B4F-80B0-35099502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859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觀察問題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262E2D-3F57-4139-A72D-487EEC4F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23622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8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兩個容器的 MEM LIMIT 是否不同？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limited 的 CPU 限制是否顯示在 stats/inspect？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如果改成 docker update，結果是否改變？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4654C-24F9-48BC-A554-FA332175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9650"/>
            <a:ext cx="85725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4B034E-2DB1-4462-B879-1E7823BD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10150"/>
            <a:ext cx="792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完成標準：能用 stats 或 inspect 證明 no-limit 與 limited 的限制不同。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520E2D-D4FE-4256-9FCC-62AFEA2D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1CB062-F1FB-4E99-8C2E-5589CAFD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4CADAE-98B1-4645-A259-832A9DDB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38298208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870A3B-9952-4B27-8470-AD05E097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PRODUCTION-LIKE SCENARIO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6982A-6327-42D9-BCB3-77E53BD1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多容器資源配置實戰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017426-1BD2-4C6C-89DD-55D93F59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EA307-931C-4657-993F-0022FA1B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FB766-819C-493B-A224-65BE129A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512 MB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0933B-75F2-4FF1-BB7A-91E5EF1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2CD22E-90DF-4711-A400-45A86C10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6C174-B92B-4835-80A3-22A12910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GB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9A987-B1E7-45C8-B10C-880F89BF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2A8019-2E09-4822-B6A9-6F1A427A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Redis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73FCB9-333A-4B63-8C2E-08E60F13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0.5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256 MB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5845BD-784E-4600-8DB1-08762A61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75057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D3E284-753F-4C33-8FCA-263DF1CF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3FD334-EB57-4523-9B7C-091F5E1F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DAC7FC-8355-4FE8-9A73-41B71DDF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84C40B-F597-425A-B46E-F991B7C7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162550"/>
            <a:ext cx="7086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--cpus=2 --memory=1g prod-flask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91084E-AFC4-4379-AC1D-D5E888D3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51036B-6F54-48EC-8C7D-DF046C57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CC6180-C749-44BA-8805-79A94ECC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459159164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8EAA133D-C92B-4A69-B1D2-696B8464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5572295-DC96-42C0-8C77-73F19C6B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範例程式碼：Production-like 三容器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71CA2DC-E3A4-4BDD-8FF6-92D62D32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F5C369D6-4DA7-47B3-BCB9-F8B88966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8CCFCEC-33D0-4E45-AA02-4953734C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prod-redis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production-net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redis:7-alpine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prod-mysql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production-net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MYSQL_ROOT_PASSWORD=root123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MYSQL_DATABASE=proddb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prod-flask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production-net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5000:5000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--cpus=1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--memory=512m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my-flask-app:v4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9C75604-AE40-4784-9B25-9374A5C2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1949849-8CEE-4379-9247-1373B139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55091509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D7BE27-AEE9-466C-9A9A-D0453A24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D5529-174F-4095-87E1-CFA48010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 Image 與資源控制做完整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87723D-57E9-4E86-BD9C-AC8031AF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476250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D6E8C-8EAF-40F7-A3B6-C9DCB9AD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669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C1：Flask + MySQL 的 Flask 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0D4585-7E72-4F02-A3DA-7C0952BF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4305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 python:3.11-slim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加入 .dockerignore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使用非 root user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Push 到 Docker Hub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FF0914-DF67-42CB-B02D-244EAFC6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76400"/>
            <a:ext cx="476250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8CAF6E-DF66-479D-99F9-806A97C0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669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1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C2：Nginx + MySQL + Redis 資源配置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05A44E-2A47-493A-855B-F51C1357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305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三個容器設定不同 CPU / Memory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stats 觀察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update 調整其中一個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9AD465-29D7-42E7-A296-1C6E77FD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67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交付物：Dockerfile、.dockerignore、執行指令、stats 截圖或文字記錄。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5ABA2-E4A3-4D27-BCE1-ECF681F5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6486E3-17AA-41D9-9B69-F2CF3354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B0F634-48AB-4AF2-B1EB-F21F0DBD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69703035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26D753-F1F7-4238-B995-D460FED7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ACDE29-D7C7-4274-831C-EAF60A93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今天要帶走的指令與下一步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280296-90C0-4433-BE8E-91198A84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51141-37BD-41AE-AF40-0641136D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DEAD73-AA36-4CF9-AA0B-3AF644D3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build -t app:v1 .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history app:v1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app:v1 user/app:v1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user/app:v1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9471C6-41AF-4BBC-9F62-70C55662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7C6FEE-2DB3-4002-86F0-E913F5E6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4C6B72-712A-4AD3-BDD7-CCABE49C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create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inspect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--network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host=mysql-db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FFB505-8637-4171-9895-D1C6FDF8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F3D9CB-CC6B-4660-A087-38DDD7CB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Resource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7784FE-5B9C-45A5-88B9-31FF6E3C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--cpus=0.5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-m 128m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update --cpus=2 app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B76C76-D6C8-48B6-8E0F-AAC5228E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38700"/>
            <a:ext cx="84201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3189D6-94AA-42E7-8FB2-37B4F36A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048250"/>
            <a:ext cx="773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91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下一堂：CI/CD 與 GitHub Actions，把 Image build/push 交給自動化流程。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4A4FD4-011B-4EFE-B25C-DD269222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E51116-9F5B-4177-8CB4-8324F45C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40EF7C-E84E-490C-8709-1E859926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802703161"/>
      </p:ext>
    </p:extLst>
  </p:cSld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開發環境管理兩條路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"/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"/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開發環境管理：常見有兩條路</a:t>
            </a:r>
          </a:p>
        </p:txBody>
      </p:sp>
      <p:sp>
        <p:nvSpPr>
          <p:cNvPr id="4" name=""/>
          <p:cNvSpPr>
            <a:spLocks noGrp="1"/>
          </p:cNvSpPr>
          <p:nvPr/>
        </p:nvSpPr>
        <p:spPr>
          <a:xfrm>
            <a:off x="609600" y="1495425"/>
            <a:ext cx="4953000" cy="3152775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228600" tIns="228600" rIns="228600" bIns="2286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派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VS Code Dev Containers</a:t>
            </a:r>
          </a:p>
          <a:p>
            <a:pPr>
              <a:buNone/>
              <a:defRPr sz="600"/>
            </a:pP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把「開發用的作業系統、工具、套件」都放進容器。</a:t>
            </a: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適合團隊電腦不同、需要系統套件、想讓 VS Code 也進容器。</a:t>
            </a:r>
          </a:p>
          <a:p>
            <a:pPr algn="l">
              <a:lnSpc>
                <a:spcPct val="106000"/>
              </a:lnSpc>
              <a:buNone/>
              <a:defRPr sz="12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外掛名稱：Dev Containers（Microsoft）</a:t>
            </a:r>
          </a:p>
        </p:txBody>
      </p:sp>
      <p:sp>
        <p:nvSpPr>
          <p:cNvPr id="5" name=""/>
          <p:cNvSpPr>
            <a:spLocks noGrp="1"/>
          </p:cNvSpPr>
          <p:nvPr/>
        </p:nvSpPr>
        <p:spPr>
          <a:xfrm>
            <a:off x="5791200" y="1495425"/>
            <a:ext cx="4953000" cy="3152775"/>
          </a:xfrm>
          <a:prstGeom prst="roundRect">
            <a:avLst>
              <a:gd name="adj" fmla="val 8000"/>
            </a:avLst>
          </a:prstGeom>
          <a:solidFill>
            <a:srgbClr val="EAF7EF"/>
          </a:solidFill>
          <a:ln w="9525">
            <a:solidFill>
              <a:srgbClr val="B7E4C7"/>
            </a:solidFill>
            <a:prstDash val="solid"/>
          </a:ln>
        </p:spPr>
        <p:txBody>
          <a:bodyPr lIns="228600" tIns="228600" rIns="228600" bIns="2286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語言工具派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uv / Poetry / pip-tools</a:t>
            </a:r>
          </a:p>
          <a:p>
            <a:pPr>
              <a:buNone/>
              <a:defRPr sz="600"/>
            </a:pP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把「Python 版本、虛擬環境、套件版本」管理清楚。</a:t>
            </a: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純 Python 專案很常用，啟動快、學習成本低。</a:t>
            </a:r>
          </a:p>
          <a:p>
            <a:pPr algn="l">
              <a:lnSpc>
                <a:spcPct val="106000"/>
              </a:lnSpc>
              <a:buNone/>
              <a:defRPr sz="1250" b="1">
                <a:solidFill>
                  <a:srgbClr val="087F5B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87F5B"/>
                </a:solidFill>
                <a:latin typeface="Aptos"/>
                <a:ea typeface="Aptos"/>
                <a:cs typeface="Aptos"/>
              </a:rPr>
              <a:t>重點：lock file 讓每個人裝到同一批套件。</a:t>
            </a:r>
          </a:p>
        </p:txBody>
      </p:sp>
      <p:sp>
        <p:nvSpPr>
          <p:cNvPr id="6" name=""/>
          <p:cNvSpPr>
            <a:spLocks noGrp="1"/>
          </p:cNvSpPr>
          <p:nvPr/>
        </p:nvSpPr>
        <p:spPr>
          <a:xfrm>
            <a:off x="1143000" y="5029200"/>
            <a:ext cx="9144000" cy="5715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這不是部署方式的二選一，而是「日常開發環境」怎麼管理。最後上線仍然可以打包成 Docker image。</a:t>
            </a:r>
          </a:p>
        </p:txBody>
      </p:sp>
      <p:sp>
        <p:nvSpPr>
          <p:cNvPr id="80" name=""/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</p:txBody>
      </p:sp>
      <p:sp>
        <p:nvSpPr>
          <p:cNvPr id="81" name=""/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"/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開發環境管理怎麼選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"/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"/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什麼時候用 Dev Containers，什麼時候用 uv / Poetry？</a:t>
            </a:r>
          </a:p>
        </p:txBody>
      </p:sp>
      <p:sp>
        <p:nvSpPr>
          <p:cNvPr id="4" name=""/>
          <p:cNvSpPr>
            <a:spLocks noGrp="1"/>
          </p:cNvSpPr>
          <p:nvPr/>
        </p:nvSpPr>
        <p:spPr>
          <a:xfrm>
            <a:off x="6096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7DCFF"/>
            </a:solidFill>
            <a:prstDash val="solid"/>
          </a:ln>
        </p:spPr>
        <p:txBody>
          <a:bodyPr lIns="209550" tIns="209550" rIns="209550" bIns="20955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選 Dev Containers</a:t>
            </a:r>
          </a:p>
          <a:p>
            <a:pPr>
              <a:buNone/>
              <a:defRPr sz="600"/>
            </a:p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團隊成員的 OS 不同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需要 apt、系統函式庫或 CLI 工具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想讓 terminal / debugger 都在容器裡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想靠近 production image 的環境</a:t>
            </a:r>
          </a:p>
        </p:txBody>
      </p:sp>
      <p:sp>
        <p:nvSpPr>
          <p:cNvPr id="5" name=""/>
          <p:cNvSpPr>
            <a:spLocks noGrp="1"/>
          </p:cNvSpPr>
          <p:nvPr/>
        </p:nvSpPr>
        <p:spPr>
          <a:xfrm>
            <a:off x="43815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7E4C7"/>
            </a:solidFill>
            <a:prstDash val="solid"/>
          </a:ln>
        </p:spPr>
        <p:txBody>
          <a:bodyPr lIns="209550" tIns="209550" rIns="209550" bIns="20955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選 uv / Poetry</a:t>
            </a:r>
          </a:p>
          <a:p>
            <a:pPr>
              <a:buNone/>
              <a:defRPr sz="600"/>
            </a:p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主要問題是 Python 套件版本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本機開發就很順，不想整個 IDE 進容器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專案要快速建立 venv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用 lock file 固定依賴版本</a:t>
            </a:r>
          </a:p>
        </p:txBody>
      </p:sp>
      <p:sp>
        <p:nvSpPr>
          <p:cNvPr id="6" name=""/>
          <p:cNvSpPr>
            <a:spLocks noGrp="1"/>
          </p:cNvSpPr>
          <p:nvPr/>
        </p:nvSpPr>
        <p:spPr>
          <a:xfrm>
            <a:off x="81534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209550" tIns="209550" rIns="209550" bIns="20955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實務上可混用</a:t>
            </a:r>
          </a:p>
          <a:p>
            <a:pPr>
              <a:buNone/>
              <a:defRPr sz="600"/>
            </a:p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容器管 OS 與工具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uv / Poetry 管 Python packages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Dockerfile 管部署 image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先選最能降低混亂的那一層</a:t>
            </a:r>
          </a:p>
        </p:txBody>
      </p:sp>
      <p:sp>
        <p:nvSpPr>
          <p:cNvPr id="7" name=""/>
          <p:cNvSpPr>
            <a:spLocks noGrp="1"/>
          </p:cNvSpPr>
          <p:nvPr/>
        </p:nvSpPr>
        <p:spPr>
          <a:xfrm>
            <a:off x="1143000" y="4933950"/>
            <a:ext cx="9144000" cy="6286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本課程只先認識 VS Code 外掛：Dev Containers。設定檔細節等真的要把專案開進容器時再學。</a:t>
            </a:r>
          </a:p>
        </p:txBody>
      </p:sp>
      <p:sp>
        <p:nvSpPr>
          <p:cNvPr id="80" name=""/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</p:txBody>
      </p:sp>
      <p:sp>
        <p:nvSpPr>
          <p:cNvPr id="81" name=""/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"/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2026-06-22T07:29:06.2030000Z</dcterms:created>
  <dcterms:modified xsi:type="dcterms:W3CDTF">2026-06-22T07:29:06.2030000Z</dcterms:modified>
</coreProperties>
</file>