
<file path=[Content_Types].xml><?xml version="1.0" encoding="utf-8"?>
<ns0:Types xmlns:ns0="http://schemas.openxmlformats.org/package/2006/content-types">
  <ns0:Default Extension="xml" ContentType="application/vnd.openxmlformats-package.core-properties+xml"/>
  <ns0:Default Extension="png" ContentType="image/png"/>
  <ns0:Default Extension="rels" ContentType="application/vnd.openxmlformats-package.relationships+xml"/>
  <ns0:Override PartName="/docProps/app.xml" ContentType="application/vnd.openxmlformats-officedocument.extended-properties+xml"/>
  <ns0:Override PartName="/ppt/presentation.xml" ContentType="application/vnd.openxmlformats-officedocument.presentationml.presentation.main+xml"/>
  <ns0:Override PartName="/ppt/theme/theme1.xml" ContentType="application/vnd.openxmlformats-officedocument.theme+xml"/>
  <ns0:Override PartName="/ppt/slideMasters/slideMaster1.xml" ContentType="application/vnd.openxmlformats-officedocument.presentationml.slideMaster+xml"/>
  <ns0:Override PartName="/ppt/slideMasters/theme/theme2.xml" ContentType="application/vnd.openxmlformats-officedocument.theme+xml"/>
  <ns0:Override PartName="/ppt/slideLayouts/slideLayout1.xml" ContentType="application/vnd.openxmlformats-officedocument.presentationml.slideLayout+xml"/>
  <ns0:Override PartName="/ppt/presProps.xml" ContentType="application/vnd.openxmlformats-officedocument.presentationml.presProps+xml"/>
  <ns0:Override PartName="/ppt/tableStyles.xml" ContentType="application/vnd.openxmlformats-officedocument.presentationml.tableStyles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22.xml" ContentType="application/vnd.openxmlformats-officedocument.presentationml.slide+xml"/>
  <ns0:Override PartName="/ppt/slides/slide23.xml" ContentType="application/vnd.openxmlformats-officedocument.presentationml.slide+xml"/>
  <ns0:Override PartName="/ppt/slides/slide24.xml" ContentType="application/vnd.openxmlformats-officedocument.presentationml.slide+xml"/>
  <ns0:Override PartName="/ppt/slides/slide25.xml" ContentType="application/vnd.openxmlformats-officedocument.presentationml.slide+xml"/>
  <ns0:Override PartName="/ppt/slides/slide26.xml" ContentType="application/vnd.openxmlformats-officedocument.presentationml.slide+xml"/>
  <ns0:Override PartName="/ppt/slides/slide27.xml" ContentType="application/vnd.openxmlformats-officedocument.presentationml.slide+xml"/>
  <ns0:Override PartName="/ppt/slides/slide28.xml" ContentType="application/vnd.openxmlformats-officedocument.presentationml.slide+xml"/>
  <ns0:Override PartName="/ppt/slides/slide29.xml" ContentType="application/vnd.openxmlformats-officedocument.presentationml.slide+xml"/>
  <ns0:Override PartName="/ppt/slides/slide30.xml" ContentType="application/vnd.openxmlformats-officedocument.presentationml.slide+xml"/>
  <ns0:Override PartName="/ppt/slides/slide31.xml" ContentType="application/vnd.openxmlformats-officedocument.presentationml.slide+xml"/>
  <ns0:Override PartName="/ppt/slides/slide32.xml" ContentType="application/vnd.openxmlformats-officedocument.presentationml.slide+xml"/>
</ns0:Types>
</file>

<file path=_rels/.rels><?xml version='1.0' encoding='utf-8'?>
<ns0:Relationships xmlns:ns0="http://schemas.openxmlformats.org/package/2006/relationships"><ns0:Relationship Type="http://schemas.openxmlformats.org/package/2006/relationships/metadata/core-properties" Target="/docProps/core.xml" Id="R11ed7efcb92240bc" /><ns0:Relationship Type="http://schemas.openxmlformats.org/officeDocument/2006/relationships/extended-properties" Target="/docProps/app.xml" Id="R681bffd0980f4b89" /><ns0:Relationship Type="http://schemas.openxmlformats.org/officeDocument/2006/relationships/officeDocument" Target="/ppt/presentation.xml" Id="R0fe81ea246cf4433" /></ns0: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xmlns:r="http://schemas.openxmlformats.org/officeDocument/2006/relationships" id="2147483648" r:id="R51c73586e0df4aae"/>
  </p:sldMasterIdLst>
  <p:sldIdLst>
    <p:sldId xmlns:r="http://schemas.openxmlformats.org/officeDocument/2006/relationships" id="256" r:id="R4249a726db754144"/>
    <p:sldId xmlns:r="http://schemas.openxmlformats.org/officeDocument/2006/relationships" id="257" r:id="R3756e80c560e466f"/>
    <p:sldId xmlns:r="http://schemas.openxmlformats.org/officeDocument/2006/relationships" id="258" r:id="R2cbc7cb8ee394c74"/>
    <p:sldId xmlns:r="http://schemas.openxmlformats.org/officeDocument/2006/relationships" id="259" r:id="Rb639ff8e4e31446a"/>
    <p:sldId xmlns:r="http://schemas.openxmlformats.org/officeDocument/2006/relationships" id="260" r:id="R03a227b220914ba2"/>
    <p:sldId id="303" r:id="rIdCodexDockerfileMap48"/>
    <p:sldId id="288" r:id="rId1"/>
    <p:sldId id="304" r:id="rIdCodexDockerfileBehavior49"/>
    <p:sldId xmlns:r="http://schemas.openxmlformats.org/officeDocument/2006/relationships" id="261" r:id="R81e94a9dc4f2475c"/>
    <p:sldId xmlns:r="http://schemas.openxmlformats.org/officeDocument/2006/relationships" id="262" r:id="R5b484a6d39784ca5"/>
    <p:sldId xmlns:r="http://schemas.openxmlformats.org/officeDocument/2006/relationships" id="263" r:id="Rf5f9986d0ea64937"/>
    <p:sldId id="289" r:id="rId2"/>
    <p:sldId xmlns:r="http://schemas.openxmlformats.org/officeDocument/2006/relationships" id="264" r:id="R19fc1f8749da4907"/>
    <p:sldId xmlns:r="http://schemas.openxmlformats.org/officeDocument/2006/relationships" id="265" r:id="R349323a25f904e9e"/>
    <p:sldId xmlns:r="http://schemas.openxmlformats.org/officeDocument/2006/relationships" id="266" r:id="R4448a22c92e44af1"/>
    <p:sldId xmlns:r="http://schemas.openxmlformats.org/officeDocument/2006/relationships" id="267" r:id="R9d19f78debf3492c"/>
    <p:sldId xmlns:r="http://schemas.openxmlformats.org/officeDocument/2006/relationships" id="268" r:id="Rfd2595cc16434a97"/>
    <p:sldId id="290" r:id="rId3"/>
    <p:sldId id="291" r:id="rId4"/>
    <p:sldId xmlns:r="http://schemas.openxmlformats.org/officeDocument/2006/relationships" id="269" r:id="Rccf662f41c874ed7"/>
    <p:sldId id="292" r:id="rId5"/>
    <p:sldId id="293" r:id="rId6"/>
    <p:sldId xmlns:r="http://schemas.openxmlformats.org/officeDocument/2006/relationships" id="270" r:id="Ra1e97e9bbf4c4951"/>
    <p:sldId id="294" r:id="rId7"/>
    <p:sldId xmlns:r="http://schemas.openxmlformats.org/officeDocument/2006/relationships" id="271" r:id="Rc46e68138c534670"/>
    <p:sldId xmlns:r="http://schemas.openxmlformats.org/officeDocument/2006/relationships" id="272" r:id="Re4b3b31a7b254d13"/>
    <p:sldId id="295" r:id="rId8"/>
    <p:sldId xmlns:r="http://schemas.openxmlformats.org/officeDocument/2006/relationships" id="273" r:id="Rb93b3fa0bc05425a"/>
    <p:sldId xmlns:r="http://schemas.openxmlformats.org/officeDocument/2006/relationships" id="274" r:id="R28b83384e37f4c88"/>
    <p:sldId xmlns:r="http://schemas.openxmlformats.org/officeDocument/2006/relationships" id="275" r:id="Rc9ba4814546d426b"/>
    <p:sldId xmlns:r="http://schemas.openxmlformats.org/officeDocument/2006/relationships" id="276" r:id="Rf6502b6bfa304bc6"/>
    <p:sldId id="296" r:id="rId9"/>
    <p:sldId id="297" r:id="rId10"/>
    <p:sldId id="298" r:id="rId11"/>
    <p:sldId id="299" r:id="rId12"/>
    <p:sldId id="300" r:id="rId13"/>
    <p:sldId xmlns:r="http://schemas.openxmlformats.org/officeDocument/2006/relationships" id="277" r:id="R54990c5cbc81436a"/>
    <p:sldId xmlns:r="http://schemas.openxmlformats.org/officeDocument/2006/relationships" id="278" r:id="Ra4fa2f19ad5b4e6d"/>
    <p:sldId xmlns:r="http://schemas.openxmlformats.org/officeDocument/2006/relationships" id="279" r:id="R4914973bbf234e39"/>
    <p:sldId xmlns:r="http://schemas.openxmlformats.org/officeDocument/2006/relationships" id="280" r:id="R78d3eb8fc1d14dcc"/>
    <p:sldId xmlns:r="http://schemas.openxmlformats.org/officeDocument/2006/relationships" id="281" r:id="R709f0492932f40ba"/>
    <p:sldId xmlns:r="http://schemas.openxmlformats.org/officeDocument/2006/relationships" id="282" r:id="R850b44ad53e54bb8"/>
    <p:sldId id="301" r:id="rId14"/>
    <p:sldId xmlns:r="http://schemas.openxmlformats.org/officeDocument/2006/relationships" id="283" r:id="Rac6f889fb5b346e7"/>
    <p:sldId xmlns:r="http://schemas.openxmlformats.org/officeDocument/2006/relationships" id="284" r:id="R096cef8eec324544"/>
    <p:sldId xmlns:r="http://schemas.openxmlformats.org/officeDocument/2006/relationships" id="285" r:id="Rbedd8024209a40a2"/>
    <p:sldId id="302" r:id="rId15"/>
    <p:sldId xmlns:r="http://schemas.openxmlformats.org/officeDocument/2006/relationships" id="286" r:id="R906dcd8585de4ed3"/>
    <p:sldId xmlns:r="http://schemas.openxmlformats.org/officeDocument/2006/relationships" id="287" r:id="Re6f4ac5d4b644d3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664dd0b09a404326" /><ns0:Relationship Type="http://schemas.openxmlformats.org/officeDocument/2006/relationships/slideMaster" Target="/ppt/slideMasters/slideMaster1.xml" Id="R51c73586e0df4aae" /><ns0:Relationship Type="http://schemas.openxmlformats.org/officeDocument/2006/relationships/presProps" Target="/ppt/presProps.xml" Id="R1c2406628e1944dc" /><ns0:Relationship Type="http://schemas.openxmlformats.org/officeDocument/2006/relationships/tableStyles" Target="/ppt/tableStyles.xml" Id="R0595b3bc082c4a37" /><ns0:Relationship Type="http://schemas.openxmlformats.org/officeDocument/2006/relationships/slide" Target="/ppt/slides/slide1.xml" Id="R4249a726db754144" /><ns0:Relationship Type="http://schemas.openxmlformats.org/officeDocument/2006/relationships/slide" Target="/ppt/slides/slide2.xml" Id="R3756e80c560e466f" /><ns0:Relationship Type="http://schemas.openxmlformats.org/officeDocument/2006/relationships/slide" Target="/ppt/slides/slide3.xml" Id="R2cbc7cb8ee394c74" /><ns0:Relationship Type="http://schemas.openxmlformats.org/officeDocument/2006/relationships/slide" Target="/ppt/slides/slide4.xml" Id="Rb639ff8e4e31446a" /><ns0:Relationship Type="http://schemas.openxmlformats.org/officeDocument/2006/relationships/slide" Target="/ppt/slides/slide5.xml" Id="R03a227b220914ba2" /><ns0:Relationship Type="http://schemas.openxmlformats.org/officeDocument/2006/relationships/slide" Target="/ppt/slides/slide6.xml" Id="R81e94a9dc4f2475c" /><ns0:Relationship Type="http://schemas.openxmlformats.org/officeDocument/2006/relationships/slide" Target="/ppt/slides/slide7.xml" Id="R5b484a6d39784ca5" /><ns0:Relationship Type="http://schemas.openxmlformats.org/officeDocument/2006/relationships/slide" Target="/ppt/slides/slide8.xml" Id="Rf5f9986d0ea64937" /><ns0:Relationship Type="http://schemas.openxmlformats.org/officeDocument/2006/relationships/slide" Target="/ppt/slides/slide9.xml" Id="R19fc1f8749da4907" /><ns0:Relationship Type="http://schemas.openxmlformats.org/officeDocument/2006/relationships/slide" Target="/ppt/slides/slide10.xml" Id="R349323a25f904e9e" /><ns0:Relationship Type="http://schemas.openxmlformats.org/officeDocument/2006/relationships/slide" Target="/ppt/slides/slide11.xml" Id="R4448a22c92e44af1" /><ns0:Relationship Type="http://schemas.openxmlformats.org/officeDocument/2006/relationships/slide" Target="/ppt/slides/slide12.xml" Id="R9d19f78debf3492c" /><ns0:Relationship Type="http://schemas.openxmlformats.org/officeDocument/2006/relationships/slide" Target="/ppt/slides/slide13.xml" Id="Rfd2595cc16434a97" /><ns0:Relationship Type="http://schemas.openxmlformats.org/officeDocument/2006/relationships/slide" Target="/ppt/slides/slide14.xml" Id="Rccf662f41c874ed7" /><ns0:Relationship Type="http://schemas.openxmlformats.org/officeDocument/2006/relationships/slide" Target="/ppt/slides/slide15.xml" Id="Ra1e97e9bbf4c4951" /><ns0:Relationship Type="http://schemas.openxmlformats.org/officeDocument/2006/relationships/slide" Target="/ppt/slides/slide16.xml" Id="Rc46e68138c534670" /><ns0:Relationship Type="http://schemas.openxmlformats.org/officeDocument/2006/relationships/slide" Target="/ppt/slides/slide17.xml" Id="Re4b3b31a7b254d13" /><ns0:Relationship Type="http://schemas.openxmlformats.org/officeDocument/2006/relationships/slide" Target="/ppt/slides/slide18.xml" Id="Rb93b3fa0bc05425a" /><ns0:Relationship Type="http://schemas.openxmlformats.org/officeDocument/2006/relationships/slide" Target="/ppt/slides/slide19.xml" Id="R28b83384e37f4c88" /><ns0:Relationship Type="http://schemas.openxmlformats.org/officeDocument/2006/relationships/slide" Target="/ppt/slides/slide20.xml" Id="Rc9ba4814546d426b" /><ns0:Relationship Type="http://schemas.openxmlformats.org/officeDocument/2006/relationships/slide" Target="/ppt/slides/slide21.xml" Id="Rf6502b6bfa304bc6" /><ns0:Relationship Type="http://schemas.openxmlformats.org/officeDocument/2006/relationships/slide" Target="/ppt/slides/slide22.xml" Id="R54990c5cbc81436a" /><ns0:Relationship Type="http://schemas.openxmlformats.org/officeDocument/2006/relationships/slide" Target="/ppt/slides/slide23.xml" Id="Ra4fa2f19ad5b4e6d" /><ns0:Relationship Type="http://schemas.openxmlformats.org/officeDocument/2006/relationships/slide" Target="/ppt/slides/slide24.xml" Id="R4914973bbf234e39" /><ns0:Relationship Type="http://schemas.openxmlformats.org/officeDocument/2006/relationships/slide" Target="/ppt/slides/slide25.xml" Id="R78d3eb8fc1d14dcc" /><ns0:Relationship Type="http://schemas.openxmlformats.org/officeDocument/2006/relationships/slide" Target="/ppt/slides/slide26.xml" Id="R709f0492932f40ba" /><ns0:Relationship Type="http://schemas.openxmlformats.org/officeDocument/2006/relationships/slide" Target="/ppt/slides/slide27.xml" Id="R850b44ad53e54bb8" /><ns0:Relationship Type="http://schemas.openxmlformats.org/officeDocument/2006/relationships/slide" Target="/ppt/slides/slide28.xml" Id="Rac6f889fb5b346e7" /><ns0:Relationship Type="http://schemas.openxmlformats.org/officeDocument/2006/relationships/slide" Target="/ppt/slides/slide29.xml" Id="R096cef8eec324544" /><ns0:Relationship Type="http://schemas.openxmlformats.org/officeDocument/2006/relationships/slide" Target="/ppt/slides/slide30.xml" Id="Rbedd8024209a40a2" /><ns0:Relationship Type="http://schemas.openxmlformats.org/officeDocument/2006/relationships/slide" Target="/ppt/slides/slide31.xml" Id="R906dcd8585de4ed3" /><ns0:Relationship Type="http://schemas.openxmlformats.org/officeDocument/2006/relationships/slide" Target="/ppt/slides/slide32.xml" Id="Re6f4ac5d4b644d3c" /><ns0:Relationship Type="http://schemas.openxmlformats.org/officeDocument/2006/relationships/slide" Target="/ppt/slides/slide33.xml" Id="rId1" /><ns0:Relationship Type="http://schemas.openxmlformats.org/officeDocument/2006/relationships/slide" Target="/ppt/slides/slide34.xml" Id="rId2" /><ns0:Relationship Type="http://schemas.openxmlformats.org/officeDocument/2006/relationships/slide" Target="/ppt/slides/slide35.xml" Id="rId3" /><ns0:Relationship Type="http://schemas.openxmlformats.org/officeDocument/2006/relationships/slide" Target="/ppt/slides/slide36.xml" Id="rId4" /><ns0:Relationship Type="http://schemas.openxmlformats.org/officeDocument/2006/relationships/slide" Target="/ppt/slides/slide37.xml" Id="rId5" /><ns0:Relationship Type="http://schemas.openxmlformats.org/officeDocument/2006/relationships/slide" Target="/ppt/slides/slide38.xml" Id="rId6" /><ns0:Relationship Type="http://schemas.openxmlformats.org/officeDocument/2006/relationships/slide" Target="/ppt/slides/slide39.xml" Id="rId7" /><ns0:Relationship Type="http://schemas.openxmlformats.org/officeDocument/2006/relationships/slide" Target="/ppt/slides/slide40.xml" Id="rId8" /><ns0:Relationship Type="http://schemas.openxmlformats.org/officeDocument/2006/relationships/slide" Target="/ppt/slides/slide41.xml" Id="rId9" /><ns0:Relationship Type="http://schemas.openxmlformats.org/officeDocument/2006/relationships/slide" Target="/ppt/slides/slide42.xml" Id="rId10" /><ns0:Relationship Type="http://schemas.openxmlformats.org/officeDocument/2006/relationships/slide" Target="/ppt/slides/slide43.xml" Id="rId11" /><ns0:Relationship Type="http://schemas.openxmlformats.org/officeDocument/2006/relationships/slide" Target="/ppt/slides/slide44.xml" Id="rId12" /><ns0:Relationship Type="http://schemas.openxmlformats.org/officeDocument/2006/relationships/slide" Target="/ppt/slides/slide45.xml" Id="rId13" /><ns0:Relationship Type="http://schemas.openxmlformats.org/officeDocument/2006/relationships/slide" Target="/ppt/slides/slide46.xml" Id="rId14" /><ns0:Relationship Type="http://schemas.openxmlformats.org/officeDocument/2006/relationships/slide" Target="/ppt/slides/slide47.xml" Id="rId15" /><ns0:Relationship Type="http://schemas.openxmlformats.org/officeDocument/2006/relationships/slide" Target="/ppt/slides/slide48.xml" Id="rIdCodexDockerfileMap48" /><ns0:Relationship Type="http://schemas.openxmlformats.org/officeDocument/2006/relationships/slide" Target="/ppt/slides/slide49.xml" Id="rIdCodexDockerfileBehavior49" /></ns0:Relationships>
</file>

<file path=ppt/slideLayouts/_rels/slideLayout1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6a6f2d2d957e45b7" /></ns0: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ns0:Relationships xmlns:ns0="http://schemas.openxmlformats.org/package/2006/relationships"><ns0:Relationship Type="http://schemas.openxmlformats.org/officeDocument/2006/relationships/theme" Target="/ppt/slideMasters/theme/theme2.xml" Id="R95f6164a29e349af" /><ns0:Relationship Type="http://schemas.openxmlformats.org/officeDocument/2006/relationships/slideLayout" Target="/ppt/slideLayouts/slideLayout1.xml" Id="R70cf052346b944c4" /></ns0: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0cf052346b944c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9197bf209a34b5a" /><ns0:Relationship Type="http://schemas.openxmlformats.org/officeDocument/2006/relationships/image" Target="/ppt/media/image.png" Id="R009cf42edcc0407e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40373d7131a4cee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d6d7075a3ce4526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fc7e275ef4e4162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8f084a6786b4f6c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5ae8562eb0f49e1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a1137f1f487450c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e32c7ccaba24654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175e8d26d1a4018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c1437713d504be8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f72ebb4d54c4b73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ad7d4ebf0154210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3f5107f53444d26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e22ebd64d024f91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e4dc635f80e4845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1eea5509a8e4f73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2704bf72bfb4254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847de7950ee44e3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e5d481a26c44c00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833a3446645427f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0aa3e221f484b9c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d21ec2d118d46a9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89b3721e9eb4873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c9ba43711fa4804" /><ns0:Relationship Type="http://schemas.openxmlformats.org/officeDocument/2006/relationships/image" Target="/ppt/media/image2.png" Id="R80e1a89c134d47f5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71e8e798e614b9f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e7889b256b94433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9c318230c0e4ab4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5c77ec96cb8428e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4554dedd3854016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dc951a3d58d4f89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49b0b4977d5413b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fd07b6c91a34276" /></ns0: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4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E1F59DAC-7E55-4518-86C6-5236E1F1517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w="0">
            <a:noFill/>
            <a:prstDash val="solid"/>
          </a:ln>
        </p:spPr>
      </p:sp>
      <p:pic>
        <p:nvPicPr>
          <p:cNvPr id="13" name=""/>
          <p:cNvPicPr>
            <a:picLocks noChangeAspect="1"/>
          </p:cNvPicPr>
          <p:nvPr/>
        </p:nvPicPr>
        <p:blipFill>
          <a:blip r:embed="R009cf42edcc0407e"/>
          <a:srcRect l="16310" t="0" r="16310" b="0"/>
          <a:stretch>
            <a:fillRect l="0" t="0" r="0" b="0"/>
          </a:stretch>
        </p:blipFill>
        <p:spPr>
          <a:xfrm>
            <a:off x="3981450" y="0"/>
            <a:ext cx="8210550" cy="6858000"/>
          </a:xfrm>
          <a:prstGeom prst="rect">
            <a:avLst/>
          </a:prstGeom>
        </p:spPr>
      </p:pic>
      <p:sp>
        <p:nvSpPr>
          <p:cNvPr id="3" name="">
            <a:extLst>
              <a:ext uri="{FF2B5EF4-FFF2-40B4-BE49-F238E27FC236}">
                <ns2:creationId id="{FF21FCBD-85CC-45CE-B38D-5CE2D2DEA22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34000">
                <a:srgbClr val="07111F">
                  <a:alpha val="98000"/>
                </a:srgbClr>
              </a:gs>
              <a:gs pos="64000">
                <a:srgbClr val="07111F">
                  <a:alpha val="54000"/>
                </a:srgbClr>
              </a:gs>
              <a:gs pos="100000">
                <a:srgbClr val="07111F">
                  <a:alpha val="6000"/>
                </a:srgbClr>
              </a:gs>
            </a:gsLst>
            <a:lin ang="5400000"/>
          </a:gradFill>
          <a:ln w="0">
            <a:noFill/>
            <a:prstDash val="solid"/>
          </a:ln>
        </p:spPr>
      </p:sp>
      <p:sp>
        <p:nvSpPr>
          <p:cNvPr id="4" name="">
            <a:extLst>
              <a:ext uri="{FF2B5EF4-FFF2-40B4-BE49-F238E27FC236}">
                <ns2:creationId id="{633C18F6-4019-4FA7-9484-7B42A13F267C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2209800" cy="3238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BD38B2CC-F789-4BDF-A225-4E20D36AF817}"/>
              </a:ext>
            </a:extLst>
          </p:cNvPr>
          <p:cNvSpPr>
            <a:spLocks noGrp="1"/>
          </p:cNvSpPr>
          <p:nvPr/>
        </p:nvSpPr>
        <p:spPr>
          <a:xfrm>
            <a:off x="762000" y="714375"/>
            <a:ext cx="20574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4 堂 | Build &amp; Runtime</a:t>
            </a:r>
          </a:p>
        </p:txBody>
      </p:sp>
      <p:sp>
        <p:nvSpPr>
          <p:cNvPr id="6" name="">
            <a:extLst>
              <a:ext uri="{FF2B5EF4-FFF2-40B4-BE49-F238E27FC236}">
                <ns2:creationId id="{16DB0813-D9C1-48A8-826F-5276B4241C0D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80962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Dockerfile、映像檔優化</a:t>
            </a:r>
          </a:p>
          <a:p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與資源配置</a:t>
            </a:r>
          </a:p>
        </p:txBody>
      </p:sp>
      <p:sp>
        <p:nvSpPr>
          <p:cNvPr id="7" name="">
            <a:extLst>
              <a:ext uri="{FF2B5EF4-FFF2-40B4-BE49-F238E27FC236}">
                <ns2:creationId id="{4B30E6B2-047D-4089-8753-9FC5217E9F96}"/>
              </a:ext>
            </a:extLst>
          </p:cNvPr>
          <p:cNvSpPr>
            <a:spLocks noGrp="1"/>
          </p:cNvSpPr>
          <p:nvPr/>
        </p:nvSpPr>
        <p:spPr>
          <a:xfrm>
            <a:off x="723900" y="3143250"/>
            <a:ext cx="7239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把可重複的環境寫進 Dockerfile，並學會限制容器吃掉的資源。</a:t>
            </a:r>
          </a:p>
        </p:txBody>
      </p:sp>
      <p:sp>
        <p:nvSpPr>
          <p:cNvPr id="8" name="">
            <a:extLst>
              <a:ext uri="{FF2B5EF4-FFF2-40B4-BE49-F238E27FC236}">
                <ns2:creationId id="{A6FD0DD9-D01C-4353-A9B1-6468A0399F44}"/>
              </a:ext>
            </a:extLst>
          </p:cNvPr>
          <p:cNvSpPr>
            <a:spLocks noGrp="1"/>
          </p:cNvSpPr>
          <p:nvPr/>
        </p:nvSpPr>
        <p:spPr>
          <a:xfrm>
            <a:off x="685800" y="4286250"/>
            <a:ext cx="7524750" cy="990600"/>
          </a:xfrm>
          <a:prstGeom prst="roundRect">
            <a:avLst>
              <a:gd name="adj" fmla="val 1346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BF220AF7-292E-4D9D-8E32-CBA6CD7ABDDC}"/>
              </a:ext>
            </a:extLst>
          </p:cNvPr>
          <p:cNvSpPr>
            <a:spLocks noGrp="1"/>
          </p:cNvSpPr>
          <p:nvPr/>
        </p:nvSpPr>
        <p:spPr>
          <a:xfrm>
            <a:off x="990600" y="4533900"/>
            <a:ext cx="6953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795"/>
          </a:bodyPr>
          <a:lstStyle/>
          <a:p>
            <a:pPr algn="l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今天完成：自製 Flask Image、推到 Docker Hub、用 Network 串接 MySQL、用 CPU/Memory 限制保護主機。</a:t>
            </a:r>
          </a:p>
        </p:txBody>
      </p:sp>
      <p:sp>
        <p:nvSpPr>
          <p:cNvPr id="10" name="">
            <a:extLst>
              <a:ext uri="{FF2B5EF4-FFF2-40B4-BE49-F238E27FC236}">
                <ns2:creationId id="{131E5E0D-2ECA-4F44-8742-573FB0C90899}"/>
              </a:ext>
            </a:extLst>
          </p:cNvPr>
          <p:cNvSpPr>
            <a:spLocks noGrp="1"/>
          </p:cNvSpPr>
          <p:nvPr/>
        </p:nvSpPr>
        <p:spPr>
          <a:xfrm>
            <a:off x="9620250" y="600075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/>
            </a:r>
          </a:p>
        </p:txBody>
      </p:sp>
    </p:spTree>
    <p:extLst>
      <p:ext uri="{BB962C8B-B14F-4D97-AF65-F5344CB8AC3E}">
        <ns4:creationId val="1723436043"/>
      </p:ext>
    </p:extLst>
  </p:cSld>
</p:sld>
</file>

<file path=ppt/slides/slide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2B45D5B6-3C21-4551-BDE6-54A7D0B9771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">
            <a:extLst>
              <a:ext uri="{FF2B5EF4-FFF2-40B4-BE49-F238E27FC236}">
                <ns2:creationId id="{4B16ED0B-EB9D-4DC3-8319-A544A766EF4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">
            <a:extLst>
              <a:ext uri="{FF2B5EF4-FFF2-40B4-BE49-F238E27FC236}">
                <ns2:creationId id="{8D94ADBE-45C6-4900-B984-2F835F67821A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B67B760B-1B9B-4570-AB78-9E439EBCC6AD}"/>
              </a:ext>
            </a:extLst>
          </p:cNvPr>
          <p:cNvSpPr>
            <a:spLocks noGrp="1"/>
          </p:cNvSpPr>
          <p:nvPr/>
        </p:nvSpPr>
        <p:spPr>
          <a:xfrm>
            <a:off x="838200" y="1943100"/>
            <a:ext cx="514350" cy="5143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74F80F65-7632-46EF-A2AA-FD4C83DB59E8}"/>
              </a:ext>
            </a:extLst>
          </p:cNvPr>
          <p:cNvSpPr>
            <a:spLocks noGrp="1"/>
          </p:cNvSpPr>
          <p:nvPr/>
        </p:nvSpPr>
        <p:spPr>
          <a:xfrm>
            <a:off x="8382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>
              <a:ext uri="{FF2B5EF4-FFF2-40B4-BE49-F238E27FC236}">
                <ns2:creationId id="{CB60558C-D35F-43D4-88B3-3740A5B4723B}"/>
              </a:ext>
            </a:extLst>
          </p:cNvPr>
          <p:cNvSpPr>
            <a:spLocks noGrp="1"/>
          </p:cNvSpPr>
          <p:nvPr/>
        </p:nvSpPr>
        <p:spPr>
          <a:xfrm>
            <a:off x="8382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 與 Image</a:t>
            </a:r>
          </a:p>
        </p:txBody>
      </p:sp>
      <p:sp>
        <p:nvSpPr>
          <p:cNvPr id="7" name="">
            <a:extLst>
              <a:ext uri="{FF2B5EF4-FFF2-40B4-BE49-F238E27FC236}">
                <ns2:creationId id="{FFB7808C-668C-4943-B8BB-E9110CFBC563}"/>
              </a:ext>
            </a:extLst>
          </p:cNvPr>
          <p:cNvSpPr>
            <a:spLocks noGrp="1"/>
          </p:cNvSpPr>
          <p:nvPr/>
        </p:nvSpPr>
        <p:spPr>
          <a:xfrm>
            <a:off x="8382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寫 Dockerfile、理解 cache 與 layers，做出可重複建構的 Flask Image。</a:t>
            </a:r>
          </a:p>
        </p:txBody>
      </p:sp>
      <p:sp>
        <p:nvSpPr>
          <p:cNvPr id="8" name="">
            <a:extLst>
              <a:ext uri="{FF2B5EF4-FFF2-40B4-BE49-F238E27FC236}">
                <ns2:creationId id="{70E2D89E-88FF-4B11-8C9C-28E4EBD340D3}"/>
              </a:ext>
            </a:extLst>
          </p:cNvPr>
          <p:cNvSpPr>
            <a:spLocks noGrp="1"/>
          </p:cNvSpPr>
          <p:nvPr/>
        </p:nvSpPr>
        <p:spPr>
          <a:xfrm>
            <a:off x="8382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3DCE950B-2225-4AA9-A4F4-8341F994DB30}"/>
              </a:ext>
            </a:extLst>
          </p:cNvPr>
          <p:cNvSpPr>
            <a:spLocks noGrp="1"/>
          </p:cNvSpPr>
          <p:nvPr/>
        </p:nvSpPr>
        <p:spPr>
          <a:xfrm>
            <a:off x="9144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約 1.5 小時</a:t>
            </a:r>
          </a:p>
        </p:txBody>
      </p:sp>
      <p:sp>
        <p:nvSpPr>
          <p:cNvPr id="10" name="">
            <a:extLst>
              <a:ext uri="{FF2B5EF4-FFF2-40B4-BE49-F238E27FC236}">
                <ns2:creationId id="{0C63D338-99EB-4100-B8EA-1689A24915AB}"/>
              </a:ext>
            </a:extLst>
          </p:cNvPr>
          <p:cNvSpPr>
            <a:spLocks noGrp="1"/>
          </p:cNvSpPr>
          <p:nvPr/>
        </p:nvSpPr>
        <p:spPr>
          <a:xfrm>
            <a:off x="428625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A048C454-E96B-45A7-A76A-49AC6EE8DDCE}"/>
              </a:ext>
            </a:extLst>
          </p:cNvPr>
          <p:cNvSpPr>
            <a:spLocks noGrp="1"/>
          </p:cNvSpPr>
          <p:nvPr/>
        </p:nvSpPr>
        <p:spPr>
          <a:xfrm>
            <a:off x="4514850" y="1943100"/>
            <a:ext cx="514350" cy="5143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7501479C-CA18-44A3-AF86-8EE9200190B5}"/>
              </a:ext>
            </a:extLst>
          </p:cNvPr>
          <p:cNvSpPr>
            <a:spLocks noGrp="1"/>
          </p:cNvSpPr>
          <p:nvPr/>
        </p:nvSpPr>
        <p:spPr>
          <a:xfrm>
            <a:off x="451485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">
            <a:extLst>
              <a:ext uri="{FF2B5EF4-FFF2-40B4-BE49-F238E27FC236}">
                <ns2:creationId id="{B2970283-46B4-424C-A82D-A30740CF74A9}"/>
              </a:ext>
            </a:extLst>
          </p:cNvPr>
          <p:cNvSpPr>
            <a:spLocks noGrp="1"/>
          </p:cNvSpPr>
          <p:nvPr/>
        </p:nvSpPr>
        <p:spPr>
          <a:xfrm>
            <a:off x="451485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Network</a:t>
            </a:r>
          </a:p>
        </p:txBody>
      </p:sp>
      <p:sp>
        <p:nvSpPr>
          <p:cNvPr id="14" name="">
            <a:extLst>
              <a:ext uri="{FF2B5EF4-FFF2-40B4-BE49-F238E27FC236}">
                <ns2:creationId id="{C7915BC9-E838-4FDC-9D1B-DF9C28F4967D}"/>
              </a:ext>
            </a:extLst>
          </p:cNvPr>
          <p:cNvSpPr>
            <a:spLocks noGrp="1"/>
          </p:cNvSpPr>
          <p:nvPr/>
        </p:nvSpPr>
        <p:spPr>
          <a:xfrm>
            <a:off x="451485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 Flask 與 MySQL 拆成不同容器，用自訂 network 串起來。</a:t>
            </a:r>
          </a:p>
        </p:txBody>
      </p:sp>
      <p:sp>
        <p:nvSpPr>
          <p:cNvPr id="15" name="">
            <a:extLst>
              <a:ext uri="{FF2B5EF4-FFF2-40B4-BE49-F238E27FC236}">
                <ns2:creationId id="{6E5924A6-C016-467E-914F-ED624EC1E39B}"/>
              </a:ext>
            </a:extLst>
          </p:cNvPr>
          <p:cNvSpPr>
            <a:spLocks noGrp="1"/>
          </p:cNvSpPr>
          <p:nvPr/>
        </p:nvSpPr>
        <p:spPr>
          <a:xfrm>
            <a:off x="451485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2D150B18-076A-4AA6-9B99-BBE810B37C75}"/>
              </a:ext>
            </a:extLst>
          </p:cNvPr>
          <p:cNvSpPr>
            <a:spLocks noGrp="1"/>
          </p:cNvSpPr>
          <p:nvPr/>
        </p:nvSpPr>
        <p:spPr>
          <a:xfrm>
            <a:off x="459105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0.5 小時</a:t>
            </a:r>
          </a:p>
        </p:txBody>
      </p:sp>
      <p:sp>
        <p:nvSpPr>
          <p:cNvPr id="17" name="">
            <a:extLst>
              <a:ext uri="{FF2B5EF4-FFF2-40B4-BE49-F238E27FC236}">
                <ns2:creationId id="{36E8B027-11CF-443C-895B-97B7D4E5573D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33FB78D0-B8E6-4D36-A93D-FCE1F6F29B16}"/>
              </a:ext>
            </a:extLst>
          </p:cNvPr>
          <p:cNvSpPr>
            <a:spLocks noGrp="1"/>
          </p:cNvSpPr>
          <p:nvPr/>
        </p:nvSpPr>
        <p:spPr>
          <a:xfrm>
            <a:off x="8191500" y="1943100"/>
            <a:ext cx="514350" cy="514350"/>
          </a:xfrm>
          <a:prstGeom prst="ellipse">
            <a:avLst/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8821B6FB-4EB6-4167-821D-C1742E573709}"/>
              </a:ext>
            </a:extLst>
          </p:cNvPr>
          <p:cNvSpPr>
            <a:spLocks noGrp="1"/>
          </p:cNvSpPr>
          <p:nvPr/>
        </p:nvSpPr>
        <p:spPr>
          <a:xfrm>
            <a:off x="81915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">
            <a:extLst>
              <a:ext uri="{FF2B5EF4-FFF2-40B4-BE49-F238E27FC236}">
                <ns2:creationId id="{E4A24AE2-27BE-4E01-BF05-766123D69E34}"/>
              </a:ext>
            </a:extLst>
          </p:cNvPr>
          <p:cNvSpPr>
            <a:spLocks noGrp="1"/>
          </p:cNvSpPr>
          <p:nvPr/>
        </p:nvSpPr>
        <p:spPr>
          <a:xfrm>
            <a:off x="81915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資源配置</a:t>
            </a:r>
          </a:p>
        </p:txBody>
      </p:sp>
      <p:sp>
        <p:nvSpPr>
          <p:cNvPr id="21" name="">
            <a:extLst>
              <a:ext uri="{FF2B5EF4-FFF2-40B4-BE49-F238E27FC236}">
                <ns2:creationId id="{7194FC18-10FD-48FC-AF93-60F64A877928}"/>
              </a:ext>
            </a:extLst>
          </p:cNvPr>
          <p:cNvSpPr>
            <a:spLocks noGrp="1"/>
          </p:cNvSpPr>
          <p:nvPr/>
        </p:nvSpPr>
        <p:spPr>
          <a:xfrm>
            <a:off x="81915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CPU、Memory、docker stats 和 docker update 控制容器資源。</a:t>
            </a:r>
          </a:p>
        </p:txBody>
      </p:sp>
      <p:sp>
        <p:nvSpPr>
          <p:cNvPr id="22" name="">
            <a:extLst>
              <a:ext uri="{FF2B5EF4-FFF2-40B4-BE49-F238E27FC236}">
                <ns2:creationId id="{21FFC934-BFE5-4E8C-8793-5D2814C84595}"/>
              </a:ext>
            </a:extLst>
          </p:cNvPr>
          <p:cNvSpPr>
            <a:spLocks noGrp="1"/>
          </p:cNvSpPr>
          <p:nvPr/>
        </p:nvSpPr>
        <p:spPr>
          <a:xfrm>
            <a:off x="81915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C1C4D777-2500-47FF-9828-22C71CBB0C48}"/>
              </a:ext>
            </a:extLst>
          </p:cNvPr>
          <p:cNvSpPr>
            <a:spLocks noGrp="1"/>
          </p:cNvSpPr>
          <p:nvPr/>
        </p:nvSpPr>
        <p:spPr>
          <a:xfrm>
            <a:off x="82677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">
            <a:extLst>
              <a:ext uri="{FF2B5EF4-FFF2-40B4-BE49-F238E27FC236}">
                <ns2:creationId id="{FFCADF91-1170-4182-BA07-AFFC575ED79C}"/>
              </a:ext>
            </a:extLst>
          </p:cNvPr>
          <p:cNvSpPr>
            <a:spLocks noGrp="1"/>
          </p:cNvSpPr>
          <p:nvPr/>
        </p:nvSpPr>
        <p:spPr>
          <a:xfrm>
            <a:off x="876300" y="533400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這堂課的關鍵句：Image 要能重建，Container 要能被限制。</a:t>
            </a:r>
          </a:p>
        </p:txBody>
      </p:sp>
      <p:sp>
        <p:nvSpPr>
          <p:cNvPr id="25" name="">
            <a:extLst>
              <a:ext uri="{FF2B5EF4-FFF2-40B4-BE49-F238E27FC236}">
                <ns2:creationId id="{723C8D62-9B42-41FA-9B60-1096A6C88D3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DE44CBED-9FB6-4D45-9CEF-77E343D4D59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7" name="">
            <a:extLst>
              <a:ext uri="{FF2B5EF4-FFF2-40B4-BE49-F238E27FC236}">
                <ns2:creationId id="{5BE1DDA3-BDD2-4766-945E-5DF276EC869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ns3:creationId val="466177416"/>
      </p:ext>
    </p:extLst>
  </p:cSld>
</p:sld>
</file>

<file path=ppt/slides/slide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0D3E9783-7AAC-41B6-8539-247941A6129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WHY CUSTOM IMAGES</a:t>
            </a:r>
          </a:p>
        </p:txBody>
      </p:sp>
      <p:sp>
        <p:nvSpPr>
          <p:cNvPr id="2" name="">
            <a:extLst>
              <a:ext uri="{FF2B5EF4-FFF2-40B4-BE49-F238E27FC236}">
                <ns2:creationId id="{6257832C-518D-4C96-B0EB-0FF8CBDBF37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為什麼需要自製映像檔？</a:t>
            </a:r>
          </a:p>
        </p:txBody>
      </p:sp>
      <p:sp>
        <p:nvSpPr>
          <p:cNvPr id="3" name="">
            <a:extLst>
              <a:ext uri="{FF2B5EF4-FFF2-40B4-BE49-F238E27FC236}">
                <ns2:creationId id="{58458BCB-DC45-4CF6-90D7-97047DB37F24}"/>
              </a:ext>
            </a:extLst>
          </p:cNvPr>
          <p:cNvSpPr>
            <a:spLocks noGrp="1"/>
          </p:cNvSpPr>
          <p:nvPr/>
        </p:nvSpPr>
        <p:spPr>
          <a:xfrm>
            <a:off x="933450" y="1638300"/>
            <a:ext cx="4286250" cy="2476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5019AB1A-F5F0-4489-8750-F5F56EAAED97}"/>
              </a:ext>
            </a:extLst>
          </p:cNvPr>
          <p:cNvSpPr>
            <a:spLocks noGrp="1"/>
          </p:cNvSpPr>
          <p:nvPr/>
        </p:nvSpPr>
        <p:spPr>
          <a:xfrm>
            <a:off x="1162050" y="18288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手動安裝</a:t>
            </a:r>
          </a:p>
        </p:txBody>
      </p:sp>
      <p:sp>
        <p:nvSpPr>
          <p:cNvPr id="5" name="">
            <a:extLst>
              <a:ext uri="{FF2B5EF4-FFF2-40B4-BE49-F238E27FC236}">
                <ns2:creationId id="{57462C7D-AC21-4280-8FA8-317856EDB2C3}"/>
              </a:ext>
            </a:extLst>
          </p:cNvPr>
          <p:cNvSpPr>
            <a:spLocks noGrp="1"/>
          </p:cNvSpPr>
          <p:nvPr/>
        </p:nvSpPr>
        <p:spPr>
          <a:xfrm>
            <a:off x="1162050" y="2419350"/>
            <a:ext cx="3829050" cy="1504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進容器、apt install、pip install、複製檔案。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問題：換一台機器就要重做，容易少步驟。</a:t>
            </a:r>
          </a:p>
        </p:txBody>
      </p:sp>
      <p:sp>
        <p:nvSpPr>
          <p:cNvPr id="6" name="">
            <a:extLst>
              <a:ext uri="{FF2B5EF4-FFF2-40B4-BE49-F238E27FC236}">
                <ns2:creationId id="{298273FE-9A46-4FA9-A425-471756AD4584}"/>
              </a:ext>
            </a:extLst>
          </p:cNvPr>
          <p:cNvSpPr>
            <a:spLocks noGrp="1"/>
          </p:cNvSpPr>
          <p:nvPr/>
        </p:nvSpPr>
        <p:spPr>
          <a:xfrm>
            <a:off x="5600700" y="2647950"/>
            <a:ext cx="895350" cy="4000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4C20D5CE-72EE-4EC0-8239-C0EBFD23B89F}"/>
              </a:ext>
            </a:extLst>
          </p:cNvPr>
          <p:cNvSpPr>
            <a:spLocks noGrp="1"/>
          </p:cNvSpPr>
          <p:nvPr/>
        </p:nvSpPr>
        <p:spPr>
          <a:xfrm>
            <a:off x="6934200" y="1638300"/>
            <a:ext cx="4286250" cy="2476500"/>
          </a:xfrm>
          <a:prstGeom prst="roundRect">
            <a:avLst>
              <a:gd name="adj" fmla="val 461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B22E52CB-CB1E-4FD2-A88C-EF0F1081E931}"/>
              </a:ext>
            </a:extLst>
          </p:cNvPr>
          <p:cNvSpPr>
            <a:spLocks noGrp="1"/>
          </p:cNvSpPr>
          <p:nvPr/>
        </p:nvSpPr>
        <p:spPr>
          <a:xfrm>
            <a:off x="7162800" y="18288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Dockerfile</a:t>
            </a:r>
          </a:p>
        </p:txBody>
      </p:sp>
      <p:sp>
        <p:nvSpPr>
          <p:cNvPr id="9" name="">
            <a:extLst>
              <a:ext uri="{FF2B5EF4-FFF2-40B4-BE49-F238E27FC236}">
                <ns2:creationId id="{4F63A157-A6FA-4DF1-AEB9-114EC1B64A4F}"/>
              </a:ext>
            </a:extLst>
          </p:cNvPr>
          <p:cNvSpPr>
            <a:spLocks noGrp="1"/>
          </p:cNvSpPr>
          <p:nvPr/>
        </p:nvSpPr>
        <p:spPr>
          <a:xfrm>
            <a:off x="7162800" y="2419350"/>
            <a:ext cx="3829050" cy="1504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把安裝流程寫成檔案。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結果：任何人都能 docker build 出同一個 Image。</a:t>
            </a:r>
          </a:p>
        </p:txBody>
      </p:sp>
      <p:sp>
        <p:nvSpPr>
          <p:cNvPr id="10" name="">
            <a:extLst>
              <a:ext uri="{FF2B5EF4-FFF2-40B4-BE49-F238E27FC236}">
                <ns2:creationId id="{3510BCBA-7548-4B46-898F-20212B69E885}"/>
              </a:ext>
            </a:extLst>
          </p:cNvPr>
          <p:cNvSpPr>
            <a:spLocks noGrp="1"/>
          </p:cNvSpPr>
          <p:nvPr/>
        </p:nvSpPr>
        <p:spPr>
          <a:xfrm>
            <a:off x="1695450" y="4762500"/>
            <a:ext cx="8801100" cy="685800"/>
          </a:xfrm>
          <a:prstGeom prst="roundRect">
            <a:avLst>
              <a:gd name="adj" fmla="val 16667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6EFF5476-5321-4186-9609-E5D7F6815E0E}"/>
              </a:ext>
            </a:extLst>
          </p:cNvPr>
          <p:cNvSpPr>
            <a:spLocks noGrp="1"/>
          </p:cNvSpPr>
          <p:nvPr/>
        </p:nvSpPr>
        <p:spPr>
          <a:xfrm>
            <a:off x="2095500" y="4972050"/>
            <a:ext cx="8001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Dockerfile 是把「怎麼做環境」寫成版本可控、可重複、可分享的建構配方。</a:t>
            </a:r>
          </a:p>
        </p:txBody>
      </p:sp>
      <p:sp>
        <p:nvSpPr>
          <p:cNvPr id="12" name="">
            <a:extLst>
              <a:ext uri="{FF2B5EF4-FFF2-40B4-BE49-F238E27FC236}">
                <ns2:creationId id="{1B1A826C-F6D3-4EF9-AC2D-17BF3077A826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15825D28-F458-4B25-98EE-45C9111E7FA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>
              <a:ext uri="{FF2B5EF4-FFF2-40B4-BE49-F238E27FC236}">
                <ns2:creationId id="{53BC476A-19EB-4CA4-BDB7-90B405A9DBC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ns3:creationId val="1813856546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09D33314-FDF1-4E64-9D77-1E70FEB34E5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MENTAL MODEL</a:t>
            </a:r>
          </a:p>
        </p:txBody>
      </p:sp>
      <p:sp>
        <p:nvSpPr>
          <p:cNvPr id="2" name="">
            <a:extLst>
              <a:ext uri="{FF2B5EF4-FFF2-40B4-BE49-F238E27FC236}">
                <ns2:creationId id="{1301AB52-AF72-42FC-B902-D76DDE1C3061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Dockerfile、Image、Container 的關係</a:t>
            </a:r>
          </a:p>
        </p:txBody>
      </p:sp>
      <p:sp>
        <p:nvSpPr>
          <p:cNvPr id="3" name="">
            <a:extLst>
              <a:ext uri="{FF2B5EF4-FFF2-40B4-BE49-F238E27FC236}">
                <ns2:creationId id="{B24F33F0-0EE4-4BEA-9451-89144FB5CC12}"/>
              </a:ext>
            </a:extLst>
          </p:cNvPr>
          <p:cNvSpPr>
            <a:spLocks noGrp="1"/>
          </p:cNvSpPr>
          <p:nvPr/>
        </p:nvSpPr>
        <p:spPr>
          <a:xfrm>
            <a:off x="1066800" y="2209800"/>
            <a:ext cx="2667000" cy="1695450"/>
          </a:xfrm>
          <a:prstGeom prst="roundRect">
            <a:avLst>
              <a:gd name="adj" fmla="val 6742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E1258297-BBEE-4AE5-9BC8-8B0F31622395}"/>
              </a:ext>
            </a:extLst>
          </p:cNvPr>
          <p:cNvSpPr>
            <a:spLocks noGrp="1"/>
          </p:cNvSpPr>
          <p:nvPr/>
        </p:nvSpPr>
        <p:spPr>
          <a:xfrm>
            <a:off x="1276350" y="2571750"/>
            <a:ext cx="2247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749"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Dockerfile</a:t>
            </a:r>
          </a:p>
        </p:txBody>
      </p:sp>
      <p:sp>
        <p:nvSpPr>
          <p:cNvPr id="5" name="">
            <a:extLst>
              <a:ext uri="{FF2B5EF4-FFF2-40B4-BE49-F238E27FC236}">
                <ns2:creationId id="{BCC62E38-5156-4A13-9FEB-0089BACE80B7}"/>
              </a:ext>
            </a:extLst>
          </p:cNvPr>
          <p:cNvSpPr>
            <a:spLocks noGrp="1"/>
          </p:cNvSpPr>
          <p:nvPr/>
        </p:nvSpPr>
        <p:spPr>
          <a:xfrm>
            <a:off x="1333500" y="3162300"/>
            <a:ext cx="2133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35"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建構配方</a:t>
            </a:r>
          </a:p>
        </p:txBody>
      </p:sp>
      <p:sp>
        <p:nvSpPr>
          <p:cNvPr id="6" name="">
            <a:extLst>
              <a:ext uri="{FF2B5EF4-FFF2-40B4-BE49-F238E27FC236}">
                <ns2:creationId id="{65DAA1F4-0388-463B-BF30-7EFC985F6024}"/>
              </a:ext>
            </a:extLst>
          </p:cNvPr>
          <p:cNvSpPr>
            <a:spLocks noGrp="1"/>
          </p:cNvSpPr>
          <p:nvPr/>
        </p:nvSpPr>
        <p:spPr>
          <a:xfrm>
            <a:off x="3962400" y="2857500"/>
            <a:ext cx="666750" cy="3048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537C194A-3536-4819-8608-3AE4AF785E27}"/>
              </a:ext>
            </a:extLst>
          </p:cNvPr>
          <p:cNvSpPr>
            <a:spLocks noGrp="1"/>
          </p:cNvSpPr>
          <p:nvPr/>
        </p:nvSpPr>
        <p:spPr>
          <a:xfrm>
            <a:off x="4495800" y="2209800"/>
            <a:ext cx="2667000" cy="1695450"/>
          </a:xfrm>
          <a:prstGeom prst="roundRect">
            <a:avLst>
              <a:gd name="adj" fmla="val 6742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C4BF80D7-0D18-4912-8019-DC4BC0114BAD}"/>
              </a:ext>
            </a:extLst>
          </p:cNvPr>
          <p:cNvSpPr>
            <a:spLocks noGrp="1"/>
          </p:cNvSpPr>
          <p:nvPr/>
        </p:nvSpPr>
        <p:spPr>
          <a:xfrm>
            <a:off x="4705350" y="2571750"/>
            <a:ext cx="2247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749"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Image</a:t>
            </a:r>
          </a:p>
        </p:txBody>
      </p:sp>
      <p:sp>
        <p:nvSpPr>
          <p:cNvPr id="9" name="">
            <a:extLst>
              <a:ext uri="{FF2B5EF4-FFF2-40B4-BE49-F238E27FC236}">
                <ns2:creationId id="{704CEFCA-D831-4581-B0B0-FFF7E1F776E9}"/>
              </a:ext>
            </a:extLst>
          </p:cNvPr>
          <p:cNvSpPr>
            <a:spLocks noGrp="1"/>
          </p:cNvSpPr>
          <p:nvPr/>
        </p:nvSpPr>
        <p:spPr>
          <a:xfrm>
            <a:off x="4762500" y="3162300"/>
            <a:ext cx="2133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35"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唯讀模板</a:t>
            </a:r>
          </a:p>
        </p:txBody>
      </p:sp>
      <p:sp>
        <p:nvSpPr>
          <p:cNvPr id="10" name="">
            <a:extLst>
              <a:ext uri="{FF2B5EF4-FFF2-40B4-BE49-F238E27FC236}">
                <ns2:creationId id="{04ACC53A-894D-489E-9229-01B11B9D99BF}"/>
              </a:ext>
            </a:extLst>
          </p:cNvPr>
          <p:cNvSpPr>
            <a:spLocks noGrp="1"/>
          </p:cNvSpPr>
          <p:nvPr/>
        </p:nvSpPr>
        <p:spPr>
          <a:xfrm>
            <a:off x="7391400" y="2857500"/>
            <a:ext cx="666750" cy="3048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638FD821-CBD8-4432-95A0-37FC20FB89B4}"/>
              </a:ext>
            </a:extLst>
          </p:cNvPr>
          <p:cNvSpPr>
            <a:spLocks noGrp="1"/>
          </p:cNvSpPr>
          <p:nvPr/>
        </p:nvSpPr>
        <p:spPr>
          <a:xfrm>
            <a:off x="7924800" y="2209800"/>
            <a:ext cx="2667000" cy="1695450"/>
          </a:xfrm>
          <a:prstGeom prst="roundRect">
            <a:avLst>
              <a:gd name="adj" fmla="val 6742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68884AFA-1B12-4A1E-8043-92A7B34479B4}"/>
              </a:ext>
            </a:extLst>
          </p:cNvPr>
          <p:cNvSpPr>
            <a:spLocks noGrp="1"/>
          </p:cNvSpPr>
          <p:nvPr/>
        </p:nvSpPr>
        <p:spPr>
          <a:xfrm>
            <a:off x="8134350" y="2571750"/>
            <a:ext cx="2247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749"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Container</a:t>
            </a:r>
          </a:p>
        </p:txBody>
      </p:sp>
      <p:sp>
        <p:nvSpPr>
          <p:cNvPr id="13" name="">
            <a:extLst>
              <a:ext uri="{FF2B5EF4-FFF2-40B4-BE49-F238E27FC236}">
                <ns2:creationId id="{6F26F9AE-C708-4E85-9F5A-25A563CDDB30}"/>
              </a:ext>
            </a:extLst>
          </p:cNvPr>
          <p:cNvSpPr>
            <a:spLocks noGrp="1"/>
          </p:cNvSpPr>
          <p:nvPr/>
        </p:nvSpPr>
        <p:spPr>
          <a:xfrm>
            <a:off x="8191500" y="3162300"/>
            <a:ext cx="2133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35"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執行中的實例</a:t>
            </a:r>
          </a:p>
        </p:txBody>
      </p:sp>
      <p:sp>
        <p:nvSpPr>
          <p:cNvPr id="14" name="">
            <a:extLst>
              <a:ext uri="{FF2B5EF4-FFF2-40B4-BE49-F238E27FC236}">
                <ns2:creationId id="{8BEC1AAD-08F5-4CAE-827F-A7B39D69AC1D}"/>
              </a:ext>
            </a:extLst>
          </p:cNvPr>
          <p:cNvSpPr>
            <a:spLocks noGrp="1"/>
          </p:cNvSpPr>
          <p:nvPr/>
        </p:nvSpPr>
        <p:spPr>
          <a:xfrm>
            <a:off x="1790700" y="4838700"/>
            <a:ext cx="8610600" cy="895350"/>
          </a:xfrm>
          <a:prstGeom prst="roundRect">
            <a:avLst>
              <a:gd name="adj" fmla="val 1063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5" name="">
            <a:extLst>
              <a:ext uri="{FF2B5EF4-FFF2-40B4-BE49-F238E27FC236}">
                <ns2:creationId id="{DF4D069C-6C3C-49D0-9528-FF2E20BEBA27}"/>
              </a:ext>
            </a:extLst>
          </p:cNvPr>
          <p:cNvSpPr>
            <a:spLocks noGrp="1"/>
          </p:cNvSpPr>
          <p:nvPr/>
        </p:nvSpPr>
        <p:spPr>
          <a:xfrm>
            <a:off x="1962150" y="50006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AA1C0C01-1574-422A-AED7-82B419262636}"/>
              </a:ext>
            </a:extLst>
          </p:cNvPr>
          <p:cNvSpPr>
            <a:spLocks noGrp="1"/>
          </p:cNvSpPr>
          <p:nvPr/>
        </p:nvSpPr>
        <p:spPr>
          <a:xfrm>
            <a:off x="2133600" y="50006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EF51E77E-47A5-4FEA-BD85-AC3967956B62}"/>
              </a:ext>
            </a:extLst>
          </p:cNvPr>
          <p:cNvSpPr>
            <a:spLocks noGrp="1"/>
          </p:cNvSpPr>
          <p:nvPr/>
        </p:nvSpPr>
        <p:spPr>
          <a:xfrm>
            <a:off x="2305050" y="50006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CB90BD6D-FDEF-43FB-B020-9F6BC8CDC742}"/>
              </a:ext>
            </a:extLst>
          </p:cNvPr>
          <p:cNvSpPr>
            <a:spLocks noGrp="1"/>
          </p:cNvSpPr>
          <p:nvPr/>
        </p:nvSpPr>
        <p:spPr>
          <a:xfrm>
            <a:off x="2000250" y="5257800"/>
            <a:ext cx="8191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5559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my-flask-app:v1 .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flask -p 5000:5000 my-flask-app:v1</a:t>
            </a:r>
          </a:p>
        </p:txBody>
      </p:sp>
      <p:sp>
        <p:nvSpPr>
          <p:cNvPr id="19" name="">
            <a:extLst>
              <a:ext uri="{FF2B5EF4-FFF2-40B4-BE49-F238E27FC236}">
                <ns2:creationId id="{0E389383-1A16-4358-9773-FE9EE8DEB7A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BE8BE77B-896E-44E8-BE7A-A26FBDABAA6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1" name="">
            <a:extLst>
              <a:ext uri="{FF2B5EF4-FFF2-40B4-BE49-F238E27FC236}">
                <ns2:creationId id="{CDD0D894-B4FF-4648-9F78-26269E958A4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ns3:creationId val="1446393923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ABD4690-EFD3-4423-BA10-417EAD0C1DC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DOCKERFILE ANATOMY</a:t>
            </a:r>
          </a:p>
        </p:txBody>
      </p:sp>
      <p:sp>
        <p:nvSpPr>
          <p:cNvPr id="2" name="">
            <a:extLst>
              <a:ext uri="{FF2B5EF4-FFF2-40B4-BE49-F238E27FC236}">
                <ns2:creationId id="{9040B62C-AF46-49D2-B92E-D6D5B620A8D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Dockerfile 基礎語法</a:t>
            </a:r>
          </a:p>
        </p:txBody>
      </p:sp>
      <p:sp>
        <p:nvSpPr>
          <p:cNvPr id="3" name="">
            <a:extLst>
              <a:ext uri="{FF2B5EF4-FFF2-40B4-BE49-F238E27FC236}">
                <ns2:creationId id="{8C5D8050-55EC-4B79-BCBC-4755172B26B6}"/>
              </a:ext>
            </a:extLst>
          </p:cNvPr>
          <p:cNvSpPr>
            <a:spLocks noGrp="1"/>
          </p:cNvSpPr>
          <p:nvPr/>
        </p:nvSpPr>
        <p:spPr>
          <a:xfrm>
            <a:off x="723900" y="1447800"/>
            <a:ext cx="6286500" cy="2952750"/>
          </a:xfrm>
          <a:prstGeom prst="roundRect">
            <a:avLst>
              <a:gd name="adj" fmla="val 322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E0FABAEE-04CF-4167-B3D1-0D8A58066DE8}"/>
              </a:ext>
            </a:extLst>
          </p:cNvPr>
          <p:cNvSpPr>
            <a:spLocks noGrp="1"/>
          </p:cNvSpPr>
          <p:nvPr/>
        </p:nvSpPr>
        <p:spPr>
          <a:xfrm>
            <a:off x="895350" y="1609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D6BF8E12-5F9A-4BBD-BAA3-AD2BC30137FA}"/>
              </a:ext>
            </a:extLst>
          </p:cNvPr>
          <p:cNvSpPr>
            <a:spLocks noGrp="1"/>
          </p:cNvSpPr>
          <p:nvPr/>
        </p:nvSpPr>
        <p:spPr>
          <a:xfrm>
            <a:off x="1066800" y="1609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54A52FC2-2BEB-4181-93FC-A3759AE3B015}"/>
              </a:ext>
            </a:extLst>
          </p:cNvPr>
          <p:cNvSpPr>
            <a:spLocks noGrp="1"/>
          </p:cNvSpPr>
          <p:nvPr/>
        </p:nvSpPr>
        <p:spPr>
          <a:xfrm>
            <a:off x="1238250" y="1609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300097C9-C592-4AFD-92A6-CAAA6EF4DD10}"/>
              </a:ext>
            </a:extLst>
          </p:cNvPr>
          <p:cNvSpPr>
            <a:spLocks noGrp="1"/>
          </p:cNvSpPr>
          <p:nvPr/>
        </p:nvSpPr>
        <p:spPr>
          <a:xfrm>
            <a:off x="933450" y="1866900"/>
            <a:ext cx="5867400" cy="2400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8" name="">
            <a:extLst>
              <a:ext uri="{FF2B5EF4-FFF2-40B4-BE49-F238E27FC236}">
                <ns2:creationId id="{1F67AA4A-FEE2-415B-B93F-300E8A4B19A4}"/>
              </a:ext>
            </a:extLst>
          </p:cNvPr>
          <p:cNvSpPr>
            <a:spLocks noGrp="1"/>
          </p:cNvSpPr>
          <p:nvPr/>
        </p:nvSpPr>
        <p:spPr>
          <a:xfrm>
            <a:off x="7620000" y="1428750"/>
            <a:ext cx="3276600" cy="514350"/>
          </a:xfrm>
          <a:prstGeom prst="roundRect">
            <a:avLst>
              <a:gd name="adj" fmla="val 1851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66D02EC6-E681-4365-9222-A99C3557B4AB}"/>
              </a:ext>
            </a:extLst>
          </p:cNvPr>
          <p:cNvSpPr>
            <a:spLocks noGrp="1"/>
          </p:cNvSpPr>
          <p:nvPr/>
        </p:nvSpPr>
        <p:spPr>
          <a:xfrm>
            <a:off x="7848600" y="1581150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029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FROM</a:t>
            </a:r>
          </a:p>
        </p:txBody>
      </p:sp>
      <p:sp>
        <p:nvSpPr>
          <p:cNvPr id="10" name="">
            <a:extLst>
              <a:ext uri="{FF2B5EF4-FFF2-40B4-BE49-F238E27FC236}">
                <ns2:creationId id="{37C6B862-D69B-4A90-A58F-08879299CFAE}"/>
              </a:ext>
            </a:extLst>
          </p:cNvPr>
          <p:cNvSpPr>
            <a:spLocks noGrp="1"/>
          </p:cNvSpPr>
          <p:nvPr/>
        </p:nvSpPr>
        <p:spPr>
          <a:xfrm>
            <a:off x="9048750" y="1581150"/>
            <a:ext cx="1562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基礎 Image</a:t>
            </a:r>
          </a:p>
        </p:txBody>
      </p:sp>
      <p:sp>
        <p:nvSpPr>
          <p:cNvPr id="11" name="">
            <a:extLst>
              <a:ext uri="{FF2B5EF4-FFF2-40B4-BE49-F238E27FC236}">
                <ns2:creationId id="{6B7B9D9C-4C54-4A6D-B2DF-B77B31E5AFB4}"/>
              </a:ext>
            </a:extLst>
          </p:cNvPr>
          <p:cNvSpPr>
            <a:spLocks noGrp="1"/>
          </p:cNvSpPr>
          <p:nvPr/>
        </p:nvSpPr>
        <p:spPr>
          <a:xfrm>
            <a:off x="7620000" y="2114550"/>
            <a:ext cx="3276600" cy="514350"/>
          </a:xfrm>
          <a:prstGeom prst="roundRect">
            <a:avLst>
              <a:gd name="adj" fmla="val 1851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983EA41F-ADE8-4156-9260-FC8FF3608635}"/>
              </a:ext>
            </a:extLst>
          </p:cNvPr>
          <p:cNvSpPr>
            <a:spLocks noGrp="1"/>
          </p:cNvSpPr>
          <p:nvPr/>
        </p:nvSpPr>
        <p:spPr>
          <a:xfrm>
            <a:off x="7848600" y="2266950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029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WORKDIR</a:t>
            </a:r>
          </a:p>
        </p:txBody>
      </p:sp>
      <p:sp>
        <p:nvSpPr>
          <p:cNvPr id="13" name="">
            <a:extLst>
              <a:ext uri="{FF2B5EF4-FFF2-40B4-BE49-F238E27FC236}">
                <ns2:creationId id="{BE5E2C58-DAEB-4A39-A2D5-19F2107414C4}"/>
              </a:ext>
            </a:extLst>
          </p:cNvPr>
          <p:cNvSpPr>
            <a:spLocks noGrp="1"/>
          </p:cNvSpPr>
          <p:nvPr/>
        </p:nvSpPr>
        <p:spPr>
          <a:xfrm>
            <a:off x="9048750" y="2266950"/>
            <a:ext cx="1562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容器內工作目錄</a:t>
            </a:r>
          </a:p>
        </p:txBody>
      </p:sp>
      <p:sp>
        <p:nvSpPr>
          <p:cNvPr id="14" name="">
            <a:extLst>
              <a:ext uri="{FF2B5EF4-FFF2-40B4-BE49-F238E27FC236}">
                <ns2:creationId id="{9013F53D-B450-4D5D-8936-4E262FBC9DF7}"/>
              </a:ext>
            </a:extLst>
          </p:cNvPr>
          <p:cNvSpPr>
            <a:spLocks noGrp="1"/>
          </p:cNvSpPr>
          <p:nvPr/>
        </p:nvSpPr>
        <p:spPr>
          <a:xfrm>
            <a:off x="7620000" y="2800350"/>
            <a:ext cx="3276600" cy="514350"/>
          </a:xfrm>
          <a:prstGeom prst="roundRect">
            <a:avLst>
              <a:gd name="adj" fmla="val 1851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59CC02A8-F0F6-4E40-AC49-808B9DCFA572}"/>
              </a:ext>
            </a:extLst>
          </p:cNvPr>
          <p:cNvSpPr>
            <a:spLocks noGrp="1"/>
          </p:cNvSpPr>
          <p:nvPr/>
        </p:nvSpPr>
        <p:spPr>
          <a:xfrm>
            <a:off x="7848600" y="2952750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029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COPY</a:t>
            </a:r>
          </a:p>
        </p:txBody>
      </p:sp>
      <p:sp>
        <p:nvSpPr>
          <p:cNvPr id="16" name="">
            <a:extLst>
              <a:ext uri="{FF2B5EF4-FFF2-40B4-BE49-F238E27FC236}">
                <ns2:creationId id="{BD70B169-20F9-4F20-91B3-7459BF8F4E10}"/>
              </a:ext>
            </a:extLst>
          </p:cNvPr>
          <p:cNvSpPr>
            <a:spLocks noGrp="1"/>
          </p:cNvSpPr>
          <p:nvPr/>
        </p:nvSpPr>
        <p:spPr>
          <a:xfrm>
            <a:off x="9048750" y="2952750"/>
            <a:ext cx="1562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複製檔案到 Image</a:t>
            </a:r>
          </a:p>
        </p:txBody>
      </p:sp>
      <p:sp>
        <p:nvSpPr>
          <p:cNvPr id="17" name="">
            <a:extLst>
              <a:ext uri="{FF2B5EF4-FFF2-40B4-BE49-F238E27FC236}">
                <ns2:creationId id="{89303596-78ED-4DB2-A341-1ACAEEE27D44}"/>
              </a:ext>
            </a:extLst>
          </p:cNvPr>
          <p:cNvSpPr>
            <a:spLocks noGrp="1"/>
          </p:cNvSpPr>
          <p:nvPr/>
        </p:nvSpPr>
        <p:spPr>
          <a:xfrm>
            <a:off x="7620000" y="3486150"/>
            <a:ext cx="3276600" cy="514350"/>
          </a:xfrm>
          <a:prstGeom prst="roundRect">
            <a:avLst>
              <a:gd name="adj" fmla="val 1851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FD3EFF28-94FF-4BDE-BE37-C0C1DB87FCA1}"/>
              </a:ext>
            </a:extLst>
          </p:cNvPr>
          <p:cNvSpPr>
            <a:spLocks noGrp="1"/>
          </p:cNvSpPr>
          <p:nvPr/>
        </p:nvSpPr>
        <p:spPr>
          <a:xfrm>
            <a:off x="7848600" y="3638550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029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RUN</a:t>
            </a:r>
          </a:p>
        </p:txBody>
      </p:sp>
      <p:sp>
        <p:nvSpPr>
          <p:cNvPr id="19" name="">
            <a:extLst>
              <a:ext uri="{FF2B5EF4-FFF2-40B4-BE49-F238E27FC236}">
                <ns2:creationId id="{CFDB2138-BF22-4DC7-AB7F-EE6F6F9D2A46}"/>
              </a:ext>
            </a:extLst>
          </p:cNvPr>
          <p:cNvSpPr>
            <a:spLocks noGrp="1"/>
          </p:cNvSpPr>
          <p:nvPr/>
        </p:nvSpPr>
        <p:spPr>
          <a:xfrm>
            <a:off x="9048750" y="3638550"/>
            <a:ext cx="1562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build 時執行</a:t>
            </a:r>
          </a:p>
        </p:txBody>
      </p:sp>
      <p:sp>
        <p:nvSpPr>
          <p:cNvPr id="20" name="">
            <a:extLst>
              <a:ext uri="{FF2B5EF4-FFF2-40B4-BE49-F238E27FC236}">
                <ns2:creationId id="{CC7795EA-D145-4C30-AA89-2C135EAD6FC1}"/>
              </a:ext>
            </a:extLst>
          </p:cNvPr>
          <p:cNvSpPr>
            <a:spLocks noGrp="1"/>
          </p:cNvSpPr>
          <p:nvPr/>
        </p:nvSpPr>
        <p:spPr>
          <a:xfrm>
            <a:off x="7620000" y="4171950"/>
            <a:ext cx="3276600" cy="514350"/>
          </a:xfrm>
          <a:prstGeom prst="roundRect">
            <a:avLst>
              <a:gd name="adj" fmla="val 1851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8E91228A-7D74-42DD-8B29-7E15D92251A7}"/>
              </a:ext>
            </a:extLst>
          </p:cNvPr>
          <p:cNvSpPr>
            <a:spLocks noGrp="1"/>
          </p:cNvSpPr>
          <p:nvPr/>
        </p:nvSpPr>
        <p:spPr>
          <a:xfrm>
            <a:off x="7848600" y="4324350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029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CMD</a:t>
            </a:r>
          </a:p>
        </p:txBody>
      </p:sp>
      <p:sp>
        <p:nvSpPr>
          <p:cNvPr id="22" name="">
            <a:extLst>
              <a:ext uri="{FF2B5EF4-FFF2-40B4-BE49-F238E27FC236}">
                <ns2:creationId id="{C21082CD-4060-460D-B7AE-E56E7ACB6C3B}"/>
              </a:ext>
            </a:extLst>
          </p:cNvPr>
          <p:cNvSpPr>
            <a:spLocks noGrp="1"/>
          </p:cNvSpPr>
          <p:nvPr/>
        </p:nvSpPr>
        <p:spPr>
          <a:xfrm>
            <a:off x="9048750" y="4324350"/>
            <a:ext cx="1562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container 啟動時執行</a:t>
            </a:r>
          </a:p>
        </p:txBody>
      </p:sp>
      <p:sp>
        <p:nvSpPr>
          <p:cNvPr id="23" name="">
            <a:extLst>
              <a:ext uri="{FF2B5EF4-FFF2-40B4-BE49-F238E27FC236}">
                <ns2:creationId id="{31525738-C170-446C-B62E-796B5F86A6C3}"/>
              </a:ext>
            </a:extLst>
          </p:cNvPr>
          <p:cNvSpPr>
            <a:spLocks noGrp="1"/>
          </p:cNvSpPr>
          <p:nvPr/>
        </p:nvSpPr>
        <p:spPr>
          <a:xfrm>
            <a:off x="1809750" y="5276850"/>
            <a:ext cx="857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先會讀這七行，再慢慢加入優化。</a:t>
            </a:r>
          </a:p>
        </p:txBody>
      </p:sp>
      <p:sp>
        <p:nvSpPr>
          <p:cNvPr id="24" name="">
            <a:extLst>
              <a:ext uri="{FF2B5EF4-FFF2-40B4-BE49-F238E27FC236}">
                <ns2:creationId id="{29F6A10E-8541-4738-8D43-A6C5957FCE8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25" name="">
            <a:extLst>
              <a:ext uri="{FF2B5EF4-FFF2-40B4-BE49-F238E27FC236}">
                <ns2:creationId id="{0D2FBF26-70F9-405B-9AF5-8323725C64B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6" name="">
            <a:extLst>
              <a:ext uri="{FF2B5EF4-FFF2-40B4-BE49-F238E27FC236}">
                <ns2:creationId id="{8BA1F231-620E-4D01-964C-BDE357A5468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ns3:creationId val="720529953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1B097E6-FED0-457F-9945-A8F72E2E51B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">
            <a:extLst>
              <a:ext uri="{FF2B5EF4-FFF2-40B4-BE49-F238E27FC236}">
                <ns2:creationId id="{5D3E8409-14E9-4E4C-A9B7-7519F2D23281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P1：從零建構自己的映像檔</a:t>
            </a:r>
          </a:p>
        </p:txBody>
      </p:sp>
      <p:sp>
        <p:nvSpPr>
          <p:cNvPr id="3" name="">
            <a:extLst>
              <a:ext uri="{FF2B5EF4-FFF2-40B4-BE49-F238E27FC236}">
                <ns2:creationId id="{EE7BF0F2-A7DE-4803-B2E2-740ECCB94427}"/>
              </a:ext>
            </a:extLst>
          </p:cNvPr>
          <p:cNvSpPr>
            <a:spLocks noGrp="1"/>
          </p:cNvSpPr>
          <p:nvPr/>
        </p:nvSpPr>
        <p:spPr>
          <a:xfrm>
            <a:off x="800100" y="1714500"/>
            <a:ext cx="2476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56DB1F10-F17B-4622-B5B9-D96CA344F046}"/>
              </a:ext>
            </a:extLst>
          </p:cNvPr>
          <p:cNvSpPr>
            <a:spLocks noGrp="1"/>
          </p:cNvSpPr>
          <p:nvPr/>
        </p:nvSpPr>
        <p:spPr>
          <a:xfrm>
            <a:off x="1771650" y="2000250"/>
            <a:ext cx="533400" cy="533400"/>
          </a:xfrm>
          <a:prstGeom prst="ellipse">
            <a:avLst/>
          </a:prstGeom>
          <a:solidFill>
            <a:srgbClr val="00A97F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FFF19578-9568-4C51-83C0-83E1AFC03D2C}"/>
              </a:ext>
            </a:extLst>
          </p:cNvPr>
          <p:cNvSpPr>
            <a:spLocks noGrp="1"/>
          </p:cNvSpPr>
          <p:nvPr/>
        </p:nvSpPr>
        <p:spPr>
          <a:xfrm>
            <a:off x="1771650" y="21240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>
              <a:ext uri="{FF2B5EF4-FFF2-40B4-BE49-F238E27FC236}">
                <ns2:creationId id="{8E3A7D2D-B395-4A2F-95B5-415CA266CDE1}"/>
              </a:ext>
            </a:extLst>
          </p:cNvPr>
          <p:cNvSpPr>
            <a:spLocks noGrp="1"/>
          </p:cNvSpPr>
          <p:nvPr/>
        </p:nvSpPr>
        <p:spPr>
          <a:xfrm>
            <a:off x="1009650" y="278130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Python 程式</a:t>
            </a:r>
          </a:p>
        </p:txBody>
      </p:sp>
      <p:sp>
        <p:nvSpPr>
          <p:cNvPr id="7" name="">
            <a:extLst>
              <a:ext uri="{FF2B5EF4-FFF2-40B4-BE49-F238E27FC236}">
                <ns2:creationId id="{1077B0F1-D36A-4421-A2A0-047142E2B149}"/>
              </a:ext>
            </a:extLst>
          </p:cNvPr>
          <p:cNvSpPr>
            <a:spLocks noGrp="1"/>
          </p:cNvSpPr>
          <p:nvPr/>
        </p:nvSpPr>
        <p:spPr>
          <a:xfrm>
            <a:off x="1009650" y="3257550"/>
            <a:ext cx="2057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印出 Hello from my image!</a:t>
            </a:r>
          </a:p>
        </p:txBody>
      </p:sp>
      <p:sp>
        <p:nvSpPr>
          <p:cNvPr id="8" name="">
            <a:extLst>
              <a:ext uri="{FF2B5EF4-FFF2-40B4-BE49-F238E27FC236}">
                <ns2:creationId id="{D7A13F22-5285-4C1A-A91C-2DDE06D4A80E}"/>
              </a:ext>
            </a:extLst>
          </p:cNvPr>
          <p:cNvSpPr>
            <a:spLocks noGrp="1"/>
          </p:cNvSpPr>
          <p:nvPr/>
        </p:nvSpPr>
        <p:spPr>
          <a:xfrm>
            <a:off x="3657600" y="1714500"/>
            <a:ext cx="2476500" cy="2000250"/>
          </a:xfrm>
          <a:prstGeom prst="roundRect">
            <a:avLst>
              <a:gd name="adj" fmla="val 5714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E586875C-FF8D-4DAF-A75B-7DF235937E82}"/>
              </a:ext>
            </a:extLst>
          </p:cNvPr>
          <p:cNvSpPr>
            <a:spLocks noGrp="1"/>
          </p:cNvSpPr>
          <p:nvPr/>
        </p:nvSpPr>
        <p:spPr>
          <a:xfrm>
            <a:off x="4629150" y="2000250"/>
            <a:ext cx="533400" cy="533400"/>
          </a:xfrm>
          <a:prstGeom prst="ellipse">
            <a:avLst/>
          </a:prstGeom>
          <a:solidFill>
            <a:srgbClr val="2496ED"/>
          </a:solidFill>
          <a:ln w="0">
            <a:noFill/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0E0163C9-09D6-4DB8-A679-0757A2B571E9}"/>
              </a:ext>
            </a:extLst>
          </p:cNvPr>
          <p:cNvSpPr>
            <a:spLocks noGrp="1"/>
          </p:cNvSpPr>
          <p:nvPr/>
        </p:nvSpPr>
        <p:spPr>
          <a:xfrm>
            <a:off x="4629150" y="21240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1" name="">
            <a:extLst>
              <a:ext uri="{FF2B5EF4-FFF2-40B4-BE49-F238E27FC236}">
                <ns2:creationId id="{7B0FE7C3-80C3-4C3B-93F2-4CAEE3DA4BF0}"/>
              </a:ext>
            </a:extLst>
          </p:cNvPr>
          <p:cNvSpPr>
            <a:spLocks noGrp="1"/>
          </p:cNvSpPr>
          <p:nvPr/>
        </p:nvSpPr>
        <p:spPr>
          <a:xfrm>
            <a:off x="3867150" y="278130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寫 Dockerfile</a:t>
            </a:r>
          </a:p>
        </p:txBody>
      </p:sp>
      <p:sp>
        <p:nvSpPr>
          <p:cNvPr id="12" name="">
            <a:extLst>
              <a:ext uri="{FF2B5EF4-FFF2-40B4-BE49-F238E27FC236}">
                <ns2:creationId id="{FDC762D4-3153-403D-8E54-B4647ACDD4E5}"/>
              </a:ext>
            </a:extLst>
          </p:cNvPr>
          <p:cNvSpPr>
            <a:spLocks noGrp="1"/>
          </p:cNvSpPr>
          <p:nvPr/>
        </p:nvSpPr>
        <p:spPr>
          <a:xfrm>
            <a:off x="3867150" y="3257550"/>
            <a:ext cx="2057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使用 python:3.11-slim</a:t>
            </a:r>
          </a:p>
        </p:txBody>
      </p:sp>
      <p:sp>
        <p:nvSpPr>
          <p:cNvPr id="13" name="">
            <a:extLst>
              <a:ext uri="{FF2B5EF4-FFF2-40B4-BE49-F238E27FC236}">
                <ns2:creationId id="{A9BC277C-E3D2-4CD3-B8A3-F9099FE1A326}"/>
              </a:ext>
            </a:extLst>
          </p:cNvPr>
          <p:cNvSpPr>
            <a:spLocks noGrp="1"/>
          </p:cNvSpPr>
          <p:nvPr/>
        </p:nvSpPr>
        <p:spPr>
          <a:xfrm>
            <a:off x="6515100" y="1714500"/>
            <a:ext cx="2476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4" name="">
            <a:extLst>
              <a:ext uri="{FF2B5EF4-FFF2-40B4-BE49-F238E27FC236}">
                <ns2:creationId id="{50F4230C-3A3A-4218-BE59-42712C8C443C}"/>
              </a:ext>
            </a:extLst>
          </p:cNvPr>
          <p:cNvSpPr>
            <a:spLocks noGrp="1"/>
          </p:cNvSpPr>
          <p:nvPr/>
        </p:nvSpPr>
        <p:spPr>
          <a:xfrm>
            <a:off x="7486650" y="2000250"/>
            <a:ext cx="533400" cy="533400"/>
          </a:xfrm>
          <a:prstGeom prst="ellipse">
            <a:avLst/>
          </a:prstGeom>
          <a:solidFill>
            <a:srgbClr val="00A97F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2391F1C2-8E15-48AF-BBC2-0E66DF6C12EC}"/>
              </a:ext>
            </a:extLst>
          </p:cNvPr>
          <p:cNvSpPr>
            <a:spLocks noGrp="1"/>
          </p:cNvSpPr>
          <p:nvPr/>
        </p:nvSpPr>
        <p:spPr>
          <a:xfrm>
            <a:off x="7486650" y="21240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6" name="">
            <a:extLst>
              <a:ext uri="{FF2B5EF4-FFF2-40B4-BE49-F238E27FC236}">
                <ns2:creationId id="{72B8686E-7E86-4757-B3D2-4962D1507007}"/>
              </a:ext>
            </a:extLst>
          </p:cNvPr>
          <p:cNvSpPr>
            <a:spLocks noGrp="1"/>
          </p:cNvSpPr>
          <p:nvPr/>
        </p:nvSpPr>
        <p:spPr>
          <a:xfrm>
            <a:off x="6724650" y="278130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加 .dockerignore</a:t>
            </a:r>
          </a:p>
        </p:txBody>
      </p:sp>
      <p:sp>
        <p:nvSpPr>
          <p:cNvPr id="17" name="">
            <a:extLst>
              <a:ext uri="{FF2B5EF4-FFF2-40B4-BE49-F238E27FC236}">
                <ns2:creationId id="{78A5733D-7221-4FF0-88D2-062A394B92D8}"/>
              </a:ext>
            </a:extLst>
          </p:cNvPr>
          <p:cNvSpPr>
            <a:spLocks noGrp="1"/>
          </p:cNvSpPr>
          <p:nvPr/>
        </p:nvSpPr>
        <p:spPr>
          <a:xfrm>
            <a:off x="6724650" y="3257550"/>
            <a:ext cx="2057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排除 venv、cache、IDE 檔</a:t>
            </a:r>
          </a:p>
        </p:txBody>
      </p:sp>
      <p:sp>
        <p:nvSpPr>
          <p:cNvPr id="18" name="">
            <a:extLst>
              <a:ext uri="{FF2B5EF4-FFF2-40B4-BE49-F238E27FC236}">
                <ns2:creationId id="{CAEC7BAA-CA52-4479-86D1-583230AA5458}"/>
              </a:ext>
            </a:extLst>
          </p:cNvPr>
          <p:cNvSpPr>
            <a:spLocks noGrp="1"/>
          </p:cNvSpPr>
          <p:nvPr/>
        </p:nvSpPr>
        <p:spPr>
          <a:xfrm>
            <a:off x="9372600" y="1714500"/>
            <a:ext cx="2476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9" name="">
            <a:extLst>
              <a:ext uri="{FF2B5EF4-FFF2-40B4-BE49-F238E27FC236}">
                <ns2:creationId id="{A4B5BDE2-E06B-44A7-9F93-CCA14C6A85CB}"/>
              </a:ext>
            </a:extLst>
          </p:cNvPr>
          <p:cNvSpPr>
            <a:spLocks noGrp="1"/>
          </p:cNvSpPr>
          <p:nvPr/>
        </p:nvSpPr>
        <p:spPr>
          <a:xfrm>
            <a:off x="10344150" y="2000250"/>
            <a:ext cx="533400" cy="533400"/>
          </a:xfrm>
          <a:prstGeom prst="ellipse">
            <a:avLst/>
          </a:prstGeom>
          <a:solidFill>
            <a:srgbClr val="00A97F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128808A5-9CBB-41C7-945A-F88CC389DF93}"/>
              </a:ext>
            </a:extLst>
          </p:cNvPr>
          <p:cNvSpPr>
            <a:spLocks noGrp="1"/>
          </p:cNvSpPr>
          <p:nvPr/>
        </p:nvSpPr>
        <p:spPr>
          <a:xfrm>
            <a:off x="10344150" y="21240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1" name="">
            <a:extLst>
              <a:ext uri="{FF2B5EF4-FFF2-40B4-BE49-F238E27FC236}">
                <ns2:creationId id="{3CD9F342-34AF-4578-B784-3A58B1A2B57F}"/>
              </a:ext>
            </a:extLst>
          </p:cNvPr>
          <p:cNvSpPr>
            <a:spLocks noGrp="1"/>
          </p:cNvSpPr>
          <p:nvPr/>
        </p:nvSpPr>
        <p:spPr>
          <a:xfrm>
            <a:off x="9582150" y="278130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 / run</a:t>
            </a:r>
          </a:p>
        </p:txBody>
      </p:sp>
      <p:sp>
        <p:nvSpPr>
          <p:cNvPr id="22" name="">
            <a:extLst>
              <a:ext uri="{FF2B5EF4-FFF2-40B4-BE49-F238E27FC236}">
                <ns2:creationId id="{84B22BEB-7983-4EAD-AC69-0AF33DECBB9F}"/>
              </a:ext>
            </a:extLst>
          </p:cNvPr>
          <p:cNvSpPr>
            <a:spLocks noGrp="1"/>
          </p:cNvSpPr>
          <p:nvPr/>
        </p:nvSpPr>
        <p:spPr>
          <a:xfrm>
            <a:off x="9582150" y="3257550"/>
            <a:ext cx="2057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114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確認輸出，再看 docker history</a:t>
            </a:r>
          </a:p>
        </p:txBody>
      </p:sp>
      <p:sp>
        <p:nvSpPr>
          <p:cNvPr id="23" name="">
            <a:extLst>
              <a:ext uri="{FF2B5EF4-FFF2-40B4-BE49-F238E27FC236}">
                <ns2:creationId id="{B0858293-1B08-49FA-B8DA-E108E67A64AE}"/>
              </a:ext>
            </a:extLst>
          </p:cNvPr>
          <p:cNvSpPr>
            <a:spLocks noGrp="1"/>
          </p:cNvSpPr>
          <p:nvPr/>
        </p:nvSpPr>
        <p:spPr>
          <a:xfrm>
            <a:off x="2381250" y="4552950"/>
            <a:ext cx="7429500" cy="1219200"/>
          </a:xfrm>
          <a:prstGeom prst="roundRect">
            <a:avLst>
              <a:gd name="adj" fmla="val 781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24" name="">
            <a:extLst>
              <a:ext uri="{FF2B5EF4-FFF2-40B4-BE49-F238E27FC236}">
                <ns2:creationId id="{EF4747DC-5E39-453F-BB2C-978AB6F75E0F}"/>
              </a:ext>
            </a:extLst>
          </p:cNvPr>
          <p:cNvSpPr>
            <a:spLocks noGrp="1"/>
          </p:cNvSpPr>
          <p:nvPr/>
        </p:nvSpPr>
        <p:spPr>
          <a:xfrm>
            <a:off x="2552700" y="47148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25" name="">
            <a:extLst>
              <a:ext uri="{FF2B5EF4-FFF2-40B4-BE49-F238E27FC236}">
                <ns2:creationId id="{6D37CF11-078B-4FED-9B86-AEADD9171985}"/>
              </a:ext>
            </a:extLst>
          </p:cNvPr>
          <p:cNvSpPr>
            <a:spLocks noGrp="1"/>
          </p:cNvSpPr>
          <p:nvPr/>
        </p:nvSpPr>
        <p:spPr>
          <a:xfrm>
            <a:off x="2724150" y="47148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5A5D8591-691D-4BA0-B1A0-331235727AC3}"/>
              </a:ext>
            </a:extLst>
          </p:cNvPr>
          <p:cNvSpPr>
            <a:spLocks noGrp="1"/>
          </p:cNvSpPr>
          <p:nvPr/>
        </p:nvSpPr>
        <p:spPr>
          <a:xfrm>
            <a:off x="2895600" y="47148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27" name="">
            <a:extLst>
              <a:ext uri="{FF2B5EF4-FFF2-40B4-BE49-F238E27FC236}">
                <ns2:creationId id="{6467E988-2301-4CDF-A88C-6628A18BB1A2}"/>
              </a:ext>
            </a:extLst>
          </p:cNvPr>
          <p:cNvSpPr>
            <a:spLocks noGrp="1"/>
          </p:cNvSpPr>
          <p:nvPr/>
        </p:nvSpPr>
        <p:spPr>
          <a:xfrm>
            <a:off x="2590800" y="4972050"/>
            <a:ext cx="7010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7902"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my-first-image .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my-first-image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history my-first-image</a:t>
            </a:r>
          </a:p>
        </p:txBody>
      </p:sp>
      <p:sp>
        <p:nvSpPr>
          <p:cNvPr id="28" name="">
            <a:extLst>
              <a:ext uri="{FF2B5EF4-FFF2-40B4-BE49-F238E27FC236}">
                <ns2:creationId id="{E8AED048-95C9-4CB0-A468-EA43E5F2A80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9" name="">
            <a:extLst>
              <a:ext uri="{FF2B5EF4-FFF2-40B4-BE49-F238E27FC236}">
                <ns2:creationId id="{83C5082D-10C9-4A16-9E78-37A82631388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30" name="">
            <a:extLst>
              <a:ext uri="{FF2B5EF4-FFF2-40B4-BE49-F238E27FC236}">
                <ns2:creationId id="{C80CD6CE-19C7-41F1-8E55-1423DD4DE94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ns3:creationId val="672375465"/>
      </p:ext>
    </p:extLst>
  </p:cSld>
</p:sld>
</file>

<file path=ppt/slides/slide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D94C558-CEFE-495D-BBA0-A5DD77D7933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BUILD LOOP</a:t>
            </a:r>
          </a:p>
        </p:txBody>
      </p:sp>
      <p:sp>
        <p:nvSpPr>
          <p:cNvPr id="2" name="">
            <a:extLst>
              <a:ext uri="{FF2B5EF4-FFF2-40B4-BE49-F238E27FC236}">
                <ns2:creationId id="{A31ADADE-EF22-46BD-8E25-C4FBB3B5FB4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 後要馬上 Run，確認 Image 真的能用</a:t>
            </a:r>
          </a:p>
        </p:txBody>
      </p:sp>
      <p:sp>
        <p:nvSpPr>
          <p:cNvPr id="3" name="">
            <a:extLst>
              <a:ext uri="{FF2B5EF4-FFF2-40B4-BE49-F238E27FC236}">
                <ns2:creationId id="{C79B506F-79CB-45C2-A97F-956B1A5575DE}"/>
              </a:ext>
            </a:extLst>
          </p:cNvPr>
          <p:cNvSpPr>
            <a:spLocks noGrp="1"/>
          </p:cNvSpPr>
          <p:nvPr/>
        </p:nvSpPr>
        <p:spPr>
          <a:xfrm>
            <a:off x="838200" y="1504950"/>
            <a:ext cx="6096000" cy="3429000"/>
          </a:xfrm>
          <a:prstGeom prst="roundRect">
            <a:avLst>
              <a:gd name="adj" fmla="val 277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7E8AE9D5-3835-473B-A3D8-FE5216227B25}"/>
              </a:ext>
            </a:extLst>
          </p:cNvPr>
          <p:cNvSpPr>
            <a:spLocks noGrp="1"/>
          </p:cNvSpPr>
          <p:nvPr/>
        </p:nvSpPr>
        <p:spPr>
          <a:xfrm>
            <a:off x="1009650" y="16668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B3987150-AF25-410D-AF8D-C407E7367F9B}"/>
              </a:ext>
            </a:extLst>
          </p:cNvPr>
          <p:cNvSpPr>
            <a:spLocks noGrp="1"/>
          </p:cNvSpPr>
          <p:nvPr/>
        </p:nvSpPr>
        <p:spPr>
          <a:xfrm>
            <a:off x="1181100" y="16668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1B01F491-A849-4F06-887A-883F8D4F6DB5}"/>
              </a:ext>
            </a:extLst>
          </p:cNvPr>
          <p:cNvSpPr>
            <a:spLocks noGrp="1"/>
          </p:cNvSpPr>
          <p:nvPr/>
        </p:nvSpPr>
        <p:spPr>
          <a:xfrm>
            <a:off x="1352550" y="16668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C8F6D624-B6C7-4CA6-808A-2DC21FE5E3A5}"/>
              </a:ext>
            </a:extLst>
          </p:cNvPr>
          <p:cNvSpPr>
            <a:spLocks noGrp="1"/>
          </p:cNvSpPr>
          <p:nvPr/>
        </p:nvSpPr>
        <p:spPr>
          <a:xfrm>
            <a:off x="1047750" y="1924050"/>
            <a:ext cx="5676900" cy="2876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my-flask-app:v1 .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test-flask -p 5000:5000 my-flask-app:v1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test-flask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curl http://localhost:5000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test-flask</a:t>
            </a:r>
          </a:p>
        </p:txBody>
      </p:sp>
      <p:sp>
        <p:nvSpPr>
          <p:cNvPr id="8" name="">
            <a:extLst>
              <a:ext uri="{FF2B5EF4-FFF2-40B4-BE49-F238E27FC236}">
                <ns2:creationId id="{0C72A16D-5986-4693-BFB0-38E68E4E73BE}"/>
              </a:ext>
            </a:extLst>
          </p:cNvPr>
          <p:cNvSpPr>
            <a:spLocks noGrp="1"/>
          </p:cNvSpPr>
          <p:nvPr/>
        </p:nvSpPr>
        <p:spPr>
          <a:xfrm>
            <a:off x="7677150" y="1809750"/>
            <a:ext cx="3105150" cy="2038350"/>
          </a:xfrm>
          <a:prstGeom prst="roundRect">
            <a:avLst>
              <a:gd name="adj" fmla="val 5607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95812F8D-5852-4CCD-820A-9F2D8071DFA2}"/>
              </a:ext>
            </a:extLst>
          </p:cNvPr>
          <p:cNvSpPr>
            <a:spLocks noGrp="1"/>
          </p:cNvSpPr>
          <p:nvPr/>
        </p:nvSpPr>
        <p:spPr>
          <a:xfrm>
            <a:off x="7905750" y="2000250"/>
            <a:ext cx="2647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最小驗證循環</a:t>
            </a:r>
          </a:p>
        </p:txBody>
      </p:sp>
      <p:sp>
        <p:nvSpPr>
          <p:cNvPr id="10" name="">
            <a:extLst>
              <a:ext uri="{FF2B5EF4-FFF2-40B4-BE49-F238E27FC236}">
                <ns2:creationId id="{5023E183-A1E9-44C8-B228-F38D164DCBFD}"/>
              </a:ext>
            </a:extLst>
          </p:cNvPr>
          <p:cNvSpPr>
            <a:spLocks noGrp="1"/>
          </p:cNvSpPr>
          <p:nvPr/>
        </p:nvSpPr>
        <p:spPr>
          <a:xfrm>
            <a:off x="7905750" y="2419350"/>
            <a:ext cx="264795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37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build 成功只代表 Image 被產出。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run、logs、curl 才能確認程式在容器裡真的啟動。</a:t>
            </a:r>
          </a:p>
        </p:txBody>
      </p:sp>
      <p:sp>
        <p:nvSpPr>
          <p:cNvPr id="11" name="">
            <a:extLst>
              <a:ext uri="{FF2B5EF4-FFF2-40B4-BE49-F238E27FC236}">
                <ns2:creationId id="{A1382D95-9473-42C3-AB9F-9CFD3F95FCA9}"/>
              </a:ext>
            </a:extLst>
          </p:cNvPr>
          <p:cNvSpPr>
            <a:spLocks noGrp="1"/>
          </p:cNvSpPr>
          <p:nvPr/>
        </p:nvSpPr>
        <p:spPr>
          <a:xfrm>
            <a:off x="1962150" y="5410200"/>
            <a:ext cx="8267700" cy="457200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75C3DC71-95D2-4556-9847-09F875EAF8F4}"/>
              </a:ext>
            </a:extLst>
          </p:cNvPr>
          <p:cNvSpPr>
            <a:spLocks noGrp="1"/>
          </p:cNvSpPr>
          <p:nvPr/>
        </p:nvSpPr>
        <p:spPr>
          <a:xfrm>
            <a:off x="2266950" y="5543550"/>
            <a:ext cx="7658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每次改 Dockerfile：build -&gt; run -&gt; logs -&gt; 清理測試容器。</a:t>
            </a:r>
          </a:p>
        </p:txBody>
      </p:sp>
      <p:sp>
        <p:nvSpPr>
          <p:cNvPr id="13" name="">
            <a:extLst>
              <a:ext uri="{FF2B5EF4-FFF2-40B4-BE49-F238E27FC236}">
                <ns2:creationId id="{DB344E7B-85DD-47F0-AEDC-23A1BB85982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2AA4FE1A-A1B1-4902-AC65-8F225132BDE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>
              <a:ext uri="{FF2B5EF4-FFF2-40B4-BE49-F238E27FC236}">
                <ns2:creationId id="{2B1B041E-89A0-4511-9CA1-EB423B4A002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ns3:creationId val="2136408570"/>
      </p:ext>
    </p:extLst>
  </p:cSld>
</p:sld>
</file>

<file path=ppt/slides/slide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B867030-5930-4462-8BEF-2063C172452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">
            <a:extLst>
              <a:ext uri="{FF2B5EF4-FFF2-40B4-BE49-F238E27FC236}">
                <ns2:creationId id="{A68A659E-480D-4BC9-AF4A-79C16312B6A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Build Cache：為什麼先 COPY requirements？</a:t>
            </a:r>
          </a:p>
        </p:txBody>
      </p:sp>
      <p:sp>
        <p:nvSpPr>
          <p:cNvPr id="3" name="">
            <a:extLst>
              <a:ext uri="{FF2B5EF4-FFF2-40B4-BE49-F238E27FC236}">
                <ns2:creationId id="{8F8BA79A-68BD-42BE-B959-FB19EE8B3D99}"/>
              </a:ext>
            </a:extLst>
          </p:cNvPr>
          <p:cNvSpPr>
            <a:spLocks noGrp="1"/>
          </p:cNvSpPr>
          <p:nvPr/>
        </p:nvSpPr>
        <p:spPr>
          <a:xfrm>
            <a:off x="819150" y="1504950"/>
            <a:ext cx="4762500" cy="3219450"/>
          </a:xfrm>
          <a:prstGeom prst="roundRect">
            <a:avLst>
              <a:gd name="adj" fmla="val 3550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56E1DC44-BC29-4D72-BE37-0925D4AAD40A}"/>
              </a:ext>
            </a:extLst>
          </p:cNvPr>
          <p:cNvSpPr>
            <a:spLocks noGrp="1"/>
          </p:cNvSpPr>
          <p:nvPr/>
        </p:nvSpPr>
        <p:spPr>
          <a:xfrm>
            <a:off x="1047750" y="16954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好的順序</a:t>
            </a:r>
          </a:p>
        </p:txBody>
      </p:sp>
      <p:sp>
        <p:nvSpPr>
          <p:cNvPr id="5" name="">
            <a:extLst>
              <a:ext uri="{FF2B5EF4-FFF2-40B4-BE49-F238E27FC236}">
                <ns2:creationId id="{AEECDC23-6C17-4151-809F-EE3D71FE4440}"/>
              </a:ext>
            </a:extLst>
          </p:cNvPr>
          <p:cNvSpPr>
            <a:spLocks noGrp="1"/>
          </p:cNvSpPr>
          <p:nvPr/>
        </p:nvSpPr>
        <p:spPr>
          <a:xfrm>
            <a:off x="1047750" y="2228850"/>
            <a:ext cx="4305300" cy="2305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RUN pip install ...</a:t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. .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改 app.py 時，pip install 那層可重用快取。</a:t>
            </a:r>
          </a:p>
        </p:txBody>
      </p:sp>
      <p:sp>
        <p:nvSpPr>
          <p:cNvPr id="6" name="">
            <a:extLst>
              <a:ext uri="{FF2B5EF4-FFF2-40B4-BE49-F238E27FC236}">
                <ns2:creationId id="{D5A8911A-67EB-4F9F-BBD0-A121EE78F43D}"/>
              </a:ext>
            </a:extLst>
          </p:cNvPr>
          <p:cNvSpPr>
            <a:spLocks noGrp="1"/>
          </p:cNvSpPr>
          <p:nvPr/>
        </p:nvSpPr>
        <p:spPr>
          <a:xfrm>
            <a:off x="6610350" y="1504950"/>
            <a:ext cx="4762500" cy="3219450"/>
          </a:xfrm>
          <a:prstGeom prst="roundRect">
            <a:avLst>
              <a:gd name="adj" fmla="val 3550"/>
            </a:avLst>
          </a:prstGeom>
          <a:solidFill>
            <a:srgbClr val="111827"/>
          </a:solidFill>
          <a:ln w="9525">
            <a:solidFill>
              <a:srgbClr val="FB718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C609A1A9-E953-4A6B-B3B5-0A623BE23E90}"/>
              </a:ext>
            </a:extLst>
          </p:cNvPr>
          <p:cNvSpPr>
            <a:spLocks noGrp="1"/>
          </p:cNvSpPr>
          <p:nvPr/>
        </p:nvSpPr>
        <p:spPr>
          <a:xfrm>
            <a:off x="6838950" y="16954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rPr>
              <a:t>不好的順序</a:t>
            </a:r>
          </a:p>
        </p:txBody>
      </p:sp>
      <p:sp>
        <p:nvSpPr>
          <p:cNvPr id="8" name="">
            <a:extLst>
              <a:ext uri="{FF2B5EF4-FFF2-40B4-BE49-F238E27FC236}">
                <ns2:creationId id="{4E0E7FE4-2C0B-464F-A827-BB0B4FFD4F7A}"/>
              </a:ext>
            </a:extLst>
          </p:cNvPr>
          <p:cNvSpPr>
            <a:spLocks noGrp="1"/>
          </p:cNvSpPr>
          <p:nvPr/>
        </p:nvSpPr>
        <p:spPr>
          <a:xfrm>
            <a:off x="6838950" y="2228850"/>
            <a:ext cx="4305300" cy="2305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. .</a:t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RUN pip install ...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任何檔案變更都讓快取失效，套件常常重裝。</a:t>
            </a:r>
          </a:p>
        </p:txBody>
      </p:sp>
      <p:sp>
        <p:nvSpPr>
          <p:cNvPr id="9" name="">
            <a:extLst>
              <a:ext uri="{FF2B5EF4-FFF2-40B4-BE49-F238E27FC236}">
                <ns2:creationId id="{AB54871D-A33D-44DD-8298-6B515832D6CD}"/>
              </a:ext>
            </a:extLst>
          </p:cNvPr>
          <p:cNvSpPr>
            <a:spLocks noGrp="1"/>
          </p:cNvSpPr>
          <p:nvPr/>
        </p:nvSpPr>
        <p:spPr>
          <a:xfrm>
            <a:off x="1485900" y="5410200"/>
            <a:ext cx="9220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先觀察兩種順序差異，再回到 build cache 原理。</a:t>
            </a:r>
          </a:p>
        </p:txBody>
      </p:sp>
      <p:sp>
        <p:nvSpPr>
          <p:cNvPr id="10" name="">
            <a:extLst>
              <a:ext uri="{FF2B5EF4-FFF2-40B4-BE49-F238E27FC236}">
                <ns2:creationId id="{DDF452EC-0E63-49ED-90C0-49175A8FEDA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D21B0C56-5F6B-47F6-8593-234C5FBD3C8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2" name="">
            <a:extLst>
              <a:ext uri="{FF2B5EF4-FFF2-40B4-BE49-F238E27FC236}">
                <ns2:creationId id="{5FA2C52E-B47D-4B96-8152-23BC1FAEC31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ns3:creationId val="5068206"/>
      </p:ext>
    </p:extLst>
  </p:cSld>
</p:sld>
</file>

<file path=ppt/slides/slide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044AD856-0C1F-437C-B31B-2C78C9E4DF6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LAYERS</a:t>
            </a:r>
          </a:p>
        </p:txBody>
      </p:sp>
      <p:sp>
        <p:nvSpPr>
          <p:cNvPr id="2" name="">
            <a:extLst>
              <a:ext uri="{FF2B5EF4-FFF2-40B4-BE49-F238E27FC236}">
                <ns2:creationId id="{1E7B4825-5B46-4C80-A52B-0263B1A5274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是一層一層堆出來的</a:t>
            </a:r>
          </a:p>
        </p:txBody>
      </p:sp>
      <p:sp>
        <p:nvSpPr>
          <p:cNvPr id="3" name="">
            <a:extLst>
              <a:ext uri="{FF2B5EF4-FFF2-40B4-BE49-F238E27FC236}">
                <ns2:creationId id="{FFA48145-2C0B-4EFB-BD29-78D5A929E69A}"/>
              </a:ext>
            </a:extLst>
          </p:cNvPr>
          <p:cNvSpPr>
            <a:spLocks noGrp="1"/>
          </p:cNvSpPr>
          <p:nvPr/>
        </p:nvSpPr>
        <p:spPr>
          <a:xfrm>
            <a:off x="3257550" y="2971800"/>
            <a:ext cx="5048250" cy="533400"/>
          </a:xfrm>
          <a:prstGeom prst="roundRect">
            <a:avLst>
              <a:gd name="adj" fmla="val 17857"/>
            </a:avLst>
          </a:prstGeom>
          <a:solidFill>
            <a:srgbClr val="E8F3FF"/>
          </a:solidFill>
          <a:ln w="11430">
            <a:solidFill>
              <a:srgbClr val="0B5CAD"/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ns2:creationId id="{BB0CF1BC-23F5-42AA-BF73-8B608863D008}"/>
              </a:ext>
            </a:extLst>
          </p:cNvPr>
          <p:cNvSpPr>
            <a:spLocks noGrp="1"/>
          </p:cNvSpPr>
          <p:nvPr/>
        </p:nvSpPr>
        <p:spPr>
          <a:xfrm>
            <a:off x="3638550" y="3114675"/>
            <a:ext cx="4286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CMD</a:t>
            </a:r>
          </a:p>
        </p:txBody>
      </p:sp>
      <p:sp>
        <p:nvSpPr>
          <p:cNvPr id="5" name="">
            <a:extLst>
              <a:ext uri="{FF2B5EF4-FFF2-40B4-BE49-F238E27FC236}">
                <ns2:creationId id="{B5885436-4F80-4DED-9C44-A9F33C48B9E4}"/>
              </a:ext>
            </a:extLst>
          </p:cNvPr>
          <p:cNvSpPr>
            <a:spLocks noGrp="1"/>
          </p:cNvSpPr>
          <p:nvPr/>
        </p:nvSpPr>
        <p:spPr>
          <a:xfrm>
            <a:off x="3086100" y="2533650"/>
            <a:ext cx="5391150" cy="533400"/>
          </a:xfrm>
          <a:prstGeom prst="roundRect">
            <a:avLst>
              <a:gd name="adj" fmla="val 17857"/>
            </a:avLst>
          </a:prstGeom>
          <a:solidFill>
            <a:srgbClr val="E7F8F2"/>
          </a:solidFill>
          <a:ln w="11430">
            <a:solidFill>
              <a:srgbClr val="047857"/>
            </a:solidFill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0DAD2C27-1527-4F6D-B1BD-88A35EF55E74}"/>
              </a:ext>
            </a:extLst>
          </p:cNvPr>
          <p:cNvSpPr>
            <a:spLocks noGrp="1"/>
          </p:cNvSpPr>
          <p:nvPr/>
        </p:nvSpPr>
        <p:spPr>
          <a:xfrm>
            <a:off x="3467100" y="2676525"/>
            <a:ext cx="4629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COPY . .</a:t>
            </a:r>
          </a:p>
        </p:txBody>
      </p:sp>
      <p:sp>
        <p:nvSpPr>
          <p:cNvPr id="7" name="">
            <a:extLst>
              <a:ext uri="{FF2B5EF4-FFF2-40B4-BE49-F238E27FC236}">
                <ns2:creationId id="{B1BFDFF1-931F-4A1B-AE54-BEA64915D504}"/>
              </a:ext>
            </a:extLst>
          </p:cNvPr>
          <p:cNvSpPr>
            <a:spLocks noGrp="1"/>
          </p:cNvSpPr>
          <p:nvPr/>
        </p:nvSpPr>
        <p:spPr>
          <a:xfrm>
            <a:off x="2914650" y="2095500"/>
            <a:ext cx="5734050" cy="533400"/>
          </a:xfrm>
          <a:prstGeom prst="roundRect">
            <a:avLst>
              <a:gd name="adj" fmla="val 17857"/>
            </a:avLst>
          </a:prstGeom>
          <a:solidFill>
            <a:srgbClr val="FFF6DD"/>
          </a:solidFill>
          <a:ln w="11430">
            <a:solidFill>
              <a:srgbClr val="B45309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94C1D46E-E878-414D-A100-8914FF206D3A}"/>
              </a:ext>
            </a:extLst>
          </p:cNvPr>
          <p:cNvSpPr>
            <a:spLocks noGrp="1"/>
          </p:cNvSpPr>
          <p:nvPr/>
        </p:nvSpPr>
        <p:spPr>
          <a:xfrm>
            <a:off x="3295650" y="2238375"/>
            <a:ext cx="4972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B45309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B45309"/>
                </a:solidFill>
                <a:latin typeface="Consolas"/>
                <a:ea typeface="Consolas"/>
                <a:cs typeface="Consolas"/>
              </a:rPr>
              <a:t>RUN pip install</a:t>
            </a:r>
          </a:p>
        </p:txBody>
      </p:sp>
      <p:sp>
        <p:nvSpPr>
          <p:cNvPr id="9" name="">
            <a:extLst>
              <a:ext uri="{FF2B5EF4-FFF2-40B4-BE49-F238E27FC236}">
                <ns2:creationId id="{BDC2EA85-57E4-4CFF-903B-44BDD92D7553}"/>
              </a:ext>
            </a:extLst>
          </p:cNvPr>
          <p:cNvSpPr>
            <a:spLocks noGrp="1"/>
          </p:cNvSpPr>
          <p:nvPr/>
        </p:nvSpPr>
        <p:spPr>
          <a:xfrm>
            <a:off x="2743200" y="1657350"/>
            <a:ext cx="6076950" cy="533400"/>
          </a:xfrm>
          <a:prstGeom prst="roundRect">
            <a:avLst>
              <a:gd name="adj" fmla="val 17857"/>
            </a:avLst>
          </a:prstGeom>
          <a:solidFill>
            <a:srgbClr val="EEF2FF"/>
          </a:solidFill>
          <a:ln w="11430">
            <a:solidFill>
              <a:srgbClr val="4F46E5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78E82CFB-08D8-4B88-AD3B-793E02F31D9B}"/>
              </a:ext>
            </a:extLst>
          </p:cNvPr>
          <p:cNvSpPr>
            <a:spLocks noGrp="1"/>
          </p:cNvSpPr>
          <p:nvPr/>
        </p:nvSpPr>
        <p:spPr>
          <a:xfrm>
            <a:off x="3124200" y="1800225"/>
            <a:ext cx="5314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COPY requirements</a:t>
            </a:r>
          </a:p>
        </p:txBody>
      </p:sp>
      <p:sp>
        <p:nvSpPr>
          <p:cNvPr id="11" name="">
            <a:extLst>
              <a:ext uri="{FF2B5EF4-FFF2-40B4-BE49-F238E27FC236}">
                <ns2:creationId id="{EC9CC07B-27A8-4CDF-ACD2-8D8345878195}"/>
              </a:ext>
            </a:extLst>
          </p:cNvPr>
          <p:cNvSpPr>
            <a:spLocks noGrp="1"/>
          </p:cNvSpPr>
          <p:nvPr/>
        </p:nvSpPr>
        <p:spPr>
          <a:xfrm>
            <a:off x="2571750" y="1219200"/>
            <a:ext cx="6419850" cy="533400"/>
          </a:xfrm>
          <a:prstGeom prst="roundRect">
            <a:avLst>
              <a:gd name="adj" fmla="val 17857"/>
            </a:avLst>
          </a:prstGeom>
          <a:solidFill>
            <a:srgbClr val="F1F5F9"/>
          </a:solidFill>
          <a:ln w="11430">
            <a:solidFill>
              <a:srgbClr val="64748B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F1C8388C-E58C-444D-BCC2-1041F191626F}"/>
              </a:ext>
            </a:extLst>
          </p:cNvPr>
          <p:cNvSpPr>
            <a:spLocks noGrp="1"/>
          </p:cNvSpPr>
          <p:nvPr/>
        </p:nvSpPr>
        <p:spPr>
          <a:xfrm>
            <a:off x="2952750" y="1362075"/>
            <a:ext cx="5657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64748B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python:3.11-slim</a:t>
            </a:r>
          </a:p>
        </p:txBody>
      </p:sp>
      <p:sp>
        <p:nvSpPr>
          <p:cNvPr id="13" name="">
            <a:extLst>
              <a:ext uri="{FF2B5EF4-FFF2-40B4-BE49-F238E27FC236}">
                <ns2:creationId id="{1DC8394B-38FE-435D-B89E-9AE64A0AA151}"/>
              </a:ext>
            </a:extLst>
          </p:cNvPr>
          <p:cNvSpPr>
            <a:spLocks noGrp="1"/>
          </p:cNvSpPr>
          <p:nvPr/>
        </p:nvSpPr>
        <p:spPr>
          <a:xfrm>
            <a:off x="7734300" y="1714500"/>
            <a:ext cx="3162300" cy="219075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4" name="">
            <a:extLst>
              <a:ext uri="{FF2B5EF4-FFF2-40B4-BE49-F238E27FC236}">
                <ns2:creationId id="{93DDAD5B-82BB-4154-9FFA-F2041E2FF835}"/>
              </a:ext>
            </a:extLst>
          </p:cNvPr>
          <p:cNvSpPr>
            <a:spLocks noGrp="1"/>
          </p:cNvSpPr>
          <p:nvPr/>
        </p:nvSpPr>
        <p:spPr>
          <a:xfrm>
            <a:off x="7962900" y="1905000"/>
            <a:ext cx="2705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重點</a:t>
            </a:r>
          </a:p>
        </p:txBody>
      </p:sp>
      <p:sp>
        <p:nvSpPr>
          <p:cNvPr id="15" name="">
            <a:extLst>
              <a:ext uri="{FF2B5EF4-FFF2-40B4-BE49-F238E27FC236}">
                <ns2:creationId id="{7AC13BA5-25C0-486A-899D-6CAE75DBD779}"/>
              </a:ext>
            </a:extLst>
          </p:cNvPr>
          <p:cNvSpPr>
            <a:spLocks noGrp="1"/>
          </p:cNvSpPr>
          <p:nvPr/>
        </p:nvSpPr>
        <p:spPr>
          <a:xfrm>
            <a:off x="7962900" y="2438400"/>
            <a:ext cx="2705100" cy="1276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每個 RUN / COPY / ADD 通常都會產生新 layer。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上一層的內容不會因為下一層刪除檔案就真的消失。</a:t>
            </a:r>
          </a:p>
        </p:txBody>
      </p:sp>
      <p:sp>
        <p:nvSpPr>
          <p:cNvPr id="16" name="">
            <a:extLst>
              <a:ext uri="{FF2B5EF4-FFF2-40B4-BE49-F238E27FC236}">
                <ns2:creationId id="{3CF9AACF-353D-4CF3-9C41-DB8916D38D1B}"/>
              </a:ext>
            </a:extLst>
          </p:cNvPr>
          <p:cNvSpPr>
            <a:spLocks noGrp="1"/>
          </p:cNvSpPr>
          <p:nvPr/>
        </p:nvSpPr>
        <p:spPr>
          <a:xfrm>
            <a:off x="2476500" y="4914900"/>
            <a:ext cx="7239000" cy="742950"/>
          </a:xfrm>
          <a:prstGeom prst="roundRect">
            <a:avLst>
              <a:gd name="adj" fmla="val 1282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7" name="">
            <a:extLst>
              <a:ext uri="{FF2B5EF4-FFF2-40B4-BE49-F238E27FC236}">
                <ns2:creationId id="{7F3FC10E-E064-4F12-AA87-59EB25B48295}"/>
              </a:ext>
            </a:extLst>
          </p:cNvPr>
          <p:cNvSpPr>
            <a:spLocks noGrp="1"/>
          </p:cNvSpPr>
          <p:nvPr/>
        </p:nvSpPr>
        <p:spPr>
          <a:xfrm>
            <a:off x="2647950" y="50768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25741C5A-DE54-46E7-8B5C-0198D9650C43}"/>
              </a:ext>
            </a:extLst>
          </p:cNvPr>
          <p:cNvSpPr>
            <a:spLocks noGrp="1"/>
          </p:cNvSpPr>
          <p:nvPr/>
        </p:nvSpPr>
        <p:spPr>
          <a:xfrm>
            <a:off x="2819400" y="50768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8CA9C513-FCE9-45DB-AC80-2D0C6885C52D}"/>
              </a:ext>
            </a:extLst>
          </p:cNvPr>
          <p:cNvSpPr>
            <a:spLocks noGrp="1"/>
          </p:cNvSpPr>
          <p:nvPr/>
        </p:nvSpPr>
        <p:spPr>
          <a:xfrm>
            <a:off x="2990850" y="50768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EF29A36C-58C8-4425-8610-74EE60A8A3E2}"/>
              </a:ext>
            </a:extLst>
          </p:cNvPr>
          <p:cNvSpPr>
            <a:spLocks noGrp="1"/>
          </p:cNvSpPr>
          <p:nvPr/>
        </p:nvSpPr>
        <p:spPr>
          <a:xfrm>
            <a:off x="2686050" y="5334000"/>
            <a:ext cx="6819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6773"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history my-flask-app:v1</a:t>
            </a:r>
          </a:p>
        </p:txBody>
      </p:sp>
      <p:sp>
        <p:nvSpPr>
          <p:cNvPr id="21" name="">
            <a:extLst>
              <a:ext uri="{FF2B5EF4-FFF2-40B4-BE49-F238E27FC236}">
                <ns2:creationId id="{84565A00-F9D7-45F2-8242-5D4D973CF28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2" name="">
            <a:extLst>
              <a:ext uri="{FF2B5EF4-FFF2-40B4-BE49-F238E27FC236}">
                <ns2:creationId id="{711FE1E9-B358-4488-BA71-3445B6BFB54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3" name="">
            <a:extLst>
              <a:ext uri="{FF2B5EF4-FFF2-40B4-BE49-F238E27FC236}">
                <ns2:creationId id="{5087E3C2-43DC-4F9C-A25B-46884362D0A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ns3:creationId val="1722638898"/>
      </p:ext>
    </p:extLst>
  </p:cSld>
</p:sld>
</file>

<file path=ppt/slides/slide1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B431D668-0BFA-4D5D-9BA4-274EF5F9595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</a:t>
            </a:r>
          </a:p>
        </p:txBody>
      </p:sp>
      <p:sp>
        <p:nvSpPr>
          <p:cNvPr id="2" name="">
            <a:extLst>
              <a:ext uri="{FF2B5EF4-FFF2-40B4-BE49-F238E27FC236}">
                <ns2:creationId id="{DD1A0CD9-BEA7-44BA-B04D-9D3D1BDFE1A1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P2：分層比較實驗</a:t>
            </a:r>
          </a:p>
        </p:txBody>
      </p:sp>
      <p:sp>
        <p:nvSpPr>
          <p:cNvPr id="3" name="">
            <a:extLst>
              <a:ext uri="{FF2B5EF4-FFF2-40B4-BE49-F238E27FC236}">
                <ns2:creationId id="{297139DD-3CCB-4C38-AC6C-370C4183820A}"/>
              </a:ext>
            </a:extLst>
          </p:cNvPr>
          <p:cNvSpPr>
            <a:spLocks noGrp="1"/>
          </p:cNvSpPr>
          <p:nvPr/>
        </p:nvSpPr>
        <p:spPr>
          <a:xfrm>
            <a:off x="781050" y="1447800"/>
            <a:ext cx="6953250" cy="2838450"/>
          </a:xfrm>
          <a:prstGeom prst="roundRect">
            <a:avLst>
              <a:gd name="adj" fmla="val 335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B0B4C138-D4D0-4758-89A5-D29C7646F180}"/>
              </a:ext>
            </a:extLst>
          </p:cNvPr>
          <p:cNvSpPr>
            <a:spLocks noGrp="1"/>
          </p:cNvSpPr>
          <p:nvPr/>
        </p:nvSpPr>
        <p:spPr>
          <a:xfrm>
            <a:off x="952500" y="1609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62550006-3D51-4CDA-B9C6-39A67E45DC07}"/>
              </a:ext>
            </a:extLst>
          </p:cNvPr>
          <p:cNvSpPr>
            <a:spLocks noGrp="1"/>
          </p:cNvSpPr>
          <p:nvPr/>
        </p:nvSpPr>
        <p:spPr>
          <a:xfrm>
            <a:off x="1123950" y="1609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0DA466D5-3E17-47B9-9532-E83D30235A74}"/>
              </a:ext>
            </a:extLst>
          </p:cNvPr>
          <p:cNvSpPr>
            <a:spLocks noGrp="1"/>
          </p:cNvSpPr>
          <p:nvPr/>
        </p:nvSpPr>
        <p:spPr>
          <a:xfrm>
            <a:off x="1295400" y="1609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3AEAC471-8269-48EC-A614-B483C1551947}"/>
              </a:ext>
            </a:extLst>
          </p:cNvPr>
          <p:cNvSpPr>
            <a:spLocks noGrp="1"/>
          </p:cNvSpPr>
          <p:nvPr/>
        </p:nvSpPr>
        <p:spPr>
          <a:xfrm>
            <a:off x="990600" y="1866900"/>
            <a:ext cx="653415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Dockerfile.many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update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install -y curl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rm -rf /var/lib/apt/lists/*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Dockerfile.one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update &amp;&amp; apt-get install -y curl \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&amp;&amp; rm -rf /var/lib/apt/lists/*</a:t>
            </a:r>
          </a:p>
        </p:txBody>
      </p:sp>
      <p:sp>
        <p:nvSpPr>
          <p:cNvPr id="8" name="">
            <a:extLst>
              <a:ext uri="{FF2B5EF4-FFF2-40B4-BE49-F238E27FC236}">
                <ns2:creationId id="{58D1ADBC-D10F-4316-8DF5-0CE54CA0337C}"/>
              </a:ext>
            </a:extLst>
          </p:cNvPr>
          <p:cNvSpPr>
            <a:spLocks noGrp="1"/>
          </p:cNvSpPr>
          <p:nvPr/>
        </p:nvSpPr>
        <p:spPr>
          <a:xfrm>
            <a:off x="8191500" y="1485900"/>
            <a:ext cx="295275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3FC5BBFE-1EB3-434F-871A-E6E90562D667}"/>
              </a:ext>
            </a:extLst>
          </p:cNvPr>
          <p:cNvSpPr>
            <a:spLocks noGrp="1"/>
          </p:cNvSpPr>
          <p:nvPr/>
        </p:nvSpPr>
        <p:spPr>
          <a:xfrm>
            <a:off x="8420100" y="1676400"/>
            <a:ext cx="2495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</a:t>
            </a:r>
          </a:p>
        </p:txBody>
      </p:sp>
      <p:sp>
        <p:nvSpPr>
          <p:cNvPr id="10" name="">
            <a:extLst>
              <a:ext uri="{FF2B5EF4-FFF2-40B4-BE49-F238E27FC236}">
                <ns2:creationId id="{0DB7A1A4-F61A-424D-BED5-2CC5B19D5167}"/>
              </a:ext>
            </a:extLst>
          </p:cNvPr>
          <p:cNvSpPr>
            <a:spLocks noGrp="1"/>
          </p:cNvSpPr>
          <p:nvPr/>
        </p:nvSpPr>
        <p:spPr>
          <a:xfrm>
            <a:off x="8420100" y="1981200"/>
            <a:ext cx="24955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857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build -f Dockerfile.many -t layer-many .</a:t>
            </a:r>
          </a:p>
        </p:txBody>
      </p:sp>
      <p:sp>
        <p:nvSpPr>
          <p:cNvPr id="11" name="">
            <a:extLst>
              <a:ext uri="{FF2B5EF4-FFF2-40B4-BE49-F238E27FC236}">
                <ns2:creationId id="{766EB74D-99E1-465C-97CF-7BAC00E88C47}"/>
              </a:ext>
            </a:extLst>
          </p:cNvPr>
          <p:cNvSpPr>
            <a:spLocks noGrp="1"/>
          </p:cNvSpPr>
          <p:nvPr/>
        </p:nvSpPr>
        <p:spPr>
          <a:xfrm>
            <a:off x="8191500" y="2590800"/>
            <a:ext cx="2952750" cy="838200"/>
          </a:xfrm>
          <a:prstGeom prst="roundRect">
            <a:avLst>
              <a:gd name="adj" fmla="val 13636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F090C89F-4030-476E-A602-D7EDB70AE403}"/>
              </a:ext>
            </a:extLst>
          </p:cNvPr>
          <p:cNvSpPr>
            <a:spLocks noGrp="1"/>
          </p:cNvSpPr>
          <p:nvPr/>
        </p:nvSpPr>
        <p:spPr>
          <a:xfrm>
            <a:off x="8420100" y="2781300"/>
            <a:ext cx="2495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Compare</a:t>
            </a:r>
          </a:p>
        </p:txBody>
      </p:sp>
      <p:sp>
        <p:nvSpPr>
          <p:cNvPr id="13" name="">
            <a:extLst>
              <a:ext uri="{FF2B5EF4-FFF2-40B4-BE49-F238E27FC236}">
                <ns2:creationId id="{240B7E0F-BA94-462F-BAC4-2117C7620175}"/>
              </a:ext>
            </a:extLst>
          </p:cNvPr>
          <p:cNvSpPr>
            <a:spLocks noGrp="1"/>
          </p:cNvSpPr>
          <p:nvPr/>
        </p:nvSpPr>
        <p:spPr>
          <a:xfrm>
            <a:off x="8420100" y="3086100"/>
            <a:ext cx="24955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41929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images</a:t>
            </a:r>
          </a:p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docker history layer-many</a:t>
            </a:r>
          </a:p>
        </p:txBody>
      </p:sp>
      <p:sp>
        <p:nvSpPr>
          <p:cNvPr id="14" name="">
            <a:extLst>
              <a:ext uri="{FF2B5EF4-FFF2-40B4-BE49-F238E27FC236}">
                <ns2:creationId id="{E8487C25-E264-4270-A985-9C9041A7C5DB}"/>
              </a:ext>
            </a:extLst>
          </p:cNvPr>
          <p:cNvSpPr>
            <a:spLocks noGrp="1"/>
          </p:cNvSpPr>
          <p:nvPr/>
        </p:nvSpPr>
        <p:spPr>
          <a:xfrm>
            <a:off x="8191500" y="3695700"/>
            <a:ext cx="295275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C27C8A83-7AD0-4861-9BEA-58F4E147C05D}"/>
              </a:ext>
            </a:extLst>
          </p:cNvPr>
          <p:cNvSpPr>
            <a:spLocks noGrp="1"/>
          </p:cNvSpPr>
          <p:nvPr/>
        </p:nvSpPr>
        <p:spPr>
          <a:xfrm>
            <a:off x="8420100" y="3886200"/>
            <a:ext cx="2495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Discuss</a:t>
            </a:r>
          </a:p>
        </p:txBody>
      </p:sp>
      <p:sp>
        <p:nvSpPr>
          <p:cNvPr id="16" name="">
            <a:extLst>
              <a:ext uri="{FF2B5EF4-FFF2-40B4-BE49-F238E27FC236}">
                <ns2:creationId id="{0980B51B-766D-408A-B95D-A0FD7ECD420C}"/>
              </a:ext>
            </a:extLst>
          </p:cNvPr>
          <p:cNvSpPr>
            <a:spLocks noGrp="1"/>
          </p:cNvSpPr>
          <p:nvPr/>
        </p:nvSpPr>
        <p:spPr>
          <a:xfrm>
            <a:off x="8420100" y="4191000"/>
            <a:ext cx="24955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857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哪個層數少？哪個更容易留下暫存檔？</a:t>
            </a:r>
          </a:p>
        </p:txBody>
      </p:sp>
      <p:sp>
        <p:nvSpPr>
          <p:cNvPr id="17" name="">
            <a:extLst>
              <a:ext uri="{FF2B5EF4-FFF2-40B4-BE49-F238E27FC236}">
                <ns2:creationId id="{8128EFE0-C61F-4175-8D03-242DCCE89F1E}"/>
              </a:ext>
            </a:extLst>
          </p:cNvPr>
          <p:cNvSpPr>
            <a:spLocks noGrp="1"/>
          </p:cNvSpPr>
          <p:nvPr/>
        </p:nvSpPr>
        <p:spPr>
          <a:xfrm>
            <a:off x="1809750" y="5105400"/>
            <a:ext cx="8572500" cy="476250"/>
          </a:xfrm>
          <a:prstGeom prst="roundRect">
            <a:avLst>
              <a:gd name="adj" fmla="val 2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99E0CE8C-718E-4716-99C0-3C38239FDCD4}"/>
              </a:ext>
            </a:extLst>
          </p:cNvPr>
          <p:cNvSpPr>
            <a:spLocks noGrp="1"/>
          </p:cNvSpPr>
          <p:nvPr/>
        </p:nvSpPr>
        <p:spPr>
          <a:xfrm>
            <a:off x="2133600" y="5238750"/>
            <a:ext cx="7924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完成標準：能用 docker images 與 docker history 說出大小與層數差異。</a:t>
            </a:r>
          </a:p>
        </p:txBody>
      </p:sp>
      <p:sp>
        <p:nvSpPr>
          <p:cNvPr id="19" name="">
            <a:extLst>
              <a:ext uri="{FF2B5EF4-FFF2-40B4-BE49-F238E27FC236}">
                <ns2:creationId id="{29E54248-E453-45D3-90CC-AB033B8CF52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4F87536C-4949-4DA3-B4C3-254D2D500DD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1" name="">
            <a:extLst>
              <a:ext uri="{FF2B5EF4-FFF2-40B4-BE49-F238E27FC236}">
                <ns2:creationId id="{4970DAEB-3C1D-4368-8778-90E68A0B6B1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ns3:creationId val="1880523053"/>
      </p:ext>
    </p:extLst>
  </p:cSld>
</p:sld>
</file>

<file path=ppt/slides/slide1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46DACAD2-8668-4D93-8167-EE3D5AEEA92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OPTIMIZATION PLAYBOOK</a:t>
            </a:r>
          </a:p>
        </p:txBody>
      </p:sp>
      <p:sp>
        <p:nvSpPr>
          <p:cNvPr id="2" name="">
            <a:extLst>
              <a:ext uri="{FF2B5EF4-FFF2-40B4-BE49-F238E27FC236}">
                <ns2:creationId id="{FC5E6A40-D612-4FD9-9DC7-FA834F5D758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優化的四個方向</a:t>
            </a:r>
          </a:p>
        </p:txBody>
      </p:sp>
      <p:sp>
        <p:nvSpPr>
          <p:cNvPr id="3" name="">
            <a:extLst>
              <a:ext uri="{FF2B5EF4-FFF2-40B4-BE49-F238E27FC236}">
                <ns2:creationId id="{891155B2-FE4A-412A-BBAC-08BA32D569C8}"/>
              </a:ext>
            </a:extLst>
          </p:cNvPr>
          <p:cNvSpPr>
            <a:spLocks noGrp="1"/>
          </p:cNvSpPr>
          <p:nvPr/>
        </p:nvSpPr>
        <p:spPr>
          <a:xfrm>
            <a:off x="1219200" y="1695450"/>
            <a:ext cx="4267200" cy="14287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F15C386C-E6DA-4BE6-A1A2-13D8D8B54AD9}"/>
              </a:ext>
            </a:extLst>
          </p:cNvPr>
          <p:cNvSpPr>
            <a:spLocks noGrp="1"/>
          </p:cNvSpPr>
          <p:nvPr/>
        </p:nvSpPr>
        <p:spPr>
          <a:xfrm>
            <a:off x="1447800" y="188595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小一點</a:t>
            </a:r>
          </a:p>
        </p:txBody>
      </p:sp>
      <p:sp>
        <p:nvSpPr>
          <p:cNvPr id="5" name="">
            <a:extLst>
              <a:ext uri="{FF2B5EF4-FFF2-40B4-BE49-F238E27FC236}">
                <ns2:creationId id="{7291D219-7D45-49A8-AB46-04A071733CCF}"/>
              </a:ext>
            </a:extLst>
          </p:cNvPr>
          <p:cNvSpPr>
            <a:spLocks noGrp="1"/>
          </p:cNvSpPr>
          <p:nvPr/>
        </p:nvSpPr>
        <p:spPr>
          <a:xfrm>
            <a:off x="1447800" y="2419350"/>
            <a:ext cx="3810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選 slim / alpine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移除 build 暫存檔</a:t>
            </a:r>
          </a:p>
        </p:txBody>
      </p:sp>
      <p:sp>
        <p:nvSpPr>
          <p:cNvPr id="6" name="">
            <a:extLst>
              <a:ext uri="{FF2B5EF4-FFF2-40B4-BE49-F238E27FC236}">
                <ns2:creationId id="{9A858C12-B794-44E1-BC5D-8D8D323BD4B9}"/>
              </a:ext>
            </a:extLst>
          </p:cNvPr>
          <p:cNvSpPr>
            <a:spLocks noGrp="1"/>
          </p:cNvSpPr>
          <p:nvPr/>
        </p:nvSpPr>
        <p:spPr>
          <a:xfrm>
            <a:off x="6705600" y="1695450"/>
            <a:ext cx="4267200" cy="1428750"/>
          </a:xfrm>
          <a:prstGeom prst="roundRect">
            <a:avLst>
              <a:gd name="adj" fmla="val 8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9793DCAF-2BB2-4AFC-8AD0-A026265BDB01}"/>
              </a:ext>
            </a:extLst>
          </p:cNvPr>
          <p:cNvSpPr>
            <a:spLocks noGrp="1"/>
          </p:cNvSpPr>
          <p:nvPr/>
        </p:nvSpPr>
        <p:spPr>
          <a:xfrm>
            <a:off x="6934200" y="188595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快一點</a:t>
            </a:r>
          </a:p>
        </p:txBody>
      </p:sp>
      <p:sp>
        <p:nvSpPr>
          <p:cNvPr id="8" name="">
            <a:extLst>
              <a:ext uri="{FF2B5EF4-FFF2-40B4-BE49-F238E27FC236}">
                <ns2:creationId id="{2F52C55F-927C-4C4C-9068-3A19D8BBA3FA}"/>
              </a:ext>
            </a:extLst>
          </p:cNvPr>
          <p:cNvSpPr>
            <a:spLocks noGrp="1"/>
          </p:cNvSpPr>
          <p:nvPr/>
        </p:nvSpPr>
        <p:spPr>
          <a:xfrm>
            <a:off x="6934200" y="2419350"/>
            <a:ext cx="3810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把不常變的層放前面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善用 build cache</a:t>
            </a:r>
          </a:p>
        </p:txBody>
      </p:sp>
      <p:sp>
        <p:nvSpPr>
          <p:cNvPr id="9" name="">
            <a:extLst>
              <a:ext uri="{FF2B5EF4-FFF2-40B4-BE49-F238E27FC236}">
                <ns2:creationId id="{576C8F64-E981-49F6-A4C6-36A66BF8BDB6}"/>
              </a:ext>
            </a:extLst>
          </p:cNvPr>
          <p:cNvSpPr>
            <a:spLocks noGrp="1"/>
          </p:cNvSpPr>
          <p:nvPr/>
        </p:nvSpPr>
        <p:spPr>
          <a:xfrm>
            <a:off x="1219200" y="3733800"/>
            <a:ext cx="4267200" cy="1428750"/>
          </a:xfrm>
          <a:prstGeom prst="roundRect">
            <a:avLst>
              <a:gd name="adj" fmla="val 8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67E7F9DF-23E7-4549-AA23-E610D78D5B78}"/>
              </a:ext>
            </a:extLst>
          </p:cNvPr>
          <p:cNvSpPr>
            <a:spLocks noGrp="1"/>
          </p:cNvSpPr>
          <p:nvPr/>
        </p:nvSpPr>
        <p:spPr>
          <a:xfrm>
            <a:off x="1447800" y="392430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乾淨一點</a:t>
            </a:r>
          </a:p>
        </p:txBody>
      </p:sp>
      <p:sp>
        <p:nvSpPr>
          <p:cNvPr id="11" name="">
            <a:extLst>
              <a:ext uri="{FF2B5EF4-FFF2-40B4-BE49-F238E27FC236}">
                <ns2:creationId id="{2BEB53CE-D254-4D1C-A22E-EB7EFD79794E}"/>
              </a:ext>
            </a:extLst>
          </p:cNvPr>
          <p:cNvSpPr>
            <a:spLocks noGrp="1"/>
          </p:cNvSpPr>
          <p:nvPr/>
        </p:nvSpPr>
        <p:spPr>
          <a:xfrm>
            <a:off x="1447800" y="4457700"/>
            <a:ext cx="3810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.dockerignore 排除 venv、cache、.git</a:t>
            </a:r>
          </a:p>
        </p:txBody>
      </p:sp>
      <p:sp>
        <p:nvSpPr>
          <p:cNvPr id="12" name="">
            <a:extLst>
              <a:ext uri="{FF2B5EF4-FFF2-40B4-BE49-F238E27FC236}">
                <ns2:creationId id="{12EA463F-4D20-4287-A421-A87ABE978BDB}"/>
              </a:ext>
            </a:extLst>
          </p:cNvPr>
          <p:cNvSpPr>
            <a:spLocks noGrp="1"/>
          </p:cNvSpPr>
          <p:nvPr/>
        </p:nvSpPr>
        <p:spPr>
          <a:xfrm>
            <a:off x="6705600" y="3733800"/>
            <a:ext cx="4267200" cy="1428750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0C47E74F-D3B7-485D-BE8A-39D3CBA561A1}"/>
              </a:ext>
            </a:extLst>
          </p:cNvPr>
          <p:cNvSpPr>
            <a:spLocks noGrp="1"/>
          </p:cNvSpPr>
          <p:nvPr/>
        </p:nvSpPr>
        <p:spPr>
          <a:xfrm>
            <a:off x="6934200" y="392430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安全一點</a:t>
            </a:r>
          </a:p>
        </p:txBody>
      </p:sp>
      <p:sp>
        <p:nvSpPr>
          <p:cNvPr id="14" name="">
            <a:extLst>
              <a:ext uri="{FF2B5EF4-FFF2-40B4-BE49-F238E27FC236}">
                <ns2:creationId id="{9AD223C4-D8CA-4CA2-A7A6-FAE3D494AD30}"/>
              </a:ext>
            </a:extLst>
          </p:cNvPr>
          <p:cNvSpPr>
            <a:spLocks noGrp="1"/>
          </p:cNvSpPr>
          <p:nvPr/>
        </p:nvSpPr>
        <p:spPr>
          <a:xfrm>
            <a:off x="6934200" y="4457700"/>
            <a:ext cx="3810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不要用 root 跑 app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不要把 secret 寫進 Image</a:t>
            </a:r>
          </a:p>
        </p:txBody>
      </p:sp>
      <p:sp>
        <p:nvSpPr>
          <p:cNvPr id="15" name="">
            <a:extLst>
              <a:ext uri="{FF2B5EF4-FFF2-40B4-BE49-F238E27FC236}">
                <ns2:creationId id="{1BCA6D42-7521-4807-922E-CBD5F145600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063AAB70-419F-4894-8364-2154EB853C5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7" name="">
            <a:extLst>
              <a:ext uri="{FF2B5EF4-FFF2-40B4-BE49-F238E27FC236}">
                <ns2:creationId id="{EB29ACEA-1C9F-46B8-8C27-59047CA2249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ns3:creationId val="1552483219"/>
      </p:ext>
    </p:extLst>
  </p:cSld>
</p:sld>
</file>

<file path=ppt/slides/slide1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454E3BE8-9E5E-41FA-BB76-AA6432450C7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Q2-Q3</a:t>
            </a:r>
          </a:p>
        </p:txBody>
      </p:sp>
      <p:sp>
        <p:nvSpPr>
          <p:cNvPr id="2" name="">
            <a:extLst>
              <a:ext uri="{FF2B5EF4-FFF2-40B4-BE49-F238E27FC236}">
                <ns2:creationId id="{A7D28DD9-404C-463E-8969-961239C6E226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2：CMD / ENTRYPOINT / 非 root</a:t>
            </a:r>
          </a:p>
        </p:txBody>
      </p:sp>
      <p:sp>
        <p:nvSpPr>
          <p:cNvPr id="3" name="">
            <a:extLst>
              <a:ext uri="{FF2B5EF4-FFF2-40B4-BE49-F238E27FC236}">
                <ns2:creationId id="{C21FD307-11F1-49B4-A922-BD0963295981}"/>
              </a:ext>
            </a:extLst>
          </p:cNvPr>
          <p:cNvSpPr>
            <a:spLocks noGrp="1"/>
          </p:cNvSpPr>
          <p:nvPr/>
        </p:nvSpPr>
        <p:spPr>
          <a:xfrm>
            <a:off x="819150" y="1562100"/>
            <a:ext cx="4953000" cy="2381250"/>
          </a:xfrm>
          <a:prstGeom prst="roundRect">
            <a:avLst>
              <a:gd name="adj" fmla="val 4800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876155C7-88AD-417C-B46B-6DD54351287B}"/>
              </a:ext>
            </a:extLst>
          </p:cNvPr>
          <p:cNvSpPr>
            <a:spLocks noGrp="1"/>
          </p:cNvSpPr>
          <p:nvPr/>
        </p:nvSpPr>
        <p:spPr>
          <a:xfrm>
            <a:off x="1047750" y="1752600"/>
            <a:ext cx="4495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Q2：CMD vs ENTRYPOINT</a:t>
            </a:r>
          </a:p>
        </p:txBody>
      </p:sp>
      <p:sp>
        <p:nvSpPr>
          <p:cNvPr id="5" name="">
            <a:extLst>
              <a:ext uri="{FF2B5EF4-FFF2-40B4-BE49-F238E27FC236}">
                <ns2:creationId id="{D783BF36-675C-4731-8FF8-AF6725EE0FB1}"/>
              </a:ext>
            </a:extLst>
          </p:cNvPr>
          <p:cNvSpPr>
            <a:spLocks noGrp="1"/>
          </p:cNvSpPr>
          <p:nvPr/>
        </p:nvSpPr>
        <p:spPr>
          <a:xfrm>
            <a:off x="1047750" y="2362200"/>
            <a:ext cx="4495800" cy="1390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CMD 可以被 docker run 後面的參數覆蓋。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ENTRYPOINT 通常保留主程式，參數附加在後面。</a:t>
            </a:r>
          </a:p>
        </p:txBody>
      </p:sp>
      <p:sp>
        <p:nvSpPr>
          <p:cNvPr id="6" name="">
            <a:extLst>
              <a:ext uri="{FF2B5EF4-FFF2-40B4-BE49-F238E27FC236}">
                <ns2:creationId id="{EA3BCD75-A62F-4263-BBD1-207709B7B429}"/>
              </a:ext>
            </a:extLst>
          </p:cNvPr>
          <p:cNvSpPr>
            <a:spLocks noGrp="1"/>
          </p:cNvSpPr>
          <p:nvPr/>
        </p:nvSpPr>
        <p:spPr>
          <a:xfrm>
            <a:off x="6419850" y="1562100"/>
            <a:ext cx="4953000" cy="2381250"/>
          </a:xfrm>
          <a:prstGeom prst="roundRect">
            <a:avLst>
              <a:gd name="adj" fmla="val 4800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CFEE017A-5670-49BB-83DA-0C6F4EC22D78}"/>
              </a:ext>
            </a:extLst>
          </p:cNvPr>
          <p:cNvSpPr>
            <a:spLocks noGrp="1"/>
          </p:cNvSpPr>
          <p:nvPr/>
        </p:nvSpPr>
        <p:spPr>
          <a:xfrm>
            <a:off x="6648450" y="1752600"/>
            <a:ext cx="4495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Q3：為什麼不要 root？</a:t>
            </a:r>
          </a:p>
        </p:txBody>
      </p:sp>
      <p:sp>
        <p:nvSpPr>
          <p:cNvPr id="8" name="">
            <a:extLst>
              <a:ext uri="{FF2B5EF4-FFF2-40B4-BE49-F238E27FC236}">
                <ns2:creationId id="{FCEB187F-1F26-487B-BACC-69549471DCCF}"/>
              </a:ext>
            </a:extLst>
          </p:cNvPr>
          <p:cNvSpPr>
            <a:spLocks noGrp="1"/>
          </p:cNvSpPr>
          <p:nvPr/>
        </p:nvSpPr>
        <p:spPr>
          <a:xfrm>
            <a:off x="6648450" y="2362200"/>
            <a:ext cx="4495800" cy="1390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容器被入侵時，root 權限會放大風險。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改用非 root user 是降低攻擊面的基本防線。</a:t>
            </a:r>
          </a:p>
        </p:txBody>
      </p:sp>
      <p:sp>
        <p:nvSpPr>
          <p:cNvPr id="9" name="">
            <a:extLst>
              <a:ext uri="{FF2B5EF4-FFF2-40B4-BE49-F238E27FC236}">
                <ns2:creationId id="{EE69317C-19E4-4035-A2A3-8C811342855A}"/>
              </a:ext>
            </a:extLst>
          </p:cNvPr>
          <p:cNvSpPr>
            <a:spLocks noGrp="1"/>
          </p:cNvSpPr>
          <p:nvPr/>
        </p:nvSpPr>
        <p:spPr>
          <a:xfrm>
            <a:off x="2857500" y="4705350"/>
            <a:ext cx="6477000" cy="1066800"/>
          </a:xfrm>
          <a:prstGeom prst="roundRect">
            <a:avLst>
              <a:gd name="adj" fmla="val 8929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0" name="">
            <a:extLst>
              <a:ext uri="{FF2B5EF4-FFF2-40B4-BE49-F238E27FC236}">
                <ns2:creationId id="{E5DC94EA-129E-4D56-A3F9-33D5252D95AA}"/>
              </a:ext>
            </a:extLst>
          </p:cNvPr>
          <p:cNvSpPr>
            <a:spLocks noGrp="1"/>
          </p:cNvSpPr>
          <p:nvPr/>
        </p:nvSpPr>
        <p:spPr>
          <a:xfrm>
            <a:off x="3028950" y="48672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9D2509BA-F7BE-48DD-B946-077F7B917C83}"/>
              </a:ext>
            </a:extLst>
          </p:cNvPr>
          <p:cNvSpPr>
            <a:spLocks noGrp="1"/>
          </p:cNvSpPr>
          <p:nvPr/>
        </p:nvSpPr>
        <p:spPr>
          <a:xfrm>
            <a:off x="3200400" y="48672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B9C87776-C511-47D6-98C9-6F65710169C1}"/>
              </a:ext>
            </a:extLst>
          </p:cNvPr>
          <p:cNvSpPr>
            <a:spLocks noGrp="1"/>
          </p:cNvSpPr>
          <p:nvPr/>
        </p:nvSpPr>
        <p:spPr>
          <a:xfrm>
            <a:off x="3371850" y="48672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410731B1-7576-45C9-8F76-9EEDC223D2DD}"/>
              </a:ext>
            </a:extLst>
          </p:cNvPr>
          <p:cNvSpPr>
            <a:spLocks noGrp="1"/>
          </p:cNvSpPr>
          <p:nvPr/>
        </p:nvSpPr>
        <p:spPr>
          <a:xfrm>
            <a:off x="3067050" y="5124450"/>
            <a:ext cx="60579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2709"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useradd -m appuser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USER appuser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14" name="">
            <a:extLst>
              <a:ext uri="{FF2B5EF4-FFF2-40B4-BE49-F238E27FC236}">
                <ns2:creationId id="{93D604DD-8260-4B62-8FDE-C1AAD243687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F50A4F1E-87BF-4C1B-B3F7-3469F888FFE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>
              <a:ext uri="{FF2B5EF4-FFF2-40B4-BE49-F238E27FC236}">
                <ns2:creationId id="{582E8284-0EC2-44E9-BE16-60A4AF59C0A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ns3:creationId val="1080247001"/>
      </p:ext>
    </p:extLst>
  </p:cSld>
</p:sld>
</file>

<file path=ppt/slides/slide1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8A01B379-ACD6-469F-A810-5396BA630C9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OPTIMIZED DOCKERFILE</a:t>
            </a:r>
          </a:p>
        </p:txBody>
      </p:sp>
      <p:sp>
        <p:nvSpPr>
          <p:cNvPr id="2" name="">
            <a:extLst>
              <a:ext uri="{FF2B5EF4-FFF2-40B4-BE49-F238E27FC236}">
                <ns2:creationId id="{113E6233-77DE-4E65-A551-D52B379B7EA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優化後的 Flask Dockerfile</a:t>
            </a:r>
          </a:p>
        </p:txBody>
      </p:sp>
      <p:sp>
        <p:nvSpPr>
          <p:cNvPr id="3" name="">
            <a:extLst>
              <a:ext uri="{FF2B5EF4-FFF2-40B4-BE49-F238E27FC236}">
                <ns2:creationId id="{F2C0173D-B556-4B59-B3AB-C1FFA20B502E}"/>
              </a:ext>
            </a:extLst>
          </p:cNvPr>
          <p:cNvSpPr>
            <a:spLocks noGrp="1"/>
          </p:cNvSpPr>
          <p:nvPr/>
        </p:nvSpPr>
        <p:spPr>
          <a:xfrm>
            <a:off x="723900" y="1314450"/>
            <a:ext cx="6572250" cy="4457700"/>
          </a:xfrm>
          <a:prstGeom prst="roundRect">
            <a:avLst>
              <a:gd name="adj" fmla="val 213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B36C0D78-C989-4A7C-B07F-AEC930ACEF99}"/>
              </a:ext>
            </a:extLst>
          </p:cNvPr>
          <p:cNvSpPr>
            <a:spLocks noGrp="1"/>
          </p:cNvSpPr>
          <p:nvPr/>
        </p:nvSpPr>
        <p:spPr>
          <a:xfrm>
            <a:off x="895350" y="1476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294CA4FD-BBF3-4811-9759-2EAC55232E0B}"/>
              </a:ext>
            </a:extLst>
          </p:cNvPr>
          <p:cNvSpPr>
            <a:spLocks noGrp="1"/>
          </p:cNvSpPr>
          <p:nvPr/>
        </p:nvSpPr>
        <p:spPr>
          <a:xfrm>
            <a:off x="1066800" y="1476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0B402BF8-D141-402D-8104-9ABDC47B4266}"/>
              </a:ext>
            </a:extLst>
          </p:cNvPr>
          <p:cNvSpPr>
            <a:spLocks noGrp="1"/>
          </p:cNvSpPr>
          <p:nvPr/>
        </p:nvSpPr>
        <p:spPr>
          <a:xfrm>
            <a:off x="1238250" y="1476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81AD406E-60BD-4AEF-8A95-8846EAAC02F1}"/>
              </a:ext>
            </a:extLst>
          </p:cNvPr>
          <p:cNvSpPr>
            <a:spLocks noGrp="1"/>
          </p:cNvSpPr>
          <p:nvPr/>
        </p:nvSpPr>
        <p:spPr>
          <a:xfrm>
            <a:off x="933450" y="1733550"/>
            <a:ext cx="6153150" cy="3905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maintainer="docker-course"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PYTHONUNBUFFERED=1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 \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&amp;&amp; useradd -m appuser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USER appuser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8" name="">
            <a:extLst>
              <a:ext uri="{FF2B5EF4-FFF2-40B4-BE49-F238E27FC236}">
                <ns2:creationId id="{0FAA69AB-63AF-4F79-AAEC-B268D4E18930}"/>
              </a:ext>
            </a:extLst>
          </p:cNvPr>
          <p:cNvSpPr>
            <a:spLocks noGrp="1"/>
          </p:cNvSpPr>
          <p:nvPr/>
        </p:nvSpPr>
        <p:spPr>
          <a:xfrm>
            <a:off x="7886700" y="1466850"/>
            <a:ext cx="2914650" cy="704850"/>
          </a:xfrm>
          <a:prstGeom prst="roundRect">
            <a:avLst>
              <a:gd name="adj" fmla="val 16216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14846A02-6125-4E01-BD3B-E4BF524F2F4D}"/>
              </a:ext>
            </a:extLst>
          </p:cNvPr>
          <p:cNvSpPr>
            <a:spLocks noGrp="1"/>
          </p:cNvSpPr>
          <p:nvPr/>
        </p:nvSpPr>
        <p:spPr>
          <a:xfrm>
            <a:off x="8115300" y="1657350"/>
            <a:ext cx="2457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--no-cache-dir</a:t>
            </a:r>
          </a:p>
        </p:txBody>
      </p:sp>
      <p:sp>
        <p:nvSpPr>
          <p:cNvPr id="10" name="">
            <a:extLst>
              <a:ext uri="{FF2B5EF4-FFF2-40B4-BE49-F238E27FC236}">
                <ns2:creationId id="{6C6768C2-0CFB-4F4C-9067-B1452F270AFD}"/>
              </a:ext>
            </a:extLst>
          </p:cNvPr>
          <p:cNvSpPr>
            <a:spLocks noGrp="1"/>
          </p:cNvSpPr>
          <p:nvPr/>
        </p:nvSpPr>
        <p:spPr>
          <a:xfrm>
            <a:off x="8115300" y="1905000"/>
            <a:ext cx="2457450" cy="76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41929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不要留下 pip cache</a:t>
            </a:r>
          </a:p>
        </p:txBody>
      </p:sp>
      <p:sp>
        <p:nvSpPr>
          <p:cNvPr id="11" name="">
            <a:extLst>
              <a:ext uri="{FF2B5EF4-FFF2-40B4-BE49-F238E27FC236}">
                <ns2:creationId id="{4EC864B5-BBAC-4878-B05B-304DC5810A05}"/>
              </a:ext>
            </a:extLst>
          </p:cNvPr>
          <p:cNvSpPr>
            <a:spLocks noGrp="1"/>
          </p:cNvSpPr>
          <p:nvPr/>
        </p:nvSpPr>
        <p:spPr>
          <a:xfrm>
            <a:off x="7886700" y="2400300"/>
            <a:ext cx="2914650" cy="704850"/>
          </a:xfrm>
          <a:prstGeom prst="roundRect">
            <a:avLst>
              <a:gd name="adj" fmla="val 16216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CBD684B5-A03C-4282-AE1E-2122A1B6E805}"/>
              </a:ext>
            </a:extLst>
          </p:cNvPr>
          <p:cNvSpPr>
            <a:spLocks noGrp="1"/>
          </p:cNvSpPr>
          <p:nvPr/>
        </p:nvSpPr>
        <p:spPr>
          <a:xfrm>
            <a:off x="8115300" y="2590800"/>
            <a:ext cx="2457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useradd + USER</a:t>
            </a:r>
          </a:p>
        </p:txBody>
      </p:sp>
      <p:sp>
        <p:nvSpPr>
          <p:cNvPr id="13" name="">
            <a:extLst>
              <a:ext uri="{FF2B5EF4-FFF2-40B4-BE49-F238E27FC236}">
                <ns2:creationId id="{6BAB978C-DC80-46FA-8E0E-9EC69386D24F}"/>
              </a:ext>
            </a:extLst>
          </p:cNvPr>
          <p:cNvSpPr>
            <a:spLocks noGrp="1"/>
          </p:cNvSpPr>
          <p:nvPr/>
        </p:nvSpPr>
        <p:spPr>
          <a:xfrm>
            <a:off x="8115300" y="2838450"/>
            <a:ext cx="2457450" cy="76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41929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用非 root 執行</a:t>
            </a:r>
          </a:p>
        </p:txBody>
      </p:sp>
      <p:sp>
        <p:nvSpPr>
          <p:cNvPr id="14" name="">
            <a:extLst>
              <a:ext uri="{FF2B5EF4-FFF2-40B4-BE49-F238E27FC236}">
                <ns2:creationId id="{A5F51FB2-35C1-4A00-86F8-F6ABE7C7110F}"/>
              </a:ext>
            </a:extLst>
          </p:cNvPr>
          <p:cNvSpPr>
            <a:spLocks noGrp="1"/>
          </p:cNvSpPr>
          <p:nvPr/>
        </p:nvSpPr>
        <p:spPr>
          <a:xfrm>
            <a:off x="7886700" y="3333750"/>
            <a:ext cx="2914650" cy="704850"/>
          </a:xfrm>
          <a:prstGeom prst="roundRect">
            <a:avLst>
              <a:gd name="adj" fmla="val 16216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FD32019B-9471-4965-84D1-2C0ABF62AF12}"/>
              </a:ext>
            </a:extLst>
          </p:cNvPr>
          <p:cNvSpPr>
            <a:spLocks noGrp="1"/>
          </p:cNvSpPr>
          <p:nvPr/>
        </p:nvSpPr>
        <p:spPr>
          <a:xfrm>
            <a:off x="8115300" y="3524250"/>
            <a:ext cx="2457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COPY 分段</a:t>
            </a:r>
          </a:p>
        </p:txBody>
      </p:sp>
      <p:sp>
        <p:nvSpPr>
          <p:cNvPr id="16" name="">
            <a:extLst>
              <a:ext uri="{FF2B5EF4-FFF2-40B4-BE49-F238E27FC236}">
                <ns2:creationId id="{5E9BF6EC-9B19-4AFF-8FC3-BFE247A0B167}"/>
              </a:ext>
            </a:extLst>
          </p:cNvPr>
          <p:cNvSpPr>
            <a:spLocks noGrp="1"/>
          </p:cNvSpPr>
          <p:nvPr/>
        </p:nvSpPr>
        <p:spPr>
          <a:xfrm>
            <a:off x="8115300" y="3771900"/>
            <a:ext cx="2457450" cy="76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41929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保留 pip install cache</a:t>
            </a:r>
          </a:p>
        </p:txBody>
      </p:sp>
      <p:sp>
        <p:nvSpPr>
          <p:cNvPr id="17" name="">
            <a:extLst>
              <a:ext uri="{FF2B5EF4-FFF2-40B4-BE49-F238E27FC236}">
                <ns2:creationId id="{5F37C570-8F20-4654-80DD-8B3BF4C36699}"/>
              </a:ext>
            </a:extLst>
          </p:cNvPr>
          <p:cNvSpPr>
            <a:spLocks noGrp="1"/>
          </p:cNvSpPr>
          <p:nvPr/>
        </p:nvSpPr>
        <p:spPr>
          <a:xfrm>
            <a:off x="7886700" y="4267200"/>
            <a:ext cx="2914650" cy="704850"/>
          </a:xfrm>
          <a:prstGeom prst="roundRect">
            <a:avLst>
              <a:gd name="adj" fmla="val 16216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8A3300E7-BB55-4878-ACD6-C5E1BB62B107}"/>
              </a:ext>
            </a:extLst>
          </p:cNvPr>
          <p:cNvSpPr>
            <a:spLocks noGrp="1"/>
          </p:cNvSpPr>
          <p:nvPr/>
        </p:nvSpPr>
        <p:spPr>
          <a:xfrm>
            <a:off x="8115300" y="4457700"/>
            <a:ext cx="2457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ENV PYTHONUNBUFFERED</a:t>
            </a:r>
          </a:p>
        </p:txBody>
      </p:sp>
      <p:sp>
        <p:nvSpPr>
          <p:cNvPr id="19" name="">
            <a:extLst>
              <a:ext uri="{FF2B5EF4-FFF2-40B4-BE49-F238E27FC236}">
                <ns2:creationId id="{029A4532-217A-40C3-8446-B6C49B9AEFAF}"/>
              </a:ext>
            </a:extLst>
          </p:cNvPr>
          <p:cNvSpPr>
            <a:spLocks noGrp="1"/>
          </p:cNvSpPr>
          <p:nvPr/>
        </p:nvSpPr>
        <p:spPr>
          <a:xfrm>
            <a:off x="8115300" y="4705350"/>
            <a:ext cx="2457450" cy="76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41929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log 立即輸出</a:t>
            </a:r>
          </a:p>
        </p:txBody>
      </p:sp>
      <p:sp>
        <p:nvSpPr>
          <p:cNvPr id="20" name="">
            <a:extLst>
              <a:ext uri="{FF2B5EF4-FFF2-40B4-BE49-F238E27FC236}">
                <ns2:creationId id="{984E047A-6082-4B1D-B905-F0800E829CB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B5852F03-9840-49DF-9B50-0E7D3FE5DE2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2" name="">
            <a:extLst>
              <a:ext uri="{FF2B5EF4-FFF2-40B4-BE49-F238E27FC236}">
                <ns2:creationId id="{D341C7EF-472E-40C0-A495-D49F82D9833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ns3:creationId val="1216655528"/>
      </p:ext>
    </p:extLst>
  </p:cSld>
</p:sld>
</file>

<file path=ppt/slides/slide1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A36AF55-B89D-4533-B5CF-B527938BB54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BUILD CONTEXT</a:t>
            </a:r>
          </a:p>
        </p:txBody>
      </p:sp>
      <p:sp>
        <p:nvSpPr>
          <p:cNvPr id="2" name="">
            <a:extLst>
              <a:ext uri="{FF2B5EF4-FFF2-40B4-BE49-F238E27FC236}">
                <ns2:creationId id="{B2127A0E-6CBA-4D53-8912-CC0048F4523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.dockerignore 控制 build context</a:t>
            </a:r>
          </a:p>
        </p:txBody>
      </p:sp>
      <p:sp>
        <p:nvSpPr>
          <p:cNvPr id="3" name="">
            <a:extLst>
              <a:ext uri="{FF2B5EF4-FFF2-40B4-BE49-F238E27FC236}">
                <ns2:creationId id="{29E07E39-DA42-4A6F-A946-237BB5D6240F}"/>
              </a:ext>
            </a:extLst>
          </p:cNvPr>
          <p:cNvSpPr>
            <a:spLocks noGrp="1"/>
          </p:cNvSpPr>
          <p:nvPr/>
        </p:nvSpPr>
        <p:spPr>
          <a:xfrm>
            <a:off x="952500" y="1581150"/>
            <a:ext cx="4095750" cy="2857500"/>
          </a:xfrm>
          <a:prstGeom prst="roundRect">
            <a:avLst>
              <a:gd name="adj" fmla="val 333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44DE6B0A-20A7-4E49-9F19-7CDB551B5555}"/>
              </a:ext>
            </a:extLst>
          </p:cNvPr>
          <p:cNvSpPr>
            <a:spLocks noGrp="1"/>
          </p:cNvSpPr>
          <p:nvPr/>
        </p:nvSpPr>
        <p:spPr>
          <a:xfrm>
            <a:off x="1123950" y="17430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0465558C-11E8-4907-AFD9-72C4A4D13ECD}"/>
              </a:ext>
            </a:extLst>
          </p:cNvPr>
          <p:cNvSpPr>
            <a:spLocks noGrp="1"/>
          </p:cNvSpPr>
          <p:nvPr/>
        </p:nvSpPr>
        <p:spPr>
          <a:xfrm>
            <a:off x="1295400" y="17430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8435F2EA-020B-49CB-96F0-91916EB353C9}"/>
              </a:ext>
            </a:extLst>
          </p:cNvPr>
          <p:cNvSpPr>
            <a:spLocks noGrp="1"/>
          </p:cNvSpPr>
          <p:nvPr/>
        </p:nvSpPr>
        <p:spPr>
          <a:xfrm>
            <a:off x="1466850" y="17430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269A54D6-362A-464E-B907-FAF1CE97872A}"/>
              </a:ext>
            </a:extLst>
          </p:cNvPr>
          <p:cNvSpPr>
            <a:spLocks noGrp="1"/>
          </p:cNvSpPr>
          <p:nvPr/>
        </p:nvSpPr>
        <p:spPr>
          <a:xfrm>
            <a:off x="1162050" y="2000250"/>
            <a:ext cx="3676650" cy="2305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934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__pycache__/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*.pyc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venv/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.env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.vscode/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Dockerfile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docker-compose.yml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bigfile.dat</a:t>
            </a:r>
          </a:p>
        </p:txBody>
      </p:sp>
      <p:sp>
        <p:nvSpPr>
          <p:cNvPr id="8" name="">
            <a:extLst>
              <a:ext uri="{FF2B5EF4-FFF2-40B4-BE49-F238E27FC236}">
                <ns2:creationId id="{293771E3-24DB-4D67-A3EF-F4A3E63B6919}"/>
              </a:ext>
            </a:extLst>
          </p:cNvPr>
          <p:cNvSpPr>
            <a:spLocks noGrp="1"/>
          </p:cNvSpPr>
          <p:nvPr/>
        </p:nvSpPr>
        <p:spPr>
          <a:xfrm>
            <a:off x="6096000" y="1581150"/>
            <a:ext cx="4191000" cy="1581150"/>
          </a:xfrm>
          <a:prstGeom prst="roundRect">
            <a:avLst>
              <a:gd name="adj" fmla="val 7229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BDCAD54E-F047-48FD-B911-A82FB5F0EF53}"/>
              </a:ext>
            </a:extLst>
          </p:cNvPr>
          <p:cNvSpPr>
            <a:spLocks noGrp="1"/>
          </p:cNvSpPr>
          <p:nvPr/>
        </p:nvSpPr>
        <p:spPr>
          <a:xfrm>
            <a:off x="6324600" y="17716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沒有 .dockerignore</a:t>
            </a:r>
          </a:p>
        </p:txBody>
      </p:sp>
      <p:sp>
        <p:nvSpPr>
          <p:cNvPr id="10" name="">
            <a:extLst>
              <a:ext uri="{FF2B5EF4-FFF2-40B4-BE49-F238E27FC236}">
                <ns2:creationId id="{0944EA93-BF18-4BB2-B52A-6156D2EADA5E}"/>
              </a:ext>
            </a:extLst>
          </p:cNvPr>
          <p:cNvSpPr>
            <a:spLocks noGrp="1"/>
          </p:cNvSpPr>
          <p:nvPr/>
        </p:nvSpPr>
        <p:spPr>
          <a:xfrm>
            <a:off x="6324600" y="2190750"/>
            <a:ext cx="37338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04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把不必要檔案也送進 Docker daemon。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結果：build context 變大，可能把 secret 或 cache 帶進 Image。</a:t>
            </a:r>
          </a:p>
        </p:txBody>
      </p:sp>
      <p:sp>
        <p:nvSpPr>
          <p:cNvPr id="11" name="">
            <a:extLst>
              <a:ext uri="{FF2B5EF4-FFF2-40B4-BE49-F238E27FC236}">
                <ns2:creationId id="{49C4ACE6-8B0C-4FD4-A660-69BA0E1C826C}"/>
              </a:ext>
            </a:extLst>
          </p:cNvPr>
          <p:cNvSpPr>
            <a:spLocks noGrp="1"/>
          </p:cNvSpPr>
          <p:nvPr/>
        </p:nvSpPr>
        <p:spPr>
          <a:xfrm>
            <a:off x="6096000" y="3562350"/>
            <a:ext cx="4191000" cy="1581150"/>
          </a:xfrm>
          <a:prstGeom prst="roundRect">
            <a:avLst>
              <a:gd name="adj" fmla="val 7229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844868FA-BB59-4837-9583-C4892DB23D6A}"/>
              </a:ext>
            </a:extLst>
          </p:cNvPr>
          <p:cNvSpPr>
            <a:spLocks noGrp="1"/>
          </p:cNvSpPr>
          <p:nvPr/>
        </p:nvSpPr>
        <p:spPr>
          <a:xfrm>
            <a:off x="6324600" y="37528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有 .dockerignore</a:t>
            </a:r>
          </a:p>
        </p:txBody>
      </p:sp>
      <p:sp>
        <p:nvSpPr>
          <p:cNvPr id="13" name="">
            <a:extLst>
              <a:ext uri="{FF2B5EF4-FFF2-40B4-BE49-F238E27FC236}">
                <ns2:creationId id="{A563E0DB-C435-4B1D-BC09-1762C912BC6F}"/>
              </a:ext>
            </a:extLst>
          </p:cNvPr>
          <p:cNvSpPr>
            <a:spLocks noGrp="1"/>
          </p:cNvSpPr>
          <p:nvPr/>
        </p:nvSpPr>
        <p:spPr>
          <a:xfrm>
            <a:off x="6324600" y="4171950"/>
            <a:ext cx="37338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039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只送 app.py、requirements.txt 等真正需要的檔案。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結果：build 更快、Image 更乾淨。</a:t>
            </a:r>
          </a:p>
        </p:txBody>
      </p:sp>
      <p:sp>
        <p:nvSpPr>
          <p:cNvPr id="14" name="">
            <a:extLst>
              <a:ext uri="{FF2B5EF4-FFF2-40B4-BE49-F238E27FC236}">
                <ns2:creationId id="{BF21A698-2EEB-4200-B7BE-43556B37FC5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3AFE8091-4B69-46D6-90AA-A9012C04B33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>
              <a:ext uri="{FF2B5EF4-FFF2-40B4-BE49-F238E27FC236}">
                <ns2:creationId id="{45722A8E-EC94-4BD0-8B90-45FBC5501C3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ns3:creationId val="1235758466"/>
      </p:ext>
    </p:extLst>
  </p:cSld>
</p:sld>
</file>

<file path=ppt/slides/slide1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AE1C78A-165D-43BD-B1DA-3A5274B6C07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TEST AND INSPECT</a:t>
            </a:r>
          </a:p>
        </p:txBody>
      </p:sp>
      <p:sp>
        <p:nvSpPr>
          <p:cNvPr id="2" name="">
            <a:extLst>
              <a:ext uri="{FF2B5EF4-FFF2-40B4-BE49-F238E27FC236}">
                <ns2:creationId id="{EDF433F0-EE45-4729-849C-579C090AEE3B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測試 Image：不只看能不能啟動</a:t>
            </a:r>
          </a:p>
        </p:txBody>
      </p:sp>
      <p:sp>
        <p:nvSpPr>
          <p:cNvPr id="3" name="">
            <a:extLst>
              <a:ext uri="{FF2B5EF4-FFF2-40B4-BE49-F238E27FC236}">
                <ns2:creationId id="{3B91239F-A934-474E-B2E0-C616087A8F63}"/>
              </a:ext>
            </a:extLst>
          </p:cNvPr>
          <p:cNvSpPr>
            <a:spLocks noGrp="1"/>
          </p:cNvSpPr>
          <p:nvPr/>
        </p:nvSpPr>
        <p:spPr>
          <a:xfrm>
            <a:off x="742950" y="1409700"/>
            <a:ext cx="6096000" cy="3905250"/>
          </a:xfrm>
          <a:prstGeom prst="roundRect">
            <a:avLst>
              <a:gd name="adj" fmla="val 2439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47756B92-3C7C-4DA8-ABE4-CCB0A5A3CDE3}"/>
              </a:ext>
            </a:extLst>
          </p:cNvPr>
          <p:cNvSpPr>
            <a:spLocks noGrp="1"/>
          </p:cNvSpPr>
          <p:nvPr/>
        </p:nvSpPr>
        <p:spPr>
          <a:xfrm>
            <a:off x="914400" y="15716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4E8AF7D3-7E32-48E7-B61D-0EFCFD255C59}"/>
              </a:ext>
            </a:extLst>
          </p:cNvPr>
          <p:cNvSpPr>
            <a:spLocks noGrp="1"/>
          </p:cNvSpPr>
          <p:nvPr/>
        </p:nvSpPr>
        <p:spPr>
          <a:xfrm>
            <a:off x="1085850" y="15716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983C59EF-7CD2-406D-B97C-0CE3C990DB47}"/>
              </a:ext>
            </a:extLst>
          </p:cNvPr>
          <p:cNvSpPr>
            <a:spLocks noGrp="1"/>
          </p:cNvSpPr>
          <p:nvPr/>
        </p:nvSpPr>
        <p:spPr>
          <a:xfrm>
            <a:off x="1257300" y="15716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8AF3E76-CAFB-476D-B514-C7C7E45BCF26}"/>
              </a:ext>
            </a:extLst>
          </p:cNvPr>
          <p:cNvSpPr>
            <a:spLocks noGrp="1"/>
          </p:cNvSpPr>
          <p:nvPr/>
        </p:nvSpPr>
        <p:spPr>
          <a:xfrm>
            <a:off x="952500" y="1828800"/>
            <a:ext cx="5676900" cy="3352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test-flask -p 5000:5000 my-flask-app:v3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test-flask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test-flask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test-flask bash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pwd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 -la /app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pip list | findstr Flask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whoami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</p:txBody>
      </p:sp>
      <p:sp>
        <p:nvSpPr>
          <p:cNvPr id="8" name="">
            <a:extLst>
              <a:ext uri="{FF2B5EF4-FFF2-40B4-BE49-F238E27FC236}">
                <ns2:creationId id="{888156AF-62E6-47D8-8043-D0353C50E1E9}"/>
              </a:ext>
            </a:extLst>
          </p:cNvPr>
          <p:cNvSpPr>
            <a:spLocks noGrp="1"/>
          </p:cNvSpPr>
          <p:nvPr/>
        </p:nvSpPr>
        <p:spPr>
          <a:xfrm>
            <a:off x="7505700" y="1524000"/>
            <a:ext cx="3333750" cy="666750"/>
          </a:xfrm>
          <a:prstGeom prst="roundRect">
            <a:avLst>
              <a:gd name="adj" fmla="val 17143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3E260FE8-4334-4885-9FBB-56FCB19680CA}"/>
              </a:ext>
            </a:extLst>
          </p:cNvPr>
          <p:cNvSpPr>
            <a:spLocks noGrp="1"/>
          </p:cNvSpPr>
          <p:nvPr/>
        </p:nvSpPr>
        <p:spPr>
          <a:xfrm>
            <a:off x="7734300" y="171450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WORKDIR</a:t>
            </a:r>
          </a:p>
        </p:txBody>
      </p:sp>
      <p:sp>
        <p:nvSpPr>
          <p:cNvPr id="10" name="">
            <a:extLst>
              <a:ext uri="{FF2B5EF4-FFF2-40B4-BE49-F238E27FC236}">
                <ns2:creationId id="{25B63277-C186-42E3-8AF7-D9E7D6823269}"/>
              </a:ext>
            </a:extLst>
          </p:cNvPr>
          <p:cNvSpPr>
            <a:spLocks noGrp="1"/>
          </p:cNvSpPr>
          <p:nvPr/>
        </p:nvSpPr>
        <p:spPr>
          <a:xfrm>
            <a:off x="7734300" y="1943100"/>
            <a:ext cx="2876550" cy="57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31447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pwd 應該在 /app</a:t>
            </a:r>
          </a:p>
        </p:txBody>
      </p:sp>
      <p:sp>
        <p:nvSpPr>
          <p:cNvPr id="11" name="">
            <a:extLst>
              <a:ext uri="{FF2B5EF4-FFF2-40B4-BE49-F238E27FC236}">
                <ns2:creationId id="{81588FE9-56C7-4B87-8C1C-E28A2A65FF1E}"/>
              </a:ext>
            </a:extLst>
          </p:cNvPr>
          <p:cNvSpPr>
            <a:spLocks noGrp="1"/>
          </p:cNvSpPr>
          <p:nvPr/>
        </p:nvSpPr>
        <p:spPr>
          <a:xfrm>
            <a:off x="7505700" y="2381250"/>
            <a:ext cx="3333750" cy="66675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172E6372-FB9E-4FC6-8637-11D83B261C74}"/>
              </a:ext>
            </a:extLst>
          </p:cNvPr>
          <p:cNvSpPr>
            <a:spLocks noGrp="1"/>
          </p:cNvSpPr>
          <p:nvPr/>
        </p:nvSpPr>
        <p:spPr>
          <a:xfrm>
            <a:off x="7734300" y="257175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COPY</a:t>
            </a:r>
          </a:p>
        </p:txBody>
      </p:sp>
      <p:sp>
        <p:nvSpPr>
          <p:cNvPr id="13" name="">
            <a:extLst>
              <a:ext uri="{FF2B5EF4-FFF2-40B4-BE49-F238E27FC236}">
                <ns2:creationId id="{0DD408F7-BD36-4D68-A2E0-BAA739AB8CDE}"/>
              </a:ext>
            </a:extLst>
          </p:cNvPr>
          <p:cNvSpPr>
            <a:spLocks noGrp="1"/>
          </p:cNvSpPr>
          <p:nvPr/>
        </p:nvSpPr>
        <p:spPr>
          <a:xfrm>
            <a:off x="7734300" y="2800350"/>
            <a:ext cx="2876550" cy="57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31447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app.py 與 requirements.txt 存在</a:t>
            </a:r>
          </a:p>
        </p:txBody>
      </p:sp>
      <p:sp>
        <p:nvSpPr>
          <p:cNvPr id="14" name="">
            <a:extLst>
              <a:ext uri="{FF2B5EF4-FFF2-40B4-BE49-F238E27FC236}">
                <ns2:creationId id="{7BA4EE6E-F75A-4500-A629-FB2F9610C4B8}"/>
              </a:ext>
            </a:extLst>
          </p:cNvPr>
          <p:cNvSpPr>
            <a:spLocks noGrp="1"/>
          </p:cNvSpPr>
          <p:nvPr/>
        </p:nvSpPr>
        <p:spPr>
          <a:xfrm>
            <a:off x="7505700" y="3238500"/>
            <a:ext cx="3333750" cy="666750"/>
          </a:xfrm>
          <a:prstGeom prst="roundRect">
            <a:avLst>
              <a:gd name="adj" fmla="val 17143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1E72B693-FA8D-4885-AA61-451F9CC26048}"/>
              </a:ext>
            </a:extLst>
          </p:cNvPr>
          <p:cNvSpPr>
            <a:spLocks noGrp="1"/>
          </p:cNvSpPr>
          <p:nvPr/>
        </p:nvSpPr>
        <p:spPr>
          <a:xfrm>
            <a:off x="7734300" y="342900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</p:txBody>
      </p:sp>
      <p:sp>
        <p:nvSpPr>
          <p:cNvPr id="16" name="">
            <a:extLst>
              <a:ext uri="{FF2B5EF4-FFF2-40B4-BE49-F238E27FC236}">
                <ns2:creationId id="{C4D5356D-A173-446C-91E2-A5ED5D676034}"/>
              </a:ext>
            </a:extLst>
          </p:cNvPr>
          <p:cNvSpPr>
            <a:spLocks noGrp="1"/>
          </p:cNvSpPr>
          <p:nvPr/>
        </p:nvSpPr>
        <p:spPr>
          <a:xfrm>
            <a:off x="7734300" y="3657600"/>
            <a:ext cx="2876550" cy="57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31447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已安裝</a:t>
            </a:r>
          </a:p>
        </p:txBody>
      </p:sp>
      <p:sp>
        <p:nvSpPr>
          <p:cNvPr id="17" name="">
            <a:extLst>
              <a:ext uri="{FF2B5EF4-FFF2-40B4-BE49-F238E27FC236}">
                <ns2:creationId id="{35F52AED-19FC-4CDB-8FC6-8B97A162E8B1}"/>
              </a:ext>
            </a:extLst>
          </p:cNvPr>
          <p:cNvSpPr>
            <a:spLocks noGrp="1"/>
          </p:cNvSpPr>
          <p:nvPr/>
        </p:nvSpPr>
        <p:spPr>
          <a:xfrm>
            <a:off x="7505700" y="4095750"/>
            <a:ext cx="3333750" cy="66675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09AF4B52-1013-473A-A68E-066221506C0B}"/>
              </a:ext>
            </a:extLst>
          </p:cNvPr>
          <p:cNvSpPr>
            <a:spLocks noGrp="1"/>
          </p:cNvSpPr>
          <p:nvPr/>
        </p:nvSpPr>
        <p:spPr>
          <a:xfrm>
            <a:off x="7734300" y="428625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USER</a:t>
            </a:r>
          </a:p>
        </p:txBody>
      </p:sp>
      <p:sp>
        <p:nvSpPr>
          <p:cNvPr id="19" name="">
            <a:extLst>
              <a:ext uri="{FF2B5EF4-FFF2-40B4-BE49-F238E27FC236}">
                <ns2:creationId id="{06A9E931-1EBF-44E7-B407-3A1395FAE3AC}"/>
              </a:ext>
            </a:extLst>
          </p:cNvPr>
          <p:cNvSpPr>
            <a:spLocks noGrp="1"/>
          </p:cNvSpPr>
          <p:nvPr/>
        </p:nvSpPr>
        <p:spPr>
          <a:xfrm>
            <a:off x="7734300" y="4514850"/>
            <a:ext cx="2876550" cy="57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31447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若設定 appuser，whoami 應顯示 appuser</a:t>
            </a:r>
          </a:p>
        </p:txBody>
      </p:sp>
      <p:sp>
        <p:nvSpPr>
          <p:cNvPr id="20" name="">
            <a:extLst>
              <a:ext uri="{FF2B5EF4-FFF2-40B4-BE49-F238E27FC236}">
                <ns2:creationId id="{2A500C40-5512-4AB2-8D77-2BACAAAAF90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816BB168-FD57-47E8-B0F5-DB30E620582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2" name="">
            <a:extLst>
              <a:ext uri="{FF2B5EF4-FFF2-40B4-BE49-F238E27FC236}">
                <ns2:creationId id="{FFDA01BA-C8B0-4EE4-B03C-773188CC2DF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ns3:creationId val="1273706388"/>
      </p:ext>
    </p:extLst>
  </p:cSld>
</p:sld>
</file>

<file path=ppt/slides/slide1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8C492C3-A6CF-4B3D-A085-63E466DAB9D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PORTABILITY</a:t>
            </a:r>
          </a:p>
        </p:txBody>
      </p:sp>
      <p:sp>
        <p:nvSpPr>
          <p:cNvPr id="2" name="">
            <a:extLst>
              <a:ext uri="{FF2B5EF4-FFF2-40B4-BE49-F238E27FC236}">
                <ns2:creationId id="{F90749C8-40C1-46B3-A03E-27038C3252F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save/load 與 export/import 不一樣</a:t>
            </a:r>
          </a:p>
        </p:txBody>
      </p:sp>
      <p:sp>
        <p:nvSpPr>
          <p:cNvPr id="3" name="">
            <a:extLst>
              <a:ext uri="{FF2B5EF4-FFF2-40B4-BE49-F238E27FC236}">
                <ns2:creationId id="{518360FF-2C47-4A49-9740-E492EC02DC10}"/>
              </a:ext>
            </a:extLst>
          </p:cNvPr>
          <p:cNvSpPr>
            <a:spLocks noGrp="1"/>
          </p:cNvSpPr>
          <p:nvPr/>
        </p:nvSpPr>
        <p:spPr>
          <a:xfrm>
            <a:off x="1123950" y="1657350"/>
            <a:ext cx="4572000" cy="2476500"/>
          </a:xfrm>
          <a:prstGeom prst="roundRect">
            <a:avLst>
              <a:gd name="adj" fmla="val 461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3A09D0AF-B0F8-4D86-9AB6-9E2080B5CF1E}"/>
              </a:ext>
            </a:extLst>
          </p:cNvPr>
          <p:cNvSpPr>
            <a:spLocks noGrp="1"/>
          </p:cNvSpPr>
          <p:nvPr/>
        </p:nvSpPr>
        <p:spPr>
          <a:xfrm>
            <a:off x="1352550" y="1847850"/>
            <a:ext cx="4114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save / load</a:t>
            </a:r>
          </a:p>
        </p:txBody>
      </p:sp>
      <p:sp>
        <p:nvSpPr>
          <p:cNvPr id="5" name="">
            <a:extLst>
              <a:ext uri="{FF2B5EF4-FFF2-40B4-BE49-F238E27FC236}">
                <ns2:creationId id="{3CACB10C-496F-4103-8F80-08D3D4138258}"/>
              </a:ext>
            </a:extLst>
          </p:cNvPr>
          <p:cNvSpPr>
            <a:spLocks noGrp="1"/>
          </p:cNvSpPr>
          <p:nvPr/>
        </p:nvSpPr>
        <p:spPr>
          <a:xfrm>
            <a:off x="1352550" y="2457450"/>
            <a:ext cx="41148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保存 Image。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會保留 layers、tag、history。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適合把建好的 Image 搬到另一台機器。</a:t>
            </a:r>
          </a:p>
        </p:txBody>
      </p:sp>
      <p:sp>
        <p:nvSpPr>
          <p:cNvPr id="6" name="">
            <a:extLst>
              <a:ext uri="{FF2B5EF4-FFF2-40B4-BE49-F238E27FC236}">
                <ns2:creationId id="{F848DAFB-A6D2-4A44-9DE2-B002C36AF72D}"/>
              </a:ext>
            </a:extLst>
          </p:cNvPr>
          <p:cNvSpPr>
            <a:spLocks noGrp="1"/>
          </p:cNvSpPr>
          <p:nvPr/>
        </p:nvSpPr>
        <p:spPr>
          <a:xfrm>
            <a:off x="6496050" y="1657350"/>
            <a:ext cx="4572000" cy="2476500"/>
          </a:xfrm>
          <a:prstGeom prst="roundRect">
            <a:avLst>
              <a:gd name="adj" fmla="val 4615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3D196765-36B3-4B88-8AAC-A9F231F540E5}"/>
              </a:ext>
            </a:extLst>
          </p:cNvPr>
          <p:cNvSpPr>
            <a:spLocks noGrp="1"/>
          </p:cNvSpPr>
          <p:nvPr/>
        </p:nvSpPr>
        <p:spPr>
          <a:xfrm>
            <a:off x="6724650" y="1847850"/>
            <a:ext cx="4114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export / import</a:t>
            </a:r>
          </a:p>
        </p:txBody>
      </p:sp>
      <p:sp>
        <p:nvSpPr>
          <p:cNvPr id="8" name="">
            <a:extLst>
              <a:ext uri="{FF2B5EF4-FFF2-40B4-BE49-F238E27FC236}">
                <ns2:creationId id="{28095700-9DD9-45D1-B7D2-289A680FD41A}"/>
              </a:ext>
            </a:extLst>
          </p:cNvPr>
          <p:cNvSpPr>
            <a:spLocks noGrp="1"/>
          </p:cNvSpPr>
          <p:nvPr/>
        </p:nvSpPr>
        <p:spPr>
          <a:xfrm>
            <a:off x="6724650" y="2457450"/>
            <a:ext cx="41148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保存 Container 檔案系統。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不保留原本 Image 的 layer history。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較像把執行後的檔案系統打包。</a:t>
            </a:r>
          </a:p>
        </p:txBody>
      </p:sp>
      <p:sp>
        <p:nvSpPr>
          <p:cNvPr id="9" name="">
            <a:extLst>
              <a:ext uri="{FF2B5EF4-FFF2-40B4-BE49-F238E27FC236}">
                <ns2:creationId id="{4123C036-39F9-43CE-B4F7-878E6A426EDB}"/>
              </a:ext>
            </a:extLst>
          </p:cNvPr>
          <p:cNvSpPr>
            <a:spLocks noGrp="1"/>
          </p:cNvSpPr>
          <p:nvPr/>
        </p:nvSpPr>
        <p:spPr>
          <a:xfrm>
            <a:off x="2381250" y="4914900"/>
            <a:ext cx="7429500" cy="895350"/>
          </a:xfrm>
          <a:prstGeom prst="roundRect">
            <a:avLst>
              <a:gd name="adj" fmla="val 1063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0" name="">
            <a:extLst>
              <a:ext uri="{FF2B5EF4-FFF2-40B4-BE49-F238E27FC236}">
                <ns2:creationId id="{C5C0D661-AFD4-4072-A60C-66A3AA559DA0}"/>
              </a:ext>
            </a:extLst>
          </p:cNvPr>
          <p:cNvSpPr>
            <a:spLocks noGrp="1"/>
          </p:cNvSpPr>
          <p:nvPr/>
        </p:nvSpPr>
        <p:spPr>
          <a:xfrm>
            <a:off x="2552700" y="50768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F6608D93-09B2-436C-AE9F-13E8BFAF90C9}"/>
              </a:ext>
            </a:extLst>
          </p:cNvPr>
          <p:cNvSpPr>
            <a:spLocks noGrp="1"/>
          </p:cNvSpPr>
          <p:nvPr/>
        </p:nvSpPr>
        <p:spPr>
          <a:xfrm>
            <a:off x="2724150" y="50768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6C62F00E-CB26-48B6-94B1-75A1FE4AE871}"/>
              </a:ext>
            </a:extLst>
          </p:cNvPr>
          <p:cNvSpPr>
            <a:spLocks noGrp="1"/>
          </p:cNvSpPr>
          <p:nvPr/>
        </p:nvSpPr>
        <p:spPr>
          <a:xfrm>
            <a:off x="2895600" y="50768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7E9ED1DD-464E-4156-8EC7-1E07C46CB4A9}"/>
              </a:ext>
            </a:extLst>
          </p:cNvPr>
          <p:cNvSpPr>
            <a:spLocks noGrp="1"/>
          </p:cNvSpPr>
          <p:nvPr/>
        </p:nvSpPr>
        <p:spPr>
          <a:xfrm>
            <a:off x="2590800" y="5334000"/>
            <a:ext cx="7010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5559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save my-flask-app:v3 -o my-flask-app.tar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load -i my-flask-app.tar</a:t>
            </a:r>
          </a:p>
        </p:txBody>
      </p:sp>
      <p:sp>
        <p:nvSpPr>
          <p:cNvPr id="14" name="">
            <a:extLst>
              <a:ext uri="{FF2B5EF4-FFF2-40B4-BE49-F238E27FC236}">
                <ns2:creationId id="{9AD12D4F-03D9-419B-A36B-45B38C30333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20171904-E732-477C-845E-BD3FD8779BC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>
              <a:ext uri="{FF2B5EF4-FFF2-40B4-BE49-F238E27FC236}">
                <ns2:creationId id="{C371B497-8AFC-4797-AFD9-A4E2D1919E9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ns3:creationId val="1324744674"/>
      </p:ext>
    </p:extLst>
  </p:cSld>
</p:sld>
</file>

<file path=ppt/slides/slide1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B3D90E38-3499-45CA-958A-2BC97E53492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REGISTRY FLOW</a:t>
            </a:r>
          </a:p>
        </p:txBody>
      </p:sp>
      <p:sp>
        <p:nvSpPr>
          <p:cNvPr id="2" name="">
            <a:extLst>
              <a:ext uri="{FF2B5EF4-FFF2-40B4-BE49-F238E27FC236}">
                <ns2:creationId id="{E40C4978-E532-410A-BB17-A16BA6DFCEA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把 Image 發佈到 Docker Hub</a:t>
            </a:r>
          </a:p>
        </p:txBody>
      </p:sp>
      <p:sp>
        <p:nvSpPr>
          <p:cNvPr id="3" name="">
            <a:extLst>
              <a:ext uri="{FF2B5EF4-FFF2-40B4-BE49-F238E27FC236}">
                <ns2:creationId id="{65263E40-9D83-459E-A6CB-CB4F38A6ADFB}"/>
              </a:ext>
            </a:extLst>
          </p:cNvPr>
          <p:cNvSpPr>
            <a:spLocks noGrp="1"/>
          </p:cNvSpPr>
          <p:nvPr/>
        </p:nvSpPr>
        <p:spPr>
          <a:xfrm>
            <a:off x="857250" y="2209800"/>
            <a:ext cx="2247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1B408115-FA35-4B6C-A622-AD3E00995A6D}"/>
              </a:ext>
            </a:extLst>
          </p:cNvPr>
          <p:cNvSpPr>
            <a:spLocks noGrp="1"/>
          </p:cNvSpPr>
          <p:nvPr/>
        </p:nvSpPr>
        <p:spPr>
          <a:xfrm>
            <a:off x="1066800" y="2514600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11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login</a:t>
            </a:r>
          </a:p>
        </p:txBody>
      </p:sp>
      <p:sp>
        <p:nvSpPr>
          <p:cNvPr id="5" name="">
            <a:extLst>
              <a:ext uri="{FF2B5EF4-FFF2-40B4-BE49-F238E27FC236}">
                <ns2:creationId id="{C28C9FE6-AF8F-4784-970A-203F56ECB177}"/>
              </a:ext>
            </a:extLst>
          </p:cNvPr>
          <p:cNvSpPr>
            <a:spLocks noGrp="1"/>
          </p:cNvSpPr>
          <p:nvPr/>
        </p:nvSpPr>
        <p:spPr>
          <a:xfrm>
            <a:off x="1066800" y="3067050"/>
            <a:ext cx="1828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login</a:t>
            </a:r>
          </a:p>
        </p:txBody>
      </p:sp>
      <p:sp>
        <p:nvSpPr>
          <p:cNvPr id="6" name="">
            <a:extLst>
              <a:ext uri="{FF2B5EF4-FFF2-40B4-BE49-F238E27FC236}">
                <ns2:creationId id="{1FC28CC6-3CBF-45D0-A183-742174B66AA4}"/>
              </a:ext>
            </a:extLst>
          </p:cNvPr>
          <p:cNvSpPr>
            <a:spLocks noGrp="1"/>
          </p:cNvSpPr>
          <p:nvPr/>
        </p:nvSpPr>
        <p:spPr>
          <a:xfrm>
            <a:off x="3238500" y="2762250"/>
            <a:ext cx="457200" cy="2476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8E3AC25E-ABC3-4D10-B881-0AA79C748CFB}"/>
              </a:ext>
            </a:extLst>
          </p:cNvPr>
          <p:cNvSpPr>
            <a:spLocks noGrp="1"/>
          </p:cNvSpPr>
          <p:nvPr/>
        </p:nvSpPr>
        <p:spPr>
          <a:xfrm>
            <a:off x="3638550" y="2209800"/>
            <a:ext cx="2247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03647751-CA03-410C-8D4F-1C0015FB2E8C}"/>
              </a:ext>
            </a:extLst>
          </p:cNvPr>
          <p:cNvSpPr>
            <a:spLocks noGrp="1"/>
          </p:cNvSpPr>
          <p:nvPr/>
        </p:nvSpPr>
        <p:spPr>
          <a:xfrm>
            <a:off x="3848100" y="2514600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11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tag</a:t>
            </a:r>
          </a:p>
        </p:txBody>
      </p:sp>
      <p:sp>
        <p:nvSpPr>
          <p:cNvPr id="9" name="">
            <a:extLst>
              <a:ext uri="{FF2B5EF4-FFF2-40B4-BE49-F238E27FC236}">
                <ns2:creationId id="{A3A2D832-7669-45C4-97C2-7FB225C8830D}"/>
              </a:ext>
            </a:extLst>
          </p:cNvPr>
          <p:cNvSpPr>
            <a:spLocks noGrp="1"/>
          </p:cNvSpPr>
          <p:nvPr/>
        </p:nvSpPr>
        <p:spPr>
          <a:xfrm>
            <a:off x="3848100" y="3067050"/>
            <a:ext cx="1828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tag my-flask-app:v3 帳號/my-flask-app:v1</a:t>
            </a:r>
          </a:p>
        </p:txBody>
      </p:sp>
      <p:sp>
        <p:nvSpPr>
          <p:cNvPr id="10" name="">
            <a:extLst>
              <a:ext uri="{FF2B5EF4-FFF2-40B4-BE49-F238E27FC236}">
                <ns2:creationId id="{A59866B9-F5FF-4F50-A9C0-EC93630D0180}"/>
              </a:ext>
            </a:extLst>
          </p:cNvPr>
          <p:cNvSpPr>
            <a:spLocks noGrp="1"/>
          </p:cNvSpPr>
          <p:nvPr/>
        </p:nvSpPr>
        <p:spPr>
          <a:xfrm>
            <a:off x="6019800" y="2762250"/>
            <a:ext cx="457200" cy="2476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86AC0913-2AC4-4D30-B441-F33277D5AC3F}"/>
              </a:ext>
            </a:extLst>
          </p:cNvPr>
          <p:cNvSpPr>
            <a:spLocks noGrp="1"/>
          </p:cNvSpPr>
          <p:nvPr/>
        </p:nvSpPr>
        <p:spPr>
          <a:xfrm>
            <a:off x="6419850" y="2209800"/>
            <a:ext cx="2247900" cy="1466850"/>
          </a:xfrm>
          <a:prstGeom prst="roundRect">
            <a:avLst>
              <a:gd name="adj" fmla="val 7792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03B3A091-8112-4CFB-A92F-81E22744DBD7}"/>
              </a:ext>
            </a:extLst>
          </p:cNvPr>
          <p:cNvSpPr>
            <a:spLocks noGrp="1"/>
          </p:cNvSpPr>
          <p:nvPr/>
        </p:nvSpPr>
        <p:spPr>
          <a:xfrm>
            <a:off x="6629400" y="2514600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11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push</a:t>
            </a:r>
          </a:p>
        </p:txBody>
      </p:sp>
      <p:sp>
        <p:nvSpPr>
          <p:cNvPr id="13" name="">
            <a:extLst>
              <a:ext uri="{FF2B5EF4-FFF2-40B4-BE49-F238E27FC236}">
                <ns2:creationId id="{F20847DA-91B4-45D3-9B66-92898C07141B}"/>
              </a:ext>
            </a:extLst>
          </p:cNvPr>
          <p:cNvSpPr>
            <a:spLocks noGrp="1"/>
          </p:cNvSpPr>
          <p:nvPr/>
        </p:nvSpPr>
        <p:spPr>
          <a:xfrm>
            <a:off x="6629400" y="3067050"/>
            <a:ext cx="1828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push 帳號/my-flask-app:v1</a:t>
            </a:r>
          </a:p>
        </p:txBody>
      </p:sp>
      <p:sp>
        <p:nvSpPr>
          <p:cNvPr id="14" name="">
            <a:extLst>
              <a:ext uri="{FF2B5EF4-FFF2-40B4-BE49-F238E27FC236}">
                <ns2:creationId id="{C11A957B-73D7-47CB-8D68-AB40DD0EC6E4}"/>
              </a:ext>
            </a:extLst>
          </p:cNvPr>
          <p:cNvSpPr>
            <a:spLocks noGrp="1"/>
          </p:cNvSpPr>
          <p:nvPr/>
        </p:nvSpPr>
        <p:spPr>
          <a:xfrm>
            <a:off x="8801100" y="2762250"/>
            <a:ext cx="457200" cy="2476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8AEF14C9-9F46-4C9C-9E5F-E66DEBA682D5}"/>
              </a:ext>
            </a:extLst>
          </p:cNvPr>
          <p:cNvSpPr>
            <a:spLocks noGrp="1"/>
          </p:cNvSpPr>
          <p:nvPr/>
        </p:nvSpPr>
        <p:spPr>
          <a:xfrm>
            <a:off x="9201150" y="2209800"/>
            <a:ext cx="2247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6" name="">
            <a:extLst>
              <a:ext uri="{FF2B5EF4-FFF2-40B4-BE49-F238E27FC236}">
                <ns2:creationId id="{B9471B1B-2E44-4323-AAD3-100CC2979515}"/>
              </a:ext>
            </a:extLst>
          </p:cNvPr>
          <p:cNvSpPr>
            <a:spLocks noGrp="1"/>
          </p:cNvSpPr>
          <p:nvPr/>
        </p:nvSpPr>
        <p:spPr>
          <a:xfrm>
            <a:off x="9410700" y="2514600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11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pull</a:t>
            </a:r>
          </a:p>
        </p:txBody>
      </p:sp>
      <p:sp>
        <p:nvSpPr>
          <p:cNvPr id="17" name="">
            <a:extLst>
              <a:ext uri="{FF2B5EF4-FFF2-40B4-BE49-F238E27FC236}">
                <ns2:creationId id="{07682FAC-844B-4D61-B9B5-8EB45AE2E12F}"/>
              </a:ext>
            </a:extLst>
          </p:cNvPr>
          <p:cNvSpPr>
            <a:spLocks noGrp="1"/>
          </p:cNvSpPr>
          <p:nvPr/>
        </p:nvSpPr>
        <p:spPr>
          <a:xfrm>
            <a:off x="9410700" y="3067050"/>
            <a:ext cx="1828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pull 帳號/my-flask-app:v1</a:t>
            </a:r>
          </a:p>
        </p:txBody>
      </p:sp>
      <p:sp>
        <p:nvSpPr>
          <p:cNvPr id="18" name="">
            <a:extLst>
              <a:ext uri="{FF2B5EF4-FFF2-40B4-BE49-F238E27FC236}">
                <ns2:creationId id="{FE4F559A-EA51-477D-893D-6BA8F518E673}"/>
              </a:ext>
            </a:extLst>
          </p:cNvPr>
          <p:cNvSpPr>
            <a:spLocks noGrp="1"/>
          </p:cNvSpPr>
          <p:nvPr/>
        </p:nvSpPr>
        <p:spPr>
          <a:xfrm>
            <a:off x="1581150" y="4762500"/>
            <a:ext cx="9029700" cy="590550"/>
          </a:xfrm>
          <a:prstGeom prst="roundRect">
            <a:avLst>
              <a:gd name="adj" fmla="val 16129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9" name="">
            <a:extLst>
              <a:ext uri="{FF2B5EF4-FFF2-40B4-BE49-F238E27FC236}">
                <ns2:creationId id="{96BAE04F-E0B4-4225-A02A-69AAD9C915B7}"/>
              </a:ext>
            </a:extLst>
          </p:cNvPr>
          <p:cNvSpPr>
            <a:spLocks noGrp="1"/>
          </p:cNvSpPr>
          <p:nvPr/>
        </p:nvSpPr>
        <p:spPr>
          <a:xfrm>
            <a:off x="1924050" y="4953000"/>
            <a:ext cx="8343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847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提醒：不要把密碼、token、.env 或私密設定 bake 進 Image。</a:t>
            </a:r>
          </a:p>
        </p:txBody>
      </p:sp>
      <p:sp>
        <p:nvSpPr>
          <p:cNvPr id="20" name="">
            <a:extLst>
              <a:ext uri="{FF2B5EF4-FFF2-40B4-BE49-F238E27FC236}">
                <ns2:creationId id="{97BD95C2-4361-43D0-83B5-F035C0406D1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7AEF8DB4-9E9D-4EBB-98F2-8AFA27CDEDC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2" name="">
            <a:extLst>
              <a:ext uri="{FF2B5EF4-FFF2-40B4-BE49-F238E27FC236}">
                <ns2:creationId id="{13967AC6-C962-43CC-8B57-4ACC86CA56B3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ns3:creationId val="1293642281"/>
      </p:ext>
    </p:extLst>
  </p:cSld>
</p:sld>
</file>

<file path=ppt/slides/slide1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B918F8B3-110E-4C55-98B6-5C0246E4D59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">
            <a:extLst>
              <a:ext uri="{FF2B5EF4-FFF2-40B4-BE49-F238E27FC236}">
                <ns2:creationId id="{1EEBA34F-BD94-4BC5-9D8F-BFBDB6BB752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P3：推上 Docker Hub</a:t>
            </a:r>
          </a:p>
        </p:txBody>
      </p:sp>
      <p:sp>
        <p:nvSpPr>
          <p:cNvPr id="3" name="">
            <a:extLst>
              <a:ext uri="{FF2B5EF4-FFF2-40B4-BE49-F238E27FC236}">
                <ns2:creationId id="{223CF254-8AF5-40E2-9E8B-BE0B049429DF}"/>
              </a:ext>
            </a:extLst>
          </p:cNvPr>
          <p:cNvSpPr>
            <a:spLocks noGrp="1"/>
          </p:cNvSpPr>
          <p:nvPr/>
        </p:nvSpPr>
        <p:spPr>
          <a:xfrm>
            <a:off x="800100" y="1428750"/>
            <a:ext cx="6477000" cy="3714750"/>
          </a:xfrm>
          <a:prstGeom prst="roundRect">
            <a:avLst>
              <a:gd name="adj" fmla="val 256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A3C14AA6-8F7B-425F-B119-AB0F74FC983F}"/>
              </a:ext>
            </a:extLst>
          </p:cNvPr>
          <p:cNvSpPr>
            <a:spLocks noGrp="1"/>
          </p:cNvSpPr>
          <p:nvPr/>
        </p:nvSpPr>
        <p:spPr>
          <a:xfrm>
            <a:off x="97155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09F7E1DF-01B6-493A-A9A8-F757EE77E7BF}"/>
              </a:ext>
            </a:extLst>
          </p:cNvPr>
          <p:cNvSpPr>
            <a:spLocks noGrp="1"/>
          </p:cNvSpPr>
          <p:nvPr/>
        </p:nvSpPr>
        <p:spPr>
          <a:xfrm>
            <a:off x="114300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5C8769B0-4CA7-4182-A82C-A8C6457E9C28}"/>
              </a:ext>
            </a:extLst>
          </p:cNvPr>
          <p:cNvSpPr>
            <a:spLocks noGrp="1"/>
          </p:cNvSpPr>
          <p:nvPr/>
        </p:nvSpPr>
        <p:spPr>
          <a:xfrm>
            <a:off x="131445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0E7053C-D226-4370-8169-7751DE9FA33E}"/>
              </a:ext>
            </a:extLst>
          </p:cNvPr>
          <p:cNvSpPr>
            <a:spLocks noGrp="1"/>
          </p:cNvSpPr>
          <p:nvPr/>
        </p:nvSpPr>
        <p:spPr>
          <a:xfrm>
            <a:off x="1009650" y="1847850"/>
            <a:ext cx="6057900" cy="3162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login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tag my-first-image yourname/my-first-image:v1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push yourname/my-first-image:v1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rmi yourname/my-first-image:v1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yourname/my-first-image:v1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yourname/my-first-image:v1</a:t>
            </a:r>
          </a:p>
        </p:txBody>
      </p:sp>
      <p:sp>
        <p:nvSpPr>
          <p:cNvPr id="8" name="">
            <a:extLst>
              <a:ext uri="{FF2B5EF4-FFF2-40B4-BE49-F238E27FC236}">
                <ns2:creationId id="{121AD0F0-7789-4959-8B8C-4C87FD12B7A4}"/>
              </a:ext>
            </a:extLst>
          </p:cNvPr>
          <p:cNvSpPr>
            <a:spLocks noGrp="1"/>
          </p:cNvSpPr>
          <p:nvPr/>
        </p:nvSpPr>
        <p:spPr>
          <a:xfrm>
            <a:off x="7905750" y="1962150"/>
            <a:ext cx="3048000" cy="1943100"/>
          </a:xfrm>
          <a:prstGeom prst="roundRect">
            <a:avLst>
              <a:gd name="adj" fmla="val 5882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928A8255-0F5B-40C6-963A-054B16B5ACAC}"/>
              </a:ext>
            </a:extLst>
          </p:cNvPr>
          <p:cNvSpPr>
            <a:spLocks noGrp="1"/>
          </p:cNvSpPr>
          <p:nvPr/>
        </p:nvSpPr>
        <p:spPr>
          <a:xfrm>
            <a:off x="8134350" y="21526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完成標準</a:t>
            </a:r>
          </a:p>
        </p:txBody>
      </p:sp>
      <p:sp>
        <p:nvSpPr>
          <p:cNvPr id="10" name="">
            <a:extLst>
              <a:ext uri="{FF2B5EF4-FFF2-40B4-BE49-F238E27FC236}">
                <ns2:creationId id="{2B356A96-516C-4C34-BBAD-9B1D89EE4799}"/>
              </a:ext>
            </a:extLst>
          </p:cNvPr>
          <p:cNvSpPr>
            <a:spLocks noGrp="1"/>
          </p:cNvSpPr>
          <p:nvPr/>
        </p:nvSpPr>
        <p:spPr>
          <a:xfrm>
            <a:off x="813435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Docker Hub 網頁看得到 repository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本機刪除後可以 pull 回來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run 後仍能看到正確輸出</a:t>
            </a:r>
          </a:p>
        </p:txBody>
      </p:sp>
      <p:sp>
        <p:nvSpPr>
          <p:cNvPr id="11" name="">
            <a:extLst>
              <a:ext uri="{FF2B5EF4-FFF2-40B4-BE49-F238E27FC236}">
                <ns2:creationId id="{C978CF96-2FBF-45B2-AF6A-D7ECC54DFDCF}"/>
              </a:ext>
            </a:extLst>
          </p:cNvPr>
          <p:cNvSpPr>
            <a:spLocks noGrp="1"/>
          </p:cNvSpPr>
          <p:nvPr/>
        </p:nvSpPr>
        <p:spPr>
          <a:xfrm>
            <a:off x="2000250" y="5581650"/>
            <a:ext cx="8191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35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2E8F0"/>
                </a:solidFill>
                <a:latin typeface="Aptos"/>
                <a:ea typeface="Aptos"/>
                <a:cs typeface="Aptos"/>
              </a:rPr>
              <a:t>yourname 要換成自己的 Docker Hub 帳號。</a:t>
            </a:r>
          </a:p>
        </p:txBody>
      </p:sp>
      <p:sp>
        <p:nvSpPr>
          <p:cNvPr id="12" name="">
            <a:extLst>
              <a:ext uri="{FF2B5EF4-FFF2-40B4-BE49-F238E27FC236}">
                <ns2:creationId id="{BC31AF31-2043-4F54-BE20-5B7B26E9A93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E1E0657F-CDED-4181-BFEA-522692F401B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>
              <a:ext uri="{FF2B5EF4-FFF2-40B4-BE49-F238E27FC236}">
                <ns2:creationId id="{1B08CAEF-4169-4522-882F-8E5A833A099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ns3:creationId val="2035742196"/>
      </p:ext>
    </p:extLst>
  </p:cSld>
</p:sld>
</file>

<file path=ppt/slides/slide1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6A557DB0-CA95-46EB-92B5-C29332DE5D7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MULTI-CONTAINER DESIGN</a:t>
            </a:r>
          </a:p>
        </p:txBody>
      </p:sp>
      <p:sp>
        <p:nvSpPr>
          <p:cNvPr id="2" name="">
            <a:extLst>
              <a:ext uri="{FF2B5EF4-FFF2-40B4-BE49-F238E27FC236}">
                <ns2:creationId id="{7AFA7974-7D63-479F-87E9-408A30A99A0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為什麼要把服務拆到不同容器？</a:t>
            </a:r>
          </a:p>
        </p:txBody>
      </p:sp>
      <p:sp>
        <p:nvSpPr>
          <p:cNvPr id="3" name="">
            <a:extLst>
              <a:ext uri="{FF2B5EF4-FFF2-40B4-BE49-F238E27FC236}">
                <ns2:creationId id="{2D985612-F612-48EF-BEFF-F3E59C082E0F}"/>
              </a:ext>
            </a:extLst>
          </p:cNvPr>
          <p:cNvSpPr>
            <a:spLocks noGrp="1"/>
          </p:cNvSpPr>
          <p:nvPr/>
        </p:nvSpPr>
        <p:spPr>
          <a:xfrm>
            <a:off x="1257300" y="1657350"/>
            <a:ext cx="4191000" cy="1371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DD24A2E1-3DCB-4B29-BDED-20C4384F1A2F}"/>
              </a:ext>
            </a:extLst>
          </p:cNvPr>
          <p:cNvSpPr>
            <a:spLocks noGrp="1"/>
          </p:cNvSpPr>
          <p:nvPr/>
        </p:nvSpPr>
        <p:spPr>
          <a:xfrm>
            <a:off x="1485900" y="18478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單一責任</a:t>
            </a:r>
          </a:p>
        </p:txBody>
      </p:sp>
      <p:sp>
        <p:nvSpPr>
          <p:cNvPr id="5" name="">
            <a:extLst>
              <a:ext uri="{FF2B5EF4-FFF2-40B4-BE49-F238E27FC236}">
                <ns2:creationId id="{E7DD0C59-7E6C-46BE-AD17-21D374802C3A}"/>
              </a:ext>
            </a:extLst>
          </p:cNvPr>
          <p:cNvSpPr>
            <a:spLocks noGrp="1"/>
          </p:cNvSpPr>
          <p:nvPr/>
        </p:nvSpPr>
        <p:spPr>
          <a:xfrm>
            <a:off x="1485900" y="2381250"/>
            <a:ext cx="3733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管應用，MySQL 管資料庫</a:t>
            </a:r>
          </a:p>
        </p:txBody>
      </p:sp>
      <p:sp>
        <p:nvSpPr>
          <p:cNvPr id="6" name="">
            <a:extLst>
              <a:ext uri="{FF2B5EF4-FFF2-40B4-BE49-F238E27FC236}">
                <ns2:creationId id="{006A9875-3F82-4CA3-8F80-404703C6FC8D}"/>
              </a:ext>
            </a:extLst>
          </p:cNvPr>
          <p:cNvSpPr>
            <a:spLocks noGrp="1"/>
          </p:cNvSpPr>
          <p:nvPr/>
        </p:nvSpPr>
        <p:spPr>
          <a:xfrm>
            <a:off x="6743700" y="1657350"/>
            <a:ext cx="4191000" cy="1371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414DFBFB-CF33-4C49-BB32-48C1137777C4}"/>
              </a:ext>
            </a:extLst>
          </p:cNvPr>
          <p:cNvSpPr>
            <a:spLocks noGrp="1"/>
          </p:cNvSpPr>
          <p:nvPr/>
        </p:nvSpPr>
        <p:spPr>
          <a:xfrm>
            <a:off x="6972300" y="18478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獨立升級</a:t>
            </a:r>
          </a:p>
        </p:txBody>
      </p:sp>
      <p:sp>
        <p:nvSpPr>
          <p:cNvPr id="8" name="">
            <a:extLst>
              <a:ext uri="{FF2B5EF4-FFF2-40B4-BE49-F238E27FC236}">
                <ns2:creationId id="{53196534-09A4-46F4-891C-053D65C177EC}"/>
              </a:ext>
            </a:extLst>
          </p:cNvPr>
          <p:cNvSpPr>
            <a:spLocks noGrp="1"/>
          </p:cNvSpPr>
          <p:nvPr/>
        </p:nvSpPr>
        <p:spPr>
          <a:xfrm>
            <a:off x="6972300" y="2381250"/>
            <a:ext cx="3733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Web app 可重建，不影響資料庫版本</a:t>
            </a:r>
          </a:p>
        </p:txBody>
      </p:sp>
      <p:sp>
        <p:nvSpPr>
          <p:cNvPr id="9" name="">
            <a:extLst>
              <a:ext uri="{FF2B5EF4-FFF2-40B4-BE49-F238E27FC236}">
                <ns2:creationId id="{E621F695-7982-4A48-B2FD-7EA85036A0E9}"/>
              </a:ext>
            </a:extLst>
          </p:cNvPr>
          <p:cNvSpPr>
            <a:spLocks noGrp="1"/>
          </p:cNvSpPr>
          <p:nvPr/>
        </p:nvSpPr>
        <p:spPr>
          <a:xfrm>
            <a:off x="1257300" y="3676650"/>
            <a:ext cx="4191000" cy="1371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E27BB6D2-B30F-48C0-AD34-3938ADFBFDB8}"/>
              </a:ext>
            </a:extLst>
          </p:cNvPr>
          <p:cNvSpPr>
            <a:spLocks noGrp="1"/>
          </p:cNvSpPr>
          <p:nvPr/>
        </p:nvSpPr>
        <p:spPr>
          <a:xfrm>
            <a:off x="1485900" y="38671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獨立資源</a:t>
            </a:r>
          </a:p>
        </p:txBody>
      </p:sp>
      <p:sp>
        <p:nvSpPr>
          <p:cNvPr id="11" name="">
            <a:extLst>
              <a:ext uri="{FF2B5EF4-FFF2-40B4-BE49-F238E27FC236}">
                <ns2:creationId id="{9021EA07-3A5C-4B37-BC11-003B7B83E54E}"/>
              </a:ext>
            </a:extLst>
          </p:cNvPr>
          <p:cNvSpPr>
            <a:spLocks noGrp="1"/>
          </p:cNvSpPr>
          <p:nvPr/>
        </p:nvSpPr>
        <p:spPr>
          <a:xfrm>
            <a:off x="1485900" y="4400550"/>
            <a:ext cx="3733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資料庫通常需要更多 CPU/Memory</a:t>
            </a:r>
          </a:p>
        </p:txBody>
      </p:sp>
      <p:sp>
        <p:nvSpPr>
          <p:cNvPr id="12" name="">
            <a:extLst>
              <a:ext uri="{FF2B5EF4-FFF2-40B4-BE49-F238E27FC236}">
                <ns2:creationId id="{81E3084C-5507-4B82-88B9-90FC4757F5EE}"/>
              </a:ext>
            </a:extLst>
          </p:cNvPr>
          <p:cNvSpPr>
            <a:spLocks noGrp="1"/>
          </p:cNvSpPr>
          <p:nvPr/>
        </p:nvSpPr>
        <p:spPr>
          <a:xfrm>
            <a:off x="6743700" y="3676650"/>
            <a:ext cx="4191000" cy="1371600"/>
          </a:xfrm>
          <a:prstGeom prst="roundRect">
            <a:avLst>
              <a:gd name="adj" fmla="val 8333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3FB8D2CC-D2A0-4733-97CE-3F8ED1071B00}"/>
              </a:ext>
            </a:extLst>
          </p:cNvPr>
          <p:cNvSpPr>
            <a:spLocks noGrp="1"/>
          </p:cNvSpPr>
          <p:nvPr/>
        </p:nvSpPr>
        <p:spPr>
          <a:xfrm>
            <a:off x="6972300" y="38671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更接近實務</a:t>
            </a:r>
          </a:p>
        </p:txBody>
      </p:sp>
      <p:sp>
        <p:nvSpPr>
          <p:cNvPr id="14" name="">
            <a:extLst>
              <a:ext uri="{FF2B5EF4-FFF2-40B4-BE49-F238E27FC236}">
                <ns2:creationId id="{BEFD8EB9-F678-4C11-A6EC-9C4428F3264C}"/>
              </a:ext>
            </a:extLst>
          </p:cNvPr>
          <p:cNvSpPr>
            <a:spLocks noGrp="1"/>
          </p:cNvSpPr>
          <p:nvPr/>
        </p:nvSpPr>
        <p:spPr>
          <a:xfrm>
            <a:off x="6972300" y="4400550"/>
            <a:ext cx="3733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服務間透過 network 溝通</a:t>
            </a:r>
          </a:p>
        </p:txBody>
      </p:sp>
      <p:sp>
        <p:nvSpPr>
          <p:cNvPr id="15" name="">
            <a:extLst>
              <a:ext uri="{FF2B5EF4-FFF2-40B4-BE49-F238E27FC236}">
                <ns2:creationId id="{A9E13932-E4DB-4714-8BF2-2075FD019F9E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28752FF1-515D-4514-AD5E-AF06F6F263F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7" name="">
            <a:extLst>
              <a:ext uri="{FF2B5EF4-FFF2-40B4-BE49-F238E27FC236}">
                <ns2:creationId id="{C37696E3-F4B7-43BD-AB03-0140F20EED8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ns3:creationId val="964101658"/>
      </p:ext>
    </p:extLst>
  </p:cSld>
</p:sld>
</file>

<file path=ppt/slides/slide2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730B9F2-C985-4FC0-A50A-79AC6F0DF46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NETWORK CONCEPT</a:t>
            </a:r>
          </a:p>
        </p:txBody>
      </p:sp>
      <p:sp>
        <p:nvSpPr>
          <p:cNvPr id="2" name="">
            <a:extLst>
              <a:ext uri="{FF2B5EF4-FFF2-40B4-BE49-F238E27FC236}">
                <ns2:creationId id="{7E39A9E5-CDFE-4621-8CC6-1C7C05357B1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Network：容器間的私人道路</a:t>
            </a:r>
          </a:p>
        </p:txBody>
      </p:sp>
      <p:sp>
        <p:nvSpPr>
          <p:cNvPr id="3" name="">
            <a:extLst>
              <a:ext uri="{FF2B5EF4-FFF2-40B4-BE49-F238E27FC236}">
                <ns2:creationId id="{8775CE63-0738-4E82-A671-6C2FC43F3908}"/>
              </a:ext>
            </a:extLst>
          </p:cNvPr>
          <p:cNvSpPr>
            <a:spLocks noGrp="1"/>
          </p:cNvSpPr>
          <p:nvPr/>
        </p:nvSpPr>
        <p:spPr>
          <a:xfrm>
            <a:off x="1123950" y="1695450"/>
            <a:ext cx="4286250" cy="1562100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21B337AD-0A4D-4B2D-900E-2A1E26180A1E}"/>
              </a:ext>
            </a:extLst>
          </p:cNvPr>
          <p:cNvSpPr>
            <a:spLocks noGrp="1"/>
          </p:cNvSpPr>
          <p:nvPr/>
        </p:nvSpPr>
        <p:spPr>
          <a:xfrm>
            <a:off x="1352550" y="188595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預設 bridge</a:t>
            </a:r>
          </a:p>
        </p:txBody>
      </p:sp>
      <p:sp>
        <p:nvSpPr>
          <p:cNvPr id="5" name="">
            <a:extLst>
              <a:ext uri="{FF2B5EF4-FFF2-40B4-BE49-F238E27FC236}">
                <ns2:creationId id="{7F59DF62-E47B-4AEB-8355-150BE0AF086F}"/>
              </a:ext>
            </a:extLst>
          </p:cNvPr>
          <p:cNvSpPr>
            <a:spLocks noGrp="1"/>
          </p:cNvSpPr>
          <p:nvPr/>
        </p:nvSpPr>
        <p:spPr>
          <a:xfrm>
            <a:off x="1352550" y="2476500"/>
            <a:ext cx="38290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可以讓容器上網，但服務名稱解析與管理彈性較弱。</a:t>
            </a:r>
          </a:p>
        </p:txBody>
      </p:sp>
      <p:sp>
        <p:nvSpPr>
          <p:cNvPr id="6" name="">
            <a:extLst>
              <a:ext uri="{FF2B5EF4-FFF2-40B4-BE49-F238E27FC236}">
                <ns2:creationId id="{8F5FD408-7D72-4070-95C0-0B320F3B01D4}"/>
              </a:ext>
            </a:extLst>
          </p:cNvPr>
          <p:cNvSpPr>
            <a:spLocks noGrp="1"/>
          </p:cNvSpPr>
          <p:nvPr/>
        </p:nvSpPr>
        <p:spPr>
          <a:xfrm>
            <a:off x="6781800" y="1695450"/>
            <a:ext cx="4286250" cy="1562100"/>
          </a:xfrm>
          <a:prstGeom prst="roundRect">
            <a:avLst>
              <a:gd name="adj" fmla="val 7317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062A6E1E-D291-4625-BA93-57B6C8D5FC21}"/>
              </a:ext>
            </a:extLst>
          </p:cNvPr>
          <p:cNvSpPr>
            <a:spLocks noGrp="1"/>
          </p:cNvSpPr>
          <p:nvPr/>
        </p:nvSpPr>
        <p:spPr>
          <a:xfrm>
            <a:off x="7010400" y="188595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自訂 network</a:t>
            </a:r>
          </a:p>
        </p:txBody>
      </p:sp>
      <p:sp>
        <p:nvSpPr>
          <p:cNvPr id="8" name="">
            <a:extLst>
              <a:ext uri="{FF2B5EF4-FFF2-40B4-BE49-F238E27FC236}">
                <ns2:creationId id="{2A0137AF-5B6F-4D91-9F41-B879B4514370}"/>
              </a:ext>
            </a:extLst>
          </p:cNvPr>
          <p:cNvSpPr>
            <a:spLocks noGrp="1"/>
          </p:cNvSpPr>
          <p:nvPr/>
        </p:nvSpPr>
        <p:spPr>
          <a:xfrm>
            <a:off x="7010400" y="2476500"/>
            <a:ext cx="38290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7368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同一個 network 裡的容器可以用容器名稱互相連線，例如 host=mysql-db。</a:t>
            </a:r>
          </a:p>
        </p:txBody>
      </p:sp>
      <p:sp>
        <p:nvSpPr>
          <p:cNvPr id="9" name="">
            <a:extLst>
              <a:ext uri="{FF2B5EF4-FFF2-40B4-BE49-F238E27FC236}">
                <ns2:creationId id="{846E0667-5E06-4443-AF40-2952F0CD10EB}"/>
              </a:ext>
            </a:extLst>
          </p:cNvPr>
          <p:cNvSpPr>
            <a:spLocks noGrp="1"/>
          </p:cNvSpPr>
          <p:nvPr/>
        </p:nvSpPr>
        <p:spPr>
          <a:xfrm>
            <a:off x="1714500" y="4210050"/>
            <a:ext cx="8763000" cy="1371600"/>
          </a:xfrm>
          <a:prstGeom prst="roundRect">
            <a:avLst>
              <a:gd name="adj" fmla="val 694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0" name="">
            <a:extLst>
              <a:ext uri="{FF2B5EF4-FFF2-40B4-BE49-F238E27FC236}">
                <ns2:creationId id="{662E6247-79CE-4F79-BBBB-BD818FC388A3}"/>
              </a:ext>
            </a:extLst>
          </p:cNvPr>
          <p:cNvSpPr>
            <a:spLocks noGrp="1"/>
          </p:cNvSpPr>
          <p:nvPr/>
        </p:nvSpPr>
        <p:spPr>
          <a:xfrm>
            <a:off x="1885950" y="43719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0B7EB922-EAF2-4FA0-B025-AE6947D468FF}"/>
              </a:ext>
            </a:extLst>
          </p:cNvPr>
          <p:cNvSpPr>
            <a:spLocks noGrp="1"/>
          </p:cNvSpPr>
          <p:nvPr/>
        </p:nvSpPr>
        <p:spPr>
          <a:xfrm>
            <a:off x="2057400" y="43719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298319BC-86B9-4AF5-A75F-DCB3AD4A679C}"/>
              </a:ext>
            </a:extLst>
          </p:cNvPr>
          <p:cNvSpPr>
            <a:spLocks noGrp="1"/>
          </p:cNvSpPr>
          <p:nvPr/>
        </p:nvSpPr>
        <p:spPr>
          <a:xfrm>
            <a:off x="2228850" y="43719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C478B49B-C3F7-4F4B-A71F-5C2F9C753503}"/>
              </a:ext>
            </a:extLst>
          </p:cNvPr>
          <p:cNvSpPr>
            <a:spLocks noGrp="1"/>
          </p:cNvSpPr>
          <p:nvPr/>
        </p:nvSpPr>
        <p:spPr>
          <a:xfrm>
            <a:off x="1924050" y="4629150"/>
            <a:ext cx="83439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3670"/>
          </a:bodyPr>
          <a:lstStyle/>
          <a:p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flask-network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mysql-db --network flask-network mysql:8.0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flask-app --network flask-network my-flask-app:v4</a:t>
            </a:r>
          </a:p>
        </p:txBody>
      </p:sp>
      <p:sp>
        <p:nvSpPr>
          <p:cNvPr id="14" name="">
            <a:extLst>
              <a:ext uri="{FF2B5EF4-FFF2-40B4-BE49-F238E27FC236}">
                <ns2:creationId id="{2C64A8A9-CA8A-457D-A045-87FC1E1F188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E41C3C60-EEE5-4405-B069-1066D4CCBB5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>
              <a:ext uri="{FF2B5EF4-FFF2-40B4-BE49-F238E27FC236}">
                <ns2:creationId id="{C3B038A8-C1EF-4B44-B17A-CF33BB0DFBF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ns3:creationId val="2106002810"/>
      </p:ext>
    </p:extLst>
  </p:cSld>
</p:sld>
</file>

<file path=ppt/slides/slide2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7CE2C74-14AE-4E74-A95C-C40AD09F786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CUSTOM NETWORK APP</a:t>
            </a:r>
          </a:p>
        </p:txBody>
      </p:sp>
      <p:sp>
        <p:nvSpPr>
          <p:cNvPr id="2" name="">
            <a:extLst>
              <a:ext uri="{FF2B5EF4-FFF2-40B4-BE49-F238E27FC236}">
                <ns2:creationId id="{689C38C1-CD67-4E26-8245-86050678294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Flask + MySQL：用容器名稱當 DB_HOST</a:t>
            </a:r>
          </a:p>
        </p:txBody>
      </p:sp>
      <p:sp>
        <p:nvSpPr>
          <p:cNvPr id="3" name="">
            <a:extLst>
              <a:ext uri="{FF2B5EF4-FFF2-40B4-BE49-F238E27FC236}">
                <ns2:creationId id="{CC2F0303-8D22-4096-AC70-648D6876D2F1}"/>
              </a:ext>
            </a:extLst>
          </p:cNvPr>
          <p:cNvSpPr>
            <a:spLocks noGrp="1"/>
          </p:cNvSpPr>
          <p:nvPr/>
        </p:nvSpPr>
        <p:spPr>
          <a:xfrm>
            <a:off x="1466850" y="2000250"/>
            <a:ext cx="314325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1497DB52-3C6C-46DE-8C5E-E62FAE454EDF}"/>
              </a:ext>
            </a:extLst>
          </p:cNvPr>
          <p:cNvSpPr>
            <a:spLocks noGrp="1"/>
          </p:cNvSpPr>
          <p:nvPr/>
        </p:nvSpPr>
        <p:spPr>
          <a:xfrm>
            <a:off x="1695450" y="219075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530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flask-app</a:t>
            </a:r>
          </a:p>
        </p:txBody>
      </p:sp>
      <p:sp>
        <p:nvSpPr>
          <p:cNvPr id="5" name="">
            <a:extLst>
              <a:ext uri="{FF2B5EF4-FFF2-40B4-BE49-F238E27FC236}">
                <ns2:creationId id="{BAA51D68-62C0-4A03-82F8-D4B38854CCCF}"/>
              </a:ext>
            </a:extLst>
          </p:cNvPr>
          <p:cNvSpPr>
            <a:spLocks noGrp="1"/>
          </p:cNvSpPr>
          <p:nvPr/>
        </p:nvSpPr>
        <p:spPr>
          <a:xfrm>
            <a:off x="1695450" y="2609850"/>
            <a:ext cx="268605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my-flask-app:v4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host = mysql-db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port = 3306</a:t>
            </a:r>
          </a:p>
        </p:txBody>
      </p:sp>
      <p:sp>
        <p:nvSpPr>
          <p:cNvPr id="6" name="">
            <a:extLst>
              <a:ext uri="{FF2B5EF4-FFF2-40B4-BE49-F238E27FC236}">
                <ns2:creationId id="{3BABC84E-3024-4A21-8255-F11E5F5FDCF0}"/>
              </a:ext>
            </a:extLst>
          </p:cNvPr>
          <p:cNvSpPr>
            <a:spLocks noGrp="1"/>
          </p:cNvSpPr>
          <p:nvPr/>
        </p:nvSpPr>
        <p:spPr>
          <a:xfrm>
            <a:off x="4953000" y="2762250"/>
            <a:ext cx="990600" cy="361950"/>
          </a:xfrm>
          <a:prstGeom prst="rightArrow">
            <a:avLst/>
          </a:prstGeom>
          <a:solidFill>
            <a:srgbClr val="00A97F"/>
          </a:solidFill>
          <a:ln w="0">
            <a:solidFill>
              <a:srgbClr val="00A97F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EDDDA0C6-8315-49E1-B855-84D3799C1226}"/>
              </a:ext>
            </a:extLst>
          </p:cNvPr>
          <p:cNvSpPr>
            <a:spLocks noGrp="1"/>
          </p:cNvSpPr>
          <p:nvPr/>
        </p:nvSpPr>
        <p:spPr>
          <a:xfrm>
            <a:off x="6343650" y="2000250"/>
            <a:ext cx="3143250" cy="1809750"/>
          </a:xfrm>
          <a:prstGeom prst="roundRect">
            <a:avLst>
              <a:gd name="adj" fmla="val 6316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C4FA081F-C13B-417A-BA67-64FE0DBEFC7E}"/>
              </a:ext>
            </a:extLst>
          </p:cNvPr>
          <p:cNvSpPr>
            <a:spLocks noGrp="1"/>
          </p:cNvSpPr>
          <p:nvPr/>
        </p:nvSpPr>
        <p:spPr>
          <a:xfrm>
            <a:off x="6572250" y="219075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530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mysql-db</a:t>
            </a:r>
          </a:p>
        </p:txBody>
      </p:sp>
      <p:sp>
        <p:nvSpPr>
          <p:cNvPr id="9" name="">
            <a:extLst>
              <a:ext uri="{FF2B5EF4-FFF2-40B4-BE49-F238E27FC236}">
                <ns2:creationId id="{0CCF422E-0740-48EF-8929-6B18992F0A39}"/>
              </a:ext>
            </a:extLst>
          </p:cNvPr>
          <p:cNvSpPr>
            <a:spLocks noGrp="1"/>
          </p:cNvSpPr>
          <p:nvPr/>
        </p:nvSpPr>
        <p:spPr>
          <a:xfrm>
            <a:off x="6572250" y="2609850"/>
            <a:ext cx="268605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mysql:8.0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MYSQL_DATABASE=flaskdb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Volume 保存資料</a:t>
            </a:r>
          </a:p>
        </p:txBody>
      </p:sp>
      <p:sp>
        <p:nvSpPr>
          <p:cNvPr id="10" name="">
            <a:extLst>
              <a:ext uri="{FF2B5EF4-FFF2-40B4-BE49-F238E27FC236}">
                <ns2:creationId id="{F0A8F79F-68FD-4051-A27F-56A5ACA5A6F9}"/>
              </a:ext>
            </a:extLst>
          </p:cNvPr>
          <p:cNvSpPr>
            <a:spLocks noGrp="1"/>
          </p:cNvSpPr>
          <p:nvPr/>
        </p:nvSpPr>
        <p:spPr>
          <a:xfrm>
            <a:off x="2381250" y="4400550"/>
            <a:ext cx="7429500" cy="590550"/>
          </a:xfrm>
          <a:prstGeom prst="roundRect">
            <a:avLst>
              <a:gd name="adj" fmla="val 1935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06559C0B-C97D-4AD9-8DD6-CBD858AFB6DB}"/>
              </a:ext>
            </a:extLst>
          </p:cNvPr>
          <p:cNvSpPr>
            <a:spLocks noGrp="1"/>
          </p:cNvSpPr>
          <p:nvPr/>
        </p:nvSpPr>
        <p:spPr>
          <a:xfrm>
            <a:off x="2724150" y="4552950"/>
            <a:ext cx="6743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05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flask-network</a:t>
            </a:r>
          </a:p>
        </p:txBody>
      </p:sp>
      <p:sp>
        <p:nvSpPr>
          <p:cNvPr id="12" name="">
            <a:extLst>
              <a:ext uri="{FF2B5EF4-FFF2-40B4-BE49-F238E27FC236}">
                <ns2:creationId id="{653CF61A-49C9-4785-83EE-E4DB4F72E53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16025CE7-3B9A-4A8F-8B6F-336F274FC9A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>
              <a:ext uri="{FF2B5EF4-FFF2-40B4-BE49-F238E27FC236}">
                <ns2:creationId id="{2AA52EDD-A4E4-4FBD-916E-E9ABF0AAAD2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ns3:creationId val="1671181390"/>
      </p:ext>
    </p:extLst>
  </p:cSld>
</p:sld>
</file>

<file path=ppt/slides/slide2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824887D-B59A-4FA9-95FF-E3EAB52C32F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NETWORK COMMANDS</a:t>
            </a:r>
          </a:p>
        </p:txBody>
      </p:sp>
      <p:sp>
        <p:nvSpPr>
          <p:cNvPr id="2" name="">
            <a:extLst>
              <a:ext uri="{FF2B5EF4-FFF2-40B4-BE49-F238E27FC236}">
                <ns2:creationId id="{AA3B0234-EFC2-4CF5-AE6D-91B0A285A6C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 Network 指令組</a:t>
            </a:r>
          </a:p>
        </p:txBody>
      </p:sp>
      <p:sp>
        <p:nvSpPr>
          <p:cNvPr id="3" name="">
            <a:extLst>
              <a:ext uri="{FF2B5EF4-FFF2-40B4-BE49-F238E27FC236}">
                <ns2:creationId id="{D3C65465-E29A-4C35-B8F7-B21B3B96BBB3}"/>
              </a:ext>
            </a:extLst>
          </p:cNvPr>
          <p:cNvSpPr>
            <a:spLocks noGrp="1"/>
          </p:cNvSpPr>
          <p:nvPr/>
        </p:nvSpPr>
        <p:spPr>
          <a:xfrm>
            <a:off x="895350" y="1428750"/>
            <a:ext cx="6191250" cy="3752850"/>
          </a:xfrm>
          <a:prstGeom prst="roundRect">
            <a:avLst>
              <a:gd name="adj" fmla="val 253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FC6A75C2-3A67-45A1-B8B8-DD97F9C11149}"/>
              </a:ext>
            </a:extLst>
          </p:cNvPr>
          <p:cNvSpPr>
            <a:spLocks noGrp="1"/>
          </p:cNvSpPr>
          <p:nvPr/>
        </p:nvSpPr>
        <p:spPr>
          <a:xfrm>
            <a:off x="106680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D17EB2A9-3D48-4705-8703-BE6345D316D1}"/>
              </a:ext>
            </a:extLst>
          </p:cNvPr>
          <p:cNvSpPr>
            <a:spLocks noGrp="1"/>
          </p:cNvSpPr>
          <p:nvPr/>
        </p:nvSpPr>
        <p:spPr>
          <a:xfrm>
            <a:off x="123825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162A0D69-FAAD-4C93-9B99-3B40FF27ABC4}"/>
              </a:ext>
            </a:extLst>
          </p:cNvPr>
          <p:cNvSpPr>
            <a:spLocks noGrp="1"/>
          </p:cNvSpPr>
          <p:nvPr/>
        </p:nvSpPr>
        <p:spPr>
          <a:xfrm>
            <a:off x="140970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87788882-768D-405F-A194-656087A9C2FE}"/>
              </a:ext>
            </a:extLst>
          </p:cNvPr>
          <p:cNvSpPr>
            <a:spLocks noGrp="1"/>
          </p:cNvSpPr>
          <p:nvPr/>
        </p:nvSpPr>
        <p:spPr>
          <a:xfrm>
            <a:off x="1104900" y="1847850"/>
            <a:ext cx="5772150" cy="3200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ls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flask-network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inspect flask-network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connect flask-network &lt;container&gt;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disconnect flask-network &lt;container&gt;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rm flask-network</a:t>
            </a:r>
          </a:p>
        </p:txBody>
      </p:sp>
      <p:sp>
        <p:nvSpPr>
          <p:cNvPr id="8" name="">
            <a:extLst>
              <a:ext uri="{FF2B5EF4-FFF2-40B4-BE49-F238E27FC236}">
                <ns2:creationId id="{2AF93ED4-08F5-46C7-9844-DAC9F52E3DDD}"/>
              </a:ext>
            </a:extLst>
          </p:cNvPr>
          <p:cNvSpPr>
            <a:spLocks noGrp="1"/>
          </p:cNvSpPr>
          <p:nvPr/>
        </p:nvSpPr>
        <p:spPr>
          <a:xfrm>
            <a:off x="7867650" y="1962150"/>
            <a:ext cx="2952750" cy="1924050"/>
          </a:xfrm>
          <a:prstGeom prst="roundRect">
            <a:avLst>
              <a:gd name="adj" fmla="val 5941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C8143768-920B-4542-89B9-71BDD5A0A60B}"/>
              </a:ext>
            </a:extLst>
          </p:cNvPr>
          <p:cNvSpPr>
            <a:spLocks noGrp="1"/>
          </p:cNvSpPr>
          <p:nvPr/>
        </p:nvSpPr>
        <p:spPr>
          <a:xfrm>
            <a:off x="8096250" y="2152650"/>
            <a:ext cx="2495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操作順序</a:t>
            </a:r>
          </a:p>
        </p:txBody>
      </p:sp>
      <p:sp>
        <p:nvSpPr>
          <p:cNvPr id="10" name="">
            <a:extLst>
              <a:ext uri="{FF2B5EF4-FFF2-40B4-BE49-F238E27FC236}">
                <ns2:creationId id="{4B78ACC0-00C8-419C-B2C9-B100E60879A3}"/>
              </a:ext>
            </a:extLst>
          </p:cNvPr>
          <p:cNvSpPr>
            <a:spLocks noGrp="1"/>
          </p:cNvSpPr>
          <p:nvPr/>
        </p:nvSpPr>
        <p:spPr>
          <a:xfrm>
            <a:off x="8096250" y="2686050"/>
            <a:ext cx="249555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建立 network -&gt; 啟動容器時加入 network -&gt; inspect 確認誰在裡面 -&gt; 用容器名稱連線。</a:t>
            </a:r>
          </a:p>
        </p:txBody>
      </p:sp>
      <p:sp>
        <p:nvSpPr>
          <p:cNvPr id="11" name="">
            <a:extLst>
              <a:ext uri="{FF2B5EF4-FFF2-40B4-BE49-F238E27FC236}">
                <ns2:creationId id="{15B27121-BC24-4A2C-9735-C7CA2B08C75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E1830B8B-5ED5-40BA-8C5A-99DC16F2259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3" name="">
            <a:extLst>
              <a:ext uri="{FF2B5EF4-FFF2-40B4-BE49-F238E27FC236}">
                <ns2:creationId id="{8A058883-A2CF-4169-811E-93E8188A4680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ns3:creationId val="914750288"/>
      </p:ext>
    </p:extLst>
  </p:cSld>
</p:sld>
</file>

<file path=ppt/slides/slide2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83B93076-BF4C-41EF-AC20-EA1DF7A04DE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RESOURCE LIMITS</a:t>
            </a:r>
          </a:p>
        </p:txBody>
      </p:sp>
      <p:sp>
        <p:nvSpPr>
          <p:cNvPr id="2" name="">
            <a:extLst>
              <a:ext uri="{FF2B5EF4-FFF2-40B4-BE49-F238E27FC236}">
                <ns2:creationId id="{58F45EA4-B987-4693-B077-C8801190D64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為什麼需要限制容器資源？</a:t>
            </a:r>
          </a:p>
        </p:txBody>
      </p:sp>
      <p:sp>
        <p:nvSpPr>
          <p:cNvPr id="3" name="">
            <a:extLst>
              <a:ext uri="{FF2B5EF4-FFF2-40B4-BE49-F238E27FC236}">
                <ns2:creationId id="{352C5722-F744-481F-B309-92F9BAB6FDE4}"/>
              </a:ext>
            </a:extLst>
          </p:cNvPr>
          <p:cNvSpPr>
            <a:spLocks noGrp="1"/>
          </p:cNvSpPr>
          <p:nvPr/>
        </p:nvSpPr>
        <p:spPr>
          <a:xfrm>
            <a:off x="1123950" y="19050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F88F4DA2-E17C-4803-864E-7D1E6059E0B6}"/>
              </a:ext>
            </a:extLst>
          </p:cNvPr>
          <p:cNvSpPr>
            <a:spLocks noGrp="1"/>
          </p:cNvSpPr>
          <p:nvPr/>
        </p:nvSpPr>
        <p:spPr>
          <a:xfrm>
            <a:off x="1352550" y="232410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CPU 被吃滿</a:t>
            </a:r>
          </a:p>
        </p:txBody>
      </p:sp>
      <p:sp>
        <p:nvSpPr>
          <p:cNvPr id="5" name="">
            <a:extLst>
              <a:ext uri="{FF2B5EF4-FFF2-40B4-BE49-F238E27FC236}">
                <ns2:creationId id="{1222BB15-4714-4095-BD6D-979D7FAFDBEA}"/>
              </a:ext>
            </a:extLst>
          </p:cNvPr>
          <p:cNvSpPr>
            <a:spLocks noGrp="1"/>
          </p:cNvSpPr>
          <p:nvPr/>
        </p:nvSpPr>
        <p:spPr>
          <a:xfrm>
            <a:off x="1352550" y="3048000"/>
            <a:ext cx="2400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一個失控程式讓其他容器變慢</a:t>
            </a:r>
          </a:p>
        </p:txBody>
      </p:sp>
      <p:sp>
        <p:nvSpPr>
          <p:cNvPr id="6" name="">
            <a:extLst>
              <a:ext uri="{FF2B5EF4-FFF2-40B4-BE49-F238E27FC236}">
                <ns2:creationId id="{80CBEB5E-2A78-4E03-904C-253AD5A092BF}"/>
              </a:ext>
            </a:extLst>
          </p:cNvPr>
          <p:cNvSpPr>
            <a:spLocks noGrp="1"/>
          </p:cNvSpPr>
          <p:nvPr/>
        </p:nvSpPr>
        <p:spPr>
          <a:xfrm>
            <a:off x="4552950" y="19050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BBAF1392-5B91-4572-80E2-C3C14539F0FF}"/>
              </a:ext>
            </a:extLst>
          </p:cNvPr>
          <p:cNvSpPr>
            <a:spLocks noGrp="1"/>
          </p:cNvSpPr>
          <p:nvPr/>
        </p:nvSpPr>
        <p:spPr>
          <a:xfrm>
            <a:off x="4781550" y="232410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記憶體爆掉</a:t>
            </a:r>
          </a:p>
        </p:txBody>
      </p:sp>
      <p:sp>
        <p:nvSpPr>
          <p:cNvPr id="8" name="">
            <a:extLst>
              <a:ext uri="{FF2B5EF4-FFF2-40B4-BE49-F238E27FC236}">
                <ns2:creationId id="{E9F2C999-4A72-42E4-BAB0-D2DDBA235F8E}"/>
              </a:ext>
            </a:extLst>
          </p:cNvPr>
          <p:cNvSpPr>
            <a:spLocks noGrp="1"/>
          </p:cNvSpPr>
          <p:nvPr/>
        </p:nvSpPr>
        <p:spPr>
          <a:xfrm>
            <a:off x="4781550" y="3048000"/>
            <a:ext cx="2400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OOM 可能殺掉容器，甚至拖垮主機</a:t>
            </a:r>
          </a:p>
        </p:txBody>
      </p:sp>
      <p:sp>
        <p:nvSpPr>
          <p:cNvPr id="9" name="">
            <a:extLst>
              <a:ext uri="{FF2B5EF4-FFF2-40B4-BE49-F238E27FC236}">
                <ns2:creationId id="{82238BB5-7416-4B69-AA95-C71A00213CDC}"/>
              </a:ext>
            </a:extLst>
          </p:cNvPr>
          <p:cNvSpPr>
            <a:spLocks noGrp="1"/>
          </p:cNvSpPr>
          <p:nvPr/>
        </p:nvSpPr>
        <p:spPr>
          <a:xfrm>
            <a:off x="7981950" y="19050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50B78523-80E5-433A-9A5A-AC785EEC988D}"/>
              </a:ext>
            </a:extLst>
          </p:cNvPr>
          <p:cNvSpPr>
            <a:spLocks noGrp="1"/>
          </p:cNvSpPr>
          <p:nvPr/>
        </p:nvSpPr>
        <p:spPr>
          <a:xfrm>
            <a:off x="8210550" y="232410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效能不穩</a:t>
            </a:r>
          </a:p>
        </p:txBody>
      </p:sp>
      <p:sp>
        <p:nvSpPr>
          <p:cNvPr id="11" name="">
            <a:extLst>
              <a:ext uri="{FF2B5EF4-FFF2-40B4-BE49-F238E27FC236}">
                <ns2:creationId id="{96A5036F-CBBE-4025-BFC7-9F92F79A66E3}"/>
              </a:ext>
            </a:extLst>
          </p:cNvPr>
          <p:cNvSpPr>
            <a:spLocks noGrp="1"/>
          </p:cNvSpPr>
          <p:nvPr/>
        </p:nvSpPr>
        <p:spPr>
          <a:xfrm>
            <a:off x="8210550" y="3048000"/>
            <a:ext cx="2400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多個服務互搶資源，測試結果不可靠</a:t>
            </a:r>
          </a:p>
        </p:txBody>
      </p:sp>
      <p:sp>
        <p:nvSpPr>
          <p:cNvPr id="12" name="">
            <a:extLst>
              <a:ext uri="{FF2B5EF4-FFF2-40B4-BE49-F238E27FC236}">
                <ns2:creationId id="{3ADA453A-86C7-4B13-AFD3-EE15071E3384}"/>
              </a:ext>
            </a:extLst>
          </p:cNvPr>
          <p:cNvSpPr>
            <a:spLocks noGrp="1"/>
          </p:cNvSpPr>
          <p:nvPr/>
        </p:nvSpPr>
        <p:spPr>
          <a:xfrm>
            <a:off x="2724150" y="4914900"/>
            <a:ext cx="6743700" cy="876300"/>
          </a:xfrm>
          <a:prstGeom prst="roundRect">
            <a:avLst>
              <a:gd name="adj" fmla="val 1087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3" name="">
            <a:extLst>
              <a:ext uri="{FF2B5EF4-FFF2-40B4-BE49-F238E27FC236}">
                <ns2:creationId id="{0E2F087D-F623-44EA-8BBB-452DD5C3488A}"/>
              </a:ext>
            </a:extLst>
          </p:cNvPr>
          <p:cNvSpPr>
            <a:spLocks noGrp="1"/>
          </p:cNvSpPr>
          <p:nvPr/>
        </p:nvSpPr>
        <p:spPr>
          <a:xfrm>
            <a:off x="2895600" y="50768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2E12EDF7-8155-4DEC-8FDF-969E3B8AB6D9}"/>
              </a:ext>
            </a:extLst>
          </p:cNvPr>
          <p:cNvSpPr>
            <a:spLocks noGrp="1"/>
          </p:cNvSpPr>
          <p:nvPr/>
        </p:nvSpPr>
        <p:spPr>
          <a:xfrm>
            <a:off x="3067050" y="50768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3677292F-528F-4581-A9E0-06BAECB69AC1}"/>
              </a:ext>
            </a:extLst>
          </p:cNvPr>
          <p:cNvSpPr>
            <a:spLocks noGrp="1"/>
          </p:cNvSpPr>
          <p:nvPr/>
        </p:nvSpPr>
        <p:spPr>
          <a:xfrm>
            <a:off x="3238500" y="50768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1FA11FD7-1588-491F-B40E-2901BA98B9BB}"/>
              </a:ext>
            </a:extLst>
          </p:cNvPr>
          <p:cNvSpPr>
            <a:spLocks noGrp="1"/>
          </p:cNvSpPr>
          <p:nvPr/>
        </p:nvSpPr>
        <p:spPr>
          <a:xfrm>
            <a:off x="2933700" y="5334000"/>
            <a:ext cx="6324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9225"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info | findstr -i "cpu\|memory"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</a:t>
            </a:r>
          </a:p>
        </p:txBody>
      </p:sp>
      <p:sp>
        <p:nvSpPr>
          <p:cNvPr id="17" name="">
            <a:extLst>
              <a:ext uri="{FF2B5EF4-FFF2-40B4-BE49-F238E27FC236}">
                <ns2:creationId id="{ADB93616-4165-4511-A626-1DB9510A69E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FA1658DA-66F9-4D7F-9481-4266404AC8D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9" name="">
            <a:extLst>
              <a:ext uri="{FF2B5EF4-FFF2-40B4-BE49-F238E27FC236}">
                <ns2:creationId id="{FFFC2275-EA29-4D84-A4E7-0ACB7CDC610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ns3:creationId val="1697901919"/>
      </p:ext>
    </p:extLst>
  </p:cSld>
</p:sld>
</file>

<file path=ppt/slides/slide24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6FF38D56-11E6-4D28-8605-4B1655C4B2A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RESOURCE DASHBOARD</a:t>
            </a:r>
          </a:p>
        </p:txBody>
      </p:sp>
      <p:sp>
        <p:nvSpPr>
          <p:cNvPr id="2" name="">
            <a:extLst>
              <a:ext uri="{FF2B5EF4-FFF2-40B4-BE49-F238E27FC236}">
                <ns2:creationId id="{8D0E46B2-CEB1-4EA7-AB5B-AE747B886FA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stats 讓資源使用變成可觀察</a:t>
            </a:r>
          </a:p>
        </p:txBody>
      </p:sp>
      <p:pic>
        <p:nvPicPr>
          <p:cNvPr id="19" name=""/>
          <p:cNvPicPr>
            <a:picLocks noChangeAspect="1"/>
          </p:cNvPicPr>
          <p:nvPr/>
        </p:nvPicPr>
        <p:blipFill>
          <a:blip r:embed="R80e1a89c134d47f5"/>
          <a:srcRect l="6150" t="0" r="6150" b="0"/>
          <a:stretch>
            <a:fillRect l="0" t="0" r="0" b="0"/>
          </a:stretch>
        </p:blipFill>
        <p:spPr>
          <a:xfrm>
            <a:off x="6343650" y="1352550"/>
            <a:ext cx="4838700" cy="3105150"/>
          </a:xfrm>
          <a:prstGeom prst="roundRect">
            <a:avLst/>
          </a:prstGeom>
        </p:spPr>
      </p:pic>
      <p:sp>
        <p:nvSpPr>
          <p:cNvPr id="4" name="">
            <a:extLst>
              <a:ext uri="{FF2B5EF4-FFF2-40B4-BE49-F238E27FC236}">
                <ns2:creationId id="{297816CE-D008-4C71-998F-826BA75ED855}"/>
              </a:ext>
            </a:extLst>
          </p:cNvPr>
          <p:cNvSpPr>
            <a:spLocks noGrp="1"/>
          </p:cNvSpPr>
          <p:nvPr/>
        </p:nvSpPr>
        <p:spPr>
          <a:xfrm>
            <a:off x="6343650" y="1352550"/>
            <a:ext cx="4838700" cy="3105150"/>
          </a:xfrm>
          <a:prstGeom prst="roundRect">
            <a:avLst>
              <a:gd name="adj" fmla="val 4294"/>
            </a:avLst>
          </a:prstGeom>
          <a:solidFill>
            <a:srgbClr val="000000">
              <a:alpha val="0"/>
            </a:srgbClr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30E88783-72A2-48A4-975A-730ABF32A657}"/>
              </a:ext>
            </a:extLst>
          </p:cNvPr>
          <p:cNvSpPr>
            <a:spLocks noGrp="1"/>
          </p:cNvSpPr>
          <p:nvPr/>
        </p:nvSpPr>
        <p:spPr>
          <a:xfrm>
            <a:off x="838200" y="1657350"/>
            <a:ext cx="4857750" cy="1809750"/>
          </a:xfrm>
          <a:prstGeom prst="roundRect">
            <a:avLst>
              <a:gd name="adj" fmla="val 526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6" name="">
            <a:extLst>
              <a:ext uri="{FF2B5EF4-FFF2-40B4-BE49-F238E27FC236}">
                <ns2:creationId id="{CBF6EC25-5AD6-4454-8A2C-939C517D6B30}"/>
              </a:ext>
            </a:extLst>
          </p:cNvPr>
          <p:cNvSpPr>
            <a:spLocks noGrp="1"/>
          </p:cNvSpPr>
          <p:nvPr/>
        </p:nvSpPr>
        <p:spPr>
          <a:xfrm>
            <a:off x="1009650" y="18192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2AF8D096-9D3E-4FEE-94DA-A7CDDBC5AC1E}"/>
              </a:ext>
            </a:extLst>
          </p:cNvPr>
          <p:cNvSpPr>
            <a:spLocks noGrp="1"/>
          </p:cNvSpPr>
          <p:nvPr/>
        </p:nvSpPr>
        <p:spPr>
          <a:xfrm>
            <a:off x="1181100" y="18192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0B4AEAB4-A16C-403C-B3A3-01300BC900BE}"/>
              </a:ext>
            </a:extLst>
          </p:cNvPr>
          <p:cNvSpPr>
            <a:spLocks noGrp="1"/>
          </p:cNvSpPr>
          <p:nvPr/>
        </p:nvSpPr>
        <p:spPr>
          <a:xfrm>
            <a:off x="1352550" y="18192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F35B036C-631A-4ED6-A1AE-CA4DF91B10AC}"/>
              </a:ext>
            </a:extLst>
          </p:cNvPr>
          <p:cNvSpPr>
            <a:spLocks noGrp="1"/>
          </p:cNvSpPr>
          <p:nvPr/>
        </p:nvSpPr>
        <p:spPr>
          <a:xfrm>
            <a:off x="1047750" y="2076450"/>
            <a:ext cx="443865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CONTAINER   CPU %   MEM USAGE / LIMIT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       0.50%   50MiB / 512MiB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       3.20%   420MiB / 2GiB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redis       0.10%   12MiB / 256MiB</a:t>
            </a:r>
          </a:p>
        </p:txBody>
      </p:sp>
      <p:sp>
        <p:nvSpPr>
          <p:cNvPr id="10" name="">
            <a:extLst>
              <a:ext uri="{FF2B5EF4-FFF2-40B4-BE49-F238E27FC236}">
                <ns2:creationId id="{4BC35007-ECC9-4235-ACD2-61E6F05833F9}"/>
              </a:ext>
            </a:extLst>
          </p:cNvPr>
          <p:cNvSpPr>
            <a:spLocks noGrp="1"/>
          </p:cNvSpPr>
          <p:nvPr/>
        </p:nvSpPr>
        <p:spPr>
          <a:xfrm>
            <a:off x="1238250" y="4038600"/>
            <a:ext cx="4095750" cy="14859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DB44D81F-A937-4800-9CF0-AC209CB09129}"/>
              </a:ext>
            </a:extLst>
          </p:cNvPr>
          <p:cNvSpPr>
            <a:spLocks noGrp="1"/>
          </p:cNvSpPr>
          <p:nvPr/>
        </p:nvSpPr>
        <p:spPr>
          <a:xfrm>
            <a:off x="1466850" y="422910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讀表重點</a:t>
            </a:r>
          </a:p>
        </p:txBody>
      </p:sp>
      <p:sp>
        <p:nvSpPr>
          <p:cNvPr id="12" name="">
            <a:extLst>
              <a:ext uri="{FF2B5EF4-FFF2-40B4-BE49-F238E27FC236}">
                <ns2:creationId id="{CC055C94-0244-47B1-90BD-051C4D76B753}"/>
              </a:ext>
            </a:extLst>
          </p:cNvPr>
          <p:cNvSpPr>
            <a:spLocks noGrp="1"/>
          </p:cNvSpPr>
          <p:nvPr/>
        </p:nvSpPr>
        <p:spPr>
          <a:xfrm>
            <a:off x="1466850" y="4724400"/>
            <a:ext cx="36385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271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CPU % 看是否被限制住。</a:t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MEM USAGE / LIMIT 看是否接近上限。</a:t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NET / BLOCK I/O 用來觀察流量與磁碟。</a:t>
            </a:r>
          </a:p>
        </p:txBody>
      </p:sp>
      <p:sp>
        <p:nvSpPr>
          <p:cNvPr id="13" name="">
            <a:extLst>
              <a:ext uri="{FF2B5EF4-FFF2-40B4-BE49-F238E27FC236}">
                <ns2:creationId id="{DC40AD58-FF31-4B1F-8FAD-EDB7C062423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612C0D1B-6563-4943-9DEA-66AB65042F2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>
              <a:ext uri="{FF2B5EF4-FFF2-40B4-BE49-F238E27FC236}">
                <ns2:creationId id="{8B0645AD-0957-46C5-BEFB-1D2581026FF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ns4:creationId val="1558453021"/>
      </p:ext>
    </p:extLst>
  </p:cSld>
</p:sld>
</file>

<file path=ppt/slides/slide2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50CA56E-C62B-47B2-BE80-05464787C25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Q4</a:t>
            </a:r>
          </a:p>
        </p:txBody>
      </p:sp>
      <p:sp>
        <p:nvSpPr>
          <p:cNvPr id="2" name="">
            <a:extLst>
              <a:ext uri="{FF2B5EF4-FFF2-40B4-BE49-F238E27FC236}">
                <ns2:creationId id="{BECEC0D3-8F7F-4B08-BC1F-660160935404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CPU 限制：--cpus=0.5 是什麼意思？</a:t>
            </a:r>
          </a:p>
        </p:txBody>
      </p:sp>
      <p:sp>
        <p:nvSpPr>
          <p:cNvPr id="3" name="">
            <a:extLst>
              <a:ext uri="{FF2B5EF4-FFF2-40B4-BE49-F238E27FC236}">
                <ns2:creationId id="{4C4A768F-9FE9-46B5-8ADF-4F3FFFB15E96}"/>
              </a:ext>
            </a:extLst>
          </p:cNvPr>
          <p:cNvSpPr>
            <a:spLocks noGrp="1"/>
          </p:cNvSpPr>
          <p:nvPr/>
        </p:nvSpPr>
        <p:spPr>
          <a:xfrm>
            <a:off x="762000" y="1428750"/>
            <a:ext cx="6667500" cy="2876550"/>
          </a:xfrm>
          <a:prstGeom prst="roundRect">
            <a:avLst>
              <a:gd name="adj" fmla="val 331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FF5ABA41-1196-4F57-97B5-33AB7E7BE45C}"/>
              </a:ext>
            </a:extLst>
          </p:cNvPr>
          <p:cNvSpPr>
            <a:spLocks noGrp="1"/>
          </p:cNvSpPr>
          <p:nvPr/>
        </p:nvSpPr>
        <p:spPr>
          <a:xfrm>
            <a:off x="93345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A370ADF6-D2B4-4879-9FD0-D368B82C1C61}"/>
              </a:ext>
            </a:extLst>
          </p:cNvPr>
          <p:cNvSpPr>
            <a:spLocks noGrp="1"/>
          </p:cNvSpPr>
          <p:nvPr/>
        </p:nvSpPr>
        <p:spPr>
          <a:xfrm>
            <a:off x="110490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F198CB4D-29F6-401F-BC40-45630FEA3A14}"/>
              </a:ext>
            </a:extLst>
          </p:cNvPr>
          <p:cNvSpPr>
            <a:spLocks noGrp="1"/>
          </p:cNvSpPr>
          <p:nvPr/>
        </p:nvSpPr>
        <p:spPr>
          <a:xfrm>
            <a:off x="127635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7C328433-8863-4D47-BF2E-7FA547409988}"/>
              </a:ext>
            </a:extLst>
          </p:cNvPr>
          <p:cNvSpPr>
            <a:spLocks noGrp="1"/>
          </p:cNvSpPr>
          <p:nvPr/>
        </p:nvSpPr>
        <p:spPr>
          <a:xfrm>
            <a:off x="971550" y="1847850"/>
            <a:ext cx="6248400" cy="2324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--cpus=1.5 --name cpu-test nginx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--cpus=0.5 --name half-cpu nginx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--cpu-shares=2048 --name high-priority nginx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--cpuset-cpus="0,1" --name pinned-cpu nginx</a:t>
            </a:r>
          </a:p>
        </p:txBody>
      </p:sp>
      <p:sp>
        <p:nvSpPr>
          <p:cNvPr id="8" name="">
            <a:extLst>
              <a:ext uri="{FF2B5EF4-FFF2-40B4-BE49-F238E27FC236}">
                <ns2:creationId id="{434F6652-FDB5-4331-B236-7B1D1DB2A5AF}"/>
              </a:ext>
            </a:extLst>
          </p:cNvPr>
          <p:cNvSpPr>
            <a:spLocks noGrp="1"/>
          </p:cNvSpPr>
          <p:nvPr/>
        </p:nvSpPr>
        <p:spPr>
          <a:xfrm>
            <a:off x="7886700" y="1752600"/>
            <a:ext cx="3067050" cy="1562100"/>
          </a:xfrm>
          <a:prstGeom prst="roundRect">
            <a:avLst>
              <a:gd name="adj" fmla="val 7317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92D899E5-74CA-409F-848A-3E5CEF06C09E}"/>
              </a:ext>
            </a:extLst>
          </p:cNvPr>
          <p:cNvSpPr>
            <a:spLocks noGrp="1"/>
          </p:cNvSpPr>
          <p:nvPr/>
        </p:nvSpPr>
        <p:spPr>
          <a:xfrm>
            <a:off x="8115300" y="1943100"/>
            <a:ext cx="2609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Q4 討論提示</a:t>
            </a:r>
          </a:p>
        </p:txBody>
      </p:sp>
      <p:sp>
        <p:nvSpPr>
          <p:cNvPr id="10" name="">
            <a:extLst>
              <a:ext uri="{FF2B5EF4-FFF2-40B4-BE49-F238E27FC236}">
                <ns2:creationId id="{8B6FF685-CF31-4DFC-8962-3ED646E56440}"/>
              </a:ext>
            </a:extLst>
          </p:cNvPr>
          <p:cNvSpPr>
            <a:spLocks noGrp="1"/>
          </p:cNvSpPr>
          <p:nvPr/>
        </p:nvSpPr>
        <p:spPr>
          <a:xfrm>
            <a:off x="8115300" y="2457450"/>
            <a:ext cx="26098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4587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先判斷 --cpus 代表什麼，再討論 0.5 與 1.5 的差異。</a:t>
            </a:r>
          </a:p>
        </p:txBody>
      </p:sp>
      <p:sp>
        <p:nvSpPr>
          <p:cNvPr id="11" name="">
            <a:extLst>
              <a:ext uri="{FF2B5EF4-FFF2-40B4-BE49-F238E27FC236}">
                <ns2:creationId id="{95462D86-84FA-4EA1-8F36-6FBAA4284838}"/>
              </a:ext>
            </a:extLst>
          </p:cNvPr>
          <p:cNvSpPr>
            <a:spLocks noGrp="1"/>
          </p:cNvSpPr>
          <p:nvPr/>
        </p:nvSpPr>
        <p:spPr>
          <a:xfrm>
            <a:off x="1943100" y="5105400"/>
            <a:ext cx="8305800" cy="495300"/>
          </a:xfrm>
          <a:prstGeom prst="roundRect">
            <a:avLst>
              <a:gd name="adj" fmla="val 19231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ED094544-88B4-40E2-B801-25F4FC02F572}"/>
              </a:ext>
            </a:extLst>
          </p:cNvPr>
          <p:cNvSpPr>
            <a:spLocks noGrp="1"/>
          </p:cNvSpPr>
          <p:nvPr/>
        </p:nvSpPr>
        <p:spPr>
          <a:xfrm>
            <a:off x="2266950" y="5257800"/>
            <a:ext cx="7658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--cpu-shares 只在 CPU 競爭時才有明顯效果。</a:t>
            </a:r>
          </a:p>
        </p:txBody>
      </p:sp>
      <p:sp>
        <p:nvSpPr>
          <p:cNvPr id="13" name="">
            <a:extLst>
              <a:ext uri="{FF2B5EF4-FFF2-40B4-BE49-F238E27FC236}">
                <ns2:creationId id="{3B69FF25-BA16-4D27-A416-72DC69C9BD4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D8E3C5C1-8BF9-4370-853F-2E820751190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>
              <a:ext uri="{FF2B5EF4-FFF2-40B4-BE49-F238E27FC236}">
                <ns2:creationId id="{BCE2548E-4BC8-4904-8860-3B5A5B5B0AB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ns3:creationId val="119416189"/>
      </p:ext>
    </p:extLst>
  </p:cSld>
</p:sld>
</file>

<file path=ppt/slides/slide2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26BA323A-535C-4035-8678-7E067F9FD13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CPU STRESS TEST</a:t>
            </a:r>
          </a:p>
        </p:txBody>
      </p:sp>
      <p:sp>
        <p:nvSpPr>
          <p:cNvPr id="2" name="">
            <a:extLst>
              <a:ext uri="{FF2B5EF4-FFF2-40B4-BE49-F238E27FC236}">
                <ns2:creationId id="{CDF9042C-F3FC-4358-B64E-B45EF7E4626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實作：CPU 壓力測試</a:t>
            </a:r>
          </a:p>
        </p:txBody>
      </p:sp>
      <p:sp>
        <p:nvSpPr>
          <p:cNvPr id="3" name="">
            <a:extLst>
              <a:ext uri="{FF2B5EF4-FFF2-40B4-BE49-F238E27FC236}">
                <ns2:creationId id="{EDDCF02C-8958-4C19-8D8A-D79CB98E4193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7239000" cy="2686050"/>
          </a:xfrm>
          <a:prstGeom prst="roundRect">
            <a:avLst>
              <a:gd name="adj" fmla="val 354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34F6649F-FF34-48AB-8E15-064BD71178BA}"/>
              </a:ext>
            </a:extLst>
          </p:cNvPr>
          <p:cNvSpPr>
            <a:spLocks noGrp="1"/>
          </p:cNvSpPr>
          <p:nvPr/>
        </p:nvSpPr>
        <p:spPr>
          <a:xfrm>
            <a:off x="952500" y="16287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802A7536-DDDC-452E-AC15-C9472C419F42}"/>
              </a:ext>
            </a:extLst>
          </p:cNvPr>
          <p:cNvSpPr>
            <a:spLocks noGrp="1"/>
          </p:cNvSpPr>
          <p:nvPr/>
        </p:nvSpPr>
        <p:spPr>
          <a:xfrm>
            <a:off x="1123950" y="16287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BB919E2E-F444-4DA7-8543-0477022CB6BA}"/>
              </a:ext>
            </a:extLst>
          </p:cNvPr>
          <p:cNvSpPr>
            <a:spLocks noGrp="1"/>
          </p:cNvSpPr>
          <p:nvPr/>
        </p:nvSpPr>
        <p:spPr>
          <a:xfrm>
            <a:off x="1295400" y="16287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B61A2282-D212-42E8-808E-873E2B0F9984}"/>
              </a:ext>
            </a:extLst>
          </p:cNvPr>
          <p:cNvSpPr>
            <a:spLocks noGrp="1"/>
          </p:cNvSpPr>
          <p:nvPr/>
        </p:nvSpPr>
        <p:spPr>
          <a:xfrm>
            <a:off x="990600" y="1885950"/>
            <a:ext cx="6819900" cy="2133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stress-no-limit alpine sh -c "while true; do :; done"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--cpus=0.5 --name stress-limited alpine sh -c "while true; do :; done"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stress-no-limit stress-limited</a:t>
            </a:r>
          </a:p>
        </p:txBody>
      </p:sp>
      <p:sp>
        <p:nvSpPr>
          <p:cNvPr id="8" name="">
            <a:extLst>
              <a:ext uri="{FF2B5EF4-FFF2-40B4-BE49-F238E27FC236}">
                <ns2:creationId id="{27273B14-2C12-420F-91C2-922747A3F7AF}"/>
              </a:ext>
            </a:extLst>
          </p:cNvPr>
          <p:cNvSpPr>
            <a:spLocks noGrp="1"/>
          </p:cNvSpPr>
          <p:nvPr/>
        </p:nvSpPr>
        <p:spPr>
          <a:xfrm>
            <a:off x="8591550" y="1733550"/>
            <a:ext cx="2381250" cy="1619250"/>
          </a:xfrm>
          <a:prstGeom prst="roundRect">
            <a:avLst>
              <a:gd name="adj" fmla="val 7059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1974B4AD-71D5-4A8E-A435-7B1502262155}"/>
              </a:ext>
            </a:extLst>
          </p:cNvPr>
          <p:cNvSpPr>
            <a:spLocks noGrp="1"/>
          </p:cNvSpPr>
          <p:nvPr/>
        </p:nvSpPr>
        <p:spPr>
          <a:xfrm>
            <a:off x="8820150" y="1924050"/>
            <a:ext cx="1924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觀察結果</a:t>
            </a:r>
          </a:p>
        </p:txBody>
      </p:sp>
      <p:sp>
        <p:nvSpPr>
          <p:cNvPr id="10" name="">
            <a:extLst>
              <a:ext uri="{FF2B5EF4-FFF2-40B4-BE49-F238E27FC236}">
                <ns2:creationId id="{29955CB8-B5AA-4C3D-B8D5-B398C0DB3174}"/>
              </a:ext>
            </a:extLst>
          </p:cNvPr>
          <p:cNvSpPr>
            <a:spLocks noGrp="1"/>
          </p:cNvSpPr>
          <p:nvPr/>
        </p:nvSpPr>
        <p:spPr>
          <a:xfrm>
            <a:off x="8820150" y="2419350"/>
            <a:ext cx="19240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7751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stress-no-limit 接近 100%。</a:t>
            </a:r>
          </a:p>
          <a:p>
            <a:r>
              <a:t/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stress-limited 被壓在約 50%。</a:t>
            </a:r>
          </a:p>
        </p:txBody>
      </p:sp>
      <p:sp>
        <p:nvSpPr>
          <p:cNvPr id="11" name="">
            <a:extLst>
              <a:ext uri="{FF2B5EF4-FFF2-40B4-BE49-F238E27FC236}">
                <ns2:creationId id="{C5188570-CA2F-4171-A351-5F218A7D91BD}"/>
              </a:ext>
            </a:extLst>
          </p:cNvPr>
          <p:cNvSpPr>
            <a:spLocks noGrp="1"/>
          </p:cNvSpPr>
          <p:nvPr/>
        </p:nvSpPr>
        <p:spPr>
          <a:xfrm>
            <a:off x="2000250" y="4953000"/>
            <a:ext cx="8191500" cy="552450"/>
          </a:xfrm>
          <a:prstGeom prst="roundRect">
            <a:avLst>
              <a:gd name="adj" fmla="val 17241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0D2098CB-48A8-4FAF-9E65-B92C60E37942}"/>
              </a:ext>
            </a:extLst>
          </p:cNvPr>
          <p:cNvSpPr>
            <a:spLocks noGrp="1"/>
          </p:cNvSpPr>
          <p:nvPr/>
        </p:nvSpPr>
        <p:spPr>
          <a:xfrm>
            <a:off x="2324100" y="5124450"/>
            <a:ext cx="7543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847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壓力測試一定要清理，不然背景容器會一直吃 CPU。</a:t>
            </a:r>
          </a:p>
        </p:txBody>
      </p:sp>
      <p:sp>
        <p:nvSpPr>
          <p:cNvPr id="13" name="">
            <a:extLst>
              <a:ext uri="{FF2B5EF4-FFF2-40B4-BE49-F238E27FC236}">
                <ns2:creationId id="{7DE00D64-1E14-4343-9922-0B9F5ACD3FA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EBC8A670-F6DF-44A5-AF57-144B50260D2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>
              <a:ext uri="{FF2B5EF4-FFF2-40B4-BE49-F238E27FC236}">
                <ns2:creationId id="{E01F77F9-D4CF-4398-B8E8-CECFC0598AC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ns3:creationId val="905272283"/>
      </p:ext>
    </p:extLst>
  </p:cSld>
</p:sld>
</file>

<file path=ppt/slides/slide2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64623C1F-00BF-4EE5-AE60-C5721E937CE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MEMORY LIMITS</a:t>
            </a:r>
          </a:p>
        </p:txBody>
      </p:sp>
      <p:sp>
        <p:nvSpPr>
          <p:cNvPr id="2" name="">
            <a:extLst>
              <a:ext uri="{FF2B5EF4-FFF2-40B4-BE49-F238E27FC236}">
                <ns2:creationId id="{ACFA8B12-5477-411E-A617-886AC8E4A56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Memory 限制：硬限制、Swap、軟限制</a:t>
            </a:r>
          </a:p>
        </p:txBody>
      </p:sp>
      <p:sp>
        <p:nvSpPr>
          <p:cNvPr id="3" name="">
            <a:extLst>
              <a:ext uri="{FF2B5EF4-FFF2-40B4-BE49-F238E27FC236}">
                <ns2:creationId id="{2042C876-26B5-4502-A894-42DC849BE9C8}"/>
              </a:ext>
            </a:extLst>
          </p:cNvPr>
          <p:cNvSpPr>
            <a:spLocks noGrp="1"/>
          </p:cNvSpPr>
          <p:nvPr/>
        </p:nvSpPr>
        <p:spPr>
          <a:xfrm>
            <a:off x="762000" y="1409700"/>
            <a:ext cx="7239000" cy="2914650"/>
          </a:xfrm>
          <a:prstGeom prst="roundRect">
            <a:avLst>
              <a:gd name="adj" fmla="val 326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062F763A-827C-4094-8EDC-03BFAF1C5AC0}"/>
              </a:ext>
            </a:extLst>
          </p:cNvPr>
          <p:cNvSpPr>
            <a:spLocks noGrp="1"/>
          </p:cNvSpPr>
          <p:nvPr/>
        </p:nvSpPr>
        <p:spPr>
          <a:xfrm>
            <a:off x="933450" y="15716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BCAB901B-E44E-4874-881F-3A5D6E885329}"/>
              </a:ext>
            </a:extLst>
          </p:cNvPr>
          <p:cNvSpPr>
            <a:spLocks noGrp="1"/>
          </p:cNvSpPr>
          <p:nvPr/>
        </p:nvSpPr>
        <p:spPr>
          <a:xfrm>
            <a:off x="1104900" y="15716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CFAAEFFD-7735-4738-AE0B-157DEE54DEDC}"/>
              </a:ext>
            </a:extLst>
          </p:cNvPr>
          <p:cNvSpPr>
            <a:spLocks noGrp="1"/>
          </p:cNvSpPr>
          <p:nvPr/>
        </p:nvSpPr>
        <p:spPr>
          <a:xfrm>
            <a:off x="1276350" y="15716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7FF76FE5-510A-4945-A871-8EE1E7FE5F35}"/>
              </a:ext>
            </a:extLst>
          </p:cNvPr>
          <p:cNvSpPr>
            <a:spLocks noGrp="1"/>
          </p:cNvSpPr>
          <p:nvPr/>
        </p:nvSpPr>
        <p:spPr>
          <a:xfrm>
            <a:off x="971550" y="1828800"/>
            <a:ext cx="6819900" cy="2362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256m --name mem-limited nginx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256m --memory-swap 512m --name mem-swap nginx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256m --memory-reservation 128m --name mem-soft nginx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oom-test --format='{{.State.OOMKilled}}'</a:t>
            </a:r>
          </a:p>
        </p:txBody>
      </p:sp>
      <p:sp>
        <p:nvSpPr>
          <p:cNvPr id="8" name="">
            <a:extLst>
              <a:ext uri="{FF2B5EF4-FFF2-40B4-BE49-F238E27FC236}">
                <ns2:creationId id="{CA527042-B4A0-4208-89F0-F855E43EA6B7}"/>
              </a:ext>
            </a:extLst>
          </p:cNvPr>
          <p:cNvSpPr>
            <a:spLocks noGrp="1"/>
          </p:cNvSpPr>
          <p:nvPr/>
        </p:nvSpPr>
        <p:spPr>
          <a:xfrm>
            <a:off x="8477250" y="1466850"/>
            <a:ext cx="2647950" cy="762000"/>
          </a:xfrm>
          <a:prstGeom prst="roundRect">
            <a:avLst>
              <a:gd name="adj" fmla="val 15000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5CE60302-F8BD-4B7C-B949-1B5E3DDB2A10}"/>
              </a:ext>
            </a:extLst>
          </p:cNvPr>
          <p:cNvSpPr>
            <a:spLocks noGrp="1"/>
          </p:cNvSpPr>
          <p:nvPr/>
        </p:nvSpPr>
        <p:spPr>
          <a:xfrm>
            <a:off x="8705850" y="1657350"/>
            <a:ext cx="2190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-m / --memory</a:t>
            </a:r>
          </a:p>
        </p:txBody>
      </p:sp>
      <p:sp>
        <p:nvSpPr>
          <p:cNvPr id="10" name="">
            <a:extLst>
              <a:ext uri="{FF2B5EF4-FFF2-40B4-BE49-F238E27FC236}">
                <ns2:creationId id="{6AA30268-781B-41BC-AEB4-76F730876EAB}"/>
              </a:ext>
            </a:extLst>
          </p:cNvPr>
          <p:cNvSpPr>
            <a:spLocks noGrp="1"/>
          </p:cNvSpPr>
          <p:nvPr/>
        </p:nvSpPr>
        <p:spPr>
          <a:xfrm>
            <a:off x="8705850" y="1943100"/>
            <a:ext cx="2190750" cy="95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2411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硬上限，超過可能 OOM Kill</a:t>
            </a:r>
          </a:p>
        </p:txBody>
      </p:sp>
      <p:sp>
        <p:nvSpPr>
          <p:cNvPr id="11" name="">
            <a:extLst>
              <a:ext uri="{FF2B5EF4-FFF2-40B4-BE49-F238E27FC236}">
                <ns2:creationId id="{78CBC06D-9255-4E44-95F6-4F4E44CE3DEF}"/>
              </a:ext>
            </a:extLst>
          </p:cNvPr>
          <p:cNvSpPr>
            <a:spLocks noGrp="1"/>
          </p:cNvSpPr>
          <p:nvPr/>
        </p:nvSpPr>
        <p:spPr>
          <a:xfrm>
            <a:off x="8477250" y="2495550"/>
            <a:ext cx="2647950" cy="76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4BC9F8F1-9248-483E-AB8E-F5323DBC77FB}"/>
              </a:ext>
            </a:extLst>
          </p:cNvPr>
          <p:cNvSpPr>
            <a:spLocks noGrp="1"/>
          </p:cNvSpPr>
          <p:nvPr/>
        </p:nvSpPr>
        <p:spPr>
          <a:xfrm>
            <a:off x="8705850" y="2686050"/>
            <a:ext cx="2190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--memory-swap</a:t>
            </a:r>
          </a:p>
        </p:txBody>
      </p:sp>
      <p:sp>
        <p:nvSpPr>
          <p:cNvPr id="13" name="">
            <a:extLst>
              <a:ext uri="{FF2B5EF4-FFF2-40B4-BE49-F238E27FC236}">
                <ns2:creationId id="{21D1080A-C4D3-4043-BFB3-D4B13B1CB4BA}"/>
              </a:ext>
            </a:extLst>
          </p:cNvPr>
          <p:cNvSpPr>
            <a:spLocks noGrp="1"/>
          </p:cNvSpPr>
          <p:nvPr/>
        </p:nvSpPr>
        <p:spPr>
          <a:xfrm>
            <a:off x="8705850" y="2971800"/>
            <a:ext cx="2190750" cy="95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2411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記憶體 + swap 的總上限</a:t>
            </a:r>
          </a:p>
        </p:txBody>
      </p:sp>
      <p:sp>
        <p:nvSpPr>
          <p:cNvPr id="14" name="">
            <a:extLst>
              <a:ext uri="{FF2B5EF4-FFF2-40B4-BE49-F238E27FC236}">
                <ns2:creationId id="{4C230CAE-7DC0-4EDA-BFE8-7CC8D562A38A}"/>
              </a:ext>
            </a:extLst>
          </p:cNvPr>
          <p:cNvSpPr>
            <a:spLocks noGrp="1"/>
          </p:cNvSpPr>
          <p:nvPr/>
        </p:nvSpPr>
        <p:spPr>
          <a:xfrm>
            <a:off x="8477250" y="3524250"/>
            <a:ext cx="2647950" cy="76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F2071FB3-DB93-47F9-AF9F-0F03A9D4EBD8}"/>
              </a:ext>
            </a:extLst>
          </p:cNvPr>
          <p:cNvSpPr>
            <a:spLocks noGrp="1"/>
          </p:cNvSpPr>
          <p:nvPr/>
        </p:nvSpPr>
        <p:spPr>
          <a:xfrm>
            <a:off x="8705850" y="3714750"/>
            <a:ext cx="2190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--memory-reservation</a:t>
            </a:r>
          </a:p>
        </p:txBody>
      </p:sp>
      <p:sp>
        <p:nvSpPr>
          <p:cNvPr id="16" name="">
            <a:extLst>
              <a:ext uri="{FF2B5EF4-FFF2-40B4-BE49-F238E27FC236}">
                <ns2:creationId id="{3B9FA261-75B5-4F17-8D5D-66CBBFD01AEB}"/>
              </a:ext>
            </a:extLst>
          </p:cNvPr>
          <p:cNvSpPr>
            <a:spLocks noGrp="1"/>
          </p:cNvSpPr>
          <p:nvPr/>
        </p:nvSpPr>
        <p:spPr>
          <a:xfrm>
            <a:off x="8705850" y="4000500"/>
            <a:ext cx="2190750" cy="95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2411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軟限制，Docker 會盡量維持</a:t>
            </a:r>
          </a:p>
        </p:txBody>
      </p:sp>
      <p:sp>
        <p:nvSpPr>
          <p:cNvPr id="17" name="">
            <a:extLst>
              <a:ext uri="{FF2B5EF4-FFF2-40B4-BE49-F238E27FC236}">
                <ns2:creationId id="{6348B7E4-82E2-4A5D-BFDE-A987D2866C9E}"/>
              </a:ext>
            </a:extLst>
          </p:cNvPr>
          <p:cNvSpPr>
            <a:spLocks noGrp="1"/>
          </p:cNvSpPr>
          <p:nvPr/>
        </p:nvSpPr>
        <p:spPr>
          <a:xfrm>
            <a:off x="1771650" y="5238750"/>
            <a:ext cx="8648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35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容器被 OOM Kill 後，通常要用 logs / inspect 找原因，不只看狀態。</a:t>
            </a:r>
          </a:p>
        </p:txBody>
      </p:sp>
      <p:sp>
        <p:nvSpPr>
          <p:cNvPr id="18" name="">
            <a:extLst>
              <a:ext uri="{FF2B5EF4-FFF2-40B4-BE49-F238E27FC236}">
                <ns2:creationId id="{B0A817D8-6D52-4125-9655-9F6ACDA789D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3C970278-CE91-44E3-B82D-8A29BEC0F49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0" name="">
            <a:extLst>
              <a:ext uri="{FF2B5EF4-FFF2-40B4-BE49-F238E27FC236}">
                <ns2:creationId id="{81E1CEBA-1D8C-43AC-BA52-00E6995F890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ns3:creationId val="366591310"/>
      </p:ext>
    </p:extLst>
  </p:cSld>
</p:sld>
</file>

<file path=ppt/slides/slide2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CE2249B-6A1B-43A7-BECF-72C0BE93B7A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LIVE UPDATE</a:t>
            </a:r>
          </a:p>
        </p:txBody>
      </p:sp>
      <p:sp>
        <p:nvSpPr>
          <p:cNvPr id="2" name="">
            <a:extLst>
              <a:ext uri="{FF2B5EF4-FFF2-40B4-BE49-F238E27FC236}">
                <ns2:creationId id="{B247571E-6649-4FB4-BBF5-85DDFE51F28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 update：容器執行中也能調資源</a:t>
            </a:r>
          </a:p>
        </p:txBody>
      </p:sp>
      <p:sp>
        <p:nvSpPr>
          <p:cNvPr id="3" name="">
            <a:extLst>
              <a:ext uri="{FF2B5EF4-FFF2-40B4-BE49-F238E27FC236}">
                <ns2:creationId id="{06BD5209-816F-48F5-ADB6-3B39D35C303F}"/>
              </a:ext>
            </a:extLst>
          </p:cNvPr>
          <p:cNvSpPr>
            <a:spLocks noGrp="1"/>
          </p:cNvSpPr>
          <p:nvPr/>
        </p:nvSpPr>
        <p:spPr>
          <a:xfrm>
            <a:off x="762000" y="1447800"/>
            <a:ext cx="6858000" cy="3257550"/>
          </a:xfrm>
          <a:prstGeom prst="roundRect">
            <a:avLst>
              <a:gd name="adj" fmla="val 292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246DECD0-07E4-480B-AE2E-6F15A465025B}"/>
              </a:ext>
            </a:extLst>
          </p:cNvPr>
          <p:cNvSpPr>
            <a:spLocks noGrp="1"/>
          </p:cNvSpPr>
          <p:nvPr/>
        </p:nvSpPr>
        <p:spPr>
          <a:xfrm>
            <a:off x="933450" y="1609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A78F09F4-04F0-43FE-8D6B-91132275D6F3}"/>
              </a:ext>
            </a:extLst>
          </p:cNvPr>
          <p:cNvSpPr>
            <a:spLocks noGrp="1"/>
          </p:cNvSpPr>
          <p:nvPr/>
        </p:nvSpPr>
        <p:spPr>
          <a:xfrm>
            <a:off x="1104900" y="1609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38A0EFDE-293E-4C68-B8D6-F241F6FED2C5}"/>
              </a:ext>
            </a:extLst>
          </p:cNvPr>
          <p:cNvSpPr>
            <a:spLocks noGrp="1"/>
          </p:cNvSpPr>
          <p:nvPr/>
        </p:nvSpPr>
        <p:spPr>
          <a:xfrm>
            <a:off x="1276350" y="1609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140E6C25-5384-4369-9C7B-B975230598BE}"/>
              </a:ext>
            </a:extLst>
          </p:cNvPr>
          <p:cNvSpPr>
            <a:spLocks noGrp="1"/>
          </p:cNvSpPr>
          <p:nvPr/>
        </p:nvSpPr>
        <p:spPr>
          <a:xfrm>
            <a:off x="971550" y="1866900"/>
            <a:ext cx="6438900" cy="2705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live-update -m 256m --cpus=1 nginx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live-update --no-stream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update --memory 512m --memory-swap 1g live-update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update --cpus 2 live-update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live-update --no-stream</a:t>
            </a:r>
          </a:p>
        </p:txBody>
      </p:sp>
      <p:sp>
        <p:nvSpPr>
          <p:cNvPr id="8" name="">
            <a:extLst>
              <a:ext uri="{FF2B5EF4-FFF2-40B4-BE49-F238E27FC236}">
                <ns2:creationId id="{742A3468-21D8-45C1-9FE4-8721430F0BD3}"/>
              </a:ext>
            </a:extLst>
          </p:cNvPr>
          <p:cNvSpPr>
            <a:spLocks noGrp="1"/>
          </p:cNvSpPr>
          <p:nvPr/>
        </p:nvSpPr>
        <p:spPr>
          <a:xfrm>
            <a:off x="8210550" y="1619250"/>
            <a:ext cx="2571750" cy="2095500"/>
          </a:xfrm>
          <a:prstGeom prst="roundRect">
            <a:avLst>
              <a:gd name="adj" fmla="val 5455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361E2B80-AA64-4D66-B9DC-AC4F5994B358}"/>
              </a:ext>
            </a:extLst>
          </p:cNvPr>
          <p:cNvSpPr>
            <a:spLocks noGrp="1"/>
          </p:cNvSpPr>
          <p:nvPr/>
        </p:nvSpPr>
        <p:spPr>
          <a:xfrm>
            <a:off x="8439150" y="1809750"/>
            <a:ext cx="2114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可動態修改</a:t>
            </a:r>
          </a:p>
        </p:txBody>
      </p:sp>
      <p:sp>
        <p:nvSpPr>
          <p:cNvPr id="10" name="">
            <a:extLst>
              <a:ext uri="{FF2B5EF4-FFF2-40B4-BE49-F238E27FC236}">
                <ns2:creationId id="{F760D744-F25D-4DEA-B7B0-8E1617F7DAAB}"/>
              </a:ext>
            </a:extLst>
          </p:cNvPr>
          <p:cNvSpPr>
            <a:spLocks noGrp="1"/>
          </p:cNvSpPr>
          <p:nvPr/>
        </p:nvSpPr>
        <p:spPr>
          <a:xfrm>
            <a:off x="8439150" y="2266950"/>
            <a:ext cx="211455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--cpus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--cpu-shares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--cpuset-cpus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--memory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--memory-swap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--memory-reservation</a:t>
            </a:r>
          </a:p>
        </p:txBody>
      </p:sp>
      <p:sp>
        <p:nvSpPr>
          <p:cNvPr id="11" name="">
            <a:extLst>
              <a:ext uri="{FF2B5EF4-FFF2-40B4-BE49-F238E27FC236}">
                <ns2:creationId id="{B98AC6D9-D610-41F8-9A33-9333D218A8A4}"/>
              </a:ext>
            </a:extLst>
          </p:cNvPr>
          <p:cNvSpPr>
            <a:spLocks noGrp="1"/>
          </p:cNvSpPr>
          <p:nvPr/>
        </p:nvSpPr>
        <p:spPr>
          <a:xfrm>
            <a:off x="1352550" y="5467350"/>
            <a:ext cx="9486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305"/>
          </a:bodyPr>
          <a:lstStyle/>
          <a:p>
            <a:pPr algn="ctr">
              <a:lnSpc>
                <a:spcPct val="106000"/>
              </a:lnSpc>
              <a:buNone/>
              <a:defRPr sz="1425" b="1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2E8F0"/>
                </a:solidFill>
                <a:latin typeface="Aptos"/>
                <a:ea typeface="Aptos"/>
                <a:cs typeface="Aptos"/>
              </a:rPr>
              <a:t>注意：降低 memory 可能造成 OOM；Windows Docker Desktop 可能不支援部分動態調整。</a:t>
            </a:r>
          </a:p>
        </p:txBody>
      </p:sp>
      <p:sp>
        <p:nvSpPr>
          <p:cNvPr id="12" name="">
            <a:extLst>
              <a:ext uri="{FF2B5EF4-FFF2-40B4-BE49-F238E27FC236}">
                <ns2:creationId id="{ABD92F1A-8273-4C55-9AF5-759C3117B03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F4A810F1-6ABB-4138-9270-3B4BD5E5080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>
              <a:ext uri="{FF2B5EF4-FFF2-40B4-BE49-F238E27FC236}">
                <ns2:creationId id="{DB7E2E5D-6788-40E2-BA17-CD41306EEF3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ns3:creationId val="1892709281"/>
      </p:ext>
    </p:extLst>
  </p:cSld>
</p:sld>
</file>

<file path=ppt/slides/slide2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4E86305-0803-400F-ADF1-DC990BB6EEC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P4</a:t>
            </a:r>
          </a:p>
        </p:txBody>
      </p:sp>
      <p:sp>
        <p:nvSpPr>
          <p:cNvPr id="2" name="">
            <a:extLst>
              <a:ext uri="{FF2B5EF4-FFF2-40B4-BE49-F238E27FC236}">
                <ns2:creationId id="{825C5631-13A8-4B5C-A14C-9A702454205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P4：資源限制實驗</a:t>
            </a:r>
          </a:p>
        </p:txBody>
      </p:sp>
      <p:sp>
        <p:nvSpPr>
          <p:cNvPr id="3" name="">
            <a:extLst>
              <a:ext uri="{FF2B5EF4-FFF2-40B4-BE49-F238E27FC236}">
                <ns2:creationId id="{D9F10AD9-150E-4237-87B3-A1DBFE1B848C}"/>
              </a:ext>
            </a:extLst>
          </p:cNvPr>
          <p:cNvSpPr>
            <a:spLocks noGrp="1"/>
          </p:cNvSpPr>
          <p:nvPr/>
        </p:nvSpPr>
        <p:spPr>
          <a:xfrm>
            <a:off x="952500" y="1562100"/>
            <a:ext cx="6667500" cy="238125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1240BACF-F260-450E-B778-1F9CA7F570D0}"/>
              </a:ext>
            </a:extLst>
          </p:cNvPr>
          <p:cNvSpPr>
            <a:spLocks noGrp="1"/>
          </p:cNvSpPr>
          <p:nvPr/>
        </p:nvSpPr>
        <p:spPr>
          <a:xfrm>
            <a:off x="1123950" y="17240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91050416-444C-4A53-86C3-036641EC4232}"/>
              </a:ext>
            </a:extLst>
          </p:cNvPr>
          <p:cNvSpPr>
            <a:spLocks noGrp="1"/>
          </p:cNvSpPr>
          <p:nvPr/>
        </p:nvSpPr>
        <p:spPr>
          <a:xfrm>
            <a:off x="1295400" y="17240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129FAF37-2E7E-4E79-8813-16DDEDD69F19}"/>
              </a:ext>
            </a:extLst>
          </p:cNvPr>
          <p:cNvSpPr>
            <a:spLocks noGrp="1"/>
          </p:cNvSpPr>
          <p:nvPr/>
        </p:nvSpPr>
        <p:spPr>
          <a:xfrm>
            <a:off x="1466850" y="17240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FED690B3-AFCC-4FD7-AED4-CC653131772A}"/>
              </a:ext>
            </a:extLst>
          </p:cNvPr>
          <p:cNvSpPr>
            <a:spLocks noGrp="1"/>
          </p:cNvSpPr>
          <p:nvPr/>
        </p:nvSpPr>
        <p:spPr>
          <a:xfrm>
            <a:off x="1162050" y="1981200"/>
            <a:ext cx="6248400" cy="1828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no-limit nginx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limited --cpus=0.5 -m 128m nginx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--no-stream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no-limit limited</a:t>
            </a:r>
          </a:p>
        </p:txBody>
      </p:sp>
      <p:sp>
        <p:nvSpPr>
          <p:cNvPr id="8" name="">
            <a:extLst>
              <a:ext uri="{FF2B5EF4-FFF2-40B4-BE49-F238E27FC236}">
                <ns2:creationId id="{87E45300-D40C-4147-98B3-E2A4425D3EB6}"/>
              </a:ext>
            </a:extLst>
          </p:cNvPr>
          <p:cNvSpPr>
            <a:spLocks noGrp="1"/>
          </p:cNvSpPr>
          <p:nvPr/>
        </p:nvSpPr>
        <p:spPr>
          <a:xfrm>
            <a:off x="8153400" y="1695450"/>
            <a:ext cx="2819400" cy="2038350"/>
          </a:xfrm>
          <a:prstGeom prst="roundRect">
            <a:avLst>
              <a:gd name="adj" fmla="val 5607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56CD1AFB-B525-4B4F-80B0-35099502EA14}"/>
              </a:ext>
            </a:extLst>
          </p:cNvPr>
          <p:cNvSpPr>
            <a:spLocks noGrp="1"/>
          </p:cNvSpPr>
          <p:nvPr/>
        </p:nvSpPr>
        <p:spPr>
          <a:xfrm>
            <a:off x="8382000" y="1885950"/>
            <a:ext cx="2362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觀察問題</a:t>
            </a:r>
          </a:p>
        </p:txBody>
      </p:sp>
      <p:sp>
        <p:nvSpPr>
          <p:cNvPr id="10" name="">
            <a:extLst>
              <a:ext uri="{FF2B5EF4-FFF2-40B4-BE49-F238E27FC236}">
                <ns2:creationId id="{CE262E2D-3F57-4139-A72D-487EEC4FA52F}"/>
              </a:ext>
            </a:extLst>
          </p:cNvPr>
          <p:cNvSpPr>
            <a:spLocks noGrp="1"/>
          </p:cNvSpPr>
          <p:nvPr/>
        </p:nvSpPr>
        <p:spPr>
          <a:xfrm>
            <a:off x="8382000" y="2381250"/>
            <a:ext cx="236220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807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1. 兩個容器的 MEM LIMIT 是否不同？</a:t>
            </a:r>
          </a:p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2. limited 的 CPU 限制是否顯示在 stats/inspect？</a:t>
            </a:r>
          </a:p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3. 如果改成 docker update，結果是否改變？</a:t>
            </a:r>
          </a:p>
        </p:txBody>
      </p:sp>
      <p:sp>
        <p:nvSpPr>
          <p:cNvPr id="11" name="">
            <a:extLst>
              <a:ext uri="{FF2B5EF4-FFF2-40B4-BE49-F238E27FC236}">
                <ns2:creationId id="{BDA4654C-24F9-48BC-A554-FA332175CDA5}"/>
              </a:ext>
            </a:extLst>
          </p:cNvPr>
          <p:cNvSpPr>
            <a:spLocks noGrp="1"/>
          </p:cNvSpPr>
          <p:nvPr/>
        </p:nvSpPr>
        <p:spPr>
          <a:xfrm>
            <a:off x="1809750" y="4819650"/>
            <a:ext cx="8572500" cy="590550"/>
          </a:xfrm>
          <a:prstGeom prst="roundRect">
            <a:avLst>
              <a:gd name="adj" fmla="val 16129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444B034E-2DB1-4462-B879-1E7823BDC359}"/>
              </a:ext>
            </a:extLst>
          </p:cNvPr>
          <p:cNvSpPr>
            <a:spLocks noGrp="1"/>
          </p:cNvSpPr>
          <p:nvPr/>
        </p:nvSpPr>
        <p:spPr>
          <a:xfrm>
            <a:off x="2133600" y="5010150"/>
            <a:ext cx="792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完成標準：能用 stats 或 inspect 證明 no-limit 與 limited 的限制不同。</a:t>
            </a:r>
          </a:p>
        </p:txBody>
      </p:sp>
      <p:sp>
        <p:nvSpPr>
          <p:cNvPr id="13" name="">
            <a:extLst>
              <a:ext uri="{FF2B5EF4-FFF2-40B4-BE49-F238E27FC236}">
                <ns2:creationId id="{34520E2D-D4FE-4256-9FCC-62AFEA2D76C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5B1CB062-F1FB-4E99-8C2E-5589CAFDA1A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>
              <a:ext uri="{FF2B5EF4-FFF2-40B4-BE49-F238E27FC236}">
                <ns2:creationId id="{784CADAE-98B1-4645-A259-832A9DDBDA5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ns3:creationId val="1438298208"/>
      </p:ext>
    </p:extLst>
  </p:cSld>
</p:sld>
</file>

<file path=ppt/slides/slide3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6870A3B-9952-4B27-8470-AD05E097CCD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PRODUCTION-LIKE SCENARIO</a:t>
            </a:r>
          </a:p>
        </p:txBody>
      </p:sp>
      <p:sp>
        <p:nvSpPr>
          <p:cNvPr id="2" name="">
            <a:extLst>
              <a:ext uri="{FF2B5EF4-FFF2-40B4-BE49-F238E27FC236}">
                <ns2:creationId id="{B676982A-6327-42D9-BCB3-77E53BD1A93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多容器資源配置實戰</a:t>
            </a:r>
          </a:p>
        </p:txBody>
      </p:sp>
      <p:sp>
        <p:nvSpPr>
          <p:cNvPr id="3" name="">
            <a:extLst>
              <a:ext uri="{FF2B5EF4-FFF2-40B4-BE49-F238E27FC236}">
                <ns2:creationId id="{86017426-1BD2-4C6C-89DD-55D93F596AE9}"/>
              </a:ext>
            </a:extLst>
          </p:cNvPr>
          <p:cNvSpPr>
            <a:spLocks noGrp="1"/>
          </p:cNvSpPr>
          <p:nvPr/>
        </p:nvSpPr>
        <p:spPr>
          <a:xfrm>
            <a:off x="1409700" y="1847850"/>
            <a:ext cx="2857500" cy="1924050"/>
          </a:xfrm>
          <a:prstGeom prst="roundRect">
            <a:avLst>
              <a:gd name="adj" fmla="val 5941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871EA307-931C-4657-993F-0022FA1BE318}"/>
              </a:ext>
            </a:extLst>
          </p:cNvPr>
          <p:cNvSpPr>
            <a:spLocks noGrp="1"/>
          </p:cNvSpPr>
          <p:nvPr/>
        </p:nvSpPr>
        <p:spPr>
          <a:xfrm>
            <a:off x="1676400" y="2286000"/>
            <a:ext cx="23241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Flask</a:t>
            </a:r>
          </a:p>
        </p:txBody>
      </p:sp>
      <p:sp>
        <p:nvSpPr>
          <p:cNvPr id="5" name="">
            <a:extLst>
              <a:ext uri="{FF2B5EF4-FFF2-40B4-BE49-F238E27FC236}">
                <ns2:creationId id="{042FB766-819C-493B-A224-65BE129A34EF}"/>
              </a:ext>
            </a:extLst>
          </p:cNvPr>
          <p:cNvSpPr>
            <a:spLocks noGrp="1"/>
          </p:cNvSpPr>
          <p:nvPr/>
        </p:nvSpPr>
        <p:spPr>
          <a:xfrm>
            <a:off x="1676400" y="2952750"/>
            <a:ext cx="23241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1 CPU</a:t>
            </a:r>
          </a:p>
          <a:p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512 MB</a:t>
            </a:r>
          </a:p>
        </p:txBody>
      </p:sp>
      <p:sp>
        <p:nvSpPr>
          <p:cNvPr id="6" name="">
            <a:extLst>
              <a:ext uri="{FF2B5EF4-FFF2-40B4-BE49-F238E27FC236}">
                <ns2:creationId id="{4C40933B-75F2-4FF1-BB7A-91E5EF132CBC}"/>
              </a:ext>
            </a:extLst>
          </p:cNvPr>
          <p:cNvSpPr>
            <a:spLocks noGrp="1"/>
          </p:cNvSpPr>
          <p:nvPr/>
        </p:nvSpPr>
        <p:spPr>
          <a:xfrm>
            <a:off x="4686300" y="1847850"/>
            <a:ext cx="2857500" cy="1924050"/>
          </a:xfrm>
          <a:prstGeom prst="roundRect">
            <a:avLst>
              <a:gd name="adj" fmla="val 5941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5A2CD22E-90DF-4711-A400-45A86C108431}"/>
              </a:ext>
            </a:extLst>
          </p:cNvPr>
          <p:cNvSpPr>
            <a:spLocks noGrp="1"/>
          </p:cNvSpPr>
          <p:nvPr/>
        </p:nvSpPr>
        <p:spPr>
          <a:xfrm>
            <a:off x="4953000" y="2286000"/>
            <a:ext cx="23241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MySQL</a:t>
            </a:r>
          </a:p>
        </p:txBody>
      </p:sp>
      <p:sp>
        <p:nvSpPr>
          <p:cNvPr id="8" name="">
            <a:extLst>
              <a:ext uri="{FF2B5EF4-FFF2-40B4-BE49-F238E27FC236}">
                <ns2:creationId id="{AEB6C174-B92B-4835-80A3-22A12910602C}"/>
              </a:ext>
            </a:extLst>
          </p:cNvPr>
          <p:cNvSpPr>
            <a:spLocks noGrp="1"/>
          </p:cNvSpPr>
          <p:nvPr/>
        </p:nvSpPr>
        <p:spPr>
          <a:xfrm>
            <a:off x="4953000" y="2952750"/>
            <a:ext cx="23241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 CPU</a:t>
            </a:r>
          </a:p>
          <a:p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 GB</a:t>
            </a:r>
          </a:p>
        </p:txBody>
      </p:sp>
      <p:sp>
        <p:nvSpPr>
          <p:cNvPr id="9" name="">
            <a:extLst>
              <a:ext uri="{FF2B5EF4-FFF2-40B4-BE49-F238E27FC236}">
                <ns2:creationId id="{EC29A987-B1E7-45C8-B10C-880F89BF6FD9}"/>
              </a:ext>
            </a:extLst>
          </p:cNvPr>
          <p:cNvSpPr>
            <a:spLocks noGrp="1"/>
          </p:cNvSpPr>
          <p:nvPr/>
        </p:nvSpPr>
        <p:spPr>
          <a:xfrm>
            <a:off x="7962900" y="1847850"/>
            <a:ext cx="2857500" cy="1924050"/>
          </a:xfrm>
          <a:prstGeom prst="roundRect">
            <a:avLst>
              <a:gd name="adj" fmla="val 5941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B02A8019-2E09-4822-B6A9-6F1A427AA930}"/>
              </a:ext>
            </a:extLst>
          </p:cNvPr>
          <p:cNvSpPr>
            <a:spLocks noGrp="1"/>
          </p:cNvSpPr>
          <p:nvPr/>
        </p:nvSpPr>
        <p:spPr>
          <a:xfrm>
            <a:off x="8229600" y="2286000"/>
            <a:ext cx="23241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Redis</a:t>
            </a:r>
          </a:p>
        </p:txBody>
      </p:sp>
      <p:sp>
        <p:nvSpPr>
          <p:cNvPr id="11" name="">
            <a:extLst>
              <a:ext uri="{FF2B5EF4-FFF2-40B4-BE49-F238E27FC236}">
                <ns2:creationId id="{E773FCB9-333A-4B63-8C2E-08E60F131B6D}"/>
              </a:ext>
            </a:extLst>
          </p:cNvPr>
          <p:cNvSpPr>
            <a:spLocks noGrp="1"/>
          </p:cNvSpPr>
          <p:nvPr/>
        </p:nvSpPr>
        <p:spPr>
          <a:xfrm>
            <a:off x="8229600" y="2952750"/>
            <a:ext cx="23241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0.5 CPU</a:t>
            </a:r>
          </a:p>
          <a:p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256 MB</a:t>
            </a:r>
          </a:p>
        </p:txBody>
      </p:sp>
      <p:sp>
        <p:nvSpPr>
          <p:cNvPr id="12" name="">
            <a:extLst>
              <a:ext uri="{FF2B5EF4-FFF2-40B4-BE49-F238E27FC236}">
                <ns2:creationId id="{445845BD-784E-4600-8DB1-08762A6100EF}"/>
              </a:ext>
            </a:extLst>
          </p:cNvPr>
          <p:cNvSpPr>
            <a:spLocks noGrp="1"/>
          </p:cNvSpPr>
          <p:nvPr/>
        </p:nvSpPr>
        <p:spPr>
          <a:xfrm>
            <a:off x="2343150" y="4743450"/>
            <a:ext cx="7505700" cy="1066800"/>
          </a:xfrm>
          <a:prstGeom prst="roundRect">
            <a:avLst>
              <a:gd name="adj" fmla="val 8929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3" name="">
            <a:extLst>
              <a:ext uri="{FF2B5EF4-FFF2-40B4-BE49-F238E27FC236}">
                <ns2:creationId id="{F1D3E284-753F-4C33-8FCA-263DF1CF0EE9}"/>
              </a:ext>
            </a:extLst>
          </p:cNvPr>
          <p:cNvSpPr>
            <a:spLocks noGrp="1"/>
          </p:cNvSpPr>
          <p:nvPr/>
        </p:nvSpPr>
        <p:spPr>
          <a:xfrm>
            <a:off x="2514600" y="4905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623FD334-EB57-4523-9B7C-091F5E1FEABF}"/>
              </a:ext>
            </a:extLst>
          </p:cNvPr>
          <p:cNvSpPr>
            <a:spLocks noGrp="1"/>
          </p:cNvSpPr>
          <p:nvPr/>
        </p:nvSpPr>
        <p:spPr>
          <a:xfrm>
            <a:off x="2686050" y="4905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BFDAC7FC-8355-4FE8-9A73-41B71DDF2BDA}"/>
              </a:ext>
            </a:extLst>
          </p:cNvPr>
          <p:cNvSpPr>
            <a:spLocks noGrp="1"/>
          </p:cNvSpPr>
          <p:nvPr/>
        </p:nvSpPr>
        <p:spPr>
          <a:xfrm>
            <a:off x="2857500" y="4905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3A84C40B-F597-425A-B46E-F991B7C7E0C1}"/>
              </a:ext>
            </a:extLst>
          </p:cNvPr>
          <p:cNvSpPr>
            <a:spLocks noGrp="1"/>
          </p:cNvSpPr>
          <p:nvPr/>
        </p:nvSpPr>
        <p:spPr>
          <a:xfrm>
            <a:off x="2552700" y="5162550"/>
            <a:ext cx="70866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5559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production-net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update --cpus=2 --memory=1g prod-flask</a:t>
            </a:r>
          </a:p>
        </p:txBody>
      </p:sp>
      <p:sp>
        <p:nvSpPr>
          <p:cNvPr id="17" name="">
            <a:extLst>
              <a:ext uri="{FF2B5EF4-FFF2-40B4-BE49-F238E27FC236}">
                <ns2:creationId id="{2F91084E-AFC4-4379-AC1D-D5E888D3A37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6851036B-6F54-48EC-8C7D-DF046C5706A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9" name="">
            <a:extLst>
              <a:ext uri="{FF2B5EF4-FFF2-40B4-BE49-F238E27FC236}">
                <ns2:creationId id="{06CC6180-C749-44BA-8805-79A94ECC8CF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ns3:creationId val="459159164"/>
      </p:ext>
    </p:extLst>
  </p:cSld>
</p:sld>
</file>

<file path=ppt/slides/slide3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C5D7BE27-AEE9-466C-9A9A-D0453A246134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CHALLENGE C1-C2</a:t>
            </a:r>
          </a:p>
        </p:txBody>
      </p:sp>
      <p:sp>
        <p:nvSpPr>
          <p:cNvPr id="2" name="">
            <a:extLst>
              <a:ext uri="{FF2B5EF4-FFF2-40B4-BE49-F238E27FC236}">
                <ns2:creationId id="{99AD5529-174F-4095-87E1-CFA4801005F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挑戰題：把 Image 與資源控制做完整</a:t>
            </a:r>
          </a:p>
        </p:txBody>
      </p:sp>
      <p:sp>
        <p:nvSpPr>
          <p:cNvPr id="3" name="">
            <a:extLst>
              <a:ext uri="{FF2B5EF4-FFF2-40B4-BE49-F238E27FC236}">
                <ns2:creationId id="{7F87723D-57E9-4E86-BD9C-AC8031AF1BD9}"/>
              </a:ext>
            </a:extLst>
          </p:cNvPr>
          <p:cNvSpPr>
            <a:spLocks noGrp="1"/>
          </p:cNvSpPr>
          <p:nvPr/>
        </p:nvSpPr>
        <p:spPr>
          <a:xfrm>
            <a:off x="914400" y="1676400"/>
            <a:ext cx="4762500" cy="2419350"/>
          </a:xfrm>
          <a:prstGeom prst="roundRect">
            <a:avLst>
              <a:gd name="adj" fmla="val 4724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D8CD6E8C-8EAF-40F7-A3B6-C9DCB9AD2E56}"/>
              </a:ext>
            </a:extLst>
          </p:cNvPr>
          <p:cNvSpPr>
            <a:spLocks noGrp="1"/>
          </p:cNvSpPr>
          <p:nvPr/>
        </p:nvSpPr>
        <p:spPr>
          <a:xfrm>
            <a:off x="1143000" y="186690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C1：Flask + MySQL 的 Flask Image</a:t>
            </a:r>
          </a:p>
        </p:txBody>
      </p:sp>
      <p:sp>
        <p:nvSpPr>
          <p:cNvPr id="5" name="">
            <a:extLst>
              <a:ext uri="{FF2B5EF4-FFF2-40B4-BE49-F238E27FC236}">
                <ns2:creationId id="{D40D4585-7E72-4F02-A3DA-7C0952BF789A}"/>
              </a:ext>
            </a:extLst>
          </p:cNvPr>
          <p:cNvSpPr>
            <a:spLocks noGrp="1"/>
          </p:cNvSpPr>
          <p:nvPr/>
        </p:nvSpPr>
        <p:spPr>
          <a:xfrm>
            <a:off x="1143000" y="2476500"/>
            <a:ext cx="430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使用 python:3.11-slim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加入 .dockerignore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使用非 root user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Push 到 Docker Hub</a:t>
            </a:r>
          </a:p>
        </p:txBody>
      </p:sp>
      <p:sp>
        <p:nvSpPr>
          <p:cNvPr id="6" name="">
            <a:extLst>
              <a:ext uri="{FF2B5EF4-FFF2-40B4-BE49-F238E27FC236}">
                <ns2:creationId id="{1BFF0914-DF67-42CB-B02D-244EAFC6A931}"/>
              </a:ext>
            </a:extLst>
          </p:cNvPr>
          <p:cNvSpPr>
            <a:spLocks noGrp="1"/>
          </p:cNvSpPr>
          <p:nvPr/>
        </p:nvSpPr>
        <p:spPr>
          <a:xfrm>
            <a:off x="6515100" y="1676400"/>
            <a:ext cx="4762500" cy="2419350"/>
          </a:xfrm>
          <a:prstGeom prst="roundRect">
            <a:avLst>
              <a:gd name="adj" fmla="val 4724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EB8CAF6E-DF66-479D-99F9-806A97C0F2DF}"/>
              </a:ext>
            </a:extLst>
          </p:cNvPr>
          <p:cNvSpPr>
            <a:spLocks noGrp="1"/>
          </p:cNvSpPr>
          <p:nvPr/>
        </p:nvSpPr>
        <p:spPr>
          <a:xfrm>
            <a:off x="6743700" y="186690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180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C2：Nginx + MySQL + Redis 資源配置</a:t>
            </a:r>
          </a:p>
        </p:txBody>
      </p:sp>
      <p:sp>
        <p:nvSpPr>
          <p:cNvPr id="8" name="">
            <a:extLst>
              <a:ext uri="{FF2B5EF4-FFF2-40B4-BE49-F238E27FC236}">
                <ns2:creationId id="{0B05A44E-2A47-493A-855B-F51C13570BD0}"/>
              </a:ext>
            </a:extLst>
          </p:cNvPr>
          <p:cNvSpPr>
            <a:spLocks noGrp="1"/>
          </p:cNvSpPr>
          <p:nvPr/>
        </p:nvSpPr>
        <p:spPr>
          <a:xfrm>
            <a:off x="6743700" y="2476500"/>
            <a:ext cx="430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三個容器設定不同 CPU / Memory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docker stats 觀察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docker update 調整其中一個</a:t>
            </a:r>
          </a:p>
        </p:txBody>
      </p:sp>
      <p:sp>
        <p:nvSpPr>
          <p:cNvPr id="9" name="">
            <a:extLst>
              <a:ext uri="{FF2B5EF4-FFF2-40B4-BE49-F238E27FC236}">
                <ns2:creationId id="{E29AD465-29D7-42E7-A296-1C6E77FD2EA8}"/>
              </a:ext>
            </a:extLst>
          </p:cNvPr>
          <p:cNvSpPr>
            <a:spLocks noGrp="1"/>
          </p:cNvSpPr>
          <p:nvPr/>
        </p:nvSpPr>
        <p:spPr>
          <a:xfrm>
            <a:off x="1619250" y="5067300"/>
            <a:ext cx="895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交付物：Dockerfile、.dockerignore、執行指令、stats 截圖或文字記錄。</a:t>
            </a:r>
          </a:p>
        </p:txBody>
      </p:sp>
      <p:sp>
        <p:nvSpPr>
          <p:cNvPr id="10" name="">
            <a:extLst>
              <a:ext uri="{FF2B5EF4-FFF2-40B4-BE49-F238E27FC236}">
                <ns2:creationId id="{8335ABA2-E4A3-4D27-BCE1-ECF681F5FD1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086486E3-17AA-41D9-9B69-F2CF3354A4B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2" name="">
            <a:extLst>
              <a:ext uri="{FF2B5EF4-FFF2-40B4-BE49-F238E27FC236}">
                <ns2:creationId id="{67B0F634-48AB-4AF2-B1EB-F21F0DBDBBC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31</a:t>
            </a:r>
          </a:p>
        </p:txBody>
      </p:sp>
    </p:spTree>
    <p:extLst>
      <p:ext uri="{BB962C8B-B14F-4D97-AF65-F5344CB8AC3E}">
        <ns3:creationId val="697030350"/>
      </p:ext>
    </p:extLst>
  </p:cSld>
</p:sld>
</file>

<file path=ppt/slides/slide3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4326D753-F1F7-4238-B995-D460FED75DE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WRAP-UP</a:t>
            </a:r>
          </a:p>
        </p:txBody>
      </p:sp>
      <p:sp>
        <p:nvSpPr>
          <p:cNvPr id="2" name="">
            <a:extLst>
              <a:ext uri="{FF2B5EF4-FFF2-40B4-BE49-F238E27FC236}">
                <ns2:creationId id="{0DACDE29-D7C7-4274-831C-EAF60A93CA6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今天要帶走的指令與下一步</a:t>
            </a:r>
          </a:p>
        </p:txBody>
      </p:sp>
      <p:sp>
        <p:nvSpPr>
          <p:cNvPr id="3" name="">
            <a:extLst>
              <a:ext uri="{FF2B5EF4-FFF2-40B4-BE49-F238E27FC236}">
                <ns2:creationId id="{E7280296-90C0-4433-BE8E-91198A8447AB}"/>
              </a:ext>
            </a:extLst>
          </p:cNvPr>
          <p:cNvSpPr>
            <a:spLocks noGrp="1"/>
          </p:cNvSpPr>
          <p:nvPr/>
        </p:nvSpPr>
        <p:spPr>
          <a:xfrm>
            <a:off x="819150" y="1676400"/>
            <a:ext cx="3143250" cy="2381250"/>
          </a:xfrm>
          <a:prstGeom prst="roundRect">
            <a:avLst>
              <a:gd name="adj" fmla="val 48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3F351141-37BD-41AE-AF40-0641136DC13A}"/>
              </a:ext>
            </a:extLst>
          </p:cNvPr>
          <p:cNvSpPr>
            <a:spLocks noGrp="1"/>
          </p:cNvSpPr>
          <p:nvPr/>
        </p:nvSpPr>
        <p:spPr>
          <a:xfrm>
            <a:off x="1047750" y="18669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Image</a:t>
            </a:r>
          </a:p>
        </p:txBody>
      </p:sp>
      <p:sp>
        <p:nvSpPr>
          <p:cNvPr id="5" name="">
            <a:extLst>
              <a:ext uri="{FF2B5EF4-FFF2-40B4-BE49-F238E27FC236}">
                <ns2:creationId id="{1ADEAD73-AA36-4CF9-AA0B-3AF644D3CDAE}"/>
              </a:ext>
            </a:extLst>
          </p:cNvPr>
          <p:cNvSpPr>
            <a:spLocks noGrp="1"/>
          </p:cNvSpPr>
          <p:nvPr/>
        </p:nvSpPr>
        <p:spPr>
          <a:xfrm>
            <a:off x="1047750" y="2419350"/>
            <a:ext cx="268605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build -t app:v1 .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history app:v1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tag app:v1 user/app:v1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push user/app:v1</a:t>
            </a:r>
          </a:p>
        </p:txBody>
      </p:sp>
      <p:sp>
        <p:nvSpPr>
          <p:cNvPr id="6" name="">
            <a:extLst>
              <a:ext uri="{FF2B5EF4-FFF2-40B4-BE49-F238E27FC236}">
                <ns2:creationId id="{D39471C6-41AF-4BBC-9F62-70C55662050A}"/>
              </a:ext>
            </a:extLst>
          </p:cNvPr>
          <p:cNvSpPr>
            <a:spLocks noGrp="1"/>
          </p:cNvSpPr>
          <p:nvPr/>
        </p:nvSpPr>
        <p:spPr>
          <a:xfrm>
            <a:off x="4495800" y="1676400"/>
            <a:ext cx="3143250" cy="2381250"/>
          </a:xfrm>
          <a:prstGeom prst="roundRect">
            <a:avLst>
              <a:gd name="adj" fmla="val 4800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C07C6FEE-2DB3-4002-86F0-E913F5E6B803}"/>
              </a:ext>
            </a:extLst>
          </p:cNvPr>
          <p:cNvSpPr>
            <a:spLocks noGrp="1"/>
          </p:cNvSpPr>
          <p:nvPr/>
        </p:nvSpPr>
        <p:spPr>
          <a:xfrm>
            <a:off x="4724400" y="18669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Network</a:t>
            </a:r>
          </a:p>
        </p:txBody>
      </p:sp>
      <p:sp>
        <p:nvSpPr>
          <p:cNvPr id="8" name="">
            <a:extLst>
              <a:ext uri="{FF2B5EF4-FFF2-40B4-BE49-F238E27FC236}">
                <ns2:creationId id="{404C6B72-712A-4AD3-BDD7-CCABE49CBD2C}"/>
              </a:ext>
            </a:extLst>
          </p:cNvPr>
          <p:cNvSpPr>
            <a:spLocks noGrp="1"/>
          </p:cNvSpPr>
          <p:nvPr/>
        </p:nvSpPr>
        <p:spPr>
          <a:xfrm>
            <a:off x="4724400" y="2419350"/>
            <a:ext cx="268605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network create app-net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network inspect app-net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--network app-net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host=mysql-db</a:t>
            </a:r>
          </a:p>
        </p:txBody>
      </p:sp>
      <p:sp>
        <p:nvSpPr>
          <p:cNvPr id="9" name="">
            <a:extLst>
              <a:ext uri="{FF2B5EF4-FFF2-40B4-BE49-F238E27FC236}">
                <ns2:creationId id="{FAFFB505-8637-4171-9895-D1C6FDF86787}"/>
              </a:ext>
            </a:extLst>
          </p:cNvPr>
          <p:cNvSpPr>
            <a:spLocks noGrp="1"/>
          </p:cNvSpPr>
          <p:nvPr/>
        </p:nvSpPr>
        <p:spPr>
          <a:xfrm>
            <a:off x="8172450" y="1676400"/>
            <a:ext cx="3143250" cy="2381250"/>
          </a:xfrm>
          <a:prstGeom prst="roundRect">
            <a:avLst>
              <a:gd name="adj" fmla="val 4800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B8F3D9CB-CC6B-4660-A087-38DDD7CB48C8}"/>
              </a:ext>
            </a:extLst>
          </p:cNvPr>
          <p:cNvSpPr>
            <a:spLocks noGrp="1"/>
          </p:cNvSpPr>
          <p:nvPr/>
        </p:nvSpPr>
        <p:spPr>
          <a:xfrm>
            <a:off x="8401050" y="18669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Resource</a:t>
            </a:r>
          </a:p>
        </p:txBody>
      </p:sp>
      <p:sp>
        <p:nvSpPr>
          <p:cNvPr id="11" name="">
            <a:extLst>
              <a:ext uri="{FF2B5EF4-FFF2-40B4-BE49-F238E27FC236}">
                <ns2:creationId id="{977784FE-5B9C-45A5-88B9-31FF6E3CEF3B}"/>
              </a:ext>
            </a:extLst>
          </p:cNvPr>
          <p:cNvSpPr>
            <a:spLocks noGrp="1"/>
          </p:cNvSpPr>
          <p:nvPr/>
        </p:nvSpPr>
        <p:spPr>
          <a:xfrm>
            <a:off x="8401050" y="2419350"/>
            <a:ext cx="268605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stats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--cpus=0.5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-m 128m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update --cpus=2 app</a:t>
            </a:r>
          </a:p>
        </p:txBody>
      </p:sp>
      <p:sp>
        <p:nvSpPr>
          <p:cNvPr id="12" name="">
            <a:extLst>
              <a:ext uri="{FF2B5EF4-FFF2-40B4-BE49-F238E27FC236}">
                <ns2:creationId id="{B6B76C76-D6C8-48B6-8E0F-AAC5228E7B7B}"/>
              </a:ext>
            </a:extLst>
          </p:cNvPr>
          <p:cNvSpPr>
            <a:spLocks noGrp="1"/>
          </p:cNvSpPr>
          <p:nvPr/>
        </p:nvSpPr>
        <p:spPr>
          <a:xfrm>
            <a:off x="1885950" y="4838700"/>
            <a:ext cx="8420100" cy="647700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133189D6-94AA-42E7-8FB2-37B4F36A3FA2}"/>
              </a:ext>
            </a:extLst>
          </p:cNvPr>
          <p:cNvSpPr>
            <a:spLocks noGrp="1"/>
          </p:cNvSpPr>
          <p:nvPr/>
        </p:nvSpPr>
        <p:spPr>
          <a:xfrm>
            <a:off x="2228850" y="5048250"/>
            <a:ext cx="7734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91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下一堂：CI/CD 與 GitHub Actions，把 Image build/push 交給自動化流程。</a:t>
            </a:r>
          </a:p>
        </p:txBody>
      </p:sp>
      <p:sp>
        <p:nvSpPr>
          <p:cNvPr id="14" name="">
            <a:extLst>
              <a:ext uri="{FF2B5EF4-FFF2-40B4-BE49-F238E27FC236}">
                <ns2:creationId id="{FA4A4FD4-011B-4EFE-B25C-DD269222C4D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23E51116-9F5B-4177-8CB4-8324F45C823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>
              <a:ext uri="{FF2B5EF4-FFF2-40B4-BE49-F238E27FC236}">
                <ns2:creationId id="{5C40EF7C-E84E-490C-8709-1E859926299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</p:spTree>
    <p:extLst>
      <p:ext uri="{BB962C8B-B14F-4D97-AF65-F5344CB8AC3E}">
        <ns3:creationId val="802703161"/>
      </p:ext>
    </p:extLst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Flask 基礎 Dockerfile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基礎 Dockerfile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使用 Python 3.11 精簡版作為基礎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設定工作目錄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先複製 requirements.txt 並安裝套件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（這樣做可以利用 Docker 的快取機制，後面會解釋）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再複製其餘程式碼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宣告使用 5000 port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容器啟動時執行 Flask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Build cache 寫法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範例程式碼：Build cache 寫法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好的做法 ✓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        # 這層只要 requirements.txt 沒變就用快取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-r requirements.txt  # 套件不變就不用重裝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                       # 程式碼改了只有這層會重建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不好的做法 ✗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                       # 任何檔案一改，這層就失效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-r requirements.txt  # 導致每次都要重裝套件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優化版 Dockerfile (1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範例程式碼：優化版 Dockerfile (1/2)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加上標籤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maintainer="student@example.com"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version="1.0"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設定環境變數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PYTHONDONTWRITEBYTECODE=1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PYTHONUNBUFFERED=1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安裝依賴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建立非 root 使用者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useradd -m appuser &amp;&amp; chown -R appuser:appuser /app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USER appuser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複製程式碼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--chown=appuser:appuser . .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優化版 Dockerfile (2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範例程式碼：優化版 Dockerfile (2/2)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.dockerignore (1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範例程式碼：.dockerignore (1/2)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版本控制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.gitignore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Python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__pycache__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*.pyc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*.pyo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.pytest_cache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venv/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.env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IDE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.vscode/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.idea/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*.swp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Docker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Dockerfile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docker-compose.yml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其他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.dockerignore (2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範例程式碼：.dockerignore (2/2)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*.md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*.log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測試映像檔指令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範例程式碼：測試映像檔指令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啟動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test-flask -p 5000:5000 my-flask-app:v3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 log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test-flask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查看容器詳情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test-flask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Docker Hub tag / push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範例程式碼：Docker Hub tag / push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login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tag my-flask-app:v3 myname/my-flask-app:v3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tag my-flask-app:v3 myname/my-flask-app:latest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push myname/my-flask-app:v3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push myname/my-flask-app:latest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Flask + MySQL app.py (1/4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app.py (1/4)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mysql.connector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time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get_db_connection():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"""建立資料庫連線"""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mysql.connector.connect(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host='mysql-db',          # 用容器名稱當主機名！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user='flaskuser',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password='flaskpass',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database='flaskdb'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init_db():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"""初始化資料庫"""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# 等待 MySQL 啟動完成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for i in range(30):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try: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conn = get_db_connection()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cursor = conn.cursor()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Flask + MySQL app.py (2/4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app.py (2/4)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cursor.execute('''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CREATE TABLE IF NOT EXISTS visitors (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id INT AUTO_INCREMENT PRIMARY KEY,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visit_time TIMESTAMP DEFAULT CURRENT_TIMESTAMP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''')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conn.commit()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cursor.close()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conn.close()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print("Database initialized!")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return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except Exception as e: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print(f"Waiting for MySQL... ({i+1}/30)")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time.sleep(2)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print("Failed to connect to MySQL!")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@app.route('/')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hello():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try: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conn = get_db_connection()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 = conn.cursor()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Flask + MySQL app.py (3/4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app.py (3/4)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# 記錄訪問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cursor.execute("INSERT INTO visitors () VALUES ()")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conn.commit()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# 取得總訪問次數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cursor.execute("SELECT COUNT(*) FROM visitors")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count = cursor.fetchone()[0]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cursor.close()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conn.close()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return f'&lt;h1&gt;Hello Docker!&lt;/h1&gt;&lt;p&gt;You are visitor #{count}&lt;/p&gt;'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except Exception as e: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return f'&lt;h1&gt;Error&lt;/h1&gt;&lt;p&gt;{str(e)}&lt;/p&gt;'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@app.route('/visitors')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visitors():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try: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conn = get_db_connection()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 = conn.cursor()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cursor.execute("SELECT * FROM visitors ORDER BY visit_time DESC LIMIT 10")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rows = cursor.fetchall()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Flask + MySQL app.py (4/4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app.py (4/4)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cursor.close()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conn.close()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return jsonify([{'id': r[0], 'time': str(r[1])} for r in rows])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except Exception as e: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return jsonify({'error': str(e)})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'__main__':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init_db()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app.run(host='0.0.0.0', port=5000)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Flask + MySQL 容器指令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容器指令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flask-network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mysql-db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--network flask-network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MYSQL_ROOT_PASSWORD=root123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MYSQL_DATABASE=appdb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mysql:8.0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C:\docker-lab\flask-app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my-flask-app:v4 .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flask-web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--network flask-network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5000:5000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my-flask-app:v4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CPU / Memory 壓力測試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範例程式碼：CPU / Memory 壓力測試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stress-no-limit alpine sh -c "while true; do :; done"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stress-limited --cpus=0.5 alpine sh -c "while true; do :; done"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stress-no-limit stress-limited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100m --name oom-test python:3.11-slim sleep infinity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oom-test python -c "a = ' ' * (200 * 1024 * 1024)"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oom-test --format='{{.State.OOMKilled}}'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Production-like 三容器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範例程式碼：Production-like 三容器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production-net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prod-redis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--network production-net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redis:7-alpine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prod-mysql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--network production-net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MYSQL_ROOT_PASSWORD=root123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MYSQL_DATABASE=proddb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mysql:8.0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prod-flask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--network production-net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5000:5000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--cpus=1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--memory=512m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my-flask-app:v4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Dockerfile 常見指令地圖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" name=""/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DOCKERFILE MAP</a:t>
            </a:r>
          </a:p>
        </p:txBody>
      </p:sp>
      <p:sp>
        <p:nvSpPr>
          <p:cNvPr id="3" name=""/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 常見指令地圖</a:t>
            </a:r>
          </a:p>
        </p:txBody>
      </p:sp>
      <p:sp>
        <p:nvSpPr>
          <p:cNvPr id="4" name=""/>
          <p:cNvSpPr>
            <a:spLocks noGrp="1"/>
          </p:cNvSpPr>
          <p:nvPr/>
        </p:nvSpPr>
        <p:spPr>
          <a:xfrm>
            <a:off x="609600" y="1514475"/>
            <a:ext cx="2571750" cy="9715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152400" tIns="152400" rIns="152400" bIns="15240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FROM</a:t>
            </a: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選 base image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例：python:3.11-slim</a:t>
            </a:r>
          </a:p>
        </p:txBody>
      </p:sp>
      <p:sp>
        <p:nvSpPr>
          <p:cNvPr id="5" name=""/>
          <p:cNvSpPr>
            <a:spLocks noGrp="1"/>
          </p:cNvSpPr>
          <p:nvPr/>
        </p:nvSpPr>
        <p:spPr>
          <a:xfrm>
            <a:off x="3409950" y="1514475"/>
            <a:ext cx="2571750" cy="9715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152400" tIns="152400" rIns="152400" bIns="15240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WORKDIR</a:t>
            </a: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設定工作目錄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後面的指令都在這裡跑</a:t>
            </a:r>
          </a:p>
        </p:txBody>
      </p:sp>
      <p:sp>
        <p:nvSpPr>
          <p:cNvPr id="6" name=""/>
          <p:cNvSpPr>
            <a:spLocks noGrp="1"/>
          </p:cNvSpPr>
          <p:nvPr/>
        </p:nvSpPr>
        <p:spPr>
          <a:xfrm>
            <a:off x="6210300" y="1514475"/>
            <a:ext cx="2571750" cy="9715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152400" tIns="152400" rIns="152400" bIns="15240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COPY</a:t>
            </a: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把檔案放進 image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初學先用 COPY，不急著用 ADD</a:t>
            </a:r>
          </a:p>
        </p:txBody>
      </p:sp>
      <p:sp>
        <p:nvSpPr>
          <p:cNvPr id="7" name=""/>
          <p:cNvSpPr>
            <a:spLocks noGrp="1"/>
          </p:cNvSpPr>
          <p:nvPr/>
        </p:nvSpPr>
        <p:spPr>
          <a:xfrm>
            <a:off x="9010650" y="1514475"/>
            <a:ext cx="2571750" cy="9715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152400" tIns="152400" rIns="152400" bIns="15240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build 時執行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安裝套件、建立資料夾</a:t>
            </a:r>
          </a:p>
        </p:txBody>
      </p:sp>
      <p:sp>
        <p:nvSpPr>
          <p:cNvPr id="8" name=""/>
          <p:cNvSpPr>
            <a:spLocks noGrp="1"/>
          </p:cNvSpPr>
          <p:nvPr/>
        </p:nvSpPr>
        <p:spPr>
          <a:xfrm>
            <a:off x="609600" y="2733675"/>
            <a:ext cx="2571750" cy="9715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 lIns="152400" tIns="152400" rIns="152400" bIns="15240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CMD</a:t>
            </a: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container 啟動時執行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通常放啟動程式</a:t>
            </a:r>
          </a:p>
        </p:txBody>
      </p:sp>
      <p:sp>
        <p:nvSpPr>
          <p:cNvPr id="9" name=""/>
          <p:cNvSpPr>
            <a:spLocks noGrp="1"/>
          </p:cNvSpPr>
          <p:nvPr/>
        </p:nvSpPr>
        <p:spPr>
          <a:xfrm>
            <a:off x="3409950" y="2733675"/>
            <a:ext cx="2571750" cy="9715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 lIns="152400" tIns="152400" rIns="152400" bIns="15240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EXPOSE</a:t>
            </a: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文件提示 port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不等於真的開 port</a:t>
            </a:r>
          </a:p>
        </p:txBody>
      </p:sp>
      <p:sp>
        <p:nvSpPr>
          <p:cNvPr id="10" name=""/>
          <p:cNvSpPr>
            <a:spLocks noGrp="1"/>
          </p:cNvSpPr>
          <p:nvPr/>
        </p:nvSpPr>
        <p:spPr>
          <a:xfrm>
            <a:off x="6210300" y="2733675"/>
            <a:ext cx="2571750" cy="9715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 lIns="152400" tIns="152400" rIns="152400" bIns="15240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ENV</a:t>
            </a: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非機密設定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密碼、token 不放這裡</a:t>
            </a:r>
          </a:p>
        </p:txBody>
      </p:sp>
      <p:sp>
        <p:nvSpPr>
          <p:cNvPr id="11" name=""/>
          <p:cNvSpPr>
            <a:spLocks noGrp="1"/>
          </p:cNvSpPr>
          <p:nvPr/>
        </p:nvSpPr>
        <p:spPr>
          <a:xfrm>
            <a:off x="9010650" y="2733675"/>
            <a:ext cx="2571750" cy="9715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 lIns="152400" tIns="152400" rIns="152400" bIns="15240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USER</a:t>
            </a: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不用 root 跑程式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production 會更常看到</a:t>
            </a:r>
          </a:p>
        </p:txBody>
      </p:sp>
      <p:sp>
        <p:nvSpPr>
          <p:cNvPr id="12" name=""/>
          <p:cNvSpPr>
            <a:spLocks noGrp="1"/>
          </p:cNvSpPr>
          <p:nvPr/>
        </p:nvSpPr>
        <p:spPr>
          <a:xfrm>
            <a:off x="1143000" y="4210050"/>
            <a:ext cx="9144000" cy="6096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9525">
            <a:solidFill>
              <a:srgbClr val="D9E2EC"/>
            </a:solidFill>
            <a:prstDash val="solid"/>
          </a:ln>
        </p:spPr>
        <p:txBody>
          <a:bodyPr lIns="152400" tIns="152400" rIns="152400" bIns="15240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這堂要會讀懂前七個；USER 和 ENV 先知道用途，細節之後遇到 production 再補。</a:t>
            </a:r>
          </a:p>
        </p:txBody>
      </p:sp>
      <p:sp>
        <p:nvSpPr>
          <p:cNvPr id="40" name=""/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</p:txBody>
      </p:sp>
      <p:sp>
        <p:nvSpPr>
          <p:cNvPr id="41" name=""/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42" name=""/>
          <p:cNvSpPr>
            <a:spLocks noGrp="1"/>
          </p:cNvSpPr>
          <p:nvPr/>
        </p:nvSpPr>
        <p:spPr>
          <a:xfrm>
            <a:off x="10858500" y="6381750"/>
            <a:ext cx="723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05A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RUN CMD EXPOSE 差異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" name=""/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DOCKERFILE BEHAVIOR</a:t>
            </a:r>
          </a:p>
        </p:txBody>
      </p:sp>
      <p:sp>
        <p:nvSpPr>
          <p:cNvPr id="3" name=""/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RUN / CMD / EXPOSE 差異</a:t>
            </a:r>
          </a:p>
        </p:txBody>
      </p:sp>
      <p:sp>
        <p:nvSpPr>
          <p:cNvPr id="4" name=""/>
          <p:cNvSpPr>
            <a:spLocks noGrp="1"/>
          </p:cNvSpPr>
          <p:nvPr/>
        </p:nvSpPr>
        <p:spPr>
          <a:xfrm>
            <a:off x="914400" y="1590675"/>
            <a:ext cx="3276600" cy="247650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190500" tIns="190500" rIns="190500" bIns="19050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build image 的時候跑</a:t>
            </a:r>
          </a:p>
          <a:p>
            <a:pPr algn="ctr">
              <a:lnSpc>
                <a:spcPct val="106000"/>
              </a:lnSpc>
              <a:buNone/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會產生新的 image layer</a:t>
            </a:r>
          </a:p>
          <a:p>
            <a:pPr algn="ctr">
              <a:lnSpc>
                <a:spcPct val="106000"/>
              </a:lnSpc>
              <a:buNone/>
              <a:defRPr sz="11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例：RUN pip install -r requirements.txt</a:t>
            </a:r>
          </a:p>
        </p:txBody>
      </p:sp>
      <p:sp>
        <p:nvSpPr>
          <p:cNvPr id="5" name=""/>
          <p:cNvSpPr>
            <a:spLocks noGrp="1"/>
          </p:cNvSpPr>
          <p:nvPr/>
        </p:nvSpPr>
        <p:spPr>
          <a:xfrm>
            <a:off x="4495800" y="1590675"/>
            <a:ext cx="3276600" cy="2476500"/>
          </a:xfrm>
          <a:prstGeom prst="roundRect">
            <a:avLst>
              <a:gd name="adj" fmla="val 8000"/>
            </a:avLst>
          </a:prstGeom>
          <a:solidFill>
            <a:srgbClr val="EAF7EF"/>
          </a:solidFill>
          <a:ln w="9525">
            <a:solidFill>
              <a:srgbClr val="B7E4C7"/>
            </a:solidFill>
            <a:prstDash val="solid"/>
          </a:ln>
        </p:spPr>
        <p:txBody>
          <a:bodyPr lIns="190500" tIns="190500" rIns="190500" bIns="19050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CMD</a:t>
            </a:r>
          </a:p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container 啟動時跑</a:t>
            </a:r>
          </a:p>
          <a:p>
            <a:pPr algn="ctr">
              <a:lnSpc>
                <a:spcPct val="106000"/>
              </a:lnSpc>
              <a:buNone/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可被 docker run 後面的 command 覆蓋</a:t>
            </a:r>
          </a:p>
          <a:p>
            <a:pPr algn="ctr">
              <a:lnSpc>
                <a:spcPct val="106000"/>
              </a:lnSpc>
              <a:buNone/>
              <a:defRPr sz="11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例：CMD ["python", "app.py"]</a:t>
            </a:r>
          </a:p>
        </p:txBody>
      </p:sp>
      <p:sp>
        <p:nvSpPr>
          <p:cNvPr id="6" name=""/>
          <p:cNvSpPr>
            <a:spLocks noGrp="1"/>
          </p:cNvSpPr>
          <p:nvPr/>
        </p:nvSpPr>
        <p:spPr>
          <a:xfrm>
            <a:off x="8077200" y="1590675"/>
            <a:ext cx="3276600" cy="2476500"/>
          </a:xfrm>
          <a:prstGeom prst="roundRect">
            <a:avLst>
              <a:gd name="adj" fmla="val 8000"/>
            </a:avLst>
          </a:prstGeom>
          <a:solidFill>
            <a:srgbClr val="FFF7E6"/>
          </a:solidFill>
          <a:ln w="9525">
            <a:solidFill>
              <a:srgbClr val="FFD999"/>
            </a:solidFill>
            <a:prstDash val="solid"/>
          </a:ln>
        </p:spPr>
        <p:txBody>
          <a:bodyPr lIns="190500" tIns="190500" rIns="190500" bIns="19050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rPr>
              <a:t>EXPOSE</a:t>
            </a:r>
          </a:p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只是文件提示</a:t>
            </a:r>
          </a:p>
          <a:p>
            <a:pPr algn="ctr">
              <a:lnSpc>
                <a:spcPct val="106000"/>
              </a:lnSpc>
              <a:buNone/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不會自動對外開 port</a:t>
            </a:r>
          </a:p>
          <a:p>
            <a:pPr algn="ctr">
              <a:lnSpc>
                <a:spcPct val="106000"/>
              </a:lnSpc>
              <a:buNone/>
              <a:defRPr sz="11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仍要 -p 5000:5000 或 compose ports</a:t>
            </a:r>
          </a:p>
        </p:txBody>
      </p:sp>
      <p:sp>
        <p:nvSpPr>
          <p:cNvPr id="8" name=""/>
          <p:cNvSpPr>
            <a:spLocks noGrp="1"/>
          </p:cNvSpPr>
          <p:nvPr/>
        </p:nvSpPr>
        <p:spPr>
          <a:xfrm>
            <a:off x="990600" y="4541525"/>
            <a:ext cx="10210800" cy="62865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 lIns="152400" tIns="152400" rIns="152400" bIns="15240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4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記法：RUN 做安裝，CMD 啟動程式，EXPOSE 留提醒。真的要開 port，要看 docker run -p 或 compose ports。</a:t>
            </a:r>
          </a:p>
        </p:txBody>
      </p:sp>
      <p:sp>
        <p:nvSpPr>
          <p:cNvPr id="40" name=""/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</p:txBody>
      </p:sp>
      <p:sp>
        <p:nvSpPr>
          <p:cNvPr id="41" name=""/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42" name=""/>
          <p:cNvSpPr>
            <a:spLocks noGrp="1"/>
          </p:cNvSpPr>
          <p:nvPr/>
        </p:nvSpPr>
        <p:spPr>
          <a:xfrm>
            <a:off x="10858500" y="6381750"/>
            <a:ext cx="723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2026-06-19T07:49:04.5510000Z</dcterms:created>
  <dcterms:modified xsi:type="dcterms:W3CDTF">2026-06-19T07:49:04.5520000Z</dcterms:modified>
</coreProperties>
</file>