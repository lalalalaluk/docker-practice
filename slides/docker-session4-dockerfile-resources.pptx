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d7efcb92240bc" /><Relationship Type="http://schemas.openxmlformats.org/officeDocument/2006/relationships/extended-properties" Target="/docProps/app.xml" Id="R681bffd0980f4b89" /><Relationship Type="http://schemas.openxmlformats.org/officeDocument/2006/relationships/officeDocument" Target="/ppt/presentation.xml" Id="R0fe81ea246cf44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c73586e0df4aae"/>
  </p:sldMasterIdLst>
  <p:sldIdLst>
    <p:sldId xmlns:r="http://schemas.openxmlformats.org/officeDocument/2006/relationships" id="256" r:id="R4249a726db754144"/>
    <p:sldId xmlns:r="http://schemas.openxmlformats.org/officeDocument/2006/relationships" id="257" r:id="R3756e80c560e466f"/>
    <p:sldId xmlns:r="http://schemas.openxmlformats.org/officeDocument/2006/relationships" id="258" r:id="R2cbc7cb8ee394c74"/>
    <p:sldId xmlns:r="http://schemas.openxmlformats.org/officeDocument/2006/relationships" id="259" r:id="Rb639ff8e4e31446a"/>
    <p:sldId xmlns:r="http://schemas.openxmlformats.org/officeDocument/2006/relationships" id="260" r:id="R03a227b220914ba2"/>
    <p:sldId xmlns:r="http://schemas.openxmlformats.org/officeDocument/2006/relationships" id="261" r:id="R81e94a9dc4f2475c"/>
    <p:sldId xmlns:r="http://schemas.openxmlformats.org/officeDocument/2006/relationships" id="262" r:id="R5b484a6d39784ca5"/>
    <p:sldId xmlns:r="http://schemas.openxmlformats.org/officeDocument/2006/relationships" id="263" r:id="Rf5f9986d0ea64937"/>
    <p:sldId xmlns:r="http://schemas.openxmlformats.org/officeDocument/2006/relationships" id="264" r:id="R19fc1f8749da4907"/>
    <p:sldId xmlns:r="http://schemas.openxmlformats.org/officeDocument/2006/relationships" id="265" r:id="R349323a25f904e9e"/>
    <p:sldId xmlns:r="http://schemas.openxmlformats.org/officeDocument/2006/relationships" id="266" r:id="R4448a22c92e44af1"/>
    <p:sldId xmlns:r="http://schemas.openxmlformats.org/officeDocument/2006/relationships" id="267" r:id="R9d19f78debf3492c"/>
    <p:sldId xmlns:r="http://schemas.openxmlformats.org/officeDocument/2006/relationships" id="268" r:id="Rfd2595cc16434a97"/>
    <p:sldId xmlns:r="http://schemas.openxmlformats.org/officeDocument/2006/relationships" id="269" r:id="Rccf662f41c874ed7"/>
    <p:sldId xmlns:r="http://schemas.openxmlformats.org/officeDocument/2006/relationships" id="270" r:id="Ra1e97e9bbf4c4951"/>
    <p:sldId xmlns:r="http://schemas.openxmlformats.org/officeDocument/2006/relationships" id="271" r:id="Rc46e68138c534670"/>
    <p:sldId xmlns:r="http://schemas.openxmlformats.org/officeDocument/2006/relationships" id="272" r:id="Re4b3b31a7b254d13"/>
    <p:sldId xmlns:r="http://schemas.openxmlformats.org/officeDocument/2006/relationships" id="273" r:id="Rb93b3fa0bc05425a"/>
    <p:sldId xmlns:r="http://schemas.openxmlformats.org/officeDocument/2006/relationships" id="274" r:id="R28b83384e37f4c88"/>
    <p:sldId xmlns:r="http://schemas.openxmlformats.org/officeDocument/2006/relationships" id="275" r:id="Rc9ba4814546d426b"/>
    <p:sldId xmlns:r="http://schemas.openxmlformats.org/officeDocument/2006/relationships" id="276" r:id="Rf6502b6bfa304bc6"/>
    <p:sldId xmlns:r="http://schemas.openxmlformats.org/officeDocument/2006/relationships" id="277" r:id="R54990c5cbc81436a"/>
    <p:sldId xmlns:r="http://schemas.openxmlformats.org/officeDocument/2006/relationships" id="278" r:id="Ra4fa2f19ad5b4e6d"/>
    <p:sldId xmlns:r="http://schemas.openxmlformats.org/officeDocument/2006/relationships" id="279" r:id="R4914973bbf234e39"/>
    <p:sldId xmlns:r="http://schemas.openxmlformats.org/officeDocument/2006/relationships" id="280" r:id="R78d3eb8fc1d14dcc"/>
    <p:sldId xmlns:r="http://schemas.openxmlformats.org/officeDocument/2006/relationships" id="281" r:id="R709f0492932f40ba"/>
    <p:sldId xmlns:r="http://schemas.openxmlformats.org/officeDocument/2006/relationships" id="282" r:id="R850b44ad53e54bb8"/>
    <p:sldId xmlns:r="http://schemas.openxmlformats.org/officeDocument/2006/relationships" id="283" r:id="Rac6f889fb5b346e7"/>
    <p:sldId xmlns:r="http://schemas.openxmlformats.org/officeDocument/2006/relationships" id="284" r:id="R096cef8eec324544"/>
    <p:sldId xmlns:r="http://schemas.openxmlformats.org/officeDocument/2006/relationships" id="285" r:id="Rbedd8024209a40a2"/>
    <p:sldId xmlns:r="http://schemas.openxmlformats.org/officeDocument/2006/relationships" id="286" r:id="R906dcd8585de4ed3"/>
    <p:sldId xmlns:r="http://schemas.openxmlformats.org/officeDocument/2006/relationships" id="287" r:id="Re6f4ac5d4b644d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4dd0b09a404326" /><Relationship Type="http://schemas.openxmlformats.org/officeDocument/2006/relationships/slideMaster" Target="/ppt/slideMasters/slideMaster1.xml" Id="R51c73586e0df4aae" /><Relationship Type="http://schemas.openxmlformats.org/officeDocument/2006/relationships/presProps" Target="/ppt/presProps.xml" Id="R1c2406628e1944dc" /><Relationship Type="http://schemas.openxmlformats.org/officeDocument/2006/relationships/tableStyles" Target="/ppt/tableStyles.xml" Id="R0595b3bc082c4a37" /><Relationship Type="http://schemas.openxmlformats.org/officeDocument/2006/relationships/slide" Target="/ppt/slides/slide1.xml" Id="R4249a726db754144" /><Relationship Type="http://schemas.openxmlformats.org/officeDocument/2006/relationships/slide" Target="/ppt/slides/slide2.xml" Id="R3756e80c560e466f" /><Relationship Type="http://schemas.openxmlformats.org/officeDocument/2006/relationships/slide" Target="/ppt/slides/slide3.xml" Id="R2cbc7cb8ee394c74" /><Relationship Type="http://schemas.openxmlformats.org/officeDocument/2006/relationships/slide" Target="/ppt/slides/slide4.xml" Id="Rb639ff8e4e31446a" /><Relationship Type="http://schemas.openxmlformats.org/officeDocument/2006/relationships/slide" Target="/ppt/slides/slide5.xml" Id="R03a227b220914ba2" /><Relationship Type="http://schemas.openxmlformats.org/officeDocument/2006/relationships/slide" Target="/ppt/slides/slide6.xml" Id="R81e94a9dc4f2475c" /><Relationship Type="http://schemas.openxmlformats.org/officeDocument/2006/relationships/slide" Target="/ppt/slides/slide7.xml" Id="R5b484a6d39784ca5" /><Relationship Type="http://schemas.openxmlformats.org/officeDocument/2006/relationships/slide" Target="/ppt/slides/slide8.xml" Id="Rf5f9986d0ea64937" /><Relationship Type="http://schemas.openxmlformats.org/officeDocument/2006/relationships/slide" Target="/ppt/slides/slide9.xml" Id="R19fc1f8749da4907" /><Relationship Type="http://schemas.openxmlformats.org/officeDocument/2006/relationships/slide" Target="/ppt/slides/slide10.xml" Id="R349323a25f904e9e" /><Relationship Type="http://schemas.openxmlformats.org/officeDocument/2006/relationships/slide" Target="/ppt/slides/slide11.xml" Id="R4448a22c92e44af1" /><Relationship Type="http://schemas.openxmlformats.org/officeDocument/2006/relationships/slide" Target="/ppt/slides/slide12.xml" Id="R9d19f78debf3492c" /><Relationship Type="http://schemas.openxmlformats.org/officeDocument/2006/relationships/slide" Target="/ppt/slides/slide13.xml" Id="Rfd2595cc16434a97" /><Relationship Type="http://schemas.openxmlformats.org/officeDocument/2006/relationships/slide" Target="/ppt/slides/slide14.xml" Id="Rccf662f41c874ed7" /><Relationship Type="http://schemas.openxmlformats.org/officeDocument/2006/relationships/slide" Target="/ppt/slides/slide15.xml" Id="Ra1e97e9bbf4c4951" /><Relationship Type="http://schemas.openxmlformats.org/officeDocument/2006/relationships/slide" Target="/ppt/slides/slide16.xml" Id="Rc46e68138c534670" /><Relationship Type="http://schemas.openxmlformats.org/officeDocument/2006/relationships/slide" Target="/ppt/slides/slide17.xml" Id="Re4b3b31a7b254d13" /><Relationship Type="http://schemas.openxmlformats.org/officeDocument/2006/relationships/slide" Target="/ppt/slides/slide18.xml" Id="Rb93b3fa0bc05425a" /><Relationship Type="http://schemas.openxmlformats.org/officeDocument/2006/relationships/slide" Target="/ppt/slides/slide19.xml" Id="R28b83384e37f4c88" /><Relationship Type="http://schemas.openxmlformats.org/officeDocument/2006/relationships/slide" Target="/ppt/slides/slide20.xml" Id="Rc9ba4814546d426b" /><Relationship Type="http://schemas.openxmlformats.org/officeDocument/2006/relationships/slide" Target="/ppt/slides/slide21.xml" Id="Rf6502b6bfa304bc6" /><Relationship Type="http://schemas.openxmlformats.org/officeDocument/2006/relationships/slide" Target="/ppt/slides/slide22.xml" Id="R54990c5cbc81436a" /><Relationship Type="http://schemas.openxmlformats.org/officeDocument/2006/relationships/slide" Target="/ppt/slides/slide23.xml" Id="Ra4fa2f19ad5b4e6d" /><Relationship Type="http://schemas.openxmlformats.org/officeDocument/2006/relationships/slide" Target="/ppt/slides/slide24.xml" Id="R4914973bbf234e39" /><Relationship Type="http://schemas.openxmlformats.org/officeDocument/2006/relationships/slide" Target="/ppt/slides/slide25.xml" Id="R78d3eb8fc1d14dcc" /><Relationship Type="http://schemas.openxmlformats.org/officeDocument/2006/relationships/slide" Target="/ppt/slides/slide26.xml" Id="R709f0492932f40ba" /><Relationship Type="http://schemas.openxmlformats.org/officeDocument/2006/relationships/slide" Target="/ppt/slides/slide27.xml" Id="R850b44ad53e54bb8" /><Relationship Type="http://schemas.openxmlformats.org/officeDocument/2006/relationships/slide" Target="/ppt/slides/slide28.xml" Id="Rac6f889fb5b346e7" /><Relationship Type="http://schemas.openxmlformats.org/officeDocument/2006/relationships/slide" Target="/ppt/slides/slide29.xml" Id="R096cef8eec324544" /><Relationship Type="http://schemas.openxmlformats.org/officeDocument/2006/relationships/slide" Target="/ppt/slides/slide30.xml" Id="Rbedd8024209a40a2" /><Relationship Type="http://schemas.openxmlformats.org/officeDocument/2006/relationships/slide" Target="/ppt/slides/slide31.xml" Id="R906dcd8585de4ed3" /><Relationship Type="http://schemas.openxmlformats.org/officeDocument/2006/relationships/slide" Target="/ppt/slides/slide32.xml" Id="Re6f4ac5d4b644d3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f2d2d957e45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f6164a29e349af" /><Relationship Type="http://schemas.openxmlformats.org/officeDocument/2006/relationships/slideLayout" Target="/ppt/slideLayouts/slideLayout1.xml" Id="R70cf052346b944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cf052346b944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97bf209a34b5a" /><Relationship Type="http://schemas.openxmlformats.org/officeDocument/2006/relationships/image" Target="/ppt/media/image.png" Id="R009cf42edcc040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373d7131a4c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d7075a3ce45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7e275ef4e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084a6786b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8562eb0f49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137f1f48745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2c7ccaba246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5e8d26d1a40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437713d504b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2ebb4d54c4b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7d4ebf01542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f5107f53444d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2ebd64d024f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dc635f80e48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ea5509a8e4f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04bf72bfb42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47de7950ee44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d481a26c44c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3a344664542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a3e221f484b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1ec2d118d46a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b3721e9eb487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ba43711fa4804" /><Relationship Type="http://schemas.openxmlformats.org/officeDocument/2006/relationships/image" Target="/ppt/media/image2.png" Id="R80e1a89c134d47f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e8e798e614b9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889b256b944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318230c0e4a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77ec96cb8428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54dedd385401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951a3d58d4f8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b0b4977d541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07b6c91a342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F59DAC-7E55-4518-86C6-5236E1F1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52000">
                <a:srgbClr val="123E68"/>
              </a:gs>
              <a:gs pos="100000">
                <a:srgbClr val="2496ED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cf42edcc0407e"/>
          <a:srcRect xmlns:a="http://schemas.openxmlformats.org/drawingml/2006/main" l="16310" t="0" r="163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450" y="0"/>
            <a:ext cx="82105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1FCBD-85CC-45CE-B38D-5CE2D2D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34000">
                <a:srgbClr val="07111F">
                  <a:alpha val="98000"/>
                </a:srgbClr>
              </a:gs>
              <a:gs pos="64000">
                <a:srgbClr val="07111F">
                  <a:alpha val="54000"/>
                </a:srgbClr>
              </a:gs>
              <a:gs pos="100000">
                <a:srgbClr val="07111F">
                  <a:alpha val="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C18F6-4019-4FA7-9484-7B42A13F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8B2CC-F789-4BDF-A225-4E20D36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第 4 堂 | Build &amp;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B0813-D9C1-48A8-826F-5276B42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Dockerfile、映像檔優化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與資源配置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0E6B2-047D-4089-8753-9FC5217E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把可重複的環境寫進 Dockerfile，並學會限制容器吃掉的資源。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D0DD9-D01C-4353-A9B1-6468A039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7524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FFF">
              <a:alpha val="10000"/>
            </a:srgbClr>
          </a:solidFill>
          <a:ln xmlns:a="http://schemas.openxmlformats.org/drawingml/2006/main" w="9525">
            <a:solidFill>
              <a:srgbClr val="FFFFFF">
                <a:alpha val="2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20AF7-292E-4D9D-8E32-CBA6CD7A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今天完成：自製 Flask Image、推到 Docker Hub、用 Network 串接 MySQL、用 CPU/Memory 限制保護主機。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E5E0D-2ECA-4F44-8742-573FB0C9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00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>
                <a:solidFill>
                  <a:srgbClr val="DCEB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BFF"/>
                </a:solidFill>
                <a:latin typeface="Aptos"/>
                <a:ea typeface="Aptos"/>
                <a:cs typeface="Aptos"/>
              </a:rPr>
              <a:t>session4.md</a:t>
            </a:r>
          </a:p>
        </p:txBody>
      </p:sp>
    </p:spTree>
    <p:extLst>
      <p:ext uri="{BB962C8B-B14F-4D97-AF65-F5344CB8AC3E}">
        <p14:creationId xmlns:p14="http://schemas.microsoft.com/office/powerpoint/2010/main" val="1723436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45D5B6-3C21-4551-BDE6-54A7D0B9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LEARNING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6ED0B-EB9D-4DC3-8319-A544A766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三小時課程節奏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4ADBE-45C6-4900-B984-2F835F67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760B-1B9B-4570-AB78-9E439EBC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80F65-7632-46EF-A2AA-FD4C83D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0558C-D35F-43D4-88B3-3740A5B4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Dockerfile 與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7808C-668C-4943-B8BB-E9110CFB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寫 Dockerfile、理解 cache 與 layers，做出可重複建構的 Flask Image。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2D89E-88FF-4B11-8C9C-28E4EBD3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CE950B-2225-4AA9-A4F4-8341F99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約 1.5 小時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3D338-99EB-4100-B8EA-1689A249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954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8C454-E96B-45A7-A76A-49AC6EE8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1479C-CA18-44A3-AF86-8EE92001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70283-46B4-424C-A82D-A30740CF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Network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15BC9-E838-4FDC-9D1B-DF9C28F4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 Flask 與 MySQL 拆成不同容器，用自訂 network 串起來。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924A6-C016-467E-914F-ED624EC1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05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50B18-076A-4AA6-9B99-BBE810B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529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約 0.5 小時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8B027-11CF-443C-895B-97B7D4E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238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B78D0-B8E6-4D36-A93D-FCE1F6F2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1B6FB-4EB6-4167-821D-C1742E5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24AE2-27BE-4E01-BF05-766123D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資源配置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4FC18-10FD-48FC-AF93-60F64A8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用 CPU、Memory、docker stats 和 docker update 控制容器資源。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FC934-BFE5-4E8C-8793-5D2814C8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4D777-2500-47FF-9828-22C71CBB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529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約 1 小時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CADF91-1170-4182-BA07-AFFC575E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這堂課的關鍵句：Image 要能重建，Container 要能被限制。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C8D62-9B42-41FA-9B60-1096A6C8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4CBED-9FB6-4D45-9CEF-77E343D4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1DDA3-BDD2-4766-945E-5DF276EC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61774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E9783-7AAC-41B6-8539-247941A6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WHY CUSTOM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7832C-518D-4C96-B0EB-0FF8CBD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為什麼需要自製映像檔？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58BCB-DC45-4CF6-90D7-97047DB3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286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9AB1A-F5F0-4489-8750-F5F56EAA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288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手動安裝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62C7D-AC21-4280-8FA8-317856ED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進容器、apt install、pip install、複製檔案。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問題：換一台機器就要重做，容易少步驟。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273FE-9A46-4FA9-A425-471756AD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0D5CE-72EE-4EC0-8239-C0EBFD23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38300"/>
            <a:ext cx="42862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E52CB-CB1E-4FD2-A88C-EF0F108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2880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3A157-A6FA-4DF1-AEB9-114EC1B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19350"/>
            <a:ext cx="38290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把安裝流程寫成檔案。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結果：任何人都能 docker build 出同一個 Image。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0BCBA-7548-4B46-898F-20212B69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01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F5476-5321-4186-9609-E5D7F68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Dockerfile 是把「怎麼做環境」寫成版本可控、可重複、可分享的建構配方。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A826C-F6D3-4EF9-AC2D-17BF3077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825D28-F458-4B25-98EE-45C9111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C476A-19EB-4CA4-BDB7-90B405A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3856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33314-FDF1-4E64-9D77-1E70FEB3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1AB52-AF72-42FC-B902-D76DDE1C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Dockerfile、Image、Container 的關係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F33F0-0EE4-4BEA-9451-89144FB5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667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58297-BBEE-4AE5-9BC8-8B0F3162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62E38-5156-4A13-9FEB-0089BAC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623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建構配方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AA1F4-0388-463B-BF30-7EFC985F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575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C194A-3536-4819-8608-3AE4AF78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667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F80D7-0D18-4912-8019-DC4BC011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CEFCA-D831-4581-B0B0-FFF7E1F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唯讀模板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CC53A-894D-489E-9229-01B11B9D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575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FD821-CBD8-4432-95A0-37FC20FB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26670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84AFA-1B12-4A1E-8043-92A7B344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Container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6F9AE-C708-4E85-9F5A-25A563CD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執行中的實例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C1AAD-08F5-4CAE-827F-A7B39D69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38700"/>
            <a:ext cx="86106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D069C-6C3C-49D0-9528-FF2E20BE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C0C01-1574-422A-AED7-82B41926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1E77E-47A5-4FEA-BD85-AC396795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00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0BD6D-FDEF-43FB-B020-9F6BC8CD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build -t my-flask-app:v1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flask -p 5000:5000 my-flask-app:v1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89383-1A16-4358-9773-FE9EE8D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BE77B-896E-44E8-BE7A-A26FBDA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0D894-B4FF-4648-9F78-26269E95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6393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BD4690-EFD3-4423-BA10-417EAD0C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DOCKERFILE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0B62C-AF46-49D2-B92E-D6D5B620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Dockerfile 基礎語法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D8050-55EC-4B79-BCBC-4755172B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62865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ABAEE-04CF-4167-B3D1-0D8A580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F8E12-5F9A-4BBD-BAA3-AD2BC301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52FC2-2BEB-4181-93FC-A3759AE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097C9-C592-4AFD-92A6-CAAA6EF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5867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python:3.11-slim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requirements.txt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pip install --no-cache-dir -r requirements.txt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.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EXPOSE 5000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"app.py"]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7AA4A-FEE2-415B-B93F-300E8A4B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02EC6-E681-4365-9222-A99C355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FROM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6B862-D69B-4A90-A58F-08879299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811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基礎 Image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B9D9C-4C54-4A6D-B2DF-B77B31E5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1455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EA41F-ADE8-4156-9260-FC8FF36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WORKDIR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E2C58-DAEB-4A39-A2D5-19F21074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容器內工作目錄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3F53D-B450-4D5D-8936-4E262FBC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C02A8-F0F6-4E40-AC49-808B9DCF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0B169-20F9-4F20-91B3-7459BF8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複製檔案到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03596-78ED-4DB2-A341-1ACAEEE2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8615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EFF28-94FF-4BDE-BE37-C0C1DB8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385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DB2138-BF22-4DC7-AB7F-EE6F6F9D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build 時執行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795EA-D145-4C30-AA89-2C135EAD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32766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1228A-7D74-42DD-8B29-7E15D922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24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93C5FD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93C5FD"/>
                </a:solidFill>
                <a:latin typeface="Consolas"/>
                <a:ea typeface="Consolas"/>
                <a:cs typeface="Consolas"/>
              </a:rPr>
              <a:t>CMD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082CD-4060-460D-B7AE-E56E7ACB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43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container 啟動時執行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25738-C170-446C-B62E-796B5F8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先會讀這七行，再慢慢加入優化。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6A10E-8541-4738-8D43-A6C5957F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FBF26-70F9-405B-9AF5-8323725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1F231-620E-4D01-964C-BDE357A5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0529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097E6-FED0-457F-9945-A8F72E2E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E8409-14E9-4E4C-A9B7-7519F2D2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P1：從零建構自己的映像檔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BF0F2-A7DE-4803-B2E2-740ECCB9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B1F10-F17B-4622-B5B9-D96CA344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19578-9568-4C51-83C0-83E1AFC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124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A7D2D-B395-4A2F-95B5-415CA266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建立 Python 程式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7B0F1-D36A-4421-A2A0-047142E2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印出 Hello from my image!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3F22-5285-4C1A-A91C-2DDE06D4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1450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6875C-FF8D-4DAF-A75B-7DF2359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00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63C9-09D6-4DB8-A679-0757A2B5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24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FE7C3-80C3-4C3B-93F2-4CAEE3DA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813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寫 Dockerfile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762D4-3153-403D-8E54-B4647ACD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 python:3.11-slim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C277C-E3D2-4CD3-B8A3-F9099FE1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1450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4230C-3A3A-4218-BE59-42712C8C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0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1F1C2-8E15-48AF-BBC2-0E66DF6C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24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8686E-7E86-4757-B3D2-4962D150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加 .dockerignore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5733D-7221-4FF0-88D2-062A394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排除 venv、cache、IDE 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C7BAA-CA52-4479-86D1-583230AA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14500"/>
            <a:ext cx="2476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B5BDE2-E06B-44A7-9F93-CCA14C6A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00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9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808A5-9CBB-41C7-945A-F88CC38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24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9F342-34AF-4578-B784-3A58B1A2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8130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build /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22BEB-7983-4EAD-AC69-0AF33DEC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57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確認輸出，再看 docker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58293-1B08-49FA-B8DA-E108E67A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52950"/>
            <a:ext cx="7429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4747DC-5E39-453F-BB2C-978AB6F7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37CF11-078B-4FED-9B86-AEADD917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D8591-691D-4BA0-B1A0-33123572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67E988-2301-4CDF-A88C-6628A18B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72050"/>
            <a:ext cx="701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build -t my-first-image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my-first-image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history my-first-image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AED048-95C9-4CB0-A468-EA43E5F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C5082D-10C9-4A16-9E78-37A82631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CD6CE-19C7-41F1-8E55-1423DD4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23754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94C558-CEFE-495D-BBA0-A5DD77D7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BUILD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ADADE-EF22-46BD-8E25-C4FBB3B5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Build 後要馬上 Run，確認 Image 真的能用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B506F-79CB-45C2-A97F-956B1A55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6096000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AE9D5-3835-473B-A3D8-FE521622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87150-AF25-410D-AF8D-C407E736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1F491-A849-4F06-887A-883F8D4F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6D624-B6C7-4CA6-808A-2DC21FE5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6769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build -t my-flask-app:v1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test-flask -p 5000:5000 my-flask-app:v1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test-flask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curl http://localhost:5000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test-flask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2A16D-5986-4693-BFB0-38E68E4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09750"/>
            <a:ext cx="31051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12F8D-5852-4CCD-820A-9F2D8071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最小驗證循環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3E183-A1E9-44C8-B228-F38D164D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0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build 成功只代表 Image 被產出。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run、logs、curl 才能確認程式在容器裡真的啟動。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82D95-9473-42C3-AB9F-9CFD3F95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10200"/>
            <a:ext cx="8267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C3DC71-95D2-4556-9847-09F875EA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43550"/>
            <a:ext cx="765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每次改 Dockerfile：build -&gt; run -&gt; logs -&gt; 清理測試容器。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44E7B-85DD-47F0-AEDC-23A1BB85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4FE1A-A1B1-4902-AC65-8F225132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B041E-89A0-4511-9CA1-EB423B4A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6408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867030-5930-4462-8BEF-2063C172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A659E-480D-4BC9-AF4A-79C1631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Build Cache：為什麼先 COPY requirements？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BA79A-68BD-42BE-B959-FB19EE8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476250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1DC44-BC29-4D72-BE37-0925D4AA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好的順序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CDC23-6C17-4151-809F-EE3D71FE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28850"/>
            <a:ext cx="4305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requirements.txt 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pip install ...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.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改 app.py 時，pip install 那層可重用快取。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8911A-67EB-4F9F-BBD0-A121EE78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04950"/>
            <a:ext cx="476250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9A1A9-E953-4A6B-B3B5-0A623BE2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DA4AF"/>
                </a:solidFill>
                <a:latin typeface="Aptos Display"/>
                <a:ea typeface="Aptos Display"/>
                <a:cs typeface="Aptos Display"/>
              </a:rPr>
              <a:t>不好的順序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E7FE4-2C0B-464F-A827-BB0B4FFD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28850"/>
            <a:ext cx="4305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COPY . 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RUN pip install 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任何檔案變更都讓快取失效，套件常常重裝。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4871D-A33D-44DD-8298-6B51583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10200"/>
            <a:ext cx="922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答案關鍵：快取是逐層判斷；越不常變的步驟越應該放前面。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452EC-0E63-49ED-90C0-49175A8F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B0C56-5F6B-47F6-8593-234C5FB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2C52E-B47D-4B96-8152-23BC1FAE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68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4AD856-0C1F-437C-B31B-2C78C9E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IMAGE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B4825-5B46-4C80-A52B-0263B1A5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Image 是一層一層堆出來的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48145-2C0B-4EFB-BD29-78D5A929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71800"/>
            <a:ext cx="50482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11430">
            <a:solidFill>
              <a:srgbClr val="0B5C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CF1BC-23F5-42AA-BF73-8B608863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146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B5CAD"/>
                </a:solidFill>
                <a:latin typeface="Consolas"/>
                <a:ea typeface="Consolas"/>
                <a:cs typeface="Consolas"/>
              </a:rPr>
              <a:t>CMD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85436-4F80-4DED-9C44-A9F33C48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33650"/>
            <a:ext cx="53911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11430">
            <a:solidFill>
              <a:srgbClr val="0478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D2C27-1527-4F6D-B1BD-88A35EF5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7652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COPY . 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FDFF1-931F-4A1B-AE54-BEA64915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95500"/>
            <a:ext cx="57340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1D46E-E878-414D-A100-8914FF20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38375"/>
            <a:ext cx="497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B45309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B45309"/>
                </a:solidFill>
                <a:latin typeface="Consolas"/>
                <a:ea typeface="Consolas"/>
                <a:cs typeface="Consolas"/>
              </a:rPr>
              <a:t>RUN pip 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2EA85-57E4-4CFF-903B-44BDD92D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57350"/>
            <a:ext cx="60769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11430">
            <a:solidFill>
              <a:srgbClr val="4F46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82CFB-08D8-4B88-AD3B-793E02F3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0225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4F46E5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4F46E5"/>
                </a:solidFill>
                <a:latin typeface="Consolas"/>
                <a:ea typeface="Consolas"/>
                <a:cs typeface="Consolas"/>
              </a:rPr>
              <a:t>COPY requirements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CC07B-27A8-4CDF-ACD2-8D834587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219200"/>
            <a:ext cx="64198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430">
            <a:solidFill>
              <a:srgbClr val="6474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8388C-E58C-444D-BCC2-1041F191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62075"/>
            <a:ext cx="565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64748B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python:3.11-slim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8394B-38FE-435D-B89E-9AE64A0A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31623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DAD5B-82BB-4154-9FFA-F2041E2F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05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重點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3BA5-25C0-486A-899D-6CAE75DB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2705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每個 RUN / COPY / ADD 通常都會產生新 layer。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上一層的內容不會因為下一層刪除檔案就真的消失。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9AACF-353D-4CF3-9C41-DB8916D3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14900"/>
            <a:ext cx="7239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FC10E-E064-4F12-AA87-59EB25B4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41C5A-DE54-46E7-8B5C-0198D965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A9C513-FCE9-45DB-AC80-2D0C688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9A36C-58C8-4425-8610-74EE60A8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681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67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history my-flask-app:v1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65A00-F9D7-45F2-8242-5D4D973C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FE1E9-B358-4488-BA71-3445B6BF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7E3C2-43DC-4F9C-A25B-46884362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26388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1D668-0BFA-4D5D-9BA4-274EF5F9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0CD9-BEA7-44BA-B04D-9D3D1B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P2：分層比較實驗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139DD-3CCB-4C38-AC6C-370C4183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953250" cy="2838450"/>
          </a:xfrm>
          <a:prstGeom xmlns:a="http://schemas.openxmlformats.org/drawingml/2006/main" prst="roundRect">
            <a:avLst>
              <a:gd name="adj" fmla="val 335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4C138-D4D0-4758-89A5-D29C7646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50006-3D51-4CDA-B9C6-39A67E4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466D5-3E17-47B9-9532-E83D3023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AC471-8269-48EC-A614-B483C155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65341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Dockerfile.many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apt-get update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apt-get install -y curl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rm -rf /var/lib/apt/lists/*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# Dockerfile.one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apt-get update &amp;&amp; apt-get install -y curl \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&amp;&amp; rm -rf /var/lib/apt/lists/*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1ADBC-D10F-4316-8DF5-0CE54CA0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85900"/>
            <a:ext cx="2952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5BBFE-1EB3-434F-871A-E6E90562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764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7A1A4-F61A-424D-BED5-2CC5B19D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build -f Dockerfile.many -t layer-many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EB74D-99E1-465C-97CF-7BAC00E8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2952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0C89F-4030-476E-A602-D7EDB70A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813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B7E0F-BA94-462F-BAC4-2117C762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8610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19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docker images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docker history layer-many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87C25-E264-4270-A985-9C9041A7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95700"/>
            <a:ext cx="2952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C8A83-7AD0-4861-9BEA-58F4E147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Discuss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0B51B-766D-408A-B95D-A0FD7ECD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91000"/>
            <a:ext cx="2495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哪個層數少？哪個更容易留下暫存檔？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8EFE0-C61F-4175-8D03-242DCCE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05400"/>
            <a:ext cx="8572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0CE8C-718E-4716-99C0-3C38239F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38750"/>
            <a:ext cx="792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完成標準：能用 docker images 與 docker history 說出大小與層數差異。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54248-E453-45D3-90CC-AB033B8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7536C-4949-4DA3-B4C3-254D2D50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0DAEB-3C1D-4368-8778-90E68A0B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05230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ACAD2-8668-4D93-8167-EE3D5AEE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OPTIMIZATION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E6A40-D612-4FD9-9DC7-FA834F5D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Image 優化的四個方向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155B2-FE4A-412A-BBAC-08BA32D5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4267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C386C-E6DA-4BE6-A1A2-13D8D8B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85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小一點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91D219-7D45-49A8-AB46-04A0717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選 slim / alpine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移除 build 暫存檔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58C12-B794-44E1-BC5D-8D8D323B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267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3DCAF-2BB2-4AFC-8AD0-A026265B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859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快一點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C55F-927C-4C4C-9068-3A19D8BB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193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把不常變的層放前面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善用 build cache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C8F64-E981-49F6-A4C6-36A66BF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4267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7F9DF-23E7-4549-AA23-E610D78D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乾淨一點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B53CE-D254-4D1C-A22E-EB7EFD79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57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.dockerignore 排除 venv、cache、.git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A463F-4D20-4287-A421-A87ABE9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2672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7E74F-D3B7-485D-BE8A-39D3CBA5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24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安全一點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223C4-D8CA-4CA2-A7A6-FAE3D494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不要用 root 跑 app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不要把 secret 寫進 Image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A6D42-7521-4807-922E-CBD5F145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AAB70-419F-4894-8364-2154EB85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9ACEA-1C9F-46B8-8C27-59047CA2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524832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4E3BE8-9E5E-41FA-BB76-AA643245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Q2-Q3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28DD9-404C-463E-8969-961239C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概念快問 2：CMD / ENTRYPOINT / 非 root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FD307-11F1-49B4-A922-BD09632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155C7-88AD-417C-B46B-6DD5435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526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Q2：CMD vs ENTRYPOINT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3BF36-675C-4731-8FF8-AF6725EE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495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CMD 可以被 docker run 後面的參數覆蓋。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ENTRYPOINT 通常保留主程式，參數附加在後面。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BCD75-A62F-4263-BBD1-207709B7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E017A-5670-49BB-83DA-0C6F4EC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526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Q3：為什麼不要 root？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EB187F-1F26-487B-BACC-6954947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44958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容器被入侵時，root 權限會放大風險。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改用非 root user 是降低攻擊面的基本防線。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9317C-19E4-4035-A2A3-8C811342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64770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C94EA-129E-4D56-A3F9-33D5252D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509BA-F7BE-48DD-B946-077F7B91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C87776-C511-47D6-98C9-6F657101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67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0731B1-7576-45C9-8F76-9EEDC223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24450"/>
            <a:ext cx="605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27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useradd -m appuser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USER appuser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"app.py"]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604DD-8260-4B62-8FDE-C1AAD243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A4F1E-87BF-4C1B-B3F7-3469F888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2E8284-0EC2-44E9-BE16-60A4AF59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02470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01B379-ACD6-469F-A810-5396BA63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OPTIMIZED DOCKERFILE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E6233-77DE-4E65-A551-D52B379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優化後的 Flask Dockerfile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0173D-B556-4B59-B3AB-C1FFA20B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6572250" cy="4457700"/>
          </a:xfrm>
          <a:prstGeom xmlns:a="http://schemas.openxmlformats.org/drawingml/2006/main" prst="roundRect">
            <a:avLst>
              <a:gd name="adj" fmla="val 213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C0D78-C989-4A7C-B07F-AEC930AC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CA4FD-BBF3-4811-9759-2EAC5523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02BF8-D141-402D-8104-9ABDC47B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76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D406E-60BD-4AEF-8A95-8846EAA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61531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FROM python:3.11-slim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LABEL maintainer="docker-course"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ENV PYTHONUNBUFFERED=1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WORKDIR /app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requirements.txt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RUN pip install --no-cache-dir -r requirements.txt \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&amp;&amp; useradd -m appuser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COPY . .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USER appuser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EXPOSE 5000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CMD ["python", "app.py"]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A69AB-63AF-4F79-AAEC-B268D4E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2914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46A02-6125-4E01-BD3B-E4BF524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573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--no-cache-dir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768C2-0CFB-4F4C-9067-B1452F2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24574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19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不要留下 pip 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864B5-BBAC-4878-B05B-304DC581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2914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684B5-A03C-4282-AE1E-2122A1B6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useradd +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B978C-DC80-46FA-8E0E-9EC6938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38450"/>
            <a:ext cx="24574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19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用非 root 執行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51FB2-35C1-4A00-86F8-F6ABE7C7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2914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2019B-9471-4965-84D1-2C0ABF62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COPY 分段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9BF6EC-9B19-4AFF-8FC3-BFE247A0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71900"/>
            <a:ext cx="24574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19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保留 pip install cache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7C570-8F20-4654-80DD-8B3BF4C3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67200"/>
            <a:ext cx="29146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300E7-BB55-4878-ACD6-C5E1BB6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5770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ENV PYTHONUNBUFFERED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9A4532-217A-40C3-8446-B6C49B9A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245745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19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log 立即輸出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E047A-6082-4B1D-B905-F0800E82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852F03-9840-49DF-9B50-0E7D3FE5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1C7EF-472E-40C0-A495-D49F82D9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66555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36AF55-B89D-4533-B5CF-B527938B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BUILD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27A0E-6CBA-4D53-8912-CC0048F4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.dockerignore 控制 build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07E39-DA42-4A6F-A946-237BB5D6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4095750" cy="2857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6B0A-20A7-4E49-9F19-7CDB551B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5558C-11E8-4907-AFD9-72C4A4D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35F2EA-020B-49CB-96F0-91916EB3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4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A54D6-362A-464E-B907-FAF1CE97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36766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.git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__pycache__/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*.pyc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venv/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.env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.vscode/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Dockerfile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docker-compose.yml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bigfile.dat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771E3-24DB-4D67-A3EF-F4A3E63B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191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AD54E-F047-48FD-B911-A82FB5F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沒有 .dockerignore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4EA93-BF18-4BB2-B52A-6156D2EA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3733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把不必要檔案也送進 Docker daemon。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結果：build context 變大，可能把 secret 或 cache 帶進 Image。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4ACE6-8B0C-4FD4-A660-69BA0E1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191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868FA-BB59-4837-9583-C4892DB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有 .dockerignore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3E0DB-C435-4B1D-BC09-1762C912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3733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只送 app.py、requirements.txt 等真正需要的檔案。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結果：build 更快、Image 更乾淨。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1A698-2EEB-4200-B7BE-43556B37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E8091-4B69-46D6-90AA-A9012C04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22A8E-EC94-4BD0-8B90-45FBC550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357584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1C78A-165D-43BD-B1DA-3A5274B6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TEST AND INSPECT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433F0-EE45-4729-849C-579C090A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測試 Image：不只看能不能啟動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1239F-A934-474E-B2E0-C616087A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096000" cy="39052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56B92-3C7C-4DA8-ABE4-CCB0A5A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AF7D3-7E32-48E7-B61D-0EFCFD25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C59EF-7CD2-406D-B97C-0CE3C990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F3E76-CAFB-476D-B514-C7C7E45B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5676900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test-flask -p 5000:5000 my-flask-app:v3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logs test-flask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inspect test-flask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exec -it test-flask bash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pwd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ls -la /app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pip list | findstr Flask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whoami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exit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156AF-62E6-47D8-8043-D0353C5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2400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60FE8-4334-4885-9FBB-56FCB196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145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WORKDIR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63277-C186-42E3-8AF7-D9E7D682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43100"/>
            <a:ext cx="2876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3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pwd 應該在 /app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88FE9-56C7-4B87-8C1C-E28A2A6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2E6372-FB9E-4FC6-8637-11D83B26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408F7-BD36-4D68-A2E0-BAA739A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2876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3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app.py 與 requirements.txt 存在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4EE6E-F75A-4500-A629-FB2F9610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3850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2B693-FA8D-4885-AA61-451F9CC2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290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5356D-A173-446C-91E2-A5ED5D6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57600"/>
            <a:ext cx="2876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3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已安裝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52AED-19FC-4CDB-8FC6-8B97A162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95750"/>
            <a:ext cx="333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F4B52-1013-473A-A68E-0662215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A9E931-1EBF-44E7-B407-3A1395FA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287655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314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若設定 appuser，whoami 應顯示 appuser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500C40-5512-4AB2-8D77-2BACAAA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BB168-FD57-47E8-B0F5-DB30E620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DA01BA-C8B0-4EE4-B03C-773188CC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37063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492C3-A6CF-4B3D-A085-63E466D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IMAGE PORTABILITY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749C8-40C1-46B3-A03E-27038C32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save/load 與 export/import 不一樣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360FF-2C47-4A49-9740-E492EC02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4572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9D0AF-B0F8-4D86-9AB6-9E2080B5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docker save / 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B10C-496F-4103-8F80-08D3D41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4114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保存 Image。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會保留 layers、tag、history。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適合把建好的 Image 搬到另一台機器。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8DAFB-A6D2-4A44-9DE2-B002C36A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4572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96765-36B3-4B88-8AAC-A9F231F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478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docker export / import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95700-9DD9-45D1-B7D2-289A680F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1148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保存 Container 檔案系統。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不保留原本 Image 的 layer history。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較像把執行後的檔案系統打包。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3C036-39F9-43CE-B4F7-878E6A42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0D661-AFD4-4072-A60C-66A3AA5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08D93-09B2-436C-AE9F-13E8BFAF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2F00E-CB26-48B6-94B1-75A1FE4A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ED1DD-464E-4156-8EC7-1E07C46C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34000"/>
            <a:ext cx="701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save my-flask-app:v3 -o my-flask-app.tar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load -i my-flask-app.tar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12D4F-03D9-419B-A36B-45B38C3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71904-E732-477C-845E-BD3FD877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1B497-8AFC-4797-AFD9-A4E2D191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247446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90E38-3499-45CA-958A-2BC97E53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REGISTRY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C4978-E532-410A-BB17-A16BA6D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把 Image 發佈到 Docker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63E40-9D83-459E-A6CB-CB4F38A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22479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08115-FA35-4B6C-A622-AD3E0099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C9FE6-AF8F-4784-970A-203F56EC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login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28CC6-3CBF-45D0-A183-742174B6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AC25E-ABC3-4D10-B881-0AA79C74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09800"/>
            <a:ext cx="22479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47751-CA03-410C-8D4F-1C0015FB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146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2D832-7669-45C4-97C2-7FB225C8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tag my-flask-app:v3 帳號/my-flask-app:v1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866B9-F5FF-4F50-A9C0-EC93630D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C0913-2AC4-4D30-B441-F33277D5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09800"/>
            <a:ext cx="22479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3A091-8112-4CFB-A92F-81E2274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push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847DA-91B4-45D3-9B66-92898C07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push 帳號/my-flask-app:v1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A957B-73D7-47CB-8D68-AB40DD0E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4572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96ED"/>
          </a:solidFill>
          <a:ln xmlns:a="http://schemas.openxmlformats.org/drawingml/2006/main" w="0">
            <a:solidFill>
              <a:srgbClr val="2496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F14C9-9F46-4C9C-9E5F-E66DEBA6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2479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71B1B-2E44-4323-AAD3-100CC297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7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pull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82FAC-844B-4D61-B9B5-8EB45AE2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pull 帳號/my-flask-app:v1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4F559A-EA51-477D-893D-6BA8F51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90297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AE04F-E0B4-4225-A02A-69AAD9C9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834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提醒：不要把密碼、token、.env 或私密設定 bake 進 Image。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D95C2-4361-43D0-83B5-F035C040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F8DB4-9E9D-4EBB-98F2-8AFA27CD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967AC6-C962-43CC-8B57-4ACC86CA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936422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18F8B3-110E-4C55-98B6-5C0246E4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P3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BA34F-BD94-4BC5-9D8F-BFBDB6B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實作題 P3：推上 Docker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CF254-8AF5-40E2-9E8B-BE0B0494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6477000" cy="371475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14AA6-8F7B-425F-B119-AB0F74FC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7E1DF-01B6-493A-A9A8-F757EE77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769B0-4CA7-4182-A82C-A8C6457E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7053C-D226-4370-8169-7751DE9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47850"/>
            <a:ext cx="60579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tag my-first-image yourname/my-first-image:v1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push yourname/my-first-image:v1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rmi yourname/my-first-image:v1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pull yourname/my-first-image:v1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yourname/my-first-image:v1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AD0F0-7789-4959-8B8C-4C87FD12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62150"/>
            <a:ext cx="30480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A8255-0F5B-40C6-963A-054B16B5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526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完成標準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56A96-516C-4C34-BBAD-9B1D89EE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2590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1. Docker Hub 網頁看得到 repository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2. 本機刪除後可以 pull 回來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3. run 後仍能看到正確輸出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8CF96-2FBF-45B2-AF6A-D7ECC54D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yourname 要換成自己的 Docker Hub 帳號。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1AF31-2043-4F54-BE20-5B7B26E9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0657F-CDED-4181-BFEA-522692F4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8CAEF-4169-4522-882F-8E5A833A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357421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57DB0-CA95-46EB-92B5-C29332DE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MULTI-CONTAINER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A7974-7D63-479F-87E9-408A30A9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為什麼要把服務拆到不同容器？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85612-F612-48EF-BEFF-F3E59C08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57350"/>
            <a:ext cx="4191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4A2E1-3DCB-4B29-BDED-20C4384F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單一責任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D0C59-7E6C-46BE-AD17-21D3748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Flask 管應用，MySQL 管資料庫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A9875-3F82-4CA3-8F80-404703C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57350"/>
            <a:ext cx="4191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DFBFB-CF33-4C49-BB32-48C1137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478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獨立升級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96534-09A4-46F4-891C-053D65C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Web app 可重建，不影響資料庫版本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1F695-7982-4A48-B2FD-7EA85036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191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BB6D2-B30F-48C0-AD34-3938ADFB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獨立資源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1EA07-3A5C-4B37-BC11-003B7B83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資料庫通常需要更多 CPU/Memory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3084C-5507-4B82-88B9-90FC4757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76650"/>
            <a:ext cx="41910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8D2CC-D2A0-4733-97CE-3F8ED107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更接近實務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D8EB9-F678-4C11-A6EC-9C4428F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00550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服務間透過 network 溝通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13932-E4DB-4714-8BF2-2075FD0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52FF1-515D-4514-AD5E-AF06F6F2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696E3-F4B7-43BD-AB03-0140F20E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641016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30B9F2-C985-4FC0-A50A-79AC6F0D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NETWORK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9A9E5-CDFE-4621-8CC6-1C7C0535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Network：容器間的私人道路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5CE63-0738-4E82-A671-6C2FC43F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286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337AD-0A4D-4B2D-900E-2A1E261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8595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預設 bridge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9DF62-E47B-4AEB-8355-150BE0AF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可以讓容器上網，但服務名稱解析與管理彈性較弱。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FD408-7D72-4070-95C0-0B320F3B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95450"/>
            <a:ext cx="42862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A6E1E-D291-4625-BA93-57B6C8D5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3829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1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自訂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137AF-5B6F-4D91-9F41-B879B451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3829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3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同一個 network 裡的容器可以用容器名稱互相連線，例如 host=mysql-db。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E0667-5E06-4443-AF40-2952F0CD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8763000" cy="1371600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E6247-79CE-4F79-BBBB-BD818FC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EB922-EAF2-4FA0-B025-AE6947D4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319BC-86B9-4AF5-A75F-DCB3AD4A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8B49B-C3F7-4F4B-A71F-5C2F9C75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29150"/>
            <a:ext cx="8343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6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create flask-network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mysql-db --network flask-network mysql:8.0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flask-app --network flask-network my-flask-app:v4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4A8A9-CA8A-457D-A045-87FC1E1F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C3C60-EEE5-4405-B069-1066D4CC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038A8-C1EF-4B44-B17A-CF33BB0D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060028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E2C74-14AE-4E74-A95C-C40AD09F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CUSTOM NETWORK APP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C38C1-CD67-4E26-8245-86050678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Flask + MySQL：用容器名稱當 DB_HOST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F0303-8D22-4096-AC70-648D6876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7DB52-3C6C-46DE-8C5E-E62FAE45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0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flask-app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51D68-62C0-4A03-82F8-D4B38854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09850"/>
            <a:ext cx="268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my-flask-app:v4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host = mysql-db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port = 3306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BC84E-3024-4A21-8255-F11E5F5F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990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97F"/>
          </a:solidFill>
          <a:ln xmlns:a="http://schemas.openxmlformats.org/drawingml/2006/main" w="0">
            <a:solidFill>
              <a:srgbClr val="00A97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DA0C6-8315-49E1-B855-84D3799C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A081F-C13B-417A-BA67-64FE0DBE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mysql-db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F422E-0740-48EF-8929-6B18992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6860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mysql:8.0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MYSQL_DATABASE=flaskdb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Volume 保存資料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8F79F-68FD-4051-A27F-56A5ACA5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742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59C0B-C97D-4AD9-8DD6-CBD858A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5295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047857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flask-network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F61A-49C9-4785-83EE-E4DB4F72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25CE7-3B9A-4A8F-8B6F-336F27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52EDD-A4E4-4FBD-916E-E9ABF0AA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71181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4887D-B59A-4FA9-95FF-E3EAB52C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NETWORK COMMANDS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B0234-EFC2-4CF5-AE6D-91B0A285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 Network 指令組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65465-E29A-4C35-B8F7-B21B3B96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6191250" cy="3752850"/>
          </a:xfrm>
          <a:prstGeom xmlns:a="http://schemas.openxmlformats.org/drawingml/2006/main" prst="roundRect">
            <a:avLst>
              <a:gd name="adj" fmla="val 253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A75C2-3A67-45A1-B8B8-DD97F9C1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EB2A9-3D48-4705-8703-BE6345D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A0D69-FAAD-4C93-9B99-3B40FF2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88882-768D-405F-A194-656087A9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57721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create flask-network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inspect flask-network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connect flask-network &lt;container&gt;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disconnect flask-network &lt;container&gt;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rm flask-network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93ED4-08F5-46C7-9844-DAC9F52E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62150"/>
            <a:ext cx="29527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43768-920B-4542-89B9-71BDD5A0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操作順序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8ACC0-00C8-419C-B2C9-B100E608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2495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建立 network -&gt; 啟動容器時加入 network -&gt; inspect 確認誰在裡面 -&gt; 用容器名稱連線。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27121-BC24-4A2C-9735-C7CA2B08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30B8B-5ED5-40BA-8C5A-99DC16F2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58883-A2CF-4169-811E-93E8188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147502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B93076-BF4C-41EF-AC20-EA1DF7A0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RESOURCE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45EA4-B987-4693-B077-C880119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為什麼需要限制容器資源？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C5722-F744-481F-B309-92F9BAB6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050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4DA2-E17C-4803-864E-7D1E6059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CPU 被吃滿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2BB15-4714-4095-BD6D-979D7FA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一個失控程式讓其他容器變慢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BEB5E-2A78-4E03-904C-253AD5A0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F1392-5B91-4572-80E2-C3C14539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24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記憶體爆掉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2C999-4A72-42E4-BAB0-D2DDBA2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OOM 可能殺掉容器，甚至拖垮主機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38BB5-7416-4B69-AA95-C71A0021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05000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78523-80E5-433A-9A5A-AC785EEC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效能不穩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5036F-CBBE-4025-BFC7-9F92F79A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多個服務互搶資源，測試結果不可靠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DA453A-86C7-4B13-AFD3-EE15071E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14900"/>
            <a:ext cx="67437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F087D-F623-44EA-8BBB-452DD5C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2EDF7-8155-4DEC-8FDF-969E3B8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7292F-528F-4581-A9E0-06BAECB6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7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11FD7-1588-491F-B40E-2901BA98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334000"/>
            <a:ext cx="632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9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info | findstr -i "cpu\|memory"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93616-4165-4511-A626-1DB9510A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658DA-66F9-4D7F-9481-4266404A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FC2275-EA29-4D84-A4E7-0ACB7CDC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979019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F38D56-11E6-4D28-8605-4B1655C4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RESOURCE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E46B2-CEB1-4EA7-AB5B-AE747B8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docker stats 讓資源使用變成可觀察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1a89c134d47f5"/>
          <a:srcRect xmlns:a="http://schemas.openxmlformats.org/drawingml/2006/main" l="6150" t="0" r="61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352550"/>
            <a:ext cx="4838700" cy="3105150"/>
          </a:xfrm>
          <a:prstGeom xmlns:a="http://schemas.openxmlformats.org/drawingml/2006/main" prst="round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816CE-D008-4C71-998F-826BA75E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352550"/>
            <a:ext cx="4838700" cy="310515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88783-72A2-48A4-975A-730ABF32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857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6EC25-5AD6-4454-8A2C-939C517D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8D096-9D3E-4FEE-94DA-A7CDDBC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AEAB4-A16C-403C-B3A3-01300BC9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B036C-631A-4ED6-A1AE-CA4DF91B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4438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CONTAINER   CPU %   MEM USAGE / LIMIT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flask       0.50%   50MiB / 512MiB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mysql       3.20%   420MiB / 2GiB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redis       0.10%   12MiB / 256MiB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35007-ECC9-4235-ACD2-61E6F058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38600"/>
            <a:ext cx="4095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4D81F-A937-4800-9CF0-AC209CB0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291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讀表重點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55C94-0244-47B1-90BD-051C4D76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2440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CPU % 看是否被限制住。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MEM USAGE / LIMIT 看是否接近上限。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NET / BLOCK I/O 用來觀察流量與磁碟。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0AD58-FF31-4B1F-8FAD-EDB7C062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C0D1B-6563-4943-9DEA-66AB650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645AD-0957-46C5-BEFB-1D258102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584530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CA56E-C62B-47B2-BE80-05464787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EXERCISE Q4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EC0D3-8F7F-4B08-BC1F-66016093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CPU 限制：--cpus=0.5 是什麼意思？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A768F-9FE9-46B5-8ADF-4F3FFFB1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667500" cy="2876550"/>
          </a:xfrm>
          <a:prstGeom xmlns:a="http://schemas.openxmlformats.org/drawingml/2006/main" prst="roundRect">
            <a:avLst>
              <a:gd name="adj" fmla="val 33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ABA41-1196-4F57-97B5-33AB7E7B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0ADF6-D2B4-4879-9FD0-D368B82C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8CB4D-29F6-401F-BC40-45630FEA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9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28433-8863-4D47-BF2E-7FA54740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62484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--cpus=1.5 --name cpu-test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--cpus=0.5 --name half-cpu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--cpu-shares=2048 --name high-priority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--cpuset-cpus="0,1" --name pinned-cpu 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F6652-FDB5-4331-B236-7B1D1DB2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52600"/>
            <a:ext cx="30670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899E5-74CA-409F-848A-3E5CEF06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9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BBF24"/>
                </a:solidFill>
                <a:latin typeface="Aptos Display"/>
                <a:ea typeface="Aptos Display"/>
                <a:cs typeface="Aptos Display"/>
              </a:rPr>
              <a:t>Q4 參考答案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FF685-CF31-4DFC-8962-3ED646E5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60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5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--cpus=0.5 代表容器最多使用 0.5 個 CPU 核心的運算能力，也就是一個核心的 50%。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62D86-84FA-4EA1-8F36-6FBAA428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05400"/>
            <a:ext cx="8305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94544-88B4-40E2-B801-25F4FC02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765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--cpu-shares 只在 CPU 競爭時才有明顯效果。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9FF25-BA16-4D27-A416-72DC69C9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3C5C1-8BF9-4370-853F-2E82075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2548E-4BC8-4904-8860-3B5A5B5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94161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BA323A-535C-4035-8678-7E067F9F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CPU STRESS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9042C-F3FC-4358-B64E-B45EF7E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實作：CPU 壓力測試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CF02C-8958-4C19-8D8A-D79CB98E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7239000" cy="2686050"/>
          </a:xfrm>
          <a:prstGeom xmlns:a="http://schemas.openxmlformats.org/drawingml/2006/main" prst="roundRect">
            <a:avLst>
              <a:gd name="adj" fmla="val 354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6649F-FF34-48AB-8E15-064BD71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A7536-DDDC-452E-AC15-C9472C41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19E2E-F444-4DA7-8543-0477022C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2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A2282-D212-42E8-808E-873E2B0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68199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stress-no-limit alpine sh -c "while true; do :; done"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--cpus=0.5 --name stress-limited alpine sh -c "while true; do :; done"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stress-no-limit stress-limited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73B14-2C12-420F-91C2-922747A3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2381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4B4AD-71D5-4A8E-A435-7B150226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觀察結果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55CB8-B5AA-4C3D-B8D5-B398C0D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193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7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stress-no-limit 接近 100%。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stress-limited 被壓在約 50%。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88570-CA2F-4171-A351-5F218A7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098CB-48A8-4FAF-9E65-B92C60E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24450"/>
            <a:ext cx="754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8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壓力測試一定要清理，不然背景容器會一直吃 CPU。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00D64-1E14-4343-9922-0B9F5ACD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8A670-F6DF-44A5-AF57-144B502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77F9-D4CF-4398-B8E8-CECFC05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052722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23C1F-00BF-4EE5-AE60-C5721E9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MEMORY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A8B12-5477-411E-A617-886AC8E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Memory 限制：硬限制、Swap、軟限制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2C876-26B5-4502-A894-42DC849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239000" cy="2914650"/>
          </a:xfrm>
          <a:prstGeom xmlns:a="http://schemas.openxmlformats.org/drawingml/2006/main" prst="roundRect">
            <a:avLst>
              <a:gd name="adj" fmla="val 326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F763A-827C-4094-8EDC-03BFAF1C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B901B-E44E-4874-881F-3A5D6E88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AEFFD-7735-4738-AE0B-157DEE5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71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76FE5-510A-4945-A871-8EE1E7F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68199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-m 256m --name mem-limited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-m 256m --memory-swap 512m --name mem-swap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-m 256m --memory-reservation 128m --name mem-soft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inspect oom-test --format='{{.State.OOMKilled}}'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27042-B4A0-4208-89F0-F855E43E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66850"/>
            <a:ext cx="26479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E11D4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60302-F8BD-4B7C-B949-1B5E3DD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-m / --memory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30268-781B-41BC-AEB4-76F73087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190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2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硬上限，超過可能 OOM 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BC06D-9255-4E44-95F6-4F4E44CE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26479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9F8F1-9248-483E-AB8E-F5323DBC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--memory-swap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1080A-C4D3-4043-BFB3-D4B13B1C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71800"/>
            <a:ext cx="2190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2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記憶體 + swap 的總上限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30CAE-7DC0-4EDA-BFE8-7CC8D562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26479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71FB3-DB93-47F9-AF9F-0F03A9D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14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--memory-reservation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FA261-75B5-4F17-8D5D-66CBBFD0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00500"/>
            <a:ext cx="21907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24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軟限制，Docker 會盡量維持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8B7E4-82E2-4A5D-BFDE-A987D286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38750"/>
            <a:ext cx="864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容器被 OOM Kill 後，通常要用 logs / inspect 找原因，不只看狀態。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817D8-6D52-4125-9655-9F6ACDA7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970278-CE91-44E3-B82D-8A29BEC0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1CEBA-1D8C-43AC-BA52-00E6995F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659131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E2249B-6A1B-43A7-BECF-72C0BE93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LIVE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7571E-6649-4FB4-BBF5-85DDFE51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 update：容器執行中也能調資源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D5209-816F-48F5-ADB6-3B39D35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47800"/>
            <a:ext cx="6858000" cy="3257550"/>
          </a:xfrm>
          <a:prstGeom xmlns:a="http://schemas.openxmlformats.org/drawingml/2006/main" prst="roundRect">
            <a:avLst>
              <a:gd name="adj" fmla="val 292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DECD0-07E4-480B-AE2E-6F15A465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F09F4-04F0-43FE-8D6B-91132275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0EFDE-293E-4C68-B8D6-F241F6FE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0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E6C25-5384-4369-9C7B-B975230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66900"/>
            <a:ext cx="64389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live-update -m 256m --cpus=1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stats live-update --no-stream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update --memory 512m --memory-swap 1g live-update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update --cpus 2 live-update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stats live-update --no-stream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A3468-21D8-45C1-9FE4-8721430F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2571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E2B80-AA64-4D66-B9DC-AC4F5994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可動態修改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0D744-F25D-4DEA-B7B0-8E1617F7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114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--cpus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--cpu-shares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--cpuset-cpus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--memory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--memory-swap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--memory-reservation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AC6D9-D610-41F8-9A33-9333D218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67350"/>
            <a:ext cx="948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E2E8F0"/>
                </a:solidFill>
                <a:latin typeface="Aptos"/>
                <a:ea typeface="Aptos"/>
                <a:cs typeface="Aptos"/>
              </a:rPr>
              <a:t>注意：降低 memory 可能造成 OOM；Windows Docker Desktop 可能不支援部分動態調整。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92F1A-8273-4C55-9AF5-759C3117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810F1-6ABB-4138-9270-3B4BD5E5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E2E5D-6788-40E2-BA17-CD41306E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8927092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E86305-0803-400F-ADF1-DC990BB6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EXERCISE P4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C5631-13A8-4B5C-A14C-9A70245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實作題 P4：資源限制實驗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0AD9-150E-4237-87B3-A1DBFE1B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62100"/>
            <a:ext cx="666750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0BACF-F260-450E-B778-1F9CA7F5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50416-444C-4A53-86C3-036641E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FAF37-2E7E-4E79-8813-16DDEDD6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690B3-AFCC-4FD7-AED4-CC653131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62484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no-limit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run -d --name limited --cpus=0.5 -m 128m nginx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stats --no-stream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rm -f no-limit limited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45300-D40C-4147-98B3-E2A4425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28194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D1AFB-B525-4B4F-80B0-3509950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859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觀察問題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62E2D-3F57-4139-A72D-487EEC4F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362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1. 兩個容器的 MEM LIMIT 是否不同？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2. limited 的 CPU 限制是否顯示在 stats/inspect？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3. 如果改成 docker update，結果是否改變？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4654C-24F9-48BC-A554-FA332175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B034E-2DB1-4462-B879-1E7823BD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010150"/>
            <a:ext cx="792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完成標準：能用 stats 或 inspect 證明 no-limit 與 limited 的限制不同。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20E2D-D4FE-4256-9FCC-62AFEA2D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CB062-F1FB-4E99-8C2E-5589CAF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CADAE-98B1-4645-A259-832A9DDB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43829820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70A3B-9952-4B27-8470-AD05E097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PRODUCTION-LIKE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6982A-6327-42D9-BCB3-77E53BD1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多容器資源配置實戰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17426-1BD2-4C6C-89DD-55D93F59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47850"/>
            <a:ext cx="2857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0B5C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EA307-931C-4657-993F-0022FA1B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Flask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FB766-819C-493B-A224-65BE129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 CPU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512 MB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0933B-75F2-4FF1-BB7A-91E5EF13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2857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CD22E-90DF-4711-A400-45A86C10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6C174-B92B-4835-80A3-22A12910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CPU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 GB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9A987-B1E7-45C8-B10C-880F89BF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28575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A8019-2E09-4822-B6A9-6F1A427A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Redis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3FCB9-333A-4B63-8C2E-08E60F13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2324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4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0.5 CPU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256 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845BD-784E-4600-8DB1-08762A61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43450"/>
            <a:ext cx="75057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3E284-753F-4C33-8FCA-263DF1CF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FD334-EB57-4523-9B7C-091F5E1F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AC7FC-8355-4FE8-9A73-41B71DD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84C40B-F597-425A-B46E-F991B7C7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62550"/>
            <a:ext cx="708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network create production-net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stats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docker update --cpus=2 --memory=1g prod-flask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1084E-AFC4-4379-AC1D-D5E888D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1036B-6F54-48EC-8C7D-DF046C57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C6180-C749-44BA-8805-79A94ECC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5915916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7BE27-AEE9-466C-9A9A-D0453A24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A5B4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B4FC"/>
                </a:solidFill>
                <a:latin typeface="Aptos"/>
                <a:ea typeface="Aptos"/>
                <a:cs typeface="Aptos"/>
              </a:rPr>
              <a:t>CHALLENGE C1-C2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D5529-174F-4095-87E1-CFA48010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挑戰題：把 Image 與資源控制做完整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7723D-57E9-4E86-BD9C-AC8031AF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47625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D6E8C-8EAF-40F7-A3B6-C9DCB9AD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93C5FD"/>
                </a:solidFill>
                <a:latin typeface="Aptos Display"/>
                <a:ea typeface="Aptos Display"/>
                <a:cs typeface="Aptos Display"/>
              </a:rPr>
              <a:t>C1：Flask + MySQL 的 Flask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D4585-7E72-4F02-A3DA-7C0952BF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305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使用 python:3.11-slim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加入 .dockerignore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使用非 root user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Push 到 Docker 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F0914-DF67-42CB-B02D-244EAFC6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4762500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CAF6E-DF66-479D-99F9-806A97C0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1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86EFAC"/>
                </a:solidFill>
                <a:latin typeface="Aptos Display"/>
                <a:ea typeface="Aptos Display"/>
                <a:cs typeface="Aptos Display"/>
              </a:rPr>
              <a:t>C2：Nginx + MySQL + Redis 資源配置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5A44E-2A47-493A-855B-F51C1357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3053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三個容器設定不同 CPU / Memory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用 docker stats 觀察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E2E8F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2E8F0"/>
                </a:solidFill>
                <a:latin typeface="Aptos"/>
                <a:ea typeface="Aptos"/>
                <a:cs typeface="Aptos"/>
              </a:rPr>
              <a:t>用 docker update 調整其中一個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AD465-29D7-42E7-A296-1C6E77FD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交付物：Dockerfile、.dockerignore、執行指令、stats 截圖或文字記錄。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5ABA2-E4A3-4D27-BCE1-ECF681F5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486E3-17AA-41D9-9B69-F2CF3354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0F634-48AB-4AF2-B1EB-F21F0DBD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9703035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6D753-F1F7-4238-B995-D460FED7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0B5CA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5CAD"/>
                </a:solidFill>
                <a:latin typeface="Aptos"/>
                <a:ea typeface="Aptos"/>
                <a:cs typeface="Aptos"/>
              </a:rPr>
              <a:t>WRAP-UP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CDE29-D7C7-4274-831C-EAF60A93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今天要帶走的指令與下一步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80296-90C0-4433-BE8E-91198A84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7D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51141-37BD-41AE-AF40-0641136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B5CAD"/>
                </a:solidFill>
                <a:latin typeface="Aptos Display"/>
                <a:ea typeface="Aptos Display"/>
                <a:cs typeface="Aptos Display"/>
              </a:rPr>
              <a:t>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EAD73-AA36-4CF9-AA0B-3AF644D3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26860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build -t app:v1 .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history app:v1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tag app:v1 user/app:v1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push user/app:v1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471C6-41AF-4BBC-9F62-70C55662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764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F8F2"/>
          </a:solidFill>
          <a:ln xmlns:a="http://schemas.openxmlformats.org/drawingml/2006/main" w="9525">
            <a:solidFill>
              <a:srgbClr val="00A97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C6FEE-2DB3-4002-86F0-E913F5E6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66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C6B72-712A-4AD3-BDD7-CCABE49C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19350"/>
            <a:ext cx="26860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network create app-net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network inspect app-net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--network app-net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host=mysql-db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FB505-8637-4171-9895-D1C6FDF8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6DD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3D9CB-CC6B-4660-A087-38DDD7CB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669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45309"/>
                </a:solidFill>
                <a:latin typeface="Aptos Display"/>
                <a:ea typeface="Aptos Display"/>
                <a:cs typeface="Aptos Display"/>
              </a:rPr>
              <a:t>Resource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784FE-5B9C-45A5-88B9-31FF6E3C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19350"/>
            <a:ext cx="26860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stats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--cpus=0.5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-m 128m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docker update --cpus=2 app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76C76-D6C8-48B6-8E0F-AAC5228E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38700"/>
            <a:ext cx="84201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189D6-94AA-42E7-8FB2-37B4F36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48250"/>
            <a:ext cx="773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B12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220"/>
                </a:solidFill>
                <a:latin typeface="Aptos"/>
                <a:ea typeface="Aptos"/>
                <a:cs typeface="Aptos"/>
              </a:rPr>
              <a:t>下一堂：CI/CD 與 GitHub Actions，把 Image build/push 交給自動化流程。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A4FD4-011B-4EFE-B25C-DD269222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9060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51116-9F5B-4177-8CB4-8324F45C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Docker 基礎教學 | 第 4 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0EF7C-E84E-490C-8709-1E859926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381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802703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2026-06-19T07:49:04.5510000Z</dcterms:created>
  <dcterms:modified xsi:type="dcterms:W3CDTF">2026-06-19T07:49:04.5520000Z</dcterms:modified>
</coreProperties>
</file>