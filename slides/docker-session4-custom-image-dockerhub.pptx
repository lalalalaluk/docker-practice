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58" r:id="rId4"/>
    <p:sldId id="260" r:id="rId5"/>
    <p:sldId id="261" r:id="rId6"/>
    <p:sldId id="262" r:id="rId7"/>
    <p:sldId id="263" r:id="rId8"/>
    <p:sldId id="264" r:id="rId9"/>
    <p:sldId id="265" r:id="rId10"/>
    <p:sldId id="268" r:id="rId11"/>
    <p:sldId id="311" r:id="rId12"/>
    <p:sldId id="277" r:id="rId13"/>
    <p:sldId id="266" r:id="rId14"/>
    <p:sldId id="278" r:id="rId15"/>
    <p:sldId id="270" r:id="rId16"/>
    <p:sldId id="283" r:id="rId17"/>
    <p:sldId id="285" r:id="rId18"/>
    <p:sldId id="313" r:id="rId19"/>
    <p:sldId id="314" r:id="rId20"/>
    <p:sldId id="312" r:id="rId21"/>
    <p:sldId id="272" r:id="rId22"/>
    <p:sldId id="273" r:id="rId23"/>
    <p:sldId id="274" r:id="rId24"/>
    <p:sldId id="290" r:id="rId25"/>
    <p:sldId id="291" r:id="rId26"/>
    <p:sldId id="292" r:id="rId27"/>
    <p:sldId id="293" r:id="rId28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C122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54"/>
    <p:restoredTop sz="94659"/>
  </p:normalViewPr>
  <p:slideViewPr>
    <p:cSldViewPr snapToGrid="0">
      <p:cViewPr varScale="1">
        <p:scale>
          <a:sx n="100" d="100"/>
          <a:sy n="100" d="100"/>
        </p:scale>
        <p:origin x="168" y="16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EFBE2E-EF8A-822A-8A88-1BA1EE8B9C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6DEB12-2358-6CA9-82EF-40AC0EA2B6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BBFE9D-BC9E-520A-EAF2-0F725DEB25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4E3094-A61E-B40A-2FE9-5C05F082C737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09829891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8DFAF-0756-87C1-3992-79C8616B98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BD71AF-D401-CFBA-A75E-C0EFEEF21F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0191FA-F959-2781-5022-DE99B995A7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54C725-9307-0285-FDE3-66CC66AE0411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485777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68A71-FABC-4056-D307-D64E9BE88B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6B8704-CA2E-69D7-A721-8B00E62119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2EB00C-D140-DBD4-9013-C95D10E3DD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715A20-5649-FD4F-1B47-CF4A5FA0F5F6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15932892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1F59DAC-7E55-4518-86C6-5236E1F1517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7111F"/>
              </a:gs>
              <a:gs pos="52000">
                <a:srgbClr val="123E68"/>
              </a:gs>
              <a:gs pos="100000">
                <a:srgbClr val="2496ED"/>
              </a:gs>
            </a:gsLst>
            <a:lin ang="8100000"/>
          </a:gra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4" name="圖片 12"/>
          <p:cNvPicPr>
            <a:picLocks noChangeAspect="1"/>
          </p:cNvPicPr>
          <p:nvPr/>
        </p:nvPicPr>
        <p:blipFill>
          <a:blip r:embed="rId3"/>
          <a:srcRect l="16310" r="16310"/>
          <a:stretch>
            <a:fillRect/>
          </a:stretch>
        </p:blipFill>
        <p:spPr>
          <a:xfrm>
            <a:off x="3981450" y="0"/>
            <a:ext cx="8210550" cy="6858000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FF21FCBD-85CC-45CE-B38D-5CE2D2DEA22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7111F"/>
              </a:gs>
              <a:gs pos="34000">
                <a:srgbClr val="07111F">
                  <a:alpha val="98000"/>
                </a:srgbClr>
              </a:gs>
              <a:gs pos="64000">
                <a:srgbClr val="07111F">
                  <a:alpha val="54000"/>
                </a:srgbClr>
              </a:gs>
              <a:gs pos="100000">
                <a:srgbClr val="07111F">
                  <a:alpha val="6000"/>
                </a:srgbClr>
              </a:gs>
            </a:gsLst>
            <a:lin ang="5400000"/>
          </a:gra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633C18F6-4019-4FA7-9484-7B42A13F267C}"/>
              </a:ext>
            </a:extLst>
          </p:cNvPr>
          <p:cNvSpPr>
            <a:spLocks noGrp="1"/>
          </p:cNvSpPr>
          <p:nvPr/>
        </p:nvSpPr>
        <p:spPr>
          <a:xfrm>
            <a:off x="685800" y="666750"/>
            <a:ext cx="2209800" cy="32385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D38B2CC-F789-4BDF-A225-4E20D36AF817}"/>
              </a:ext>
            </a:extLst>
          </p:cNvPr>
          <p:cNvSpPr>
            <a:spLocks noGrp="1"/>
          </p:cNvSpPr>
          <p:nvPr/>
        </p:nvSpPr>
        <p:spPr>
          <a:xfrm>
            <a:off x="762000" y="714375"/>
            <a:ext cx="20574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0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第 4 堂 | Build &amp; Runtime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B30E6B2-047D-4089-8753-9FC5217E9F96}"/>
              </a:ext>
            </a:extLst>
          </p:cNvPr>
          <p:cNvSpPr>
            <a:spLocks noGrp="1"/>
          </p:cNvSpPr>
          <p:nvPr/>
        </p:nvSpPr>
        <p:spPr>
          <a:xfrm>
            <a:off x="723900" y="3143250"/>
            <a:ext cx="7239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0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DCEBFF"/>
                </a:solidFill>
                <a:latin typeface="Aptos"/>
                <a:ea typeface="Aptos"/>
                <a:cs typeface="Aptos"/>
              </a:rPr>
              <a:t>把可重複的環境寫進 Dockerfile，並學會限制容器吃掉的資源。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A6FD0DD9-D01C-4353-A9B1-6468A0399F44}"/>
              </a:ext>
            </a:extLst>
          </p:cNvPr>
          <p:cNvSpPr>
            <a:spLocks noGrp="1"/>
          </p:cNvSpPr>
          <p:nvPr/>
        </p:nvSpPr>
        <p:spPr>
          <a:xfrm>
            <a:off x="685800" y="4286250"/>
            <a:ext cx="7524750" cy="990600"/>
          </a:xfrm>
          <a:prstGeom prst="roundRect">
            <a:avLst>
              <a:gd name="adj" fmla="val 13462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4000"/>
              </a:srgbClr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F220AF7-292E-4D9D-8E32-CBA6CD7ABDDC}"/>
              </a:ext>
            </a:extLst>
          </p:cNvPr>
          <p:cNvSpPr>
            <a:spLocks noGrp="1"/>
          </p:cNvSpPr>
          <p:nvPr/>
        </p:nvSpPr>
        <p:spPr>
          <a:xfrm>
            <a:off x="990600" y="4533900"/>
            <a:ext cx="6953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795"/>
          </a:bodyPr>
          <a:lstStyle/>
          <a:p>
            <a:pPr algn="l">
              <a:lnSpc>
                <a:spcPct val="105000"/>
              </a:lnSpc>
              <a:buNone/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今天完成：自製 Flask Image、推到 Docker Hub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31E5E0D-2ECA-4F44-8742-573FB0C90899}"/>
              </a:ext>
            </a:extLst>
          </p:cNvPr>
          <p:cNvSpPr>
            <a:spLocks noGrp="1"/>
          </p:cNvSpPr>
          <p:nvPr/>
        </p:nvSpPr>
        <p:spPr>
          <a:xfrm>
            <a:off x="9620250" y="6000750"/>
            <a:ext cx="1619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105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endParaRPr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45B36D8-A47B-B3D7-55FC-7BBFA8EFFE8C}"/>
              </a:ext>
            </a:extLst>
          </p:cNvPr>
          <p:cNvSpPr>
            <a:spLocks noGrp="1"/>
          </p:cNvSpPr>
          <p:nvPr/>
        </p:nvSpPr>
        <p:spPr>
          <a:xfrm>
            <a:off x="723900" y="1657350"/>
            <a:ext cx="80962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r>
              <a:rPr sz="4400">
                <a:solidFill>
                  <a:srgbClr val="DCEBFF"/>
                </a:solidFill>
                <a:latin typeface="Aptos"/>
                <a:ea typeface="Aptos"/>
                <a:cs typeface="Aptos"/>
              </a:rPr>
              <a:t>建立自己的 Docker Image</a:t>
            </a:r>
          </a:p>
          <a:p>
            <a:r>
              <a:rPr sz="4400">
                <a:solidFill>
                  <a:srgbClr val="DCEBFF"/>
                </a:solidFill>
                <a:latin typeface="Aptos"/>
                <a:ea typeface="Aptos"/>
                <a:cs typeface="Aptos"/>
              </a:rPr>
              <a:t>並推上 Docker Hub</a:t>
            </a:r>
          </a:p>
        </p:txBody>
      </p:sp>
    </p:spTree>
    <p:extLst>
      <p:ext uri="{BB962C8B-B14F-4D97-AF65-F5344CB8AC3E}">
        <p14:creationId xmlns:p14="http://schemas.microsoft.com/office/powerpoint/2010/main" val="17234360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:a16="http://schemas.microsoft.com/office/drawing/2014/main" id="{2B45D5B6-3C21-4551-BDE6-54A7D0B97713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LEARNING MAP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B16ED0B-EB9D-4DC3-8319-A544A766EF4D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r>
              <a:rPr>
                <a:latin typeface="Microsoft JhengHei"/>
                <a:ea typeface="Microsoft JhengHei"/>
                <a:cs typeface="Microsoft JhengHei"/>
              </a:rPr>
              <a:t>第四章主線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8D94ADBE-45C6-4900-B984-2F835F67821A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B67B760B-1B9B-4570-AB78-9E439EBCC6AD}"/>
              </a:ext>
            </a:extLst>
          </p:cNvPr>
          <p:cNvSpPr>
            <a:spLocks noGrp="1"/>
          </p:cNvSpPr>
          <p:nvPr/>
        </p:nvSpPr>
        <p:spPr>
          <a:xfrm>
            <a:off x="838200" y="1943100"/>
            <a:ext cx="514350" cy="5143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4F80F65-7632-46EF-A2AA-FD4C83DB59E8}"/>
              </a:ext>
            </a:extLst>
          </p:cNvPr>
          <p:cNvSpPr>
            <a:spLocks noGrp="1"/>
          </p:cNvSpPr>
          <p:nvPr/>
        </p:nvSpPr>
        <p:spPr>
          <a:xfrm>
            <a:off x="838200" y="2057400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B60558C-D35F-43D4-88B3-3740A5B4723B}"/>
              </a:ext>
            </a:extLst>
          </p:cNvPr>
          <p:cNvSpPr>
            <a:spLocks noGrp="1"/>
          </p:cNvSpPr>
          <p:nvPr/>
        </p:nvSpPr>
        <p:spPr>
          <a:xfrm>
            <a:off x="838200" y="272415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r>
              <a:rPr>
                <a:latin typeface="Microsoft JhengHei"/>
                <a:ea typeface="Microsoft JhengHei"/>
                <a:cs typeface="Microsoft JhengHei"/>
              </a:rPr>
              <a:t>建立自己的 Image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FB7808C-668C-4943-B8BB-E9110CFBC563}"/>
              </a:ext>
            </a:extLst>
          </p:cNvPr>
          <p:cNvSpPr>
            <a:spLocks noGrp="1"/>
          </p:cNvSpPr>
          <p:nvPr/>
        </p:nvSpPr>
        <p:spPr>
          <a:xfrm>
            <a:off x="838200" y="3219450"/>
            <a:ext cx="27432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r>
              <a:rPr>
                <a:latin typeface="Microsoft JhengHei"/>
                <a:ea typeface="Microsoft JhengHei"/>
                <a:cs typeface="Microsoft JhengHei"/>
              </a:rPr>
              <a:t>從 python:3.11 base image 出發，寫出可重複 build 的 Flask Image。</a:t>
            </a:r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0C63D338-99EB-4100-B8EA-1689A24915AB}"/>
              </a:ext>
            </a:extLst>
          </p:cNvPr>
          <p:cNvSpPr>
            <a:spLocks noGrp="1"/>
          </p:cNvSpPr>
          <p:nvPr/>
        </p:nvSpPr>
        <p:spPr>
          <a:xfrm>
            <a:off x="428625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A048C454-E96B-45A7-A76A-49AC6EE8DDCE}"/>
              </a:ext>
            </a:extLst>
          </p:cNvPr>
          <p:cNvSpPr>
            <a:spLocks noGrp="1"/>
          </p:cNvSpPr>
          <p:nvPr/>
        </p:nvSpPr>
        <p:spPr>
          <a:xfrm>
            <a:off x="4514850" y="1943100"/>
            <a:ext cx="514350" cy="51435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501479C-CA18-44A3-AF86-8EE9200190B5}"/>
              </a:ext>
            </a:extLst>
          </p:cNvPr>
          <p:cNvSpPr>
            <a:spLocks noGrp="1"/>
          </p:cNvSpPr>
          <p:nvPr/>
        </p:nvSpPr>
        <p:spPr>
          <a:xfrm>
            <a:off x="4514850" y="2057400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2970283-46B4-424C-A82D-A30740CF74A9}"/>
              </a:ext>
            </a:extLst>
          </p:cNvPr>
          <p:cNvSpPr>
            <a:spLocks noGrp="1"/>
          </p:cNvSpPr>
          <p:nvPr/>
        </p:nvSpPr>
        <p:spPr>
          <a:xfrm>
            <a:off x="4514850" y="272415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r>
              <a:rPr>
                <a:latin typeface="Microsoft JhengHei"/>
                <a:ea typeface="Microsoft JhengHei"/>
                <a:cs typeface="Microsoft JhengHei"/>
              </a:rPr>
              <a:t>Image 建立技巧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7915BC9-E838-4FDC-9D1B-DF9C28F4967D}"/>
              </a:ext>
            </a:extLst>
          </p:cNvPr>
          <p:cNvSpPr>
            <a:spLocks noGrp="1"/>
          </p:cNvSpPr>
          <p:nvPr/>
        </p:nvSpPr>
        <p:spPr>
          <a:xfrm>
            <a:off x="4514850" y="3219450"/>
            <a:ext cx="27432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r>
              <a:rPr>
                <a:latin typeface="Microsoft JhengHei"/>
                <a:ea typeface="Microsoft JhengHei"/>
                <a:cs typeface="Microsoft JhengHei"/>
              </a:rPr>
              <a:t>理解 cache、layers、.dockerignore、tag 與測試流程。</a:t>
            </a:r>
          </a:p>
        </p:txBody>
      </p:sp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36E8B027-11CF-443C-895B-97B7D4E5573D}"/>
              </a:ext>
            </a:extLst>
          </p:cNvPr>
          <p:cNvSpPr>
            <a:spLocks noGrp="1"/>
          </p:cNvSpPr>
          <p:nvPr/>
        </p:nvSpPr>
        <p:spPr>
          <a:xfrm>
            <a:off x="796290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8" name="橢圓 17">
            <a:extLst>
              <a:ext uri="{FF2B5EF4-FFF2-40B4-BE49-F238E27FC236}">
                <a16:creationId xmlns:a16="http://schemas.microsoft.com/office/drawing/2014/main" id="{33FB78D0-B8E6-4D36-A93D-FCE1F6F29B16}"/>
              </a:ext>
            </a:extLst>
          </p:cNvPr>
          <p:cNvSpPr>
            <a:spLocks noGrp="1"/>
          </p:cNvSpPr>
          <p:nvPr/>
        </p:nvSpPr>
        <p:spPr>
          <a:xfrm>
            <a:off x="8191500" y="1943100"/>
            <a:ext cx="514350" cy="514350"/>
          </a:xfrm>
          <a:prstGeom prst="ellipse">
            <a:avLst/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8821B6FB-4EB6-4167-821D-C1742E573709}"/>
              </a:ext>
            </a:extLst>
          </p:cNvPr>
          <p:cNvSpPr>
            <a:spLocks noGrp="1"/>
          </p:cNvSpPr>
          <p:nvPr/>
        </p:nvSpPr>
        <p:spPr>
          <a:xfrm>
            <a:off x="8191500" y="2057400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E4A24AE2-27BE-4E01-BF05-766123D69E34}"/>
              </a:ext>
            </a:extLst>
          </p:cNvPr>
          <p:cNvSpPr>
            <a:spLocks noGrp="1"/>
          </p:cNvSpPr>
          <p:nvPr/>
        </p:nvSpPr>
        <p:spPr>
          <a:xfrm>
            <a:off x="8191500" y="272415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r>
              <a:rPr>
                <a:latin typeface="Microsoft JhengHei"/>
                <a:ea typeface="Microsoft JhengHei"/>
                <a:cs typeface="Microsoft JhengHei"/>
              </a:rPr>
              <a:t>發佈到 Docker Hub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7194FC18-10FD-48FC-AF93-60F64A877928}"/>
              </a:ext>
            </a:extLst>
          </p:cNvPr>
          <p:cNvSpPr>
            <a:spLocks noGrp="1"/>
          </p:cNvSpPr>
          <p:nvPr/>
        </p:nvSpPr>
        <p:spPr>
          <a:xfrm>
            <a:off x="8191500" y="3219450"/>
            <a:ext cx="27432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r>
              <a:rPr>
                <a:latin typeface="Microsoft JhengHei"/>
                <a:ea typeface="Microsoft JhengHei"/>
                <a:cs typeface="Microsoft JhengHei"/>
              </a:rPr>
              <a:t>推上 Docker Hub，讓 compose 使用自己的 app image。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FFCADF91-1170-4182-BA07-AFFC575ED79C}"/>
              </a:ext>
            </a:extLst>
          </p:cNvPr>
          <p:cNvSpPr>
            <a:spLocks noGrp="1"/>
          </p:cNvSpPr>
          <p:nvPr/>
        </p:nvSpPr>
        <p:spPr>
          <a:xfrm>
            <a:off x="876300" y="5334000"/>
            <a:ext cx="9334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r>
              <a:rPr>
                <a:latin typeface="Microsoft JhengHei"/>
                <a:ea typeface="Microsoft JhengHei"/>
                <a:cs typeface="Microsoft JhengHei"/>
              </a:rPr>
              <a:t>這堂課的關鍵句：把環境做進 Image，compose 只負責啟動服務。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723C8D62-9B42-41FA-9B60-1096A6C88D32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DE44CBED-9FB6-4D45-9CEF-77E343D4D597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50382" lnSpcReduction="20000"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requirements.txt 通常比程式碼少變。</a:t>
            </a: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endParaRPr sz="825" b="0">
              <a:solidFill>
                <a:srgbClr val="64748B"/>
              </a:solidFill>
              <a:latin typeface="Aptos"/>
              <a:ea typeface="Aptos"/>
              <a:cs typeface="Aptos"/>
            </a:endParaRPr>
          </a:p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先 COPY 它，可以讓 pip install 那層重用快取。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5BE1DDA3-BDD2-4766-945E-5DF276EC8692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4661774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0D3E9783-7AAC-41B6-8539-247941A6129C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WHY CUSTOM IMAGES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257832C-518D-4C96-B0EB-0FF8CBDBF379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r>
              <a:rPr>
                <a:latin typeface="Microsoft JhengHei"/>
                <a:ea typeface="Microsoft JhengHei"/>
                <a:cs typeface="Microsoft JhengHei"/>
              </a:rPr>
              <a:t>為什麼不要一直用 python image？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58458BCB-DC45-4CF6-90D7-97047DB37F24}"/>
              </a:ext>
            </a:extLst>
          </p:cNvPr>
          <p:cNvSpPr>
            <a:spLocks noGrp="1"/>
          </p:cNvSpPr>
          <p:nvPr/>
        </p:nvSpPr>
        <p:spPr>
          <a:xfrm>
            <a:off x="933450" y="1638300"/>
            <a:ext cx="4286250" cy="247650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019AB1A-F5F0-4489-8750-F5F56EAAED97}"/>
              </a:ext>
            </a:extLst>
          </p:cNvPr>
          <p:cNvSpPr>
            <a:spLocks noGrp="1"/>
          </p:cNvSpPr>
          <p:nvPr/>
        </p:nvSpPr>
        <p:spPr>
          <a:xfrm>
            <a:off x="1162050" y="1828800"/>
            <a:ext cx="3829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598" lnSpcReduction="10000"/>
          </a:bodyPr>
          <a:lstStyle/>
          <a:p>
            <a:pPr algn="l">
              <a:lnSpc>
                <a:spcPct val="106000"/>
              </a:lnSpc>
              <a:buNone/>
              <a:defRPr sz="22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手動安裝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7462C7D-AC21-4280-8FA8-317856EDB2C3}"/>
              </a:ext>
            </a:extLst>
          </p:cNvPr>
          <p:cNvSpPr>
            <a:spLocks noGrp="1"/>
          </p:cNvSpPr>
          <p:nvPr/>
        </p:nvSpPr>
        <p:spPr>
          <a:xfrm>
            <a:off x="1162050" y="2419350"/>
            <a:ext cx="3829050" cy="1504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進容器、apt install、pip install、複製檔案。</a:t>
            </a:r>
          </a:p>
          <a:p>
            <a:endParaRPr sz="1575" b="0">
              <a:solidFill>
                <a:srgbClr val="111827"/>
              </a:solidFill>
              <a:latin typeface="Aptos"/>
              <a:ea typeface="Aptos"/>
              <a:cs typeface="Aptos"/>
            </a:endParaRPr>
          </a:p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問題：換一台機器就要重做，容易少步驟。</a:t>
            </a:r>
          </a:p>
        </p:txBody>
      </p:sp>
      <p:sp>
        <p:nvSpPr>
          <p:cNvPr id="6" name="箭號: 向右 5">
            <a:extLst>
              <a:ext uri="{FF2B5EF4-FFF2-40B4-BE49-F238E27FC236}">
                <a16:creationId xmlns:a16="http://schemas.microsoft.com/office/drawing/2014/main" id="{298273FE-9A46-4FA9-A425-471756AD4584}"/>
              </a:ext>
            </a:extLst>
          </p:cNvPr>
          <p:cNvSpPr>
            <a:spLocks noGrp="1"/>
          </p:cNvSpPr>
          <p:nvPr/>
        </p:nvSpPr>
        <p:spPr>
          <a:xfrm>
            <a:off x="5600700" y="2647950"/>
            <a:ext cx="895350" cy="4000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4C20D5CE-72EE-4EC0-8239-C0EBFD23B89F}"/>
              </a:ext>
            </a:extLst>
          </p:cNvPr>
          <p:cNvSpPr>
            <a:spLocks noGrp="1"/>
          </p:cNvSpPr>
          <p:nvPr/>
        </p:nvSpPr>
        <p:spPr>
          <a:xfrm>
            <a:off x="6934200" y="1638300"/>
            <a:ext cx="4286250" cy="2476500"/>
          </a:xfrm>
          <a:prstGeom prst="roundRect">
            <a:avLst>
              <a:gd name="adj" fmla="val 4615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22E52CB-CB1E-4FD2-A88C-EF0F1081E931}"/>
              </a:ext>
            </a:extLst>
          </p:cNvPr>
          <p:cNvSpPr>
            <a:spLocks noGrp="1"/>
          </p:cNvSpPr>
          <p:nvPr/>
        </p:nvSpPr>
        <p:spPr>
          <a:xfrm>
            <a:off x="7162800" y="1828800"/>
            <a:ext cx="3829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598" lnSpcReduction="10000"/>
          </a:bodyPr>
          <a:lstStyle/>
          <a:p>
            <a:pPr algn="l">
              <a:lnSpc>
                <a:spcPct val="106000"/>
              </a:lnSpc>
              <a:buNone/>
              <a:def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Dockerfile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F63A157-A6FA-4DF1-AEB9-114EC1B64A4F}"/>
              </a:ext>
            </a:extLst>
          </p:cNvPr>
          <p:cNvSpPr>
            <a:spLocks noGrp="1"/>
          </p:cNvSpPr>
          <p:nvPr/>
        </p:nvSpPr>
        <p:spPr>
          <a:xfrm>
            <a:off x="7162800" y="2419350"/>
            <a:ext cx="3829050" cy="1504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COPY requirements.txt .</a:t>
            </a:r>
          </a:p>
          <a:p>
            <a:r>
              <a:t>RUN pip install -r requirements.txt</a:t>
            </a:r>
          </a:p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COPY . .</a:t>
            </a:r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3510BCBA-7548-4B46-898F-20212B69E885}"/>
              </a:ext>
            </a:extLst>
          </p:cNvPr>
          <p:cNvSpPr>
            <a:spLocks noGrp="1"/>
          </p:cNvSpPr>
          <p:nvPr/>
        </p:nvSpPr>
        <p:spPr>
          <a:xfrm>
            <a:off x="1695450" y="4762500"/>
            <a:ext cx="8801100" cy="685800"/>
          </a:xfrm>
          <a:prstGeom prst="roundRect">
            <a:avLst>
              <a:gd name="adj" fmla="val 16667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EFF5476-5321-4186-9609-E5D7F6815E0E}"/>
              </a:ext>
            </a:extLst>
          </p:cNvPr>
          <p:cNvSpPr>
            <a:spLocks noGrp="1"/>
          </p:cNvSpPr>
          <p:nvPr/>
        </p:nvSpPr>
        <p:spPr>
          <a:xfrm>
            <a:off x="2095500" y="4972050"/>
            <a:ext cx="8001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0000" lnSpcReduction="20000"/>
          </a:bodyPr>
          <a:lstStyle/>
          <a:p>
            <a:r>
              <a:rPr>
                <a:latin typeface="Microsoft JhengHei"/>
                <a:ea typeface="Microsoft JhengHei"/>
                <a:cs typeface="Microsoft JhengHei"/>
              </a:rPr>
              <a:t>Dockerfile 把「安裝套件、複製程式、啟動 app」做進 Image，讓 compose 不必每次啟動才 pip install。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B1A826C-F6D3-4EF9-AC2D-17BF3077A826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15825D28-F458-4B25-98EE-45C9111E7FA6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3BC476A-19EB-4CA4-BDB7-90B405A9DBC8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8138565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DB9A6C0F-8E7C-486C-BD35-002748A996EE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u="none" cap="none" spc="0">
                <a:ln>
                  <a:noFill/>
                </a:ln>
                <a:solidFill>
                  <a:srgbClr val="93C5FD"/>
                </a:solidFill>
                <a:latin typeface="Aptos"/>
                <a:ea typeface="Aptos"/>
                <a:cs typeface="Aptos"/>
              </a:rPr>
              <a:t>FLASK CODE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3AE04F58-495B-4DEF-AB4A-F2599B6692F4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600" b="1" i="0" u="none" cap="none" spc="0">
                <a:ln>
                  <a:noFill/>
                </a:ln>
                <a:solidFill>
                  <a:srgbClr val="F8FAFC"/>
                </a:solidFill>
                <a:latin typeface="Aptos"/>
                <a:ea typeface="Aptos"/>
                <a:cs typeface="Aptos"/>
              </a:rPr>
              <a:t>app.py：最小 Flask 網頁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856A62EF-337C-4344-B086-927A91C007FB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5F1C1468-F330-4B89-9E75-9AC4D5401001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286232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i="0" u="none" cap="none" spc="0">
                <a:ln>
                  <a:noFill/>
                </a:ln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app.py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i="0" u="none" cap="none" spc="0">
                <a:ln>
                  <a:noFill/>
                </a:ln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flask import Flask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i="0" u="none" cap="none" spc="0">
                <a:ln>
                  <a:noFill/>
                </a:ln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app = Flask(__name__)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cap="none" spc="0">
              <a:ln>
                <a:noFill/>
              </a:ln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i="0" u="none" cap="none" spc="0">
                <a:ln>
                  <a:noFill/>
                </a:ln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@app.get("/")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i="0" u="none" cap="none" spc="0">
                <a:ln>
                  <a:noFill/>
                </a:ln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index():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i="0" u="none" cap="none" spc="0">
                <a:ln>
                  <a:noFill/>
                </a:ln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return "&lt;h1&gt;Hello Flask Dockerfile!&lt;/h1&gt;"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cap="none" spc="0">
              <a:ln>
                <a:noFill/>
              </a:ln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i="0" u="none" cap="none" spc="0">
                <a:ln>
                  <a:noFill/>
                </a:ln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if __name__ == "__main__":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i="0" u="none" cap="none" spc="0">
                <a:ln>
                  <a:noFill/>
                </a:ln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app.run(host="0.0.0.0", port=5000)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8D8454F9-6901-4A54-8E40-0CEDD1A32349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cap="none" spc="0">
                <a:ln>
                  <a:noFill/>
                </a:ln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2 堂 | Flask 練習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9BF33DFE-EBB4-4947-9674-BCDB00F8C9DE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cap="none" spc="0">
                <a:ln>
                  <a:noFill/>
                </a:ln>
                <a:solidFill>
                  <a:srgbClr val="94A3B8"/>
                </a:solidFill>
                <a:latin typeface="Aptos"/>
                <a:ea typeface="Aptos"/>
                <a:cs typeface="Aptos"/>
              </a:rPr>
              <a:t>LAB</a:t>
            </a:r>
          </a:p>
        </p:txBody>
      </p:sp>
    </p:spTree>
    <p:extLst>
      <p:ext uri="{BB962C8B-B14F-4D97-AF65-F5344CB8AC3E}">
        <p14:creationId xmlns:p14="http://schemas.microsoft.com/office/powerpoint/2010/main" val="4588286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矩形 26">
            <a:extLst>
              <a:ext uri="{FF2B5EF4-FFF2-40B4-BE49-F238E27FC236}">
                <a16:creationId xmlns:a16="http://schemas.microsoft.com/office/drawing/2014/main" id="{3ABD4690-EFD3-4423-BA10-417EAD0C1DCA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DOCKERFILE ANATOMY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040B62C-AF46-49D2-B92E-D6D5B620A8DC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 dirty="0" err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Dockerfile</a:t>
            </a:r>
            <a:r>
              <a:rPr sz="2850" b="1" dirty="0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850" b="1" dirty="0" err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最小可跑版</a:t>
            </a:r>
            <a:endParaRPr sz="2850" b="1" dirty="0">
              <a:solidFill>
                <a:srgbClr val="FFFFFF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8C5D8050-55EC-4B79-BCBC-4755172B26B6}"/>
              </a:ext>
            </a:extLst>
          </p:cNvPr>
          <p:cNvSpPr>
            <a:spLocks noGrp="1"/>
          </p:cNvSpPr>
          <p:nvPr/>
        </p:nvSpPr>
        <p:spPr>
          <a:xfrm>
            <a:off x="723900" y="1447800"/>
            <a:ext cx="6286500" cy="2952750"/>
          </a:xfrm>
          <a:prstGeom prst="roundRect">
            <a:avLst>
              <a:gd name="adj" fmla="val 3226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  <p:txBody>
          <a:bodyPr/>
          <a:lstStyle/>
          <a:p>
            <a:endParaRPr dirty="0"/>
          </a:p>
        </p:txBody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E0FABAEE-04CF-4167-B3D1-0D8A58066DE8}"/>
              </a:ext>
            </a:extLst>
          </p:cNvPr>
          <p:cNvSpPr>
            <a:spLocks noGrp="1"/>
          </p:cNvSpPr>
          <p:nvPr/>
        </p:nvSpPr>
        <p:spPr>
          <a:xfrm>
            <a:off x="895350" y="16097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D6BF8E12-5F9A-4BBD-BAA3-AD2BC30137FA}"/>
              </a:ext>
            </a:extLst>
          </p:cNvPr>
          <p:cNvSpPr>
            <a:spLocks noGrp="1"/>
          </p:cNvSpPr>
          <p:nvPr/>
        </p:nvSpPr>
        <p:spPr>
          <a:xfrm>
            <a:off x="1066800" y="16097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54A52FC2-2BEB-4181-93FC-A3759AE3B015}"/>
              </a:ext>
            </a:extLst>
          </p:cNvPr>
          <p:cNvSpPr>
            <a:spLocks noGrp="1"/>
          </p:cNvSpPr>
          <p:nvPr/>
        </p:nvSpPr>
        <p:spPr>
          <a:xfrm>
            <a:off x="1238250" y="16097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00097C9-C592-4AFD-92A6-CAAA6EF4DD10}"/>
              </a:ext>
            </a:extLst>
          </p:cNvPr>
          <p:cNvSpPr>
            <a:spLocks noGrp="1"/>
          </p:cNvSpPr>
          <p:nvPr/>
        </p:nvSpPr>
        <p:spPr>
          <a:xfrm>
            <a:off x="933450" y="1866900"/>
            <a:ext cx="5867400" cy="260223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00" b="0" dirty="0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# </a:t>
            </a:r>
            <a:r>
              <a:rPr sz="1600" b="0" dirty="0" err="1">
                <a:solidFill>
                  <a:schemeClr val="bg1"/>
                </a:solidFill>
                <a:latin typeface="Consolas"/>
                <a:ea typeface="Consolas"/>
                <a:cs typeface="Consolas"/>
              </a:rPr>
              <a:t>Dockerfile</a:t>
            </a:r>
            <a:endParaRPr lang="en-US" sz="1600" b="0" dirty="0">
              <a:solidFill>
                <a:schemeClr val="bg1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lang="zh-TW" altLang="zh-TW" sz="1600" dirty="0">
                <a:solidFill>
                  <a:schemeClr val="bg1"/>
                </a:solidFill>
              </a:rPr>
              <a:t>FROM python:3.11</a:t>
            </a:r>
          </a:p>
          <a:p>
            <a:r>
              <a:rPr lang="zh-TW" altLang="zh-TW" sz="1600" dirty="0">
                <a:solidFill>
                  <a:schemeClr val="bg1"/>
                </a:solidFill>
              </a:rPr>
              <a:t>WORKDIR /app</a:t>
            </a:r>
          </a:p>
          <a:p>
            <a:r>
              <a:rPr lang="zh-TW" altLang="zh-TW" sz="1600" dirty="0">
                <a:solidFill>
                  <a:schemeClr val="bg1"/>
                </a:solidFill>
              </a:rPr>
              <a:t>COPY . .</a:t>
            </a:r>
          </a:p>
          <a:p>
            <a:r>
              <a:rPr lang="zh-TW" altLang="zh-TW" sz="1600" dirty="0">
                <a:solidFill>
                  <a:schemeClr val="bg1"/>
                </a:solidFill>
              </a:rPr>
              <a:t>RUN pip install -r requirements.txt</a:t>
            </a:r>
          </a:p>
          <a:p>
            <a:r>
              <a:rPr lang="zh-TW" altLang="zh-TW" sz="1600" dirty="0">
                <a:solidFill>
                  <a:schemeClr val="bg1"/>
                </a:solidFill>
              </a:rPr>
              <a:t>RUN apt-get update </a:t>
            </a:r>
          </a:p>
          <a:p>
            <a:r>
              <a:rPr lang="zh-TW" altLang="zh-TW" sz="1600" dirty="0">
                <a:solidFill>
                  <a:schemeClr val="bg1"/>
                </a:solidFill>
              </a:rPr>
              <a:t>RUN apt-get install -y nano</a:t>
            </a:r>
          </a:p>
          <a:p>
            <a:r>
              <a:rPr lang="zh-TW" altLang="zh-TW" sz="1600" dirty="0">
                <a:solidFill>
                  <a:schemeClr val="bg1"/>
                </a:solidFill>
              </a:rPr>
              <a:t>EXPOSE 5000</a:t>
            </a:r>
            <a:br>
              <a:rPr lang="zh-TW" altLang="zh-TW" sz="1600" dirty="0">
                <a:solidFill>
                  <a:schemeClr val="bg1"/>
                </a:solidFill>
              </a:rPr>
            </a:br>
            <a:endParaRPr lang="zh-TW" altLang="zh-TW" sz="1600" dirty="0">
              <a:solidFill>
                <a:schemeClr val="bg1"/>
              </a:solidFill>
            </a:endParaRPr>
          </a:p>
          <a:p>
            <a:r>
              <a:rPr lang="zh-TW" altLang="zh-TW" sz="1600" dirty="0">
                <a:solidFill>
                  <a:schemeClr val="bg1"/>
                </a:solidFill>
              </a:rPr>
              <a:t>CMD ["python", "app.py"]</a:t>
            </a:r>
          </a:p>
          <a:p>
            <a:br>
              <a:rPr lang="zh-TW" altLang="zh-TW" sz="1600" dirty="0">
                <a:solidFill>
                  <a:schemeClr val="bg1"/>
                </a:solidFill>
              </a:rPr>
            </a:br>
            <a:br>
              <a:rPr lang="zh-TW" altLang="zh-TW" sz="1600" dirty="0">
                <a:solidFill>
                  <a:schemeClr val="bg1"/>
                </a:solidFill>
              </a:rPr>
            </a:br>
            <a:br>
              <a:rPr lang="zh-TW" altLang="zh-TW" sz="1600" dirty="0">
                <a:solidFill>
                  <a:schemeClr val="bg1"/>
                </a:solidFill>
              </a:rPr>
            </a:br>
            <a:br>
              <a:rPr lang="zh-TW" altLang="zh-TW" sz="1600" dirty="0">
                <a:solidFill>
                  <a:schemeClr val="bg1"/>
                </a:solidFill>
              </a:rPr>
            </a:br>
            <a:br>
              <a:rPr lang="zh-TW" altLang="zh-TW" sz="1600" dirty="0">
                <a:solidFill>
                  <a:schemeClr val="bg1"/>
                </a:solidFill>
              </a:rPr>
            </a:br>
            <a:endParaRPr lang="zh-TW" altLang="zh-TW" sz="1600" dirty="0">
              <a:solidFill>
                <a:schemeClr val="bg1"/>
              </a:solidFill>
            </a:endParaRP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1F67AA4A-FEE2-415B-B93F-300E8A4B19A4}"/>
              </a:ext>
            </a:extLst>
          </p:cNvPr>
          <p:cNvSpPr>
            <a:spLocks noGrp="1"/>
          </p:cNvSpPr>
          <p:nvPr/>
        </p:nvSpPr>
        <p:spPr>
          <a:xfrm>
            <a:off x="7620000" y="1428750"/>
            <a:ext cx="3276600" cy="514350"/>
          </a:xfrm>
          <a:prstGeom prst="roundRect">
            <a:avLst>
              <a:gd name="adj" fmla="val 18519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6D02EC6-E681-4365-9222-A99C3557B4AB}"/>
              </a:ext>
            </a:extLst>
          </p:cNvPr>
          <p:cNvSpPr>
            <a:spLocks noGrp="1"/>
          </p:cNvSpPr>
          <p:nvPr/>
        </p:nvSpPr>
        <p:spPr>
          <a:xfrm>
            <a:off x="7848600" y="1581150"/>
            <a:ext cx="1047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529" lnSpcReduction="10000"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FROM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37C6B862-D69B-4A90-A58F-08879299CFAE}"/>
              </a:ext>
            </a:extLst>
          </p:cNvPr>
          <p:cNvSpPr>
            <a:spLocks noGrp="1"/>
          </p:cNvSpPr>
          <p:nvPr/>
        </p:nvSpPr>
        <p:spPr>
          <a:xfrm>
            <a:off x="9048750" y="1581150"/>
            <a:ext cx="15621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12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基礎 Image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6B7B9D9C-4C54-4A6D-B2DF-B77B31E5AFB4}"/>
              </a:ext>
            </a:extLst>
          </p:cNvPr>
          <p:cNvSpPr>
            <a:spLocks noGrp="1"/>
          </p:cNvSpPr>
          <p:nvPr/>
        </p:nvSpPr>
        <p:spPr>
          <a:xfrm>
            <a:off x="7620000" y="2114550"/>
            <a:ext cx="3276600" cy="514350"/>
          </a:xfrm>
          <a:prstGeom prst="roundRect">
            <a:avLst>
              <a:gd name="adj" fmla="val 18519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983EA41F-ADE8-4156-9260-FC8FF3608635}"/>
              </a:ext>
            </a:extLst>
          </p:cNvPr>
          <p:cNvSpPr>
            <a:spLocks noGrp="1"/>
          </p:cNvSpPr>
          <p:nvPr/>
        </p:nvSpPr>
        <p:spPr>
          <a:xfrm>
            <a:off x="7848600" y="2266950"/>
            <a:ext cx="1047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529" lnSpcReduction="10000"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WORKDIR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E5E2C58-DAEB-4A39-A2D5-19F2107414C4}"/>
              </a:ext>
            </a:extLst>
          </p:cNvPr>
          <p:cNvSpPr>
            <a:spLocks noGrp="1"/>
          </p:cNvSpPr>
          <p:nvPr/>
        </p:nvSpPr>
        <p:spPr>
          <a:xfrm>
            <a:off x="9048750" y="2266950"/>
            <a:ext cx="15621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12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容器內工作目錄</a:t>
            </a:r>
          </a:p>
        </p:txBody>
      </p:sp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9013F53D-B450-4D5D-8936-4E262FBC9DF7}"/>
              </a:ext>
            </a:extLst>
          </p:cNvPr>
          <p:cNvSpPr>
            <a:spLocks noGrp="1"/>
          </p:cNvSpPr>
          <p:nvPr/>
        </p:nvSpPr>
        <p:spPr>
          <a:xfrm>
            <a:off x="7620000" y="2800350"/>
            <a:ext cx="3276600" cy="514350"/>
          </a:xfrm>
          <a:prstGeom prst="roundRect">
            <a:avLst>
              <a:gd name="adj" fmla="val 18519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59CC02A8-F0F6-4E40-AC49-808B9DCFA572}"/>
              </a:ext>
            </a:extLst>
          </p:cNvPr>
          <p:cNvSpPr>
            <a:spLocks noGrp="1"/>
          </p:cNvSpPr>
          <p:nvPr/>
        </p:nvSpPr>
        <p:spPr>
          <a:xfrm>
            <a:off x="7848600" y="2952750"/>
            <a:ext cx="1047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529" lnSpcReduction="10000"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COPY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D70B169-20F9-4F20-91B3-7459BF8F4E10}"/>
              </a:ext>
            </a:extLst>
          </p:cNvPr>
          <p:cNvSpPr>
            <a:spLocks noGrp="1"/>
          </p:cNvSpPr>
          <p:nvPr/>
        </p:nvSpPr>
        <p:spPr>
          <a:xfrm>
            <a:off x="9048750" y="2952750"/>
            <a:ext cx="15621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12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複製檔案到 Image</a:t>
            </a:r>
          </a:p>
        </p:txBody>
      </p:sp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89303596-78ED-4DB2-A341-1ACAEEE27D44}"/>
              </a:ext>
            </a:extLst>
          </p:cNvPr>
          <p:cNvSpPr>
            <a:spLocks noGrp="1"/>
          </p:cNvSpPr>
          <p:nvPr/>
        </p:nvSpPr>
        <p:spPr>
          <a:xfrm>
            <a:off x="7620000" y="3486150"/>
            <a:ext cx="3276600" cy="514350"/>
          </a:xfrm>
          <a:prstGeom prst="roundRect">
            <a:avLst>
              <a:gd name="adj" fmla="val 18519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FD3EFF28-94FF-4BDE-BE37-C0C1DB87FCA1}"/>
              </a:ext>
            </a:extLst>
          </p:cNvPr>
          <p:cNvSpPr>
            <a:spLocks noGrp="1"/>
          </p:cNvSpPr>
          <p:nvPr/>
        </p:nvSpPr>
        <p:spPr>
          <a:xfrm>
            <a:off x="7848600" y="3638550"/>
            <a:ext cx="1047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529" lnSpcReduction="10000"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RUN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CFDB2138-BF22-4DC7-AB7F-EE6F6F9D2A46}"/>
              </a:ext>
            </a:extLst>
          </p:cNvPr>
          <p:cNvSpPr>
            <a:spLocks noGrp="1"/>
          </p:cNvSpPr>
          <p:nvPr/>
        </p:nvSpPr>
        <p:spPr>
          <a:xfrm>
            <a:off x="9048750" y="3638550"/>
            <a:ext cx="15621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12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build 時執行</a:t>
            </a:r>
          </a:p>
        </p:txBody>
      </p:sp>
      <p:sp>
        <p:nvSpPr>
          <p:cNvPr id="20" name="矩形: 圓角 19">
            <a:extLst>
              <a:ext uri="{FF2B5EF4-FFF2-40B4-BE49-F238E27FC236}">
                <a16:creationId xmlns:a16="http://schemas.microsoft.com/office/drawing/2014/main" id="{CC7795EA-D145-4C30-AA89-2C135EAD6FC1}"/>
              </a:ext>
            </a:extLst>
          </p:cNvPr>
          <p:cNvSpPr>
            <a:spLocks noGrp="1"/>
          </p:cNvSpPr>
          <p:nvPr/>
        </p:nvSpPr>
        <p:spPr>
          <a:xfrm>
            <a:off x="7620000" y="4171950"/>
            <a:ext cx="3276600" cy="514350"/>
          </a:xfrm>
          <a:prstGeom prst="roundRect">
            <a:avLst>
              <a:gd name="adj" fmla="val 18519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8E91228A-7D74-42DD-8B29-7E15D92251A7}"/>
              </a:ext>
            </a:extLst>
          </p:cNvPr>
          <p:cNvSpPr>
            <a:spLocks noGrp="1"/>
          </p:cNvSpPr>
          <p:nvPr/>
        </p:nvSpPr>
        <p:spPr>
          <a:xfrm>
            <a:off x="7848600" y="4324350"/>
            <a:ext cx="1047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529" lnSpcReduction="10000"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CMD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C21082CD-4060-460D-B7AE-E56E7ACB6C3B}"/>
              </a:ext>
            </a:extLst>
          </p:cNvPr>
          <p:cNvSpPr>
            <a:spLocks noGrp="1"/>
          </p:cNvSpPr>
          <p:nvPr/>
        </p:nvSpPr>
        <p:spPr>
          <a:xfrm>
            <a:off x="9048750" y="4324350"/>
            <a:ext cx="15621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12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container 啟動時執行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31525738-C170-446C-B62E-796B5F86A6C3}"/>
              </a:ext>
            </a:extLst>
          </p:cNvPr>
          <p:cNvSpPr>
            <a:spLocks noGrp="1"/>
          </p:cNvSpPr>
          <p:nvPr/>
        </p:nvSpPr>
        <p:spPr>
          <a:xfrm>
            <a:off x="1809750" y="5276850"/>
            <a:ext cx="8572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先能跑起來，再慢慢加入優化。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29F6A10E-8541-4738-8D43-A6C5957FCE8A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0D2FBF26-70F9-405B-9AF5-8323725C64B4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8BA1F231-620E-4D01-964C-BDE357A5468A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7205299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3906EE71-30A5-48DA-A18E-348D1C30EEC8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DOCKERFILE MAP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8DA8F17-B956-4AEA-82F1-7ECFD47F669F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Dockerfile 常見指令地圖</a:t>
            </a: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6D5EA444-587F-4213-B0F8-6AAED41A43FB}"/>
              </a:ext>
            </a:extLst>
          </p:cNvPr>
          <p:cNvSpPr>
            <a:spLocks noGrp="1"/>
          </p:cNvSpPr>
          <p:nvPr/>
        </p:nvSpPr>
        <p:spPr>
          <a:xfrm>
            <a:off x="609600" y="1514475"/>
            <a:ext cx="2571750" cy="971550"/>
          </a:xfrm>
          <a:prstGeom prst="roundRect">
            <a:avLst>
              <a:gd name="adj" fmla="val 8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txBody>
          <a:bodyPr lIns="152400" tIns="152400" rIns="152400" bIns="152400" anchor="t">
            <a:normAutofit lnSpcReduction="1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FROM</a:t>
            </a:r>
          </a:p>
          <a:p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選 base image</a:t>
            </a:r>
          </a:p>
          <a:p>
            <a:pPr algn="l">
              <a:lnSpc>
                <a:spcPct val="106000"/>
              </a:lnSpc>
              <a:buNone/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例：python:3.11</a:t>
            </a:r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7145D3DE-FF4E-4861-B820-FF6D1E4D3275}"/>
              </a:ext>
            </a:extLst>
          </p:cNvPr>
          <p:cNvSpPr>
            <a:spLocks noGrp="1"/>
          </p:cNvSpPr>
          <p:nvPr/>
        </p:nvSpPr>
        <p:spPr>
          <a:xfrm>
            <a:off x="3409950" y="1514475"/>
            <a:ext cx="2571750" cy="971550"/>
          </a:xfrm>
          <a:prstGeom prst="roundRect">
            <a:avLst>
              <a:gd name="adj" fmla="val 8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txBody>
          <a:bodyPr lIns="152400" tIns="152400" rIns="152400" bIns="152400" anchor="t">
            <a:normAutofit lnSpcReduction="1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WORKDIR</a:t>
            </a:r>
          </a:p>
          <a:p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設定工作目錄</a:t>
            </a:r>
          </a:p>
          <a:p>
            <a:pPr algn="l">
              <a:lnSpc>
                <a:spcPct val="106000"/>
              </a:lnSpc>
              <a:buNone/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後面的指令都在這裡跑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522EDE66-E9AA-44B8-BF89-F653F84A54A0}"/>
              </a:ext>
            </a:extLst>
          </p:cNvPr>
          <p:cNvSpPr>
            <a:spLocks noGrp="1"/>
          </p:cNvSpPr>
          <p:nvPr/>
        </p:nvSpPr>
        <p:spPr>
          <a:xfrm>
            <a:off x="6210300" y="1514475"/>
            <a:ext cx="2571750" cy="971550"/>
          </a:xfrm>
          <a:prstGeom prst="roundRect">
            <a:avLst>
              <a:gd name="adj" fmla="val 8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txBody>
          <a:bodyPr lIns="152400" tIns="152400" rIns="152400" bIns="152400" anchor="t">
            <a:normAutofit lnSpcReduction="1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COPY</a:t>
            </a:r>
          </a:p>
          <a:p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把檔案放進 image</a:t>
            </a:r>
          </a:p>
          <a:p>
            <a:pPr algn="l">
              <a:lnSpc>
                <a:spcPct val="106000"/>
              </a:lnSpc>
              <a:buNone/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初學先用 COPY，不急著用 ADD</a:t>
            </a:r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9A0E2469-16DB-4F4A-B83E-364BB1D16CA2}"/>
              </a:ext>
            </a:extLst>
          </p:cNvPr>
          <p:cNvSpPr>
            <a:spLocks noGrp="1"/>
          </p:cNvSpPr>
          <p:nvPr/>
        </p:nvSpPr>
        <p:spPr>
          <a:xfrm>
            <a:off x="9010650" y="1514475"/>
            <a:ext cx="2571750" cy="971550"/>
          </a:xfrm>
          <a:prstGeom prst="roundRect">
            <a:avLst>
              <a:gd name="adj" fmla="val 8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txBody>
          <a:bodyPr lIns="152400" tIns="152400" rIns="152400" bIns="152400" anchor="t">
            <a:normAutofit lnSpcReduction="1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RUN</a:t>
            </a:r>
          </a:p>
          <a:p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build 時執行</a:t>
            </a:r>
          </a:p>
          <a:p>
            <a:pPr algn="l">
              <a:lnSpc>
                <a:spcPct val="106000"/>
              </a:lnSpc>
              <a:buNone/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安裝套件、建立資料夾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A1ACBDD9-146F-4425-B3FC-5A68DA820564}"/>
              </a:ext>
            </a:extLst>
          </p:cNvPr>
          <p:cNvSpPr>
            <a:spLocks noGrp="1"/>
          </p:cNvSpPr>
          <p:nvPr/>
        </p:nvSpPr>
        <p:spPr>
          <a:xfrm>
            <a:off x="609600" y="2733675"/>
            <a:ext cx="2571750" cy="9715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txBody>
          <a:bodyPr lIns="152400" tIns="152400" rIns="152400" bIns="152400" anchor="t">
            <a:normAutofit lnSpcReduction="1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CMD</a:t>
            </a:r>
          </a:p>
          <a:p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container 啟動時執行</a:t>
            </a:r>
          </a:p>
          <a:p>
            <a:pPr algn="l">
              <a:lnSpc>
                <a:spcPct val="106000"/>
              </a:lnSpc>
              <a:buNone/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通常放啟動程式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3C683526-325B-4080-B295-A42EEFF0A0AA}"/>
              </a:ext>
            </a:extLst>
          </p:cNvPr>
          <p:cNvSpPr>
            <a:spLocks noGrp="1"/>
          </p:cNvSpPr>
          <p:nvPr/>
        </p:nvSpPr>
        <p:spPr>
          <a:xfrm>
            <a:off x="3409950" y="2733675"/>
            <a:ext cx="2571750" cy="9715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txBody>
          <a:bodyPr lIns="152400" tIns="152400" rIns="152400" bIns="152400" anchor="t">
            <a:normAutofit lnSpcReduction="1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EXPOSE</a:t>
            </a:r>
          </a:p>
          <a:p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文件提示 port</a:t>
            </a:r>
          </a:p>
          <a:p>
            <a:pPr algn="l">
              <a:lnSpc>
                <a:spcPct val="106000"/>
              </a:lnSpc>
              <a:buNone/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不等於真的開 port</a:t>
            </a:r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08723E17-3494-4826-A939-0FDC50C3080B}"/>
              </a:ext>
            </a:extLst>
          </p:cNvPr>
          <p:cNvSpPr>
            <a:spLocks noGrp="1"/>
          </p:cNvSpPr>
          <p:nvPr/>
        </p:nvSpPr>
        <p:spPr>
          <a:xfrm>
            <a:off x="6210300" y="2733675"/>
            <a:ext cx="2571750" cy="9715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txBody>
          <a:bodyPr lIns="152400" tIns="152400" rIns="152400" bIns="152400" anchor="t">
            <a:normAutofit lnSpcReduction="1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ENV</a:t>
            </a:r>
          </a:p>
          <a:p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非機密設定</a:t>
            </a:r>
          </a:p>
          <a:p>
            <a:pPr algn="l">
              <a:lnSpc>
                <a:spcPct val="106000"/>
              </a:lnSpc>
              <a:buNone/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密碼、token 不放這裡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44D66626-ED07-495D-AB3E-BDDEFB9629F5}"/>
              </a:ext>
            </a:extLst>
          </p:cNvPr>
          <p:cNvSpPr>
            <a:spLocks noGrp="1"/>
          </p:cNvSpPr>
          <p:nvPr/>
        </p:nvSpPr>
        <p:spPr>
          <a:xfrm>
            <a:off x="9010650" y="2733675"/>
            <a:ext cx="2571750" cy="9715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txBody>
          <a:bodyPr lIns="152400" tIns="152400" rIns="152400" bIns="152400" anchor="t">
            <a:normAutofit fontScale="96743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LABEL</a:t>
            </a:r>
          </a:p>
          <a:p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標記 image 資訊</a:t>
            </a:r>
          </a:p>
          <a:p>
            <a:pPr algn="l">
              <a:lnSpc>
                <a:spcPct val="106000"/>
              </a:lnSpc>
              <a:buNone/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作者、版本、用途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6E31139F-D564-4AC4-BC53-8F932FA0360D}"/>
              </a:ext>
            </a:extLst>
          </p:cNvPr>
          <p:cNvSpPr>
            <a:spLocks noGrp="1"/>
          </p:cNvSpPr>
          <p:nvPr/>
        </p:nvSpPr>
        <p:spPr>
          <a:xfrm>
            <a:off x="1143000" y="4210050"/>
            <a:ext cx="9144000" cy="6096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9525">
            <a:solidFill>
              <a:srgbClr val="D9E2EC"/>
            </a:solidFill>
            <a:prstDash val="solid"/>
          </a:ln>
        </p:spPr>
        <p:txBody>
          <a:bodyPr lIns="152400" tIns="152400" rIns="152400" bIns="15240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這堂先會讀懂常見指令；production 權限與安全設定之後再補。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D2FA5BC8-CCE4-4C28-97EA-0BF9DF079034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  <p:txBody>
          <a:bodyPr lIns="0" tIns="0" rIns="0" bIns="0" anchor="t">
            <a:normAutofit fontScale="25000" lnSpcReduction="20000"/>
          </a:bodyPr>
          <a:lstStyle/>
          <a:p>
            <a:endParaRPr/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6E29A778-8AEE-46F6-91EB-CC766E995E11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AD7D1E8D-8355-4667-A11C-FCBB8FBED60F}"/>
              </a:ext>
            </a:extLst>
          </p:cNvPr>
          <p:cNvSpPr>
            <a:spLocks noGrp="1"/>
          </p:cNvSpPr>
          <p:nvPr/>
        </p:nvSpPr>
        <p:spPr>
          <a:xfrm>
            <a:off x="10858500" y="6381750"/>
            <a:ext cx="723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05A</a:t>
            </a:r>
          </a:p>
        </p:txBody>
      </p:sp>
    </p:spTree>
    <p:extLst>
      <p:ext uri="{BB962C8B-B14F-4D97-AF65-F5344CB8AC3E}">
        <p14:creationId xmlns:p14="http://schemas.microsoft.com/office/powerpoint/2010/main" val="15424062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17324F87-7757-4EB6-AC9B-CA159A4F2C22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DOCKERFILE BEHAVIOR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966EFBA-621B-4328-A40B-0B8115D93EB4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RUN / CMD / EXPOSE 差異</a:t>
            </a: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85D1F372-0298-441B-8B68-35F45386DE10}"/>
              </a:ext>
            </a:extLst>
          </p:cNvPr>
          <p:cNvSpPr>
            <a:spLocks noGrp="1"/>
          </p:cNvSpPr>
          <p:nvPr/>
        </p:nvSpPr>
        <p:spPr>
          <a:xfrm>
            <a:off x="914400" y="1590675"/>
            <a:ext cx="3276600" cy="2476500"/>
          </a:xfrm>
          <a:prstGeom prst="roundRect">
            <a:avLst>
              <a:gd name="adj" fmla="val 8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txBody>
          <a:bodyPr lIns="190500" tIns="190500" rIns="190500" bIns="19050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RUN</a:t>
            </a:r>
          </a:p>
          <a:p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build image 的時候跑</a:t>
            </a:r>
          </a:p>
          <a:p>
            <a:pPr algn="ctr">
              <a:lnSpc>
                <a:spcPct val="106000"/>
              </a:lnSpc>
              <a:buNone/>
              <a:defRPr sz="127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會產生新的 image layer</a:t>
            </a:r>
          </a:p>
          <a:p>
            <a:pPr algn="ctr">
              <a:lnSpc>
                <a:spcPct val="106000"/>
              </a:lnSpc>
              <a:buNone/>
              <a:defRPr sz="11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例：RUN pip install -r requirements.txt</a:t>
            </a:r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236BD907-C81A-419A-AB21-D9424CB73594}"/>
              </a:ext>
            </a:extLst>
          </p:cNvPr>
          <p:cNvSpPr>
            <a:spLocks noGrp="1"/>
          </p:cNvSpPr>
          <p:nvPr/>
        </p:nvSpPr>
        <p:spPr>
          <a:xfrm>
            <a:off x="4495800" y="1590675"/>
            <a:ext cx="3276600" cy="2476500"/>
          </a:xfrm>
          <a:prstGeom prst="roundRect">
            <a:avLst>
              <a:gd name="adj" fmla="val 8000"/>
            </a:avLst>
          </a:prstGeom>
          <a:solidFill>
            <a:srgbClr val="EAF7EF"/>
          </a:solidFill>
          <a:ln w="9525">
            <a:solidFill>
              <a:srgbClr val="B7E4C7"/>
            </a:solidFill>
            <a:prstDash val="solid"/>
          </a:ln>
        </p:spPr>
        <p:txBody>
          <a:bodyPr lIns="190500" tIns="190500" rIns="190500" bIns="19050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087F5B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87F5B"/>
                </a:solidFill>
                <a:latin typeface="Aptos Display"/>
                <a:ea typeface="Aptos Display"/>
                <a:cs typeface="Aptos Display"/>
              </a:rPr>
              <a:t>CMD</a:t>
            </a:r>
          </a:p>
          <a:p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container 啟動時跑</a:t>
            </a:r>
          </a:p>
          <a:p>
            <a:pPr algn="ctr">
              <a:lnSpc>
                <a:spcPct val="106000"/>
              </a:lnSpc>
              <a:buNone/>
              <a:defRPr sz="127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可被 docker run 後面的 command 覆蓋</a:t>
            </a:r>
          </a:p>
          <a:p>
            <a:pPr algn="ctr">
              <a:lnSpc>
                <a:spcPct val="106000"/>
              </a:lnSpc>
              <a:buNone/>
              <a:defRPr sz="11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例：CMD ["python", "app.py"]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3C59F0C2-7FFC-44DF-9E07-E25DC99497DC}"/>
              </a:ext>
            </a:extLst>
          </p:cNvPr>
          <p:cNvSpPr>
            <a:spLocks noGrp="1"/>
          </p:cNvSpPr>
          <p:nvPr/>
        </p:nvSpPr>
        <p:spPr>
          <a:xfrm>
            <a:off x="8077200" y="1590675"/>
            <a:ext cx="3276600" cy="2476500"/>
          </a:xfrm>
          <a:prstGeom prst="roundRect">
            <a:avLst>
              <a:gd name="adj" fmla="val 8000"/>
            </a:avLst>
          </a:prstGeom>
          <a:solidFill>
            <a:srgbClr val="FFF7E6"/>
          </a:solidFill>
          <a:ln w="9525">
            <a:solidFill>
              <a:srgbClr val="FFD999"/>
            </a:solidFill>
            <a:prstDash val="solid"/>
          </a:ln>
        </p:spPr>
        <p:txBody>
          <a:bodyPr lIns="190500" tIns="190500" rIns="190500" bIns="19050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A16207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A16207"/>
                </a:solidFill>
                <a:latin typeface="Aptos Display"/>
                <a:ea typeface="Aptos Display"/>
                <a:cs typeface="Aptos Display"/>
              </a:rPr>
              <a:t>EXPOSE</a:t>
            </a:r>
          </a:p>
          <a:p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只是文件提示</a:t>
            </a:r>
          </a:p>
          <a:p>
            <a:pPr algn="ctr">
              <a:lnSpc>
                <a:spcPct val="106000"/>
              </a:lnSpc>
              <a:buNone/>
              <a:defRPr sz="127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不會自動對外開 port</a:t>
            </a:r>
          </a:p>
          <a:p>
            <a:pPr algn="ctr">
              <a:lnSpc>
                <a:spcPct val="106000"/>
              </a:lnSpc>
              <a:buNone/>
              <a:defRPr sz="11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仍要 -p 5000:5000 或 compose ports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6ABF8AE1-2C0C-44EA-9A89-5C5535D5D7D8}"/>
              </a:ext>
            </a:extLst>
          </p:cNvPr>
          <p:cNvSpPr>
            <a:spLocks noGrp="1"/>
          </p:cNvSpPr>
          <p:nvPr/>
        </p:nvSpPr>
        <p:spPr>
          <a:xfrm>
            <a:off x="990600" y="4541525"/>
            <a:ext cx="10210800" cy="628650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0">
            <a:noFill/>
            <a:prstDash val="solid"/>
          </a:ln>
        </p:spPr>
        <p:txBody>
          <a:bodyPr lIns="152400" tIns="152400" rIns="152400" bIns="15240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4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記法：RUN 做安裝，CMD 啟動程式，EXPOSE 留提醒。真的要開 port，要看 docker run -p 或 compose ports。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845B788F-81D4-4293-B970-4E90D7C4F16C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  <p:txBody>
          <a:bodyPr lIns="0" tIns="0" rIns="0" bIns="0" anchor="t">
            <a:normAutofit fontScale="25000" lnSpcReduction="20000"/>
          </a:bodyPr>
          <a:lstStyle/>
          <a:p>
            <a:endParaRPr/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E21DADB5-E369-4D9B-88B5-D91D0B197E0E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DDC6E237-F9B1-48D0-983A-9D3081EFEECB}"/>
              </a:ext>
            </a:extLst>
          </p:cNvPr>
          <p:cNvSpPr>
            <a:spLocks noGrp="1"/>
          </p:cNvSpPr>
          <p:nvPr/>
        </p:nvSpPr>
        <p:spPr>
          <a:xfrm>
            <a:off x="10858500" y="6381750"/>
            <a:ext cx="723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05B</a:t>
            </a:r>
          </a:p>
        </p:txBody>
      </p:sp>
    </p:spTree>
    <p:extLst>
      <p:ext uri="{BB962C8B-B14F-4D97-AF65-F5344CB8AC3E}">
        <p14:creationId xmlns:p14="http://schemas.microsoft.com/office/powerpoint/2010/main" val="14709516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>
            <a:extLst>
              <a:ext uri="{FF2B5EF4-FFF2-40B4-BE49-F238E27FC236}">
                <a16:creationId xmlns:a16="http://schemas.microsoft.com/office/drawing/2014/main" id="{51B097E6-FED0-457F-9945-A8F72E2E51BB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P1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D3E8409-14E9-4E4C-A9B7-7519F2D23281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實作題 P1：從零建構自己的映像檔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EE7BF0F2-A7DE-4803-B2E2-740ECCB94427}"/>
              </a:ext>
            </a:extLst>
          </p:cNvPr>
          <p:cNvSpPr>
            <a:spLocks noGrp="1"/>
          </p:cNvSpPr>
          <p:nvPr/>
        </p:nvSpPr>
        <p:spPr>
          <a:xfrm>
            <a:off x="800100" y="1714500"/>
            <a:ext cx="2476500" cy="20002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56DB1F10-F17B-4622-B5B9-D96CA344F046}"/>
              </a:ext>
            </a:extLst>
          </p:cNvPr>
          <p:cNvSpPr>
            <a:spLocks noGrp="1"/>
          </p:cNvSpPr>
          <p:nvPr/>
        </p:nvSpPr>
        <p:spPr>
          <a:xfrm>
            <a:off x="1771650" y="2000250"/>
            <a:ext cx="533400" cy="533400"/>
          </a:xfrm>
          <a:prstGeom prst="ellipse">
            <a:avLst/>
          </a:prstGeom>
          <a:solidFill>
            <a:srgbClr val="00A97F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FF19578-9568-4C51-83C0-83E1AFC03D2C}"/>
              </a:ext>
            </a:extLst>
          </p:cNvPr>
          <p:cNvSpPr>
            <a:spLocks noGrp="1"/>
          </p:cNvSpPr>
          <p:nvPr/>
        </p:nvSpPr>
        <p:spPr>
          <a:xfrm>
            <a:off x="1771650" y="2124075"/>
            <a:ext cx="533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263" lnSpcReduction="1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E3A7D2D-B395-4A2F-95B5-415CA266CDE1}"/>
              </a:ext>
            </a:extLst>
          </p:cNvPr>
          <p:cNvSpPr>
            <a:spLocks noGrp="1"/>
          </p:cNvSpPr>
          <p:nvPr/>
        </p:nvSpPr>
        <p:spPr>
          <a:xfrm>
            <a:off x="1009650" y="2781300"/>
            <a:ext cx="2057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建立 Python 程式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077B0F1-D36A-4421-A2A0-047142E2B149}"/>
              </a:ext>
            </a:extLst>
          </p:cNvPr>
          <p:cNvSpPr>
            <a:spLocks noGrp="1"/>
          </p:cNvSpPr>
          <p:nvPr/>
        </p:nvSpPr>
        <p:spPr>
          <a:xfrm>
            <a:off x="1009650" y="3257550"/>
            <a:ext cx="20574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印出 Hello from my image!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D7A13F22-5285-4C1A-A91C-2DDE06D4A80E}"/>
              </a:ext>
            </a:extLst>
          </p:cNvPr>
          <p:cNvSpPr>
            <a:spLocks noGrp="1"/>
          </p:cNvSpPr>
          <p:nvPr/>
        </p:nvSpPr>
        <p:spPr>
          <a:xfrm>
            <a:off x="3657600" y="1714500"/>
            <a:ext cx="2476500" cy="2000250"/>
          </a:xfrm>
          <a:prstGeom prst="roundRect">
            <a:avLst>
              <a:gd name="adj" fmla="val 5714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9" name="橢圓 8">
            <a:extLst>
              <a:ext uri="{FF2B5EF4-FFF2-40B4-BE49-F238E27FC236}">
                <a16:creationId xmlns:a16="http://schemas.microsoft.com/office/drawing/2014/main" id="{E586875C-FF8D-4DAF-A75B-7DF235937E82}"/>
              </a:ext>
            </a:extLst>
          </p:cNvPr>
          <p:cNvSpPr>
            <a:spLocks noGrp="1"/>
          </p:cNvSpPr>
          <p:nvPr/>
        </p:nvSpPr>
        <p:spPr>
          <a:xfrm>
            <a:off x="4629150" y="2000250"/>
            <a:ext cx="533400" cy="533400"/>
          </a:xfrm>
          <a:prstGeom prst="ellipse">
            <a:avLst/>
          </a:prstGeom>
          <a:solidFill>
            <a:srgbClr val="2496ED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E0163C9-09D6-4DB8-A679-0757A2B571E9}"/>
              </a:ext>
            </a:extLst>
          </p:cNvPr>
          <p:cNvSpPr>
            <a:spLocks noGrp="1"/>
          </p:cNvSpPr>
          <p:nvPr/>
        </p:nvSpPr>
        <p:spPr>
          <a:xfrm>
            <a:off x="4629150" y="2124075"/>
            <a:ext cx="533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263" lnSpcReduction="1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B0FE7C3-80C3-4C3B-93F2-4CAEE3DA4BF0}"/>
              </a:ext>
            </a:extLst>
          </p:cNvPr>
          <p:cNvSpPr>
            <a:spLocks noGrp="1"/>
          </p:cNvSpPr>
          <p:nvPr/>
        </p:nvSpPr>
        <p:spPr>
          <a:xfrm>
            <a:off x="3867150" y="2781300"/>
            <a:ext cx="2057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寫 Dockerfile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DC762D4-3153-403D-8E54-B4647ACDD4E5}"/>
              </a:ext>
            </a:extLst>
          </p:cNvPr>
          <p:cNvSpPr>
            <a:spLocks noGrp="1"/>
          </p:cNvSpPr>
          <p:nvPr/>
        </p:nvSpPr>
        <p:spPr>
          <a:xfrm>
            <a:off x="3867150" y="3257550"/>
            <a:ext cx="20574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使用 python:3.11</a:t>
            </a:r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A9BC277C-E3D2-4CD3-B8A3-F9099FE1A326}"/>
              </a:ext>
            </a:extLst>
          </p:cNvPr>
          <p:cNvSpPr>
            <a:spLocks noGrp="1"/>
          </p:cNvSpPr>
          <p:nvPr/>
        </p:nvSpPr>
        <p:spPr>
          <a:xfrm>
            <a:off x="6515100" y="1714500"/>
            <a:ext cx="2476500" cy="20002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4" name="橢圓 13">
            <a:extLst>
              <a:ext uri="{FF2B5EF4-FFF2-40B4-BE49-F238E27FC236}">
                <a16:creationId xmlns:a16="http://schemas.microsoft.com/office/drawing/2014/main" id="{50F4230C-3A3A-4218-BE59-42712C8C443C}"/>
              </a:ext>
            </a:extLst>
          </p:cNvPr>
          <p:cNvSpPr>
            <a:spLocks noGrp="1"/>
          </p:cNvSpPr>
          <p:nvPr/>
        </p:nvSpPr>
        <p:spPr>
          <a:xfrm>
            <a:off x="7486650" y="2000250"/>
            <a:ext cx="533400" cy="533400"/>
          </a:xfrm>
          <a:prstGeom prst="ellipse">
            <a:avLst/>
          </a:prstGeom>
          <a:solidFill>
            <a:srgbClr val="00A97F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391F1C2-8E15-48AF-BBC2-0E66DF6C12EC}"/>
              </a:ext>
            </a:extLst>
          </p:cNvPr>
          <p:cNvSpPr>
            <a:spLocks noGrp="1"/>
          </p:cNvSpPr>
          <p:nvPr/>
        </p:nvSpPr>
        <p:spPr>
          <a:xfrm>
            <a:off x="7486650" y="2124075"/>
            <a:ext cx="533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263" lnSpcReduction="1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72B8686E-7E86-4757-B3D2-4962D1507007}"/>
              </a:ext>
            </a:extLst>
          </p:cNvPr>
          <p:cNvSpPr>
            <a:spLocks noGrp="1"/>
          </p:cNvSpPr>
          <p:nvPr/>
        </p:nvSpPr>
        <p:spPr>
          <a:xfrm>
            <a:off x="6724650" y="2781300"/>
            <a:ext cx="2057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先不加優化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78A5733D-7221-4FF0-88D2-062A394B92D8}"/>
              </a:ext>
            </a:extLst>
          </p:cNvPr>
          <p:cNvSpPr>
            <a:spLocks noGrp="1"/>
          </p:cNvSpPr>
          <p:nvPr/>
        </p:nvSpPr>
        <p:spPr>
          <a:xfrm>
            <a:off x="6724650" y="3257550"/>
            <a:ext cx="20574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先理解每一行在做什麼</a:t>
            </a:r>
          </a:p>
        </p:txBody>
      </p:sp>
      <p:sp>
        <p:nvSpPr>
          <p:cNvPr id="18" name="矩形: 圓角 17">
            <a:extLst>
              <a:ext uri="{FF2B5EF4-FFF2-40B4-BE49-F238E27FC236}">
                <a16:creationId xmlns:a16="http://schemas.microsoft.com/office/drawing/2014/main" id="{CAEC7BAA-CA52-4479-86D1-583230AA5458}"/>
              </a:ext>
            </a:extLst>
          </p:cNvPr>
          <p:cNvSpPr>
            <a:spLocks noGrp="1"/>
          </p:cNvSpPr>
          <p:nvPr/>
        </p:nvSpPr>
        <p:spPr>
          <a:xfrm>
            <a:off x="9372600" y="1714500"/>
            <a:ext cx="2476500" cy="20002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9" name="橢圓 18">
            <a:extLst>
              <a:ext uri="{FF2B5EF4-FFF2-40B4-BE49-F238E27FC236}">
                <a16:creationId xmlns:a16="http://schemas.microsoft.com/office/drawing/2014/main" id="{A4B5BDE2-E06B-44A7-9F93-CCA14C6A85CB}"/>
              </a:ext>
            </a:extLst>
          </p:cNvPr>
          <p:cNvSpPr>
            <a:spLocks noGrp="1"/>
          </p:cNvSpPr>
          <p:nvPr/>
        </p:nvSpPr>
        <p:spPr>
          <a:xfrm>
            <a:off x="10344150" y="2000250"/>
            <a:ext cx="533400" cy="533400"/>
          </a:xfrm>
          <a:prstGeom prst="ellipse">
            <a:avLst/>
          </a:prstGeom>
          <a:solidFill>
            <a:srgbClr val="00A97F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128808A5-9CBB-41C7-945A-F88CC389DF93}"/>
              </a:ext>
            </a:extLst>
          </p:cNvPr>
          <p:cNvSpPr>
            <a:spLocks noGrp="1"/>
          </p:cNvSpPr>
          <p:nvPr/>
        </p:nvSpPr>
        <p:spPr>
          <a:xfrm>
            <a:off x="10344150" y="2124075"/>
            <a:ext cx="533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263" lnSpcReduction="1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3CD9F342-34AF-4578-B784-3A58B1A2B57F}"/>
              </a:ext>
            </a:extLst>
          </p:cNvPr>
          <p:cNvSpPr>
            <a:spLocks noGrp="1"/>
          </p:cNvSpPr>
          <p:nvPr/>
        </p:nvSpPr>
        <p:spPr>
          <a:xfrm>
            <a:off x="9582150" y="2781300"/>
            <a:ext cx="2057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build / run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84B22BEB-7983-4EAD-AC69-0AF33DECBB9F}"/>
              </a:ext>
            </a:extLst>
          </p:cNvPr>
          <p:cNvSpPr>
            <a:spLocks noGrp="1"/>
          </p:cNvSpPr>
          <p:nvPr/>
        </p:nvSpPr>
        <p:spPr>
          <a:xfrm>
            <a:off x="9582150" y="3257550"/>
            <a:ext cx="20574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114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確認輸出，再看 docker history</a:t>
            </a:r>
          </a:p>
        </p:txBody>
      </p:sp>
      <p:sp>
        <p:nvSpPr>
          <p:cNvPr id="23" name="矩形: 圓角 22">
            <a:extLst>
              <a:ext uri="{FF2B5EF4-FFF2-40B4-BE49-F238E27FC236}">
                <a16:creationId xmlns:a16="http://schemas.microsoft.com/office/drawing/2014/main" id="{B0858293-1B08-49FA-B8DA-E108E67A64AE}"/>
              </a:ext>
            </a:extLst>
          </p:cNvPr>
          <p:cNvSpPr>
            <a:spLocks noGrp="1"/>
          </p:cNvSpPr>
          <p:nvPr/>
        </p:nvSpPr>
        <p:spPr>
          <a:xfrm>
            <a:off x="2381250" y="4552950"/>
            <a:ext cx="7429500" cy="1219200"/>
          </a:xfrm>
          <a:prstGeom prst="roundRect">
            <a:avLst>
              <a:gd name="adj" fmla="val 7813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24" name="橢圓 23">
            <a:extLst>
              <a:ext uri="{FF2B5EF4-FFF2-40B4-BE49-F238E27FC236}">
                <a16:creationId xmlns:a16="http://schemas.microsoft.com/office/drawing/2014/main" id="{EF4747DC-5E39-453F-BB2C-978AB6F75E0F}"/>
              </a:ext>
            </a:extLst>
          </p:cNvPr>
          <p:cNvSpPr>
            <a:spLocks noGrp="1"/>
          </p:cNvSpPr>
          <p:nvPr/>
        </p:nvSpPr>
        <p:spPr>
          <a:xfrm>
            <a:off x="2552700" y="47148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橢圓 24">
            <a:extLst>
              <a:ext uri="{FF2B5EF4-FFF2-40B4-BE49-F238E27FC236}">
                <a16:creationId xmlns:a16="http://schemas.microsoft.com/office/drawing/2014/main" id="{6D37CF11-078B-4FED-9B86-AEADD9171985}"/>
              </a:ext>
            </a:extLst>
          </p:cNvPr>
          <p:cNvSpPr>
            <a:spLocks noGrp="1"/>
          </p:cNvSpPr>
          <p:nvPr/>
        </p:nvSpPr>
        <p:spPr>
          <a:xfrm>
            <a:off x="2724150" y="47148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橢圓 25">
            <a:extLst>
              <a:ext uri="{FF2B5EF4-FFF2-40B4-BE49-F238E27FC236}">
                <a16:creationId xmlns:a16="http://schemas.microsoft.com/office/drawing/2014/main" id="{5A5D8591-691D-4BA0-B1A0-331235727AC3}"/>
              </a:ext>
            </a:extLst>
          </p:cNvPr>
          <p:cNvSpPr>
            <a:spLocks noGrp="1"/>
          </p:cNvSpPr>
          <p:nvPr/>
        </p:nvSpPr>
        <p:spPr>
          <a:xfrm>
            <a:off x="2895600" y="47148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6467E988-2301-4CDF-A88C-6628A18BB1A2}"/>
              </a:ext>
            </a:extLst>
          </p:cNvPr>
          <p:cNvSpPr>
            <a:spLocks noGrp="1"/>
          </p:cNvSpPr>
          <p:nvPr/>
        </p:nvSpPr>
        <p:spPr>
          <a:xfrm>
            <a:off x="2590800" y="4972050"/>
            <a:ext cx="70104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402" lnSpcReduction="10000"/>
          </a:bodyPr>
          <a:lstStyle/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build -t my-first-image .</a:t>
            </a:r>
          </a:p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my-first-image -p</a:t>
            </a:r>
          </a:p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history my-first-image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E8AED048-95C9-4CB0-A468-EA43E5F2A80A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83C5082D-10C9-4A16-9E78-37A82631388B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C80CD6CE-19C7-41F1-8E55-1423DD4DE946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6723754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5D94C558-CEFE-495D-BBA0-A5DD77D7933C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BUILD LOOP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31ADADE-EF22-46BD-8E25-C4FBB3B5FB49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Build 後要馬上 Run，確認 Image 真的能用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C79B506F-79CB-45C2-A97F-956B1A5575DE}"/>
              </a:ext>
            </a:extLst>
          </p:cNvPr>
          <p:cNvSpPr>
            <a:spLocks noGrp="1"/>
          </p:cNvSpPr>
          <p:nvPr/>
        </p:nvSpPr>
        <p:spPr>
          <a:xfrm>
            <a:off x="838200" y="1504950"/>
            <a:ext cx="6096000" cy="3429000"/>
          </a:xfrm>
          <a:prstGeom prst="roundRect">
            <a:avLst>
              <a:gd name="adj" fmla="val 2778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7E8AE9D5-3835-473B-A3D8-FE5216227B25}"/>
              </a:ext>
            </a:extLst>
          </p:cNvPr>
          <p:cNvSpPr>
            <a:spLocks noGrp="1"/>
          </p:cNvSpPr>
          <p:nvPr/>
        </p:nvSpPr>
        <p:spPr>
          <a:xfrm>
            <a:off x="1009650" y="16668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B3987150-AF25-410D-AF8D-C407E7367F9B}"/>
              </a:ext>
            </a:extLst>
          </p:cNvPr>
          <p:cNvSpPr>
            <a:spLocks noGrp="1"/>
          </p:cNvSpPr>
          <p:nvPr/>
        </p:nvSpPr>
        <p:spPr>
          <a:xfrm>
            <a:off x="1181100" y="16668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1B01F491-A849-4F06-887A-883F8D4F6DB5}"/>
              </a:ext>
            </a:extLst>
          </p:cNvPr>
          <p:cNvSpPr>
            <a:spLocks noGrp="1"/>
          </p:cNvSpPr>
          <p:nvPr/>
        </p:nvSpPr>
        <p:spPr>
          <a:xfrm>
            <a:off x="1352550" y="16668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8F6D624-B6C7-4CA6-808A-2DC21FE5E3A5}"/>
              </a:ext>
            </a:extLst>
          </p:cNvPr>
          <p:cNvSpPr>
            <a:spLocks noGrp="1"/>
          </p:cNvSpPr>
          <p:nvPr/>
        </p:nvSpPr>
        <p:spPr>
          <a:xfrm>
            <a:off x="1047750" y="1924050"/>
            <a:ext cx="5676900" cy="2876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104000"/>
              </a:lnSpc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build -t </a:t>
            </a:r>
            <a:r>
              <a:rPr lang="en" sz="15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my-first-image </a:t>
            </a:r>
            <a:r>
              <a:rPr sz="15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</a:t>
            </a:r>
          </a:p>
          <a:p>
            <a:endParaRPr sz="150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>
              <a:lnSpc>
                <a:spcPct val="104000"/>
              </a:lnSpc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test-flask -p 5001:5000 </a:t>
            </a:r>
            <a:r>
              <a:rPr lang="en" sz="15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my-first-image</a:t>
            </a:r>
            <a:endParaRPr sz="150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endParaRPr sz="150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logs test-flask</a:t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curl http://localhost:5000</a:t>
            </a:r>
          </a:p>
          <a:p>
            <a:endParaRPr sz="150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test-flask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0C72A16D-5986-4693-BFB0-38E68E4E73BE}"/>
              </a:ext>
            </a:extLst>
          </p:cNvPr>
          <p:cNvSpPr>
            <a:spLocks noGrp="1"/>
          </p:cNvSpPr>
          <p:nvPr/>
        </p:nvSpPr>
        <p:spPr>
          <a:xfrm>
            <a:off x="7677150" y="1809750"/>
            <a:ext cx="3105150" cy="2038350"/>
          </a:xfrm>
          <a:prstGeom prst="roundRect">
            <a:avLst>
              <a:gd name="adj" fmla="val 5607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5812F8D-5852-4CCD-820A-9F2D8071DFA2}"/>
              </a:ext>
            </a:extLst>
          </p:cNvPr>
          <p:cNvSpPr>
            <a:spLocks noGrp="1"/>
          </p:cNvSpPr>
          <p:nvPr/>
        </p:nvSpPr>
        <p:spPr>
          <a:xfrm>
            <a:off x="7905750" y="2000250"/>
            <a:ext cx="26479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最小驗證循環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023E183-A1E9-44C8-B228-F38D164DCBFD}"/>
              </a:ext>
            </a:extLst>
          </p:cNvPr>
          <p:cNvSpPr>
            <a:spLocks noGrp="1"/>
          </p:cNvSpPr>
          <p:nvPr/>
        </p:nvSpPr>
        <p:spPr>
          <a:xfrm>
            <a:off x="7905750" y="2419350"/>
            <a:ext cx="2647950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037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build 成功只代表 Image 被產出。</a:t>
            </a:r>
          </a:p>
          <a:p>
            <a:endParaRPr sz="1500" b="0">
              <a:solidFill>
                <a:srgbClr val="111827"/>
              </a:solidFill>
              <a:latin typeface="Aptos"/>
              <a:ea typeface="Aptos"/>
              <a:cs typeface="Aptos"/>
            </a:endParaRPr>
          </a:p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run、logs、curl 才能確認程式在容器裡真的啟動。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A1382D95-9473-42C3-AB9F-9CFD3F95FCA9}"/>
              </a:ext>
            </a:extLst>
          </p:cNvPr>
          <p:cNvSpPr>
            <a:spLocks noGrp="1"/>
          </p:cNvSpPr>
          <p:nvPr/>
        </p:nvSpPr>
        <p:spPr>
          <a:xfrm>
            <a:off x="1962150" y="5410200"/>
            <a:ext cx="8267700" cy="457200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5C3DC71-95D2-4556-9847-09F875EAF8F4}"/>
              </a:ext>
            </a:extLst>
          </p:cNvPr>
          <p:cNvSpPr>
            <a:spLocks noGrp="1"/>
          </p:cNvSpPr>
          <p:nvPr/>
        </p:nvSpPr>
        <p:spPr>
          <a:xfrm>
            <a:off x="2266950" y="5543550"/>
            <a:ext cx="76581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978" lnSpcReduction="10000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每次改 Dockerfile：build -&gt; run -&gt; logs -&gt; 清理測試容器。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DB344E7B-85DD-47F0-AEDC-23A1BB85982F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2AA4FE1A-A1B1-4902-AC65-8F225132BDE8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B1B041E-89A0-4511-9CA1-EB423B4A0028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21364085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矩形 23">
            <a:extLst>
              <a:ext uri="{FF2B5EF4-FFF2-40B4-BE49-F238E27FC236}">
                <a16:creationId xmlns:a16="http://schemas.microsoft.com/office/drawing/2014/main" id="{044AD856-0C1F-437C-B31B-2C78C9E4DF68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IMAGE LAYERS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E7B4825-5B46-4C80-A52B-0263B1A5274D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Image 是一層一層堆出來的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FFA48145-2C0B-4EFB-BD29-78D5A929E69A}"/>
              </a:ext>
            </a:extLst>
          </p:cNvPr>
          <p:cNvSpPr>
            <a:spLocks noGrp="1"/>
          </p:cNvSpPr>
          <p:nvPr/>
        </p:nvSpPr>
        <p:spPr>
          <a:xfrm>
            <a:off x="3257550" y="2971800"/>
            <a:ext cx="5048250" cy="533400"/>
          </a:xfrm>
          <a:prstGeom prst="roundRect">
            <a:avLst>
              <a:gd name="adj" fmla="val 17857"/>
            </a:avLst>
          </a:prstGeom>
          <a:solidFill>
            <a:srgbClr val="E8F3FF"/>
          </a:solidFill>
          <a:ln w="11430">
            <a:solidFill>
              <a:srgbClr val="0B5CA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B0CF1BC-23F5-42AA-BF73-8B608863D008}"/>
              </a:ext>
            </a:extLst>
          </p:cNvPr>
          <p:cNvSpPr>
            <a:spLocks noGrp="1"/>
          </p:cNvSpPr>
          <p:nvPr/>
        </p:nvSpPr>
        <p:spPr>
          <a:xfrm>
            <a:off x="3638550" y="3114675"/>
            <a:ext cx="4286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978" lnSpcReduction="10000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CMD</a:t>
            </a:r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B5885436-4F80-4DED-9C44-A9F33C48B9E4}"/>
              </a:ext>
            </a:extLst>
          </p:cNvPr>
          <p:cNvSpPr>
            <a:spLocks noGrp="1"/>
          </p:cNvSpPr>
          <p:nvPr/>
        </p:nvSpPr>
        <p:spPr>
          <a:xfrm>
            <a:off x="3086100" y="2533650"/>
            <a:ext cx="5391150" cy="533400"/>
          </a:xfrm>
          <a:prstGeom prst="roundRect">
            <a:avLst>
              <a:gd name="adj" fmla="val 17857"/>
            </a:avLst>
          </a:prstGeom>
          <a:solidFill>
            <a:srgbClr val="E7F8F2"/>
          </a:solidFill>
          <a:ln w="11430">
            <a:solidFill>
              <a:srgbClr val="04785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DAD2C27-1527-4F6D-B1BD-88A35EF55E74}"/>
              </a:ext>
            </a:extLst>
          </p:cNvPr>
          <p:cNvSpPr>
            <a:spLocks noGrp="1"/>
          </p:cNvSpPr>
          <p:nvPr/>
        </p:nvSpPr>
        <p:spPr>
          <a:xfrm>
            <a:off x="3467100" y="2676525"/>
            <a:ext cx="4629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978" lnSpcReduction="10000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047857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047857"/>
                </a:solidFill>
                <a:latin typeface="Consolas"/>
                <a:ea typeface="Consolas"/>
                <a:cs typeface="Consolas"/>
              </a:rPr>
              <a:t>COPY . .</a:t>
            </a:r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B1BFDFF1-931F-4A1B-AE54-BEA64915D504}"/>
              </a:ext>
            </a:extLst>
          </p:cNvPr>
          <p:cNvSpPr>
            <a:spLocks noGrp="1"/>
          </p:cNvSpPr>
          <p:nvPr/>
        </p:nvSpPr>
        <p:spPr>
          <a:xfrm>
            <a:off x="2914650" y="2095500"/>
            <a:ext cx="5734050" cy="533400"/>
          </a:xfrm>
          <a:prstGeom prst="roundRect">
            <a:avLst>
              <a:gd name="adj" fmla="val 17857"/>
            </a:avLst>
          </a:prstGeom>
          <a:solidFill>
            <a:srgbClr val="FFF6DD"/>
          </a:solidFill>
          <a:ln w="11430">
            <a:solidFill>
              <a:srgbClr val="B4530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4C1D46E-E878-414D-A100-8914FF206D3A}"/>
              </a:ext>
            </a:extLst>
          </p:cNvPr>
          <p:cNvSpPr>
            <a:spLocks noGrp="1"/>
          </p:cNvSpPr>
          <p:nvPr/>
        </p:nvSpPr>
        <p:spPr>
          <a:xfrm>
            <a:off x="3295650" y="2238375"/>
            <a:ext cx="49720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978" lnSpcReduction="10000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B45309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B45309"/>
                </a:solidFill>
                <a:latin typeface="Consolas"/>
                <a:ea typeface="Consolas"/>
                <a:cs typeface="Consolas"/>
              </a:rPr>
              <a:t>RUN pip install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BDC2EA85-57E4-4CFF-903B-44BDD92D7553}"/>
              </a:ext>
            </a:extLst>
          </p:cNvPr>
          <p:cNvSpPr>
            <a:spLocks noGrp="1"/>
          </p:cNvSpPr>
          <p:nvPr/>
        </p:nvSpPr>
        <p:spPr>
          <a:xfrm>
            <a:off x="2743200" y="1657350"/>
            <a:ext cx="6076950" cy="533400"/>
          </a:xfrm>
          <a:prstGeom prst="roundRect">
            <a:avLst>
              <a:gd name="adj" fmla="val 17857"/>
            </a:avLst>
          </a:prstGeom>
          <a:solidFill>
            <a:srgbClr val="EEF2FF"/>
          </a:solidFill>
          <a:ln w="11430">
            <a:solidFill>
              <a:srgbClr val="4F46E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8E82CFB-08D8-4B88-AD3B-793E02F31D9B}"/>
              </a:ext>
            </a:extLst>
          </p:cNvPr>
          <p:cNvSpPr>
            <a:spLocks noGrp="1"/>
          </p:cNvSpPr>
          <p:nvPr/>
        </p:nvSpPr>
        <p:spPr>
          <a:xfrm>
            <a:off x="3124200" y="1800225"/>
            <a:ext cx="53149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978" lnSpcReduction="10000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COPY requirements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EC9CC07B-27A8-4CDF-ACD2-8D8345878195}"/>
              </a:ext>
            </a:extLst>
          </p:cNvPr>
          <p:cNvSpPr>
            <a:spLocks noGrp="1"/>
          </p:cNvSpPr>
          <p:nvPr/>
        </p:nvSpPr>
        <p:spPr>
          <a:xfrm>
            <a:off x="2571750" y="1219200"/>
            <a:ext cx="6419850" cy="533400"/>
          </a:xfrm>
          <a:prstGeom prst="roundRect">
            <a:avLst>
              <a:gd name="adj" fmla="val 17857"/>
            </a:avLst>
          </a:prstGeom>
          <a:solidFill>
            <a:srgbClr val="F1F5F9"/>
          </a:solidFill>
          <a:ln w="11430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1C8388C-E58C-444D-BCC2-1041F191626F}"/>
              </a:ext>
            </a:extLst>
          </p:cNvPr>
          <p:cNvSpPr>
            <a:spLocks noGrp="1"/>
          </p:cNvSpPr>
          <p:nvPr/>
        </p:nvSpPr>
        <p:spPr>
          <a:xfrm>
            <a:off x="2952750" y="1362075"/>
            <a:ext cx="56578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978" lnSpcReduction="10000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64748B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python:3.11</a:t>
            </a:r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1DC8394B-38FE-435D-B89E-9AE64A0AA151}"/>
              </a:ext>
            </a:extLst>
          </p:cNvPr>
          <p:cNvSpPr>
            <a:spLocks noGrp="1"/>
          </p:cNvSpPr>
          <p:nvPr/>
        </p:nvSpPr>
        <p:spPr>
          <a:xfrm>
            <a:off x="7734300" y="1714500"/>
            <a:ext cx="3162300" cy="219075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3DDAD5B-82BB-4154-9FFA-F2041E2FF835}"/>
              </a:ext>
            </a:extLst>
          </p:cNvPr>
          <p:cNvSpPr>
            <a:spLocks noGrp="1"/>
          </p:cNvSpPr>
          <p:nvPr/>
        </p:nvSpPr>
        <p:spPr>
          <a:xfrm>
            <a:off x="7962900" y="1905000"/>
            <a:ext cx="2705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重點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AC13BA5-25C0-486A-899D-6CAE75DBD779}"/>
              </a:ext>
            </a:extLst>
          </p:cNvPr>
          <p:cNvSpPr>
            <a:spLocks noGrp="1"/>
          </p:cNvSpPr>
          <p:nvPr/>
        </p:nvSpPr>
        <p:spPr>
          <a:xfrm>
            <a:off x="7962900" y="2438400"/>
            <a:ext cx="2705100" cy="1276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每個</a:t>
            </a:r>
            <a:r>
              <a:rPr sz="1500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RUN / COPY / ADD </a:t>
            </a:r>
            <a:r>
              <a:rPr sz="1500" b="0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通常都會產生新</a:t>
            </a:r>
            <a:r>
              <a:rPr sz="1500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layer。</a:t>
            </a:r>
          </a:p>
          <a:p>
            <a:endParaRPr sz="1500" b="0" dirty="0">
              <a:solidFill>
                <a:srgbClr val="111827"/>
              </a:solidFill>
              <a:latin typeface="Aptos"/>
              <a:ea typeface="Aptos"/>
              <a:cs typeface="Aptos"/>
            </a:endParaRPr>
          </a:p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 dirty="0" err="1">
                <a:solidFill>
                  <a:srgbClr val="111827"/>
                </a:solidFill>
                <a:latin typeface="Aptos"/>
                <a:ea typeface="Aptos"/>
                <a:cs typeface="Aptos"/>
              </a:rPr>
              <a:t>上一層的內容不會因為下一層刪除檔案就真的消失</a:t>
            </a:r>
            <a:r>
              <a:rPr sz="1500" b="0" dirty="0">
                <a:solidFill>
                  <a:srgbClr val="111827"/>
                </a:solidFill>
                <a:latin typeface="Aptos"/>
                <a:ea typeface="Aptos"/>
                <a:cs typeface="Aptos"/>
              </a:rPr>
              <a:t>。</a:t>
            </a:r>
          </a:p>
        </p:txBody>
      </p:sp>
      <p:sp>
        <p:nvSpPr>
          <p:cNvPr id="16" name="矩形: 圓角 15">
            <a:extLst>
              <a:ext uri="{FF2B5EF4-FFF2-40B4-BE49-F238E27FC236}">
                <a16:creationId xmlns:a16="http://schemas.microsoft.com/office/drawing/2014/main" id="{3CF9AACF-353D-4CF3-9C41-DB8916D38D1B}"/>
              </a:ext>
            </a:extLst>
          </p:cNvPr>
          <p:cNvSpPr>
            <a:spLocks noGrp="1"/>
          </p:cNvSpPr>
          <p:nvPr/>
        </p:nvSpPr>
        <p:spPr>
          <a:xfrm>
            <a:off x="2476500" y="4914900"/>
            <a:ext cx="7239000" cy="742950"/>
          </a:xfrm>
          <a:prstGeom prst="roundRect">
            <a:avLst>
              <a:gd name="adj" fmla="val 12821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7" name="橢圓 16">
            <a:extLst>
              <a:ext uri="{FF2B5EF4-FFF2-40B4-BE49-F238E27FC236}">
                <a16:creationId xmlns:a16="http://schemas.microsoft.com/office/drawing/2014/main" id="{7F3FC10E-E064-4F12-AA87-59EB25B48295}"/>
              </a:ext>
            </a:extLst>
          </p:cNvPr>
          <p:cNvSpPr>
            <a:spLocks noGrp="1"/>
          </p:cNvSpPr>
          <p:nvPr/>
        </p:nvSpPr>
        <p:spPr>
          <a:xfrm>
            <a:off x="2647950" y="50768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橢圓 17">
            <a:extLst>
              <a:ext uri="{FF2B5EF4-FFF2-40B4-BE49-F238E27FC236}">
                <a16:creationId xmlns:a16="http://schemas.microsoft.com/office/drawing/2014/main" id="{25741C5A-DE54-46E7-8B5C-0198D9650C43}"/>
              </a:ext>
            </a:extLst>
          </p:cNvPr>
          <p:cNvSpPr>
            <a:spLocks noGrp="1"/>
          </p:cNvSpPr>
          <p:nvPr/>
        </p:nvSpPr>
        <p:spPr>
          <a:xfrm>
            <a:off x="2819400" y="50768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橢圓 18">
            <a:extLst>
              <a:ext uri="{FF2B5EF4-FFF2-40B4-BE49-F238E27FC236}">
                <a16:creationId xmlns:a16="http://schemas.microsoft.com/office/drawing/2014/main" id="{8CA9C513-FCE9-45DB-AC80-2D0C6885C52D}"/>
              </a:ext>
            </a:extLst>
          </p:cNvPr>
          <p:cNvSpPr>
            <a:spLocks noGrp="1"/>
          </p:cNvSpPr>
          <p:nvPr/>
        </p:nvSpPr>
        <p:spPr>
          <a:xfrm>
            <a:off x="2990850" y="50768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EF29A36C-58C8-4425-8610-74EE60A8A3E2}"/>
              </a:ext>
            </a:extLst>
          </p:cNvPr>
          <p:cNvSpPr>
            <a:spLocks noGrp="1"/>
          </p:cNvSpPr>
          <p:nvPr/>
        </p:nvSpPr>
        <p:spPr>
          <a:xfrm>
            <a:off x="2686050" y="5334000"/>
            <a:ext cx="6819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4273" lnSpcReduction="20000"/>
          </a:bodyPr>
          <a:lstStyle/>
          <a:p>
            <a:pPr>
              <a:lnSpc>
                <a:spcPct val="104000"/>
              </a:lnSpc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history </a:t>
            </a:r>
            <a:r>
              <a:rPr lang="en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my-first-image</a:t>
            </a:r>
            <a:endParaRPr sz="180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84565A00-F9D7-45F2-8242-5D4D973CF285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711FE1E9-B358-4488-BA71-3445B6BFB549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5087E3C2-43DC-4F9C-A25B-46884362D0A2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7226388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4B6B9A50-F343-4EAF-9421-8C0CB2584CD0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D8DA937F-85B9-436E-A564-FC03C3DE5FA1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Step 1-2：先換 slim，再合併 RUN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6C59B346-C944-475A-8A36-0C277FA704AF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從可跑版開始逐步優化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D476EC34-D8EC-4A27-8F38-3512930EB64A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8A3653C4-7185-46AA-BDB7-F555A573109D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normAutofit/>
          </a:bodyPr>
          <a:lstStyle/>
          <a:p>
            <a:pPr algn="l">
              <a:buNone/>
              <a:defRPr sz="105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Step 1：base image </a:t>
            </a:r>
            <a:r>
              <a:rPr sz="14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變小</a:t>
            </a:r>
            <a:endParaRPr sz="140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buNone/>
              <a:defRPr sz="105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python:3.11-slim</a:t>
            </a:r>
          </a:p>
          <a:p>
            <a:pPr algn="l">
              <a:buNone/>
              <a:defRPr sz="105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buNone/>
              <a:defRPr sz="105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WORKDIR /app</a:t>
            </a:r>
          </a:p>
          <a:p>
            <a:pPr algn="l">
              <a:buNone/>
              <a:defRPr sz="105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. .</a:t>
            </a:r>
          </a:p>
          <a:p>
            <a:pPr algn="l">
              <a:buNone/>
              <a:defRPr sz="105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buNone/>
              <a:defRPr sz="105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Step 2：把相關 apt </a:t>
            </a:r>
            <a:r>
              <a:rPr sz="14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指令合併成同一層</a:t>
            </a:r>
            <a:endParaRPr sz="140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buNone/>
              <a:defRPr sz="105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apt-get update \</a:t>
            </a:r>
          </a:p>
          <a:p>
            <a:pPr algn="l">
              <a:buNone/>
              <a:defRPr sz="105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&amp;&amp; apt-get install -y nano </a:t>
            </a:r>
          </a:p>
          <a:p>
            <a:pPr algn="l">
              <a:buNone/>
              <a:defRPr sz="105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buNone/>
              <a:defRPr sz="105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pip install -r </a:t>
            </a:r>
            <a:r>
              <a:rPr sz="14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requirements.txt</a:t>
            </a:r>
            <a:endParaRPr sz="140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buNone/>
              <a:defRPr sz="105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buNone/>
              <a:defRPr sz="105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EXPOSE 5000</a:t>
            </a:r>
          </a:p>
          <a:p>
            <a:pPr algn="l">
              <a:buNone/>
              <a:defRPr sz="105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CMD ["python", "</a:t>
            </a:r>
            <a:r>
              <a:rPr sz="14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app.py</a:t>
            </a:r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"]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3308A136-44D9-4FB1-B610-1EE237E3EB54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6F8370FB-1C84-480D-ACDA-8BEAD269D3AF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7475450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22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6A1809-21DE-94DB-F0B7-1E5B5A7A1F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318F7C8B-52A1-1BDD-04EA-492939486DDE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3849150E-4F2F-E892-C4EE-B7E471D2DEE0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Step 3：先 COPY requirements.txt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5B8FD76D-2005-1311-639A-A8303E639619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讓 pip install layer 可以重用快取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CFD87580-CA0F-1061-F5C4-B110C6C39CC8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35C918CB-1EA1-A974-12E2-5FBB9CDC7D59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normAutofit/>
          </a:bodyPr>
          <a:lstStyle/>
          <a:p>
            <a:pPr algn="l">
              <a:buNone/>
              <a:defRPr sz="105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python:3.11-slim</a:t>
            </a:r>
          </a:p>
          <a:p>
            <a:pPr algn="l">
              <a:buNone/>
              <a:defRPr sz="105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WORKDIR /app</a:t>
            </a:r>
          </a:p>
          <a:p>
            <a:pPr algn="l">
              <a:buNone/>
              <a:defRPr sz="105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defRPr sz="105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lang="en" altLang="zh-TW"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apt-get update \</a:t>
            </a:r>
          </a:p>
          <a:p>
            <a:pPr>
              <a:defRPr sz="105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lang="en" altLang="zh-TW"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&amp;&amp; apt-get install -y nano </a:t>
            </a:r>
          </a:p>
          <a:p>
            <a:pPr algn="l">
              <a:buNone/>
              <a:defRPr sz="105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buNone/>
              <a:defRPr sz="105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</a:t>
            </a:r>
            <a:r>
              <a:rPr sz="14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requirements.txt</a:t>
            </a:r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.</a:t>
            </a:r>
          </a:p>
          <a:p>
            <a:pPr algn="l">
              <a:buNone/>
              <a:defRPr sz="105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pip install -r </a:t>
            </a:r>
            <a:r>
              <a:rPr sz="14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requirements.txt</a:t>
            </a:r>
            <a:endParaRPr sz="140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buNone/>
              <a:defRPr sz="105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. .</a:t>
            </a:r>
          </a:p>
          <a:p>
            <a:pPr algn="l">
              <a:buNone/>
              <a:defRPr sz="105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 algn="l">
              <a:buNone/>
              <a:defRPr sz="105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EXPOSE 5000</a:t>
            </a:r>
          </a:p>
          <a:p>
            <a:pPr algn="l">
              <a:buNone/>
              <a:defRPr sz="105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CMD ["python", "</a:t>
            </a:r>
            <a:r>
              <a:rPr sz="14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app.py</a:t>
            </a:r>
            <a:r>
              <a:rPr sz="14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"]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B5A869E1-3098-82B5-7547-CAADC4784C42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0BB5AABC-108E-C556-BB21-827E4561024E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30756675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5B867030-5930-4462-8BEF-2063C1724520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Q1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68A659E-480D-4BC9-AF4A-79C16312B6A8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Build cache：為什麼先 COPY requirements？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8F8BA79A-68BD-42BE-B959-FB19EE8B3D99}"/>
              </a:ext>
            </a:extLst>
          </p:cNvPr>
          <p:cNvSpPr>
            <a:spLocks noGrp="1"/>
          </p:cNvSpPr>
          <p:nvPr/>
        </p:nvSpPr>
        <p:spPr>
          <a:xfrm>
            <a:off x="819150" y="1504950"/>
            <a:ext cx="4762500" cy="3219450"/>
          </a:xfrm>
          <a:prstGeom prst="roundRect">
            <a:avLst>
              <a:gd name="adj" fmla="val 3550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6E1DC44-BC29-4D72-BE37-0925D4AAD40A}"/>
              </a:ext>
            </a:extLst>
          </p:cNvPr>
          <p:cNvSpPr>
            <a:spLocks noGrp="1"/>
          </p:cNvSpPr>
          <p:nvPr/>
        </p:nvSpPr>
        <p:spPr>
          <a:xfrm>
            <a:off x="1047750" y="1695450"/>
            <a:ext cx="4305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重建更快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EECDC23-6C17-4151-809F-EE3D71FE4440}"/>
              </a:ext>
            </a:extLst>
          </p:cNvPr>
          <p:cNvSpPr>
            <a:spLocks noGrp="1"/>
          </p:cNvSpPr>
          <p:nvPr/>
        </p:nvSpPr>
        <p:spPr>
          <a:xfrm>
            <a:off x="1047750" y="2228850"/>
            <a:ext cx="4305300" cy="2305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COPY requirements.txt .</a:t>
            </a:r>
          </a:p>
          <a:p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RUN pip install ...</a:t>
            </a:r>
          </a:p>
          <a:p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COPY . .</a:t>
            </a:r>
          </a:p>
          <a:p>
            <a:endParaRPr sz="1425" b="0">
              <a:solidFill>
                <a:srgbClr val="E2E8F0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改 app.py 時，pip install 那層可重用快取。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D5A8911A-67EB-4F9F-BBD0-A121EE78F43D}"/>
              </a:ext>
            </a:extLst>
          </p:cNvPr>
          <p:cNvSpPr>
            <a:spLocks noGrp="1"/>
          </p:cNvSpPr>
          <p:nvPr/>
        </p:nvSpPr>
        <p:spPr>
          <a:xfrm>
            <a:off x="6610350" y="1504950"/>
            <a:ext cx="4762500" cy="3219450"/>
          </a:xfrm>
          <a:prstGeom prst="roundRect">
            <a:avLst>
              <a:gd name="adj" fmla="val 3550"/>
            </a:avLst>
          </a:prstGeom>
          <a:solidFill>
            <a:srgbClr val="111827"/>
          </a:solidFill>
          <a:ln w="9525">
            <a:solidFill>
              <a:srgbClr val="FB7185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609A1A9-E953-4A6B-B3B5-0A623BE23E90}"/>
              </a:ext>
            </a:extLst>
          </p:cNvPr>
          <p:cNvSpPr>
            <a:spLocks noGrp="1"/>
          </p:cNvSpPr>
          <p:nvPr/>
        </p:nvSpPr>
        <p:spPr>
          <a:xfrm>
            <a:off x="6838950" y="1695450"/>
            <a:ext cx="4305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FDA4AF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FDA4AF"/>
                </a:solidFill>
                <a:latin typeface="Aptos Display"/>
                <a:ea typeface="Aptos Display"/>
                <a:cs typeface="Aptos Display"/>
              </a:rPr>
              <a:t>最小可跑版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E0E7FE4-2C0B-464F-A827-BB0B4FFD4F7A}"/>
              </a:ext>
            </a:extLst>
          </p:cNvPr>
          <p:cNvSpPr>
            <a:spLocks noGrp="1"/>
          </p:cNvSpPr>
          <p:nvPr/>
        </p:nvSpPr>
        <p:spPr>
          <a:xfrm>
            <a:off x="6838950" y="2228850"/>
            <a:ext cx="4305300" cy="2305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COPY . .</a:t>
            </a:r>
          </a:p>
          <a:p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RUN pip install ...</a:t>
            </a:r>
          </a:p>
          <a:p>
            <a:endParaRPr sz="1425" b="0">
              <a:solidFill>
                <a:srgbClr val="E2E8F0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任何檔案變更都讓快取失效，套件常常重裝。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B54871D-A33D-44DD-8298-6B515832D6CD}"/>
              </a:ext>
            </a:extLst>
          </p:cNvPr>
          <p:cNvSpPr>
            <a:spLocks noGrp="1"/>
          </p:cNvSpPr>
          <p:nvPr/>
        </p:nvSpPr>
        <p:spPr>
          <a:xfrm>
            <a:off x="1485900" y="5410200"/>
            <a:ext cx="9220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這一招主要讓 build 變快，不是讓 image 變小。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DF452EC-0E63-49ED-90C0-49175A8FEDA0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21B0C56-5F6B-47F6-8593-234C5FBD3C84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FA2C52E-B47D-4B96-8152-23BC1FAEC319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50682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1A36AF55-B89D-4533-B5CF-B527938BB54F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BUILD CONTEXT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2127A0E-6CBA-4D53-8912-CC0048F4523A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 dirty="0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.</a:t>
            </a:r>
            <a:r>
              <a:rPr sz="2850" b="1" dirty="0" err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dockerignore：減少</a:t>
            </a:r>
            <a:r>
              <a:rPr sz="2850" b="1" dirty="0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 build context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29E07E39-DA42-4A6F-A946-237BB5D6240F}"/>
              </a:ext>
            </a:extLst>
          </p:cNvPr>
          <p:cNvSpPr>
            <a:spLocks noGrp="1"/>
          </p:cNvSpPr>
          <p:nvPr/>
        </p:nvSpPr>
        <p:spPr>
          <a:xfrm>
            <a:off x="952500" y="1581150"/>
            <a:ext cx="4095750" cy="2857500"/>
          </a:xfrm>
          <a:prstGeom prst="roundRect">
            <a:avLst>
              <a:gd name="adj" fmla="val 3333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44DE6B0A-20A7-4E49-9F19-7CDB551B5555}"/>
              </a:ext>
            </a:extLst>
          </p:cNvPr>
          <p:cNvSpPr>
            <a:spLocks noGrp="1"/>
          </p:cNvSpPr>
          <p:nvPr/>
        </p:nvSpPr>
        <p:spPr>
          <a:xfrm>
            <a:off x="1123950" y="17430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0465558C-11E8-4907-AFD9-72C4A4D13ECD}"/>
              </a:ext>
            </a:extLst>
          </p:cNvPr>
          <p:cNvSpPr>
            <a:spLocks noGrp="1"/>
          </p:cNvSpPr>
          <p:nvPr/>
        </p:nvSpPr>
        <p:spPr>
          <a:xfrm>
            <a:off x="1295400" y="17430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8435F2EA-020B-49CB-96F0-91916EB353C9}"/>
              </a:ext>
            </a:extLst>
          </p:cNvPr>
          <p:cNvSpPr>
            <a:spLocks noGrp="1"/>
          </p:cNvSpPr>
          <p:nvPr/>
        </p:nvSpPr>
        <p:spPr>
          <a:xfrm>
            <a:off x="1466850" y="17430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69A54D6-362A-464E-B907-FAF1CE97872A}"/>
              </a:ext>
            </a:extLst>
          </p:cNvPr>
          <p:cNvSpPr>
            <a:spLocks noGrp="1"/>
          </p:cNvSpPr>
          <p:nvPr/>
        </p:nvSpPr>
        <p:spPr>
          <a:xfrm>
            <a:off x="1162050" y="2000250"/>
            <a:ext cx="3676650" cy="2305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667" lnSpcReduction="10000"/>
          </a:bodyPr>
          <a:lstStyle/>
          <a:p>
            <a:pPr algn="l">
              <a:buNone/>
              <a:defRPr sz="150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.git</a:t>
            </a:r>
          </a:p>
          <a:p>
            <a:pPr algn="l">
              <a:buNone/>
              <a:defRPr sz="150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__pycache__/</a:t>
            </a:r>
          </a:p>
          <a:p>
            <a:pPr algn="l">
              <a:buNone/>
              <a:defRPr sz="150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*.pyc</a:t>
            </a:r>
          </a:p>
          <a:p>
            <a:pPr algn="l">
              <a:buNone/>
              <a:defRPr sz="150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.venv/</a:t>
            </a:r>
          </a:p>
          <a:p>
            <a:pPr algn="l">
              <a:buNone/>
              <a:defRPr sz="150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venv/</a:t>
            </a:r>
          </a:p>
          <a:p>
            <a:pPr algn="l">
              <a:buNone/>
              <a:defRPr sz="150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.env</a:t>
            </a:r>
          </a:p>
          <a:p>
            <a:pPr algn="l">
              <a:buNone/>
              <a:defRPr sz="150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.vscode/</a:t>
            </a:r>
          </a:p>
          <a:p>
            <a:pPr algn="l">
              <a:buNone/>
              <a:defRPr sz="150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.DS_Store</a:t>
            </a:r>
          </a:p>
          <a:p>
            <a:pPr algn="l">
              <a:buNone/>
              <a:defRPr sz="150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node_modules/</a:t>
            </a:r>
          </a:p>
          <a:p>
            <a:pPr algn="l">
              <a:buNone/>
              <a:defRPr sz="150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*.log</a:t>
            </a:r>
          </a:p>
          <a:p>
            <a:pPr algn="l">
              <a:buNone/>
              <a:defRPr sz="150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bigfile.dat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293771E3-24DB-4D67-A3EF-F4A3E63B6919}"/>
              </a:ext>
            </a:extLst>
          </p:cNvPr>
          <p:cNvSpPr>
            <a:spLocks noGrp="1"/>
          </p:cNvSpPr>
          <p:nvPr/>
        </p:nvSpPr>
        <p:spPr>
          <a:xfrm>
            <a:off x="6096000" y="1581150"/>
            <a:ext cx="4191000" cy="1581150"/>
          </a:xfrm>
          <a:prstGeom prst="roundRect">
            <a:avLst>
              <a:gd name="adj" fmla="val 7229"/>
            </a:avLst>
          </a:prstGeom>
          <a:solidFill>
            <a:srgbClr val="FFE4E6"/>
          </a:solidFill>
          <a:ln w="9525">
            <a:solidFill>
              <a:srgbClr val="E11D4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DCAD54E-F047-48FD-B911-A82FB5F0EF53}"/>
              </a:ext>
            </a:extLst>
          </p:cNvPr>
          <p:cNvSpPr>
            <a:spLocks noGrp="1"/>
          </p:cNvSpPr>
          <p:nvPr/>
        </p:nvSpPr>
        <p:spPr>
          <a:xfrm>
            <a:off x="6324600" y="1771650"/>
            <a:ext cx="3733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沒有 .dockerignore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944EA93-BF18-4BB2-B52A-6156D2EADA5E}"/>
              </a:ext>
            </a:extLst>
          </p:cNvPr>
          <p:cNvSpPr>
            <a:spLocks noGrp="1"/>
          </p:cNvSpPr>
          <p:nvPr/>
        </p:nvSpPr>
        <p:spPr>
          <a:xfrm>
            <a:off x="6324600" y="2190750"/>
            <a:ext cx="37338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0944" lnSpcReduction="20000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把 .git、.env、cache、node_modules 也送進 Docker daemon。</a:t>
            </a:r>
          </a:p>
          <a:p>
            <a:endParaRPr sz="1425" b="0">
              <a:solidFill>
                <a:srgbClr val="111827"/>
              </a:solidFill>
              <a:latin typeface="Aptos"/>
              <a:ea typeface="Aptos"/>
              <a:cs typeface="Aptos"/>
            </a:endParaRPr>
          </a:p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結果：build context 變大，也增加 secret 被送出的風險。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49C4ACE6-8B0C-4FD4-A660-69BA0E1C826C}"/>
              </a:ext>
            </a:extLst>
          </p:cNvPr>
          <p:cNvSpPr>
            <a:spLocks noGrp="1"/>
          </p:cNvSpPr>
          <p:nvPr/>
        </p:nvSpPr>
        <p:spPr>
          <a:xfrm>
            <a:off x="6096000" y="3562350"/>
            <a:ext cx="4191000" cy="1581150"/>
          </a:xfrm>
          <a:prstGeom prst="roundRect">
            <a:avLst>
              <a:gd name="adj" fmla="val 7229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44868FA-BB59-4837-9583-C4892DB23D6A}"/>
              </a:ext>
            </a:extLst>
          </p:cNvPr>
          <p:cNvSpPr>
            <a:spLocks noGrp="1"/>
          </p:cNvSpPr>
          <p:nvPr/>
        </p:nvSpPr>
        <p:spPr>
          <a:xfrm>
            <a:off x="6324600" y="3752850"/>
            <a:ext cx="3733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有 .dockerignore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563E0DB-C435-4B1D-BC09-1762C912BC6F}"/>
              </a:ext>
            </a:extLst>
          </p:cNvPr>
          <p:cNvSpPr>
            <a:spLocks noGrp="1"/>
          </p:cNvSpPr>
          <p:nvPr/>
        </p:nvSpPr>
        <p:spPr>
          <a:xfrm>
            <a:off x="6324600" y="4171950"/>
            <a:ext cx="37338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444" lnSpcReduction="10000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只送 Docker build 真正需要的檔案。</a:t>
            </a:r>
          </a:p>
          <a:p>
            <a:endParaRPr sz="1425" b="0">
              <a:solidFill>
                <a:srgbClr val="111827"/>
              </a:solidFill>
              <a:latin typeface="Aptos"/>
              <a:ea typeface="Aptos"/>
              <a:cs typeface="Aptos"/>
            </a:endParaRPr>
          </a:p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結果：build 更快、context 更乾淨，也比較不容易把機密帶進去。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BF21A698-2EEB-4200-B7BE-43556B37FC55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3AFE8091-4B69-46D6-90AA-A9012C04B33E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45722A8E-EC94-4BD0-8B90-45FBC5501C35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86C9D3E5-8727-99A7-D433-028DECB2A71C}"/>
              </a:ext>
            </a:extLst>
          </p:cNvPr>
          <p:cNvSpPr>
            <a:spLocks noGrp="1"/>
          </p:cNvSpPr>
          <p:nvPr/>
        </p:nvSpPr>
        <p:spPr>
          <a:xfrm>
            <a:off x="698500" y="5474018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5000"/>
              </a:lnSpc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lang="en" sz="2850" b="1" dirty="0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https://</a:t>
            </a:r>
            <a:r>
              <a:rPr lang="en" sz="2850" b="1" dirty="0" err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configs.sh</a:t>
            </a:r>
            <a:r>
              <a:rPr lang="en" sz="2850" b="1" dirty="0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/</a:t>
            </a:r>
            <a:r>
              <a:rPr lang="en" sz="2850" b="1" dirty="0" err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dockerignore</a:t>
            </a:r>
            <a:r>
              <a:rPr lang="en" sz="2850" b="1" dirty="0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/</a:t>
            </a:r>
            <a:endParaRPr sz="2850" b="1" dirty="0">
              <a:solidFill>
                <a:srgbClr val="0B1220"/>
              </a:solidFill>
              <a:latin typeface="Aptos Display"/>
              <a:ea typeface="Aptos Display"/>
              <a:cs typeface="Aptos Display"/>
            </a:endParaRPr>
          </a:p>
        </p:txBody>
      </p:sp>
    </p:spTree>
    <p:extLst>
      <p:ext uri="{BB962C8B-B14F-4D97-AF65-F5344CB8AC3E}">
        <p14:creationId xmlns:p14="http://schemas.microsoft.com/office/powerpoint/2010/main" val="12357584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46DACAD2-8668-4D93-8167-EE3D5AEEA927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OPTIMIZATION PLAYBOOK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C5E6A40-D612-4FD9-9DC7-FA834F5D758F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 dirty="0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Image </a:t>
            </a:r>
            <a:r>
              <a:rPr sz="2850" b="1" dirty="0" err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優化流程：用同一份</a:t>
            </a:r>
            <a:r>
              <a:rPr sz="2850" b="1" dirty="0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850" b="1" dirty="0" err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Dockerfile</a:t>
            </a:r>
            <a:r>
              <a:rPr sz="2850" b="1" dirty="0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850" b="1" dirty="0" err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逐步改</a:t>
            </a:r>
            <a:endParaRPr sz="2850" b="1" dirty="0">
              <a:solidFill>
                <a:srgbClr val="0B1220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891155B2-FE4A-412A-BBAC-08BA32D569C8}"/>
              </a:ext>
            </a:extLst>
          </p:cNvPr>
          <p:cNvSpPr>
            <a:spLocks noGrp="1"/>
          </p:cNvSpPr>
          <p:nvPr/>
        </p:nvSpPr>
        <p:spPr>
          <a:xfrm>
            <a:off x="1219200" y="1695450"/>
            <a:ext cx="4267200" cy="1428750"/>
          </a:xfrm>
          <a:prstGeom prst="roundRect">
            <a:avLst>
              <a:gd name="adj" fmla="val 8000"/>
            </a:avLst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15C386C-E6DA-4BE6-A1A2-13D8D8B54AD9}"/>
              </a:ext>
            </a:extLst>
          </p:cNvPr>
          <p:cNvSpPr>
            <a:spLocks noGrp="1"/>
          </p:cNvSpPr>
          <p:nvPr/>
        </p:nvSpPr>
        <p:spPr>
          <a:xfrm>
            <a:off x="1447800" y="1885950"/>
            <a:ext cx="3810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598" lnSpcReduction="10000"/>
          </a:bodyPr>
          <a:lstStyle/>
          <a:p>
            <a:pPr algn="ctr">
              <a:lnSpc>
                <a:spcPct val="106000"/>
              </a:lnSpc>
              <a:buNone/>
              <a:def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Step 1：換 slim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291D219-7D45-49A8-AB46-04A071733CCF}"/>
              </a:ext>
            </a:extLst>
          </p:cNvPr>
          <p:cNvSpPr>
            <a:spLocks noGrp="1"/>
          </p:cNvSpPr>
          <p:nvPr/>
        </p:nvSpPr>
        <p:spPr>
          <a:xfrm>
            <a:off x="1447800" y="2419350"/>
            <a:ext cx="3810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FROM python:3.11-slim</a:t>
            </a:r>
          </a:p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基礎 Image 先變小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9A858C12-B794-44E1-BC5D-8D8D323BD4B9}"/>
              </a:ext>
            </a:extLst>
          </p:cNvPr>
          <p:cNvSpPr>
            <a:spLocks noGrp="1"/>
          </p:cNvSpPr>
          <p:nvPr/>
        </p:nvSpPr>
        <p:spPr>
          <a:xfrm>
            <a:off x="6705600" y="1695450"/>
            <a:ext cx="4267200" cy="1428750"/>
          </a:xfrm>
          <a:prstGeom prst="roundRect">
            <a:avLst>
              <a:gd name="adj" fmla="val 8000"/>
            </a:avLst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793DCAF-2BB2-4AFC-8AD0-A026265BDB01}"/>
              </a:ext>
            </a:extLst>
          </p:cNvPr>
          <p:cNvSpPr>
            <a:spLocks noGrp="1"/>
          </p:cNvSpPr>
          <p:nvPr/>
        </p:nvSpPr>
        <p:spPr>
          <a:xfrm>
            <a:off x="6934200" y="1885950"/>
            <a:ext cx="3810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598" lnSpcReduction="10000"/>
          </a:bodyPr>
          <a:lstStyle/>
          <a:p>
            <a:pPr algn="ctr">
              <a:lnSpc>
                <a:spcPct val="106000"/>
              </a:lnSpc>
              <a:buNone/>
              <a:defRPr sz="22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Step 2：合併 RUN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F52C55F-927C-4C4C-9068-3A19D8BBA3FA}"/>
              </a:ext>
            </a:extLst>
          </p:cNvPr>
          <p:cNvSpPr>
            <a:spLocks noGrp="1"/>
          </p:cNvSpPr>
          <p:nvPr/>
        </p:nvSpPr>
        <p:spPr>
          <a:xfrm>
            <a:off x="6934200" y="2419350"/>
            <a:ext cx="3810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apt update / install / cleanup</a:t>
            </a:r>
          </a:p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放在同一個 RUN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576C8F64-E981-49F6-A4C6-36A66BF8BDB6}"/>
              </a:ext>
            </a:extLst>
          </p:cNvPr>
          <p:cNvSpPr>
            <a:spLocks noGrp="1"/>
          </p:cNvSpPr>
          <p:nvPr/>
        </p:nvSpPr>
        <p:spPr>
          <a:xfrm>
            <a:off x="1219200" y="3733800"/>
            <a:ext cx="4267200" cy="1428750"/>
          </a:xfrm>
          <a:prstGeom prst="roundRect">
            <a:avLst>
              <a:gd name="adj" fmla="val 8000"/>
            </a:avLst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7E7F9DF-23E7-4549-AA23-E610D78D5B78}"/>
              </a:ext>
            </a:extLst>
          </p:cNvPr>
          <p:cNvSpPr>
            <a:spLocks noGrp="1"/>
          </p:cNvSpPr>
          <p:nvPr/>
        </p:nvSpPr>
        <p:spPr>
          <a:xfrm>
            <a:off x="1447800" y="3924300"/>
            <a:ext cx="3810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598" lnSpcReduction="10000"/>
          </a:bodyPr>
          <a:lstStyle/>
          <a:p>
            <a:pPr algn="ctr">
              <a:lnSpc>
                <a:spcPct val="106000"/>
              </a:lnSpc>
              <a:buNone/>
              <a:def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Step 3：先 COPY requirements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2BEB53CE-D254-4D1C-A22E-EB7EFD79794E}"/>
              </a:ext>
            </a:extLst>
          </p:cNvPr>
          <p:cNvSpPr>
            <a:spLocks noGrp="1"/>
          </p:cNvSpPr>
          <p:nvPr/>
        </p:nvSpPr>
        <p:spPr>
          <a:xfrm>
            <a:off x="1447800" y="4457700"/>
            <a:ext cx="3810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讓 pip install 那層</a:t>
            </a:r>
          </a:p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可以重用快取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12EA463F-4D20-4287-A421-A87ABE978BDB}"/>
              </a:ext>
            </a:extLst>
          </p:cNvPr>
          <p:cNvSpPr>
            <a:spLocks noGrp="1"/>
          </p:cNvSpPr>
          <p:nvPr/>
        </p:nvSpPr>
        <p:spPr>
          <a:xfrm>
            <a:off x="6705600" y="3733800"/>
            <a:ext cx="4267200" cy="1428750"/>
          </a:xfrm>
          <a:prstGeom prst="roundRect">
            <a:avLst>
              <a:gd name="adj" fmla="val 8000"/>
            </a:avLst>
          </a:prstGeom>
          <a:solidFill>
            <a:srgbClr val="FFE4E6"/>
          </a:solidFill>
          <a:ln w="9525">
            <a:solidFill>
              <a:srgbClr val="E11D4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C47E74F-D3B7-485D-BE8A-39D3CBA561A1}"/>
              </a:ext>
            </a:extLst>
          </p:cNvPr>
          <p:cNvSpPr>
            <a:spLocks noGrp="1"/>
          </p:cNvSpPr>
          <p:nvPr/>
        </p:nvSpPr>
        <p:spPr>
          <a:xfrm>
            <a:off x="6934200" y="3924300"/>
            <a:ext cx="3810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598" lnSpcReduction="10000"/>
          </a:bodyPr>
          <a:lstStyle/>
          <a:p>
            <a:pPr algn="ctr">
              <a:lnSpc>
                <a:spcPct val="106000"/>
              </a:lnSpc>
              <a:buNone/>
              <a:defRPr sz="225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Step 4：加 .dockerignore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AD223C4-D8CA-4CA2-A7A6-FAE3D494AD30}"/>
              </a:ext>
            </a:extLst>
          </p:cNvPr>
          <p:cNvSpPr>
            <a:spLocks noGrp="1"/>
          </p:cNvSpPr>
          <p:nvPr/>
        </p:nvSpPr>
        <p:spPr>
          <a:xfrm>
            <a:off x="6934200" y="4457700"/>
            <a:ext cx="3810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減少 build context</a:t>
            </a:r>
          </a:p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ignoreio 先產生初稿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BCA6D42-7521-4807-922E-CBD5F1456003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063AAB70-419F-4894-8364-2154EB853C56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B29ACEA-1C9F-46B8-8C27-59047CA2249B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5524832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矩形 22">
            <a:extLst>
              <a:ext uri="{FF2B5EF4-FFF2-40B4-BE49-F238E27FC236}">
                <a16:creationId xmlns:a16="http://schemas.microsoft.com/office/drawing/2014/main" id="{B3D90E38-3499-45CA-958A-2BC97E534922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REGISTRY FLOW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40C4978-E532-410A-BB17-A16BA6DFCEA8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 dirty="0" err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把</a:t>
            </a:r>
            <a:r>
              <a:rPr sz="2850" b="1" dirty="0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 Image </a:t>
            </a:r>
            <a:r>
              <a:rPr sz="2850" b="1" dirty="0" err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發佈到</a:t>
            </a:r>
            <a:r>
              <a:rPr sz="2850" b="1" dirty="0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 Docker Hub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65263E40-9D83-459E-A6CB-CB4F38A6ADFB}"/>
              </a:ext>
            </a:extLst>
          </p:cNvPr>
          <p:cNvSpPr>
            <a:spLocks noGrp="1"/>
          </p:cNvSpPr>
          <p:nvPr/>
        </p:nvSpPr>
        <p:spPr>
          <a:xfrm>
            <a:off x="857250" y="2209800"/>
            <a:ext cx="2247900" cy="1466850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B408115-FA35-4B6C-A622-AD3E00995A6D}"/>
              </a:ext>
            </a:extLst>
          </p:cNvPr>
          <p:cNvSpPr>
            <a:spLocks noGrp="1"/>
          </p:cNvSpPr>
          <p:nvPr/>
        </p:nvSpPr>
        <p:spPr>
          <a:xfrm>
            <a:off x="1066800" y="2514600"/>
            <a:ext cx="1828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11" lnSpcReduction="10000"/>
          </a:bodyPr>
          <a:lstStyle/>
          <a:p>
            <a:pPr algn="ctr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9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login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28C9FE6-AF8F-4784-970A-203F56ECB177}"/>
              </a:ext>
            </a:extLst>
          </p:cNvPr>
          <p:cNvSpPr>
            <a:spLocks noGrp="1"/>
          </p:cNvSpPr>
          <p:nvPr/>
        </p:nvSpPr>
        <p:spPr>
          <a:xfrm>
            <a:off x="1066800" y="3067050"/>
            <a:ext cx="18288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0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login</a:t>
            </a:r>
          </a:p>
        </p:txBody>
      </p:sp>
      <p:sp>
        <p:nvSpPr>
          <p:cNvPr id="6" name="箭號: 向右 5">
            <a:extLst>
              <a:ext uri="{FF2B5EF4-FFF2-40B4-BE49-F238E27FC236}">
                <a16:creationId xmlns:a16="http://schemas.microsoft.com/office/drawing/2014/main" id="{1FC28CC6-3CBF-45D0-A183-742174B66AA4}"/>
              </a:ext>
            </a:extLst>
          </p:cNvPr>
          <p:cNvSpPr>
            <a:spLocks noGrp="1"/>
          </p:cNvSpPr>
          <p:nvPr/>
        </p:nvSpPr>
        <p:spPr>
          <a:xfrm>
            <a:off x="3238500" y="2762250"/>
            <a:ext cx="457200" cy="2476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8E3AC25E-ABC3-4D10-B881-0AA79C748CFB}"/>
              </a:ext>
            </a:extLst>
          </p:cNvPr>
          <p:cNvSpPr>
            <a:spLocks noGrp="1"/>
          </p:cNvSpPr>
          <p:nvPr/>
        </p:nvSpPr>
        <p:spPr>
          <a:xfrm>
            <a:off x="3638550" y="2209800"/>
            <a:ext cx="2247900" cy="1466850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3647751-CA03-410C-8D4F-1C0015FB2E8C}"/>
              </a:ext>
            </a:extLst>
          </p:cNvPr>
          <p:cNvSpPr>
            <a:spLocks noGrp="1"/>
          </p:cNvSpPr>
          <p:nvPr/>
        </p:nvSpPr>
        <p:spPr>
          <a:xfrm>
            <a:off x="3848100" y="2514600"/>
            <a:ext cx="1828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11" lnSpcReduction="10000"/>
          </a:bodyPr>
          <a:lstStyle/>
          <a:p>
            <a:pPr algn="ctr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9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tag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3A2D832-7669-45C4-97C2-7FB225C8830D}"/>
              </a:ext>
            </a:extLst>
          </p:cNvPr>
          <p:cNvSpPr>
            <a:spLocks noGrp="1"/>
          </p:cNvSpPr>
          <p:nvPr/>
        </p:nvSpPr>
        <p:spPr>
          <a:xfrm>
            <a:off x="3848100" y="3067050"/>
            <a:ext cx="18288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500"/>
          </a:bodyPr>
          <a:lstStyle/>
          <a:p>
            <a:pPr algn="ctr">
              <a:lnSpc>
                <a:spcPct val="106000"/>
              </a:lnSpc>
              <a:buNone/>
              <a:defRPr sz="10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tag my-flask-app:v3 帳號/my-flask-app:v1</a:t>
            </a:r>
          </a:p>
        </p:txBody>
      </p:sp>
      <p:sp>
        <p:nvSpPr>
          <p:cNvPr id="10" name="箭號: 向右 9">
            <a:extLst>
              <a:ext uri="{FF2B5EF4-FFF2-40B4-BE49-F238E27FC236}">
                <a16:creationId xmlns:a16="http://schemas.microsoft.com/office/drawing/2014/main" id="{A59866B9-F5FF-4F50-A9C0-EC93630D0180}"/>
              </a:ext>
            </a:extLst>
          </p:cNvPr>
          <p:cNvSpPr>
            <a:spLocks noGrp="1"/>
          </p:cNvSpPr>
          <p:nvPr/>
        </p:nvSpPr>
        <p:spPr>
          <a:xfrm>
            <a:off x="6019800" y="2762250"/>
            <a:ext cx="457200" cy="2476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86AC0913-2AC4-4D30-B441-F33277D5AC3F}"/>
              </a:ext>
            </a:extLst>
          </p:cNvPr>
          <p:cNvSpPr>
            <a:spLocks noGrp="1"/>
          </p:cNvSpPr>
          <p:nvPr/>
        </p:nvSpPr>
        <p:spPr>
          <a:xfrm>
            <a:off x="6419850" y="2209800"/>
            <a:ext cx="2247900" cy="1466850"/>
          </a:xfrm>
          <a:prstGeom prst="roundRect">
            <a:avLst>
              <a:gd name="adj" fmla="val 7792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03B3A091-8112-4CFB-A92F-81E22744DBD7}"/>
              </a:ext>
            </a:extLst>
          </p:cNvPr>
          <p:cNvSpPr>
            <a:spLocks noGrp="1"/>
          </p:cNvSpPr>
          <p:nvPr/>
        </p:nvSpPr>
        <p:spPr>
          <a:xfrm>
            <a:off x="6629400" y="2514600"/>
            <a:ext cx="1828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11" lnSpcReduction="10000"/>
          </a:bodyPr>
          <a:lstStyle/>
          <a:p>
            <a:pPr algn="ctr">
              <a:lnSpc>
                <a:spcPct val="106000"/>
              </a:lnSpc>
              <a:buNone/>
              <a:defRPr sz="1950" b="1">
                <a:solidFill>
                  <a:srgbClr val="047857"/>
                </a:solidFill>
                <a:latin typeface="Consolas"/>
                <a:ea typeface="Consolas"/>
                <a:cs typeface="Consolas"/>
              </a:defRPr>
            </a:pPr>
            <a:r>
              <a:rPr sz="1950" b="1">
                <a:solidFill>
                  <a:srgbClr val="047857"/>
                </a:solidFill>
                <a:latin typeface="Consolas"/>
                <a:ea typeface="Consolas"/>
                <a:cs typeface="Consolas"/>
              </a:rPr>
              <a:t>push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20847DA-91B4-45D3-9B66-92898C07141B}"/>
              </a:ext>
            </a:extLst>
          </p:cNvPr>
          <p:cNvSpPr>
            <a:spLocks noGrp="1"/>
          </p:cNvSpPr>
          <p:nvPr/>
        </p:nvSpPr>
        <p:spPr>
          <a:xfrm>
            <a:off x="6629400" y="3067050"/>
            <a:ext cx="18288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0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push 帳號/my-flask-app:v1</a:t>
            </a:r>
          </a:p>
        </p:txBody>
      </p:sp>
      <p:sp>
        <p:nvSpPr>
          <p:cNvPr id="14" name="箭號: 向右 13">
            <a:extLst>
              <a:ext uri="{FF2B5EF4-FFF2-40B4-BE49-F238E27FC236}">
                <a16:creationId xmlns:a16="http://schemas.microsoft.com/office/drawing/2014/main" id="{C11A957B-73D7-47CB-8D68-AB40DD0EC6E4}"/>
              </a:ext>
            </a:extLst>
          </p:cNvPr>
          <p:cNvSpPr>
            <a:spLocks noGrp="1"/>
          </p:cNvSpPr>
          <p:nvPr/>
        </p:nvSpPr>
        <p:spPr>
          <a:xfrm>
            <a:off x="8801100" y="2762250"/>
            <a:ext cx="457200" cy="2476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8AEF14C9-9F46-4C9C-9E5F-E66DEBA682D5}"/>
              </a:ext>
            </a:extLst>
          </p:cNvPr>
          <p:cNvSpPr>
            <a:spLocks noGrp="1"/>
          </p:cNvSpPr>
          <p:nvPr/>
        </p:nvSpPr>
        <p:spPr>
          <a:xfrm>
            <a:off x="9201150" y="2209800"/>
            <a:ext cx="2247900" cy="1466850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9471B1B-2E44-4323-AAD3-100CC2979515}"/>
              </a:ext>
            </a:extLst>
          </p:cNvPr>
          <p:cNvSpPr>
            <a:spLocks noGrp="1"/>
          </p:cNvSpPr>
          <p:nvPr/>
        </p:nvSpPr>
        <p:spPr>
          <a:xfrm>
            <a:off x="9410700" y="2514600"/>
            <a:ext cx="1828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11" lnSpcReduction="10000"/>
          </a:bodyPr>
          <a:lstStyle/>
          <a:p>
            <a:pPr algn="ctr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9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pull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07682FAC-844B-4D61-B9B5-8EB45AE2E12F}"/>
              </a:ext>
            </a:extLst>
          </p:cNvPr>
          <p:cNvSpPr>
            <a:spLocks noGrp="1"/>
          </p:cNvSpPr>
          <p:nvPr/>
        </p:nvSpPr>
        <p:spPr>
          <a:xfrm>
            <a:off x="9410700" y="3067050"/>
            <a:ext cx="18288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0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pull 帳號/my-flask-app:v1</a:t>
            </a:r>
          </a:p>
        </p:txBody>
      </p:sp>
      <p:sp>
        <p:nvSpPr>
          <p:cNvPr id="18" name="矩形: 圓角 17">
            <a:extLst>
              <a:ext uri="{FF2B5EF4-FFF2-40B4-BE49-F238E27FC236}">
                <a16:creationId xmlns:a16="http://schemas.microsoft.com/office/drawing/2014/main" id="{FE4F559A-EA51-477D-893D-6BA8F518E673}"/>
              </a:ext>
            </a:extLst>
          </p:cNvPr>
          <p:cNvSpPr>
            <a:spLocks noGrp="1"/>
          </p:cNvSpPr>
          <p:nvPr/>
        </p:nvSpPr>
        <p:spPr>
          <a:xfrm>
            <a:off x="1581150" y="4762500"/>
            <a:ext cx="9029700" cy="590550"/>
          </a:xfrm>
          <a:prstGeom prst="roundRect">
            <a:avLst>
              <a:gd name="adj" fmla="val 16129"/>
            </a:avLst>
          </a:prstGeom>
          <a:solidFill>
            <a:srgbClr val="FFE4E6"/>
          </a:solidFill>
          <a:ln w="9525">
            <a:solidFill>
              <a:srgbClr val="E11D4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96BAE04F-E0B4-4225-A02A-69AAD9C915B7}"/>
              </a:ext>
            </a:extLst>
          </p:cNvPr>
          <p:cNvSpPr>
            <a:spLocks noGrp="1"/>
          </p:cNvSpPr>
          <p:nvPr/>
        </p:nvSpPr>
        <p:spPr>
          <a:xfrm>
            <a:off x="1924050" y="4953000"/>
            <a:ext cx="83439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347" lnSpcReduction="10000"/>
          </a:bodyPr>
          <a:lstStyle/>
          <a:p>
            <a:pPr algn="ctr">
              <a:lnSpc>
                <a:spcPct val="106000"/>
              </a:lnSpc>
              <a:buNone/>
              <a:defRPr sz="1575" b="1">
                <a:solidFill>
                  <a:srgbClr val="E11D4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E11D48"/>
                </a:solidFill>
                <a:latin typeface="Aptos"/>
                <a:ea typeface="Aptos"/>
                <a:cs typeface="Aptos"/>
              </a:rPr>
              <a:t>提醒：不要把密碼、token、.env 或私密設定 bake 進 Image。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97BD95C2-4361-43D0-83B5-F035C0406D11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7AEF8DB4-9E9D-4EBB-98F2-8AFA27CDEDCF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13967AC6-C962-43CC-8B57-4ACC86CA56B3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2936422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B918F8B3-110E-4C55-98B6-5C0246E4D59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P3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EEBA34F-BD94-4BC5-9D8F-BFBDB6BB752F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實作題 P3：推上 Docker Hub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223CF254-8AF5-40E2-9E8B-BE0B049429DF}"/>
              </a:ext>
            </a:extLst>
          </p:cNvPr>
          <p:cNvSpPr>
            <a:spLocks noGrp="1"/>
          </p:cNvSpPr>
          <p:nvPr/>
        </p:nvSpPr>
        <p:spPr>
          <a:xfrm>
            <a:off x="800100" y="1428750"/>
            <a:ext cx="6877050" cy="3714750"/>
          </a:xfrm>
          <a:prstGeom prst="roundRect">
            <a:avLst>
              <a:gd name="adj" fmla="val 2564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A3C14AA6-8F7B-425F-B119-AB0F74FC983F}"/>
              </a:ext>
            </a:extLst>
          </p:cNvPr>
          <p:cNvSpPr>
            <a:spLocks noGrp="1"/>
          </p:cNvSpPr>
          <p:nvPr/>
        </p:nvSpPr>
        <p:spPr>
          <a:xfrm>
            <a:off x="971550" y="15906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09F7E1DF-01B6-493A-A9A8-F757EE77E7BF}"/>
              </a:ext>
            </a:extLst>
          </p:cNvPr>
          <p:cNvSpPr>
            <a:spLocks noGrp="1"/>
          </p:cNvSpPr>
          <p:nvPr/>
        </p:nvSpPr>
        <p:spPr>
          <a:xfrm>
            <a:off x="1143000" y="15906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5C8769B0-4CA7-4182-A82C-A8C6457E9C28}"/>
              </a:ext>
            </a:extLst>
          </p:cNvPr>
          <p:cNvSpPr>
            <a:spLocks noGrp="1"/>
          </p:cNvSpPr>
          <p:nvPr/>
        </p:nvSpPr>
        <p:spPr>
          <a:xfrm>
            <a:off x="1314450" y="15906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0E7053C-D226-4370-8169-7751DE9FA33E}"/>
              </a:ext>
            </a:extLst>
          </p:cNvPr>
          <p:cNvSpPr>
            <a:spLocks noGrp="1"/>
          </p:cNvSpPr>
          <p:nvPr/>
        </p:nvSpPr>
        <p:spPr>
          <a:xfrm>
            <a:off x="1009650" y="1847850"/>
            <a:ext cx="6667500" cy="3162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login</a:t>
            </a:r>
          </a:p>
          <a:p>
            <a:endParaRPr sz="150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tag my-first-image</a:t>
            </a:r>
            <a:r>
              <a:rPr lang="en-US" sz="15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:1.0</a:t>
            </a:r>
            <a:r>
              <a:rPr sz="15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500"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yourname</a:t>
            </a:r>
            <a:r>
              <a:rPr sz="15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/my-first-image:</a:t>
            </a:r>
            <a:r>
              <a:rPr lang="en-US" sz="15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1.0</a:t>
            </a:r>
          </a:p>
          <a:p>
            <a:pPr>
              <a:lnSpc>
                <a:spcPct val="104000"/>
              </a:lnSpc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lang="en" altLang="zh-TW" sz="15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tag my-first-image:1.0 </a:t>
            </a:r>
            <a:r>
              <a:rPr lang="en" altLang="zh-TW" sz="15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yourname</a:t>
            </a:r>
            <a:r>
              <a:rPr lang="en" altLang="zh-TW" sz="15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/</a:t>
            </a:r>
            <a:r>
              <a:rPr lang="en" altLang="zh-TW" sz="150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my-first-image:latest</a:t>
            </a:r>
            <a:endParaRPr lang="en" altLang="zh-TW" sz="150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endParaRPr sz="150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endParaRPr sz="150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push </a:t>
            </a:r>
            <a:r>
              <a:rPr sz="1500"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yourname</a:t>
            </a:r>
            <a:r>
              <a:rPr sz="15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/my-first-image:</a:t>
            </a:r>
            <a:r>
              <a:rPr lang="en-US" sz="15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1.0</a:t>
            </a:r>
            <a:endParaRPr sz="150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endParaRPr sz="150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</a:t>
            </a:r>
            <a:r>
              <a:rPr sz="1500"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rmi</a:t>
            </a:r>
            <a:r>
              <a:rPr sz="15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500"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yourname</a:t>
            </a:r>
            <a:r>
              <a:rPr sz="15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/my-first-image:</a:t>
            </a:r>
            <a:r>
              <a:rPr lang="en-US" sz="15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1.0</a:t>
            </a:r>
            <a:endParaRPr sz="150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endParaRPr sz="150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pull </a:t>
            </a:r>
            <a:r>
              <a:rPr sz="1500"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yourname</a:t>
            </a:r>
            <a:r>
              <a:rPr sz="15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/my-first-image:</a:t>
            </a:r>
            <a:r>
              <a:rPr lang="en-US" sz="15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1.0</a:t>
            </a:r>
            <a:endParaRPr sz="150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</a:t>
            </a:r>
            <a:r>
              <a:rPr sz="1500"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yourname</a:t>
            </a:r>
            <a:r>
              <a:rPr sz="15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/my-first-image:</a:t>
            </a:r>
            <a:r>
              <a:rPr lang="en-US" sz="150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1.0</a:t>
            </a:r>
            <a:endParaRPr sz="150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121AD0F0-7789-4959-8B8C-4C87FD12B7A4}"/>
              </a:ext>
            </a:extLst>
          </p:cNvPr>
          <p:cNvSpPr>
            <a:spLocks noGrp="1"/>
          </p:cNvSpPr>
          <p:nvPr/>
        </p:nvSpPr>
        <p:spPr>
          <a:xfrm>
            <a:off x="7905750" y="1962150"/>
            <a:ext cx="3048000" cy="1943100"/>
          </a:xfrm>
          <a:prstGeom prst="roundRect">
            <a:avLst>
              <a:gd name="adj" fmla="val 5882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28A8255-0F5B-40C6-963A-054B16B5ACAC}"/>
              </a:ext>
            </a:extLst>
          </p:cNvPr>
          <p:cNvSpPr>
            <a:spLocks noGrp="1"/>
          </p:cNvSpPr>
          <p:nvPr/>
        </p:nvSpPr>
        <p:spPr>
          <a:xfrm>
            <a:off x="8134350" y="215265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完成標準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B356A96-516C-4C34-BBAD-9B1D89EE4799}"/>
              </a:ext>
            </a:extLst>
          </p:cNvPr>
          <p:cNvSpPr>
            <a:spLocks noGrp="1"/>
          </p:cNvSpPr>
          <p:nvPr/>
        </p:nvSpPr>
        <p:spPr>
          <a:xfrm>
            <a:off x="8134350" y="2686050"/>
            <a:ext cx="259080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1. Docker Hub 網頁看得到 repository</a:t>
            </a:r>
          </a:p>
          <a:p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2. 本機刪除後可以 pull 回來</a:t>
            </a:r>
          </a:p>
          <a:p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3. run 後仍能看到正確輸出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978CF96-2FBF-45B2-AF6A-D7ECC54DFDCF}"/>
              </a:ext>
            </a:extLst>
          </p:cNvPr>
          <p:cNvSpPr>
            <a:spLocks noGrp="1"/>
          </p:cNvSpPr>
          <p:nvPr/>
        </p:nvSpPr>
        <p:spPr>
          <a:xfrm>
            <a:off x="2000250" y="5581650"/>
            <a:ext cx="8191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335"/>
          </a:bodyPr>
          <a:lstStyle/>
          <a:p>
            <a:pPr algn="ctr">
              <a:lnSpc>
                <a:spcPct val="106000"/>
              </a:lnSpc>
              <a:buNone/>
              <a:defRPr sz="1575" b="1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E2E8F0"/>
                </a:solidFill>
                <a:latin typeface="Aptos"/>
                <a:ea typeface="Aptos"/>
                <a:cs typeface="Aptos"/>
              </a:rPr>
              <a:t>yourname 要換成自己的 Docker Hub 帳號。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BC31AF31-2043-4F54-BE20-5B7B26E9A932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1E0657F-CDED-4181-BFEA-522692F401B4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B08CAEF-4169-4522-882F-8E5A833A0994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03574219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EA15A8-8392-8B4F-E59E-95484DEA27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DB88F08E-32F4-6E95-E6C6-7964AB678803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P3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D2A39FF-C547-F4DE-A3D4-456ACFC73FAF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lang="en-US" sz="2850" b="1" dirty="0" err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使用自己的flask</a:t>
            </a:r>
            <a:r>
              <a:rPr lang="en-US" sz="2850" b="1" dirty="0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 image</a:t>
            </a:r>
            <a:endParaRPr sz="2850" b="1" dirty="0">
              <a:solidFill>
                <a:srgbClr val="FFFFFF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76813037-F850-8673-3040-B2B5A1530203}"/>
              </a:ext>
            </a:extLst>
          </p:cNvPr>
          <p:cNvSpPr>
            <a:spLocks noGrp="1"/>
          </p:cNvSpPr>
          <p:nvPr/>
        </p:nvSpPr>
        <p:spPr>
          <a:xfrm>
            <a:off x="800100" y="1428750"/>
            <a:ext cx="6464300" cy="4686300"/>
          </a:xfrm>
          <a:prstGeom prst="roundRect">
            <a:avLst>
              <a:gd name="adj" fmla="val 2564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  <p:txBody>
          <a:bodyPr/>
          <a:lstStyle/>
          <a:p>
            <a:endParaRPr dirty="0"/>
          </a:p>
        </p:txBody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87F509C2-F4F3-51EA-E9B0-C26219880751}"/>
              </a:ext>
            </a:extLst>
          </p:cNvPr>
          <p:cNvSpPr>
            <a:spLocks noGrp="1"/>
          </p:cNvSpPr>
          <p:nvPr/>
        </p:nvSpPr>
        <p:spPr>
          <a:xfrm>
            <a:off x="971550" y="15906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A7B0C55F-75A7-F3C1-CF0B-336BD42D2E9A}"/>
              </a:ext>
            </a:extLst>
          </p:cNvPr>
          <p:cNvSpPr>
            <a:spLocks noGrp="1"/>
          </p:cNvSpPr>
          <p:nvPr/>
        </p:nvSpPr>
        <p:spPr>
          <a:xfrm>
            <a:off x="1143000" y="15906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BAB27425-2FBD-2EDD-035C-875009EF31C7}"/>
              </a:ext>
            </a:extLst>
          </p:cNvPr>
          <p:cNvSpPr>
            <a:spLocks noGrp="1"/>
          </p:cNvSpPr>
          <p:nvPr/>
        </p:nvSpPr>
        <p:spPr>
          <a:xfrm>
            <a:off x="1314450" y="15906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56FB54A-DFF0-5D3C-05B3-581010038433}"/>
              </a:ext>
            </a:extLst>
          </p:cNvPr>
          <p:cNvSpPr>
            <a:spLocks noGrp="1"/>
          </p:cNvSpPr>
          <p:nvPr/>
        </p:nvSpPr>
        <p:spPr>
          <a:xfrm>
            <a:off x="1009650" y="1847849"/>
            <a:ext cx="6057900" cy="425386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r>
              <a:rPr lang="zh-TW" altLang="zh-TW" dirty="0">
                <a:solidFill>
                  <a:schemeClr val="bg1"/>
                </a:solidFill>
              </a:rPr>
              <a:t>app:</a:t>
            </a:r>
          </a:p>
          <a:p>
            <a:r>
              <a:rPr lang="zh-TW" altLang="en-US" dirty="0">
                <a:solidFill>
                  <a:schemeClr val="bg1"/>
                </a:solidFill>
              </a:rPr>
              <a:t>  </a:t>
            </a:r>
            <a:r>
              <a:rPr lang="zh-TW" altLang="zh-TW" dirty="0">
                <a:solidFill>
                  <a:schemeClr val="bg1"/>
                </a:solidFill>
              </a:rPr>
              <a:t>build:</a:t>
            </a:r>
          </a:p>
          <a:p>
            <a:r>
              <a:rPr lang="zh-TW" altLang="en-US" dirty="0">
                <a:solidFill>
                  <a:schemeClr val="bg1"/>
                </a:solidFill>
              </a:rPr>
              <a:t>    </a:t>
            </a:r>
            <a:r>
              <a:rPr lang="zh-TW" altLang="zh-TW" dirty="0">
                <a:solidFill>
                  <a:schemeClr val="bg1"/>
                </a:solidFill>
              </a:rPr>
              <a:t>context: .</a:t>
            </a:r>
            <a:r>
              <a:rPr lang="zh-TW" altLang="en-US" dirty="0">
                <a:solidFill>
                  <a:schemeClr val="bg1"/>
                </a:solidFill>
              </a:rPr>
              <a:t>  </a:t>
            </a:r>
            <a:endParaRPr lang="zh-TW" altLang="zh-TW" dirty="0">
              <a:solidFill>
                <a:schemeClr val="bg1"/>
              </a:solidFill>
            </a:endParaRPr>
          </a:p>
          <a:p>
            <a:r>
              <a:rPr lang="zh-TW" altLang="en-US" dirty="0">
                <a:solidFill>
                  <a:schemeClr val="bg1"/>
                </a:solidFill>
              </a:rPr>
              <a:t>    </a:t>
            </a:r>
            <a:r>
              <a:rPr lang="zh-TW" altLang="zh-TW" dirty="0">
                <a:solidFill>
                  <a:schemeClr val="bg1"/>
                </a:solidFill>
              </a:rPr>
              <a:t>dockerfile: Dockerfile</a:t>
            </a:r>
          </a:p>
          <a:p>
            <a:r>
              <a:rPr lang="zh-TW" altLang="en-US" dirty="0">
                <a:solidFill>
                  <a:schemeClr val="bg1"/>
                </a:solidFill>
              </a:rPr>
              <a:t>  </a:t>
            </a:r>
            <a:r>
              <a:rPr lang="zh-TW" altLang="zh-TW" dirty="0">
                <a:solidFill>
                  <a:schemeClr val="bg1"/>
                </a:solidFill>
              </a:rPr>
              <a:t>image: my-flask-app:latest</a:t>
            </a:r>
            <a:r>
              <a:rPr lang="zh-TW" altLang="en-US" dirty="0">
                <a:solidFill>
                  <a:schemeClr val="bg1"/>
                </a:solidFill>
              </a:rPr>
              <a:t>  </a:t>
            </a:r>
            <a:endParaRPr lang="zh-TW" altLang="zh-TW" dirty="0">
              <a:solidFill>
                <a:schemeClr val="bg1"/>
              </a:solidFill>
            </a:endParaRPr>
          </a:p>
          <a:p>
            <a:r>
              <a:rPr lang="zh-TW" altLang="en-US" dirty="0">
                <a:solidFill>
                  <a:schemeClr val="bg1"/>
                </a:solidFill>
              </a:rPr>
              <a:t>  </a:t>
            </a:r>
            <a:r>
              <a:rPr lang="zh-TW" altLang="zh-TW" dirty="0">
                <a:solidFill>
                  <a:schemeClr val="bg1"/>
                </a:solidFill>
              </a:rPr>
              <a:t>restart: unless-stopped</a:t>
            </a:r>
          </a:p>
          <a:p>
            <a:r>
              <a:rPr lang="zh-TW" altLang="en-US" dirty="0">
                <a:solidFill>
                  <a:schemeClr val="bg1"/>
                </a:solidFill>
              </a:rPr>
              <a:t>  </a:t>
            </a:r>
            <a:r>
              <a:rPr lang="zh-TW" altLang="zh-TW" dirty="0">
                <a:solidFill>
                  <a:schemeClr val="bg1"/>
                </a:solidFill>
              </a:rPr>
              <a:t>environment:</a:t>
            </a:r>
          </a:p>
          <a:p>
            <a:r>
              <a:rPr lang="zh-TW" altLang="en-US" dirty="0">
                <a:solidFill>
                  <a:schemeClr val="bg1"/>
                </a:solidFill>
              </a:rPr>
              <a:t>    </a:t>
            </a:r>
            <a:r>
              <a:rPr lang="zh-TW" altLang="zh-TW" dirty="0">
                <a:solidFill>
                  <a:schemeClr val="bg1"/>
                </a:solidFill>
              </a:rPr>
              <a:t>DB_HOST: db</a:t>
            </a:r>
          </a:p>
          <a:p>
            <a:r>
              <a:rPr lang="zh-TW" altLang="en-US" dirty="0">
                <a:solidFill>
                  <a:schemeClr val="bg1"/>
                </a:solidFill>
              </a:rPr>
              <a:t>    </a:t>
            </a:r>
            <a:r>
              <a:rPr lang="zh-TW" altLang="zh-TW" dirty="0">
                <a:solidFill>
                  <a:schemeClr val="bg1"/>
                </a:solidFill>
              </a:rPr>
              <a:t>DB_NAME: testdb</a:t>
            </a:r>
            <a:r>
              <a:rPr lang="zh-TW" altLang="en-US" dirty="0">
                <a:solidFill>
                  <a:schemeClr val="bg1"/>
                </a:solidFill>
              </a:rPr>
              <a:t>  </a:t>
            </a:r>
            <a:endParaRPr lang="zh-TW" altLang="zh-TW" dirty="0">
              <a:solidFill>
                <a:schemeClr val="bg1"/>
              </a:solidFill>
            </a:endParaRPr>
          </a:p>
          <a:p>
            <a:r>
              <a:rPr lang="zh-TW" altLang="en-US" dirty="0">
                <a:solidFill>
                  <a:schemeClr val="bg1"/>
                </a:solidFill>
              </a:rPr>
              <a:t>    </a:t>
            </a:r>
            <a:r>
              <a:rPr lang="zh-TW" altLang="zh-TW" dirty="0">
                <a:solidFill>
                  <a:schemeClr val="bg1"/>
                </a:solidFill>
              </a:rPr>
              <a:t>DB_USER: testuser</a:t>
            </a:r>
          </a:p>
          <a:p>
            <a:r>
              <a:rPr lang="zh-TW" altLang="en-US" dirty="0">
                <a:solidFill>
                  <a:schemeClr val="bg1"/>
                </a:solidFill>
              </a:rPr>
              <a:t>    </a:t>
            </a:r>
            <a:r>
              <a:rPr lang="zh-TW" altLang="zh-TW" dirty="0">
                <a:solidFill>
                  <a:schemeClr val="bg1"/>
                </a:solidFill>
              </a:rPr>
              <a:t>DB_PASSWORD: testpass</a:t>
            </a:r>
          </a:p>
          <a:p>
            <a:r>
              <a:rPr lang="zh-TW" altLang="en-US" dirty="0">
                <a:solidFill>
                  <a:schemeClr val="bg1"/>
                </a:solidFill>
              </a:rPr>
              <a:t>  </a:t>
            </a:r>
            <a:r>
              <a:rPr lang="zh-TW" altLang="zh-TW" dirty="0">
                <a:solidFill>
                  <a:schemeClr val="bg1"/>
                </a:solidFill>
              </a:rPr>
              <a:t>ports:</a:t>
            </a:r>
          </a:p>
          <a:p>
            <a:r>
              <a:rPr lang="zh-TW" altLang="en-US" dirty="0">
                <a:solidFill>
                  <a:schemeClr val="bg1"/>
                </a:solidFill>
              </a:rPr>
              <a:t>    </a:t>
            </a:r>
            <a:r>
              <a:rPr lang="zh-TW" altLang="zh-TW" dirty="0">
                <a:solidFill>
                  <a:schemeClr val="bg1"/>
                </a:solidFill>
              </a:rPr>
              <a:t>- "8000:5000"</a:t>
            </a:r>
          </a:p>
          <a:p>
            <a:r>
              <a:rPr lang="zh-TW" altLang="en-US" dirty="0">
                <a:solidFill>
                  <a:schemeClr val="bg1"/>
                </a:solidFill>
              </a:rPr>
              <a:t>  </a:t>
            </a:r>
            <a:r>
              <a:rPr lang="zh-TW" altLang="zh-TW" dirty="0">
                <a:solidFill>
                  <a:schemeClr val="bg1"/>
                </a:solidFill>
              </a:rPr>
              <a:t>depends_on:</a:t>
            </a:r>
          </a:p>
          <a:p>
            <a:r>
              <a:rPr lang="zh-TW" altLang="en-US" dirty="0">
                <a:solidFill>
                  <a:schemeClr val="bg1"/>
                </a:solidFill>
              </a:rPr>
              <a:t>    </a:t>
            </a:r>
            <a:r>
              <a:rPr lang="zh-TW" altLang="zh-TW" dirty="0">
                <a:solidFill>
                  <a:schemeClr val="bg1"/>
                </a:solidFill>
              </a:rPr>
              <a:t>- db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7EA80B9E-DD2A-BFEA-BF85-32D3F59134BA}"/>
              </a:ext>
            </a:extLst>
          </p:cNvPr>
          <p:cNvSpPr>
            <a:spLocks noGrp="1"/>
          </p:cNvSpPr>
          <p:nvPr/>
        </p:nvSpPr>
        <p:spPr>
          <a:xfrm>
            <a:off x="7905750" y="1962150"/>
            <a:ext cx="3048000" cy="1943100"/>
          </a:xfrm>
          <a:prstGeom prst="roundRect">
            <a:avLst>
              <a:gd name="adj" fmla="val 5882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18890AA-D94F-E4B4-F8A2-3E48E21CADA3}"/>
              </a:ext>
            </a:extLst>
          </p:cNvPr>
          <p:cNvSpPr>
            <a:spLocks noGrp="1"/>
          </p:cNvSpPr>
          <p:nvPr/>
        </p:nvSpPr>
        <p:spPr>
          <a:xfrm>
            <a:off x="8134350" y="215265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 dirty="0" err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完成標準</a:t>
            </a:r>
            <a:endParaRPr sz="2100" b="1" dirty="0">
              <a:solidFill>
                <a:srgbClr val="86EFAC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CF950C0-1091-4CBD-F5BF-015D8CE019B9}"/>
              </a:ext>
            </a:extLst>
          </p:cNvPr>
          <p:cNvSpPr>
            <a:spLocks noGrp="1"/>
          </p:cNvSpPr>
          <p:nvPr/>
        </p:nvSpPr>
        <p:spPr>
          <a:xfrm>
            <a:off x="8134350" y="2686050"/>
            <a:ext cx="259080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1. Docker Hub 網頁看得到 repository</a:t>
            </a:r>
          </a:p>
          <a:p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2. 本機刪除後可以 pull 回來</a:t>
            </a:r>
          </a:p>
          <a:p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3. run 後仍能看到正確輸出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6505E446-B194-E7E0-73DD-5235C9FDB615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7FDA39BA-01B2-EF1A-8F88-988623827072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95A26D1-9796-700E-BC15-B0C2D9BFBAB8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40079567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F496644-4814-3B4B-0311-3D4541477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9DF4E20A-26B2-FC18-DFF5-9191440063ED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P3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2CC891E-4F90-CF0C-CF54-0D9BA54DB74D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lang="en-US" sz="2850" b="1" dirty="0" err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使用自己的遠端flask</a:t>
            </a:r>
            <a:r>
              <a:rPr lang="en-US" sz="2850" b="1" dirty="0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 image</a:t>
            </a:r>
            <a:endParaRPr sz="2850" b="1" dirty="0">
              <a:solidFill>
                <a:srgbClr val="FFFFFF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0F4D0CD4-90BF-36AE-3BF7-5CAFCF325129}"/>
              </a:ext>
            </a:extLst>
          </p:cNvPr>
          <p:cNvSpPr>
            <a:spLocks noGrp="1"/>
          </p:cNvSpPr>
          <p:nvPr/>
        </p:nvSpPr>
        <p:spPr>
          <a:xfrm>
            <a:off x="800100" y="1428750"/>
            <a:ext cx="6464300" cy="4686300"/>
          </a:xfrm>
          <a:prstGeom prst="roundRect">
            <a:avLst>
              <a:gd name="adj" fmla="val 2564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  <p:txBody>
          <a:bodyPr/>
          <a:lstStyle/>
          <a:p>
            <a:endParaRPr dirty="0"/>
          </a:p>
        </p:txBody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8607A3D3-FE78-08A9-90BE-3CED3F89A0A5}"/>
              </a:ext>
            </a:extLst>
          </p:cNvPr>
          <p:cNvSpPr>
            <a:spLocks noGrp="1"/>
          </p:cNvSpPr>
          <p:nvPr/>
        </p:nvSpPr>
        <p:spPr>
          <a:xfrm>
            <a:off x="971550" y="15906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ACF0C8B3-4546-3F8A-C57A-C23FC47FF3BD}"/>
              </a:ext>
            </a:extLst>
          </p:cNvPr>
          <p:cNvSpPr>
            <a:spLocks noGrp="1"/>
          </p:cNvSpPr>
          <p:nvPr/>
        </p:nvSpPr>
        <p:spPr>
          <a:xfrm>
            <a:off x="1143000" y="15906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358E9AD3-754D-18B1-AA81-561E9DA4DC3A}"/>
              </a:ext>
            </a:extLst>
          </p:cNvPr>
          <p:cNvSpPr>
            <a:spLocks noGrp="1"/>
          </p:cNvSpPr>
          <p:nvPr/>
        </p:nvSpPr>
        <p:spPr>
          <a:xfrm>
            <a:off x="1314450" y="15906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13623EE-2EBB-3C14-781F-81ED36E55D7D}"/>
              </a:ext>
            </a:extLst>
          </p:cNvPr>
          <p:cNvSpPr>
            <a:spLocks noGrp="1"/>
          </p:cNvSpPr>
          <p:nvPr/>
        </p:nvSpPr>
        <p:spPr>
          <a:xfrm>
            <a:off x="1009650" y="1847849"/>
            <a:ext cx="6057900" cy="425386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r>
              <a:rPr lang="zh-TW" altLang="zh-TW" dirty="0">
                <a:solidFill>
                  <a:schemeClr val="bg1"/>
                </a:solidFill>
              </a:rPr>
              <a:t>app:</a:t>
            </a:r>
          </a:p>
          <a:p>
            <a:r>
              <a:rPr lang="zh-TW" altLang="en-US" dirty="0">
                <a:solidFill>
                  <a:schemeClr val="bg1"/>
                </a:solidFill>
              </a:rPr>
              <a:t>  </a:t>
            </a:r>
            <a:r>
              <a:rPr lang="zh-TW" altLang="zh-TW" dirty="0">
                <a:solidFill>
                  <a:schemeClr val="bg1"/>
                </a:solidFill>
              </a:rPr>
              <a:t>image: </a:t>
            </a:r>
            <a:r>
              <a:rPr lang="en-US" altLang="zh-TW" dirty="0" err="1">
                <a:solidFill>
                  <a:schemeClr val="bg1"/>
                </a:solidFill>
              </a:rPr>
              <a:t>yourname</a:t>
            </a:r>
            <a:r>
              <a:rPr lang="en-US" altLang="zh-TW" dirty="0">
                <a:solidFill>
                  <a:schemeClr val="bg1"/>
                </a:solidFill>
              </a:rPr>
              <a:t>/</a:t>
            </a:r>
            <a:r>
              <a:rPr lang="zh-TW" altLang="zh-TW" dirty="0">
                <a:solidFill>
                  <a:schemeClr val="bg1"/>
                </a:solidFill>
              </a:rPr>
              <a:t>my-flask-app:latest</a:t>
            </a:r>
            <a:r>
              <a:rPr lang="zh-TW" altLang="en-US" dirty="0">
                <a:solidFill>
                  <a:schemeClr val="bg1"/>
                </a:solidFill>
              </a:rPr>
              <a:t>  </a:t>
            </a:r>
            <a:endParaRPr lang="zh-TW" altLang="zh-TW" dirty="0">
              <a:solidFill>
                <a:schemeClr val="bg1"/>
              </a:solidFill>
            </a:endParaRPr>
          </a:p>
          <a:p>
            <a:r>
              <a:rPr lang="zh-TW" altLang="en-US" dirty="0">
                <a:solidFill>
                  <a:schemeClr val="bg1"/>
                </a:solidFill>
              </a:rPr>
              <a:t>  </a:t>
            </a:r>
            <a:r>
              <a:rPr lang="zh-TW" altLang="zh-TW" dirty="0">
                <a:solidFill>
                  <a:schemeClr val="bg1"/>
                </a:solidFill>
              </a:rPr>
              <a:t>restart: unless-stopped</a:t>
            </a:r>
          </a:p>
          <a:p>
            <a:r>
              <a:rPr lang="zh-TW" altLang="en-US" dirty="0">
                <a:solidFill>
                  <a:schemeClr val="bg1"/>
                </a:solidFill>
              </a:rPr>
              <a:t>  </a:t>
            </a:r>
            <a:r>
              <a:rPr lang="zh-TW" altLang="zh-TW" dirty="0">
                <a:solidFill>
                  <a:schemeClr val="bg1"/>
                </a:solidFill>
              </a:rPr>
              <a:t>environment:</a:t>
            </a:r>
          </a:p>
          <a:p>
            <a:r>
              <a:rPr lang="zh-TW" altLang="en-US" dirty="0">
                <a:solidFill>
                  <a:schemeClr val="bg1"/>
                </a:solidFill>
              </a:rPr>
              <a:t>    </a:t>
            </a:r>
            <a:r>
              <a:rPr lang="zh-TW" altLang="zh-TW" dirty="0">
                <a:solidFill>
                  <a:schemeClr val="bg1"/>
                </a:solidFill>
              </a:rPr>
              <a:t>DB_HOST: db</a:t>
            </a:r>
          </a:p>
          <a:p>
            <a:r>
              <a:rPr lang="zh-TW" altLang="en-US" dirty="0">
                <a:solidFill>
                  <a:schemeClr val="bg1"/>
                </a:solidFill>
              </a:rPr>
              <a:t>    </a:t>
            </a:r>
            <a:r>
              <a:rPr lang="zh-TW" altLang="zh-TW" dirty="0">
                <a:solidFill>
                  <a:schemeClr val="bg1"/>
                </a:solidFill>
              </a:rPr>
              <a:t>DB_NAME: testdb</a:t>
            </a:r>
            <a:r>
              <a:rPr lang="zh-TW" altLang="en-US" dirty="0">
                <a:solidFill>
                  <a:schemeClr val="bg1"/>
                </a:solidFill>
              </a:rPr>
              <a:t>  </a:t>
            </a:r>
            <a:endParaRPr lang="zh-TW" altLang="zh-TW" dirty="0">
              <a:solidFill>
                <a:schemeClr val="bg1"/>
              </a:solidFill>
            </a:endParaRPr>
          </a:p>
          <a:p>
            <a:r>
              <a:rPr lang="zh-TW" altLang="en-US" dirty="0">
                <a:solidFill>
                  <a:schemeClr val="bg1"/>
                </a:solidFill>
              </a:rPr>
              <a:t>    </a:t>
            </a:r>
            <a:r>
              <a:rPr lang="zh-TW" altLang="zh-TW" dirty="0">
                <a:solidFill>
                  <a:schemeClr val="bg1"/>
                </a:solidFill>
              </a:rPr>
              <a:t>DB_USER: testuser</a:t>
            </a:r>
          </a:p>
          <a:p>
            <a:r>
              <a:rPr lang="zh-TW" altLang="en-US" dirty="0">
                <a:solidFill>
                  <a:schemeClr val="bg1"/>
                </a:solidFill>
              </a:rPr>
              <a:t>    </a:t>
            </a:r>
            <a:r>
              <a:rPr lang="zh-TW" altLang="zh-TW" dirty="0">
                <a:solidFill>
                  <a:schemeClr val="bg1"/>
                </a:solidFill>
              </a:rPr>
              <a:t>DB_PASSWORD: testpass</a:t>
            </a:r>
          </a:p>
          <a:p>
            <a:r>
              <a:rPr lang="zh-TW" altLang="en-US" dirty="0">
                <a:solidFill>
                  <a:schemeClr val="bg1"/>
                </a:solidFill>
              </a:rPr>
              <a:t>  </a:t>
            </a:r>
            <a:r>
              <a:rPr lang="zh-TW" altLang="zh-TW" dirty="0">
                <a:solidFill>
                  <a:schemeClr val="bg1"/>
                </a:solidFill>
              </a:rPr>
              <a:t>ports:</a:t>
            </a:r>
          </a:p>
          <a:p>
            <a:r>
              <a:rPr lang="zh-TW" altLang="en-US" dirty="0">
                <a:solidFill>
                  <a:schemeClr val="bg1"/>
                </a:solidFill>
              </a:rPr>
              <a:t>    </a:t>
            </a:r>
            <a:r>
              <a:rPr lang="zh-TW" altLang="zh-TW" dirty="0">
                <a:solidFill>
                  <a:schemeClr val="bg1"/>
                </a:solidFill>
              </a:rPr>
              <a:t>- "8000:5000"</a:t>
            </a:r>
          </a:p>
          <a:p>
            <a:r>
              <a:rPr lang="zh-TW" altLang="en-US" dirty="0">
                <a:solidFill>
                  <a:schemeClr val="bg1"/>
                </a:solidFill>
              </a:rPr>
              <a:t>  </a:t>
            </a:r>
            <a:r>
              <a:rPr lang="zh-TW" altLang="zh-TW" dirty="0">
                <a:solidFill>
                  <a:schemeClr val="bg1"/>
                </a:solidFill>
              </a:rPr>
              <a:t>depends_on:</a:t>
            </a:r>
          </a:p>
          <a:p>
            <a:r>
              <a:rPr lang="zh-TW" altLang="en-US" dirty="0">
                <a:solidFill>
                  <a:schemeClr val="bg1"/>
                </a:solidFill>
              </a:rPr>
              <a:t>    </a:t>
            </a:r>
            <a:r>
              <a:rPr lang="zh-TW" altLang="zh-TW" dirty="0">
                <a:solidFill>
                  <a:schemeClr val="bg1"/>
                </a:solidFill>
              </a:rPr>
              <a:t>- db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308796B6-52D8-4776-0878-338DAEA956F7}"/>
              </a:ext>
            </a:extLst>
          </p:cNvPr>
          <p:cNvSpPr>
            <a:spLocks noGrp="1"/>
          </p:cNvSpPr>
          <p:nvPr/>
        </p:nvSpPr>
        <p:spPr>
          <a:xfrm>
            <a:off x="7905750" y="1962150"/>
            <a:ext cx="3048000" cy="1943100"/>
          </a:xfrm>
          <a:prstGeom prst="roundRect">
            <a:avLst>
              <a:gd name="adj" fmla="val 5882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FF6F66E-A9FB-77E7-0EA2-4FB395215E67}"/>
              </a:ext>
            </a:extLst>
          </p:cNvPr>
          <p:cNvSpPr>
            <a:spLocks noGrp="1"/>
          </p:cNvSpPr>
          <p:nvPr/>
        </p:nvSpPr>
        <p:spPr>
          <a:xfrm>
            <a:off x="8134350" y="215265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 dirty="0" err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完成標準</a:t>
            </a:r>
            <a:endParaRPr sz="2100" b="1" dirty="0">
              <a:solidFill>
                <a:srgbClr val="86EFAC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30E92BC7-0AFA-AEA8-FC4B-E1FCD4AD20C8}"/>
              </a:ext>
            </a:extLst>
          </p:cNvPr>
          <p:cNvSpPr>
            <a:spLocks noGrp="1"/>
          </p:cNvSpPr>
          <p:nvPr/>
        </p:nvSpPr>
        <p:spPr>
          <a:xfrm>
            <a:off x="8134350" y="2686050"/>
            <a:ext cx="259080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1. Docker Hub 網頁看得到 repository</a:t>
            </a:r>
          </a:p>
          <a:p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2. 本機刪除後可以 pull 回來</a:t>
            </a:r>
          </a:p>
          <a:p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3. run 後仍能看到正確輸出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B635F64-AF7B-FDFC-2CCB-A55BBC277B04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479CD3FF-006B-A65E-EDCB-171E8975EF7A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9D36E0C-3DDB-D09C-F7CC-5F3419D13928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71619058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A0046382-DB90-61EC-B4A3-9C75E13AAD73}"/>
              </a:ext>
            </a:extLst>
          </p:cNvPr>
          <p:cNvSpPr txBox="1"/>
          <p:nvPr/>
        </p:nvSpPr>
        <p:spPr>
          <a:xfrm>
            <a:off x="7569200" y="5411450"/>
            <a:ext cx="5143500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8800" dirty="0"/>
              <a:t>額外補充</a:t>
            </a:r>
          </a:p>
        </p:txBody>
      </p:sp>
    </p:spTree>
    <p:extLst>
      <p:ext uri="{BB962C8B-B14F-4D97-AF65-F5344CB8AC3E}">
        <p14:creationId xmlns:p14="http://schemas.microsoft.com/office/powerpoint/2010/main" val="10953364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D230D268-1A45-4EAB-B8C3-978F0176BDB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A46435F-713C-4BFB-8CF7-F64FAC0F5D29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00" b="1">
                <a:solidFill>
                  <a:srgbClr val="A5B4FC"/>
                </a:solidFill>
              </a:defRPr>
            </a:pPr>
            <a:r>
              <a:rPr sz="900" b="1">
                <a:solidFill>
                  <a:srgbClr val="A5B4FC"/>
                </a:solidFill>
              </a:rPr>
              <a:t>DOCKERFILE BEHAVIOR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A02230D-32A0-40D1-A345-6248F189D7EB}"/>
              </a:ext>
            </a:extLst>
          </p:cNvPr>
          <p:cNvSpPr>
            <a:spLocks noGrp="1"/>
          </p:cNvSpPr>
          <p:nvPr/>
        </p:nvSpPr>
        <p:spPr>
          <a:xfrm>
            <a:off x="609600" y="781050"/>
            <a:ext cx="10668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CMD vs ENTRYPOINT：誰會被 docker run 覆蓋？</a:t>
            </a: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8AD4939C-7775-4AE5-9EDF-C7AA19B798B8}"/>
              </a:ext>
            </a:extLst>
          </p:cNvPr>
          <p:cNvSpPr>
            <a:spLocks noGrp="1"/>
          </p:cNvSpPr>
          <p:nvPr/>
        </p:nvSpPr>
        <p:spPr>
          <a:xfrm>
            <a:off x="762000" y="1695450"/>
            <a:ext cx="5048250" cy="2952750"/>
          </a:xfrm>
          <a:prstGeom prst="roundRect">
            <a:avLst>
              <a:gd name="adj" fmla="val 3871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900B08E6-3D17-48AC-B82C-3E0D7F2E4D56}"/>
              </a:ext>
            </a:extLst>
          </p:cNvPr>
          <p:cNvSpPr>
            <a:spLocks noGrp="1"/>
          </p:cNvSpPr>
          <p:nvPr/>
        </p:nvSpPr>
        <p:spPr>
          <a:xfrm>
            <a:off x="6381750" y="1695450"/>
            <a:ext cx="5048250" cy="2952750"/>
          </a:xfrm>
          <a:prstGeom prst="roundRect">
            <a:avLst>
              <a:gd name="adj" fmla="val 3871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F8A6635-8265-45C3-A483-0860CE52BC39}"/>
              </a:ext>
            </a:extLst>
          </p:cNvPr>
          <p:cNvSpPr>
            <a:spLocks noGrp="1"/>
          </p:cNvSpPr>
          <p:nvPr/>
        </p:nvSpPr>
        <p:spPr>
          <a:xfrm>
            <a:off x="1028700" y="1943100"/>
            <a:ext cx="45148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950" b="1">
                <a:solidFill>
                  <a:srgbClr val="93C5FD"/>
                </a:solidFill>
              </a:defRPr>
            </a:pPr>
            <a:r>
              <a:rPr sz="1950" b="1">
                <a:solidFill>
                  <a:srgbClr val="93C5FD"/>
                </a:solidFill>
              </a:rPr>
              <a:t>CMD：預設指令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BED2816-4224-441C-A59A-2718D65B713F}"/>
              </a:ext>
            </a:extLst>
          </p:cNvPr>
          <p:cNvSpPr>
            <a:spLocks noGrp="1"/>
          </p:cNvSpPr>
          <p:nvPr/>
        </p:nvSpPr>
        <p:spPr>
          <a:xfrm>
            <a:off x="1028700" y="2419350"/>
            <a:ext cx="45148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350">
                <a:solidFill>
                  <a:srgbClr val="E2E8F0"/>
                </a:solidFill>
              </a:defRPr>
            </a:pPr>
            <a:r>
              <a:rPr sz="1350">
                <a:solidFill>
                  <a:srgbClr val="E2E8F0"/>
                </a:solidFill>
              </a:rPr>
              <a:t>使用者在 docker run 後面補指令時，整個 CMD 會被取代。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C91BB24C-1DE9-4243-91B9-838B8C08A756}"/>
              </a:ext>
            </a:extLst>
          </p:cNvPr>
          <p:cNvSpPr>
            <a:spLocks noGrp="1"/>
          </p:cNvSpPr>
          <p:nvPr/>
        </p:nvSpPr>
        <p:spPr>
          <a:xfrm>
            <a:off x="1028700" y="3143250"/>
            <a:ext cx="4514850" cy="1219200"/>
          </a:xfrm>
          <a:prstGeom prst="roundRect">
            <a:avLst>
              <a:gd name="adj" fmla="val 9375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F7D58BC-452B-4DDD-B9F2-B36B6263D592}"/>
              </a:ext>
            </a:extLst>
          </p:cNvPr>
          <p:cNvSpPr>
            <a:spLocks noGrp="1"/>
          </p:cNvSpPr>
          <p:nvPr/>
        </p:nvSpPr>
        <p:spPr>
          <a:xfrm>
            <a:off x="1238250" y="3314700"/>
            <a:ext cx="40957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CMD ["python", "app.py"]</a:t>
            </a:r>
          </a:p>
          <a:p>
            <a:endParaRPr sz="1275">
              <a:solidFill>
                <a:srgbClr val="E5E7EB"/>
              </a:solidFill>
            </a:endParaRPr>
          </a:p>
          <a:p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$ docker run my-app bash</a:t>
            </a:r>
          </a:p>
          <a:p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=&gt; bash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E57BBED-35BC-4909-B3B3-CC8A7DCB5882}"/>
              </a:ext>
            </a:extLst>
          </p:cNvPr>
          <p:cNvSpPr>
            <a:spLocks noGrp="1"/>
          </p:cNvSpPr>
          <p:nvPr/>
        </p:nvSpPr>
        <p:spPr>
          <a:xfrm>
            <a:off x="6648450" y="1943100"/>
            <a:ext cx="45148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950" b="1">
                <a:solidFill>
                  <a:srgbClr val="86EFAC"/>
                </a:solidFill>
              </a:defRPr>
            </a:pPr>
            <a:r>
              <a:rPr sz="1950" b="1">
                <a:solidFill>
                  <a:srgbClr val="86EFAC"/>
                </a:solidFill>
              </a:rPr>
              <a:t>ENTRYPOINT：固定主程式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9B69BC4F-0FD8-4A53-9F9A-6FFC2C062F2A}"/>
              </a:ext>
            </a:extLst>
          </p:cNvPr>
          <p:cNvSpPr>
            <a:spLocks noGrp="1"/>
          </p:cNvSpPr>
          <p:nvPr/>
        </p:nvSpPr>
        <p:spPr>
          <a:xfrm>
            <a:off x="6648450" y="2419350"/>
            <a:ext cx="45148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350">
                <a:solidFill>
                  <a:srgbClr val="E2E8F0"/>
                </a:solidFill>
              </a:defRPr>
            </a:pPr>
            <a:r>
              <a:rPr sz="1350">
                <a:solidFill>
                  <a:srgbClr val="E2E8F0"/>
                </a:solidFill>
              </a:rPr>
              <a:t>使用者補的內容通常會接在 ENTRYPOINT 後面，變成參數。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1F18840B-74F1-407B-969A-0A1E49A8961D}"/>
              </a:ext>
            </a:extLst>
          </p:cNvPr>
          <p:cNvSpPr>
            <a:spLocks noGrp="1"/>
          </p:cNvSpPr>
          <p:nvPr/>
        </p:nvSpPr>
        <p:spPr>
          <a:xfrm>
            <a:off x="6648450" y="3143250"/>
            <a:ext cx="4514850" cy="1219200"/>
          </a:xfrm>
          <a:prstGeom prst="roundRect">
            <a:avLst>
              <a:gd name="adj" fmla="val 9375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424678F-5DB3-4528-9E56-B9763162097B}"/>
              </a:ext>
            </a:extLst>
          </p:cNvPr>
          <p:cNvSpPr>
            <a:spLocks noGrp="1"/>
          </p:cNvSpPr>
          <p:nvPr/>
        </p:nvSpPr>
        <p:spPr>
          <a:xfrm>
            <a:off x="6858000" y="3314700"/>
            <a:ext cx="40957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ENTRYPOINT ["python", "app.py"]</a:t>
            </a:r>
          </a:p>
          <a:p>
            <a:endParaRPr sz="1275">
              <a:solidFill>
                <a:srgbClr val="E5E7EB"/>
              </a:solidFill>
            </a:endParaRPr>
          </a:p>
          <a:p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$ docker run my-app bash</a:t>
            </a:r>
          </a:p>
          <a:p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=&gt; python app.py bash</a:t>
            </a:r>
          </a:p>
        </p:txBody>
      </p:sp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F851357A-852D-473B-B5D3-02DDCB6E1267}"/>
              </a:ext>
            </a:extLst>
          </p:cNvPr>
          <p:cNvSpPr>
            <a:spLocks noGrp="1"/>
          </p:cNvSpPr>
          <p:nvPr/>
        </p:nvSpPr>
        <p:spPr>
          <a:xfrm>
            <a:off x="2000250" y="5010150"/>
            <a:ext cx="8191500" cy="704850"/>
          </a:xfrm>
          <a:prstGeom prst="roundRect">
            <a:avLst>
              <a:gd name="adj" fmla="val 16216"/>
            </a:avLst>
          </a:prstGeom>
          <a:solidFill>
            <a:srgbClr val="0F172A"/>
          </a:solidFill>
          <a:ln w="9525">
            <a:solidFill>
              <a:srgbClr val="47556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60E5D2C-00A1-4DF3-B70A-85B9DAAB1C4D}"/>
              </a:ext>
            </a:extLst>
          </p:cNvPr>
          <p:cNvSpPr>
            <a:spLocks noGrp="1"/>
          </p:cNvSpPr>
          <p:nvPr/>
        </p:nvSpPr>
        <p:spPr>
          <a:xfrm>
            <a:off x="2362200" y="5219700"/>
            <a:ext cx="7467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350">
                <a:solidFill>
                  <a:srgbClr val="E5E7EB"/>
                </a:solidFill>
              </a:defRPr>
            </a:pPr>
            <a:r>
              <a:rPr sz="1350">
                <a:solidFill>
                  <a:srgbClr val="E5E7EB"/>
                </a:solidFill>
              </a:rPr>
              <a:t>真的要換掉 ENTRYPOINT，可以用 --entrypoint；新手先記住：CMD 容易被取代，ENTRYPOINT 比較固定。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803793AB-ECD2-4773-82CD-FB618C15AE56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4288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4C37016-0280-4EFC-A098-EC30CEA5138A}"/>
              </a:ext>
            </a:extLst>
          </p:cNvPr>
          <p:cNvSpPr>
            <a:spLocks noGrp="1"/>
          </p:cNvSpPr>
          <p:nvPr/>
        </p:nvSpPr>
        <p:spPr>
          <a:xfrm>
            <a:off x="609600" y="6419850"/>
            <a:ext cx="2762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>
                <a:solidFill>
                  <a:srgbClr val="CBD5E1"/>
                </a:solidFill>
              </a:defRPr>
            </a:pPr>
            <a:r>
              <a:rPr sz="825">
                <a:solidFill>
                  <a:srgbClr val="CBD5E1"/>
                </a:solidFill>
              </a:rPr>
              <a:t>Docker 基礎教學 | 第 4 堂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3BA89AC2-B8C3-4C58-87F1-78D58BBE6137}"/>
              </a:ext>
            </a:extLst>
          </p:cNvPr>
          <p:cNvSpPr>
            <a:spLocks noGrp="1"/>
          </p:cNvSpPr>
          <p:nvPr/>
        </p:nvSpPr>
        <p:spPr>
          <a:xfrm>
            <a:off x="9810750" y="6400800"/>
            <a:ext cx="152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1">
                <a:solidFill>
                  <a:srgbClr val="CBD5E1"/>
                </a:solidFill>
              </a:defRPr>
            </a:pPr>
            <a:r>
              <a:rPr sz="900" b="1">
                <a:solidFill>
                  <a:srgbClr val="CBD5E1"/>
                </a:solidFill>
              </a:rPr>
              <a:t>CMD / ENTRYPOINT 1</a:t>
            </a:r>
          </a:p>
        </p:txBody>
      </p:sp>
    </p:spTree>
    <p:extLst>
      <p:ext uri="{BB962C8B-B14F-4D97-AF65-F5344CB8AC3E}">
        <p14:creationId xmlns:p14="http://schemas.microsoft.com/office/powerpoint/2010/main" val="100149265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D230D268-1A45-4EAB-B8C3-978F0176BDB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A46435F-713C-4BFB-8CF7-F64FAC0F5D29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00" b="1">
                <a:solidFill>
                  <a:srgbClr val="A5B4FC"/>
                </a:solidFill>
              </a:defRPr>
            </a:pPr>
            <a:r>
              <a:rPr sz="900" b="1">
                <a:solidFill>
                  <a:srgbClr val="A5B4FC"/>
                </a:solidFill>
              </a:rPr>
              <a:t>DOCKER RUN COMMAND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A02230D-32A0-40D1-A345-6248F189D7EB}"/>
              </a:ext>
            </a:extLst>
          </p:cNvPr>
          <p:cNvSpPr>
            <a:spLocks noGrp="1"/>
          </p:cNvSpPr>
          <p:nvPr/>
        </p:nvSpPr>
        <p:spPr>
          <a:xfrm>
            <a:off x="609600" y="781050"/>
            <a:ext cx="10668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不加 sh/bash vs 結尾加 sh/bash</a:t>
            </a: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8AD4939C-7775-4AE5-9EDF-C7AA19B798B8}"/>
              </a:ext>
            </a:extLst>
          </p:cNvPr>
          <p:cNvSpPr>
            <a:spLocks noGrp="1"/>
          </p:cNvSpPr>
          <p:nvPr/>
        </p:nvSpPr>
        <p:spPr>
          <a:xfrm>
            <a:off x="762000" y="1695450"/>
            <a:ext cx="5048250" cy="2952750"/>
          </a:xfrm>
          <a:prstGeom prst="roundRect">
            <a:avLst>
              <a:gd name="adj" fmla="val 3871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900B08E6-3D17-48AC-B82C-3E0D7F2E4D56}"/>
              </a:ext>
            </a:extLst>
          </p:cNvPr>
          <p:cNvSpPr>
            <a:spLocks noGrp="1"/>
          </p:cNvSpPr>
          <p:nvPr/>
        </p:nvSpPr>
        <p:spPr>
          <a:xfrm>
            <a:off x="6381750" y="1695450"/>
            <a:ext cx="5048250" cy="2952750"/>
          </a:xfrm>
          <a:prstGeom prst="roundRect">
            <a:avLst>
              <a:gd name="adj" fmla="val 3871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F8A6635-8265-45C3-A483-0860CE52BC39}"/>
              </a:ext>
            </a:extLst>
          </p:cNvPr>
          <p:cNvSpPr>
            <a:spLocks noGrp="1"/>
          </p:cNvSpPr>
          <p:nvPr/>
        </p:nvSpPr>
        <p:spPr>
          <a:xfrm>
            <a:off x="1028700" y="1943100"/>
            <a:ext cx="45148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950" b="1">
                <a:solidFill>
                  <a:srgbClr val="93C5FD"/>
                </a:solidFill>
              </a:defRPr>
            </a:pPr>
            <a:r>
              <a:rPr sz="1950" b="1">
                <a:solidFill>
                  <a:srgbClr val="93C5FD"/>
                </a:solidFill>
              </a:rPr>
              <a:t>不補指令：跑預設 CMD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BED2816-4224-441C-A59A-2718D65B713F}"/>
              </a:ext>
            </a:extLst>
          </p:cNvPr>
          <p:cNvSpPr>
            <a:spLocks noGrp="1"/>
          </p:cNvSpPr>
          <p:nvPr/>
        </p:nvSpPr>
        <p:spPr>
          <a:xfrm>
            <a:off x="1028700" y="2419350"/>
            <a:ext cx="45148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350">
                <a:solidFill>
                  <a:srgbClr val="E2E8F0"/>
                </a:solidFill>
              </a:defRPr>
            </a:pPr>
            <a:r>
              <a:rPr sz="1350">
                <a:solidFill>
                  <a:srgbClr val="E2E8F0"/>
                </a:solidFill>
              </a:rPr>
              <a:t>Dockerfile 的 CMD 會在 container 啟動時執行。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C91BB24C-1DE9-4243-91B9-838B8C08A756}"/>
              </a:ext>
            </a:extLst>
          </p:cNvPr>
          <p:cNvSpPr>
            <a:spLocks noGrp="1"/>
          </p:cNvSpPr>
          <p:nvPr/>
        </p:nvSpPr>
        <p:spPr>
          <a:xfrm>
            <a:off x="1028700" y="3143250"/>
            <a:ext cx="4514850" cy="1219200"/>
          </a:xfrm>
          <a:prstGeom prst="roundRect">
            <a:avLst>
              <a:gd name="adj" fmla="val 9375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F7D58BC-452B-4DDD-B9F2-B36B6263D592}"/>
              </a:ext>
            </a:extLst>
          </p:cNvPr>
          <p:cNvSpPr>
            <a:spLocks noGrp="1"/>
          </p:cNvSpPr>
          <p:nvPr/>
        </p:nvSpPr>
        <p:spPr>
          <a:xfrm>
            <a:off x="1238250" y="3314700"/>
            <a:ext cx="40957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CMD ["python", "app.py"]</a:t>
            </a:r>
          </a:p>
          <a:p>
            <a:endParaRPr sz="1275">
              <a:solidFill>
                <a:srgbClr val="E5E7EB"/>
              </a:solidFill>
            </a:endParaRPr>
          </a:p>
          <a:p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$ docker run my-app</a:t>
            </a:r>
          </a:p>
          <a:p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=&gt; python app.py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E57BBED-35BC-4909-B3B3-CC8A7DCB5882}"/>
              </a:ext>
            </a:extLst>
          </p:cNvPr>
          <p:cNvSpPr>
            <a:spLocks noGrp="1"/>
          </p:cNvSpPr>
          <p:nvPr/>
        </p:nvSpPr>
        <p:spPr>
          <a:xfrm>
            <a:off x="6648450" y="1943100"/>
            <a:ext cx="45148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950" b="1">
                <a:solidFill>
                  <a:srgbClr val="86EFAC"/>
                </a:solidFill>
              </a:defRPr>
            </a:pPr>
            <a:r>
              <a:rPr sz="1950" b="1">
                <a:solidFill>
                  <a:srgbClr val="86EFAC"/>
                </a:solidFill>
              </a:rPr>
              <a:t>結尾加 sh/bash：覆蓋 CMD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9B69BC4F-0FD8-4A53-9F9A-6FFC2C062F2A}"/>
              </a:ext>
            </a:extLst>
          </p:cNvPr>
          <p:cNvSpPr>
            <a:spLocks noGrp="1"/>
          </p:cNvSpPr>
          <p:nvPr/>
        </p:nvSpPr>
        <p:spPr>
          <a:xfrm>
            <a:off x="6648450" y="2419350"/>
            <a:ext cx="45148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350">
                <a:solidFill>
                  <a:srgbClr val="E2E8F0"/>
                </a:solidFill>
              </a:defRPr>
            </a:pPr>
            <a:r>
              <a:rPr sz="1350">
                <a:solidFill>
                  <a:srgbClr val="E2E8F0"/>
                </a:solidFill>
              </a:rPr>
              <a:t>docker run 後面補的指令會取代整個 CMD。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1F18840B-74F1-407B-969A-0A1E49A8961D}"/>
              </a:ext>
            </a:extLst>
          </p:cNvPr>
          <p:cNvSpPr>
            <a:spLocks noGrp="1"/>
          </p:cNvSpPr>
          <p:nvPr/>
        </p:nvSpPr>
        <p:spPr>
          <a:xfrm>
            <a:off x="6648450" y="3143250"/>
            <a:ext cx="4514850" cy="1219200"/>
          </a:xfrm>
          <a:prstGeom prst="roundRect">
            <a:avLst>
              <a:gd name="adj" fmla="val 9375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424678F-5DB3-4528-9E56-B9763162097B}"/>
              </a:ext>
            </a:extLst>
          </p:cNvPr>
          <p:cNvSpPr>
            <a:spLocks noGrp="1"/>
          </p:cNvSpPr>
          <p:nvPr/>
        </p:nvSpPr>
        <p:spPr>
          <a:xfrm>
            <a:off x="6858000" y="3314700"/>
            <a:ext cx="40957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CMD ["python", "app.py"]</a:t>
            </a:r>
          </a:p>
          <a:p>
            <a:endParaRPr sz="1275">
              <a:solidFill>
                <a:srgbClr val="E5E7EB"/>
              </a:solidFill>
            </a:endParaRPr>
          </a:p>
          <a:p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$ docker run my-app bash</a:t>
            </a:r>
          </a:p>
          <a:p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=&gt; bash（服務不會啟動）</a:t>
            </a:r>
          </a:p>
        </p:txBody>
      </p:sp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F851357A-852D-473B-B5D3-02DDCB6E1267}"/>
              </a:ext>
            </a:extLst>
          </p:cNvPr>
          <p:cNvSpPr>
            <a:spLocks noGrp="1"/>
          </p:cNvSpPr>
          <p:nvPr/>
        </p:nvSpPr>
        <p:spPr>
          <a:xfrm>
            <a:off x="2000250" y="5010150"/>
            <a:ext cx="8191500" cy="704850"/>
          </a:xfrm>
          <a:prstGeom prst="roundRect">
            <a:avLst>
              <a:gd name="adj" fmla="val 16216"/>
            </a:avLst>
          </a:prstGeom>
          <a:solidFill>
            <a:srgbClr val="0F172A"/>
          </a:solidFill>
          <a:ln w="9525">
            <a:solidFill>
              <a:srgbClr val="47556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60E5D2C-00A1-4DF3-B70A-85B9DAAB1C4D}"/>
              </a:ext>
            </a:extLst>
          </p:cNvPr>
          <p:cNvSpPr>
            <a:spLocks noGrp="1"/>
          </p:cNvSpPr>
          <p:nvPr/>
        </p:nvSpPr>
        <p:spPr>
          <a:xfrm>
            <a:off x="2362200" y="5219700"/>
            <a:ext cx="7467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350">
                <a:solidFill>
                  <a:srgbClr val="E5E7EB"/>
                </a:solidFill>
              </a:defRPr>
            </a:pPr>
            <a:r>
              <a:rPr sz="1350">
                <a:solidFill>
                  <a:srgbClr val="E5E7EB"/>
                </a:solidFill>
              </a:rPr>
              <a:t>第二章回扣：docker run nginx sh 是只開 shell；docker exec -it nginx-life sh 是進入已在跑的 nginx，服務仍在。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803793AB-ECD2-4773-82CD-FB618C15AE56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4288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4C37016-0280-4EFC-A098-EC30CEA5138A}"/>
              </a:ext>
            </a:extLst>
          </p:cNvPr>
          <p:cNvSpPr>
            <a:spLocks noGrp="1"/>
          </p:cNvSpPr>
          <p:nvPr/>
        </p:nvSpPr>
        <p:spPr>
          <a:xfrm>
            <a:off x="609600" y="6419850"/>
            <a:ext cx="2762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>
                <a:solidFill>
                  <a:srgbClr val="CBD5E1"/>
                </a:solidFill>
              </a:defRPr>
            </a:pPr>
            <a:r>
              <a:rPr sz="825">
                <a:solidFill>
                  <a:srgbClr val="CBD5E1"/>
                </a:solidFill>
              </a:rPr>
              <a:t>Docker 基礎教學 | 第 4 堂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3BA89AC2-B8C3-4C58-87F1-78D58BBE6137}"/>
              </a:ext>
            </a:extLst>
          </p:cNvPr>
          <p:cNvSpPr>
            <a:spLocks noGrp="1"/>
          </p:cNvSpPr>
          <p:nvPr/>
        </p:nvSpPr>
        <p:spPr>
          <a:xfrm>
            <a:off x="9810750" y="6400800"/>
            <a:ext cx="152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1">
                <a:solidFill>
                  <a:srgbClr val="CBD5E1"/>
                </a:solidFill>
              </a:defRPr>
            </a:pPr>
            <a:r>
              <a:rPr sz="900" b="1">
                <a:solidFill>
                  <a:srgbClr val="CBD5E1"/>
                </a:solidFill>
              </a:rPr>
              <a:t>CMD 覆蓋小觀念</a:t>
            </a:r>
          </a:p>
        </p:txBody>
      </p:sp>
    </p:spTree>
    <p:extLst>
      <p:ext uri="{BB962C8B-B14F-4D97-AF65-F5344CB8AC3E}">
        <p14:creationId xmlns:p14="http://schemas.microsoft.com/office/powerpoint/2010/main" val="100149265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418A3494-4B9D-4BED-BAA7-9CC08735050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 w="0">
            <a:noFill/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20DCE9B-AB07-43D4-9AB4-67DB818AD107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00" b="1">
                <a:solidFill>
                  <a:srgbClr val="A5B4FC"/>
                </a:solidFill>
              </a:defRPr>
            </a:pPr>
            <a:r>
              <a:rPr sz="900" b="1">
                <a:solidFill>
                  <a:srgbClr val="A5B4FC"/>
                </a:solidFill>
              </a:rPr>
              <a:t>BEST PRACTICE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E470020-12EF-4C85-A0CD-4ADF38CC6BF7}"/>
              </a:ext>
            </a:extLst>
          </p:cNvPr>
          <p:cNvSpPr>
            <a:spLocks noGrp="1"/>
          </p:cNvSpPr>
          <p:nvPr/>
        </p:nvSpPr>
        <p:spPr>
          <a:xfrm>
            <a:off x="609600" y="781050"/>
            <a:ext cx="10668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實戰組合：ENTRYPOINT 放工具，CMD 放預設參數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A427EE0-4D2F-47AD-94BB-4A827634A4BF}"/>
              </a:ext>
            </a:extLst>
          </p:cNvPr>
          <p:cNvSpPr>
            <a:spLocks noGrp="1"/>
          </p:cNvSpPr>
          <p:nvPr/>
        </p:nvSpPr>
        <p:spPr>
          <a:xfrm>
            <a:off x="857250" y="1524000"/>
            <a:ext cx="10477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00">
                <a:solidFill>
                  <a:srgbClr val="E2E8F0"/>
                </a:solidFill>
              </a:defRPr>
            </a:pPr>
            <a:r>
              <a:rPr sz="1500">
                <a:solidFill>
                  <a:srgbClr val="E2E8F0"/>
                </a:solidFill>
              </a:rPr>
              <a:t>把固定不變的主程式放在 ENTRYPOINT，把可以被使用者替換的預設目標放在 CMD。</a:t>
            </a:r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12552BAF-1E7B-4805-BB0B-CA6A36C4AD47}"/>
              </a:ext>
            </a:extLst>
          </p:cNvPr>
          <p:cNvSpPr>
            <a:spLocks noGrp="1"/>
          </p:cNvSpPr>
          <p:nvPr/>
        </p:nvSpPr>
        <p:spPr>
          <a:xfrm>
            <a:off x="857250" y="2209800"/>
            <a:ext cx="4762500" cy="2000250"/>
          </a:xfrm>
          <a:prstGeom prst="roundRect">
            <a:avLst>
              <a:gd name="adj" fmla="val 5714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2354283-B5F9-4D4A-9855-3BE475F3E0F3}"/>
              </a:ext>
            </a:extLst>
          </p:cNvPr>
          <p:cNvSpPr>
            <a:spLocks noGrp="1"/>
          </p:cNvSpPr>
          <p:nvPr/>
        </p:nvSpPr>
        <p:spPr>
          <a:xfrm>
            <a:off x="1066800" y="2381250"/>
            <a:ext cx="4343400" cy="1657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# 一定會執行的主程式</a:t>
            </a:r>
          </a:p>
          <a:p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ENTRYPOINT ["ping"]</a:t>
            </a:r>
          </a:p>
          <a:p>
            <a:endParaRPr sz="1275">
              <a:solidFill>
                <a:srgbClr val="E5E7EB"/>
              </a:solidFill>
            </a:endParaRPr>
          </a:p>
          <a:p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# 預設參數，可以被 docker run 後面的內容取代</a:t>
            </a:r>
          </a:p>
          <a:p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CMD ["google.com"]</a:t>
            </a:r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58A91E4C-4114-4E8B-AC40-0B23BA38E6EA}"/>
              </a:ext>
            </a:extLst>
          </p:cNvPr>
          <p:cNvSpPr>
            <a:spLocks noGrp="1"/>
          </p:cNvSpPr>
          <p:nvPr/>
        </p:nvSpPr>
        <p:spPr>
          <a:xfrm>
            <a:off x="6286500" y="2133600"/>
            <a:ext cx="4286250" cy="819150"/>
          </a:xfrm>
          <a:prstGeom prst="roundRect">
            <a:avLst>
              <a:gd name="adj" fmla="val 13953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599016E-7451-420C-9B6E-8316E1C7C41F}"/>
              </a:ext>
            </a:extLst>
          </p:cNvPr>
          <p:cNvSpPr>
            <a:spLocks noGrp="1"/>
          </p:cNvSpPr>
          <p:nvPr/>
        </p:nvSpPr>
        <p:spPr>
          <a:xfrm>
            <a:off x="6610350" y="2324100"/>
            <a:ext cx="3714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00">
                <a:solidFill>
                  <a:srgbClr val="E5E7EB"/>
                </a:solidFill>
              </a:defRPr>
            </a:pPr>
            <a:r>
              <a:rPr sz="1500">
                <a:solidFill>
                  <a:srgbClr val="E5E7EB"/>
                </a:solidFill>
              </a:rPr>
              <a:t>$ docker run my-ping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A1EE215-5779-404A-BA0C-A421D5112FB1}"/>
              </a:ext>
            </a:extLst>
          </p:cNvPr>
          <p:cNvSpPr>
            <a:spLocks noGrp="1"/>
          </p:cNvSpPr>
          <p:nvPr/>
        </p:nvSpPr>
        <p:spPr>
          <a:xfrm>
            <a:off x="6610350" y="2647950"/>
            <a:ext cx="3714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00" b="1">
                <a:solidFill>
                  <a:srgbClr val="93C5FD"/>
                </a:solidFill>
              </a:defRPr>
            </a:pPr>
            <a:r>
              <a:rPr sz="1500" b="1">
                <a:solidFill>
                  <a:srgbClr val="93C5FD"/>
                </a:solidFill>
              </a:rPr>
              <a:t>=&gt; ping google.com</a:t>
            </a:r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8BE5BA40-09A0-41D8-AF68-C76850D8C992}"/>
              </a:ext>
            </a:extLst>
          </p:cNvPr>
          <p:cNvSpPr>
            <a:spLocks noGrp="1"/>
          </p:cNvSpPr>
          <p:nvPr/>
        </p:nvSpPr>
        <p:spPr>
          <a:xfrm>
            <a:off x="6286500" y="3390900"/>
            <a:ext cx="4286250" cy="819150"/>
          </a:xfrm>
          <a:prstGeom prst="roundRect">
            <a:avLst>
              <a:gd name="adj" fmla="val 13953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1FC56D24-2B6F-41DA-87DD-3284E6841CC4}"/>
              </a:ext>
            </a:extLst>
          </p:cNvPr>
          <p:cNvSpPr>
            <a:spLocks noGrp="1"/>
          </p:cNvSpPr>
          <p:nvPr/>
        </p:nvSpPr>
        <p:spPr>
          <a:xfrm>
            <a:off x="6610350" y="3581400"/>
            <a:ext cx="3714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00">
                <a:solidFill>
                  <a:srgbClr val="E5E7EB"/>
                </a:solidFill>
              </a:defRPr>
            </a:pPr>
            <a:r>
              <a:rPr sz="1500">
                <a:solidFill>
                  <a:srgbClr val="E5E7EB"/>
                </a:solidFill>
              </a:rPr>
              <a:t>$ docker run my-ping yahoo.com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0103952-8727-4573-BF4D-915BF8A3CAE2}"/>
              </a:ext>
            </a:extLst>
          </p:cNvPr>
          <p:cNvSpPr>
            <a:spLocks noGrp="1"/>
          </p:cNvSpPr>
          <p:nvPr/>
        </p:nvSpPr>
        <p:spPr>
          <a:xfrm>
            <a:off x="6610350" y="3905250"/>
            <a:ext cx="3714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00" b="1">
                <a:solidFill>
                  <a:srgbClr val="86EFAC"/>
                </a:solidFill>
              </a:defRPr>
            </a:pPr>
            <a:r>
              <a:rPr sz="1500" b="1">
                <a:solidFill>
                  <a:srgbClr val="86EFAC"/>
                </a:solidFill>
              </a:rPr>
              <a:t>=&gt; ping yahoo.com</a:t>
            </a:r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8DF076BE-085A-4B4D-8958-C295373310B0}"/>
              </a:ext>
            </a:extLst>
          </p:cNvPr>
          <p:cNvSpPr>
            <a:spLocks noGrp="1"/>
          </p:cNvSpPr>
          <p:nvPr/>
        </p:nvSpPr>
        <p:spPr>
          <a:xfrm>
            <a:off x="1962150" y="4953000"/>
            <a:ext cx="8267700" cy="781050"/>
          </a:xfrm>
          <a:prstGeom prst="roundRect">
            <a:avLst>
              <a:gd name="adj" fmla="val 14634"/>
            </a:avLst>
          </a:prstGeom>
          <a:solidFill>
            <a:srgbClr val="0F172A"/>
          </a:solidFill>
          <a:ln w="9525">
            <a:solidFill>
              <a:srgbClr val="47556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E9E3420-5F55-4A1D-8D12-C78A84C5DAE4}"/>
              </a:ext>
            </a:extLst>
          </p:cNvPr>
          <p:cNvSpPr>
            <a:spLocks noGrp="1"/>
          </p:cNvSpPr>
          <p:nvPr/>
        </p:nvSpPr>
        <p:spPr>
          <a:xfrm>
            <a:off x="2324100" y="5219700"/>
            <a:ext cx="7543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一句話：ENTRYPOINT 決定容器像什麼工具，CMD 提供這個工具的預設參數。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C471035E-DB62-4B03-A501-2DF6C0BF42FC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4288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D97AE55B-13E3-4E7D-B991-CFE036F4C787}"/>
              </a:ext>
            </a:extLst>
          </p:cNvPr>
          <p:cNvSpPr>
            <a:spLocks noGrp="1"/>
          </p:cNvSpPr>
          <p:nvPr/>
        </p:nvSpPr>
        <p:spPr>
          <a:xfrm>
            <a:off x="609600" y="6419850"/>
            <a:ext cx="2762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>
                <a:solidFill>
                  <a:srgbClr val="CBD5E1"/>
                </a:solidFill>
              </a:defRPr>
            </a:pPr>
            <a:r>
              <a:rPr sz="825">
                <a:solidFill>
                  <a:srgbClr val="CBD5E1"/>
                </a:solidFill>
              </a:rPr>
              <a:t>Docker 基礎教學 | 第 4 堂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0FAF5892-94CB-4824-94E3-3D7B8D47CB1D}"/>
              </a:ext>
            </a:extLst>
          </p:cNvPr>
          <p:cNvSpPr>
            <a:spLocks noGrp="1"/>
          </p:cNvSpPr>
          <p:nvPr/>
        </p:nvSpPr>
        <p:spPr>
          <a:xfrm>
            <a:off x="9810750" y="6400800"/>
            <a:ext cx="152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1">
                <a:solidFill>
                  <a:srgbClr val="CBD5E1"/>
                </a:solidFill>
              </a:defRPr>
            </a:pPr>
            <a:r>
              <a:rPr sz="900" b="1">
                <a:solidFill>
                  <a:srgbClr val="CBD5E1"/>
                </a:solidFill>
              </a:rPr>
              <a:t>CMD / ENTRYPOINT 2</a:t>
            </a:r>
          </a:p>
        </p:txBody>
      </p:sp>
    </p:spTree>
    <p:extLst>
      <p:ext uri="{BB962C8B-B14F-4D97-AF65-F5344CB8AC3E}">
        <p14:creationId xmlns:p14="http://schemas.microsoft.com/office/powerpoint/2010/main" val="187731658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843093B7-3227-41B5-AFBC-201D13ACDAC6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DEVELOPMENT WORKFLOW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E9AFDD6-4A76-4FDD-B10B-5E2C4EEC064E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2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開發環境管理：常見有兩條路</a:t>
            </a: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FB3B2462-E948-4379-A9DE-3D0833F385AC}"/>
              </a:ext>
            </a:extLst>
          </p:cNvPr>
          <p:cNvSpPr>
            <a:spLocks noGrp="1"/>
          </p:cNvSpPr>
          <p:nvPr/>
        </p:nvSpPr>
        <p:spPr>
          <a:xfrm>
            <a:off x="609600" y="1495425"/>
            <a:ext cx="4953000" cy="3152775"/>
          </a:xfrm>
          <a:prstGeom prst="roundRect">
            <a:avLst>
              <a:gd name="adj" fmla="val 8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txBody>
          <a:bodyPr lIns="228600" tIns="228600" rIns="228600" bIns="22860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Docker 派</a:t>
            </a:r>
          </a:p>
          <a:p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VS Code Dev Containers</a:t>
            </a:r>
          </a:p>
          <a:p>
            <a:pPr>
              <a:buNone/>
              <a:defRPr sz="600"/>
            </a:pPr>
            <a:endParaRPr sz="1500" b="1">
              <a:solidFill>
                <a:srgbClr val="0B1220"/>
              </a:solidFill>
              <a:latin typeface="Aptos"/>
              <a:ea typeface="Aptos"/>
              <a:cs typeface="Aptos"/>
            </a:endParaRPr>
          </a:p>
          <a:p>
            <a:pPr algn="l">
              <a:lnSpc>
                <a:spcPct val="106000"/>
              </a:lnSpc>
              <a:buNone/>
              <a:defRPr sz="125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5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把「開發用的作業系統、工具、套件」都放進容器。</a:t>
            </a:r>
          </a:p>
          <a:p>
            <a:pPr algn="l">
              <a:lnSpc>
                <a:spcPct val="106000"/>
              </a:lnSpc>
              <a:buNone/>
              <a:defRPr sz="125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5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適合團隊電腦不同、需要系統套件、想讓 VS Code 也進容器。</a:t>
            </a:r>
          </a:p>
          <a:p>
            <a:pPr algn="l">
              <a:lnSpc>
                <a:spcPct val="106000"/>
              </a:lnSpc>
              <a:buNone/>
              <a:defRPr sz="12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2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外掛名稱：Dev Containers（Microsoft）</a:t>
            </a:r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67209F59-79E5-46ED-B710-7027BE031DCA}"/>
              </a:ext>
            </a:extLst>
          </p:cNvPr>
          <p:cNvSpPr>
            <a:spLocks noGrp="1"/>
          </p:cNvSpPr>
          <p:nvPr/>
        </p:nvSpPr>
        <p:spPr>
          <a:xfrm>
            <a:off x="5791200" y="1495425"/>
            <a:ext cx="4953000" cy="3152775"/>
          </a:xfrm>
          <a:prstGeom prst="roundRect">
            <a:avLst>
              <a:gd name="adj" fmla="val 8000"/>
            </a:avLst>
          </a:prstGeom>
          <a:solidFill>
            <a:srgbClr val="EAF7EF"/>
          </a:solidFill>
          <a:ln w="9525">
            <a:solidFill>
              <a:srgbClr val="B7E4C7"/>
            </a:solidFill>
            <a:prstDash val="solid"/>
          </a:ln>
        </p:spPr>
        <p:txBody>
          <a:bodyPr lIns="228600" tIns="228600" rIns="228600" bIns="22860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087F5B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87F5B"/>
                </a:solidFill>
                <a:latin typeface="Aptos Display"/>
                <a:ea typeface="Aptos Display"/>
                <a:cs typeface="Aptos Display"/>
              </a:rPr>
              <a:t>語言工具派</a:t>
            </a:r>
          </a:p>
          <a:p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uv / Poetry / pip-tools</a:t>
            </a:r>
          </a:p>
          <a:p>
            <a:pPr>
              <a:buNone/>
              <a:defRPr sz="600"/>
            </a:pPr>
            <a:endParaRPr sz="1500" b="1">
              <a:solidFill>
                <a:srgbClr val="0B1220"/>
              </a:solidFill>
              <a:latin typeface="Aptos"/>
              <a:ea typeface="Aptos"/>
              <a:cs typeface="Aptos"/>
            </a:endParaRPr>
          </a:p>
          <a:p>
            <a:pPr algn="l">
              <a:lnSpc>
                <a:spcPct val="106000"/>
              </a:lnSpc>
              <a:buNone/>
              <a:defRPr sz="125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5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把「Python 版本、虛擬環境、套件版本」管理清楚。</a:t>
            </a:r>
          </a:p>
          <a:p>
            <a:pPr algn="l">
              <a:lnSpc>
                <a:spcPct val="106000"/>
              </a:lnSpc>
              <a:buNone/>
              <a:defRPr sz="125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5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Django / Flask 純 Python 專案很常用，啟動快、學習成本低。</a:t>
            </a:r>
          </a:p>
          <a:p>
            <a:pPr algn="l">
              <a:lnSpc>
                <a:spcPct val="106000"/>
              </a:lnSpc>
              <a:buNone/>
              <a:defRPr sz="1250" b="1">
                <a:solidFill>
                  <a:srgbClr val="087F5B"/>
                </a:solidFill>
                <a:latin typeface="Aptos"/>
                <a:ea typeface="Aptos"/>
                <a:cs typeface="Aptos"/>
              </a:defRPr>
            </a:pPr>
            <a:r>
              <a:rPr sz="1250" b="1">
                <a:solidFill>
                  <a:srgbClr val="087F5B"/>
                </a:solidFill>
                <a:latin typeface="Aptos"/>
                <a:ea typeface="Aptos"/>
                <a:cs typeface="Aptos"/>
              </a:rPr>
              <a:t>重點：lock file 讓每個人裝到同一批套件。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51131A42-A910-4CF1-9B8B-DC44CED3D57A}"/>
              </a:ext>
            </a:extLst>
          </p:cNvPr>
          <p:cNvSpPr>
            <a:spLocks noGrp="1"/>
          </p:cNvSpPr>
          <p:nvPr/>
        </p:nvSpPr>
        <p:spPr>
          <a:xfrm>
            <a:off x="1143000" y="5029200"/>
            <a:ext cx="9144000" cy="571500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0">
            <a:noFill/>
            <a:prstDash val="solid"/>
          </a:ln>
        </p:spPr>
        <p:txBody>
          <a:bodyPr lIns="152400" tIns="152400" rIns="152400" bIns="15240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4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這不是部署方式的二選一，而是「日常開發環境」怎麼管理。最後上線仍然可以打包成 Docker image。</a:t>
            </a: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2298D40E-17FC-44AE-BC2B-230F73A9316F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  <p:txBody>
          <a:bodyPr lIns="0" tIns="0" rIns="0" bIns="0" anchor="t">
            <a:normAutofit fontScale="25000" lnSpcReduction="20000"/>
          </a:bodyPr>
          <a:lstStyle/>
          <a:p>
            <a:endParaRPr/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C66E6F29-69AF-472B-AF9F-BB8BE03A8B64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B4E83581-228B-4C73-8D5C-D06752AD2D63}"/>
              </a:ext>
            </a:extLst>
          </p:cNvPr>
          <p:cNvSpPr>
            <a:spLocks noGrp="1"/>
          </p:cNvSpPr>
          <p:nvPr/>
        </p:nvSpPr>
        <p:spPr>
          <a:xfrm>
            <a:off x="10858500" y="6381750"/>
            <a:ext cx="723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DEV</a:t>
            </a:r>
          </a:p>
        </p:txBody>
      </p:sp>
    </p:spTree>
    <p:extLst>
      <p:ext uri="{BB962C8B-B14F-4D97-AF65-F5344CB8AC3E}">
        <p14:creationId xmlns:p14="http://schemas.microsoft.com/office/powerpoint/2010/main" val="75459046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B4EE934A-4CBD-446C-9D62-C4645E509043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DEVELOPMENT WORKFLOW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2CD948F-13CC-4011-9A23-C57038AF2846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2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什麼時候用 Dev Containers，什麼時候用 uv / Poetry？</a:t>
            </a: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83D0CBFB-66DF-453E-BFF1-73502C94D31B}"/>
              </a:ext>
            </a:extLst>
          </p:cNvPr>
          <p:cNvSpPr>
            <a:spLocks noGrp="1"/>
          </p:cNvSpPr>
          <p:nvPr/>
        </p:nvSpPr>
        <p:spPr>
          <a:xfrm>
            <a:off x="609600" y="1447800"/>
            <a:ext cx="342900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7DCFF"/>
            </a:solidFill>
            <a:prstDash val="solid"/>
          </a:ln>
        </p:spPr>
        <p:txBody>
          <a:bodyPr lIns="209550" tIns="209550" rIns="209550" bIns="20955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7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7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選 Dev Containers</a:t>
            </a:r>
          </a:p>
          <a:p>
            <a:pPr>
              <a:buNone/>
              <a:defRPr sz="600"/>
            </a:pPr>
            <a:endParaRPr sz="1775" b="1">
              <a:solidFill>
                <a:srgbClr val="0B5CAD"/>
              </a:solidFill>
              <a:latin typeface="Aptos Display"/>
              <a:ea typeface="Aptos Display"/>
              <a:cs typeface="Aptos Display"/>
            </a:endParaRPr>
          </a:p>
          <a:p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團隊成員的 OS 不同</a:t>
            </a:r>
          </a:p>
          <a:p>
            <a:pPr algn="l">
              <a:lnSpc>
                <a:spcPct val="106000"/>
              </a:lnSpc>
              <a:buNone/>
              <a:defRPr sz="12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需要 apt、系統函式庫或 CLI 工具</a:t>
            </a:r>
          </a:p>
          <a:p>
            <a:pPr algn="l">
              <a:lnSpc>
                <a:spcPct val="106000"/>
              </a:lnSpc>
              <a:buNone/>
              <a:defRPr sz="12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想讓 terminal / debugger 都在容器裡</a:t>
            </a:r>
          </a:p>
          <a:p>
            <a:pPr algn="l">
              <a:lnSpc>
                <a:spcPct val="106000"/>
              </a:lnSpc>
              <a:buNone/>
              <a:defRPr sz="12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想靠近 production image 的環境</a:t>
            </a:r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F427EAD4-63AD-49C6-A054-847F82034280}"/>
              </a:ext>
            </a:extLst>
          </p:cNvPr>
          <p:cNvSpPr>
            <a:spLocks noGrp="1"/>
          </p:cNvSpPr>
          <p:nvPr/>
        </p:nvSpPr>
        <p:spPr>
          <a:xfrm>
            <a:off x="4381500" y="1447800"/>
            <a:ext cx="342900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7E4C7"/>
            </a:solidFill>
            <a:prstDash val="solid"/>
          </a:ln>
        </p:spPr>
        <p:txBody>
          <a:bodyPr lIns="209550" tIns="209550" rIns="209550" bIns="20955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775" b="1">
                <a:solidFill>
                  <a:srgbClr val="087F5B"/>
                </a:solidFill>
                <a:latin typeface="Aptos Display"/>
                <a:ea typeface="Aptos Display"/>
                <a:cs typeface="Aptos Display"/>
              </a:defRPr>
            </a:pPr>
            <a:r>
              <a:rPr sz="1775" b="1">
                <a:solidFill>
                  <a:srgbClr val="087F5B"/>
                </a:solidFill>
                <a:latin typeface="Aptos Display"/>
                <a:ea typeface="Aptos Display"/>
                <a:cs typeface="Aptos Display"/>
              </a:rPr>
              <a:t>選 uv / Poetry</a:t>
            </a:r>
          </a:p>
          <a:p>
            <a:pPr>
              <a:buNone/>
              <a:defRPr sz="600"/>
            </a:pPr>
            <a:endParaRPr sz="1775" b="1">
              <a:solidFill>
                <a:srgbClr val="087F5B"/>
              </a:solidFill>
              <a:latin typeface="Aptos Display"/>
              <a:ea typeface="Aptos Display"/>
              <a:cs typeface="Aptos Display"/>
            </a:endParaRPr>
          </a:p>
          <a:p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主要問題是 Python 套件版本</a:t>
            </a:r>
          </a:p>
          <a:p>
            <a:pPr algn="l">
              <a:lnSpc>
                <a:spcPct val="106000"/>
              </a:lnSpc>
              <a:buNone/>
              <a:defRPr sz="12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本機開發就很順，不想整個 IDE 進容器</a:t>
            </a:r>
          </a:p>
          <a:p>
            <a:pPr algn="l">
              <a:lnSpc>
                <a:spcPct val="106000"/>
              </a:lnSpc>
              <a:buNone/>
              <a:defRPr sz="12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Django / Flask 專案要快速建立 venv</a:t>
            </a:r>
          </a:p>
          <a:p>
            <a:pPr algn="l">
              <a:lnSpc>
                <a:spcPct val="106000"/>
              </a:lnSpc>
              <a:buNone/>
              <a:defRPr sz="12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用 lock file 固定依賴版本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06D4AB3B-CB7C-43E8-8FBF-44CC2B680F6D}"/>
              </a:ext>
            </a:extLst>
          </p:cNvPr>
          <p:cNvSpPr>
            <a:spLocks noGrp="1"/>
          </p:cNvSpPr>
          <p:nvPr/>
        </p:nvSpPr>
        <p:spPr>
          <a:xfrm>
            <a:off x="8153400" y="1447800"/>
            <a:ext cx="3429000" cy="3048000"/>
          </a:xfrm>
          <a:prstGeom prst="roundRect">
            <a:avLst>
              <a:gd name="adj" fmla="val 8000"/>
            </a:avLst>
          </a:prstGeom>
          <a:solidFill>
            <a:srgbClr val="FFF7E6"/>
          </a:solidFill>
          <a:ln w="9525">
            <a:solidFill>
              <a:srgbClr val="FFD999"/>
            </a:solidFill>
            <a:prstDash val="solid"/>
          </a:ln>
        </p:spPr>
        <p:txBody>
          <a:bodyPr lIns="209550" tIns="209550" rIns="209550" bIns="20955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775" b="1">
                <a:solidFill>
                  <a:srgbClr val="A16207"/>
                </a:solidFill>
                <a:latin typeface="Aptos Display"/>
                <a:ea typeface="Aptos Display"/>
                <a:cs typeface="Aptos Display"/>
              </a:defRPr>
            </a:pPr>
            <a:r>
              <a:rPr sz="1775" b="1">
                <a:solidFill>
                  <a:srgbClr val="A16207"/>
                </a:solidFill>
                <a:latin typeface="Aptos Display"/>
                <a:ea typeface="Aptos Display"/>
                <a:cs typeface="Aptos Display"/>
              </a:rPr>
              <a:t>實務上可混用</a:t>
            </a:r>
          </a:p>
          <a:p>
            <a:pPr>
              <a:buNone/>
              <a:defRPr sz="600"/>
            </a:pPr>
            <a:endParaRPr sz="1775" b="1">
              <a:solidFill>
                <a:srgbClr val="A16207"/>
              </a:solidFill>
              <a:latin typeface="Aptos Display"/>
              <a:ea typeface="Aptos Display"/>
              <a:cs typeface="Aptos Display"/>
            </a:endParaRPr>
          </a:p>
          <a:p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容器管 OS 與工具</a:t>
            </a:r>
          </a:p>
          <a:p>
            <a:pPr algn="l">
              <a:lnSpc>
                <a:spcPct val="106000"/>
              </a:lnSpc>
              <a:buNone/>
              <a:defRPr sz="12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uv / Poetry 管 Python packages</a:t>
            </a:r>
          </a:p>
          <a:p>
            <a:pPr algn="l">
              <a:lnSpc>
                <a:spcPct val="106000"/>
              </a:lnSpc>
              <a:buNone/>
              <a:defRPr sz="12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Dockerfile 管部署 image</a:t>
            </a:r>
          </a:p>
          <a:p>
            <a:pPr algn="l">
              <a:lnSpc>
                <a:spcPct val="106000"/>
              </a:lnSpc>
              <a:buNone/>
              <a:defRPr sz="12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先選最能降低混亂的那一層</a:t>
            </a:r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5E02D16F-F184-428A-8CE9-B6C5342B00B3}"/>
              </a:ext>
            </a:extLst>
          </p:cNvPr>
          <p:cNvSpPr>
            <a:spLocks noGrp="1"/>
          </p:cNvSpPr>
          <p:nvPr/>
        </p:nvSpPr>
        <p:spPr>
          <a:xfrm>
            <a:off x="1143000" y="4933950"/>
            <a:ext cx="9144000" cy="628650"/>
          </a:xfrm>
          <a:prstGeom prst="roundRect">
            <a:avLst>
              <a:gd name="adj" fmla="val 8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txBody>
          <a:bodyPr lIns="152400" tIns="152400" rIns="152400" bIns="15240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4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本課程只先認識 VS Code 外掛：Dev Containers。設定檔細節等真的要把專案開進容器時再學。</a:t>
            </a: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7A6E95FD-54DC-4BD8-835C-BF1810678258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  <p:txBody>
          <a:bodyPr lIns="0" tIns="0" rIns="0" bIns="0" anchor="t">
            <a:normAutofit fontScale="25000" lnSpcReduction="20000"/>
          </a:bodyPr>
          <a:lstStyle/>
          <a:p>
            <a:endParaRPr/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7BA9B145-D86E-4B3D-B54D-24BD2F20F7BA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A8328211-942F-4420-91F7-45676D11892D}"/>
              </a:ext>
            </a:extLst>
          </p:cNvPr>
          <p:cNvSpPr>
            <a:spLocks noGrp="1"/>
          </p:cNvSpPr>
          <p:nvPr/>
        </p:nvSpPr>
        <p:spPr>
          <a:xfrm>
            <a:off x="10858500" y="6381750"/>
            <a:ext cx="723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DEV</a:t>
            </a:r>
          </a:p>
        </p:txBody>
      </p:sp>
    </p:spTree>
    <p:extLst>
      <p:ext uri="{BB962C8B-B14F-4D97-AF65-F5344CB8AC3E}">
        <p14:creationId xmlns:p14="http://schemas.microsoft.com/office/powerpoint/2010/main" val="89295637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78C492C3-A6CF-4B3D-A085-63E466DAB9DF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IMAGE PORTABILITY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90749C8-40C1-46B3-A03E-27038C3252FF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save/load 與 export/import 不一樣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518360FF-2C47-4A49-9740-E492EC02DC10}"/>
              </a:ext>
            </a:extLst>
          </p:cNvPr>
          <p:cNvSpPr>
            <a:spLocks noGrp="1"/>
          </p:cNvSpPr>
          <p:nvPr/>
        </p:nvSpPr>
        <p:spPr>
          <a:xfrm>
            <a:off x="1123950" y="1657350"/>
            <a:ext cx="4572000" cy="2476500"/>
          </a:xfrm>
          <a:prstGeom prst="roundRect">
            <a:avLst>
              <a:gd name="adj" fmla="val 4615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A09D0AF-B0F8-4D86-9AB6-9E2080B5CF1E}"/>
              </a:ext>
            </a:extLst>
          </p:cNvPr>
          <p:cNvSpPr>
            <a:spLocks noGrp="1"/>
          </p:cNvSpPr>
          <p:nvPr/>
        </p:nvSpPr>
        <p:spPr>
          <a:xfrm>
            <a:off x="1352550" y="1847850"/>
            <a:ext cx="4114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598" lnSpcReduction="10000"/>
          </a:bodyPr>
          <a:lstStyle/>
          <a:p>
            <a:pPr algn="l">
              <a:lnSpc>
                <a:spcPct val="106000"/>
              </a:lnSpc>
              <a:buNone/>
              <a:def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docker save / load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CACB10C-496F-4103-8F80-08D3D4138258}"/>
              </a:ext>
            </a:extLst>
          </p:cNvPr>
          <p:cNvSpPr>
            <a:spLocks noGrp="1"/>
          </p:cNvSpPr>
          <p:nvPr/>
        </p:nvSpPr>
        <p:spPr>
          <a:xfrm>
            <a:off x="1352550" y="2457450"/>
            <a:ext cx="4114800" cy="1485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保存 Image。</a:t>
            </a:r>
          </a:p>
          <a:p>
            <a:endParaRPr sz="1575" b="0">
              <a:solidFill>
                <a:srgbClr val="111827"/>
              </a:solidFill>
              <a:latin typeface="Aptos"/>
              <a:ea typeface="Aptos"/>
              <a:cs typeface="Aptos"/>
            </a:endParaRPr>
          </a:p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會保留 layers、tag、history。</a:t>
            </a:r>
          </a:p>
          <a:p>
            <a:endParaRPr sz="1575" b="0">
              <a:solidFill>
                <a:srgbClr val="111827"/>
              </a:solidFill>
              <a:latin typeface="Aptos"/>
              <a:ea typeface="Aptos"/>
              <a:cs typeface="Aptos"/>
            </a:endParaRPr>
          </a:p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適合把建好的 Image 搬到另一台機器。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F848DAFB-A6D2-4A44-9DE2-B002C36AF72D}"/>
              </a:ext>
            </a:extLst>
          </p:cNvPr>
          <p:cNvSpPr>
            <a:spLocks noGrp="1"/>
          </p:cNvSpPr>
          <p:nvPr/>
        </p:nvSpPr>
        <p:spPr>
          <a:xfrm>
            <a:off x="6496050" y="1657350"/>
            <a:ext cx="4572000" cy="2476500"/>
          </a:xfrm>
          <a:prstGeom prst="roundRect">
            <a:avLst>
              <a:gd name="adj" fmla="val 4615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D196765-36B3-4B88-8AAC-A9F231F540E5}"/>
              </a:ext>
            </a:extLst>
          </p:cNvPr>
          <p:cNvSpPr>
            <a:spLocks noGrp="1"/>
          </p:cNvSpPr>
          <p:nvPr/>
        </p:nvSpPr>
        <p:spPr>
          <a:xfrm>
            <a:off x="6724650" y="1847850"/>
            <a:ext cx="4114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598" lnSpcReduction="10000"/>
          </a:bodyPr>
          <a:lstStyle/>
          <a:p>
            <a:pPr algn="l">
              <a:lnSpc>
                <a:spcPct val="106000"/>
              </a:lnSpc>
              <a:buNone/>
              <a:def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docker export / import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8095700-9DD9-45D1-B7D2-289A680FD41A}"/>
              </a:ext>
            </a:extLst>
          </p:cNvPr>
          <p:cNvSpPr>
            <a:spLocks noGrp="1"/>
          </p:cNvSpPr>
          <p:nvPr/>
        </p:nvSpPr>
        <p:spPr>
          <a:xfrm>
            <a:off x="6724650" y="2457450"/>
            <a:ext cx="4114800" cy="1485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保存 Container 檔案系統。</a:t>
            </a:r>
          </a:p>
          <a:p>
            <a:endParaRPr sz="1575" b="0">
              <a:solidFill>
                <a:srgbClr val="111827"/>
              </a:solidFill>
              <a:latin typeface="Aptos"/>
              <a:ea typeface="Aptos"/>
              <a:cs typeface="Aptos"/>
            </a:endParaRPr>
          </a:p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不保留原本 Image 的 layer history。</a:t>
            </a:r>
          </a:p>
          <a:p>
            <a:endParaRPr sz="1575" b="0">
              <a:solidFill>
                <a:srgbClr val="111827"/>
              </a:solidFill>
              <a:latin typeface="Aptos"/>
              <a:ea typeface="Aptos"/>
              <a:cs typeface="Aptos"/>
            </a:endParaRPr>
          </a:p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較像把執行後的檔案系統打包。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4123C036-39F9-43CE-B4F7-878E6A426EDB}"/>
              </a:ext>
            </a:extLst>
          </p:cNvPr>
          <p:cNvSpPr>
            <a:spLocks noGrp="1"/>
          </p:cNvSpPr>
          <p:nvPr/>
        </p:nvSpPr>
        <p:spPr>
          <a:xfrm>
            <a:off x="2381250" y="4914900"/>
            <a:ext cx="7429500" cy="895350"/>
          </a:xfrm>
          <a:prstGeom prst="roundRect">
            <a:avLst>
              <a:gd name="adj" fmla="val 10638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0" name="橢圓 9">
            <a:extLst>
              <a:ext uri="{FF2B5EF4-FFF2-40B4-BE49-F238E27FC236}">
                <a16:creationId xmlns:a16="http://schemas.microsoft.com/office/drawing/2014/main" id="{C5C0D661-AFD4-4072-A60C-66A3AA559DA0}"/>
              </a:ext>
            </a:extLst>
          </p:cNvPr>
          <p:cNvSpPr>
            <a:spLocks noGrp="1"/>
          </p:cNvSpPr>
          <p:nvPr/>
        </p:nvSpPr>
        <p:spPr>
          <a:xfrm>
            <a:off x="2552700" y="50768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F6608D93-09B2-436C-AE9F-13E8BFAF90C9}"/>
              </a:ext>
            </a:extLst>
          </p:cNvPr>
          <p:cNvSpPr>
            <a:spLocks noGrp="1"/>
          </p:cNvSpPr>
          <p:nvPr/>
        </p:nvSpPr>
        <p:spPr>
          <a:xfrm>
            <a:off x="2724150" y="50768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橢圓 11">
            <a:extLst>
              <a:ext uri="{FF2B5EF4-FFF2-40B4-BE49-F238E27FC236}">
                <a16:creationId xmlns:a16="http://schemas.microsoft.com/office/drawing/2014/main" id="{6C62F00E-CB26-48B6-94B1-75A1FE4AE871}"/>
              </a:ext>
            </a:extLst>
          </p:cNvPr>
          <p:cNvSpPr>
            <a:spLocks noGrp="1"/>
          </p:cNvSpPr>
          <p:nvPr/>
        </p:nvSpPr>
        <p:spPr>
          <a:xfrm>
            <a:off x="2895600" y="50768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7E9ED1DD-464E-4156-8EC7-1E07C46CB4A9}"/>
              </a:ext>
            </a:extLst>
          </p:cNvPr>
          <p:cNvSpPr>
            <a:spLocks noGrp="1"/>
          </p:cNvSpPr>
          <p:nvPr/>
        </p:nvSpPr>
        <p:spPr>
          <a:xfrm>
            <a:off x="2590800" y="5334000"/>
            <a:ext cx="70104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0559" lnSpcReduction="20000"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save my-flask-app:v3 -o my-flask-app.tar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load -i my-flask-app.tar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AD12D4F-03D9-419B-A36B-45B38C30333D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0171904-E732-477C-845E-BD3FD8779BC9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371B497-8AFC-4797-AFD9-A4E2D1919E9E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32474467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B65BC74E-18B4-4142-AD00-6A7E3898F8C2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IMAGE PORTABILITY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DA0FA50-1335-4328-94F1-5AB5E2E12321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27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7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為什麼不直接 docker pull？</a:t>
            </a: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99AD6EE4-1531-45DD-8759-6676F0E34A68}"/>
              </a:ext>
            </a:extLst>
          </p:cNvPr>
          <p:cNvSpPr>
            <a:spLocks noGrp="1"/>
          </p:cNvSpPr>
          <p:nvPr/>
        </p:nvSpPr>
        <p:spPr>
          <a:xfrm>
            <a:off x="609600" y="1543050"/>
            <a:ext cx="2571750" cy="2533650"/>
          </a:xfrm>
          <a:prstGeom prst="roundRect">
            <a:avLst>
              <a:gd name="adj" fmla="val 8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txBody>
          <a:bodyPr lIns="190500" tIns="190500" rIns="190500" bIns="19050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1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1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平常首選</a:t>
            </a:r>
          </a:p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pull</a:t>
            </a:r>
          </a:p>
          <a:p>
            <a:pPr>
              <a:buNone/>
              <a:defRPr sz="500"/>
            </a:pPr>
            <a:endParaRPr sz="1650" b="1">
              <a:solidFill>
                <a:srgbClr val="0B1220"/>
              </a:solidFill>
              <a:latin typeface="Aptos Display"/>
              <a:ea typeface="Aptos Display"/>
              <a:cs typeface="Aptos Display"/>
            </a:endParaRPr>
          </a:p>
          <a:p>
            <a:pPr algn="ctr">
              <a:lnSpc>
                <a:spcPct val="106000"/>
              </a:lnSpc>
              <a:buNone/>
              <a:defRPr sz="115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5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有網路、有 registry，就直接 pull。這是日常開發最標準做法。</a:t>
            </a:r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4A427B25-9401-4503-8EEA-985125B14AF9}"/>
              </a:ext>
            </a:extLst>
          </p:cNvPr>
          <p:cNvSpPr>
            <a:spLocks noGrp="1"/>
          </p:cNvSpPr>
          <p:nvPr/>
        </p:nvSpPr>
        <p:spPr>
          <a:xfrm>
            <a:off x="3409950" y="1543050"/>
            <a:ext cx="2571750" cy="25336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txBody>
          <a:bodyPr lIns="190500" tIns="190500" rIns="190500" bIns="19050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150" b="1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50" b="1">
                <a:solidFill>
                  <a:srgbClr val="334155"/>
                </a:solidFill>
                <a:latin typeface="Aptos"/>
                <a:ea typeface="Aptos"/>
                <a:cs typeface="Aptos"/>
              </a:rPr>
              <a:t>封閉網路</a:t>
            </a:r>
          </a:p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不能連 Docker Hub</a:t>
            </a:r>
          </a:p>
          <a:p>
            <a:pPr>
              <a:buNone/>
              <a:defRPr sz="500"/>
            </a:pPr>
            <a:endParaRPr sz="1650" b="1">
              <a:solidFill>
                <a:srgbClr val="0B1220"/>
              </a:solidFill>
              <a:latin typeface="Aptos Display"/>
              <a:ea typeface="Aptos Display"/>
              <a:cs typeface="Aptos Display"/>
            </a:endParaRPr>
          </a:p>
          <a:p>
            <a:pPr algn="ctr">
              <a:lnSpc>
                <a:spcPct val="106000"/>
              </a:lnSpc>
              <a:buNone/>
              <a:defRPr sz="115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5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正式機、內網、客戶環境可能完全不能對外連線。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5BDE15ED-54B1-4B3D-8E6C-2FA204F7D9AF}"/>
              </a:ext>
            </a:extLst>
          </p:cNvPr>
          <p:cNvSpPr>
            <a:spLocks noGrp="1"/>
          </p:cNvSpPr>
          <p:nvPr/>
        </p:nvSpPr>
        <p:spPr>
          <a:xfrm>
            <a:off x="6210300" y="1543050"/>
            <a:ext cx="2571750" cy="25336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txBody>
          <a:bodyPr lIns="190500" tIns="190500" rIns="190500" bIns="19050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150" b="1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50" b="1">
                <a:solidFill>
                  <a:srgbClr val="334155"/>
                </a:solidFill>
                <a:latin typeface="Aptos"/>
                <a:ea typeface="Aptos"/>
                <a:cs typeface="Aptos"/>
              </a:rPr>
              <a:t>不能上傳</a:t>
            </a:r>
          </a:p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Image 不能離開公司</a:t>
            </a:r>
          </a:p>
          <a:p>
            <a:pPr>
              <a:buNone/>
              <a:defRPr sz="500"/>
            </a:pPr>
            <a:endParaRPr sz="1650" b="1">
              <a:solidFill>
                <a:srgbClr val="0B1220"/>
              </a:solidFill>
              <a:latin typeface="Aptos Display"/>
              <a:ea typeface="Aptos Display"/>
              <a:cs typeface="Aptos Display"/>
            </a:endParaRPr>
          </a:p>
          <a:p>
            <a:pPr algn="ctr">
              <a:lnSpc>
                <a:spcPct val="106000"/>
              </a:lnSpc>
              <a:buNone/>
              <a:defRPr sz="115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5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商業機密或客戶規範不允許放到外部 registry。</a:t>
            </a:r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060DCEF0-252A-4C80-ADBE-5E482872E5A9}"/>
              </a:ext>
            </a:extLst>
          </p:cNvPr>
          <p:cNvSpPr>
            <a:spLocks noGrp="1"/>
          </p:cNvSpPr>
          <p:nvPr/>
        </p:nvSpPr>
        <p:spPr>
          <a:xfrm>
            <a:off x="9010650" y="1543050"/>
            <a:ext cx="2571750" cy="2533650"/>
          </a:xfrm>
          <a:prstGeom prst="roundRect">
            <a:avLst>
              <a:gd name="adj" fmla="val 8000"/>
            </a:avLst>
          </a:prstGeom>
          <a:solidFill>
            <a:srgbClr val="FFF7E6"/>
          </a:solidFill>
          <a:ln w="9525">
            <a:solidFill>
              <a:srgbClr val="FFD999"/>
            </a:solidFill>
            <a:prstDash val="solid"/>
          </a:ln>
        </p:spPr>
        <p:txBody>
          <a:bodyPr lIns="190500" tIns="190500" rIns="190500" bIns="19050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150" b="1">
                <a:solidFill>
                  <a:srgbClr val="A16207"/>
                </a:solidFill>
                <a:latin typeface="Aptos"/>
                <a:ea typeface="Aptos"/>
                <a:cs typeface="Aptos"/>
              </a:defRPr>
            </a:pPr>
            <a:r>
              <a:rPr sz="1150" b="1">
                <a:solidFill>
                  <a:srgbClr val="A16207"/>
                </a:solidFill>
                <a:latin typeface="Aptos"/>
                <a:ea typeface="Aptos"/>
                <a:cs typeface="Aptos"/>
              </a:rPr>
              <a:t>Image 很大</a:t>
            </a:r>
          </a:p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用檔案搬比較快</a:t>
            </a:r>
          </a:p>
          <a:p>
            <a:pPr>
              <a:buNone/>
              <a:defRPr sz="500"/>
            </a:pPr>
            <a:endParaRPr sz="1650" b="1">
              <a:solidFill>
                <a:srgbClr val="0B1220"/>
              </a:solidFill>
              <a:latin typeface="Aptos Display"/>
              <a:ea typeface="Aptos Display"/>
              <a:cs typeface="Aptos Display"/>
            </a:endParaRPr>
          </a:p>
          <a:p>
            <a:pPr algn="ctr">
              <a:lnSpc>
                <a:spcPct val="106000"/>
              </a:lnSpc>
              <a:buNone/>
              <a:defRPr sz="115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5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AI / ML image 很大，內部傳檔可能比每台都 pull 更省時間。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861AF22B-49D9-46C0-8090-41BDEB40B37C}"/>
              </a:ext>
            </a:extLst>
          </p:cNvPr>
          <p:cNvSpPr>
            <a:spLocks noGrp="1"/>
          </p:cNvSpPr>
          <p:nvPr/>
        </p:nvSpPr>
        <p:spPr>
          <a:xfrm>
            <a:off x="914400" y="4552950"/>
            <a:ext cx="10210800" cy="571500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0">
            <a:noFill/>
            <a:prstDash val="solid"/>
          </a:ln>
        </p:spPr>
        <p:txBody>
          <a:bodyPr lIns="152400" tIns="152400" rIns="152400" bIns="15240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4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一句話：pull 是從 registry 下載；save / load 是把 image 變成 .tar 檔案交付。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CFF6C10D-D4C7-41BC-AF9E-DD35345A1251}"/>
              </a:ext>
            </a:extLst>
          </p:cNvPr>
          <p:cNvSpPr>
            <a:spLocks noGrp="1"/>
          </p:cNvSpPr>
          <p:nvPr/>
        </p:nvSpPr>
        <p:spPr>
          <a:xfrm>
            <a:off x="2286000" y="5264150"/>
            <a:ext cx="7478400" cy="47625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9525">
            <a:solidFill>
              <a:srgbClr val="D9E2EC"/>
            </a:solidFill>
            <a:prstDash val="solid"/>
          </a:ln>
        </p:spPr>
        <p:txBody>
          <a:bodyPr lIns="152400" tIns="152400" rIns="152400" bIns="152400" anchor="t">
            <a:normAutofit fontScale="92500" lnSpcReduction="20000"/>
          </a:bodyPr>
          <a:lstStyle/>
          <a:p>
            <a:pPr algn="ctr">
              <a:lnSpc>
                <a:spcPct val="106000"/>
              </a:lnSpc>
              <a:buNone/>
              <a:defRPr sz="1200" b="1">
                <a:solidFill>
                  <a:srgbClr val="0B1220"/>
                </a:solidFill>
                <a:latin typeface="Aptos Mono"/>
                <a:ea typeface="Aptos Mono"/>
                <a:cs typeface="Aptos Mono"/>
              </a:defRPr>
            </a:pPr>
            <a:r>
              <a:rPr sz="1200" b="1">
                <a:solidFill>
                  <a:srgbClr val="0B1220"/>
                </a:solidFill>
                <a:latin typeface="Aptos Mono"/>
                <a:ea typeface="Aptos Mono"/>
                <a:cs typeface="Aptos Mono"/>
              </a:rPr>
              <a:t>docker save -o app.tar my-flask-app:v3        docker load -i app.tar</a:t>
            </a: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97698740-2221-4571-A684-3F6D6A229C6A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  <p:txBody>
          <a:bodyPr lIns="0" tIns="0" rIns="0" bIns="0" anchor="t">
            <a:normAutofit fontScale="25000" lnSpcReduction="20000"/>
          </a:bodyPr>
          <a:lstStyle/>
          <a:p>
            <a:endParaRPr/>
          </a:p>
        </p:txBody>
      </p:sp>
      <p:sp>
        <p:nvSpPr>
          <p:cNvPr id="71" name="矩形 70">
            <a:extLst>
              <a:ext uri="{FF2B5EF4-FFF2-40B4-BE49-F238E27FC236}">
                <a16:creationId xmlns:a16="http://schemas.microsoft.com/office/drawing/2014/main" id="{67B53EEA-C984-4B31-9080-EDC6CB2D19E2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72" name="矩形 71">
            <a:extLst>
              <a:ext uri="{FF2B5EF4-FFF2-40B4-BE49-F238E27FC236}">
                <a16:creationId xmlns:a16="http://schemas.microsoft.com/office/drawing/2014/main" id="{66ECC5D1-1A45-421E-87F7-9F834A73FEEF}"/>
              </a:ext>
            </a:extLst>
          </p:cNvPr>
          <p:cNvSpPr>
            <a:spLocks noGrp="1"/>
          </p:cNvSpPr>
          <p:nvPr/>
        </p:nvSpPr>
        <p:spPr>
          <a:xfrm>
            <a:off x="10858500" y="6381750"/>
            <a:ext cx="723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PORT</a:t>
            </a:r>
          </a:p>
        </p:txBody>
      </p:sp>
    </p:spTree>
    <p:extLst>
      <p:ext uri="{BB962C8B-B14F-4D97-AF65-F5344CB8AC3E}">
        <p14:creationId xmlns:p14="http://schemas.microsoft.com/office/powerpoint/2010/main" val="941517891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91</TotalTime>
  <Words>1927</Words>
  <Application>Microsoft Macintosh PowerPoint</Application>
  <DocSecurity>0</DocSecurity>
  <PresentationFormat>寬螢幕</PresentationFormat>
  <Paragraphs>468</Paragraphs>
  <Slides>27</Slides>
  <Notes>26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27</vt:i4>
      </vt:variant>
    </vt:vector>
  </HeadingPairs>
  <TitlesOfParts>
    <vt:vector size="34" baseType="lpstr">
      <vt:lpstr>Microsoft JhengHei</vt:lpstr>
      <vt:lpstr>Aptos</vt:lpstr>
      <vt:lpstr>Aptos Display</vt:lpstr>
      <vt:lpstr>Aptos Mono</vt:lpstr>
      <vt:lpstr>Calibri</vt:lpstr>
      <vt:lpstr>Consolas</vt:lpstr>
      <vt:lpstr>ChatGPT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許哲綱</cp:lastModifiedBy>
  <cp:revision>15</cp:revision>
  <dcterms:created xsi:type="dcterms:W3CDTF">2026-06-26T16:01:52Z</dcterms:created>
  <dcterms:modified xsi:type="dcterms:W3CDTF">2026-06-26T17:44:57Z</dcterms:modified>
</cp:coreProperties>
</file>