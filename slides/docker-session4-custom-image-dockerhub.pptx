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57" r:id="rId3"/>
    <p:sldId id="258" r:id="rId4"/>
    <p:sldId id="259" r:id="rId5"/>
    <p:sldId id="318" r:id="rId6"/>
    <p:sldId id="260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317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6" r:id="rId29"/>
    <p:sldId id="287" r:id="rId30"/>
    <p:sldId id="288" r:id="rId31"/>
    <p:sldId id="319" r:id="rId32"/>
    <p:sldId id="320" r:id="rId33"/>
    <p:sldId id="321" r:id="rId34"/>
    <p:sldId id="322" r:id="rId35"/>
    <p:sldId id="282" r:id="rId36"/>
    <p:sldId id="283" r:id="rId37"/>
    <p:sldId id="284" r:id="rId38"/>
    <p:sldId id="285" r:id="rId39"/>
    <p:sldId id="289" r:id="rId40"/>
    <p:sldId id="292" r:id="rId41"/>
    <p:sldId id="293" r:id="rId42"/>
    <p:sldId id="294" r:id="rId43"/>
    <p:sldId id="295" r:id="rId44"/>
    <p:sldId id="296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9" r:id="rId56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44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1F59DAC-7E55-4518-86C6-5236E1F151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圖片 12"/>
          <p:cNvPicPr>
            <a:picLocks noChangeAspect="1"/>
          </p:cNvPicPr>
          <p:nvPr/>
        </p:nvPicPr>
        <p:blipFill>
          <a:blip r:embed="rId3"/>
          <a:srcRect l="16310" r="16310"/>
          <a:stretch>
            <a:fillRect/>
          </a:stretch>
        </p:blipFill>
        <p:spPr>
          <a:xfrm>
            <a:off x="3981450" y="0"/>
            <a:ext cx="821055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FF21FCBD-85CC-45CE-B38D-5CE2D2DEA2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4000">
                <a:srgbClr val="07111F">
                  <a:alpha val="98000"/>
                </a:srgbClr>
              </a:gs>
              <a:gs pos="64000">
                <a:srgbClr val="07111F">
                  <a:alpha val="54000"/>
                </a:srgbClr>
              </a:gs>
              <a:gs pos="100000">
                <a:srgbClr val="07111F">
                  <a:alpha val="6000"/>
                </a:srgbClr>
              </a:gs>
            </a:gsLst>
            <a:lin ang="5400000"/>
          </a:gra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33C18F6-4019-4FA7-9484-7B42A13F267C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2098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D38B2CC-F789-4BDF-A225-4E20D36AF817}"/>
              </a:ext>
            </a:extLst>
          </p:cNvPr>
          <p:cNvSpPr>
            <a:spLocks noGrp="1"/>
          </p:cNvSpPr>
          <p:nvPr/>
        </p:nvSpPr>
        <p:spPr>
          <a:xfrm>
            <a:off x="762000" y="714375"/>
            <a:ext cx="2057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第 4 堂 | Build &amp; Runtime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6DB0813-D9C1-48A8-826F-5276B4241C0D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建立自己的 Docker Image</a:t>
            </a:r>
          </a:p>
          <a:p>
            <a:r>
              <a:rPr>
                <a:latin typeface="Microsoft JhengHei"/>
              </a:rPr>
              <a:t>並推上 Docker Hub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B30E6B2-047D-4089-8753-9FC5217E9F96}"/>
              </a:ext>
            </a:extLst>
          </p:cNvPr>
          <p:cNvSpPr>
            <a:spLocks noGrp="1"/>
          </p:cNvSpPr>
          <p:nvPr/>
        </p:nvSpPr>
        <p:spPr>
          <a:xfrm>
            <a:off x="723900" y="3143250"/>
            <a:ext cx="7239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lang="zh-TW" altLang="en-US" sz="1800" b="0" dirty="0">
                <a:solidFill>
                  <a:srgbClr val="DCEBFF"/>
                </a:solidFill>
                <a:latin typeface="Aptos"/>
                <a:ea typeface="Aptos"/>
                <a:cs typeface="Aptos"/>
              </a:rPr>
              <a:t>把可重複的環境寫進 </a:t>
            </a:r>
            <a:r>
              <a:rPr lang="en-US" altLang="zh-TW" sz="1800" b="0" dirty="0" err="1">
                <a:solidFill>
                  <a:srgbClr val="DCEBFF"/>
                </a:solidFill>
                <a:latin typeface="Aptos"/>
                <a:ea typeface="Aptos"/>
                <a:cs typeface="Aptos"/>
              </a:rPr>
              <a:t>Dockerfile</a:t>
            </a:r>
            <a:r>
              <a:rPr lang="zh-TW" altLang="en-US" sz="1800" b="0" dirty="0">
                <a:solidFill>
                  <a:srgbClr val="DCEBFF"/>
                </a:solidFill>
                <a:latin typeface="Aptos"/>
                <a:ea typeface="Aptos"/>
                <a:cs typeface="Aptos"/>
              </a:rPr>
              <a:t>，並學會限制容器吃掉的資源。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6FD0DD9-D01C-4353-A9B1-6468A0399F44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7524750" cy="990600"/>
          </a:xfrm>
          <a:prstGeom prst="roundRect">
            <a:avLst>
              <a:gd name="adj" fmla="val 13462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220AF7-292E-4D9D-8E32-CBA6CD7ABDDC}"/>
              </a:ext>
            </a:extLst>
          </p:cNvPr>
          <p:cNvSpPr>
            <a:spLocks noGrp="1"/>
          </p:cNvSpPr>
          <p:nvPr/>
        </p:nvSpPr>
        <p:spPr>
          <a:xfrm>
            <a:off x="990600" y="4533900"/>
            <a:ext cx="6953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795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lang="zh-TW" altLang="en-US" sz="18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今天完成：自製 </a:t>
            </a:r>
            <a:r>
              <a:rPr lang="en-US" altLang="zh-TW" sz="18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Flask Image</a:t>
            </a:r>
            <a:r>
              <a:rPr lang="zh-TW" altLang="en-US" sz="18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、推到 </a:t>
            </a:r>
            <a:r>
              <a:rPr lang="en-US" altLang="zh-TW" sz="180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Docker Hub</a:t>
            </a:r>
            <a:endParaRPr lang="zh-TW" altLang="en-US" sz="1800" b="1" dirty="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31E5E0D-2ECA-4F44-8742-573FB0C90899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45B36D8-A47B-B3D7-55FC-7BBFA8EFFE8C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Dockerfile、映像檔優化</a:t>
            </a:r>
            <a:endParaRPr sz="40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92000"/>
              </a:lnSpc>
              <a:buNone/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與資源配置</a:t>
            </a:r>
            <a:endParaRPr sz="40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17234360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B45D5B6-3C21-4551-BDE6-54A7D0B9771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16ED0B-EB9D-4DC3-8319-A544A766EF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第四章主線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D94ADBE-45C6-4900-B984-2F835F67821A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67B760B-1B9B-4570-AB78-9E439EBCC6AD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4F80F65-7632-46EF-A2AA-FD4C83DB59E8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B60558C-D35F-43D4-88B3-3740A5B4723B}"/>
              </a:ext>
            </a:extLst>
          </p:cNvPr>
          <p:cNvSpPr>
            <a:spLocks noGrp="1"/>
          </p:cNvSpPr>
          <p:nvPr/>
        </p:nvSpPr>
        <p:spPr>
          <a:xfrm>
            <a:off x="8382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建立自己的 Image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FB7808C-668C-4943-B8BB-E9110CFBC563}"/>
              </a:ext>
            </a:extLst>
          </p:cNvPr>
          <p:cNvSpPr>
            <a:spLocks noGrp="1"/>
          </p:cNvSpPr>
          <p:nvPr/>
        </p:nvSpPr>
        <p:spPr>
          <a:xfrm>
            <a:off x="8382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從 python:3.11 base image 出發，寫出可重複 build 的 Flask Image。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0E2D89E-88FF-4B11-8C9C-28E4EBD340D3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DCE950B-2225-4AA9-A4F4-8341F994DB30}"/>
              </a:ext>
            </a:extLst>
          </p:cNvPr>
          <p:cNvSpPr>
            <a:spLocks noGrp="1"/>
          </p:cNvSpPr>
          <p:nvPr/>
        </p:nvSpPr>
        <p:spPr>
          <a:xfrm>
            <a:off x="9144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r>
              <a:rPr>
                <a:latin typeface="Microsoft JhengHei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C63D338-99EB-4100-B8EA-1689A24915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A048C454-E96B-45A7-A76A-49AC6EE8DDCE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01479C-CA18-44A3-AF86-8EE9200190B5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970283-46B4-424C-A82D-A30740CF74A9}"/>
              </a:ext>
            </a:extLst>
          </p:cNvPr>
          <p:cNvSpPr>
            <a:spLocks noGrp="1"/>
          </p:cNvSpPr>
          <p:nvPr/>
        </p:nvSpPr>
        <p:spPr>
          <a:xfrm>
            <a:off x="451485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Image 建立技巧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7915BC9-E838-4FDC-9D1B-DF9C28F4967D}"/>
              </a:ext>
            </a:extLst>
          </p:cNvPr>
          <p:cNvSpPr>
            <a:spLocks noGrp="1"/>
          </p:cNvSpPr>
          <p:nvPr/>
        </p:nvSpPr>
        <p:spPr>
          <a:xfrm>
            <a:off x="451485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理解 cache、layers、.dockerignore、tag 與測試流程。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6E5924A6-C016-467E-914F-ED624EC1E39B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D150B18-076A-4AA6-9B99-BBE810B37C75}"/>
              </a:ext>
            </a:extLst>
          </p:cNvPr>
          <p:cNvSpPr>
            <a:spLocks noGrp="1"/>
          </p:cNvSpPr>
          <p:nvPr/>
        </p:nvSpPr>
        <p:spPr>
          <a:xfrm>
            <a:off x="459105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r>
              <a:rPr>
                <a:latin typeface="Microsoft JhengHei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6E8B027-11CF-443C-895B-97B7D4E5573D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33FB78D0-B8E6-4D36-A93D-FCE1F6F29B16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821B6FB-4EB6-4167-821D-C1742E573709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4A24AE2-27BE-4E01-BF05-766123D69E34}"/>
              </a:ext>
            </a:extLst>
          </p:cNvPr>
          <p:cNvSpPr>
            <a:spLocks noGrp="1"/>
          </p:cNvSpPr>
          <p:nvPr/>
        </p:nvSpPr>
        <p:spPr>
          <a:xfrm>
            <a:off x="8191500" y="272415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發佈到 Docker Hub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194FC18-10FD-48FC-AF93-60F64A877928}"/>
              </a:ext>
            </a:extLst>
          </p:cNvPr>
          <p:cNvSpPr>
            <a:spLocks noGrp="1"/>
          </p:cNvSpPr>
          <p:nvPr/>
        </p:nvSpPr>
        <p:spPr>
          <a:xfrm>
            <a:off x="8191500" y="3219450"/>
            <a:ext cx="27432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推上 Docker Hub，讓 compose 使用自己的 app image。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21FFC934-BFE5-4E8C-8793-5D2814C84595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1C4D777-2500-47FF-9828-22C71CBB0C48}"/>
              </a:ext>
            </a:extLst>
          </p:cNvPr>
          <p:cNvSpPr>
            <a:spLocks noGrp="1"/>
          </p:cNvSpPr>
          <p:nvPr/>
        </p:nvSpPr>
        <p:spPr>
          <a:xfrm>
            <a:off x="8267700" y="4352925"/>
            <a:ext cx="1009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r>
              <a:rPr>
                <a:latin typeface="Microsoft JhengHei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FCADF91-1170-4182-BA07-AFFC575ED79C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這堂課的關鍵句：把環境做進 Image，compose 只負責啟動服務。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23C8D62-9B42-41FA-9B60-1096A6C88D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E44CBED-9FB6-4D45-9CEF-77E343D4D59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BE1DDA3-BDD2-4766-945E-5DF276EC869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661774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0D3E9783-7AAC-41B6-8539-247941A6129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CUSTOM IMAGES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257832C-518D-4C96-B0EB-0FF8CBDBF37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為什麼不要一直用 python image？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8458BCB-DC45-4CF6-90D7-97047DB37F24}"/>
              </a:ext>
            </a:extLst>
          </p:cNvPr>
          <p:cNvSpPr>
            <a:spLocks noGrp="1"/>
          </p:cNvSpPr>
          <p:nvPr/>
        </p:nvSpPr>
        <p:spPr>
          <a:xfrm>
            <a:off x="93345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019AB1A-F5F0-4489-8750-F5F56EAAED97}"/>
              </a:ext>
            </a:extLst>
          </p:cNvPr>
          <p:cNvSpPr>
            <a:spLocks noGrp="1"/>
          </p:cNvSpPr>
          <p:nvPr/>
        </p:nvSpPr>
        <p:spPr>
          <a:xfrm>
            <a:off x="116205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手動安裝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7462C7D-AC21-4280-8FA8-317856EDB2C3}"/>
              </a:ext>
            </a:extLst>
          </p:cNvPr>
          <p:cNvSpPr>
            <a:spLocks noGrp="1"/>
          </p:cNvSpPr>
          <p:nvPr/>
        </p:nvSpPr>
        <p:spPr>
          <a:xfrm>
            <a:off x="116205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進容器、apt install、pip install、複製檔案。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問題：換一台機器就要重做，容易少步驟。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298273FE-9A46-4FA9-A425-471756AD4584}"/>
              </a:ext>
            </a:extLst>
          </p:cNvPr>
          <p:cNvSpPr>
            <a:spLocks noGrp="1"/>
          </p:cNvSpPr>
          <p:nvPr/>
        </p:nvSpPr>
        <p:spPr>
          <a:xfrm>
            <a:off x="5600700" y="2647950"/>
            <a:ext cx="895350" cy="4000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20D5CE-72EE-4EC0-8239-C0EBFD23B89F}"/>
              </a:ext>
            </a:extLst>
          </p:cNvPr>
          <p:cNvSpPr>
            <a:spLocks noGrp="1"/>
          </p:cNvSpPr>
          <p:nvPr/>
        </p:nvSpPr>
        <p:spPr>
          <a:xfrm>
            <a:off x="6934200" y="1638300"/>
            <a:ext cx="428625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22E52CB-CB1E-4FD2-A88C-EF0F1081E931}"/>
              </a:ext>
            </a:extLst>
          </p:cNvPr>
          <p:cNvSpPr>
            <a:spLocks noGrp="1"/>
          </p:cNvSpPr>
          <p:nvPr/>
        </p:nvSpPr>
        <p:spPr>
          <a:xfrm>
            <a:off x="7162800" y="1828800"/>
            <a:ext cx="3829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63A157-A6FA-4DF1-AEB9-114EC1B64A4F}"/>
              </a:ext>
            </a:extLst>
          </p:cNvPr>
          <p:cNvSpPr>
            <a:spLocks noGrp="1"/>
          </p:cNvSpPr>
          <p:nvPr/>
        </p:nvSpPr>
        <p:spPr>
          <a:xfrm>
            <a:off x="7162800" y="2419350"/>
            <a:ext cx="38290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把安裝流程寫成檔案。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結果：任何人都能 docker build 出同一個 Image。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510BCBA-7548-4B46-898F-20212B69E885}"/>
              </a:ext>
            </a:extLst>
          </p:cNvPr>
          <p:cNvSpPr>
            <a:spLocks noGrp="1"/>
          </p:cNvSpPr>
          <p:nvPr/>
        </p:nvSpPr>
        <p:spPr>
          <a:xfrm>
            <a:off x="1695450" y="4762500"/>
            <a:ext cx="8801100" cy="685800"/>
          </a:xfrm>
          <a:prstGeom prst="roundRect">
            <a:avLst>
              <a:gd name="adj" fmla="val 1666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EFF5476-5321-4186-9609-E5D7F6815E0E}"/>
              </a:ext>
            </a:extLst>
          </p:cNvPr>
          <p:cNvSpPr>
            <a:spLocks noGrp="1"/>
          </p:cNvSpPr>
          <p:nvPr/>
        </p:nvSpPr>
        <p:spPr>
          <a:xfrm>
            <a:off x="2095500" y="4972050"/>
            <a:ext cx="8001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000" lnSpcReduction="20000"/>
          </a:bodyPr>
          <a:lstStyle/>
          <a:p>
            <a:r>
              <a:rPr>
                <a:latin typeface="Microsoft JhengHei"/>
              </a:rPr>
              <a:t>Dockerfile 把「安裝套件、複製程式、啟動 app」做進 Image，讓 compose 不必每次啟動才 pip install。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1A826C-F6D3-4EF9-AC2D-17BF3077A82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5825D28-F458-4B25-98EE-45C9111E7FA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BC476A-19EB-4CA4-BDB7-90B405A9DBC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1385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09D33314-FDF1-4E64-9D77-1E70FEB34E5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01AB52-AF72-42FC-B902-D76DDE1C306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Dockerfile、Image、Container 的關係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24F33F0-0EE4-4BEA-9451-89144FB5CC12}"/>
              </a:ext>
            </a:extLst>
          </p:cNvPr>
          <p:cNvSpPr>
            <a:spLocks noGrp="1"/>
          </p:cNvSpPr>
          <p:nvPr/>
        </p:nvSpPr>
        <p:spPr>
          <a:xfrm>
            <a:off x="1066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1258297-BBEE-4AE5-9BC8-8B0F31622395}"/>
              </a:ext>
            </a:extLst>
          </p:cNvPr>
          <p:cNvSpPr>
            <a:spLocks noGrp="1"/>
          </p:cNvSpPr>
          <p:nvPr/>
        </p:nvSpPr>
        <p:spPr>
          <a:xfrm>
            <a:off x="1276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9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Dockerfile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CC62E38-5156-4A13-9FEB-0089BACE80B7}"/>
              </a:ext>
            </a:extLst>
          </p:cNvPr>
          <p:cNvSpPr>
            <a:spLocks noGrp="1"/>
          </p:cNvSpPr>
          <p:nvPr/>
        </p:nvSpPr>
        <p:spPr>
          <a:xfrm>
            <a:off x="1333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建構配方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65DAA1F4-0388-463B-BF30-7EFC985F6024}"/>
              </a:ext>
            </a:extLst>
          </p:cNvPr>
          <p:cNvSpPr>
            <a:spLocks noGrp="1"/>
          </p:cNvSpPr>
          <p:nvPr/>
        </p:nvSpPr>
        <p:spPr>
          <a:xfrm>
            <a:off x="3962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37C194A-3536-4819-8608-3AE4AF785E27}"/>
              </a:ext>
            </a:extLst>
          </p:cNvPr>
          <p:cNvSpPr>
            <a:spLocks noGrp="1"/>
          </p:cNvSpPr>
          <p:nvPr/>
        </p:nvSpPr>
        <p:spPr>
          <a:xfrm>
            <a:off x="4495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4BF80D7-0D18-4912-8019-DC4BC0114BAD}"/>
              </a:ext>
            </a:extLst>
          </p:cNvPr>
          <p:cNvSpPr>
            <a:spLocks noGrp="1"/>
          </p:cNvSpPr>
          <p:nvPr/>
        </p:nvSpPr>
        <p:spPr>
          <a:xfrm>
            <a:off x="4705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9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4CEFCA-D831-4581-B0B0-FFF7E1F776E9}"/>
              </a:ext>
            </a:extLst>
          </p:cNvPr>
          <p:cNvSpPr>
            <a:spLocks noGrp="1"/>
          </p:cNvSpPr>
          <p:nvPr/>
        </p:nvSpPr>
        <p:spPr>
          <a:xfrm>
            <a:off x="4762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唯讀模板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04ACC53A-894D-489E-9229-01B11B9D99BF}"/>
              </a:ext>
            </a:extLst>
          </p:cNvPr>
          <p:cNvSpPr>
            <a:spLocks noGrp="1"/>
          </p:cNvSpPr>
          <p:nvPr/>
        </p:nvSpPr>
        <p:spPr>
          <a:xfrm>
            <a:off x="7391400" y="2857500"/>
            <a:ext cx="666750" cy="3048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38FD821-CBD8-4432-95A0-37FC20FB89B4}"/>
              </a:ext>
            </a:extLst>
          </p:cNvPr>
          <p:cNvSpPr>
            <a:spLocks noGrp="1"/>
          </p:cNvSpPr>
          <p:nvPr/>
        </p:nvSpPr>
        <p:spPr>
          <a:xfrm>
            <a:off x="7924800" y="2209800"/>
            <a:ext cx="2667000" cy="1695450"/>
          </a:xfrm>
          <a:prstGeom prst="roundRect">
            <a:avLst>
              <a:gd name="adj" fmla="val 6742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8884AFA-1B12-4A1E-8043-92A7B34479B4}"/>
              </a:ext>
            </a:extLst>
          </p:cNvPr>
          <p:cNvSpPr>
            <a:spLocks noGrp="1"/>
          </p:cNvSpPr>
          <p:nvPr/>
        </p:nvSpPr>
        <p:spPr>
          <a:xfrm>
            <a:off x="8134350" y="2571750"/>
            <a:ext cx="2247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249" lnSpcReduction="10000"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F26F9AE-C708-4E85-9F5A-25A563CDDB30}"/>
              </a:ext>
            </a:extLst>
          </p:cNvPr>
          <p:cNvSpPr>
            <a:spLocks noGrp="1"/>
          </p:cNvSpPr>
          <p:nvPr/>
        </p:nvSpPr>
        <p:spPr>
          <a:xfrm>
            <a:off x="8191500" y="3162300"/>
            <a:ext cx="2133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執行中的實例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E389383-1A16-4358-9773-FE9EE8DEB7A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E8BE77B-896E-44E8-BE7A-A26FBDABAA6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DD0D894-B4FF-4648-9F78-26269E958A4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446393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B9A6C0F-8E7C-486C-BD35-002748A996E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00" b="1" i="0" u="none" strike="noStrike" kern="1200" cap="none" spc="0" normalizeH="0" baseline="0" noProof="0">
                <a:ln>
                  <a:noFill/>
                </a:ln>
                <a:solidFill>
                  <a:srgbClr val="93C5FD"/>
                </a:solidFill>
                <a:effectLst/>
                <a:uLnTx/>
                <a:uFillTx/>
                <a:latin typeface="Aptos"/>
                <a:ea typeface="Aptos"/>
                <a:cs typeface="Aptos"/>
              </a:rPr>
              <a:t>FLASK CODE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AE04F58-495B-4DEF-AB4A-F2599B6692F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600" b="1" i="0" u="none" strike="noStrike" kern="1200" cap="none" spc="0" normalizeH="0" baseline="0" noProof="0">
                <a:ln>
                  <a:noFill/>
                </a:ln>
                <a:solidFill>
                  <a:srgbClr val="F8FAFC"/>
                </a:solidFill>
                <a:effectLst/>
                <a:uLnTx/>
                <a:uFillTx/>
                <a:latin typeface="Aptos"/>
                <a:ea typeface="Aptos"/>
                <a:cs typeface="Aptos"/>
              </a:rPr>
              <a:t>app.py：最小 Flask 網頁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07E3F61-0405-45BD-9153-4EE445C64B3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0" i="0" u="none" strike="noStrike" kern="1200" cap="none" spc="0" normalizeH="0" baseline="0" noProof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Aptos"/>
                <a:ea typeface="Aptos"/>
                <a:cs typeface="Aptos"/>
              </a:rPr>
              <a:t>第 2 堂 | 先做兩個 route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56A62EF-337C-4344-B086-927A91C007F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F1C1468-F330-4B89-9E75-9AC4D540100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2862322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# app.py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from flask import Flask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app = Flask(__name__)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Consolas"/>
              <a:ea typeface="Consolas"/>
              <a:cs typeface="Consola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@app.get("/")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def index():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    return "&lt;h1&gt;Hello Flask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Dockerfile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!&lt;/h1&gt;"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 dirty="0">
              <a:ln>
                <a:noFill/>
              </a:ln>
              <a:solidFill>
                <a:srgbClr val="E5E7EB"/>
              </a:solidFill>
              <a:effectLst/>
              <a:uLnTx/>
              <a:uFillTx/>
              <a:latin typeface="Consolas"/>
              <a:ea typeface="Consolas"/>
              <a:cs typeface="Consolas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if __name__ == "__main__":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    </a:t>
            </a:r>
            <a:r>
              <a:rPr kumimoji="0" sz="1800" b="0" i="0" u="none" strike="noStrike" kern="1200" cap="none" spc="0" normalizeH="0" baseline="0" noProof="0" dirty="0" err="1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app.run</a:t>
            </a:r>
            <a:r>
              <a:rPr kumimoji="0" sz="1800" b="0" i="0" u="none" strike="noStrike" kern="1200" cap="none" spc="0" normalizeH="0" baseline="0" noProof="0" dirty="0">
                <a:ln>
                  <a:noFill/>
                </a:ln>
                <a:solidFill>
                  <a:srgbClr val="E5E7EB"/>
                </a:solidFill>
                <a:effectLst/>
                <a:uLnTx/>
                <a:uFillTx/>
                <a:latin typeface="Consolas"/>
                <a:ea typeface="Consolas"/>
                <a:cs typeface="Consolas"/>
              </a:rPr>
              <a:t>(host="0.0.0.0",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D8454F9-6901-4A54-8E40-0CEDD1A32349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/>
                <a:ea typeface="Aptos"/>
                <a:cs typeface="Aptos"/>
              </a:rPr>
              <a:t>Docker 基礎教學 | 第 2 堂 | Flask 練習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BF33DFE-EBB4-4947-9674-BCDB00F8C9D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Aptos"/>
                <a:ea typeface="Aptos"/>
                <a:cs typeface="Aptos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458828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ABD4690-EFD3-4423-BA10-417EAD0C1DC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DOCKERFILE ANATOMY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40B62C-AF46-49D2-B92E-D6D5B620A8D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Dockerfile</a:t>
            </a:r>
            <a:r>
              <a:rPr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最小可跑版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C5D8050-55EC-4B79-BCBC-4755172B26B6}"/>
              </a:ext>
            </a:extLst>
          </p:cNvPr>
          <p:cNvSpPr>
            <a:spLocks noGrp="1"/>
          </p:cNvSpPr>
          <p:nvPr/>
        </p:nvSpPr>
        <p:spPr>
          <a:xfrm>
            <a:off x="723900" y="1447800"/>
            <a:ext cx="6286500" cy="2952750"/>
          </a:xfrm>
          <a:prstGeom prst="roundRect">
            <a:avLst>
              <a:gd name="adj" fmla="val 322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E0FABAEE-04CF-4167-B3D1-0D8A58066DE8}"/>
              </a:ext>
            </a:extLst>
          </p:cNvPr>
          <p:cNvSpPr>
            <a:spLocks noGrp="1"/>
          </p:cNvSpPr>
          <p:nvPr/>
        </p:nvSpPr>
        <p:spPr>
          <a:xfrm>
            <a:off x="8953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D6BF8E12-5F9A-4BBD-BAA3-AD2BC30137F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4A52FC2-2BEB-4181-93FC-A3759AE3B015}"/>
              </a:ext>
            </a:extLst>
          </p:cNvPr>
          <p:cNvSpPr>
            <a:spLocks noGrp="1"/>
          </p:cNvSpPr>
          <p:nvPr/>
        </p:nvSpPr>
        <p:spPr>
          <a:xfrm>
            <a:off x="12382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0097C9-C592-4AFD-92A6-CAAA6EF4DD10}"/>
              </a:ext>
            </a:extLst>
          </p:cNvPr>
          <p:cNvSpPr>
            <a:spLocks noGrp="1"/>
          </p:cNvSpPr>
          <p:nvPr/>
        </p:nvSpPr>
        <p:spPr>
          <a:xfrm>
            <a:off x="933450" y="1866900"/>
            <a:ext cx="5867400" cy="2400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</a:t>
            </a:r>
            <a:r>
              <a:rPr lang="zh-TW" altLang="en-US"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en-US" altLang="zh-TW" sz="1575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  <a:endParaRPr lang="en-US"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575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67AA4A-FEE2-415B-B93F-300E8A4B19A4}"/>
              </a:ext>
            </a:extLst>
          </p:cNvPr>
          <p:cNvSpPr>
            <a:spLocks noGrp="1"/>
          </p:cNvSpPr>
          <p:nvPr/>
        </p:nvSpPr>
        <p:spPr>
          <a:xfrm>
            <a:off x="7620000" y="14287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6D02EC6-E681-4365-9222-A99C3557B4AB}"/>
              </a:ext>
            </a:extLst>
          </p:cNvPr>
          <p:cNvSpPr>
            <a:spLocks noGrp="1"/>
          </p:cNvSpPr>
          <p:nvPr/>
        </p:nvSpPr>
        <p:spPr>
          <a:xfrm>
            <a:off x="7848600" y="15811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FROM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7C6B862-D69B-4A90-A58F-08879299CFAE}"/>
              </a:ext>
            </a:extLst>
          </p:cNvPr>
          <p:cNvSpPr>
            <a:spLocks noGrp="1"/>
          </p:cNvSpPr>
          <p:nvPr/>
        </p:nvSpPr>
        <p:spPr>
          <a:xfrm>
            <a:off x="9048750" y="15811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基礎 Image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6B7B9D9C-4C54-4A6D-B2DF-B77B31E5AFB4}"/>
              </a:ext>
            </a:extLst>
          </p:cNvPr>
          <p:cNvSpPr>
            <a:spLocks noGrp="1"/>
          </p:cNvSpPr>
          <p:nvPr/>
        </p:nvSpPr>
        <p:spPr>
          <a:xfrm>
            <a:off x="7620000" y="21145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83EA41F-ADE8-4156-9260-FC8FF3608635}"/>
              </a:ext>
            </a:extLst>
          </p:cNvPr>
          <p:cNvSpPr>
            <a:spLocks noGrp="1"/>
          </p:cNvSpPr>
          <p:nvPr/>
        </p:nvSpPr>
        <p:spPr>
          <a:xfrm>
            <a:off x="7848600" y="22669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WORKDIR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E5E2C58-DAEB-4A39-A2D5-19F2107414C4}"/>
              </a:ext>
            </a:extLst>
          </p:cNvPr>
          <p:cNvSpPr>
            <a:spLocks noGrp="1"/>
          </p:cNvSpPr>
          <p:nvPr/>
        </p:nvSpPr>
        <p:spPr>
          <a:xfrm>
            <a:off x="9048750" y="22669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容器內工作目錄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9013F53D-B450-4D5D-8936-4E262FBC9DF7}"/>
              </a:ext>
            </a:extLst>
          </p:cNvPr>
          <p:cNvSpPr>
            <a:spLocks noGrp="1"/>
          </p:cNvSpPr>
          <p:nvPr/>
        </p:nvSpPr>
        <p:spPr>
          <a:xfrm>
            <a:off x="7620000" y="28003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9CC02A8-F0F6-4E40-AC49-808B9DCFA572}"/>
              </a:ext>
            </a:extLst>
          </p:cNvPr>
          <p:cNvSpPr>
            <a:spLocks noGrp="1"/>
          </p:cNvSpPr>
          <p:nvPr/>
        </p:nvSpPr>
        <p:spPr>
          <a:xfrm>
            <a:off x="7848600" y="29527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COPY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D70B169-20F9-4F20-91B3-7459BF8F4E10}"/>
              </a:ext>
            </a:extLst>
          </p:cNvPr>
          <p:cNvSpPr>
            <a:spLocks noGrp="1"/>
          </p:cNvSpPr>
          <p:nvPr/>
        </p:nvSpPr>
        <p:spPr>
          <a:xfrm>
            <a:off x="9048750" y="29527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複製檔案到 Image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9303596-78ED-4DB2-A341-1ACAEEE27D44}"/>
              </a:ext>
            </a:extLst>
          </p:cNvPr>
          <p:cNvSpPr>
            <a:spLocks noGrp="1"/>
          </p:cNvSpPr>
          <p:nvPr/>
        </p:nvSpPr>
        <p:spPr>
          <a:xfrm>
            <a:off x="7620000" y="34861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D3EFF28-94FF-4BDE-BE37-C0C1DB87FCA1}"/>
              </a:ext>
            </a:extLst>
          </p:cNvPr>
          <p:cNvSpPr>
            <a:spLocks noGrp="1"/>
          </p:cNvSpPr>
          <p:nvPr/>
        </p:nvSpPr>
        <p:spPr>
          <a:xfrm>
            <a:off x="7848600" y="36385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RUN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FDB2138-BF22-4DC7-AB7F-EE6F6F9D2A46}"/>
              </a:ext>
            </a:extLst>
          </p:cNvPr>
          <p:cNvSpPr>
            <a:spLocks noGrp="1"/>
          </p:cNvSpPr>
          <p:nvPr/>
        </p:nvSpPr>
        <p:spPr>
          <a:xfrm>
            <a:off x="9048750" y="36385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build 時執行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CC7795EA-D145-4C30-AA89-2C135EAD6FC1}"/>
              </a:ext>
            </a:extLst>
          </p:cNvPr>
          <p:cNvSpPr>
            <a:spLocks noGrp="1"/>
          </p:cNvSpPr>
          <p:nvPr/>
        </p:nvSpPr>
        <p:spPr>
          <a:xfrm>
            <a:off x="7620000" y="4171950"/>
            <a:ext cx="3276600" cy="514350"/>
          </a:xfrm>
          <a:prstGeom prst="roundRect">
            <a:avLst>
              <a:gd name="adj" fmla="val 18519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E91228A-7D74-42DD-8B29-7E15D92251A7}"/>
              </a:ext>
            </a:extLst>
          </p:cNvPr>
          <p:cNvSpPr>
            <a:spLocks noGrp="1"/>
          </p:cNvSpPr>
          <p:nvPr/>
        </p:nvSpPr>
        <p:spPr>
          <a:xfrm>
            <a:off x="7848600" y="4324350"/>
            <a:ext cx="1047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529" lnSpcReduction="10000"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21082CD-4060-460D-B7AE-E56E7ACB6C3B}"/>
              </a:ext>
            </a:extLst>
          </p:cNvPr>
          <p:cNvSpPr>
            <a:spLocks noGrp="1"/>
          </p:cNvSpPr>
          <p:nvPr/>
        </p:nvSpPr>
        <p:spPr>
          <a:xfrm>
            <a:off x="9048750" y="4324350"/>
            <a:ext cx="1562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12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container 啟動時執行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1525738-C170-446C-B62E-796B5F86A6C3}"/>
              </a:ext>
            </a:extLst>
          </p:cNvPr>
          <p:cNvSpPr>
            <a:spLocks noGrp="1"/>
          </p:cNvSpPr>
          <p:nvPr/>
        </p:nvSpPr>
        <p:spPr>
          <a:xfrm>
            <a:off x="1809750" y="5276850"/>
            <a:ext cx="857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707"/>
          </a:bodyPr>
          <a:lstStyle/>
          <a:p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先能跑起來，再慢慢加入優化。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9F6A10E-8541-4738-8D43-A6C5957FC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D2FBF26-70F9-405B-9AF5-8323725C64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BA1F231-620E-4D01-964C-BDE357A5468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205299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906EE71-30A5-48DA-A18E-348D1C30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MAP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DA8F17-B956-4AEA-82F1-7ECFD47F669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Dockerfile 常見指令地圖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6D5EA444-587F-4213-B0F8-6AAED41A43FB}"/>
              </a:ext>
            </a:extLst>
          </p:cNvPr>
          <p:cNvSpPr>
            <a:spLocks noGrp="1"/>
          </p:cNvSpPr>
          <p:nvPr/>
        </p:nvSpPr>
        <p:spPr>
          <a:xfrm>
            <a:off x="6096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FROM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base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例：python:3.11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7145D3DE-FF4E-4861-B820-FF6D1E4D3275}"/>
              </a:ext>
            </a:extLst>
          </p:cNvPr>
          <p:cNvSpPr>
            <a:spLocks noGrp="1"/>
          </p:cNvSpPr>
          <p:nvPr/>
        </p:nvSpPr>
        <p:spPr>
          <a:xfrm>
            <a:off x="34099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設定工作目錄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後面的指令都在這裡跑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22EDE66-E9AA-44B8-BF89-F653F84A54A0}"/>
              </a:ext>
            </a:extLst>
          </p:cNvPr>
          <p:cNvSpPr>
            <a:spLocks noGrp="1"/>
          </p:cNvSpPr>
          <p:nvPr/>
        </p:nvSpPr>
        <p:spPr>
          <a:xfrm>
            <a:off x="621030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把檔案放進 image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初學先用 COPY，不急著用 ADD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A0E2469-16DB-4F4A-B83E-364BB1D16CA2}"/>
              </a:ext>
            </a:extLst>
          </p:cNvPr>
          <p:cNvSpPr>
            <a:spLocks noGrp="1"/>
          </p:cNvSpPr>
          <p:nvPr/>
        </p:nvSpPr>
        <p:spPr>
          <a:xfrm>
            <a:off x="9010650" y="15144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安裝套件、建立資料夾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1ACBDD9-146F-4425-B3FC-5A68DA820564}"/>
              </a:ext>
            </a:extLst>
          </p:cNvPr>
          <p:cNvSpPr>
            <a:spLocks noGrp="1"/>
          </p:cNvSpPr>
          <p:nvPr/>
        </p:nvSpPr>
        <p:spPr>
          <a:xfrm>
            <a:off x="6096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container 啟動時執行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通常放啟動程式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3C683526-325B-4080-B295-A42EEFF0A0AA}"/>
              </a:ext>
            </a:extLst>
          </p:cNvPr>
          <p:cNvSpPr>
            <a:spLocks noGrp="1"/>
          </p:cNvSpPr>
          <p:nvPr/>
        </p:nvSpPr>
        <p:spPr>
          <a:xfrm>
            <a:off x="34099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文件提示 port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不等於真的開 port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08723E17-3494-4826-A939-0FDC50C3080B}"/>
              </a:ext>
            </a:extLst>
          </p:cNvPr>
          <p:cNvSpPr>
            <a:spLocks noGrp="1"/>
          </p:cNvSpPr>
          <p:nvPr/>
        </p:nvSpPr>
        <p:spPr>
          <a:xfrm>
            <a:off x="621030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ENV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非機密設定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密碼、token 不放這裡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4D66626-ED07-495D-AB3E-BDDEFB9629F5}"/>
              </a:ext>
            </a:extLst>
          </p:cNvPr>
          <p:cNvSpPr>
            <a:spLocks noGrp="1"/>
          </p:cNvSpPr>
          <p:nvPr/>
        </p:nvSpPr>
        <p:spPr>
          <a:xfrm>
            <a:off x="9010650" y="2733675"/>
            <a:ext cx="2571750" cy="9715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lnSpcReduction="10000"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不用 root 跑程式</a:t>
            </a:r>
          </a:p>
          <a:p>
            <a:pPr algn="l">
              <a:lnSpc>
                <a:spcPct val="106000"/>
              </a:lnSpc>
              <a:buNone/>
              <a:defRPr sz="1050" b="0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475569"/>
                </a:solidFill>
                <a:latin typeface="Aptos"/>
                <a:ea typeface="Aptos"/>
                <a:cs typeface="Aptos"/>
              </a:rPr>
              <a:t>production 會更常看到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6E31139F-D564-4AC4-BC53-8F932FA0360D}"/>
              </a:ext>
            </a:extLst>
          </p:cNvPr>
          <p:cNvSpPr>
            <a:spLocks noGrp="1"/>
          </p:cNvSpPr>
          <p:nvPr/>
        </p:nvSpPr>
        <p:spPr>
          <a:xfrm>
            <a:off x="1143000" y="4210050"/>
            <a:ext cx="9144000" cy="6096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這堂要會讀懂前七個；USER 和 ENV 先知道用途，細節之後遇到 production 再補。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2FA5BC8-CCE4-4C28-97EA-0BF9DF07903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E29A778-8AEE-46F6-91EB-CC766E995E1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D7D1E8D-8355-4667-A11C-FCBB8FBED60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05A</a:t>
            </a:r>
          </a:p>
        </p:txBody>
      </p:sp>
    </p:spTree>
    <p:extLst>
      <p:ext uri="{BB962C8B-B14F-4D97-AF65-F5344CB8AC3E}">
        <p14:creationId xmlns:p14="http://schemas.microsoft.com/office/powerpoint/2010/main" val="15424062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7324F87-7757-4EB6-AC9B-CA159A4F2C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66EFBA-621B-4328-A40B-0B8115D93EB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RUN / CMD / EXPOSE 差異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5D1F372-0298-441B-8B68-35F45386DE10}"/>
              </a:ext>
            </a:extLst>
          </p:cNvPr>
          <p:cNvSpPr>
            <a:spLocks noGrp="1"/>
          </p:cNvSpPr>
          <p:nvPr/>
        </p:nvSpPr>
        <p:spPr>
          <a:xfrm>
            <a:off x="9144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build image 的時候跑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會產生新的 image layer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例：RUN pip install -r requirements.txt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236BD907-C81A-419A-AB21-D9424CB73594}"/>
              </a:ext>
            </a:extLst>
          </p:cNvPr>
          <p:cNvSpPr>
            <a:spLocks noGrp="1"/>
          </p:cNvSpPr>
          <p:nvPr/>
        </p:nvSpPr>
        <p:spPr>
          <a:xfrm>
            <a:off x="44958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CMD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啟動時跑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可被 docker run 後面的 command 覆蓋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例：CMD ["python", "app.py"]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C59F0C2-7FFC-44DF-9E07-E25DC99497DC}"/>
              </a:ext>
            </a:extLst>
          </p:cNvPr>
          <p:cNvSpPr>
            <a:spLocks noGrp="1"/>
          </p:cNvSpPr>
          <p:nvPr/>
        </p:nvSpPr>
        <p:spPr>
          <a:xfrm>
            <a:off x="8077200" y="1590675"/>
            <a:ext cx="3276600" cy="24765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EXPOSE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只是文件提示</a:t>
            </a:r>
          </a:p>
          <a:p>
            <a:pPr algn="ctr">
              <a:lnSpc>
                <a:spcPct val="106000"/>
              </a:lnSpc>
              <a:buNone/>
              <a:defRPr sz="1275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不會自動對外開 port</a:t>
            </a:r>
          </a:p>
          <a:p>
            <a:pPr algn="ctr">
              <a:lnSpc>
                <a:spcPct val="106000"/>
              </a:lnSpc>
              <a:buNone/>
              <a:defRPr sz="11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仍要 -p 5000:5000 或 compose ports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ABF8AE1-2C0C-44EA-9A89-5C5535D5D7D8}"/>
              </a:ext>
            </a:extLst>
          </p:cNvPr>
          <p:cNvSpPr>
            <a:spLocks noGrp="1"/>
          </p:cNvSpPr>
          <p:nvPr/>
        </p:nvSpPr>
        <p:spPr>
          <a:xfrm>
            <a:off x="990600" y="4541525"/>
            <a:ext cx="10210800" cy="62865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記法：RUN 做安裝，CMD 啟動程式，EXPOSE 留提醒。真的要開 port，要看 docker run -p 或 compose ports。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45B788F-81D4-4293-B970-4E90D7C4F16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E21DADB5-E369-4D9B-88B5-D91D0B197E0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DDC6E237-F9B1-48D0-983A-9D3081EFEECB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05B</a:t>
            </a:r>
          </a:p>
        </p:txBody>
      </p:sp>
    </p:spTree>
    <p:extLst>
      <p:ext uri="{BB962C8B-B14F-4D97-AF65-F5344CB8AC3E}">
        <p14:creationId xmlns:p14="http://schemas.microsoft.com/office/powerpoint/2010/main" val="1470951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51B097E6-FED0-457F-9945-A8F72E2E51B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8409-14E9-4E4C-A9B7-7519F2D2328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P1：從零建構自己的映像檔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7BF0F2-A7DE-4803-B2E2-740ECCB94427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56DB1F10-F17B-4622-B5B9-D96CA344F046}"/>
              </a:ext>
            </a:extLst>
          </p:cNvPr>
          <p:cNvSpPr>
            <a:spLocks noGrp="1"/>
          </p:cNvSpPr>
          <p:nvPr/>
        </p:nvSpPr>
        <p:spPr>
          <a:xfrm>
            <a:off x="1771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FF19578-9568-4C51-83C0-83E1AFC03D2C}"/>
              </a:ext>
            </a:extLst>
          </p:cNvPr>
          <p:cNvSpPr>
            <a:spLocks noGrp="1"/>
          </p:cNvSpPr>
          <p:nvPr/>
        </p:nvSpPr>
        <p:spPr>
          <a:xfrm>
            <a:off x="1771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3A7D2D-B395-4A2F-95B5-415CA266CDE1}"/>
              </a:ext>
            </a:extLst>
          </p:cNvPr>
          <p:cNvSpPr>
            <a:spLocks noGrp="1"/>
          </p:cNvSpPr>
          <p:nvPr/>
        </p:nvSpPr>
        <p:spPr>
          <a:xfrm>
            <a:off x="1009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Python 程式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077B0F1-D36A-4421-A2A0-047142E2B149}"/>
              </a:ext>
            </a:extLst>
          </p:cNvPr>
          <p:cNvSpPr>
            <a:spLocks noGrp="1"/>
          </p:cNvSpPr>
          <p:nvPr/>
        </p:nvSpPr>
        <p:spPr>
          <a:xfrm>
            <a:off x="1009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印出 Hello from my image!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D7A13F22-5285-4C1A-A91C-2DDE06D4A80E}"/>
              </a:ext>
            </a:extLst>
          </p:cNvPr>
          <p:cNvSpPr>
            <a:spLocks noGrp="1"/>
          </p:cNvSpPr>
          <p:nvPr/>
        </p:nvSpPr>
        <p:spPr>
          <a:xfrm>
            <a:off x="3657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E586875C-FF8D-4DAF-A75B-7DF235937E82}"/>
              </a:ext>
            </a:extLst>
          </p:cNvPr>
          <p:cNvSpPr>
            <a:spLocks noGrp="1"/>
          </p:cNvSpPr>
          <p:nvPr/>
        </p:nvSpPr>
        <p:spPr>
          <a:xfrm>
            <a:off x="4629150" y="2000250"/>
            <a:ext cx="533400" cy="533400"/>
          </a:xfrm>
          <a:prstGeom prst="ellipse">
            <a:avLst/>
          </a:prstGeom>
          <a:solidFill>
            <a:srgbClr val="2496ED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0163C9-09D6-4DB8-A679-0757A2B571E9}"/>
              </a:ext>
            </a:extLst>
          </p:cNvPr>
          <p:cNvSpPr>
            <a:spLocks noGrp="1"/>
          </p:cNvSpPr>
          <p:nvPr/>
        </p:nvSpPr>
        <p:spPr>
          <a:xfrm>
            <a:off x="4629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B0FE7C3-80C3-4C3B-93F2-4CAEE3DA4BF0}"/>
              </a:ext>
            </a:extLst>
          </p:cNvPr>
          <p:cNvSpPr>
            <a:spLocks noGrp="1"/>
          </p:cNvSpPr>
          <p:nvPr/>
        </p:nvSpPr>
        <p:spPr>
          <a:xfrm>
            <a:off x="3867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寫 Dockerfile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C762D4-3153-403D-8E54-B4647ACDD4E5}"/>
              </a:ext>
            </a:extLst>
          </p:cNvPr>
          <p:cNvSpPr>
            <a:spLocks noGrp="1"/>
          </p:cNvSpPr>
          <p:nvPr/>
        </p:nvSpPr>
        <p:spPr>
          <a:xfrm>
            <a:off x="3867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 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A9BC277C-E3D2-4CD3-B8A3-F9099FE1A326}"/>
              </a:ext>
            </a:extLst>
          </p:cNvPr>
          <p:cNvSpPr>
            <a:spLocks noGrp="1"/>
          </p:cNvSpPr>
          <p:nvPr/>
        </p:nvSpPr>
        <p:spPr>
          <a:xfrm>
            <a:off x="65151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0F4230C-3A3A-4218-BE59-42712C8C443C}"/>
              </a:ext>
            </a:extLst>
          </p:cNvPr>
          <p:cNvSpPr>
            <a:spLocks noGrp="1"/>
          </p:cNvSpPr>
          <p:nvPr/>
        </p:nvSpPr>
        <p:spPr>
          <a:xfrm>
            <a:off x="74866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91F1C2-8E15-48AF-BBC2-0E66DF6C12EC}"/>
              </a:ext>
            </a:extLst>
          </p:cNvPr>
          <p:cNvSpPr>
            <a:spLocks noGrp="1"/>
          </p:cNvSpPr>
          <p:nvPr/>
        </p:nvSpPr>
        <p:spPr>
          <a:xfrm>
            <a:off x="74866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2B8686E-7E86-4757-B3D2-4962D1507007}"/>
              </a:ext>
            </a:extLst>
          </p:cNvPr>
          <p:cNvSpPr>
            <a:spLocks noGrp="1"/>
          </p:cNvSpPr>
          <p:nvPr/>
        </p:nvSpPr>
        <p:spPr>
          <a:xfrm>
            <a:off x="67246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先不加優化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8A5733D-7221-4FF0-88D2-062A394B92D8}"/>
              </a:ext>
            </a:extLst>
          </p:cNvPr>
          <p:cNvSpPr>
            <a:spLocks noGrp="1"/>
          </p:cNvSpPr>
          <p:nvPr/>
        </p:nvSpPr>
        <p:spPr>
          <a:xfrm>
            <a:off x="67246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先理解每一行在做什麼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CAEC7BAA-CA52-4479-86D1-583230AA5458}"/>
              </a:ext>
            </a:extLst>
          </p:cNvPr>
          <p:cNvSpPr>
            <a:spLocks noGrp="1"/>
          </p:cNvSpPr>
          <p:nvPr/>
        </p:nvSpPr>
        <p:spPr>
          <a:xfrm>
            <a:off x="9372600" y="1714500"/>
            <a:ext cx="2476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A4B5BDE2-E06B-44A7-9F93-CCA14C6A85CB}"/>
              </a:ext>
            </a:extLst>
          </p:cNvPr>
          <p:cNvSpPr>
            <a:spLocks noGrp="1"/>
          </p:cNvSpPr>
          <p:nvPr/>
        </p:nvSpPr>
        <p:spPr>
          <a:xfrm>
            <a:off x="10344150" y="2000250"/>
            <a:ext cx="533400" cy="533400"/>
          </a:xfrm>
          <a:prstGeom prst="ellipse">
            <a:avLst/>
          </a:prstGeom>
          <a:solidFill>
            <a:srgbClr val="00A97F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28808A5-9CBB-41C7-945A-F88CC389DF93}"/>
              </a:ext>
            </a:extLst>
          </p:cNvPr>
          <p:cNvSpPr>
            <a:spLocks noGrp="1"/>
          </p:cNvSpPr>
          <p:nvPr/>
        </p:nvSpPr>
        <p:spPr>
          <a:xfrm>
            <a:off x="10344150" y="2124075"/>
            <a:ext cx="533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263" lnSpcReduction="1000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CD9F342-34AF-4578-B784-3A58B1A2B57F}"/>
              </a:ext>
            </a:extLst>
          </p:cNvPr>
          <p:cNvSpPr>
            <a:spLocks noGrp="1"/>
          </p:cNvSpPr>
          <p:nvPr/>
        </p:nvSpPr>
        <p:spPr>
          <a:xfrm>
            <a:off x="9582150" y="27813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7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/ run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4B22BEB-7983-4EAD-AC69-0AF33DECBB9F}"/>
              </a:ext>
            </a:extLst>
          </p:cNvPr>
          <p:cNvSpPr>
            <a:spLocks noGrp="1"/>
          </p:cNvSpPr>
          <p:nvPr/>
        </p:nvSpPr>
        <p:spPr>
          <a:xfrm>
            <a:off x="9582150" y="3257550"/>
            <a:ext cx="2057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114"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確認輸出，再看 docker history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B0858293-1B08-49FA-B8DA-E108E67A64AE}"/>
              </a:ext>
            </a:extLst>
          </p:cNvPr>
          <p:cNvSpPr>
            <a:spLocks noGrp="1"/>
          </p:cNvSpPr>
          <p:nvPr/>
        </p:nvSpPr>
        <p:spPr>
          <a:xfrm>
            <a:off x="2381250" y="4552950"/>
            <a:ext cx="7429500" cy="1219200"/>
          </a:xfrm>
          <a:prstGeom prst="roundRect">
            <a:avLst>
              <a:gd name="adj" fmla="val 781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EF4747DC-5E39-453F-BB2C-978AB6F75E0F}"/>
              </a:ext>
            </a:extLst>
          </p:cNvPr>
          <p:cNvSpPr>
            <a:spLocks noGrp="1"/>
          </p:cNvSpPr>
          <p:nvPr/>
        </p:nvSpPr>
        <p:spPr>
          <a:xfrm>
            <a:off x="2552700" y="4714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6D37CF11-078B-4FED-9B86-AEADD9171985}"/>
              </a:ext>
            </a:extLst>
          </p:cNvPr>
          <p:cNvSpPr>
            <a:spLocks noGrp="1"/>
          </p:cNvSpPr>
          <p:nvPr/>
        </p:nvSpPr>
        <p:spPr>
          <a:xfrm>
            <a:off x="2724150" y="4714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5A5D8591-691D-4BA0-B1A0-331235727AC3}"/>
              </a:ext>
            </a:extLst>
          </p:cNvPr>
          <p:cNvSpPr>
            <a:spLocks noGrp="1"/>
          </p:cNvSpPr>
          <p:nvPr/>
        </p:nvSpPr>
        <p:spPr>
          <a:xfrm>
            <a:off x="2895600" y="4714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467E988-2301-4CDF-A88C-6628A18BB1A2}"/>
              </a:ext>
            </a:extLst>
          </p:cNvPr>
          <p:cNvSpPr>
            <a:spLocks noGrp="1"/>
          </p:cNvSpPr>
          <p:nvPr/>
        </p:nvSpPr>
        <p:spPr>
          <a:xfrm>
            <a:off x="2590800" y="4972050"/>
            <a:ext cx="701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402" lnSpcReduction="1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my-first-image .</a:t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my-first-image</a:t>
            </a:r>
            <a:r>
              <a:rPr lang="en-US"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-p</a:t>
            </a:r>
            <a:endParaRPr sz="18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my-first-image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AED048-95C9-4CB0-A468-EA43E5F2A80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3C5082D-10C9-4A16-9E78-37A82631388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80CD6CE-19C7-41F1-8E55-1423DD4DE94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672375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5D94C558-CEFE-495D-BBA0-A5DD77D7933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LOOP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1ADADE-EF22-46BD-8E25-C4FBB3B5FB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 後要馬上 Run，確認 Image 真的能用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79B506F-79CB-45C2-A97F-956B1A5575DE}"/>
              </a:ext>
            </a:extLst>
          </p:cNvPr>
          <p:cNvSpPr>
            <a:spLocks noGrp="1"/>
          </p:cNvSpPr>
          <p:nvPr/>
        </p:nvSpPr>
        <p:spPr>
          <a:xfrm>
            <a:off x="838200" y="1504950"/>
            <a:ext cx="6096000" cy="3429000"/>
          </a:xfrm>
          <a:prstGeom prst="roundRect">
            <a:avLst>
              <a:gd name="adj" fmla="val 277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E8AE9D5-3835-473B-A3D8-FE5216227B25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3987150-AF25-410D-AF8D-C407E7367F9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01F491-A849-4F06-887A-883F8D4F6DB5}"/>
              </a:ext>
            </a:extLst>
          </p:cNvPr>
          <p:cNvSpPr>
            <a:spLocks noGrp="1"/>
          </p:cNvSpPr>
          <p:nvPr/>
        </p:nvSpPr>
        <p:spPr>
          <a:xfrm>
            <a:off x="135255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F6D624-B6C7-4CA6-808A-2DC21FE5E3A5}"/>
              </a:ext>
            </a:extLst>
          </p:cNvPr>
          <p:cNvSpPr>
            <a:spLocks noGrp="1"/>
          </p:cNvSpPr>
          <p:nvPr/>
        </p:nvSpPr>
        <p:spPr>
          <a:xfrm>
            <a:off x="1047750" y="1924050"/>
            <a:ext cx="5676900" cy="2876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 .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curl http://localhost:5000</a:t>
            </a:r>
          </a:p>
          <a:p>
            <a:endParaRPr sz="150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test-flask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C72A16D-5986-4693-BFB0-38E68E4E73BE}"/>
              </a:ext>
            </a:extLst>
          </p:cNvPr>
          <p:cNvSpPr>
            <a:spLocks noGrp="1"/>
          </p:cNvSpPr>
          <p:nvPr/>
        </p:nvSpPr>
        <p:spPr>
          <a:xfrm>
            <a:off x="7677150" y="1809750"/>
            <a:ext cx="3105150" cy="2038350"/>
          </a:xfrm>
          <a:prstGeom prst="roundRect">
            <a:avLst>
              <a:gd name="adj" fmla="val 5607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5812F8D-5852-4CCD-820A-9F2D8071DFA2}"/>
              </a:ext>
            </a:extLst>
          </p:cNvPr>
          <p:cNvSpPr>
            <a:spLocks noGrp="1"/>
          </p:cNvSpPr>
          <p:nvPr/>
        </p:nvSpPr>
        <p:spPr>
          <a:xfrm>
            <a:off x="7905750" y="2000250"/>
            <a:ext cx="2647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最小驗證循環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3E183-A1E9-44C8-B228-F38D164DCBFD}"/>
              </a:ext>
            </a:extLst>
          </p:cNvPr>
          <p:cNvSpPr>
            <a:spLocks noGrp="1"/>
          </p:cNvSpPr>
          <p:nvPr/>
        </p:nvSpPr>
        <p:spPr>
          <a:xfrm>
            <a:off x="7905750" y="2419350"/>
            <a:ext cx="26479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3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build 成功只代表 Image 被產出。</a:t>
            </a:r>
          </a:p>
          <a:p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run、logs、curl 才能確認程式在容器裡真的啟動。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A1382D95-9473-42C3-AB9F-9CFD3F95FCA9}"/>
              </a:ext>
            </a:extLst>
          </p:cNvPr>
          <p:cNvSpPr>
            <a:spLocks noGrp="1"/>
          </p:cNvSpPr>
          <p:nvPr/>
        </p:nvSpPr>
        <p:spPr>
          <a:xfrm>
            <a:off x="1962150" y="5410200"/>
            <a:ext cx="8267700" cy="457200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C3DC71-95D2-4556-9847-09F875EAF8F4}"/>
              </a:ext>
            </a:extLst>
          </p:cNvPr>
          <p:cNvSpPr>
            <a:spLocks noGrp="1"/>
          </p:cNvSpPr>
          <p:nvPr/>
        </p:nvSpPr>
        <p:spPr>
          <a:xfrm>
            <a:off x="2266950" y="554355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每次改 Dockerfile：build -&gt; run -&gt; logs -&gt; 清理測試容器。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344E7B-85DD-47F0-AEDC-23A1BB85982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AA4FE1A-A1B1-4902-AC65-8F225132BDE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B1B041E-89A0-4511-9CA1-EB423B4A00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1364085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B867030-5930-4462-8BEF-2063C1724520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8A659E-480D-4BC9-AF4A-79C16312B6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第一次優化：為什麼先 COPY requirements？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F8BA79A-68BD-42BE-B959-FB19EE8B3D99}"/>
              </a:ext>
            </a:extLst>
          </p:cNvPr>
          <p:cNvSpPr>
            <a:spLocks noGrp="1"/>
          </p:cNvSpPr>
          <p:nvPr/>
        </p:nvSpPr>
        <p:spPr>
          <a:xfrm>
            <a:off x="8191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6E1DC44-BC29-4D72-BE37-0925D4AAD40A}"/>
              </a:ext>
            </a:extLst>
          </p:cNvPr>
          <p:cNvSpPr>
            <a:spLocks noGrp="1"/>
          </p:cNvSpPr>
          <p:nvPr/>
        </p:nvSpPr>
        <p:spPr>
          <a:xfrm>
            <a:off x="10477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重建更快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CDC23-6C17-4151-809F-EE3D71FE4440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改 app.py 時，pip install 那層可重用快取。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D5A8911A-67EB-4F9F-BBD0-A121EE78F43D}"/>
              </a:ext>
            </a:extLst>
          </p:cNvPr>
          <p:cNvSpPr>
            <a:spLocks noGrp="1"/>
          </p:cNvSpPr>
          <p:nvPr/>
        </p:nvSpPr>
        <p:spPr>
          <a:xfrm>
            <a:off x="6610350" y="1504950"/>
            <a:ext cx="4762500" cy="3219450"/>
          </a:xfrm>
          <a:prstGeom prst="roundRect">
            <a:avLst>
              <a:gd name="adj" fmla="val 3550"/>
            </a:avLst>
          </a:prstGeom>
          <a:solidFill>
            <a:srgbClr val="111827"/>
          </a:solidFill>
          <a:ln w="9525">
            <a:solidFill>
              <a:srgbClr val="FB718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09A1A9-E953-4A6B-B3B5-0A623BE23E90}"/>
              </a:ext>
            </a:extLst>
          </p:cNvPr>
          <p:cNvSpPr>
            <a:spLocks noGrp="1"/>
          </p:cNvSpPr>
          <p:nvPr/>
        </p:nvSpPr>
        <p:spPr>
          <a:xfrm>
            <a:off x="6838950" y="1695450"/>
            <a:ext cx="4305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DA4AF"/>
                </a:solidFill>
                <a:latin typeface="Aptos Display"/>
                <a:ea typeface="Aptos Display"/>
                <a:cs typeface="Aptos Display"/>
              </a:rPr>
              <a:t>最小可跑版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E0E7FE4-2C0B-464F-A827-BB0B4FFD4F7A}"/>
              </a:ext>
            </a:extLst>
          </p:cNvPr>
          <p:cNvSpPr>
            <a:spLocks noGrp="1"/>
          </p:cNvSpPr>
          <p:nvPr/>
        </p:nvSpPr>
        <p:spPr>
          <a:xfrm>
            <a:off x="6838950" y="2228850"/>
            <a:ext cx="430530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COPY . .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RUN pip install ...</a:t>
            </a:r>
          </a:p>
          <a:p>
            <a:endParaRPr sz="1425" b="0">
              <a:solidFill>
                <a:srgbClr val="E2E8F0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任何檔案變更都讓快取失效，套件常常重裝。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B54871D-A33D-44DD-8298-6B515832D6CD}"/>
              </a:ext>
            </a:extLst>
          </p:cNvPr>
          <p:cNvSpPr>
            <a:spLocks noGrp="1"/>
          </p:cNvSpPr>
          <p:nvPr/>
        </p:nvSpPr>
        <p:spPr>
          <a:xfrm>
            <a:off x="1485900" y="5410200"/>
            <a:ext cx="922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這一招主要讓 build 變快，不是讓 image 變小。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F452EC-0E63-49ED-90C0-49175A8FEDA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1B0C56-5F6B-47F6-8593-234C5FBD3C8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A2C52E-B47D-4B96-8152-23BC1FAEC31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0682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015F098-BC60-441E-BD49-C48146D5F92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FFED027-BF07-42E8-B0C9-53986FF1F7BB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範例程式碼：Build cache 優化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41A7E3C-3FB6-4BCD-8583-275BAD275B70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AEE85D3E-3A9C-40EC-AF5F-B20B88242ED8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93BFF382-0EAF-4C1A-A115-8C71C583B3B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優化後的做法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        # 這層只要 requirements.txt 沒變就用快取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套件不變就不用重裝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程式碼改了只有這層會重建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最小可跑版（比較容易讓快取失效）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. .                       # 任何檔案一改，這層就失效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-r requirements.txt  # 導致套件常常重裝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560B4EB-BA6C-4D78-87E9-84FBDB95B36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D59F8B1C-AD15-48AA-8C14-15D99FDA3CD4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0710885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044AD856-0C1F-437C-B31B-2C78C9E4DF6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7B4825-5B46-4C80-A52B-0263B1A5274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是一層一層堆出來的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FA48145-2C0B-4EFB-BD29-78D5A929E69A}"/>
              </a:ext>
            </a:extLst>
          </p:cNvPr>
          <p:cNvSpPr>
            <a:spLocks noGrp="1"/>
          </p:cNvSpPr>
          <p:nvPr/>
        </p:nvSpPr>
        <p:spPr>
          <a:xfrm>
            <a:off x="3257550" y="2971800"/>
            <a:ext cx="5048250" cy="533400"/>
          </a:xfrm>
          <a:prstGeom prst="roundRect">
            <a:avLst>
              <a:gd name="adj" fmla="val 17857"/>
            </a:avLst>
          </a:prstGeom>
          <a:solidFill>
            <a:srgbClr val="E8F3FF"/>
          </a:solidFill>
          <a:ln w="11430">
            <a:solidFill>
              <a:srgbClr val="0B5CA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B0CF1BC-23F5-42AA-BF73-8B608863D008}"/>
              </a:ext>
            </a:extLst>
          </p:cNvPr>
          <p:cNvSpPr>
            <a:spLocks noGrp="1"/>
          </p:cNvSpPr>
          <p:nvPr/>
        </p:nvSpPr>
        <p:spPr>
          <a:xfrm>
            <a:off x="3638550" y="3114675"/>
            <a:ext cx="4286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CMD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885436-4F80-4DED-9C44-A9F33C48B9E4}"/>
              </a:ext>
            </a:extLst>
          </p:cNvPr>
          <p:cNvSpPr>
            <a:spLocks noGrp="1"/>
          </p:cNvSpPr>
          <p:nvPr/>
        </p:nvSpPr>
        <p:spPr>
          <a:xfrm>
            <a:off x="3086100" y="2533650"/>
            <a:ext cx="5391150" cy="533400"/>
          </a:xfrm>
          <a:prstGeom prst="roundRect">
            <a:avLst>
              <a:gd name="adj" fmla="val 17857"/>
            </a:avLst>
          </a:prstGeom>
          <a:solidFill>
            <a:srgbClr val="E7F8F2"/>
          </a:solidFill>
          <a:ln w="11430">
            <a:solidFill>
              <a:srgbClr val="04785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DAD2C27-1527-4F6D-B1BD-88A35EF55E74}"/>
              </a:ext>
            </a:extLst>
          </p:cNvPr>
          <p:cNvSpPr>
            <a:spLocks noGrp="1"/>
          </p:cNvSpPr>
          <p:nvPr/>
        </p:nvSpPr>
        <p:spPr>
          <a:xfrm>
            <a:off x="3467100" y="2676525"/>
            <a:ext cx="46291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COPY . .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B1BFDFF1-931F-4A1B-AE54-BEA64915D504}"/>
              </a:ext>
            </a:extLst>
          </p:cNvPr>
          <p:cNvSpPr>
            <a:spLocks noGrp="1"/>
          </p:cNvSpPr>
          <p:nvPr/>
        </p:nvSpPr>
        <p:spPr>
          <a:xfrm>
            <a:off x="2914650" y="2095500"/>
            <a:ext cx="5734050" cy="533400"/>
          </a:xfrm>
          <a:prstGeom prst="roundRect">
            <a:avLst>
              <a:gd name="adj" fmla="val 17857"/>
            </a:avLst>
          </a:prstGeom>
          <a:solidFill>
            <a:srgbClr val="FFF6DD"/>
          </a:solidFill>
          <a:ln w="11430">
            <a:solidFill>
              <a:srgbClr val="B45309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4C1D46E-E878-414D-A100-8914FF206D3A}"/>
              </a:ext>
            </a:extLst>
          </p:cNvPr>
          <p:cNvSpPr>
            <a:spLocks noGrp="1"/>
          </p:cNvSpPr>
          <p:nvPr/>
        </p:nvSpPr>
        <p:spPr>
          <a:xfrm>
            <a:off x="3295650" y="2238375"/>
            <a:ext cx="497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B45309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B45309"/>
                </a:solidFill>
                <a:latin typeface="Consolas"/>
                <a:ea typeface="Consolas"/>
                <a:cs typeface="Consolas"/>
              </a:rPr>
              <a:t>RUN pip install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C2EA85-57E4-4CFF-903B-44BDD92D7553}"/>
              </a:ext>
            </a:extLst>
          </p:cNvPr>
          <p:cNvSpPr>
            <a:spLocks noGrp="1"/>
          </p:cNvSpPr>
          <p:nvPr/>
        </p:nvSpPr>
        <p:spPr>
          <a:xfrm>
            <a:off x="2743200" y="1657350"/>
            <a:ext cx="6076950" cy="533400"/>
          </a:xfrm>
          <a:prstGeom prst="roundRect">
            <a:avLst>
              <a:gd name="adj" fmla="val 17857"/>
            </a:avLst>
          </a:prstGeom>
          <a:solidFill>
            <a:srgbClr val="EEF2FF"/>
          </a:solidFill>
          <a:ln w="11430">
            <a:solidFill>
              <a:srgbClr val="4F46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8E82CFB-08D8-4B88-AD3B-793E02F31D9B}"/>
              </a:ext>
            </a:extLst>
          </p:cNvPr>
          <p:cNvSpPr>
            <a:spLocks noGrp="1"/>
          </p:cNvSpPr>
          <p:nvPr/>
        </p:nvSpPr>
        <p:spPr>
          <a:xfrm>
            <a:off x="3124200" y="1800225"/>
            <a:ext cx="5314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4F46E5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4F46E5"/>
                </a:solidFill>
                <a:latin typeface="Consolas"/>
                <a:ea typeface="Consolas"/>
                <a:cs typeface="Consolas"/>
              </a:rPr>
              <a:t>COPY requirements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EC9CC07B-27A8-4CDF-ACD2-8D8345878195}"/>
              </a:ext>
            </a:extLst>
          </p:cNvPr>
          <p:cNvSpPr>
            <a:spLocks noGrp="1"/>
          </p:cNvSpPr>
          <p:nvPr/>
        </p:nvSpPr>
        <p:spPr>
          <a:xfrm>
            <a:off x="2571750" y="1219200"/>
            <a:ext cx="6419850" cy="533400"/>
          </a:xfrm>
          <a:prstGeom prst="roundRect">
            <a:avLst>
              <a:gd name="adj" fmla="val 17857"/>
            </a:avLst>
          </a:prstGeom>
          <a:solidFill>
            <a:srgbClr val="F1F5F9"/>
          </a:solidFill>
          <a:ln w="11430">
            <a:solidFill>
              <a:srgbClr val="6474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1C8388C-E58C-444D-BCC2-1041F191626F}"/>
              </a:ext>
            </a:extLst>
          </p:cNvPr>
          <p:cNvSpPr>
            <a:spLocks noGrp="1"/>
          </p:cNvSpPr>
          <p:nvPr/>
        </p:nvSpPr>
        <p:spPr>
          <a:xfrm>
            <a:off x="2952750" y="1362075"/>
            <a:ext cx="5657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64748B"/>
                </a:solidFill>
                <a:latin typeface="Consolas"/>
                <a:ea typeface="Consolas"/>
                <a:cs typeface="Consolas"/>
              </a:defRPr>
            </a:pPr>
            <a:r>
              <a:rPr sz="1500" b="1">
                <a:solidFill>
                  <a:srgbClr val="64748B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1DC8394B-38FE-435D-B89E-9AE64A0AA151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31623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DDAD5B-82BB-4154-9FFA-F2041E2FF835}"/>
              </a:ext>
            </a:extLst>
          </p:cNvPr>
          <p:cNvSpPr>
            <a:spLocks noGrp="1"/>
          </p:cNvSpPr>
          <p:nvPr/>
        </p:nvSpPr>
        <p:spPr>
          <a:xfrm>
            <a:off x="7962900" y="1905000"/>
            <a:ext cx="2705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重點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C13BA5-25C0-486A-899D-6CAE75DBD779}"/>
              </a:ext>
            </a:extLst>
          </p:cNvPr>
          <p:cNvSpPr>
            <a:spLocks noGrp="1"/>
          </p:cNvSpPr>
          <p:nvPr/>
        </p:nvSpPr>
        <p:spPr>
          <a:xfrm>
            <a:off x="7962900" y="2438400"/>
            <a:ext cx="2705100" cy="1276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每個 RUN / COPY / ADD 通常都會產生新 layer。</a:t>
            </a:r>
          </a:p>
          <a:p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上一層的內容不會因為下一層刪除檔案就真的消失。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3CF9AACF-353D-4CF3-9C41-DB8916D38D1B}"/>
              </a:ext>
            </a:extLst>
          </p:cNvPr>
          <p:cNvSpPr>
            <a:spLocks noGrp="1"/>
          </p:cNvSpPr>
          <p:nvPr/>
        </p:nvSpPr>
        <p:spPr>
          <a:xfrm>
            <a:off x="2476500" y="4914900"/>
            <a:ext cx="72390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7F3FC10E-E064-4F12-AA87-59EB25B48295}"/>
              </a:ext>
            </a:extLst>
          </p:cNvPr>
          <p:cNvSpPr>
            <a:spLocks noGrp="1"/>
          </p:cNvSpPr>
          <p:nvPr/>
        </p:nvSpPr>
        <p:spPr>
          <a:xfrm>
            <a:off x="26479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25741C5A-DE54-46E7-8B5C-0198D9650C43}"/>
              </a:ext>
            </a:extLst>
          </p:cNvPr>
          <p:cNvSpPr>
            <a:spLocks noGrp="1"/>
          </p:cNvSpPr>
          <p:nvPr/>
        </p:nvSpPr>
        <p:spPr>
          <a:xfrm>
            <a:off x="28194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CA9C513-FCE9-45DB-AC80-2D0C6885C52D}"/>
              </a:ext>
            </a:extLst>
          </p:cNvPr>
          <p:cNvSpPr>
            <a:spLocks noGrp="1"/>
          </p:cNvSpPr>
          <p:nvPr/>
        </p:nvSpPr>
        <p:spPr>
          <a:xfrm>
            <a:off x="29908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29A36C-58C8-4425-8610-74EE60A8A3E2}"/>
              </a:ext>
            </a:extLst>
          </p:cNvPr>
          <p:cNvSpPr>
            <a:spLocks noGrp="1"/>
          </p:cNvSpPr>
          <p:nvPr/>
        </p:nvSpPr>
        <p:spPr>
          <a:xfrm>
            <a:off x="2686050" y="5334000"/>
            <a:ext cx="6819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273" lnSpcReduction="2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history my-flask-app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4565A00-F9D7-45F2-8242-5D4D973CF28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11FE1E9-B358-4488-BA71-3445B6BFB54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087E3C2-43DC-4F9C-A25B-46884362D0A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722638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B431D668-0BFA-4D5D-9BA4-274EF5F9595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1A0CD9-BEA7-44BA-B04D-9D3D1BDFE1A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P2：分層比較實驗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97139DD-3CCB-4C38-AC6C-370C4183820A}"/>
              </a:ext>
            </a:extLst>
          </p:cNvPr>
          <p:cNvSpPr>
            <a:spLocks noGrp="1"/>
          </p:cNvSpPr>
          <p:nvPr/>
        </p:nvSpPr>
        <p:spPr>
          <a:xfrm>
            <a:off x="781050" y="1447800"/>
            <a:ext cx="6953250" cy="2838450"/>
          </a:xfrm>
          <a:prstGeom prst="roundRect">
            <a:avLst>
              <a:gd name="adj" fmla="val 33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0B4C138-D4D0-4758-89A5-D29C7646F180}"/>
              </a:ext>
            </a:extLst>
          </p:cNvPr>
          <p:cNvSpPr>
            <a:spLocks noGrp="1"/>
          </p:cNvSpPr>
          <p:nvPr/>
        </p:nvSpPr>
        <p:spPr>
          <a:xfrm>
            <a:off x="95250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62550006-3D51-4CDA-B9C6-39A67E45DC07}"/>
              </a:ext>
            </a:extLst>
          </p:cNvPr>
          <p:cNvSpPr>
            <a:spLocks noGrp="1"/>
          </p:cNvSpPr>
          <p:nvPr/>
        </p:nvSpPr>
        <p:spPr>
          <a:xfrm>
            <a:off x="112395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DA466D5-3E17-47B9-9532-E83D30235A74}"/>
              </a:ext>
            </a:extLst>
          </p:cNvPr>
          <p:cNvSpPr>
            <a:spLocks noGrp="1"/>
          </p:cNvSpPr>
          <p:nvPr/>
        </p:nvSpPr>
        <p:spPr>
          <a:xfrm>
            <a:off x="129540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AEAC471-8269-48EC-A614-B483C1551947}"/>
              </a:ext>
            </a:extLst>
          </p:cNvPr>
          <p:cNvSpPr>
            <a:spLocks noGrp="1"/>
          </p:cNvSpPr>
          <p:nvPr/>
        </p:nvSpPr>
        <p:spPr>
          <a:xfrm>
            <a:off x="990600" y="1866900"/>
            <a:ext cx="65341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Dockerfile.many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install -y curl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rm -rf /var/lib/apt/lists/*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Dockerfile.one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apt-get update &amp;&amp; apt-get install -y curl \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&amp;&amp; rm -rf /var/lib/apt/lists/*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58D1ADBC-D10F-4316-8DF5-0CE54CA0337C}"/>
              </a:ext>
            </a:extLst>
          </p:cNvPr>
          <p:cNvSpPr>
            <a:spLocks noGrp="1"/>
          </p:cNvSpPr>
          <p:nvPr/>
        </p:nvSpPr>
        <p:spPr>
          <a:xfrm>
            <a:off x="8191500" y="14859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FC5BBFE-1EB3-434F-871A-E6E90562D667}"/>
              </a:ext>
            </a:extLst>
          </p:cNvPr>
          <p:cNvSpPr>
            <a:spLocks noGrp="1"/>
          </p:cNvSpPr>
          <p:nvPr/>
        </p:nvSpPr>
        <p:spPr>
          <a:xfrm>
            <a:off x="8420100" y="16764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Build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DB7A1A4-F61A-424D-BED5-2CC5B19D5167}"/>
              </a:ext>
            </a:extLst>
          </p:cNvPr>
          <p:cNvSpPr>
            <a:spLocks noGrp="1"/>
          </p:cNvSpPr>
          <p:nvPr/>
        </p:nvSpPr>
        <p:spPr>
          <a:xfrm>
            <a:off x="8420100" y="19812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57" lnSpcReduction="1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build -f Dockerfile.many -t layer-many .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66EB74D-99E1-465C-97CF-7BAC00E88C47}"/>
              </a:ext>
            </a:extLst>
          </p:cNvPr>
          <p:cNvSpPr>
            <a:spLocks noGrp="1"/>
          </p:cNvSpPr>
          <p:nvPr/>
        </p:nvSpPr>
        <p:spPr>
          <a:xfrm>
            <a:off x="8191500" y="25908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090C89F-4030-476E-A602-D7EDB70AE403}"/>
              </a:ext>
            </a:extLst>
          </p:cNvPr>
          <p:cNvSpPr>
            <a:spLocks noGrp="1"/>
          </p:cNvSpPr>
          <p:nvPr/>
        </p:nvSpPr>
        <p:spPr>
          <a:xfrm>
            <a:off x="8420100" y="27813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Compare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40B7E0F-BA94-462F-BAC4-2117C7620175}"/>
              </a:ext>
            </a:extLst>
          </p:cNvPr>
          <p:cNvSpPr>
            <a:spLocks noGrp="1"/>
          </p:cNvSpPr>
          <p:nvPr/>
        </p:nvSpPr>
        <p:spPr>
          <a:xfrm>
            <a:off x="8420100" y="30861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429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images</a:t>
            </a:r>
          </a:p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 docker history layer-many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E8487C25-E264-4270-A985-9C9041A7C5DB}"/>
              </a:ext>
            </a:extLst>
          </p:cNvPr>
          <p:cNvSpPr>
            <a:spLocks noGrp="1"/>
          </p:cNvSpPr>
          <p:nvPr/>
        </p:nvSpPr>
        <p:spPr>
          <a:xfrm>
            <a:off x="8191500" y="3695700"/>
            <a:ext cx="2952750" cy="83820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7C8A83-7AD0-4861-9BEA-58F4E147C05D}"/>
              </a:ext>
            </a:extLst>
          </p:cNvPr>
          <p:cNvSpPr>
            <a:spLocks noGrp="1"/>
          </p:cNvSpPr>
          <p:nvPr/>
        </p:nvSpPr>
        <p:spPr>
          <a:xfrm>
            <a:off x="8420100" y="3886200"/>
            <a:ext cx="2495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Discuss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980B51B-766D-408A-B95D-A0FD7ECD420C}"/>
              </a:ext>
            </a:extLst>
          </p:cNvPr>
          <p:cNvSpPr>
            <a:spLocks noGrp="1"/>
          </p:cNvSpPr>
          <p:nvPr/>
        </p:nvSpPr>
        <p:spPr>
          <a:xfrm>
            <a:off x="8420100" y="4191000"/>
            <a:ext cx="24955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357" lnSpcReduction="1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哪個層數少？哪個更容易留下暫存檔？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8128EFE0-C61F-4175-8D03-242DCCE89F1E}"/>
              </a:ext>
            </a:extLst>
          </p:cNvPr>
          <p:cNvSpPr>
            <a:spLocks noGrp="1"/>
          </p:cNvSpPr>
          <p:nvPr/>
        </p:nvSpPr>
        <p:spPr>
          <a:xfrm>
            <a:off x="1809750" y="5105400"/>
            <a:ext cx="8572500" cy="476250"/>
          </a:xfrm>
          <a:prstGeom prst="roundRect">
            <a:avLst>
              <a:gd name="adj" fmla="val 2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9E0CE8C-718E-4716-99C0-3C38239FDCD4}"/>
              </a:ext>
            </a:extLst>
          </p:cNvPr>
          <p:cNvSpPr>
            <a:spLocks noGrp="1"/>
          </p:cNvSpPr>
          <p:nvPr/>
        </p:nvSpPr>
        <p:spPr>
          <a:xfrm>
            <a:off x="2133600" y="5238750"/>
            <a:ext cx="7924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完成標準：能用 docker images 與 docker history 說出大小與層數差異。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29E54248-E453-45D3-90CC-AB033B8CF52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F87536C-4949-4DA3-B4C3-254D2D500D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970DAEB-3C1D-4368-8778-90E68A0B6B1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8805230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6DACAD2-8668-4D93-8167-EE3D5AEEA92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OPTIMIZATION PLAYBOOK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C5E6A40-D612-4FD9-9DC7-FA834F5D758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優化：先分清楚問題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91155B2-FE4A-412A-BBAC-08BA32D569C8}"/>
              </a:ext>
            </a:extLst>
          </p:cNvPr>
          <p:cNvSpPr>
            <a:spLocks noGrp="1"/>
          </p:cNvSpPr>
          <p:nvPr/>
        </p:nvSpPr>
        <p:spPr>
          <a:xfrm>
            <a:off x="12192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5C386C-E6DA-4BE6-A1A2-13D8D8B54AD9}"/>
              </a:ext>
            </a:extLst>
          </p:cNvPr>
          <p:cNvSpPr>
            <a:spLocks noGrp="1"/>
          </p:cNvSpPr>
          <p:nvPr/>
        </p:nvSpPr>
        <p:spPr>
          <a:xfrm>
            <a:off x="14478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Base 變小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291D219-7D45-49A8-AB46-04A071733CCF}"/>
              </a:ext>
            </a:extLst>
          </p:cNvPr>
          <p:cNvSpPr>
            <a:spLocks noGrp="1"/>
          </p:cNvSpPr>
          <p:nvPr/>
        </p:nvSpPr>
        <p:spPr>
          <a:xfrm>
            <a:off x="14478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選 python:3.11-slim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基礎 Image 比較小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9A858C12-B794-44E1-BC5D-8D8D323BD4B9}"/>
              </a:ext>
            </a:extLst>
          </p:cNvPr>
          <p:cNvSpPr>
            <a:spLocks noGrp="1"/>
          </p:cNvSpPr>
          <p:nvPr/>
        </p:nvSpPr>
        <p:spPr>
          <a:xfrm>
            <a:off x="6705600" y="169545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793DCAF-2BB2-4AFC-8AD0-A026265BDB01}"/>
              </a:ext>
            </a:extLst>
          </p:cNvPr>
          <p:cNvSpPr>
            <a:spLocks noGrp="1"/>
          </p:cNvSpPr>
          <p:nvPr/>
        </p:nvSpPr>
        <p:spPr>
          <a:xfrm>
            <a:off x="6934200" y="188595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Build 變快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F52C55F-927C-4C4C-9068-3A19D8BBA3FA}"/>
              </a:ext>
            </a:extLst>
          </p:cNvPr>
          <p:cNvSpPr>
            <a:spLocks noGrp="1"/>
          </p:cNvSpPr>
          <p:nvPr/>
        </p:nvSpPr>
        <p:spPr>
          <a:xfrm>
            <a:off x="6934200" y="241935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先 COPY requirements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重用 pip install 那一層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576C8F64-E981-49F6-A4C6-36A66BF8BDB6}"/>
              </a:ext>
            </a:extLst>
          </p:cNvPr>
          <p:cNvSpPr>
            <a:spLocks noGrp="1"/>
          </p:cNvSpPr>
          <p:nvPr/>
        </p:nvSpPr>
        <p:spPr>
          <a:xfrm>
            <a:off x="12192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7E7F9DF-23E7-4549-AA23-E610D78D5B78}"/>
              </a:ext>
            </a:extLst>
          </p:cNvPr>
          <p:cNvSpPr>
            <a:spLocks noGrp="1"/>
          </p:cNvSpPr>
          <p:nvPr/>
        </p:nvSpPr>
        <p:spPr>
          <a:xfrm>
            <a:off x="14478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pip cache 變少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EB53CE-D254-4D1C-A22E-EB7EFD79794E}"/>
              </a:ext>
            </a:extLst>
          </p:cNvPr>
          <p:cNvSpPr>
            <a:spLocks noGrp="1"/>
          </p:cNvSpPr>
          <p:nvPr/>
        </p:nvSpPr>
        <p:spPr>
          <a:xfrm>
            <a:off x="14478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--no-cache-dir 不留下載快取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2EA463F-4D20-4287-A421-A87ABE978BDB}"/>
              </a:ext>
            </a:extLst>
          </p:cNvPr>
          <p:cNvSpPr>
            <a:spLocks noGrp="1"/>
          </p:cNvSpPr>
          <p:nvPr/>
        </p:nvSpPr>
        <p:spPr>
          <a:xfrm>
            <a:off x="6705600" y="3733800"/>
            <a:ext cx="4267200" cy="142875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47E74F-D3B7-485D-BE8A-39D3CBA561A1}"/>
              </a:ext>
            </a:extLst>
          </p:cNvPr>
          <p:cNvSpPr>
            <a:spLocks noGrp="1"/>
          </p:cNvSpPr>
          <p:nvPr/>
        </p:nvSpPr>
        <p:spPr>
          <a:xfrm>
            <a:off x="6934200" y="3924300"/>
            <a:ext cx="3810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更乾淨安全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223C4-D8CA-4CA2-A7A6-FAE3D494AD30}"/>
              </a:ext>
            </a:extLst>
          </p:cNvPr>
          <p:cNvSpPr>
            <a:spLocks noGrp="1"/>
          </p:cNvSpPr>
          <p:nvPr/>
        </p:nvSpPr>
        <p:spPr>
          <a:xfrm>
            <a:off x="6934200" y="4457700"/>
            <a:ext cx="3810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.dockerignore 排除不需要檔案</a:t>
            </a: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非 root 執行，不把 secret 寫進 Image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BCA6D42-7521-4807-922E-CBD5F145600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63AAB70-419F-4894-8364-2154EB853C5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29ACEA-1C9F-46B8-8C27-59047CA2249B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552483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54E3BE8-9E5E-41FA-BB76-AA6432450C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7D28DD9-404C-463E-8969-961239C6E22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2：CMD / ENTRYPOINT / 非 root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21FD307-11F1-49B4-A922-BD0963295981}"/>
              </a:ext>
            </a:extLst>
          </p:cNvPr>
          <p:cNvSpPr>
            <a:spLocks noGrp="1"/>
          </p:cNvSpPr>
          <p:nvPr/>
        </p:nvSpPr>
        <p:spPr>
          <a:xfrm>
            <a:off x="8191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76155C7-88AD-417C-B46B-6DD54351287B}"/>
              </a:ext>
            </a:extLst>
          </p:cNvPr>
          <p:cNvSpPr>
            <a:spLocks noGrp="1"/>
          </p:cNvSpPr>
          <p:nvPr/>
        </p:nvSpPr>
        <p:spPr>
          <a:xfrm>
            <a:off x="10477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Q2：CMD vs ENTRYPOINT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783BF36-675C-4731-8FF8-AF6725EE0FB1}"/>
              </a:ext>
            </a:extLst>
          </p:cNvPr>
          <p:cNvSpPr>
            <a:spLocks noGrp="1"/>
          </p:cNvSpPr>
          <p:nvPr/>
        </p:nvSpPr>
        <p:spPr>
          <a:xfrm>
            <a:off x="10477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CMD 可以被 docker run 後面的參數覆蓋。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ENTRYPOINT 通常保留主程式，參數附加在後面。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EA3BCD75-A62F-4263-BBD1-207709B7B429}"/>
              </a:ext>
            </a:extLst>
          </p:cNvPr>
          <p:cNvSpPr>
            <a:spLocks noGrp="1"/>
          </p:cNvSpPr>
          <p:nvPr/>
        </p:nvSpPr>
        <p:spPr>
          <a:xfrm>
            <a:off x="6419850" y="1562100"/>
            <a:ext cx="4953000" cy="2381250"/>
          </a:xfrm>
          <a:prstGeom prst="roundRect">
            <a:avLst>
              <a:gd name="adj" fmla="val 48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EE017A-5670-49BB-83DA-0C6F4EC22D78}"/>
              </a:ext>
            </a:extLst>
          </p:cNvPr>
          <p:cNvSpPr>
            <a:spLocks noGrp="1"/>
          </p:cNvSpPr>
          <p:nvPr/>
        </p:nvSpPr>
        <p:spPr>
          <a:xfrm>
            <a:off x="6648450" y="1752600"/>
            <a:ext cx="4495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Q3：為什麼不要 root？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CEB187F-1F26-487B-BACC-69549471DCCF}"/>
              </a:ext>
            </a:extLst>
          </p:cNvPr>
          <p:cNvSpPr>
            <a:spLocks noGrp="1"/>
          </p:cNvSpPr>
          <p:nvPr/>
        </p:nvSpPr>
        <p:spPr>
          <a:xfrm>
            <a:off x="6648450" y="2362200"/>
            <a:ext cx="4495800" cy="1390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容器被入侵時，root 權限會放大風險。</a:t>
            </a:r>
          </a:p>
          <a:p>
            <a:endParaRPr sz="1575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改用非 root user 是降低攻擊面的基本防線。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E69317C-19E4-4035-A2A3-8C811342855A}"/>
              </a:ext>
            </a:extLst>
          </p:cNvPr>
          <p:cNvSpPr>
            <a:spLocks noGrp="1"/>
          </p:cNvSpPr>
          <p:nvPr/>
        </p:nvSpPr>
        <p:spPr>
          <a:xfrm>
            <a:off x="2857500" y="4705350"/>
            <a:ext cx="64770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5DC94EA-129E-4D56-A3F9-33D5252D95AA}"/>
              </a:ext>
            </a:extLst>
          </p:cNvPr>
          <p:cNvSpPr>
            <a:spLocks noGrp="1"/>
          </p:cNvSpPr>
          <p:nvPr/>
        </p:nvSpPr>
        <p:spPr>
          <a:xfrm>
            <a:off x="3028950" y="4867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9D2509BA-F7BE-48DD-B946-077F7B917C83}"/>
              </a:ext>
            </a:extLst>
          </p:cNvPr>
          <p:cNvSpPr>
            <a:spLocks noGrp="1"/>
          </p:cNvSpPr>
          <p:nvPr/>
        </p:nvSpPr>
        <p:spPr>
          <a:xfrm>
            <a:off x="3200400" y="4867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B9C87776-C511-47D6-98C9-6F65710169C1}"/>
              </a:ext>
            </a:extLst>
          </p:cNvPr>
          <p:cNvSpPr>
            <a:spLocks noGrp="1"/>
          </p:cNvSpPr>
          <p:nvPr/>
        </p:nvSpPr>
        <p:spPr>
          <a:xfrm>
            <a:off x="3371850" y="4867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10731B1-7576-45C9-8F76-9EEDC223D2DD}"/>
              </a:ext>
            </a:extLst>
          </p:cNvPr>
          <p:cNvSpPr>
            <a:spLocks noGrp="1"/>
          </p:cNvSpPr>
          <p:nvPr/>
        </p:nvSpPr>
        <p:spPr>
          <a:xfrm>
            <a:off x="3067050" y="5124450"/>
            <a:ext cx="6057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209" lnSpcReduction="2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3D604DD-8260-4B62-8FDE-C1AAD243687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0A4F1E-87BF-4C1B-B3F7-3469F888FFE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2E8284-0EC2-44E9-BE16-60A4AF59C0A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080247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DOCKERFILE BEHAVIOR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CMD vs ENTRYPOINT：誰會被 docker run 覆蓋？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CMD：預設指令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使用者在 docker run 後面補指令時，整個 CMD 會被取代。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ENTRYPOINT：固定主程式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使用者補的內容通常會接在 ENTRYPOINT 後面，變成參數。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 bash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真的要換掉 ENTRYPOINT，可以用 --entrypoint；新手先記住：CMD 容易被取代，ENTRYPOINT 比較固定。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1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230D268-1A45-4EAB-B8C3-978F0176BD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46435F-713C-4BFB-8CF7-F64FAC0F5D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DOCKER RUN COMMAND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02230D-32A0-40D1-A345-6248F189D7EB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不加 sh/bash vs 結尾加 sh/bash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AD4939C-7775-4AE5-9EDF-C7AA19B798B8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900B08E6-3D17-48AC-B82C-3E0D7F2E4D56}"/>
              </a:ext>
            </a:extLst>
          </p:cNvPr>
          <p:cNvSpPr>
            <a:spLocks noGrp="1"/>
          </p:cNvSpPr>
          <p:nvPr/>
        </p:nvSpPr>
        <p:spPr>
          <a:xfrm>
            <a:off x="6381750" y="1695450"/>
            <a:ext cx="5048250" cy="2952750"/>
          </a:xfrm>
          <a:prstGeom prst="roundRect">
            <a:avLst>
              <a:gd name="adj" fmla="val 3871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F8A6635-8265-45C3-A483-0860CE52BC39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93C5FD"/>
                </a:solidFill>
              </a:defRPr>
            </a:pPr>
            <a:r>
              <a:rPr sz="1950" b="1">
                <a:solidFill>
                  <a:srgbClr val="93C5FD"/>
                </a:solidFill>
              </a:rPr>
              <a:t>不補指令：跑預設 CMD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ED2816-4224-441C-A59A-2718D65B713F}"/>
              </a:ext>
            </a:extLst>
          </p:cNvPr>
          <p:cNvSpPr>
            <a:spLocks noGrp="1"/>
          </p:cNvSpPr>
          <p:nvPr/>
        </p:nvSpPr>
        <p:spPr>
          <a:xfrm>
            <a:off x="102870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Dockerfile 的 CMD 會在 container 啟動時執行。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91BB24C-1DE9-4243-91B9-838B8C08A756}"/>
              </a:ext>
            </a:extLst>
          </p:cNvPr>
          <p:cNvSpPr>
            <a:spLocks noGrp="1"/>
          </p:cNvSpPr>
          <p:nvPr/>
        </p:nvSpPr>
        <p:spPr>
          <a:xfrm>
            <a:off x="102870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F7D58BC-452B-4DDD-B9F2-B36B6263D592}"/>
              </a:ext>
            </a:extLst>
          </p:cNvPr>
          <p:cNvSpPr>
            <a:spLocks noGrp="1"/>
          </p:cNvSpPr>
          <p:nvPr/>
        </p:nvSpPr>
        <p:spPr>
          <a:xfrm>
            <a:off x="123825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python app.py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57BBED-35BC-4909-B3B3-CC8A7DCB5882}"/>
              </a:ext>
            </a:extLst>
          </p:cNvPr>
          <p:cNvSpPr>
            <a:spLocks noGrp="1"/>
          </p:cNvSpPr>
          <p:nvPr/>
        </p:nvSpPr>
        <p:spPr>
          <a:xfrm>
            <a:off x="6648450" y="1943100"/>
            <a:ext cx="45148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結尾加 sh/bash：覆蓋 CMD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B69BC4F-0FD8-4A53-9F9A-6FFC2C062F2A}"/>
              </a:ext>
            </a:extLst>
          </p:cNvPr>
          <p:cNvSpPr>
            <a:spLocks noGrp="1"/>
          </p:cNvSpPr>
          <p:nvPr/>
        </p:nvSpPr>
        <p:spPr>
          <a:xfrm>
            <a:off x="6648450" y="2419350"/>
            <a:ext cx="451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2E8F0"/>
                </a:solidFill>
              </a:defRPr>
            </a:pPr>
            <a:r>
              <a:rPr sz="1350">
                <a:solidFill>
                  <a:srgbClr val="E2E8F0"/>
                </a:solidFill>
              </a:rPr>
              <a:t>docker run 後面補的指令會取代整個 CMD。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F18840B-74F1-407B-969A-0A1E49A8961D}"/>
              </a:ext>
            </a:extLst>
          </p:cNvPr>
          <p:cNvSpPr>
            <a:spLocks noGrp="1"/>
          </p:cNvSpPr>
          <p:nvPr/>
        </p:nvSpPr>
        <p:spPr>
          <a:xfrm>
            <a:off x="6648450" y="3143250"/>
            <a:ext cx="4514850" cy="1219200"/>
          </a:xfrm>
          <a:prstGeom prst="roundRect">
            <a:avLst>
              <a:gd name="adj" fmla="val 93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424678F-5DB3-4528-9E56-B9763162097B}"/>
              </a:ext>
            </a:extLst>
          </p:cNvPr>
          <p:cNvSpPr>
            <a:spLocks noGrp="1"/>
          </p:cNvSpPr>
          <p:nvPr/>
        </p:nvSpPr>
        <p:spPr>
          <a:xfrm>
            <a:off x="6858000" y="3314700"/>
            <a:ext cx="40957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["python", "app.py"]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$ docker run my-app bash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=&gt; bash（服務不會啟動）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F851357A-852D-473B-B5D3-02DDCB6E1267}"/>
              </a:ext>
            </a:extLst>
          </p:cNvPr>
          <p:cNvSpPr>
            <a:spLocks noGrp="1"/>
          </p:cNvSpPr>
          <p:nvPr/>
        </p:nvSpPr>
        <p:spPr>
          <a:xfrm>
            <a:off x="2000250" y="50101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60E5D2C-00A1-4DF3-B70A-85B9DAAB1C4D}"/>
              </a:ext>
            </a:extLst>
          </p:cNvPr>
          <p:cNvSpPr>
            <a:spLocks noGrp="1"/>
          </p:cNvSpPr>
          <p:nvPr/>
        </p:nvSpPr>
        <p:spPr>
          <a:xfrm>
            <a:off x="2362200" y="5219700"/>
            <a:ext cx="7467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>
                <a:solidFill>
                  <a:srgbClr val="E5E7EB"/>
                </a:solidFill>
              </a:defRPr>
            </a:pPr>
            <a:r>
              <a:rPr sz="1350">
                <a:solidFill>
                  <a:srgbClr val="E5E7EB"/>
                </a:solidFill>
              </a:rPr>
              <a:t>第二章回扣：docker run nginx sh 是只開 shell；docker exec -it nginx-life sh 是進入已在跑的 nginx，服務仍在。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03793AB-ECD2-4773-82CD-FB618C15AE5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C37016-0280-4EFC-A098-EC30CEA5138A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BA89AC2-B8C3-4C58-87F1-78D58BBE6137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覆蓋小觀念</a:t>
            </a:r>
          </a:p>
        </p:txBody>
      </p:sp>
    </p:spTree>
    <p:extLst>
      <p:ext uri="{BB962C8B-B14F-4D97-AF65-F5344CB8AC3E}">
        <p14:creationId xmlns:p14="http://schemas.microsoft.com/office/powerpoint/2010/main" val="10014926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418A3494-4B9D-4BED-BAA7-9CC08735050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220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0DCE9B-AB07-43D4-9AB4-67DB818AD10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00" b="1">
                <a:solidFill>
                  <a:srgbClr val="A5B4FC"/>
                </a:solidFill>
              </a:defRPr>
            </a:pPr>
            <a:r>
              <a:rPr sz="900" b="1">
                <a:solidFill>
                  <a:srgbClr val="A5B4FC"/>
                </a:solidFill>
              </a:rPr>
              <a:t>BEST PRACTICE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470020-12EF-4C85-A0CD-4ADF38CC6BF7}"/>
              </a:ext>
            </a:extLst>
          </p:cNvPr>
          <p:cNvSpPr>
            <a:spLocks noGrp="1"/>
          </p:cNvSpPr>
          <p:nvPr/>
        </p:nvSpPr>
        <p:spPr>
          <a:xfrm>
            <a:off x="609600" y="781050"/>
            <a:ext cx="10668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實戰組合：ENTRYPOINT 放工具，CMD 放預設參數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427EE0-4D2F-47AD-94BB-4A827634A4BF}"/>
              </a:ext>
            </a:extLst>
          </p:cNvPr>
          <p:cNvSpPr>
            <a:spLocks noGrp="1"/>
          </p:cNvSpPr>
          <p:nvPr/>
        </p:nvSpPr>
        <p:spPr>
          <a:xfrm>
            <a:off x="857250" y="1524000"/>
            <a:ext cx="10477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2E8F0"/>
                </a:solidFill>
              </a:defRPr>
            </a:pPr>
            <a:r>
              <a:rPr sz="1500">
                <a:solidFill>
                  <a:srgbClr val="E2E8F0"/>
                </a:solidFill>
              </a:rPr>
              <a:t>把固定不變的主程式放在 ENTRYPOINT，把可以被使用者替換的預設目標放在 CMD。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12552BAF-1E7B-4805-BB0B-CA6A36C4AD47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4762500" cy="2000250"/>
          </a:xfrm>
          <a:prstGeom prst="roundRect">
            <a:avLst>
              <a:gd name="adj" fmla="val 571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2354283-B5F9-4D4A-9855-3BE475F3E0F3}"/>
              </a:ext>
            </a:extLst>
          </p:cNvPr>
          <p:cNvSpPr>
            <a:spLocks noGrp="1"/>
          </p:cNvSpPr>
          <p:nvPr/>
        </p:nvSpPr>
        <p:spPr>
          <a:xfrm>
            <a:off x="1066800" y="2381250"/>
            <a:ext cx="434340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一定會執行的主程式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ENTRYPOINT ["ping"]</a:t>
            </a:r>
          </a:p>
          <a:p>
            <a:endParaRPr sz="1275">
              <a:solidFill>
                <a:srgbClr val="E5E7EB"/>
              </a:solidFill>
            </a:endParaRP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# 預設參數，可以被 docker run 後面的內容取代</a:t>
            </a:r>
          </a:p>
          <a:p>
            <a:pPr>
              <a:buNone/>
              <a:defRPr sz="1275">
                <a:solidFill>
                  <a:srgbClr val="E5E7EB"/>
                </a:solidFill>
              </a:defRPr>
            </a:pPr>
            <a:r>
              <a:rPr sz="1275">
                <a:solidFill>
                  <a:srgbClr val="E5E7EB"/>
                </a:solidFill>
              </a:rPr>
              <a:t>CMD ["google.com"]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8A91E4C-4114-4E8B-AC40-0B23BA38E6EA}"/>
              </a:ext>
            </a:extLst>
          </p:cNvPr>
          <p:cNvSpPr>
            <a:spLocks noGrp="1"/>
          </p:cNvSpPr>
          <p:nvPr/>
        </p:nvSpPr>
        <p:spPr>
          <a:xfrm>
            <a:off x="6286500" y="21336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599016E-7451-420C-9B6E-8316E1C7C41F}"/>
              </a:ext>
            </a:extLst>
          </p:cNvPr>
          <p:cNvSpPr>
            <a:spLocks noGrp="1"/>
          </p:cNvSpPr>
          <p:nvPr/>
        </p:nvSpPr>
        <p:spPr>
          <a:xfrm>
            <a:off x="6610350" y="23241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A1EE215-5779-404A-BA0C-A421D5112FB1}"/>
              </a:ext>
            </a:extLst>
          </p:cNvPr>
          <p:cNvSpPr>
            <a:spLocks noGrp="1"/>
          </p:cNvSpPr>
          <p:nvPr/>
        </p:nvSpPr>
        <p:spPr>
          <a:xfrm>
            <a:off x="6610350" y="26479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93C5FD"/>
                </a:solidFill>
              </a:defRPr>
            </a:pPr>
            <a:r>
              <a:rPr sz="1500" b="1">
                <a:solidFill>
                  <a:srgbClr val="93C5FD"/>
                </a:solidFill>
              </a:rPr>
              <a:t>=&gt; ping google.com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BE5BA40-09A0-41D8-AF68-C76850D8C992}"/>
              </a:ext>
            </a:extLst>
          </p:cNvPr>
          <p:cNvSpPr>
            <a:spLocks noGrp="1"/>
          </p:cNvSpPr>
          <p:nvPr/>
        </p:nvSpPr>
        <p:spPr>
          <a:xfrm>
            <a:off x="6286500" y="3390900"/>
            <a:ext cx="4286250" cy="819150"/>
          </a:xfrm>
          <a:prstGeom prst="roundRect">
            <a:avLst>
              <a:gd name="adj" fmla="val 13953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FC56D24-2B6F-41DA-87DD-3284E6841CC4}"/>
              </a:ext>
            </a:extLst>
          </p:cNvPr>
          <p:cNvSpPr>
            <a:spLocks noGrp="1"/>
          </p:cNvSpPr>
          <p:nvPr/>
        </p:nvSpPr>
        <p:spPr>
          <a:xfrm>
            <a:off x="6610350" y="358140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E5E7EB"/>
                </a:solidFill>
              </a:defRPr>
            </a:pPr>
            <a:r>
              <a:rPr sz="1500">
                <a:solidFill>
                  <a:srgbClr val="E5E7EB"/>
                </a:solidFill>
              </a:rPr>
              <a:t>$ docker run my-ping yahoo.com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0103952-8727-4573-BF4D-915BF8A3CAE2}"/>
              </a:ext>
            </a:extLst>
          </p:cNvPr>
          <p:cNvSpPr>
            <a:spLocks noGrp="1"/>
          </p:cNvSpPr>
          <p:nvPr/>
        </p:nvSpPr>
        <p:spPr>
          <a:xfrm>
            <a:off x="6610350" y="3905250"/>
            <a:ext cx="3714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 b="1">
                <a:solidFill>
                  <a:srgbClr val="86EFAC"/>
                </a:solidFill>
              </a:defRPr>
            </a:pPr>
            <a:r>
              <a:rPr sz="1500" b="1">
                <a:solidFill>
                  <a:srgbClr val="86EFAC"/>
                </a:solidFill>
              </a:rPr>
              <a:t>=&gt; ping yahoo.com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DF076BE-085A-4B4D-8958-C295373310B0}"/>
              </a:ext>
            </a:extLst>
          </p:cNvPr>
          <p:cNvSpPr>
            <a:spLocks noGrp="1"/>
          </p:cNvSpPr>
          <p:nvPr/>
        </p:nvSpPr>
        <p:spPr>
          <a:xfrm>
            <a:off x="1962150" y="4953000"/>
            <a:ext cx="8267700" cy="781050"/>
          </a:xfrm>
          <a:prstGeom prst="roundRect">
            <a:avLst>
              <a:gd name="adj" fmla="val 14634"/>
            </a:avLst>
          </a:prstGeom>
          <a:solidFill>
            <a:srgbClr val="0F172A"/>
          </a:solidFill>
          <a:ln w="9525">
            <a:solidFill>
              <a:srgbClr val="47556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9E3420-5F55-4A1D-8D12-C78A84C5DAE4}"/>
              </a:ext>
            </a:extLst>
          </p:cNvPr>
          <p:cNvSpPr>
            <a:spLocks noGrp="1"/>
          </p:cNvSpPr>
          <p:nvPr/>
        </p:nvSpPr>
        <p:spPr>
          <a:xfrm>
            <a:off x="2324100" y="5219700"/>
            <a:ext cx="7543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一句話：ENTRYPOINT 決定容器像什麼工具，CMD 提供這個工具的預設參數。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471035E-DB62-4B03-A501-2DF6C0BF42F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4288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7AE55B-13E3-4E7D-B991-CFE036F4C787}"/>
              </a:ext>
            </a:extLst>
          </p:cNvPr>
          <p:cNvSpPr>
            <a:spLocks noGrp="1"/>
          </p:cNvSpPr>
          <p:nvPr/>
        </p:nvSpPr>
        <p:spPr>
          <a:xfrm>
            <a:off x="609600" y="6419850"/>
            <a:ext cx="27622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>
                <a:solidFill>
                  <a:srgbClr val="CBD5E1"/>
                </a:solidFill>
              </a:defRPr>
            </a:pPr>
            <a:r>
              <a:rPr sz="825">
                <a:solidFill>
                  <a:srgbClr val="CBD5E1"/>
                </a:solidFill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AF5892-94CB-4824-94E3-3D7B8D47CB1D}"/>
              </a:ext>
            </a:extLst>
          </p:cNvPr>
          <p:cNvSpPr>
            <a:spLocks noGrp="1"/>
          </p:cNvSpPr>
          <p:nvPr/>
        </p:nvSpPr>
        <p:spPr>
          <a:xfrm>
            <a:off x="9810750" y="64008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CBD5E1"/>
                </a:solidFill>
              </a:defRPr>
            </a:pPr>
            <a:r>
              <a:rPr sz="900" b="1">
                <a:solidFill>
                  <a:srgbClr val="CBD5E1"/>
                </a:solidFill>
              </a:rPr>
              <a:t>CMD / ENTRYPOINT 2</a:t>
            </a:r>
          </a:p>
        </p:txBody>
      </p:sp>
    </p:spTree>
    <p:extLst>
      <p:ext uri="{BB962C8B-B14F-4D97-AF65-F5344CB8AC3E}">
        <p14:creationId xmlns:p14="http://schemas.microsoft.com/office/powerpoint/2010/main" val="1877316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8A01B379-ACD6-469F-A810-5396BA630C9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OPTIMIZED DOCKERFILE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13E6233-77DE-4E65-A551-D52B379B7EA5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第二次優化：讓 Image 更小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2C0173D-B556-4B59-B3AB-C1FFA20B502E}"/>
              </a:ext>
            </a:extLst>
          </p:cNvPr>
          <p:cNvSpPr>
            <a:spLocks noGrp="1"/>
          </p:cNvSpPr>
          <p:nvPr/>
        </p:nvSpPr>
        <p:spPr>
          <a:xfrm>
            <a:off x="723900" y="1314450"/>
            <a:ext cx="6572250" cy="4457700"/>
          </a:xfrm>
          <a:prstGeom prst="roundRect">
            <a:avLst>
              <a:gd name="adj" fmla="val 213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36C0D78-C989-4A7C-B07F-AEC930ACEF99}"/>
              </a:ext>
            </a:extLst>
          </p:cNvPr>
          <p:cNvSpPr>
            <a:spLocks noGrp="1"/>
          </p:cNvSpPr>
          <p:nvPr/>
        </p:nvSpPr>
        <p:spPr>
          <a:xfrm>
            <a:off x="895350" y="1476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94CA4FD-BBF3-4811-9759-2EAC55232E0B}"/>
              </a:ext>
            </a:extLst>
          </p:cNvPr>
          <p:cNvSpPr>
            <a:spLocks noGrp="1"/>
          </p:cNvSpPr>
          <p:nvPr/>
        </p:nvSpPr>
        <p:spPr>
          <a:xfrm>
            <a:off x="1066800" y="1476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B402BF8-D141-402D-8104-9ABDC47B4266}"/>
              </a:ext>
            </a:extLst>
          </p:cNvPr>
          <p:cNvSpPr>
            <a:spLocks noGrp="1"/>
          </p:cNvSpPr>
          <p:nvPr/>
        </p:nvSpPr>
        <p:spPr>
          <a:xfrm>
            <a:off x="1238250" y="1476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1AD406E-60BD-4AEF-8A95-8846EAAC02F1}"/>
              </a:ext>
            </a:extLst>
          </p:cNvPr>
          <p:cNvSpPr>
            <a:spLocks noGrp="1"/>
          </p:cNvSpPr>
          <p:nvPr/>
        </p:nvSpPr>
        <p:spPr>
          <a:xfrm>
            <a:off x="933450" y="1733550"/>
            <a:ext cx="6153150" cy="390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t>WORKDIR /app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t>COPY . .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 sz="12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2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2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0FAA69AB-63AF-4F79-AAEC-B268D4E18930}"/>
              </a:ext>
            </a:extLst>
          </p:cNvPr>
          <p:cNvSpPr>
            <a:spLocks noGrp="1"/>
          </p:cNvSpPr>
          <p:nvPr/>
        </p:nvSpPr>
        <p:spPr>
          <a:xfrm>
            <a:off x="7886700" y="14668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4846A02-6125-4E01-BD3B-E4BF524F2F4D}"/>
              </a:ext>
            </a:extLst>
          </p:cNvPr>
          <p:cNvSpPr>
            <a:spLocks noGrp="1"/>
          </p:cNvSpPr>
          <p:nvPr/>
        </p:nvSpPr>
        <p:spPr>
          <a:xfrm>
            <a:off x="8115300" y="16573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基礎 Image 比較小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6768C2-0CFB-4F4C-9067-B1452F270AFD}"/>
              </a:ext>
            </a:extLst>
          </p:cNvPr>
          <p:cNvSpPr>
            <a:spLocks noGrp="1"/>
          </p:cNvSpPr>
          <p:nvPr/>
        </p:nvSpPr>
        <p:spPr>
          <a:xfrm>
            <a:off x="8115300" y="19050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429" lnSpcReduction="2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--no-cache-dir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EC864B5-BBAC-4878-B05B-304DC5810A05}"/>
              </a:ext>
            </a:extLst>
          </p:cNvPr>
          <p:cNvSpPr>
            <a:spLocks noGrp="1"/>
          </p:cNvSpPr>
          <p:nvPr/>
        </p:nvSpPr>
        <p:spPr>
          <a:xfrm>
            <a:off x="7886700" y="240030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BD684B5-A03C-4282-AE1E-2122A1B6E805}"/>
              </a:ext>
            </a:extLst>
          </p:cNvPr>
          <p:cNvSpPr>
            <a:spLocks noGrp="1"/>
          </p:cNvSpPr>
          <p:nvPr/>
        </p:nvSpPr>
        <p:spPr>
          <a:xfrm>
            <a:off x="8115300" y="259080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不留下 pip cache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AB978C-DC80-46FA-8E0E-9EC69386D24F}"/>
              </a:ext>
            </a:extLst>
          </p:cNvPr>
          <p:cNvSpPr>
            <a:spLocks noGrp="1"/>
          </p:cNvSpPr>
          <p:nvPr/>
        </p:nvSpPr>
        <p:spPr>
          <a:xfrm>
            <a:off x="8115300" y="28384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429" lnSpcReduction="2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COPY 分段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A5F51FB2-35C1-4A00-86F8-F6ABE7C7110F}"/>
              </a:ext>
            </a:extLst>
          </p:cNvPr>
          <p:cNvSpPr>
            <a:spLocks noGrp="1"/>
          </p:cNvSpPr>
          <p:nvPr/>
        </p:nvSpPr>
        <p:spPr>
          <a:xfrm>
            <a:off x="7886700" y="3333750"/>
            <a:ext cx="2914650" cy="704850"/>
          </a:xfrm>
          <a:prstGeom prst="roundRect">
            <a:avLst>
              <a:gd name="adj" fmla="val 16216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D32019B-9471-4965-84D1-2C0ABF62AF12}"/>
              </a:ext>
            </a:extLst>
          </p:cNvPr>
          <p:cNvSpPr>
            <a:spLocks noGrp="1"/>
          </p:cNvSpPr>
          <p:nvPr/>
        </p:nvSpPr>
        <p:spPr>
          <a:xfrm>
            <a:off x="8115300" y="3524250"/>
            <a:ext cx="2457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讓重建更快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E9BF6EC-9B19-4AFF-8FC3-BFE247A0B167}"/>
              </a:ext>
            </a:extLst>
          </p:cNvPr>
          <p:cNvSpPr>
            <a:spLocks noGrp="1"/>
          </p:cNvSpPr>
          <p:nvPr/>
        </p:nvSpPr>
        <p:spPr>
          <a:xfrm>
            <a:off x="8115300" y="377190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429" lnSpcReduction="2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先能跑，再優化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9A4532-217A-40C3-8446-B6C49B9AEFAF}"/>
              </a:ext>
            </a:extLst>
          </p:cNvPr>
          <p:cNvSpPr>
            <a:spLocks noGrp="1"/>
          </p:cNvSpPr>
          <p:nvPr/>
        </p:nvSpPr>
        <p:spPr>
          <a:xfrm>
            <a:off x="8115300" y="4705350"/>
            <a:ext cx="2457450" cy="76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49429" lnSpcReduction="20000"/>
          </a:bodyPr>
          <a:lstStyle/>
          <a:p>
            <a:pPr algn="ctr">
              <a:lnSpc>
                <a:spcPct val="106000"/>
              </a:lnSpc>
              <a:buNone/>
              <a:defRPr sz="1125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84E047A-6082-4B1D-B905-F0800E829CB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5852F03-9840-49DF-9B50-0E7D3FE5DE28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341C7EF-472E-40C0-A495-D49F82D9833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2166555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4B6B9A50-F343-4EAF-9421-8C0CB2584CD0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D8DA937F-85B9-436E-A564-FC03C3DE5FA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C59B346-C944-475A-8A36-0C277FA704AF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476EC34-D8EC-4A27-8F38-3512930EB64A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A3653C4-7185-46AA-BDB7-F555A573109D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FROM python:3.11-slim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加上標籤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maintainer="student@example.com"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LABEL version="1.0"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設定環境變數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PYTHONDONTWRITEBYTECODE=1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ENV PYTHONUNBUFFERED=1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WORKDIR /app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安裝依賴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requirements.txt .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pip install --no-cache-dir -r requirements.txt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建立非 root 使用者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RUN useradd -m appuser &amp;&amp; chown -R appuser:appuser /app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USER appuser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複製程式碼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COPY --chown=appuser:appuser . .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3308A136-44D9-4FB1-B610-1EE237E3EB54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6F8370FB-1C84-480D-ACDA-8BEAD269D3A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475450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345107F7-650A-45EC-988E-F8D3BDE4C11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5BBF3AE-751C-41D3-A516-86EE33A8A5EC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範例程式碼：優化版 Dockerfile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98BA933-A787-4D90-A9AD-FB76DCC7A69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E9DB4ACB-BDA6-4E51-B828-2495245B4152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3611B3B-B590-4033-A6F7-3D19246B3499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EXPOSE 5000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CMD ["python", "app.py"]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663DC27-EEA4-4780-8E8B-948EBFD2F981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AC2254C5-AD8E-4025-9C87-B837E3E72562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651998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1A36AF55-B89D-4533-B5CF-B527938BB54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BUILD CONTEXT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127A0E-6CBA-4D53-8912-CC0048F4523A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.dockerignore 控制 build context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9E07E39-DA42-4A6F-A946-237BB5D6240F}"/>
              </a:ext>
            </a:extLst>
          </p:cNvPr>
          <p:cNvSpPr>
            <a:spLocks noGrp="1"/>
          </p:cNvSpPr>
          <p:nvPr/>
        </p:nvSpPr>
        <p:spPr>
          <a:xfrm>
            <a:off x="952500" y="1581150"/>
            <a:ext cx="4095750" cy="2857500"/>
          </a:xfrm>
          <a:prstGeom prst="roundRect">
            <a:avLst>
              <a:gd name="adj" fmla="val 333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4DE6B0A-20A7-4E49-9F19-7CDB551B5555}"/>
              </a:ext>
            </a:extLst>
          </p:cNvPr>
          <p:cNvSpPr>
            <a:spLocks noGrp="1"/>
          </p:cNvSpPr>
          <p:nvPr/>
        </p:nvSpPr>
        <p:spPr>
          <a:xfrm>
            <a:off x="1123950" y="17430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465558C-11E8-4907-AFD9-72C4A4D13ECD}"/>
              </a:ext>
            </a:extLst>
          </p:cNvPr>
          <p:cNvSpPr>
            <a:spLocks noGrp="1"/>
          </p:cNvSpPr>
          <p:nvPr/>
        </p:nvSpPr>
        <p:spPr>
          <a:xfrm>
            <a:off x="1295400" y="17430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435F2EA-020B-49CB-96F0-91916EB353C9}"/>
              </a:ext>
            </a:extLst>
          </p:cNvPr>
          <p:cNvSpPr>
            <a:spLocks noGrp="1"/>
          </p:cNvSpPr>
          <p:nvPr/>
        </p:nvSpPr>
        <p:spPr>
          <a:xfrm>
            <a:off x="1466850" y="17430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69A54D6-362A-464E-B907-FAF1CE97872A}"/>
              </a:ext>
            </a:extLst>
          </p:cNvPr>
          <p:cNvSpPr>
            <a:spLocks noGrp="1"/>
          </p:cNvSpPr>
          <p:nvPr/>
        </p:nvSpPr>
        <p:spPr>
          <a:xfrm>
            <a:off x="1162050" y="2000250"/>
            <a:ext cx="3676650" cy="2305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934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bigfile.dat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93771E3-24DB-4D67-A3EF-F4A3E63B6919}"/>
              </a:ext>
            </a:extLst>
          </p:cNvPr>
          <p:cNvSpPr>
            <a:spLocks noGrp="1"/>
          </p:cNvSpPr>
          <p:nvPr/>
        </p:nvSpPr>
        <p:spPr>
          <a:xfrm>
            <a:off x="6096000" y="15811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CAD54E-F047-48FD-B911-A82FB5F0EF53}"/>
              </a:ext>
            </a:extLst>
          </p:cNvPr>
          <p:cNvSpPr>
            <a:spLocks noGrp="1"/>
          </p:cNvSpPr>
          <p:nvPr/>
        </p:nvSpPr>
        <p:spPr>
          <a:xfrm>
            <a:off x="6324600" y="17716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沒有 .dockerignore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944EA93-BF18-4BB2-B52A-6156D2EADA5E}"/>
              </a:ext>
            </a:extLst>
          </p:cNvPr>
          <p:cNvSpPr>
            <a:spLocks noGrp="1"/>
          </p:cNvSpPr>
          <p:nvPr/>
        </p:nvSpPr>
        <p:spPr>
          <a:xfrm>
            <a:off x="6324600" y="21907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540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把不必要檔案也送進 Docker daemon。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context 變大，可能把 secret 或 cache 帶進 Image。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49C4ACE6-8B0C-4FD4-A660-69BA0E1C826C}"/>
              </a:ext>
            </a:extLst>
          </p:cNvPr>
          <p:cNvSpPr>
            <a:spLocks noGrp="1"/>
          </p:cNvSpPr>
          <p:nvPr/>
        </p:nvSpPr>
        <p:spPr>
          <a:xfrm>
            <a:off x="6096000" y="3562350"/>
            <a:ext cx="4191000" cy="1581150"/>
          </a:xfrm>
          <a:prstGeom prst="roundRect">
            <a:avLst>
              <a:gd name="adj" fmla="val 72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44868FA-BB59-4837-9583-C4892DB23D6A}"/>
              </a:ext>
            </a:extLst>
          </p:cNvPr>
          <p:cNvSpPr>
            <a:spLocks noGrp="1"/>
          </p:cNvSpPr>
          <p:nvPr/>
        </p:nvSpPr>
        <p:spPr>
          <a:xfrm>
            <a:off x="6324600" y="3752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有 .dockerignore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63E0DB-C435-4B1D-BC09-1762C912BC6F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3733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039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只送 app.py、requirements.txt 等真正需要的檔案。</a:t>
            </a:r>
          </a:p>
          <a:p>
            <a:endParaRPr sz="142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結果：build 更快、Image 更乾淨。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21A698-2EEB-4200-B7BE-43556B37FC5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AFE8091-4B69-46D6-90AA-A9012C04B33E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5722A8E-EC94-4BD0-8B90-45FBC5501C3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357584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DA3424C4-16E1-4193-A046-430E7A023B66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9F42ECE-6A71-4D19-956D-695AD9BFDDFD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(1/2)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E6750850-B126-4F5A-AE6C-F778C9304CEF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1367CE2A-9968-4AC6-A5CD-AAAE64219373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CD30AC67-CC18-4B7D-B52E-EDA3B9488416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版本控制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.gitignore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Python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__pycache__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*.pyc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*.pyo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.pytest_cache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venv/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.env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IDE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.vscode/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.idea/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*.swp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Docker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Dockerfile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docker-compose.yml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其他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B2CB8AC0-122E-4C4A-A12C-3A0D4CD6EF7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115C63F-3CC6-44B9-B4BD-B7D0F96CC13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20071977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72A7DD5C-E147-4246-B79D-EB70D7690768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8C54A5A-F759-4307-A980-D989DE4C1DC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範例程式碼：.dockerignore (2/2)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C7C86205-13FB-4FF6-B47C-50F3F9F643D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01706A7-AD93-4B01-9620-9A407F60129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8C72097D-BE2D-45F0-8057-97C3334D4E27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*.md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*.log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2965EF12-A5BD-495E-9978-D516EF601D8A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020C6078-E82F-48CB-AC33-CE8B51889FFB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4660841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1AE1C78A-165D-43BD-B1DA-3A5274B6C0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TEST AND INSPECT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DF433F0-EE45-4729-849C-579C090AEE3B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測試 Image：不只看能不能啟動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B91239F-A934-474E-B2E0-C616087A8F63}"/>
              </a:ext>
            </a:extLst>
          </p:cNvPr>
          <p:cNvSpPr>
            <a:spLocks noGrp="1"/>
          </p:cNvSpPr>
          <p:nvPr/>
        </p:nvSpPr>
        <p:spPr>
          <a:xfrm>
            <a:off x="742950" y="1409700"/>
            <a:ext cx="6096000" cy="3905250"/>
          </a:xfrm>
          <a:prstGeom prst="roundRect">
            <a:avLst>
              <a:gd name="adj" fmla="val 243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47756B92-3C7C-4DA8-ABE4-CCB0A5A3CDE3}"/>
              </a:ext>
            </a:extLst>
          </p:cNvPr>
          <p:cNvSpPr>
            <a:spLocks noGrp="1"/>
          </p:cNvSpPr>
          <p:nvPr/>
        </p:nvSpPr>
        <p:spPr>
          <a:xfrm>
            <a:off x="91440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4E8AF7D3-7E32-48E7-B61D-0EFCFD255C59}"/>
              </a:ext>
            </a:extLst>
          </p:cNvPr>
          <p:cNvSpPr>
            <a:spLocks noGrp="1"/>
          </p:cNvSpPr>
          <p:nvPr/>
        </p:nvSpPr>
        <p:spPr>
          <a:xfrm>
            <a:off x="108585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983C59EF-7CD2-406D-B97C-0CE3C990DB47}"/>
              </a:ext>
            </a:extLst>
          </p:cNvPr>
          <p:cNvSpPr>
            <a:spLocks noGrp="1"/>
          </p:cNvSpPr>
          <p:nvPr/>
        </p:nvSpPr>
        <p:spPr>
          <a:xfrm>
            <a:off x="125730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AF3E76-CAFB-476D-B514-C7C7E45BCF26}"/>
              </a:ext>
            </a:extLst>
          </p:cNvPr>
          <p:cNvSpPr>
            <a:spLocks noGrp="1"/>
          </p:cNvSpPr>
          <p:nvPr/>
        </p:nvSpPr>
        <p:spPr>
          <a:xfrm>
            <a:off x="952500" y="1828800"/>
            <a:ext cx="5676900" cy="3352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test-flask bash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-la /app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pip list | findstr Flask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whoami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88156AF-62E6-47D8-8043-D0353C50E1E9}"/>
              </a:ext>
            </a:extLst>
          </p:cNvPr>
          <p:cNvSpPr>
            <a:spLocks noGrp="1"/>
          </p:cNvSpPr>
          <p:nvPr/>
        </p:nvSpPr>
        <p:spPr>
          <a:xfrm>
            <a:off x="7505700" y="15240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E260FE8-4334-4885-9FBB-56FCB19680CA}"/>
              </a:ext>
            </a:extLst>
          </p:cNvPr>
          <p:cNvSpPr>
            <a:spLocks noGrp="1"/>
          </p:cNvSpPr>
          <p:nvPr/>
        </p:nvSpPr>
        <p:spPr>
          <a:xfrm>
            <a:off x="7734300" y="17145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WORKDIR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B63277-C186-42E3-8AF7-D9E7D6823269}"/>
              </a:ext>
            </a:extLst>
          </p:cNvPr>
          <p:cNvSpPr>
            <a:spLocks noGrp="1"/>
          </p:cNvSpPr>
          <p:nvPr/>
        </p:nvSpPr>
        <p:spPr>
          <a:xfrm>
            <a:off x="7734300" y="19431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8947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pwd 應該在 /app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1588FE9-56C7-4B87-8C1C-E28A2A65FF1E}"/>
              </a:ext>
            </a:extLst>
          </p:cNvPr>
          <p:cNvSpPr>
            <a:spLocks noGrp="1"/>
          </p:cNvSpPr>
          <p:nvPr/>
        </p:nvSpPr>
        <p:spPr>
          <a:xfrm>
            <a:off x="7505700" y="23812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72E6372-FB9E-4FC6-8637-11D83B261C74}"/>
              </a:ext>
            </a:extLst>
          </p:cNvPr>
          <p:cNvSpPr>
            <a:spLocks noGrp="1"/>
          </p:cNvSpPr>
          <p:nvPr/>
        </p:nvSpPr>
        <p:spPr>
          <a:xfrm>
            <a:off x="7734300" y="25717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COPY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D408F7-BD36-4D68-A2E0-BAA739AB8CDE}"/>
              </a:ext>
            </a:extLst>
          </p:cNvPr>
          <p:cNvSpPr>
            <a:spLocks noGrp="1"/>
          </p:cNvSpPr>
          <p:nvPr/>
        </p:nvSpPr>
        <p:spPr>
          <a:xfrm>
            <a:off x="7734300" y="28003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8947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app.py 與 requirements.txt 存在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7BA4EE6E-F75A-4500-A629-FB2F9610C4B8}"/>
              </a:ext>
            </a:extLst>
          </p:cNvPr>
          <p:cNvSpPr>
            <a:spLocks noGrp="1"/>
          </p:cNvSpPr>
          <p:nvPr/>
        </p:nvSpPr>
        <p:spPr>
          <a:xfrm>
            <a:off x="7505700" y="323850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E72B693-FA8D-4885-AA61-451F9CC26048}"/>
              </a:ext>
            </a:extLst>
          </p:cNvPr>
          <p:cNvSpPr>
            <a:spLocks noGrp="1"/>
          </p:cNvSpPr>
          <p:nvPr/>
        </p:nvSpPr>
        <p:spPr>
          <a:xfrm>
            <a:off x="7734300" y="342900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RUN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4D5356D-A173-446C-91E2-A5ED5D676034}"/>
              </a:ext>
            </a:extLst>
          </p:cNvPr>
          <p:cNvSpPr>
            <a:spLocks noGrp="1"/>
          </p:cNvSpPr>
          <p:nvPr/>
        </p:nvSpPr>
        <p:spPr>
          <a:xfrm>
            <a:off x="7734300" y="365760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8947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已安裝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35F52AED-19FC-4CDB-8FC6-8B97A162E8B1}"/>
              </a:ext>
            </a:extLst>
          </p:cNvPr>
          <p:cNvSpPr>
            <a:spLocks noGrp="1"/>
          </p:cNvSpPr>
          <p:nvPr/>
        </p:nvSpPr>
        <p:spPr>
          <a:xfrm>
            <a:off x="7505700" y="4095750"/>
            <a:ext cx="3333750" cy="66675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9AF4B52-1013-473A-A68E-066221506C0B}"/>
              </a:ext>
            </a:extLst>
          </p:cNvPr>
          <p:cNvSpPr>
            <a:spLocks noGrp="1"/>
          </p:cNvSpPr>
          <p:nvPr/>
        </p:nvSpPr>
        <p:spPr>
          <a:xfrm>
            <a:off x="7734300" y="42862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USER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6A9E931-1EBF-44E7-B407-3A1395FAE3AC}"/>
              </a:ext>
            </a:extLst>
          </p:cNvPr>
          <p:cNvSpPr>
            <a:spLocks noGrp="1"/>
          </p:cNvSpPr>
          <p:nvPr/>
        </p:nvSpPr>
        <p:spPr>
          <a:xfrm>
            <a:off x="7734300" y="4514850"/>
            <a:ext cx="2876550" cy="57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38947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若設定 appuser，whoami 應顯示 appuser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A500C40-5512-4AB2-8D77-2BACAAAAF90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16BB168-FD57-47E8-B0F5-DB30E620582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FDA01BA-C8B0-4EE4-B03C-773188CC2D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2737063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4E10EBE8-AA1C-48D5-8737-E64DF2272DE9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56957FD-4628-4307-9D5D-D164C0D840A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範例程式碼：測試映像檔指令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8D7DB353-8F88-4DBA-8CA4-BAA8FDB11606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4B87F9B4-9CAC-450F-BBBA-51C4F2117ABA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0891D1F4-A8B0-426E-B0FE-46DE7F6B680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啟動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test-flask -p 5000:5000 my-flask-app:v3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test-flask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查看容器詳情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test-flask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D22FAA18-E3E1-487E-B11E-9A6FAA0E3A97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7E58AB30-32DB-4991-ABBB-2FC86A6BFCEE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78681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B3D90E38-3499-45CA-958A-2BC97E53492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FLOW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40C4978-E532-410A-BB17-A16BA6DFCEA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把 Image 發佈到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65263E40-9D83-459E-A6CB-CB4F38A6ADFB}"/>
              </a:ext>
            </a:extLst>
          </p:cNvPr>
          <p:cNvSpPr>
            <a:spLocks noGrp="1"/>
          </p:cNvSpPr>
          <p:nvPr/>
        </p:nvSpPr>
        <p:spPr>
          <a:xfrm>
            <a:off x="8572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B408115-FA35-4B6C-A622-AD3E00995A6D}"/>
              </a:ext>
            </a:extLst>
          </p:cNvPr>
          <p:cNvSpPr>
            <a:spLocks noGrp="1"/>
          </p:cNvSpPr>
          <p:nvPr/>
        </p:nvSpPr>
        <p:spPr>
          <a:xfrm>
            <a:off x="10668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login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28C9FE6-AF8F-4784-970A-203F56ECB177}"/>
              </a:ext>
            </a:extLst>
          </p:cNvPr>
          <p:cNvSpPr>
            <a:spLocks noGrp="1"/>
          </p:cNvSpPr>
          <p:nvPr/>
        </p:nvSpPr>
        <p:spPr>
          <a:xfrm>
            <a:off x="10668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login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1FC28CC6-3CBF-45D0-A183-742174B66AA4}"/>
              </a:ext>
            </a:extLst>
          </p:cNvPr>
          <p:cNvSpPr>
            <a:spLocks noGrp="1"/>
          </p:cNvSpPr>
          <p:nvPr/>
        </p:nvSpPr>
        <p:spPr>
          <a:xfrm>
            <a:off x="32385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8E3AC25E-ABC3-4D10-B881-0AA79C748CFB}"/>
              </a:ext>
            </a:extLst>
          </p:cNvPr>
          <p:cNvSpPr>
            <a:spLocks noGrp="1"/>
          </p:cNvSpPr>
          <p:nvPr/>
        </p:nvSpPr>
        <p:spPr>
          <a:xfrm>
            <a:off x="36385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3647751-CA03-410C-8D4F-1C0015FB2E8C}"/>
              </a:ext>
            </a:extLst>
          </p:cNvPr>
          <p:cNvSpPr>
            <a:spLocks noGrp="1"/>
          </p:cNvSpPr>
          <p:nvPr/>
        </p:nvSpPr>
        <p:spPr>
          <a:xfrm>
            <a:off x="38481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3A2D832-7669-45C4-97C2-7FB225C8830D}"/>
              </a:ext>
            </a:extLst>
          </p:cNvPr>
          <p:cNvSpPr>
            <a:spLocks noGrp="1"/>
          </p:cNvSpPr>
          <p:nvPr/>
        </p:nvSpPr>
        <p:spPr>
          <a:xfrm>
            <a:off x="38481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my-flask-app:v3 帳號/my-flask-app:v1</a:t>
            </a:r>
          </a:p>
        </p:txBody>
      </p:sp>
      <p:sp>
        <p:nvSpPr>
          <p:cNvPr id="10" name="箭號: 向右 9">
            <a:extLst>
              <a:ext uri="{FF2B5EF4-FFF2-40B4-BE49-F238E27FC236}">
                <a16:creationId xmlns:a16="http://schemas.microsoft.com/office/drawing/2014/main" id="{A59866B9-F5FF-4F50-A9C0-EC93630D0180}"/>
              </a:ext>
            </a:extLst>
          </p:cNvPr>
          <p:cNvSpPr>
            <a:spLocks noGrp="1"/>
          </p:cNvSpPr>
          <p:nvPr/>
        </p:nvSpPr>
        <p:spPr>
          <a:xfrm>
            <a:off x="60198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86AC0913-2AC4-4D30-B441-F33277D5AC3F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3B3A091-8112-4CFB-A92F-81E22744DBD7}"/>
              </a:ext>
            </a:extLst>
          </p:cNvPr>
          <p:cNvSpPr>
            <a:spLocks noGrp="1"/>
          </p:cNvSpPr>
          <p:nvPr/>
        </p:nvSpPr>
        <p:spPr>
          <a:xfrm>
            <a:off x="66294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47857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47857"/>
                </a:solidFill>
                <a:latin typeface="Consolas"/>
                <a:ea typeface="Consolas"/>
                <a:cs typeface="Consolas"/>
              </a:rPr>
              <a:t>push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20847DA-91B4-45D3-9B66-92898C07141B}"/>
              </a:ext>
            </a:extLst>
          </p:cNvPr>
          <p:cNvSpPr>
            <a:spLocks noGrp="1"/>
          </p:cNvSpPr>
          <p:nvPr/>
        </p:nvSpPr>
        <p:spPr>
          <a:xfrm>
            <a:off x="66294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帳號/my-flask-app:v1</a:t>
            </a:r>
          </a:p>
        </p:txBody>
      </p:sp>
      <p:sp>
        <p:nvSpPr>
          <p:cNvPr id="14" name="箭號: 向右 13">
            <a:extLst>
              <a:ext uri="{FF2B5EF4-FFF2-40B4-BE49-F238E27FC236}">
                <a16:creationId xmlns:a16="http://schemas.microsoft.com/office/drawing/2014/main" id="{C11A957B-73D7-47CB-8D68-AB40DD0EC6E4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457200" cy="2476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8AEF14C9-9F46-4C9C-9E5F-E66DEBA682D5}"/>
              </a:ext>
            </a:extLst>
          </p:cNvPr>
          <p:cNvSpPr>
            <a:spLocks noGrp="1"/>
          </p:cNvSpPr>
          <p:nvPr/>
        </p:nvSpPr>
        <p:spPr>
          <a:xfrm>
            <a:off x="9201150" y="2209800"/>
            <a:ext cx="224790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9471B1B-2E44-4323-AAD3-100CC2979515}"/>
              </a:ext>
            </a:extLst>
          </p:cNvPr>
          <p:cNvSpPr>
            <a:spLocks noGrp="1"/>
          </p:cNvSpPr>
          <p:nvPr/>
        </p:nvSpPr>
        <p:spPr>
          <a:xfrm>
            <a:off x="9410700" y="251460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211" lnSpcReduction="10000"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9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pull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7682FAC-844B-4D61-B9B5-8EB45AE2E12F}"/>
              </a:ext>
            </a:extLst>
          </p:cNvPr>
          <p:cNvSpPr>
            <a:spLocks noGrp="1"/>
          </p:cNvSpPr>
          <p:nvPr/>
        </p:nvSpPr>
        <p:spPr>
          <a:xfrm>
            <a:off x="9410700" y="3067050"/>
            <a:ext cx="1828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0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pull 帳號/my-flask-app:v1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FE4F559A-EA51-477D-893D-6BA8F518E673}"/>
              </a:ext>
            </a:extLst>
          </p:cNvPr>
          <p:cNvSpPr>
            <a:spLocks noGrp="1"/>
          </p:cNvSpPr>
          <p:nvPr/>
        </p:nvSpPr>
        <p:spPr>
          <a:xfrm>
            <a:off x="1581150" y="4762500"/>
            <a:ext cx="9029700" cy="590550"/>
          </a:xfrm>
          <a:prstGeom prst="roundRect">
            <a:avLst>
              <a:gd name="adj" fmla="val 16129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6BAE04F-E0B4-4225-A02A-69AAD9C915B7}"/>
              </a:ext>
            </a:extLst>
          </p:cNvPr>
          <p:cNvSpPr>
            <a:spLocks noGrp="1"/>
          </p:cNvSpPr>
          <p:nvPr/>
        </p:nvSpPr>
        <p:spPr>
          <a:xfrm>
            <a:off x="1924050" y="4953000"/>
            <a:ext cx="8343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提醒：不要把密碼、token、.env 或私密設定 bake 進 Image。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7BD95C2-4361-43D0-83B5-F035C0406D1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AEF8DB4-9E9D-4EBB-98F2-8AFA27CDEDC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3967AC6-C962-43CC-8B57-4ACC86CA56B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2936422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56D5741F-4E75-43EE-9100-BE12797DC694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75AFE9A-3465-4853-BE12-EDF94641406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範例程式碼：Docker Hub tag / push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B3AA4781-489D-4953-A924-66BA5EA5EEA5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6DF0F089-B1CE-48A6-BFCF-791D33429188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3BEF95F2-319E-4D38-BA5C-3701EE77DE5E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myname/my-flask-app:v3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my-flask-app:v3 myname/my-flask-app:latest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myname/my-flask-app:v3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myname/my-flask-app:latest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68C78F36-B6AB-4873-B35A-77DEDF847E8F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7F29C08D-DA75-4F63-A51A-3CA82F15465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2519371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918F8B3-110E-4C55-98B6-5C0246E4D59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EEBA34F-BD94-4BC5-9D8F-BFBDB6BB752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P3：推上 Docker Hub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23CF254-8AF5-40E2-9E8B-BE0B049429DF}"/>
              </a:ext>
            </a:extLst>
          </p:cNvPr>
          <p:cNvSpPr>
            <a:spLocks noGrp="1"/>
          </p:cNvSpPr>
          <p:nvPr/>
        </p:nvSpPr>
        <p:spPr>
          <a:xfrm>
            <a:off x="800100" y="1428750"/>
            <a:ext cx="6477000" cy="3714750"/>
          </a:xfrm>
          <a:prstGeom prst="roundRect">
            <a:avLst>
              <a:gd name="adj" fmla="val 256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3C14AA6-8F7B-425F-B119-AB0F74FC983F}"/>
              </a:ext>
            </a:extLst>
          </p:cNvPr>
          <p:cNvSpPr>
            <a:spLocks noGrp="1"/>
          </p:cNvSpPr>
          <p:nvPr/>
        </p:nvSpPr>
        <p:spPr>
          <a:xfrm>
            <a:off x="9715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09F7E1DF-01B6-493A-A9A8-F757EE77E7BF}"/>
              </a:ext>
            </a:extLst>
          </p:cNvPr>
          <p:cNvSpPr>
            <a:spLocks noGrp="1"/>
          </p:cNvSpPr>
          <p:nvPr/>
        </p:nvSpPr>
        <p:spPr>
          <a:xfrm>
            <a:off x="11430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5C8769B0-4CA7-4182-A82C-A8C6457E9C28}"/>
              </a:ext>
            </a:extLst>
          </p:cNvPr>
          <p:cNvSpPr>
            <a:spLocks noGrp="1"/>
          </p:cNvSpPr>
          <p:nvPr/>
        </p:nvSpPr>
        <p:spPr>
          <a:xfrm>
            <a:off x="13144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E7053C-D226-4370-8169-7751DE9FA33E}"/>
              </a:ext>
            </a:extLst>
          </p:cNvPr>
          <p:cNvSpPr>
            <a:spLocks noGrp="1"/>
          </p:cNvSpPr>
          <p:nvPr/>
        </p:nvSpPr>
        <p:spPr>
          <a:xfrm>
            <a:off x="1009650" y="1847850"/>
            <a:ext cx="6057900" cy="3162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login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tag my-first-image yourname/my-first-image:v1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push yourname/my-first-image:v1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yourname/my-first-image:v1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yourname/my-first-image:v1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yourname/my-first-image:v1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1AD0F0-7789-4959-8B8C-4C87FD12B7A4}"/>
              </a:ext>
            </a:extLst>
          </p:cNvPr>
          <p:cNvSpPr>
            <a:spLocks noGrp="1"/>
          </p:cNvSpPr>
          <p:nvPr/>
        </p:nvSpPr>
        <p:spPr>
          <a:xfrm>
            <a:off x="7905750" y="1962150"/>
            <a:ext cx="3048000" cy="1943100"/>
          </a:xfrm>
          <a:prstGeom prst="roundRect">
            <a:avLst>
              <a:gd name="adj" fmla="val 5882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8A8255-0F5B-40C6-963A-054B16B5ACAC}"/>
              </a:ext>
            </a:extLst>
          </p:cNvPr>
          <p:cNvSpPr>
            <a:spLocks noGrp="1"/>
          </p:cNvSpPr>
          <p:nvPr/>
        </p:nvSpPr>
        <p:spPr>
          <a:xfrm>
            <a:off x="8134350" y="2152650"/>
            <a:ext cx="2590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l">
              <a:lnSpc>
                <a:spcPct val="106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完成標準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356A96-516C-4C34-BBAD-9B1D89EE4799}"/>
              </a:ext>
            </a:extLst>
          </p:cNvPr>
          <p:cNvSpPr>
            <a:spLocks noGrp="1"/>
          </p:cNvSpPr>
          <p:nvPr/>
        </p:nvSpPr>
        <p:spPr>
          <a:xfrm>
            <a:off x="8134350" y="2686050"/>
            <a:ext cx="25908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Docker Hub 網頁看得到 repository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本機刪除後可以 pull 回來</a:t>
            </a:r>
          </a:p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run 後仍能看到正確輸出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978CF96-2FBF-45B2-AF6A-D7ECC54DFDCF}"/>
              </a:ext>
            </a:extLst>
          </p:cNvPr>
          <p:cNvSpPr>
            <a:spLocks noGrp="1"/>
          </p:cNvSpPr>
          <p:nvPr/>
        </p:nvSpPr>
        <p:spPr>
          <a:xfrm>
            <a:off x="2000250" y="5581650"/>
            <a:ext cx="8191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yourname 要換成自己的 Docker Hub 帳號。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C31AF31-2043-4F54-BE20-5B7B26E9A93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1E0657F-CDED-4181-BFEA-522692F401B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B08CAEF-4169-4522-882F-8E5A833A099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357421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1E2E"/>
                </a:solidFill>
                <a:latin typeface="Microsoft JhengHei"/>
              </a:rPr>
              <a:t>COMPOSE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05A6E"/>
                </a:solidFill>
                <a:latin typeface="Microsoft JhengHei"/>
              </a:rPr>
              <a:t>目前 compose 直接使用 python image，啟動時才安裝套件與執行 app。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5349240" cy="43434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none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app: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image: python:3.11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working_dir: /app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volumes: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  - ./app:/app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command: bash -c "pip install -r requirements.txt &amp;&amp; python app.py"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64592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232D41"/>
                </a:solidFill>
                <a:latin typeface="Microsoft JhengHei"/>
              </a:rPr>
              <a:t>每次啟動都可能重新安裝套件</a:t>
            </a:r>
          </a:p>
          <a:p>
            <a:r>
              <a:rPr sz="1800">
                <a:solidFill>
                  <a:srgbClr val="232D41"/>
                </a:solidFill>
                <a:latin typeface="Microsoft JhengHei"/>
              </a:rPr>
              <a:t>環境步驟藏在 compose command 裡</a:t>
            </a:r>
          </a:p>
          <a:p>
            <a:r>
              <a:rPr sz="1800">
                <a:solidFill>
                  <a:srgbClr val="232D41"/>
                </a:solidFill>
                <a:latin typeface="Microsoft JhengHei"/>
              </a:rPr>
              <a:t>換電腦或上伺服器時不夠穩定</a:t>
            </a:r>
          </a:p>
          <a:p>
            <a:r>
              <a:rPr sz="1800">
                <a:solidFill>
                  <a:srgbClr val="232D41"/>
                </a:solidFill>
                <a:latin typeface="Microsoft JhengHei"/>
              </a:rPr>
              <a:t>第四章目標：把這些步驟做進自己的 Image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1E2E"/>
                </a:solidFill>
                <a:latin typeface="Microsoft JhengHei"/>
              </a:rPr>
              <a:t>BUILD YOUR APP IMAGE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05A6E"/>
                </a:solidFill>
                <a:latin typeface="Microsoft JhengHei"/>
              </a:rPr>
              <a:t>Dockerfile 把 Flask app、requirements 與啟動方式封裝成可重複建構的 Image。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325880"/>
            <a:ext cx="5257800" cy="4480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none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FROM python:3.11-slim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WORKDIR /app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COPY requirements.txt .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RUN pip install --no-cache-dir -r requirements.txt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COPY . .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EXPOSE 5000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CMD ["python", "app.py"]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25880"/>
            <a:ext cx="5029200" cy="19202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none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docker build -t my-flask-app:1.0 ./app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docker run -d --name flask \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-p 5000:5000 my-flask-app:1.0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3520440"/>
            <a:ext cx="50292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232D41"/>
                </a:solidFill>
                <a:latin typeface="Microsoft JhengHei"/>
              </a:rPr>
              <a:t>先 build，再 run 測試</a:t>
            </a:r>
          </a:p>
          <a:p>
            <a:r>
              <a:rPr sz="1800">
                <a:solidFill>
                  <a:srgbClr val="232D41"/>
                </a:solidFill>
                <a:latin typeface="Microsoft JhengHei"/>
              </a:rPr>
              <a:t>tag 使用 1.0 / 1.0.0 這類版本號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1E2E"/>
                </a:solidFill>
                <a:latin typeface="Microsoft JhengHei"/>
              </a:rPr>
              <a:t>COMPOSE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05A6E"/>
                </a:solidFill>
                <a:latin typeface="Microsoft JhengHei"/>
              </a:rPr>
              <a:t>推上 Docker Hub 後，compose 可以直接使用自己的 app image。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5257800" cy="47091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none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docker login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docker tag my-flask-app:1.0 yourname/my-flask-app:1.0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docker push yourname/my-flask-app:1.0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234440"/>
            <a:ext cx="5166360" cy="47091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none">
            <a:spAutoFit/>
          </a:bodyPr>
          <a:lstStyle/>
          <a:p>
            <a:r>
              <a:rPr sz="1500">
                <a:solidFill>
                  <a:srgbClr val="E2E8F0"/>
                </a:solidFill>
                <a:latin typeface="Consolas"/>
              </a:rPr>
              <a:t>app: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image: yourname/my-flask-app:1.0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restart: unless-stopped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environment: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  DB_HOST: mysql8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  DB_NAME: testdb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ports: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  - "5000:5000"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depends_on:</a:t>
            </a:r>
          </a:p>
          <a:p>
            <a:r>
              <a:rPr sz="1500">
                <a:solidFill>
                  <a:srgbClr val="E2E8F0"/>
                </a:solidFill>
                <a:latin typeface="Consolas"/>
              </a:rPr>
              <a:t>    - mysql8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61E2E"/>
                </a:solidFill>
                <a:latin typeface="Microsoft JhengHe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41832"/>
            <a:ext cx="105156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05A6E"/>
                </a:solidFill>
                <a:latin typeface="Microsoft JhengHei"/>
              </a:rPr>
              <a:t>第四章真正要帶走的指令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42976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none">
            <a:spAutoFit/>
          </a:bodyPr>
          <a:lstStyle/>
          <a:p>
            <a:r>
              <a:rPr sz="1800">
                <a:solidFill>
                  <a:srgbClr val="E2E8F0"/>
                </a:solidFill>
                <a:latin typeface="Consolas"/>
              </a:rPr>
              <a:t>docker build -t my-flask-app:1.0 ./app</a:t>
            </a:r>
          </a:p>
          <a:p>
            <a:r>
              <a:rPr sz="1800">
                <a:solidFill>
                  <a:srgbClr val="E2E8F0"/>
                </a:solidFill>
                <a:latin typeface="Consolas"/>
              </a:rPr>
              <a:t>docker run -d --name flask -p 5000:5000 my-flask-app:1.0</a:t>
            </a:r>
          </a:p>
          <a:p>
            <a:r>
              <a:rPr sz="1800">
                <a:solidFill>
                  <a:srgbClr val="E2E8F0"/>
                </a:solidFill>
                <a:latin typeface="Consolas"/>
              </a:rPr>
              <a:t>docker history my-flask-app:1.0</a:t>
            </a:r>
          </a:p>
          <a:p>
            <a:r>
              <a:rPr sz="1800">
                <a:solidFill>
                  <a:srgbClr val="E2E8F0"/>
                </a:solidFill>
                <a:latin typeface="Consolas"/>
              </a:rPr>
              <a:t>docker login</a:t>
            </a:r>
          </a:p>
          <a:p>
            <a:r>
              <a:rPr sz="1800">
                <a:solidFill>
                  <a:srgbClr val="E2E8F0"/>
                </a:solidFill>
                <a:latin typeface="Consolas"/>
              </a:rPr>
              <a:t>docker tag my-flask-app:1.0 yourname/my-flask-app:1.0</a:t>
            </a:r>
          </a:p>
          <a:p>
            <a:r>
              <a:rPr sz="1800">
                <a:solidFill>
                  <a:srgbClr val="E2E8F0"/>
                </a:solidFill>
                <a:latin typeface="Consolas"/>
              </a:rPr>
              <a:t>docker push yourname/my-flask-app:1.0</a:t>
            </a:r>
          </a:p>
          <a:p>
            <a:r>
              <a:rPr sz="1800">
                <a:solidFill>
                  <a:srgbClr val="E2E8F0"/>
                </a:solidFill>
                <a:latin typeface="Consolas"/>
              </a:rPr>
              <a:t># compose.yaml: image: yourname/my-flask-app:1.0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43093B7-3227-41B5-AFBC-201D13ACDAC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E9AFDD6-4A76-4FDD-B10B-5E2C4EEC064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開發環境管理：常見有兩條路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FB3B2462-E948-4379-A9DE-3D0833F385AC}"/>
              </a:ext>
            </a:extLst>
          </p:cNvPr>
          <p:cNvSpPr>
            <a:spLocks noGrp="1"/>
          </p:cNvSpPr>
          <p:nvPr/>
        </p:nvSpPr>
        <p:spPr>
          <a:xfrm>
            <a:off x="6096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VS Code Dev Containers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把「開發用的作業系統、工具、套件」都放進容器。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適合團隊電腦不同、需要系統套件、想讓 VS Code 也進容器。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外掛名稱：Dev Containers（Microsoft）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67209F59-79E5-46ED-B710-7027BE031DCA}"/>
              </a:ext>
            </a:extLst>
          </p:cNvPr>
          <p:cNvSpPr>
            <a:spLocks noGrp="1"/>
          </p:cNvSpPr>
          <p:nvPr/>
        </p:nvSpPr>
        <p:spPr>
          <a:xfrm>
            <a:off x="5791200" y="1495425"/>
            <a:ext cx="4953000" cy="3152775"/>
          </a:xfrm>
          <a:prstGeom prst="roundRect">
            <a:avLst>
              <a:gd name="adj" fmla="val 8000"/>
            </a:avLst>
          </a:prstGeom>
          <a:solidFill>
            <a:srgbClr val="EAF7EF"/>
          </a:solidFill>
          <a:ln w="9525">
            <a:solidFill>
              <a:srgbClr val="B7E4C7"/>
            </a:solidFill>
            <a:prstDash val="solid"/>
          </a:ln>
        </p:spPr>
        <p:txBody>
          <a:bodyPr lIns="228600" tIns="228600" rIns="228600" bIns="2286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語言工具派</a:t>
            </a:r>
          </a:p>
          <a:p>
            <a:pPr algn="ctr">
              <a:lnSpc>
                <a:spcPct val="106000"/>
              </a:lnSpc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uv / Poetry / pip-tools</a:t>
            </a:r>
          </a:p>
          <a:p>
            <a:pPr>
              <a:buNone/>
              <a:defRPr sz="600"/>
            </a:pPr>
            <a:endParaRPr sz="1500" b="1">
              <a:solidFill>
                <a:srgbClr val="0B122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把「Python 版本、虛擬環境、套件版本」管理清楚。</a:t>
            </a:r>
          </a:p>
          <a:p>
            <a:pPr algn="l">
              <a:lnSpc>
                <a:spcPct val="106000"/>
              </a:lnSpc>
              <a:buNone/>
              <a:defRPr sz="12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純 Python 專案很常用，啟動快、學習成本低。</a:t>
            </a:r>
          </a:p>
          <a:p>
            <a:pPr algn="l">
              <a:lnSpc>
                <a:spcPct val="106000"/>
              </a:lnSpc>
              <a:buNone/>
              <a:defRPr sz="1250" b="1">
                <a:solidFill>
                  <a:srgbClr val="087F5B"/>
                </a:solidFill>
                <a:latin typeface="Aptos"/>
                <a:ea typeface="Aptos"/>
                <a:cs typeface="Aptos"/>
              </a:defRPr>
            </a:pPr>
            <a:r>
              <a:rPr sz="1250" b="1">
                <a:solidFill>
                  <a:srgbClr val="087F5B"/>
                </a:solidFill>
                <a:latin typeface="Aptos"/>
                <a:ea typeface="Aptos"/>
                <a:cs typeface="Aptos"/>
              </a:rPr>
              <a:t>重點：lock file 讓每個人裝到同一批套件。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1131A42-A910-4CF1-9B8B-DC44CED3D57A}"/>
              </a:ext>
            </a:extLst>
          </p:cNvPr>
          <p:cNvSpPr>
            <a:spLocks noGrp="1"/>
          </p:cNvSpPr>
          <p:nvPr/>
        </p:nvSpPr>
        <p:spPr>
          <a:xfrm>
            <a:off x="1143000" y="5029200"/>
            <a:ext cx="91440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這不是部署方式的二選一，而是「日常開發環境」怎麼管理。最後上線仍然可以打包成 Docker image。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2298D40E-17FC-44AE-BC2B-230F73A9316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C66E6F29-69AF-472B-AF9F-BB8BE03A8B6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B4E83581-228B-4C73-8D5C-D06752AD2D63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7545904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4EE934A-4CBD-446C-9D62-C4645E50904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DEVELOPMENT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2CD948F-13CC-4011-9A23-C57038AF2846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什麼時候用 Dev Containers，什麼時候用 uv / Poetry？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83D0CBFB-66DF-453E-BFF1-73502C94D31B}"/>
              </a:ext>
            </a:extLst>
          </p:cNvPr>
          <p:cNvSpPr>
            <a:spLocks noGrp="1"/>
          </p:cNvSpPr>
          <p:nvPr/>
        </p:nvSpPr>
        <p:spPr>
          <a:xfrm>
            <a:off x="6096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DCFF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選 Dev Containers</a:t>
            </a:r>
          </a:p>
          <a:p>
            <a:pPr>
              <a:buNone/>
              <a:defRPr sz="600"/>
            </a:pPr>
            <a:endParaRPr sz="1775" b="1">
              <a:solidFill>
                <a:srgbClr val="0B5CAD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團隊成員的 OS 不同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需要 apt、系統函式庫或 CLI 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想讓 terminal / debugger 都在容器裡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想靠近 production image 的環境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F427EAD4-63AD-49C6-A054-847F82034280}"/>
              </a:ext>
            </a:extLst>
          </p:cNvPr>
          <p:cNvSpPr>
            <a:spLocks noGrp="1"/>
          </p:cNvSpPr>
          <p:nvPr/>
        </p:nvSpPr>
        <p:spPr>
          <a:xfrm>
            <a:off x="43815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7E4C7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087F5B"/>
                </a:solidFill>
                <a:latin typeface="Aptos Display"/>
                <a:ea typeface="Aptos Display"/>
                <a:cs typeface="Aptos Display"/>
              </a:rPr>
              <a:t>選 uv / Poetry</a:t>
            </a:r>
          </a:p>
          <a:p>
            <a:pPr>
              <a:buNone/>
              <a:defRPr sz="600"/>
            </a:pPr>
            <a:endParaRPr sz="1775" b="1">
              <a:solidFill>
                <a:srgbClr val="087F5B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主要問題是 Python 套件版本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本機開發就很順，不想整個 IDE 進容器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Django / Flask 專案要快速建立 venv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用 lock file 固定依賴版本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6D4AB3B-CB7C-43E8-8FBF-44CC2B680F6D}"/>
              </a:ext>
            </a:extLst>
          </p:cNvPr>
          <p:cNvSpPr>
            <a:spLocks noGrp="1"/>
          </p:cNvSpPr>
          <p:nvPr/>
        </p:nvSpPr>
        <p:spPr>
          <a:xfrm>
            <a:off x="8153400" y="1447800"/>
            <a:ext cx="3429000" cy="304800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209550" tIns="209550" rIns="209550" bIns="20955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defRPr>
            </a:pPr>
            <a:r>
              <a:rPr sz="1775" b="1">
                <a:solidFill>
                  <a:srgbClr val="A16207"/>
                </a:solidFill>
                <a:latin typeface="Aptos Display"/>
                <a:ea typeface="Aptos Display"/>
                <a:cs typeface="Aptos Display"/>
              </a:rPr>
              <a:t>實務上可混用</a:t>
            </a:r>
          </a:p>
          <a:p>
            <a:pPr>
              <a:buNone/>
              <a:defRPr sz="600"/>
            </a:pPr>
            <a:endParaRPr sz="1775" b="1">
              <a:solidFill>
                <a:srgbClr val="A16207"/>
              </a:solidFill>
              <a:latin typeface="Aptos Display"/>
              <a:ea typeface="Aptos Display"/>
              <a:cs typeface="Aptos Display"/>
            </a:endParaRPr>
          </a:p>
          <a:p>
            <a:pPr algn="l">
              <a:lnSpc>
                <a:spcPct val="106000"/>
              </a:lnSpc>
              <a:buNone/>
              <a:defRPr sz="1275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容器管 OS 與工具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uv / Poetry 管 Python packages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Dockerfile 管部署 image</a:t>
            </a:r>
          </a:p>
          <a:p>
            <a:pPr algn="l">
              <a:lnSpc>
                <a:spcPct val="106000"/>
              </a:lnSpc>
              <a:buNone/>
              <a:defRPr sz="120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先選最能降低混亂的那一層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5E02D16F-F184-428A-8CE9-B6C5342B00B3}"/>
              </a:ext>
            </a:extLst>
          </p:cNvPr>
          <p:cNvSpPr>
            <a:spLocks noGrp="1"/>
          </p:cNvSpPr>
          <p:nvPr/>
        </p:nvSpPr>
        <p:spPr>
          <a:xfrm>
            <a:off x="1143000" y="4933950"/>
            <a:ext cx="9144000" cy="628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本課程只先認識 VS Code 外掛：Dev Containers。設定檔細節等真的要把專案開進容器時再學。</a:t>
            </a: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A6E95FD-54DC-4BD8-835C-BF181067825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81" name="矩形 80">
            <a:extLst>
              <a:ext uri="{FF2B5EF4-FFF2-40B4-BE49-F238E27FC236}">
                <a16:creationId xmlns:a16="http://schemas.microsoft.com/office/drawing/2014/main" id="{7BA9B145-D86E-4B3D-B54D-24BD2F20F7B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A8328211-942F-4420-91F7-45676D11892D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DEV</a:t>
            </a:r>
          </a:p>
        </p:txBody>
      </p:sp>
    </p:spTree>
    <p:extLst>
      <p:ext uri="{BB962C8B-B14F-4D97-AF65-F5344CB8AC3E}">
        <p14:creationId xmlns:p14="http://schemas.microsoft.com/office/powerpoint/2010/main" val="8929563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78C492C3-A6CF-4B3D-A085-63E466DAB9D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90749C8-40C1-46B3-A03E-27038C3252FF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save/load 與 export/import 不一樣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18360FF-2C47-4A49-9740-E492EC02DC10}"/>
              </a:ext>
            </a:extLst>
          </p:cNvPr>
          <p:cNvSpPr>
            <a:spLocks noGrp="1"/>
          </p:cNvSpPr>
          <p:nvPr/>
        </p:nvSpPr>
        <p:spPr>
          <a:xfrm>
            <a:off x="11239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A09D0AF-B0F8-4D86-9AB6-9E2080B5CF1E}"/>
              </a:ext>
            </a:extLst>
          </p:cNvPr>
          <p:cNvSpPr>
            <a:spLocks noGrp="1"/>
          </p:cNvSpPr>
          <p:nvPr/>
        </p:nvSpPr>
        <p:spPr>
          <a:xfrm>
            <a:off x="13525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save / load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CACB10C-496F-4103-8F80-08D3D4138258}"/>
              </a:ext>
            </a:extLst>
          </p:cNvPr>
          <p:cNvSpPr>
            <a:spLocks noGrp="1"/>
          </p:cNvSpPr>
          <p:nvPr/>
        </p:nvSpPr>
        <p:spPr>
          <a:xfrm>
            <a:off x="13525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Image。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會保留 layers、tag、history。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適合把建好的 Image 搬到另一台機器。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848DAFB-A6D2-4A44-9DE2-B002C36AF72D}"/>
              </a:ext>
            </a:extLst>
          </p:cNvPr>
          <p:cNvSpPr>
            <a:spLocks noGrp="1"/>
          </p:cNvSpPr>
          <p:nvPr/>
        </p:nvSpPr>
        <p:spPr>
          <a:xfrm>
            <a:off x="6496050" y="1657350"/>
            <a:ext cx="4572000" cy="2476500"/>
          </a:xfrm>
          <a:prstGeom prst="roundRect">
            <a:avLst>
              <a:gd name="adj" fmla="val 4615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D196765-36B3-4B88-8AAC-A9F231F540E5}"/>
              </a:ext>
            </a:extLst>
          </p:cNvPr>
          <p:cNvSpPr>
            <a:spLocks noGrp="1"/>
          </p:cNvSpPr>
          <p:nvPr/>
        </p:nvSpPr>
        <p:spPr>
          <a:xfrm>
            <a:off x="6724650" y="1847850"/>
            <a:ext cx="4114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l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docker export / import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8095700-9DD9-45D1-B7D2-289A680FD41A}"/>
              </a:ext>
            </a:extLst>
          </p:cNvPr>
          <p:cNvSpPr>
            <a:spLocks noGrp="1"/>
          </p:cNvSpPr>
          <p:nvPr/>
        </p:nvSpPr>
        <p:spPr>
          <a:xfrm>
            <a:off x="6724650" y="2457450"/>
            <a:ext cx="41148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保存 Container 檔案系統。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不保留原本 Image 的 layer history。</a:t>
            </a:r>
          </a:p>
          <a:p>
            <a:endParaRPr sz="1575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6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較像把執行後的檔案系統打包。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4123C036-39F9-43CE-B4F7-878E6A426EDB}"/>
              </a:ext>
            </a:extLst>
          </p:cNvPr>
          <p:cNvSpPr>
            <a:spLocks noGrp="1"/>
          </p:cNvSpPr>
          <p:nvPr/>
        </p:nvSpPr>
        <p:spPr>
          <a:xfrm>
            <a:off x="2381250" y="4914900"/>
            <a:ext cx="7429500" cy="895350"/>
          </a:xfrm>
          <a:prstGeom prst="roundRect">
            <a:avLst>
              <a:gd name="adj" fmla="val 1063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C5C0D661-AFD4-4072-A60C-66A3AA559DA0}"/>
              </a:ext>
            </a:extLst>
          </p:cNvPr>
          <p:cNvSpPr>
            <a:spLocks noGrp="1"/>
          </p:cNvSpPr>
          <p:nvPr/>
        </p:nvSpPr>
        <p:spPr>
          <a:xfrm>
            <a:off x="25527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6608D93-09B2-436C-AE9F-13E8BFAF90C9}"/>
              </a:ext>
            </a:extLst>
          </p:cNvPr>
          <p:cNvSpPr>
            <a:spLocks noGrp="1"/>
          </p:cNvSpPr>
          <p:nvPr/>
        </p:nvSpPr>
        <p:spPr>
          <a:xfrm>
            <a:off x="27241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C62F00E-CB26-48B6-94B1-75A1FE4AE871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E9ED1DD-464E-4156-8EC7-1E07C46CB4A9}"/>
              </a:ext>
            </a:extLst>
          </p:cNvPr>
          <p:cNvSpPr>
            <a:spLocks noGrp="1"/>
          </p:cNvSpPr>
          <p:nvPr/>
        </p:nvSpPr>
        <p:spPr>
          <a:xfrm>
            <a:off x="2590800" y="5334000"/>
            <a:ext cx="7010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059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save my-flask-app:v3 -o my-flask-app.tar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load -i my-flask-app.tar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AD12D4F-03D9-419B-A36B-45B38C30333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0171904-E732-477C-845E-BD3FD8779BC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371B497-8AFC-4797-AFD9-A4E2D1919E9E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247446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65BC74E-18B4-4142-AD00-6A7E3898F8C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PORTABILITY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DA0FA50-1335-4328-94F1-5AB5E2E12321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7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為什麼不直接 docker pull？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99AD6EE4-1531-45DD-8759-6676F0E34A68}"/>
              </a:ext>
            </a:extLst>
          </p:cNvPr>
          <p:cNvSpPr>
            <a:spLocks noGrp="1"/>
          </p:cNvSpPr>
          <p:nvPr/>
        </p:nvSpPr>
        <p:spPr>
          <a:xfrm>
            <a:off x="6096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平常首選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pull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有網路、有 registry，就直接 pull。這是日常開發最標準做法。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4A427B25-9401-4503-8EEA-985125B14AF9}"/>
              </a:ext>
            </a:extLst>
          </p:cNvPr>
          <p:cNvSpPr>
            <a:spLocks noGrp="1"/>
          </p:cNvSpPr>
          <p:nvPr/>
        </p:nvSpPr>
        <p:spPr>
          <a:xfrm>
            <a:off x="34099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封閉網路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不能連 Docker Hub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正式機、內網、客戶環境可能完全不能對外連線。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5BDE15ED-54B1-4B3D-8E6C-2FA204F7D9AF}"/>
              </a:ext>
            </a:extLst>
          </p:cNvPr>
          <p:cNvSpPr>
            <a:spLocks noGrp="1"/>
          </p:cNvSpPr>
          <p:nvPr/>
        </p:nvSpPr>
        <p:spPr>
          <a:xfrm>
            <a:off x="621030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334155"/>
                </a:solidFill>
                <a:latin typeface="Aptos"/>
                <a:ea typeface="Aptos"/>
                <a:cs typeface="Aptos"/>
              </a:rPr>
              <a:t>不能上傳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不能離開公司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商業機密或客戶規範不允許放到外部 registry。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060DCEF0-252A-4C80-ADBE-5E482872E5A9}"/>
              </a:ext>
            </a:extLst>
          </p:cNvPr>
          <p:cNvSpPr>
            <a:spLocks noGrp="1"/>
          </p:cNvSpPr>
          <p:nvPr/>
        </p:nvSpPr>
        <p:spPr>
          <a:xfrm>
            <a:off x="9010650" y="1543050"/>
            <a:ext cx="2571750" cy="2533650"/>
          </a:xfrm>
          <a:prstGeom prst="roundRect">
            <a:avLst>
              <a:gd name="adj" fmla="val 8000"/>
            </a:avLst>
          </a:prstGeom>
          <a:solidFill>
            <a:srgbClr val="FFF7E6"/>
          </a:solidFill>
          <a:ln w="9525">
            <a:solidFill>
              <a:srgbClr val="FFD999"/>
            </a:solidFill>
            <a:prstDash val="solid"/>
          </a:ln>
        </p:spPr>
        <p:txBody>
          <a:bodyPr lIns="190500" tIns="190500" rIns="190500" bIns="1905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150" b="1">
                <a:solidFill>
                  <a:srgbClr val="A16207"/>
                </a:solidFill>
                <a:latin typeface="Aptos"/>
                <a:ea typeface="Aptos"/>
                <a:cs typeface="Aptos"/>
              </a:defRPr>
            </a:pPr>
            <a:r>
              <a:rPr sz="1150" b="1">
                <a:solidFill>
                  <a:srgbClr val="A16207"/>
                </a:solidFill>
                <a:latin typeface="Aptos"/>
                <a:ea typeface="Aptos"/>
                <a:cs typeface="Aptos"/>
              </a:rPr>
              <a:t>Image 很大</a:t>
            </a:r>
          </a:p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用檔案搬比較快</a:t>
            </a:r>
          </a:p>
          <a:p>
            <a:pPr>
              <a:buNone/>
              <a:defRPr sz="500"/>
            </a:pPr>
            <a:endParaRPr sz="1650" b="1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  <a:p>
            <a:pPr algn="ctr">
              <a:lnSpc>
                <a:spcPct val="106000"/>
              </a:lnSpc>
              <a:buNone/>
              <a:defRPr sz="1150" b="0">
                <a:solidFill>
                  <a:srgbClr val="334155"/>
                </a:solidFill>
                <a:latin typeface="Aptos"/>
                <a:ea typeface="Aptos"/>
                <a:cs typeface="Aptos"/>
              </a:defRPr>
            </a:pPr>
            <a:r>
              <a:rPr sz="1150" b="0">
                <a:solidFill>
                  <a:srgbClr val="334155"/>
                </a:solidFill>
                <a:latin typeface="Aptos"/>
                <a:ea typeface="Aptos"/>
                <a:cs typeface="Aptos"/>
              </a:rPr>
              <a:t>AI / ML image 很大，內部傳檔可能比每台都 pull 更省時間。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61AF22B-49D9-46C0-8090-41BDEB40B37C}"/>
              </a:ext>
            </a:extLst>
          </p:cNvPr>
          <p:cNvSpPr>
            <a:spLocks noGrp="1"/>
          </p:cNvSpPr>
          <p:nvPr/>
        </p:nvSpPr>
        <p:spPr>
          <a:xfrm>
            <a:off x="914400" y="4552950"/>
            <a:ext cx="10210800" cy="5715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0">
            <a:noFill/>
            <a:prstDash val="solid"/>
          </a:ln>
        </p:spPr>
        <p:txBody>
          <a:bodyPr lIns="152400" tIns="152400" rIns="152400" bIns="15240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一句話：pull 是從 registry 下載；save / load 是把 image 變成 .tar 檔案交付。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CFF6C10D-D4C7-41BC-AF9E-DD35345A1251}"/>
              </a:ext>
            </a:extLst>
          </p:cNvPr>
          <p:cNvSpPr>
            <a:spLocks noGrp="1"/>
          </p:cNvSpPr>
          <p:nvPr/>
        </p:nvSpPr>
        <p:spPr>
          <a:xfrm>
            <a:off x="2286000" y="5264150"/>
            <a:ext cx="7478400" cy="47625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9525">
            <a:solidFill>
              <a:srgbClr val="D9E2EC"/>
            </a:solidFill>
            <a:prstDash val="solid"/>
          </a:ln>
        </p:spPr>
        <p:txBody>
          <a:bodyPr lIns="152400" tIns="152400" rIns="152400" bIns="152400" anchor="t">
            <a:normAutofit fontScale="92500" lnSpcReduction="20000"/>
          </a:bodyPr>
          <a:lstStyle/>
          <a:p>
            <a:pPr algn="ctr">
              <a:lnSpc>
                <a:spcPct val="106000"/>
              </a:lnSpc>
              <a:buNone/>
              <a:def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defRPr>
            </a:pPr>
            <a:r>
              <a:rPr sz="1200" b="1">
                <a:solidFill>
                  <a:srgbClr val="0B1220"/>
                </a:solidFill>
                <a:latin typeface="Aptos Mono"/>
                <a:ea typeface="Aptos Mono"/>
                <a:cs typeface="Aptos Mono"/>
              </a:rPr>
              <a:t>docker save -o app.tar my-flask-app:v3        docker load -i app.tar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7698740-2221-4571-A684-3F6D6A229C6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 lIns="0" tIns="0" rIns="0" bIns="0" anchor="t">
            <a:normAutofit fontScale="25000" lnSpcReduction="20000"/>
          </a:bodyPr>
          <a:lstStyle/>
          <a:p>
            <a:endParaRPr/>
          </a:p>
        </p:txBody>
      </p:sp>
      <p:sp>
        <p:nvSpPr>
          <p:cNvPr id="71" name="矩形 70">
            <a:extLst>
              <a:ext uri="{FF2B5EF4-FFF2-40B4-BE49-F238E27FC236}">
                <a16:creationId xmlns:a16="http://schemas.microsoft.com/office/drawing/2014/main" id="{67B53EEA-C984-4B31-9080-EDC6CB2D19E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72" name="矩形 71">
            <a:extLst>
              <a:ext uri="{FF2B5EF4-FFF2-40B4-BE49-F238E27FC236}">
                <a16:creationId xmlns:a16="http://schemas.microsoft.com/office/drawing/2014/main" id="{66ECC5D1-1A45-421E-87F7-9F834A73FEEF}"/>
              </a:ext>
            </a:extLst>
          </p:cNvPr>
          <p:cNvSpPr>
            <a:spLocks noGrp="1"/>
          </p:cNvSpPr>
          <p:nvPr/>
        </p:nvSpPr>
        <p:spPr>
          <a:xfrm>
            <a:off x="10858500" y="6381750"/>
            <a:ext cx="723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PORT</a:t>
            </a:r>
          </a:p>
        </p:txBody>
      </p:sp>
    </p:spTree>
    <p:extLst>
      <p:ext uri="{BB962C8B-B14F-4D97-AF65-F5344CB8AC3E}">
        <p14:creationId xmlns:p14="http://schemas.microsoft.com/office/powerpoint/2010/main" val="9415178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6A557DB0-CA95-46EB-92B5-C29332DE5D7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MULTI-CONTAINER DESIGN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AFA7974-7D63-479F-87E9-408A30A99A07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為什麼要把服務拆到不同容器？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D985612-F612-48EF-BEFF-F3E59C082E0F}"/>
              </a:ext>
            </a:extLst>
          </p:cNvPr>
          <p:cNvSpPr>
            <a:spLocks noGrp="1"/>
          </p:cNvSpPr>
          <p:nvPr/>
        </p:nvSpPr>
        <p:spPr>
          <a:xfrm>
            <a:off x="12573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24A2E1-3DCB-4B29-BDED-20C4384F1A2F}"/>
              </a:ext>
            </a:extLst>
          </p:cNvPr>
          <p:cNvSpPr>
            <a:spLocks noGrp="1"/>
          </p:cNvSpPr>
          <p:nvPr/>
        </p:nvSpPr>
        <p:spPr>
          <a:xfrm>
            <a:off x="14859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單一責任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DD0C59-7E6C-46BE-AD17-21D374802C3A}"/>
              </a:ext>
            </a:extLst>
          </p:cNvPr>
          <p:cNvSpPr>
            <a:spLocks noGrp="1"/>
          </p:cNvSpPr>
          <p:nvPr/>
        </p:nvSpPr>
        <p:spPr>
          <a:xfrm>
            <a:off x="14859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Flask 管應用，MySQL 管資料庫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06A9875-3F82-4CA3-8F80-404703C6FC8D}"/>
              </a:ext>
            </a:extLst>
          </p:cNvPr>
          <p:cNvSpPr>
            <a:spLocks noGrp="1"/>
          </p:cNvSpPr>
          <p:nvPr/>
        </p:nvSpPr>
        <p:spPr>
          <a:xfrm>
            <a:off x="6743700" y="16573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14DFBFB-CF33-4C49-BB32-48C1137777C4}"/>
              </a:ext>
            </a:extLst>
          </p:cNvPr>
          <p:cNvSpPr>
            <a:spLocks noGrp="1"/>
          </p:cNvSpPr>
          <p:nvPr/>
        </p:nvSpPr>
        <p:spPr>
          <a:xfrm>
            <a:off x="6972300" y="18478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獨立升級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3196534-09A4-46F4-891C-053D65C177EC}"/>
              </a:ext>
            </a:extLst>
          </p:cNvPr>
          <p:cNvSpPr>
            <a:spLocks noGrp="1"/>
          </p:cNvSpPr>
          <p:nvPr/>
        </p:nvSpPr>
        <p:spPr>
          <a:xfrm>
            <a:off x="6972300" y="23812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Web app 可重建，不影響資料庫版本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621F695-7982-4A48-B2FD-7EA85036A0E9}"/>
              </a:ext>
            </a:extLst>
          </p:cNvPr>
          <p:cNvSpPr>
            <a:spLocks noGrp="1"/>
          </p:cNvSpPr>
          <p:nvPr/>
        </p:nvSpPr>
        <p:spPr>
          <a:xfrm>
            <a:off x="12573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27BB6D2-B30F-48C0-AD34-3938ADFBFDB8}"/>
              </a:ext>
            </a:extLst>
          </p:cNvPr>
          <p:cNvSpPr>
            <a:spLocks noGrp="1"/>
          </p:cNvSpPr>
          <p:nvPr/>
        </p:nvSpPr>
        <p:spPr>
          <a:xfrm>
            <a:off x="14859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獨立資源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021EA07-3A5C-4B37-BC11-003B7B83E54E}"/>
              </a:ext>
            </a:extLst>
          </p:cNvPr>
          <p:cNvSpPr>
            <a:spLocks noGrp="1"/>
          </p:cNvSpPr>
          <p:nvPr/>
        </p:nvSpPr>
        <p:spPr>
          <a:xfrm>
            <a:off x="14859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資料庫通常需要更多 CPU/Memory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81E3084C-5507-4B82-88B9-90FC4757F5EE}"/>
              </a:ext>
            </a:extLst>
          </p:cNvPr>
          <p:cNvSpPr>
            <a:spLocks noGrp="1"/>
          </p:cNvSpPr>
          <p:nvPr/>
        </p:nvSpPr>
        <p:spPr>
          <a:xfrm>
            <a:off x="6743700" y="3676650"/>
            <a:ext cx="4191000" cy="1371600"/>
          </a:xfrm>
          <a:prstGeom prst="roundRect">
            <a:avLst>
              <a:gd name="adj" fmla="val 8333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B8D2CC-D2A0-4733-97CE-3F8ED1071B00}"/>
              </a:ext>
            </a:extLst>
          </p:cNvPr>
          <p:cNvSpPr>
            <a:spLocks noGrp="1"/>
          </p:cNvSpPr>
          <p:nvPr/>
        </p:nvSpPr>
        <p:spPr>
          <a:xfrm>
            <a:off x="6972300" y="3867150"/>
            <a:ext cx="3733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463"/>
          </a:bodyPr>
          <a:lstStyle/>
          <a:p>
            <a:pPr algn="ctr">
              <a:lnSpc>
                <a:spcPct val="106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更接近實務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EFD8EB9-F678-4C11-A6EC-9C4428F3264C}"/>
              </a:ext>
            </a:extLst>
          </p:cNvPr>
          <p:cNvSpPr>
            <a:spLocks noGrp="1"/>
          </p:cNvSpPr>
          <p:nvPr/>
        </p:nvSpPr>
        <p:spPr>
          <a:xfrm>
            <a:off x="6972300" y="4400550"/>
            <a:ext cx="3733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rPr>
                <a:latin typeface="Microsoft JhengHei"/>
              </a:rPr>
              <a:t>服務各自負責單一工作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9E13932-E4DB-4714-8BF2-2075FD019F9E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8752FF1-515D-4514-AD5E-AF06F6F263F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37696E3-F4B7-43BD-AB03-0140F20EED8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96410165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58142FC-04FC-426C-89A8-D832AE0C3A23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AA23089-9D32-4F8B-94EF-AD244BF0B511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(1/4)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16FA80C-9720-4B10-8129-D8CCE5F4C2F3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099DD23C-5B9E-4330-98B4-042B7B5B2F56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D93BD5FE-C23F-45F0-A39C-6007F758D340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t>from flask import Flask, jsonify</a:t>
            </a:r>
          </a:p>
          <a:p>
            <a:r>
              <a:t>import mysql.connector</a:t>
            </a:r>
          </a:p>
          <a:p>
            <a:r>
              <a:t>import time</a:t>
            </a:r>
          </a:p>
          <a:p>
            <a:r>
              <a:t> </a:t>
            </a:r>
          </a:p>
          <a:p>
            <a:r>
              <a:t>app = Flask(__name__)</a:t>
            </a:r>
          </a:p>
          <a:p>
            <a:r>
              <a:t> </a:t>
            </a:r>
          </a:p>
          <a:p>
            <a:r>
              <a:t>def get_db_connection():</a:t>
            </a:r>
          </a:p>
          <a:p>
            <a:r>
              <a:t>    """建立資料庫連線"""</a:t>
            </a:r>
          </a:p>
          <a:p>
            <a:r>
              <a:t>    return mysql.connector.connect(</a:t>
            </a:r>
          </a:p>
          <a:p>
            <a:r>
              <a:t>        host='localhost',          # 用容器名稱當主機名！</a:t>
            </a:r>
          </a:p>
          <a:p>
            <a:r>
              <a:t>        user='flaskuser',</a:t>
            </a:r>
          </a:p>
          <a:p>
            <a:r>
              <a:t>        password='flaskpass',</a:t>
            </a:r>
          </a:p>
          <a:p>
            <a:r>
              <a:t>        database='flaskdb'</a:t>
            </a:r>
          </a:p>
          <a:p>
            <a:r>
              <a:t>    )</a:t>
            </a:r>
          </a:p>
          <a:p>
            <a:r>
              <a:t> </a:t>
            </a:r>
          </a:p>
          <a:p>
            <a:r>
              <a:t>def init_db():</a:t>
            </a:r>
          </a:p>
          <a:p>
            <a:r>
              <a:t>    """初始化資料庫"""</a:t>
            </a:r>
          </a:p>
          <a:p>
            <a:r>
              <a:t>    # 等待 MySQL 啟動完成</a:t>
            </a:r>
          </a:p>
          <a:p>
            <a:r>
              <a:t>    for i in range(30):</a:t>
            </a:r>
          </a:p>
          <a:p>
            <a:r>
              <a:t>        try:</a:t>
            </a:r>
          </a:p>
          <a:p>
            <a:r>
              <a:t>            conn = get_db_connection()</a:t>
            </a:r>
          </a:p>
          <a:p>
            <a:r>
              <a:t>            cursor = conn.cursor()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06057E7B-4F63-48E5-9834-F3E24105C9A2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CEA1C0C1-6AEE-4E96-AED5-BED53A7235CC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83089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EA0573E0-67CF-40AA-9A83-CB2516478D40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4DF04CA-C035-4DEC-A5DD-34F9BA0752E3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(2/4)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3FAE033-6604-44E5-B439-3E73BF9D4EB4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77FBFED5-6287-4593-BCD3-3FBBCAE1BCD1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08AC9AF-BF8D-4257-B741-CAA52CC347FA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cursor.execute('''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CREATE TABLE IF NOT EXISTS visitors (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id INT AUTO_INCREMENT PRIMARY KEY,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    visit_time TIMESTAMP DEFAULT CURRENT_TIMESTAMP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    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''')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conn.commit()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cursor.close()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conn.close()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print("Database initialized!")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return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except Exception as e: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print(f"Waiting for MySQL... ({i+1}/30)")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    time.sleep(2)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print("Failed to connect to MySQL!")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@app.route('/')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hello():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1B96E91-9639-4F37-9FB0-52A26F549381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26D5362B-2922-4DFC-8420-F6D055735EF3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70281050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9709454E-7F1F-4225-821A-439188A0609E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0312FA65-FC88-4668-A55F-0AAA1A8BBE6F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(3/4)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888AC90-C8F9-4617-A618-7E3723340D3A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D516726D-4961-43DA-8292-E47F68A6ADEB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E8143E75-18EF-41B0-B2AE-CC661BE1FFB3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記錄訪問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cursor.execute("INSERT INTO visitors () VALUES ()")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conn.commit()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# 取得總訪問次數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COUNT(*) FROM visitors")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count = cursor.fetchone()[0]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f'&lt;h1&gt;Hello Docker!&lt;/h1&gt;&lt;p&gt;You are visitor #{count}&lt;/p&gt;'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f'&lt;h1&gt;Error&lt;/h1&gt;&lt;p&gt;{str(e)}&lt;/p&gt;'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@app.route('/visitors')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def visitors():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try: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 = get_db_connection()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 = conn.cursor()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cursor.execute("SELECT * FROM visitors ORDER BY visit_time DESC LIMIT 10")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rows = cursor.fetchall()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8AE1BE27-D819-4D32-A5EC-25960B12B2B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5A5F9C4-494B-4D20-95C9-7C1C54F38C40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3910238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1A7D275D-2627-4522-81DD-55C1ABA6FCB5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1E0CEA5-7F5E-42AF-9D8F-7F3BDD219718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app.py (4/4)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97870100-880E-4A4E-BDE4-7F3989E92A6F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8FD198DA-480F-44BB-B5BB-6B1258CD72E9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F86683E5-7EB7-4D31-9298-299C0BBE0371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cursor.close()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conn.close()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jsonify([{'id': r[0], 'time': str(r[1])} for r in rows])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except Exception as e: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    return jsonify({'error': str(e)})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if __name__ == '__main__':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init_db()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 app.run(host='0.0.0.0', port=5000)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C03FFAC-D7A1-43EA-8AEA-00C4DF49D1DD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F283E421-D2D6-4BB9-988B-899CC9E719DF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8423153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0784A430-CD0B-4A37-BEDB-5542FFC09952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BD31DC4-DB77-4428-B464-4F4AF26779C7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範例程式碼：Flask + MySQL 容器指令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3FB8E6B-1E07-4284-9479-F2C51C35119C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0CEF9592-EC9D-4EE0-91B7-AC325B27A65C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AA26FDF5-3B2D-4842-82F8-3FBDEA146564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/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mysql-db \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MYSQL_DATABASE=appdb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C:\docker-lab\flask-app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build -t my-flask-app:v4 .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flask-web \</a:t>
            </a:r>
          </a:p>
          <a:p>
            <a:endParaRPr sz="11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\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95735D8F-2FEF-40A4-9BAA-8F25842C0C9C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E4DD897F-92D3-40E1-9A83-BFC62DE5391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73786601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83B93076-BF4C-41EF-AC20-EA1DF7A04DE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LIMITS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8F45EA4-B987-4693-B077-C8801190D649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為什麼需要限制容器資源？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352C5722-F744-481F-B309-92F9BAB6FDE4}"/>
              </a:ext>
            </a:extLst>
          </p:cNvPr>
          <p:cNvSpPr>
            <a:spLocks noGrp="1"/>
          </p:cNvSpPr>
          <p:nvPr/>
        </p:nvSpPr>
        <p:spPr>
          <a:xfrm>
            <a:off x="1123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8F4DA2-E17C-4803-864E-7D1E6059E0B6}"/>
              </a:ext>
            </a:extLst>
          </p:cNvPr>
          <p:cNvSpPr>
            <a:spLocks noGrp="1"/>
          </p:cNvSpPr>
          <p:nvPr/>
        </p:nvSpPr>
        <p:spPr>
          <a:xfrm>
            <a:off x="1352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CPU 被吃滿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222BB15-4714-4095-BD6D-979D7FAFDBEA}"/>
              </a:ext>
            </a:extLst>
          </p:cNvPr>
          <p:cNvSpPr>
            <a:spLocks noGrp="1"/>
          </p:cNvSpPr>
          <p:nvPr/>
        </p:nvSpPr>
        <p:spPr>
          <a:xfrm>
            <a:off x="1352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一個失控程式讓其他容器變慢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0CBEB5E-2A78-4E03-904C-253AD5A092BF}"/>
              </a:ext>
            </a:extLst>
          </p:cNvPr>
          <p:cNvSpPr>
            <a:spLocks noGrp="1"/>
          </p:cNvSpPr>
          <p:nvPr/>
        </p:nvSpPr>
        <p:spPr>
          <a:xfrm>
            <a:off x="4552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BAF1392-5B91-4572-80E2-C3C14539F0FF}"/>
              </a:ext>
            </a:extLst>
          </p:cNvPr>
          <p:cNvSpPr>
            <a:spLocks noGrp="1"/>
          </p:cNvSpPr>
          <p:nvPr/>
        </p:nvSpPr>
        <p:spPr>
          <a:xfrm>
            <a:off x="4781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記憶體爆掉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F2C999-4A72-42E4-BAB0-D2DDBA235F8E}"/>
              </a:ext>
            </a:extLst>
          </p:cNvPr>
          <p:cNvSpPr>
            <a:spLocks noGrp="1"/>
          </p:cNvSpPr>
          <p:nvPr/>
        </p:nvSpPr>
        <p:spPr>
          <a:xfrm>
            <a:off x="4781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OOM 可能殺掉容器，甚至拖垮主機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82238BB5-7416-4B69-AA95-C71A00213CDC}"/>
              </a:ext>
            </a:extLst>
          </p:cNvPr>
          <p:cNvSpPr>
            <a:spLocks noGrp="1"/>
          </p:cNvSpPr>
          <p:nvPr/>
        </p:nvSpPr>
        <p:spPr>
          <a:xfrm>
            <a:off x="7981950" y="1905000"/>
            <a:ext cx="285750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B78523-80E5-433A-9A5A-AC785EEC988D}"/>
              </a:ext>
            </a:extLst>
          </p:cNvPr>
          <p:cNvSpPr>
            <a:spLocks noGrp="1"/>
          </p:cNvSpPr>
          <p:nvPr/>
        </p:nvSpPr>
        <p:spPr>
          <a:xfrm>
            <a:off x="8210550" y="232410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效能不穩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6A5036F-CBBE-4025-BFC7-9F92F79A66E3}"/>
              </a:ext>
            </a:extLst>
          </p:cNvPr>
          <p:cNvSpPr>
            <a:spLocks noGrp="1"/>
          </p:cNvSpPr>
          <p:nvPr/>
        </p:nvSpPr>
        <p:spPr>
          <a:xfrm>
            <a:off x="8210550" y="3048000"/>
            <a:ext cx="24003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多個服務互搶資源，測試結果不可靠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3ADA453A-86C7-4B13-AFD3-EE15071E3384}"/>
              </a:ext>
            </a:extLst>
          </p:cNvPr>
          <p:cNvSpPr>
            <a:spLocks noGrp="1"/>
          </p:cNvSpPr>
          <p:nvPr/>
        </p:nvSpPr>
        <p:spPr>
          <a:xfrm>
            <a:off x="2724150" y="4914900"/>
            <a:ext cx="6743700" cy="876300"/>
          </a:xfrm>
          <a:prstGeom prst="roundRect">
            <a:avLst>
              <a:gd name="adj" fmla="val 1087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0E2F087D-F623-44EA-8BBB-452DD5C3488A}"/>
              </a:ext>
            </a:extLst>
          </p:cNvPr>
          <p:cNvSpPr>
            <a:spLocks noGrp="1"/>
          </p:cNvSpPr>
          <p:nvPr/>
        </p:nvSpPr>
        <p:spPr>
          <a:xfrm>
            <a:off x="289560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2E12EDF7-8155-4DEC-8FDF-969E3B8AB6D9}"/>
              </a:ext>
            </a:extLst>
          </p:cNvPr>
          <p:cNvSpPr>
            <a:spLocks noGrp="1"/>
          </p:cNvSpPr>
          <p:nvPr/>
        </p:nvSpPr>
        <p:spPr>
          <a:xfrm>
            <a:off x="306705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3677292F-528F-4581-A9E0-06BAECB69AC1}"/>
              </a:ext>
            </a:extLst>
          </p:cNvPr>
          <p:cNvSpPr>
            <a:spLocks noGrp="1"/>
          </p:cNvSpPr>
          <p:nvPr/>
        </p:nvSpPr>
        <p:spPr>
          <a:xfrm>
            <a:off x="323850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1FA11FD7-1588-491F-B40E-2901BA98B9BB}"/>
              </a:ext>
            </a:extLst>
          </p:cNvPr>
          <p:cNvSpPr>
            <a:spLocks noGrp="1"/>
          </p:cNvSpPr>
          <p:nvPr/>
        </p:nvSpPr>
        <p:spPr>
          <a:xfrm>
            <a:off x="2933700" y="5334000"/>
            <a:ext cx="6324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6725" lnSpcReduction="2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info | findstr -i "cpu\|memory"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DB93616-4165-4511-A626-1DB9510A69E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A1658DA-66F9-4D7F-9481-4266404AC8D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FFC2275-EA29-4D84-A4E7-0ACB7CDC610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790191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FF38D56-11E6-4D28-8605-4B1655C4B2A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RESOURCE DASHBOARD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0E46B2-CEB1-4EA7-AB5B-AE747B886FAC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stats 讓資源使用變成可觀察</a:t>
            </a:r>
          </a:p>
        </p:txBody>
      </p:sp>
      <p:pic>
        <p:nvPicPr>
          <p:cNvPr id="19" name="圖片 18"/>
          <p:cNvPicPr>
            <a:picLocks noChangeAspect="1"/>
          </p:cNvPicPr>
          <p:nvPr/>
        </p:nvPicPr>
        <p:blipFill>
          <a:blip r:embed="rId3"/>
          <a:srcRect l="6150" r="6150"/>
          <a:stretch>
            <a:fillRect/>
          </a:stretch>
        </p:blipFill>
        <p:spPr>
          <a:xfrm>
            <a:off x="6343650" y="1352550"/>
            <a:ext cx="4838700" cy="31051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297816CE-D008-4C71-998F-826BA75ED855}"/>
              </a:ext>
            </a:extLst>
          </p:cNvPr>
          <p:cNvSpPr>
            <a:spLocks noGrp="1"/>
          </p:cNvSpPr>
          <p:nvPr/>
        </p:nvSpPr>
        <p:spPr>
          <a:xfrm>
            <a:off x="6343650" y="1352550"/>
            <a:ext cx="4838700" cy="3105150"/>
          </a:xfrm>
          <a:prstGeom prst="roundRect">
            <a:avLst>
              <a:gd name="adj" fmla="val 4294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0E88783-72A2-48A4-975A-730ABF32A657}"/>
              </a:ext>
            </a:extLst>
          </p:cNvPr>
          <p:cNvSpPr>
            <a:spLocks noGrp="1"/>
          </p:cNvSpPr>
          <p:nvPr/>
        </p:nvSpPr>
        <p:spPr>
          <a:xfrm>
            <a:off x="838200" y="1657350"/>
            <a:ext cx="4857750" cy="1809750"/>
          </a:xfrm>
          <a:prstGeom prst="roundRect">
            <a:avLst>
              <a:gd name="adj" fmla="val 5263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CBF6EC25-5AD6-4454-8A2C-939C517D6B30}"/>
              </a:ext>
            </a:extLst>
          </p:cNvPr>
          <p:cNvSpPr>
            <a:spLocks noGrp="1"/>
          </p:cNvSpPr>
          <p:nvPr/>
        </p:nvSpPr>
        <p:spPr>
          <a:xfrm>
            <a:off x="1009650" y="18192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2AF8D096-9D3E-4FEE-94DA-A7CDDBC5AC1E}"/>
              </a:ext>
            </a:extLst>
          </p:cNvPr>
          <p:cNvSpPr>
            <a:spLocks noGrp="1"/>
          </p:cNvSpPr>
          <p:nvPr/>
        </p:nvSpPr>
        <p:spPr>
          <a:xfrm>
            <a:off x="1181100" y="18192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0B4AEAB4-A16C-403C-B3A3-01300BC900BE}"/>
              </a:ext>
            </a:extLst>
          </p:cNvPr>
          <p:cNvSpPr>
            <a:spLocks noGrp="1"/>
          </p:cNvSpPr>
          <p:nvPr/>
        </p:nvSpPr>
        <p:spPr>
          <a:xfrm>
            <a:off x="1352550" y="18192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35B036C-631A-4ED6-A1AE-CA4DF91B10AC}"/>
              </a:ext>
            </a:extLst>
          </p:cNvPr>
          <p:cNvSpPr>
            <a:spLocks noGrp="1"/>
          </p:cNvSpPr>
          <p:nvPr/>
        </p:nvSpPr>
        <p:spPr>
          <a:xfrm>
            <a:off x="1047750" y="2076450"/>
            <a:ext cx="44386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CONTAINER   CPU %   MEM USAGE / LIMIT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flask       0.50%   50MiB / 512MiB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mysql       3.20%   420MiB / 2GiB</a:t>
            </a: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redis       0.10%   12MiB / 256MiB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4BC35007-ECC9-4235-ACD2-61E6F05833F9}"/>
              </a:ext>
            </a:extLst>
          </p:cNvPr>
          <p:cNvSpPr>
            <a:spLocks noGrp="1"/>
          </p:cNvSpPr>
          <p:nvPr/>
        </p:nvSpPr>
        <p:spPr>
          <a:xfrm>
            <a:off x="1238250" y="4038600"/>
            <a:ext cx="4095750" cy="14859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B44D81F-A937-4800-9CF0-AC209CB09129}"/>
              </a:ext>
            </a:extLst>
          </p:cNvPr>
          <p:cNvSpPr>
            <a:spLocks noGrp="1"/>
          </p:cNvSpPr>
          <p:nvPr/>
        </p:nvSpPr>
        <p:spPr>
          <a:xfrm>
            <a:off x="1466850" y="422910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讀表重點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C055C94-0244-47B1-90BD-051C4D76B753}"/>
              </a:ext>
            </a:extLst>
          </p:cNvPr>
          <p:cNvSpPr>
            <a:spLocks noGrp="1"/>
          </p:cNvSpPr>
          <p:nvPr/>
        </p:nvSpPr>
        <p:spPr>
          <a:xfrm>
            <a:off x="1466850" y="4724400"/>
            <a:ext cx="36385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271" lnSpcReduction="10000"/>
          </a:bodyPr>
          <a:lstStyle/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CPU % 看是否被限制住。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MEM USAGE / LIMIT 看是否接近上限。</a:t>
            </a:r>
          </a:p>
          <a:p>
            <a:pPr algn="l">
              <a:lnSpc>
                <a:spcPct val="106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NET / BLOCK I/O 用來觀察流量與磁碟。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C40AD58-FF31-4B1F-8FAD-EDB7C062423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2C0D1B-6563-4943-9DEA-66AB65042F2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B0645AD-0957-46C5-BEFB-1D2581026FF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5584530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150CA56E-C62B-47B2-BE80-05464787C25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CEC0D3-8F7F-4B08-BC1F-660160935404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CPU 限制：--cpus=0.5 是什麼意思？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4C4A768F-9FE9-46B5-8ADF-4F3FFFB15E96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6667500" cy="2876550"/>
          </a:xfrm>
          <a:prstGeom prst="roundRect">
            <a:avLst>
              <a:gd name="adj" fmla="val 331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FF5ABA41-1196-4F57-97B5-33AB7E7BE45C}"/>
              </a:ext>
            </a:extLst>
          </p:cNvPr>
          <p:cNvSpPr>
            <a:spLocks noGrp="1"/>
          </p:cNvSpPr>
          <p:nvPr/>
        </p:nvSpPr>
        <p:spPr>
          <a:xfrm>
            <a:off x="933450" y="15906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370ADF6-D2B4-4879-9FD0-D368B82C1C61}"/>
              </a:ext>
            </a:extLst>
          </p:cNvPr>
          <p:cNvSpPr>
            <a:spLocks noGrp="1"/>
          </p:cNvSpPr>
          <p:nvPr/>
        </p:nvSpPr>
        <p:spPr>
          <a:xfrm>
            <a:off x="1104900" y="15906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198CB4D-29F6-401F-BC40-45630FEA3A14}"/>
              </a:ext>
            </a:extLst>
          </p:cNvPr>
          <p:cNvSpPr>
            <a:spLocks noGrp="1"/>
          </p:cNvSpPr>
          <p:nvPr/>
        </p:nvSpPr>
        <p:spPr>
          <a:xfrm>
            <a:off x="1276350" y="15906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C328433-8863-4D47-BF2E-7FA547409988}"/>
              </a:ext>
            </a:extLst>
          </p:cNvPr>
          <p:cNvSpPr>
            <a:spLocks noGrp="1"/>
          </p:cNvSpPr>
          <p:nvPr/>
        </p:nvSpPr>
        <p:spPr>
          <a:xfrm>
            <a:off x="971550" y="1847850"/>
            <a:ext cx="6248400" cy="2324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--cpus=1.5 --name cpu-test nginx</a:t>
            </a:r>
          </a:p>
          <a:p>
            <a:endParaRPr sz="14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half-cpu nginx</a:t>
            </a:r>
          </a:p>
          <a:p>
            <a:endParaRPr sz="14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--cpu-shares=2048 --name high-priority nginx</a:t>
            </a:r>
          </a:p>
          <a:p>
            <a:endParaRPr sz="14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4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--cpuset-cpus="0,1" --name pinned-cpu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34F6652-FDB5-4331-B236-7B1D1DB2A5AF}"/>
              </a:ext>
            </a:extLst>
          </p:cNvPr>
          <p:cNvSpPr>
            <a:spLocks noGrp="1"/>
          </p:cNvSpPr>
          <p:nvPr/>
        </p:nvSpPr>
        <p:spPr>
          <a:xfrm>
            <a:off x="7886700" y="1752600"/>
            <a:ext cx="3067050" cy="1562100"/>
          </a:xfrm>
          <a:prstGeom prst="roundRect">
            <a:avLst>
              <a:gd name="adj" fmla="val 7317"/>
            </a:avLst>
          </a:prstGeom>
          <a:solidFill>
            <a:srgbClr val="111827"/>
          </a:solidFill>
          <a:ln w="9525">
            <a:solidFill>
              <a:srgbClr val="FBBF24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2D899E5-74CA-409F-848A-3E5CEF06C09E}"/>
              </a:ext>
            </a:extLst>
          </p:cNvPr>
          <p:cNvSpPr>
            <a:spLocks noGrp="1"/>
          </p:cNvSpPr>
          <p:nvPr/>
        </p:nvSpPr>
        <p:spPr>
          <a:xfrm>
            <a:off x="8115300" y="1943100"/>
            <a:ext cx="2609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BBF24"/>
                </a:solidFill>
                <a:latin typeface="Aptos Display"/>
                <a:ea typeface="Aptos Display"/>
                <a:cs typeface="Aptos Display"/>
              </a:rPr>
              <a:t>Q4 討論提示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B6FF685-CF31-4DFC-8962-3ED646E56440}"/>
              </a:ext>
            </a:extLst>
          </p:cNvPr>
          <p:cNvSpPr>
            <a:spLocks noGrp="1"/>
          </p:cNvSpPr>
          <p:nvPr/>
        </p:nvSpPr>
        <p:spPr>
          <a:xfrm>
            <a:off x="8115300" y="2457450"/>
            <a:ext cx="2609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87"/>
          </a:bodyPr>
          <a:lstStyle/>
          <a:p>
            <a:pPr algn="l">
              <a:lnSpc>
                <a:spcPct val="106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先判斷 --cpus 代表什麼，再討論 0.5 與 1.5 的差異。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95462D86-84FA-4EA1-8F36-6FBAA4284838}"/>
              </a:ext>
            </a:extLst>
          </p:cNvPr>
          <p:cNvSpPr>
            <a:spLocks noGrp="1"/>
          </p:cNvSpPr>
          <p:nvPr/>
        </p:nvSpPr>
        <p:spPr>
          <a:xfrm>
            <a:off x="1943100" y="5105400"/>
            <a:ext cx="8305800" cy="495300"/>
          </a:xfrm>
          <a:prstGeom prst="roundRect">
            <a:avLst>
              <a:gd name="adj" fmla="val 19231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D094544-88B4-40E2-B801-25F4FC02F572}"/>
              </a:ext>
            </a:extLst>
          </p:cNvPr>
          <p:cNvSpPr>
            <a:spLocks noGrp="1"/>
          </p:cNvSpPr>
          <p:nvPr/>
        </p:nvSpPr>
        <p:spPr>
          <a:xfrm>
            <a:off x="2266950" y="5257800"/>
            <a:ext cx="7658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978" lnSpcReduction="1000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--cpu-shares 只在 CPU 競爭時才有明顯效果。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B69FF25-BA16-4D27-A416-72DC69C9BD4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E3C5C1-8BF9-4370-853F-2E820751190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CE2548E-4BC8-4904-8860-3B5A5B5B0AB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19416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6BA323A-535C-4035-8678-7E067F9FD13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CPU STRESS TEST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DF9042C-F3FC-4358-B64E-B45EF7E4626E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實作：CPU 壓力測試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DDCF02C-8958-4C19-8D8A-D79CB98E419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7239000" cy="2686050"/>
          </a:xfrm>
          <a:prstGeom prst="roundRect">
            <a:avLst>
              <a:gd name="adj" fmla="val 354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34F6649F-FF34-48AB-8E15-064BD71178BA}"/>
              </a:ext>
            </a:extLst>
          </p:cNvPr>
          <p:cNvSpPr>
            <a:spLocks noGrp="1"/>
          </p:cNvSpPr>
          <p:nvPr/>
        </p:nvSpPr>
        <p:spPr>
          <a:xfrm>
            <a:off x="952500" y="16287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802A7536-DDDC-452E-AC15-C9472C419F42}"/>
              </a:ext>
            </a:extLst>
          </p:cNvPr>
          <p:cNvSpPr>
            <a:spLocks noGrp="1"/>
          </p:cNvSpPr>
          <p:nvPr/>
        </p:nvSpPr>
        <p:spPr>
          <a:xfrm>
            <a:off x="1123950" y="16287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BB919E2E-F444-4DA7-8543-0477022CB6BA}"/>
              </a:ext>
            </a:extLst>
          </p:cNvPr>
          <p:cNvSpPr>
            <a:spLocks noGrp="1"/>
          </p:cNvSpPr>
          <p:nvPr/>
        </p:nvSpPr>
        <p:spPr>
          <a:xfrm>
            <a:off x="1295400" y="16287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61A2282-D212-42E8-808E-873E2B0F9984}"/>
              </a:ext>
            </a:extLst>
          </p:cNvPr>
          <p:cNvSpPr>
            <a:spLocks noGrp="1"/>
          </p:cNvSpPr>
          <p:nvPr/>
        </p:nvSpPr>
        <p:spPr>
          <a:xfrm>
            <a:off x="990600" y="1885950"/>
            <a:ext cx="6819900" cy="2133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--cpus=0.5 --name stress-limited bash:5 bash -c "while true; do :; done"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stress-no-limit stress-limited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27273B14-2C12-420F-91C2-922747A3F7AF}"/>
              </a:ext>
            </a:extLst>
          </p:cNvPr>
          <p:cNvSpPr>
            <a:spLocks noGrp="1"/>
          </p:cNvSpPr>
          <p:nvPr/>
        </p:nvSpPr>
        <p:spPr>
          <a:xfrm>
            <a:off x="8591550" y="1733550"/>
            <a:ext cx="2381250" cy="1619250"/>
          </a:xfrm>
          <a:prstGeom prst="roundRect">
            <a:avLst>
              <a:gd name="adj" fmla="val 705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74B4AD-71D5-4A8E-A435-7B1502262155}"/>
              </a:ext>
            </a:extLst>
          </p:cNvPr>
          <p:cNvSpPr>
            <a:spLocks noGrp="1"/>
          </p:cNvSpPr>
          <p:nvPr/>
        </p:nvSpPr>
        <p:spPr>
          <a:xfrm>
            <a:off x="8820150" y="1924050"/>
            <a:ext cx="1924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ctr">
              <a:lnSpc>
                <a:spcPct val="106000"/>
              </a:lnSpc>
              <a:buNone/>
              <a:def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觀察結果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955CB8-B5AA-4C3D-B8D5-B398C0DB3174}"/>
              </a:ext>
            </a:extLst>
          </p:cNvPr>
          <p:cNvSpPr>
            <a:spLocks noGrp="1"/>
          </p:cNvSpPr>
          <p:nvPr/>
        </p:nvSpPr>
        <p:spPr>
          <a:xfrm>
            <a:off x="8820150" y="2419350"/>
            <a:ext cx="192405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7751" lnSpcReduction="10000"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stress-no-limit 接近 100%。</a:t>
            </a:r>
          </a:p>
          <a:p>
            <a:endParaRPr sz="1500" b="0">
              <a:solidFill>
                <a:srgbClr val="111827"/>
              </a:solidFill>
              <a:latin typeface="Aptos"/>
              <a:ea typeface="Aptos"/>
              <a:cs typeface="Aptos"/>
            </a:endParaRPr>
          </a:p>
          <a:p>
            <a:pPr algn="ctr">
              <a:lnSpc>
                <a:spcPct val="106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stress-limited 被壓在約 50%。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C5188570-CA2F-4171-A351-5F218A7D91BD}"/>
              </a:ext>
            </a:extLst>
          </p:cNvPr>
          <p:cNvSpPr>
            <a:spLocks noGrp="1"/>
          </p:cNvSpPr>
          <p:nvPr/>
        </p:nvSpPr>
        <p:spPr>
          <a:xfrm>
            <a:off x="2000250" y="4953000"/>
            <a:ext cx="8191500" cy="552450"/>
          </a:xfrm>
          <a:prstGeom prst="roundRect">
            <a:avLst>
              <a:gd name="adj" fmla="val 17241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D2098CB-48A8-4FAF-9E65-B92C60E37942}"/>
              </a:ext>
            </a:extLst>
          </p:cNvPr>
          <p:cNvSpPr>
            <a:spLocks noGrp="1"/>
          </p:cNvSpPr>
          <p:nvPr/>
        </p:nvSpPr>
        <p:spPr>
          <a:xfrm>
            <a:off x="2324100" y="5124450"/>
            <a:ext cx="7543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47" lnSpcReduction="10000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壓力測試一定要清理，不然背景容器會一直吃 CPU。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DE00D64-1E14-4343-9922-0B9F5ACD3FA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BC8A670-F6DF-44A5-AF57-144B50260D2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01F77F9-D4CF-4398-B8E8-CECFC0598A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90527228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4623C1F-00BF-4EE5-AE60-C5721E937CE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MEMORY LIMITS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FA8B12-5477-411E-A617-886AC8E4A560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Memory 限制：硬限制、Swap、軟限制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042C876-26B5-4502-A894-42DC849BE9C8}"/>
              </a:ext>
            </a:extLst>
          </p:cNvPr>
          <p:cNvSpPr>
            <a:spLocks noGrp="1"/>
          </p:cNvSpPr>
          <p:nvPr/>
        </p:nvSpPr>
        <p:spPr>
          <a:xfrm>
            <a:off x="762000" y="1409700"/>
            <a:ext cx="7239000" cy="2914650"/>
          </a:xfrm>
          <a:prstGeom prst="roundRect">
            <a:avLst>
              <a:gd name="adj" fmla="val 3268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62F763A-827C-4094-8EDC-03BFAF1C5AC0}"/>
              </a:ext>
            </a:extLst>
          </p:cNvPr>
          <p:cNvSpPr>
            <a:spLocks noGrp="1"/>
          </p:cNvSpPr>
          <p:nvPr/>
        </p:nvSpPr>
        <p:spPr>
          <a:xfrm>
            <a:off x="933450" y="15716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CAB901B-E44E-4874-881F-3A5D6E885329}"/>
              </a:ext>
            </a:extLst>
          </p:cNvPr>
          <p:cNvSpPr>
            <a:spLocks noGrp="1"/>
          </p:cNvSpPr>
          <p:nvPr/>
        </p:nvSpPr>
        <p:spPr>
          <a:xfrm>
            <a:off x="1104900" y="15716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CFAAEFFD-7735-4738-AE0B-157DEE54DEDC}"/>
              </a:ext>
            </a:extLst>
          </p:cNvPr>
          <p:cNvSpPr>
            <a:spLocks noGrp="1"/>
          </p:cNvSpPr>
          <p:nvPr/>
        </p:nvSpPr>
        <p:spPr>
          <a:xfrm>
            <a:off x="1276350" y="15716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F76FE5-510A-4945-A871-8EE1E7FE5F35}"/>
              </a:ext>
            </a:extLst>
          </p:cNvPr>
          <p:cNvSpPr>
            <a:spLocks noGrp="1"/>
          </p:cNvSpPr>
          <p:nvPr/>
        </p:nvSpPr>
        <p:spPr>
          <a:xfrm>
            <a:off x="971550" y="1828800"/>
            <a:ext cx="6819900" cy="2362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--name mem-limited nginx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--memory-swap 512m --name mem-swap nginx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256m --memory-reservation 128m --name mem-soft nginx</a:t>
            </a:r>
          </a:p>
          <a:p>
            <a:endParaRPr sz="13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3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A527042-B4A0-4208-89F0-F855E43EA6B7}"/>
              </a:ext>
            </a:extLst>
          </p:cNvPr>
          <p:cNvSpPr>
            <a:spLocks noGrp="1"/>
          </p:cNvSpPr>
          <p:nvPr/>
        </p:nvSpPr>
        <p:spPr>
          <a:xfrm>
            <a:off x="8477250" y="14668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E4E6"/>
          </a:solidFill>
          <a:ln w="9525">
            <a:solidFill>
              <a:srgbClr val="E11D4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CE60302-F8BD-4B7C-B949-1B5E3DDB2A10}"/>
              </a:ext>
            </a:extLst>
          </p:cNvPr>
          <p:cNvSpPr>
            <a:spLocks noGrp="1"/>
          </p:cNvSpPr>
          <p:nvPr/>
        </p:nvSpPr>
        <p:spPr>
          <a:xfrm>
            <a:off x="8705850" y="16573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-m / --memory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AA30268-781B-41BC-AEB4-76F730876EAB}"/>
              </a:ext>
            </a:extLst>
          </p:cNvPr>
          <p:cNvSpPr>
            <a:spLocks noGrp="1"/>
          </p:cNvSpPr>
          <p:nvPr/>
        </p:nvSpPr>
        <p:spPr>
          <a:xfrm>
            <a:off x="8705850" y="19431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911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硬上限，超過可能 OOM Kill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8CBC06D-9255-4E44-95F6-4F4E44CE3DEF}"/>
              </a:ext>
            </a:extLst>
          </p:cNvPr>
          <p:cNvSpPr>
            <a:spLocks noGrp="1"/>
          </p:cNvSpPr>
          <p:nvPr/>
        </p:nvSpPr>
        <p:spPr>
          <a:xfrm>
            <a:off x="8477250" y="24955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BC9F8F1-9248-483E-AB8E-F5323DBC77FB}"/>
              </a:ext>
            </a:extLst>
          </p:cNvPr>
          <p:cNvSpPr>
            <a:spLocks noGrp="1"/>
          </p:cNvSpPr>
          <p:nvPr/>
        </p:nvSpPr>
        <p:spPr>
          <a:xfrm>
            <a:off x="8705850" y="26860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--memory-swap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1D1080A-C4D3-4043-BFB3-D4B13B1CB4BA}"/>
              </a:ext>
            </a:extLst>
          </p:cNvPr>
          <p:cNvSpPr>
            <a:spLocks noGrp="1"/>
          </p:cNvSpPr>
          <p:nvPr/>
        </p:nvSpPr>
        <p:spPr>
          <a:xfrm>
            <a:off x="8705850" y="29718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911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記憶體 + swap 的總上限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4C230CAE-7DC0-4EDA-BFE8-7CC8D562A38A}"/>
              </a:ext>
            </a:extLst>
          </p:cNvPr>
          <p:cNvSpPr>
            <a:spLocks noGrp="1"/>
          </p:cNvSpPr>
          <p:nvPr/>
        </p:nvSpPr>
        <p:spPr>
          <a:xfrm>
            <a:off x="8477250" y="3524250"/>
            <a:ext cx="2647950" cy="762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071FB3-DB93-47F9-AF9F-0F03A9D4EBD8}"/>
              </a:ext>
            </a:extLst>
          </p:cNvPr>
          <p:cNvSpPr>
            <a:spLocks noGrp="1"/>
          </p:cNvSpPr>
          <p:nvPr/>
        </p:nvSpPr>
        <p:spPr>
          <a:xfrm>
            <a:off x="8705850" y="3714750"/>
            <a:ext cx="2190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4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--memory-reservation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B9FA261-75B5-4F17-8D5D-66CBBFD01AEB}"/>
              </a:ext>
            </a:extLst>
          </p:cNvPr>
          <p:cNvSpPr>
            <a:spLocks noGrp="1"/>
          </p:cNvSpPr>
          <p:nvPr/>
        </p:nvSpPr>
        <p:spPr>
          <a:xfrm>
            <a:off x="8705850" y="4000500"/>
            <a:ext cx="2190750" cy="95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9911" lnSpcReduction="20000"/>
          </a:bodyPr>
          <a:lstStyle/>
          <a:p>
            <a:pPr algn="l">
              <a:lnSpc>
                <a:spcPct val="106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軟限制，Docker 會盡量維持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48B7E4-82E2-4A5D-BFDE-A987D2866C9E}"/>
              </a:ext>
            </a:extLst>
          </p:cNvPr>
          <p:cNvSpPr>
            <a:spLocks noGrp="1"/>
          </p:cNvSpPr>
          <p:nvPr/>
        </p:nvSpPr>
        <p:spPr>
          <a:xfrm>
            <a:off x="1771650" y="5238750"/>
            <a:ext cx="86487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335"/>
          </a:bodyPr>
          <a:lstStyle/>
          <a:p>
            <a:pPr algn="ctr">
              <a:lnSpc>
                <a:spcPct val="106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容器被 OOM Kill 後，通常要用 logs / inspect 找原因，不只看狀態。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0A817D8-6D52-4125-9655-9F6ACDA789D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C970278-CE91-44E3-B82D-8A29BEC0F49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1E1CEBA-1D8C-43AC-BA52-00E6995F8902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665913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C1CB723A-8E1A-4EB6-A7BB-C2E0D364B9B1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7E32C1A-1374-4D37-A4B0-DDFCE8FD4E04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範例程式碼：CPU / Memory 壓力測試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7CBE8A70-CD14-4563-94CC-BB6351BD221E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2A7937C6-39F9-443F-861D-D795640950C0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77A13EE0-F658-42D9-8CBB-F94A682615FB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stress-no-limit bash:5 bash -c "while true; do :; done"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stress-limited --cpus=0.5 bash:5 bash -c "while true; do :; done"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stress-no-limit stress-limited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-m 100m --name oom-test python:3.11-slim sleep infinity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oom-test python -c "a = ' ' * (200 * 1024 * 1024)"</a:t>
            </a:r>
          </a:p>
          <a:p>
            <a:r>
              <a:rPr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inspect oom-test --format='{{.State.OOMKilled}}'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ECC1DFE7-C61E-4AB9-8811-140490BC8E48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8EB2A945-C8FC-4736-B537-B23A1359FF58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130255267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7CE2249B-6A1B-43A7-BECF-72C0BE93B7AD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LIVE UPDATE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47571E-6649-4FB4-BBF5-85DDFE51F28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update：容器執行中也能調資源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6BD5209-816F-48F5-ADB6-3B39D35C303F}"/>
              </a:ext>
            </a:extLst>
          </p:cNvPr>
          <p:cNvSpPr>
            <a:spLocks noGrp="1"/>
          </p:cNvSpPr>
          <p:nvPr/>
        </p:nvSpPr>
        <p:spPr>
          <a:xfrm>
            <a:off x="762000" y="1447800"/>
            <a:ext cx="6858000" cy="3257550"/>
          </a:xfrm>
          <a:prstGeom prst="roundRect">
            <a:avLst>
              <a:gd name="adj" fmla="val 2924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46DECD0-07E4-480B-AE2E-6F15A465025B}"/>
              </a:ext>
            </a:extLst>
          </p:cNvPr>
          <p:cNvSpPr>
            <a:spLocks noGrp="1"/>
          </p:cNvSpPr>
          <p:nvPr/>
        </p:nvSpPr>
        <p:spPr>
          <a:xfrm>
            <a:off x="933450" y="16097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78F09F4-04F0-43FE-8D6B-91132275D6F3}"/>
              </a:ext>
            </a:extLst>
          </p:cNvPr>
          <p:cNvSpPr>
            <a:spLocks noGrp="1"/>
          </p:cNvSpPr>
          <p:nvPr/>
        </p:nvSpPr>
        <p:spPr>
          <a:xfrm>
            <a:off x="1104900" y="16097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38A0EFDE-293E-4C68-B8D6-F241F6FED2C5}"/>
              </a:ext>
            </a:extLst>
          </p:cNvPr>
          <p:cNvSpPr>
            <a:spLocks noGrp="1"/>
          </p:cNvSpPr>
          <p:nvPr/>
        </p:nvSpPr>
        <p:spPr>
          <a:xfrm>
            <a:off x="1276350" y="16097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40E6C25-5384-4369-9C7B-B975230598BE}"/>
              </a:ext>
            </a:extLst>
          </p:cNvPr>
          <p:cNvSpPr>
            <a:spLocks noGrp="1"/>
          </p:cNvSpPr>
          <p:nvPr/>
        </p:nvSpPr>
        <p:spPr>
          <a:xfrm>
            <a:off x="971550" y="1866900"/>
            <a:ext cx="643890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live-update -m 256m --cpus=1 nginx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--memory 512m --memory-swap 1g live-update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 2 live-update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live-update --no-stream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742A3468-21D8-45C1-9FE4-8721430F0BD3}"/>
              </a:ext>
            </a:extLst>
          </p:cNvPr>
          <p:cNvSpPr>
            <a:spLocks noGrp="1"/>
          </p:cNvSpPr>
          <p:nvPr/>
        </p:nvSpPr>
        <p:spPr>
          <a:xfrm>
            <a:off x="8210550" y="1619250"/>
            <a:ext cx="2571750" cy="2095500"/>
          </a:xfrm>
          <a:prstGeom prst="roundRect">
            <a:avLst>
              <a:gd name="adj" fmla="val 545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1E2B80-AA64-4D66-B9DC-AC4F5994B358}"/>
              </a:ext>
            </a:extLst>
          </p:cNvPr>
          <p:cNvSpPr>
            <a:spLocks noGrp="1"/>
          </p:cNvSpPr>
          <p:nvPr/>
        </p:nvSpPr>
        <p:spPr>
          <a:xfrm>
            <a:off x="8439150" y="1809750"/>
            <a:ext cx="2114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可動態修改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760D744-F25D-4DEA-B7B0-8E1617F7DAAB}"/>
              </a:ext>
            </a:extLst>
          </p:cNvPr>
          <p:cNvSpPr>
            <a:spLocks noGrp="1"/>
          </p:cNvSpPr>
          <p:nvPr/>
        </p:nvSpPr>
        <p:spPr>
          <a:xfrm>
            <a:off x="8439150" y="2266950"/>
            <a:ext cx="21145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087"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--cpu-shares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--cpuset-cpus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--memory-swap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E2E8F0"/>
                </a:solidFill>
                <a:latin typeface="Consolas"/>
                <a:ea typeface="Consolas"/>
                <a:cs typeface="Consolas"/>
              </a:rPr>
              <a:t>--memory-reservation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98AC6D9-D610-41F8-9A33-9333D218A8A4}"/>
              </a:ext>
            </a:extLst>
          </p:cNvPr>
          <p:cNvSpPr>
            <a:spLocks noGrp="1"/>
          </p:cNvSpPr>
          <p:nvPr/>
        </p:nvSpPr>
        <p:spPr>
          <a:xfrm>
            <a:off x="1352550" y="5467350"/>
            <a:ext cx="9486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305"/>
          </a:bodyPr>
          <a:lstStyle/>
          <a:p>
            <a:pPr algn="ctr">
              <a:lnSpc>
                <a:spcPct val="106000"/>
              </a:lnSpc>
              <a:buNone/>
              <a:defRPr sz="1425" b="1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2E8F0"/>
                </a:solidFill>
                <a:latin typeface="Aptos"/>
                <a:ea typeface="Aptos"/>
                <a:cs typeface="Aptos"/>
              </a:rPr>
              <a:t>注意：降低 memory 可能造成 OOM；Windows Docker Desktop 可能不支援部分動態調整。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BD92F1A-8273-4C55-9AF5-759C3117B03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4A810F1-6ABB-4138-9270-3B4BD5E5080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B7E2E5D-6788-40E2-BA17-CD41306EEF3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89270928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74E86305-0803-400F-ADF1-DC990BB6EEC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25C5631-13A8-4B5C-A14C-9A702454205D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P4：資源限制實驗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D9F10AD9-150E-4237-87B3-A1DBFE1B848C}"/>
              </a:ext>
            </a:extLst>
          </p:cNvPr>
          <p:cNvSpPr>
            <a:spLocks noGrp="1"/>
          </p:cNvSpPr>
          <p:nvPr/>
        </p:nvSpPr>
        <p:spPr>
          <a:xfrm>
            <a:off x="952500" y="1562100"/>
            <a:ext cx="6667500" cy="238125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240BACF-F260-450E-B778-1F9CA7F570D0}"/>
              </a:ext>
            </a:extLst>
          </p:cNvPr>
          <p:cNvSpPr>
            <a:spLocks noGrp="1"/>
          </p:cNvSpPr>
          <p:nvPr/>
        </p:nvSpPr>
        <p:spPr>
          <a:xfrm>
            <a:off x="1123950" y="17240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1050416-444C-4A53-86C3-036641EC4232}"/>
              </a:ext>
            </a:extLst>
          </p:cNvPr>
          <p:cNvSpPr>
            <a:spLocks noGrp="1"/>
          </p:cNvSpPr>
          <p:nvPr/>
        </p:nvSpPr>
        <p:spPr>
          <a:xfrm>
            <a:off x="1295400" y="17240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29FAF37-2E7E-4E79-8813-16DDEDD69F19}"/>
              </a:ext>
            </a:extLst>
          </p:cNvPr>
          <p:cNvSpPr>
            <a:spLocks noGrp="1"/>
          </p:cNvSpPr>
          <p:nvPr/>
        </p:nvSpPr>
        <p:spPr>
          <a:xfrm>
            <a:off x="1466850" y="17240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ED690B3-AFCC-4FD7-AED4-CC653131772A}"/>
              </a:ext>
            </a:extLst>
          </p:cNvPr>
          <p:cNvSpPr>
            <a:spLocks noGrp="1"/>
          </p:cNvSpPr>
          <p:nvPr/>
        </p:nvSpPr>
        <p:spPr>
          <a:xfrm>
            <a:off x="1162050" y="1981200"/>
            <a:ext cx="6248400" cy="1828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no-limit nginx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limited --cpus=0.5 -m 128m nginx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 --no-stream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no-limit limited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87E45300-D40C-4147-98B3-E2A4425D3EB6}"/>
              </a:ext>
            </a:extLst>
          </p:cNvPr>
          <p:cNvSpPr>
            <a:spLocks noGrp="1"/>
          </p:cNvSpPr>
          <p:nvPr/>
        </p:nvSpPr>
        <p:spPr>
          <a:xfrm>
            <a:off x="8153400" y="1695450"/>
            <a:ext cx="2819400" cy="2038350"/>
          </a:xfrm>
          <a:prstGeom prst="roundRect">
            <a:avLst>
              <a:gd name="adj" fmla="val 5607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6CD1AFB-B525-4B4F-80B0-35099502EA14}"/>
              </a:ext>
            </a:extLst>
          </p:cNvPr>
          <p:cNvSpPr>
            <a:spLocks noGrp="1"/>
          </p:cNvSpPr>
          <p:nvPr/>
        </p:nvSpPr>
        <p:spPr>
          <a:xfrm>
            <a:off x="8382000" y="18859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8998"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觀察問題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E262E2D-3F57-4139-A72D-487EEC4FA52F}"/>
              </a:ext>
            </a:extLst>
          </p:cNvPr>
          <p:cNvSpPr>
            <a:spLocks noGrp="1"/>
          </p:cNvSpPr>
          <p:nvPr/>
        </p:nvSpPr>
        <p:spPr>
          <a:xfrm>
            <a:off x="8382000" y="2381250"/>
            <a:ext cx="236220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07" lnSpcReduction="10000"/>
          </a:bodyPr>
          <a:lstStyle/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兩個容器的 MEM LIMIT 是否不同？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limited 的 CPU 限制是否顯示在 stats/inspect？</a:t>
            </a:r>
          </a:p>
          <a:p>
            <a:pPr algn="l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如果改成 docker update，結果是否改變？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BDA4654C-24F9-48BC-A554-FA332175CDA5}"/>
              </a:ext>
            </a:extLst>
          </p:cNvPr>
          <p:cNvSpPr>
            <a:spLocks noGrp="1"/>
          </p:cNvSpPr>
          <p:nvPr/>
        </p:nvSpPr>
        <p:spPr>
          <a:xfrm>
            <a:off x="1809750" y="4819650"/>
            <a:ext cx="8572500" cy="590550"/>
          </a:xfrm>
          <a:prstGeom prst="roundRect">
            <a:avLst>
              <a:gd name="adj" fmla="val 16129"/>
            </a:avLst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44B034E-2DB1-4462-B879-1E7823BDC359}"/>
              </a:ext>
            </a:extLst>
          </p:cNvPr>
          <p:cNvSpPr>
            <a:spLocks noGrp="1"/>
          </p:cNvSpPr>
          <p:nvPr/>
        </p:nvSpPr>
        <p:spPr>
          <a:xfrm>
            <a:off x="2133600" y="5010150"/>
            <a:ext cx="792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340"/>
          </a:bodyPr>
          <a:lstStyle/>
          <a:p>
            <a:pPr algn="ctr">
              <a:lnSpc>
                <a:spcPct val="106000"/>
              </a:lnSpc>
              <a:buNone/>
              <a:defRPr sz="1500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完成標準：能用 stats 或 inspect 證明 no-limit 與 limited 的限制不同。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4520E2D-D4FE-4256-9FCC-62AFEA2D76C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B1CB062-F1FB-4E99-8C2E-5589CAFDA1A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84CADAE-98B1-4645-A259-832A9DDBDA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3829820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A6870A3B-9952-4B27-8470-AD05E097CCD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PRODUCTION-LIKE SCENARIO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76982A-6327-42D9-BCB3-77E53BD1A938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多容器資源配置實戰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6017426-1BD2-4C6C-89DD-55D93F596AE9}"/>
              </a:ext>
            </a:extLst>
          </p:cNvPr>
          <p:cNvSpPr>
            <a:spLocks noGrp="1"/>
          </p:cNvSpPr>
          <p:nvPr/>
        </p:nvSpPr>
        <p:spPr>
          <a:xfrm>
            <a:off x="14097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71EA307-931C-4657-993F-0022FA1BE318}"/>
              </a:ext>
            </a:extLst>
          </p:cNvPr>
          <p:cNvSpPr>
            <a:spLocks noGrp="1"/>
          </p:cNvSpPr>
          <p:nvPr/>
        </p:nvSpPr>
        <p:spPr>
          <a:xfrm>
            <a:off x="16764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Flask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42FB766-819C-493B-A224-65BE129A34EF}"/>
              </a:ext>
            </a:extLst>
          </p:cNvPr>
          <p:cNvSpPr>
            <a:spLocks noGrp="1"/>
          </p:cNvSpPr>
          <p:nvPr/>
        </p:nvSpPr>
        <p:spPr>
          <a:xfrm>
            <a:off x="16764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1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512 MB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4C40933B-75F2-4FF1-BB7A-91E5EF132CBC}"/>
              </a:ext>
            </a:extLst>
          </p:cNvPr>
          <p:cNvSpPr>
            <a:spLocks noGrp="1"/>
          </p:cNvSpPr>
          <p:nvPr/>
        </p:nvSpPr>
        <p:spPr>
          <a:xfrm>
            <a:off x="46863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A2CD22E-90DF-4711-A400-45A86C108431}"/>
              </a:ext>
            </a:extLst>
          </p:cNvPr>
          <p:cNvSpPr>
            <a:spLocks noGrp="1"/>
          </p:cNvSpPr>
          <p:nvPr/>
        </p:nvSpPr>
        <p:spPr>
          <a:xfrm>
            <a:off x="49530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MySQL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EB6C174-B92B-4835-80A3-22A12910602C}"/>
              </a:ext>
            </a:extLst>
          </p:cNvPr>
          <p:cNvSpPr>
            <a:spLocks noGrp="1"/>
          </p:cNvSpPr>
          <p:nvPr/>
        </p:nvSpPr>
        <p:spPr>
          <a:xfrm>
            <a:off x="49530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 GB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EC29A987-B1E7-45C8-B10C-880F89BF6FD9}"/>
              </a:ext>
            </a:extLst>
          </p:cNvPr>
          <p:cNvSpPr>
            <a:spLocks noGrp="1"/>
          </p:cNvSpPr>
          <p:nvPr/>
        </p:nvSpPr>
        <p:spPr>
          <a:xfrm>
            <a:off x="7962900" y="1847850"/>
            <a:ext cx="2857500" cy="1924050"/>
          </a:xfrm>
          <a:prstGeom prst="roundRect">
            <a:avLst>
              <a:gd name="adj" fmla="val 5941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02A8019-2E09-4822-B6A9-6F1A427AA930}"/>
              </a:ext>
            </a:extLst>
          </p:cNvPr>
          <p:cNvSpPr>
            <a:spLocks noGrp="1"/>
          </p:cNvSpPr>
          <p:nvPr/>
        </p:nvSpPr>
        <p:spPr>
          <a:xfrm>
            <a:off x="8229600" y="2286000"/>
            <a:ext cx="23241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4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Redis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773FCB9-333A-4B63-8C2E-08E60F131B6D}"/>
              </a:ext>
            </a:extLst>
          </p:cNvPr>
          <p:cNvSpPr>
            <a:spLocks noGrp="1"/>
          </p:cNvSpPr>
          <p:nvPr/>
        </p:nvSpPr>
        <p:spPr>
          <a:xfrm>
            <a:off x="8229600" y="2952750"/>
            <a:ext cx="23241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943" lnSpcReduction="10000"/>
          </a:bodyPr>
          <a:lstStyle/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0.5 CPU</a:t>
            </a:r>
          </a:p>
          <a:p>
            <a:pPr algn="ctr">
              <a:lnSpc>
                <a:spcPct val="106000"/>
              </a:lnSpc>
              <a:buNone/>
              <a:defRPr sz="180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256 MB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445845BD-784E-4600-8DB1-08762A6100EF}"/>
              </a:ext>
            </a:extLst>
          </p:cNvPr>
          <p:cNvSpPr>
            <a:spLocks noGrp="1"/>
          </p:cNvSpPr>
          <p:nvPr/>
        </p:nvSpPr>
        <p:spPr>
          <a:xfrm>
            <a:off x="2343150" y="4743450"/>
            <a:ext cx="7505700" cy="1066800"/>
          </a:xfrm>
          <a:prstGeom prst="roundRect">
            <a:avLst>
              <a:gd name="adj" fmla="val 8929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F1D3E284-753F-4C33-8FCA-263DF1CF0EE9}"/>
              </a:ext>
            </a:extLst>
          </p:cNvPr>
          <p:cNvSpPr>
            <a:spLocks noGrp="1"/>
          </p:cNvSpPr>
          <p:nvPr/>
        </p:nvSpPr>
        <p:spPr>
          <a:xfrm>
            <a:off x="2514600" y="4905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623FD334-EB57-4523-9B7C-091F5E1FEABF}"/>
              </a:ext>
            </a:extLst>
          </p:cNvPr>
          <p:cNvSpPr>
            <a:spLocks noGrp="1"/>
          </p:cNvSpPr>
          <p:nvPr/>
        </p:nvSpPr>
        <p:spPr>
          <a:xfrm>
            <a:off x="2686050" y="4905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BFDAC7FC-8355-4FE8-9A73-41B71DDF2BDA}"/>
              </a:ext>
            </a:extLst>
          </p:cNvPr>
          <p:cNvSpPr>
            <a:spLocks noGrp="1"/>
          </p:cNvSpPr>
          <p:nvPr/>
        </p:nvSpPr>
        <p:spPr>
          <a:xfrm>
            <a:off x="2857500" y="4905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A84C40B-F597-425A-B46E-F991B7C7E0C1}"/>
              </a:ext>
            </a:extLst>
          </p:cNvPr>
          <p:cNvSpPr>
            <a:spLocks noGrp="1"/>
          </p:cNvSpPr>
          <p:nvPr/>
        </p:nvSpPr>
        <p:spPr>
          <a:xfrm>
            <a:off x="2552700" y="5162550"/>
            <a:ext cx="70866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3059" lnSpcReduction="2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update --cpus=2 --memory=1g prod-flask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F91084E-AFC4-4379-AC1D-D5E888D3A37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51036B-6F54-48EC-8C7D-DF046C5706A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6CC6180-C749-44BA-8805-79A94ECC8CF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45915916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ppendixLabel">
            <a:extLst>
              <a:ext uri="{FF2B5EF4-FFF2-40B4-BE49-F238E27FC236}">
                <a16:creationId xmlns:a16="http://schemas.microsoft.com/office/drawing/2014/main" id="{8EAA133D-C92B-4A69-B1D2-696B84643C45}"/>
              </a:ext>
            </a:extLst>
          </p:cNvPr>
          <p:cNvSpPr>
            <a:spLocks noGrp="1"/>
          </p:cNvSpPr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25572295-DC96-42C0-8C77-73F19C6B8555}"/>
              </a:ext>
            </a:extLst>
          </p:cNvPr>
          <p:cNvSpPr>
            <a:spLocks noGrp="1"/>
          </p:cNvSpPr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範例程式碼：Production-like 三容器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71CA2DC-E3A4-4BDD-8FF6-92D62D3213A1}"/>
              </a:ext>
            </a:extLst>
          </p:cNvPr>
          <p:cNvSpPr>
            <a:spLocks noGrp="1"/>
          </p:cNvSpPr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4 堂 | 可直接照做的完整範例</a:t>
            </a:r>
          </a:p>
        </p:txBody>
      </p:sp>
      <p:sp>
        <p:nvSpPr>
          <p:cNvPr id="5" name="CodeBackground">
            <a:extLst>
              <a:ext uri="{FF2B5EF4-FFF2-40B4-BE49-F238E27FC236}">
                <a16:creationId xmlns:a16="http://schemas.microsoft.com/office/drawing/2014/main" id="{F5C369D6-4DA7-47B3-BCB9-F8B889660227}"/>
              </a:ext>
            </a:extLst>
          </p:cNvPr>
          <p:cNvSpPr>
            <a:spLocks noGrp="1"/>
          </p:cNvSpPr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>
            <a:extLst>
              <a:ext uri="{FF2B5EF4-FFF2-40B4-BE49-F238E27FC236}">
                <a16:creationId xmlns:a16="http://schemas.microsoft.com/office/drawing/2014/main" id="{58CCFCEC-33D0-4E45-AA02-4953734C4B2D}"/>
              </a:ext>
            </a:extLst>
          </p:cNvPr>
          <p:cNvSpPr>
            <a:spLocks noGrp="1"/>
          </p:cNvSpPr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endParaRPr/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prod-redis \</a:t>
            </a:r>
          </a:p>
          <a:p>
            <a:endParaRPr sz="10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redis:7-alpine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prod-mysql \</a:t>
            </a:r>
          </a:p>
          <a:p>
            <a:endParaRPr sz="10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MYSQL_ROOT_PASSWORD=root123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-e MYSQL_DATABASE=proddb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mysql:8.0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--name prod-flask \</a:t>
            </a:r>
          </a:p>
          <a:p>
            <a:endParaRPr sz="105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-p 5000:5000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--cpus=1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--memory=512m \</a:t>
            </a:r>
          </a:p>
          <a:p>
            <a:r>
              <a:rPr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my-flask-app:v4</a:t>
            </a:r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79C75604-AE40-4784-9B25-9374A5C2FDC5}"/>
              </a:ext>
            </a:extLst>
          </p:cNvPr>
          <p:cNvSpPr>
            <a:spLocks noGrp="1"/>
          </p:cNvSpPr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4 堂 | 範例程式碼</a:t>
            </a:r>
          </a:p>
        </p:txBody>
      </p:sp>
      <p:sp>
        <p:nvSpPr>
          <p:cNvPr id="8" name="Page">
            <a:extLst>
              <a:ext uri="{FF2B5EF4-FFF2-40B4-BE49-F238E27FC236}">
                <a16:creationId xmlns:a16="http://schemas.microsoft.com/office/drawing/2014/main" id="{91949849-8CEE-4379-9247-1373B1399D9B}"/>
              </a:ext>
            </a:extLst>
          </p:cNvPr>
          <p:cNvSpPr>
            <a:spLocks noGrp="1"/>
          </p:cNvSpPr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5509150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326D753-F1F7-4238-B995-D460FED75DE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6191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WRAP-UP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ACDE29-D7C7-4274-831C-EAF60A93CA63}"/>
              </a:ext>
            </a:extLst>
          </p:cNvPr>
          <p:cNvSpPr>
            <a:spLocks noGrp="1"/>
          </p:cNvSpPr>
          <p:nvPr/>
        </p:nvSpPr>
        <p:spPr>
          <a:xfrm>
            <a:off x="609600" y="742950"/>
            <a:ext cx="9906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今天要帶走的指令與下一步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7280296-90C0-4433-BE8E-91198A8447AB}"/>
              </a:ext>
            </a:extLst>
          </p:cNvPr>
          <p:cNvSpPr>
            <a:spLocks noGrp="1"/>
          </p:cNvSpPr>
          <p:nvPr/>
        </p:nvSpPr>
        <p:spPr>
          <a:xfrm>
            <a:off x="1885950" y="1631324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F351141-37BD-41AE-AF40-0641136DC13A}"/>
              </a:ext>
            </a:extLst>
          </p:cNvPr>
          <p:cNvSpPr>
            <a:spLocks noGrp="1"/>
          </p:cNvSpPr>
          <p:nvPr/>
        </p:nvSpPr>
        <p:spPr>
          <a:xfrm>
            <a:off x="2114550" y="1821824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 dirty="0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DEAD73-AA36-4CF9-AA0B-3AF644D3CDAE}"/>
              </a:ext>
            </a:extLst>
          </p:cNvPr>
          <p:cNvSpPr>
            <a:spLocks noGrp="1"/>
          </p:cNvSpPr>
          <p:nvPr/>
        </p:nvSpPr>
        <p:spPr>
          <a:xfrm>
            <a:off x="2114550" y="2374274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build -t app:v1 .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history 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tag app:v1 user/app:v1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push user/app:v1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7C6FEE-2DB3-4002-86F0-E913F5E6B803}"/>
              </a:ext>
            </a:extLst>
          </p:cNvPr>
          <p:cNvSpPr>
            <a:spLocks noGrp="1"/>
          </p:cNvSpPr>
          <p:nvPr/>
        </p:nvSpPr>
        <p:spPr>
          <a:xfrm>
            <a:off x="4724400" y="186690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endParaRPr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04C6B72-712A-4AD3-BDD7-CCABE49CBD2C}"/>
              </a:ext>
            </a:extLst>
          </p:cNvPr>
          <p:cNvSpPr>
            <a:spLocks noGrp="1"/>
          </p:cNvSpPr>
          <p:nvPr/>
        </p:nvSpPr>
        <p:spPr>
          <a:xfrm>
            <a:off x="4724400" y="2419350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endParaRPr/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endParaRPr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AFFB505-8637-4171-9895-D1C6FDF86787}"/>
              </a:ext>
            </a:extLst>
          </p:cNvPr>
          <p:cNvSpPr>
            <a:spLocks noGrp="1"/>
          </p:cNvSpPr>
          <p:nvPr/>
        </p:nvSpPr>
        <p:spPr>
          <a:xfrm>
            <a:off x="5857875" y="1593224"/>
            <a:ext cx="3143250" cy="2381250"/>
          </a:xfrm>
          <a:prstGeom prst="roundRect">
            <a:avLst>
              <a:gd name="adj" fmla="val 4800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F3D9CB-CC6B-4660-A087-38DDD7CB48C8}"/>
              </a:ext>
            </a:extLst>
          </p:cNvPr>
          <p:cNvSpPr>
            <a:spLocks noGrp="1"/>
          </p:cNvSpPr>
          <p:nvPr/>
        </p:nvSpPr>
        <p:spPr>
          <a:xfrm>
            <a:off x="6067425" y="1821824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598" lnSpcReduction="10000"/>
          </a:bodyPr>
          <a:lstStyle/>
          <a:p>
            <a:pPr algn="ctr">
              <a:lnSpc>
                <a:spcPct val="106000"/>
              </a:lnSpc>
              <a:buNone/>
              <a:defRPr sz="22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 dirty="0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Resource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7784FE-5B9C-45A5-88B9-31FF6E3CEF3B}"/>
              </a:ext>
            </a:extLst>
          </p:cNvPr>
          <p:cNvSpPr>
            <a:spLocks noGrp="1"/>
          </p:cNvSpPr>
          <p:nvPr/>
        </p:nvSpPr>
        <p:spPr>
          <a:xfrm>
            <a:off x="6067425" y="2374274"/>
            <a:ext cx="26860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stats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--cpus=0.5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-m 128m</a:t>
            </a:r>
          </a:p>
          <a:p>
            <a:pPr algn="ctr">
              <a:lnSpc>
                <a:spcPct val="106000"/>
              </a:lnSpc>
              <a:buNone/>
              <a:defRPr sz="1350" b="0">
                <a:solidFill>
                  <a:srgbClr val="111827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11827"/>
                </a:solidFill>
                <a:latin typeface="Consolas"/>
                <a:ea typeface="Consolas"/>
                <a:cs typeface="Consolas"/>
              </a:rPr>
              <a:t>docker update --cpus=2 app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B6B76C76-D6C8-48B6-8E0F-AAC5228E7B7B}"/>
              </a:ext>
            </a:extLst>
          </p:cNvPr>
          <p:cNvSpPr>
            <a:spLocks noGrp="1"/>
          </p:cNvSpPr>
          <p:nvPr/>
        </p:nvSpPr>
        <p:spPr>
          <a:xfrm>
            <a:off x="1885950" y="4838700"/>
            <a:ext cx="8420100" cy="647700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  <p:txBody>
          <a:bodyPr/>
          <a:lstStyle/>
          <a:p>
            <a:endParaRPr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33189D6-94AA-42E7-8FB2-37B4F36A3FA2}"/>
              </a:ext>
            </a:extLst>
          </p:cNvPr>
          <p:cNvSpPr>
            <a:spLocks noGrp="1"/>
          </p:cNvSpPr>
          <p:nvPr/>
        </p:nvSpPr>
        <p:spPr>
          <a:xfrm>
            <a:off x="2228850" y="5048250"/>
            <a:ext cx="7734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910"/>
          </a:bodyPr>
          <a:lstStyle/>
          <a:p>
            <a:pPr algn="ctr">
              <a:lnSpc>
                <a:spcPct val="106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下一堂：CI/CD 與 GitHub Actions，把 Image build/push 交給自動化流程。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FA4A4FD4-011B-4EFE-B25C-DD269222C4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3E51116-9F5B-4177-8CB4-8324F45C82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762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6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4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C40EF7C-E84E-490C-8709-1E859926299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6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80270316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4128</Words>
  <Application>Microsoft Office PowerPoint</Application>
  <DocSecurity>0</DocSecurity>
  <PresentationFormat>寬螢幕</PresentationFormat>
  <Paragraphs>942</Paragraphs>
  <Slides>55</Slides>
  <Notes>50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55</vt:i4>
      </vt:variant>
    </vt:vector>
  </HeadingPairs>
  <TitlesOfParts>
    <vt:vector size="62" baseType="lpstr">
      <vt:lpstr>Microsoft JhengHei</vt:lpstr>
      <vt:lpstr>Aptos</vt:lpstr>
      <vt:lpstr>Aptos Display</vt:lpstr>
      <vt:lpstr>Aptos Mono</vt:lpstr>
      <vt:lpstr>Calibri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10</cp:revision>
  <dcterms:created xsi:type="dcterms:W3CDTF">2026-06-23T08:33:25Z</dcterms:created>
  <dcterms:modified xsi:type="dcterms:W3CDTF">2026-06-26T14:34:57Z</dcterms:modified>
</cp:coreProperties>
</file>