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311" r:id="rId12"/>
    <p:sldId id="277" r:id="rId13"/>
    <p:sldId id="266" r:id="rId14"/>
    <p:sldId id="278" r:id="rId15"/>
    <p:sldId id="270" r:id="rId16"/>
    <p:sldId id="283" r:id="rId17"/>
    <p:sldId id="285" r:id="rId18"/>
    <p:sldId id="313" r:id="rId19"/>
    <p:sldId id="315" r:id="rId20"/>
    <p:sldId id="314" r:id="rId21"/>
    <p:sldId id="312" r:id="rId22"/>
    <p:sldId id="272" r:id="rId23"/>
    <p:sldId id="273" r:id="rId24"/>
    <p:sldId id="274" r:id="rId25"/>
    <p:sldId id="290" r:id="rId26"/>
    <p:sldId id="291" r:id="rId27"/>
    <p:sldId id="292" r:id="rId28"/>
    <p:sldId id="293" r:id="rId2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54"/>
    <p:restoredTop sz="94659"/>
  </p:normalViewPr>
  <p:slideViewPr>
    <p:cSldViewPr snapToGrid="0">
      <p:cViewPr varScale="1">
        <p:scale>
          <a:sx n="77" d="100"/>
          <a:sy n="77" d="100"/>
        </p:scale>
        <p:origin x="10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FBE2E-EF8A-822A-8A88-1BA1EE8B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DEB12-2358-6CA9-82EF-40AC0EA2B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BBFE9D-BC9E-520A-EAF2-0F725DEB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E3094-A61E-B40A-2FE9-5C05F082C73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8298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DFAF-0756-87C1-3992-79C8616B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D71AF-D401-CFBA-A75E-C0EFEEF21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1FA-F959-2781-5022-DE99B995A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4C725-9307-0285-FDE3-66CC66AE04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8577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DFAF-0756-87C1-3992-79C8616B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D71AF-D401-CFBA-A75E-C0EFEEF21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1FA-F959-2781-5022-DE99B995A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4C725-9307-0285-FDE3-66CC66AE04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7608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68A71-FABC-4056-D307-D64E9BE88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B8704-CA2E-69D7-A721-8B00E6211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2EB00C-D140-DBD4-9013-C95D10E3D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15A20-5649-FD4F-1B47-CF4A5FA0F5F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93289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圖片 12"/>
          <p:cNvPicPr>
            <a:picLocks noChangeAspect="1"/>
          </p:cNvPicPr>
          <p:nvPr/>
        </p:nvPicPr>
        <p:blipFill>
          <a:blip r:embed="rId3"/>
          <a:srcRect l="16310" r="16310"/>
          <a:stretch>
            <a:fillRect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45B36D8-A47B-B3D7-55FC-7BBFA8EFFE8C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sz="4400">
                <a:solidFill>
                  <a:srgbClr val="DCEBFF"/>
                </a:solidFill>
                <a:latin typeface="Aptos"/>
                <a:ea typeface="Aptos"/>
                <a:cs typeface="Aptos"/>
              </a:rPr>
              <a:t>建立自己的 Docker Image</a:t>
            </a:r>
          </a:p>
          <a:p>
            <a:r>
              <a:rPr sz="4400">
                <a:solidFill>
                  <a:srgbClr val="DCEBFF"/>
                </a:solidFill>
                <a:latin typeface="Aptos"/>
                <a:ea typeface="Aptos"/>
                <a:cs typeface="Aptos"/>
              </a:rPr>
              <a:t>並推上 Docker Hub</a:t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第四章主線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建立自己的 Image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從 python:3.11 base image 出發，寫出可重複 build 的 Flask Image。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Image 建立技巧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理解 cache、layers、.dockerignore、tag 與測試流程。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發佈到 Docker Hub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推上 Docker Hub，讓 compose 使用自己的 app image。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這堂課的關鍵句：把環境做進 Image，compose 只負責啟動服務。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0382" lnSpcReduction="2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requirements.txt 通常比程式碼少變。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endParaRPr sz="825" b="0">
              <a:solidFill>
                <a:srgbClr val="64748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先 COPY 它，可以讓 pip install 那層重用快取。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為什麼不要一直用 python image？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COPY requirements.txt .</a:t>
            </a:r>
          </a:p>
          <a:p>
            <a:r>
              <a:t>RUN pip install -r requirements.txt</a:t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COPY . .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Dockerfile 把「安裝套件、複製程式、啟動 app」做進 Image，讓 compose 不必每次啟動才 pip install。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 spc="0">
                <a:ln>
                  <a:noFill/>
                </a:ln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CODE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 spc="0">
                <a:ln>
                  <a:noFill/>
                </a:ln>
                <a:solidFill>
                  <a:srgbClr val="F8FAFC"/>
                </a:solidFill>
                <a:latin typeface="Aptos"/>
                <a:ea typeface="Aptos"/>
                <a:cs typeface="Aptos"/>
              </a:rPr>
              <a:t>app.py：最小 Flask 網頁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 spc="0" dirty="0">
              <a:ln>
                <a:noFill/>
              </a:ln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"&lt;h1&gt;Hello Flask </a:t>
            </a:r>
            <a:r>
              <a:rPr sz="1800" b="0" i="0" u="none" cap="none" spc="0" dirty="0" err="1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!&lt;/h1&gt;"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 spc="0" dirty="0">
              <a:ln>
                <a:noFill/>
              </a:ln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800" b="0" i="0" u="none" cap="none" spc="0" dirty="0" err="1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app.run</a:t>
            </a:r>
            <a:r>
              <a:rPr sz="1800" b="0" i="0" u="none" cap="none" spc="0" dirty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 spc="0">
                <a:ln>
                  <a:noFill/>
                </a:ln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 spc="0">
                <a:ln>
                  <a:noFill/>
                </a:ln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最小可跑版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6022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00" b="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00" b="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Dockerfile</a:t>
            </a:r>
            <a:endParaRPr lang="en-US" sz="1600" b="0" dirty="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600" dirty="0">
                <a:solidFill>
                  <a:schemeClr val="bg1"/>
                </a:solidFill>
              </a:rPr>
              <a:t>FROM python:3.11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WORKDIR /app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COPY . .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pip install -r requirements.txt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apt-get update 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apt-get install -y nano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EXPOSE 5000</a:t>
            </a:r>
            <a:br>
              <a:rPr lang="zh-TW" altLang="zh-TW" sz="1600" dirty="0">
                <a:solidFill>
                  <a:schemeClr val="bg1"/>
                </a:solidFill>
              </a:rPr>
            </a:br>
            <a:endParaRPr lang="zh-TW" altLang="zh-TW" sz="1600" dirty="0">
              <a:solidFill>
                <a:schemeClr val="bg1"/>
              </a:solidFill>
            </a:endParaRPr>
          </a:p>
          <a:p>
            <a:r>
              <a:rPr lang="zh-TW" altLang="zh-TW" sz="1600" dirty="0">
                <a:solidFill>
                  <a:schemeClr val="bg1"/>
                </a:solidFill>
              </a:rPr>
              <a:t>CMD ["python", "app.py"]</a:t>
            </a:r>
          </a:p>
          <a:p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endParaRPr lang="zh-TW" altLang="zh-TW" sz="1600" dirty="0">
              <a:solidFill>
                <a:schemeClr val="bg1"/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先能跑起來，再慢慢加入優化。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noGrp="1"/>
          </p:cNvSpPr>
          <p:nvPr/>
        </p:nvSpPr>
        <p:spPr>
          <a:xfrm>
            <a:off x="34099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noGrp="1"/>
          </p:cNvSpPr>
          <p:nvPr/>
        </p:nvSpPr>
        <p:spPr>
          <a:xfrm>
            <a:off x="62103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noGrp="1"/>
          </p:cNvSpPr>
          <p:nvPr/>
        </p:nvSpPr>
        <p:spPr>
          <a:xfrm>
            <a:off x="90106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noGrp="1"/>
          </p:cNvSpPr>
          <p:nvPr/>
        </p:nvSpPr>
        <p:spPr>
          <a:xfrm>
            <a:off x="6096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noGrp="1"/>
          </p:cNvSpPr>
          <p:nvPr/>
        </p:nvSpPr>
        <p:spPr>
          <a:xfrm>
            <a:off x="34099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noGrp="1"/>
          </p:cNvSpPr>
          <p:nvPr/>
        </p:nvSpPr>
        <p:spPr>
          <a:xfrm>
            <a:off x="62103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noGrp="1"/>
          </p:cNvSpPr>
          <p:nvPr/>
        </p:nvSpPr>
        <p:spPr>
          <a:xfrm>
            <a:off x="90106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674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LABEL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標記 image 資訊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作者、版本、用途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noGrp="1"/>
          </p:cNvSpPr>
          <p:nvPr/>
        </p:nvSpPr>
        <p:spPr>
          <a:xfrm>
            <a:off x="1143000" y="4210050"/>
            <a:ext cx="9144000" cy="6096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這堂先會讀懂常見指令；production 權限與安全設定之後再補。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noGrp="1"/>
          </p:cNvSpPr>
          <p:nvPr/>
        </p:nvSpPr>
        <p:spPr>
          <a:xfrm>
            <a:off x="9144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noGrp="1"/>
          </p:cNvSpPr>
          <p:nvPr/>
        </p:nvSpPr>
        <p:spPr>
          <a:xfrm>
            <a:off x="44958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noGrp="1"/>
          </p:cNvSpPr>
          <p:nvPr/>
        </p:nvSpPr>
        <p:spPr>
          <a:xfrm>
            <a:off x="80772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noGrp="1"/>
          </p:cNvSpPr>
          <p:nvPr/>
        </p:nvSpPr>
        <p:spPr>
          <a:xfrm>
            <a:off x="990600" y="4541525"/>
            <a:ext cx="102108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先不加優化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先理解每一行在做什麼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02" lnSpcReduction="1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</a:t>
            </a:r>
            <a:r>
              <a:rPr lang="zh-TW" altLang="en-US"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altLang="zh-TW"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–p 5000:5000</a:t>
            </a: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my-first-image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</a:t>
            </a:r>
            <a:r>
              <a:rPr lang="en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 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5001:5000 </a:t>
            </a:r>
            <a:r>
              <a:rPr lang="en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RUN / COPY / ADD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通常都會產生新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layer。</a:t>
            </a:r>
          </a:p>
          <a:p>
            <a:endParaRPr sz="150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273" lnSpcReduction="20000"/>
          </a:bodyPr>
          <a:lstStyle/>
          <a:p>
            <a:pPr>
              <a:lnSpc>
                <a:spcPct val="104000"/>
              </a:lnSpc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</a:t>
            </a:r>
            <a:r>
              <a:rPr lang="en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</a:t>
            </a:r>
            <a:endParaRPr sz="18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1-2：先換 slim，再合併 RUN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從可跑版開始逐步優化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Step 1：base image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變小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Step 2：把相關 apt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指令合併成同一層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A1809-21DE-94DB-F0B7-1E5B5A7A1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318F7C8B-52A1-1BDD-04EA-492939486DD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49150E-4F2F-E892-C4EE-B7E471D2DEE0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3：先 COPY 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B8FD76D-2005-1311-639A-A8303E639619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讓 pip install layer 可以重用快取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D87580-CA0F-1061-F5C4-B110C6C39CC8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35C918CB-1EA1-A974-12E2-5FBB9CDC7D59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5A869E1-3098-82B5-7547-CAADC4784C4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BB5AABC-108E-C556-BB21-827E4561024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075667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重建更快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最小可跑版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這一招主要讓 build 變快，不是讓 image 變小。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dockerignore：減少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build context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67" lnSpcReduction="10000"/>
          </a:bodyPr>
          <a:lstStyle/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.DS_Store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44" lnSpcReduction="2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.git、.env、cache、node_modules 也送進 Docker daemon。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變大，也增加 secret 被送出的風險。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4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Docker build 真正需要的檔案。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更快、context 更乾淨，也比較不容易把機密帶進去。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6C9D3E5-8727-99A7-D433-028DECB2A71C}"/>
              </a:ext>
            </a:extLst>
          </p:cNvPr>
          <p:cNvSpPr>
            <a:spLocks noGrp="1"/>
          </p:cNvSpPr>
          <p:nvPr/>
        </p:nvSpPr>
        <p:spPr>
          <a:xfrm>
            <a:off x="698500" y="5474018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5000"/>
              </a:lnSpc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https://</a:t>
            </a:r>
            <a:r>
              <a:rPr lang="en"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configs.sh</a:t>
            </a: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</a:t>
            </a:r>
            <a:r>
              <a:rPr lang="en"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dockerignore</a:t>
            </a: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優化流程：用同一份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逐步改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Step 1：換 slim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FROM python:3.11-slim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基礎 Image 先變小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Step 2：合併 RUN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apt update / install / cleanup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放在同一個 RUN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Step 3：先 COPY requirements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pip install 那層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可以重用快取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Step 4：加 .dockerignore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減少 build context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ignoreio 先產生初稿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Image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發佈到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8770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6675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:1.0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my-first-image:1.0 </a:t>
            </a:r>
            <a:r>
              <a:rPr lang="en" altLang="zh-TW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lang="en" altLang="zh-TW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en" altLang="zh-TW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my-first-image:latest</a:t>
            </a:r>
            <a:endParaRPr lang="en" altLang="zh-TW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rmi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A15A8-8392-8B4F-E59E-95484DEA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B88F08E-32F4-6E95-E6C6-7964AB67880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A39FF-C547-F4DE-A3D4-456ACFC73FA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6813037-F850-8673-3040-B2B5A1530203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7F509C2-F4F3-51EA-E9B0-C26219880751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7B0C55F-75A7-F3C1-CF0B-336BD42D2E9A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AB27425-2FBD-2EDD-035C-875009EF31C7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6FB54A-DFF0-5D3C-05B3-581010038433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build: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context: .</a:t>
            </a:r>
            <a:r>
              <a:rPr lang="en-US" altLang="zh-TW" dirty="0">
                <a:solidFill>
                  <a:schemeClr val="bg1"/>
                </a:solidFill>
              </a:rPr>
              <a:t>/app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dockerfile: Dockerfile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EA80B9E-DD2A-BFEA-BF85-32D3F59134BA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8890AA-D94F-E4B4-F8A2-3E48E21CADA3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F950C0-1091-4CBD-F5BF-015D8CE019B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5E446-B194-E7E0-73DD-5235C9FDB61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DA39BA-01B2-EF1A-8F88-98862382707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5A26D1-9796-700E-BC15-B0C2D9BFBAB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007956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A15A8-8392-8B4F-E59E-95484DEA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B88F08E-32F4-6E95-E6C6-7964AB67880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A39FF-C547-F4DE-A3D4-456ACFC73FA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6813037-F850-8673-3040-B2B5A1530203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7F509C2-F4F3-51EA-E9B0-C26219880751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7B0C55F-75A7-F3C1-CF0B-336BD42D2E9A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AB27425-2FBD-2EDD-035C-875009EF31C7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6FB54A-DFF0-5D3C-05B3-581010038433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image: my-flask-app:latest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EA80B9E-DD2A-BFEA-BF85-32D3F59134BA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8890AA-D94F-E4B4-F8A2-3E48E21CADA3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F950C0-1091-4CBD-F5BF-015D8CE019B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5E446-B194-E7E0-73DD-5235C9FDB61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DA39BA-01B2-EF1A-8F88-98862382707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5A26D1-9796-700E-BC15-B0C2D9BFBAB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68310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496644-4814-3B4B-0311-3D4541477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9DF4E20A-26B2-FC18-DFF5-9191440063E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CC891E-4F90-CF0C-CF54-0D9BA54DB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使用自己的遠端flask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F4D0CD4-90BF-36AE-3BF7-5CAFCF325129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607A3D3-FE78-08A9-90BE-3CED3F89A0A5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CF0C8B3-4546-3F8A-C57A-C23FC47FF3BD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58E9AD3-754D-18B1-AA81-561E9DA4DC3A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13623EE-2EBB-3C14-781F-81ED36E55D7D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image: </a:t>
            </a:r>
            <a:r>
              <a:rPr lang="en-US" altLang="zh-TW" dirty="0" err="1">
                <a:solidFill>
                  <a:schemeClr val="bg1"/>
                </a:solidFill>
              </a:rPr>
              <a:t>yourname</a:t>
            </a:r>
            <a:r>
              <a:rPr lang="en-US" altLang="zh-TW" dirty="0">
                <a:solidFill>
                  <a:schemeClr val="bg1"/>
                </a:solidFill>
              </a:rPr>
              <a:t>/</a:t>
            </a:r>
            <a:r>
              <a:rPr lang="zh-TW" altLang="zh-TW" dirty="0">
                <a:solidFill>
                  <a:schemeClr val="bg1"/>
                </a:solidFill>
              </a:rPr>
              <a:t>my-flask-app:latest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08796B6-52D8-4776-0878-338DAEA956F7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F6F66E-A9FB-77E7-0EA2-4FB395215E67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E92BC7-0AFA-AEA8-FC4B-E1FCD4AD20C8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B635F64-AF7B-FDFC-2CCB-A55BBC277B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9CD3FF-006B-A65E-EDCB-171E8975EF7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D36E0C-3DDB-D09C-F7CC-5F3419D139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16190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A0046382-DB90-61EC-B4A3-9C75E13AAD73}"/>
              </a:ext>
            </a:extLst>
          </p:cNvPr>
          <p:cNvSpPr txBox="1"/>
          <p:nvPr/>
        </p:nvSpPr>
        <p:spPr>
          <a:xfrm>
            <a:off x="7569200" y="5411450"/>
            <a:ext cx="51435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800" dirty="0"/>
              <a:t>額外補充</a:t>
            </a:r>
          </a:p>
        </p:txBody>
      </p:sp>
    </p:spTree>
    <p:extLst>
      <p:ext uri="{BB962C8B-B14F-4D97-AF65-F5344CB8AC3E}">
        <p14:creationId xmlns:p14="http://schemas.microsoft.com/office/powerpoint/2010/main" val="1095336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 RUN COMMAND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不加 sh/bash vs 結尾加 sh/bash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不補指令：跑預設 CMD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Dockerfile 的 CMD 會在 container 啟動時執行。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結尾加 sh/bash：覆蓋 CMD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 run 後面補的指令會取代整個 CMD。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bash（服務不會啟動）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第二章回扣：docker run nginx sh 是只開 shell；docker exec -it nginx-life sh 是進入已在跑的 nginx，服務仍在。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覆蓋小觀念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noGrp="1"/>
          </p:cNvSpPr>
          <p:nvPr/>
        </p:nvSpPr>
        <p:spPr>
          <a:xfrm>
            <a:off x="857250" y="152400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4762500" cy="200025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noGrp="1"/>
          </p:cNvSpPr>
          <p:nvPr/>
        </p:nvSpPr>
        <p:spPr>
          <a:xfrm>
            <a:off x="1066800" y="2381250"/>
            <a:ext cx="434340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noGrp="1"/>
          </p:cNvSpPr>
          <p:nvPr/>
        </p:nvSpPr>
        <p:spPr>
          <a:xfrm>
            <a:off x="6610350" y="23241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noGrp="1"/>
          </p:cNvSpPr>
          <p:nvPr/>
        </p:nvSpPr>
        <p:spPr>
          <a:xfrm>
            <a:off x="6610350" y="26479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noGrp="1"/>
          </p:cNvSpPr>
          <p:nvPr/>
        </p:nvSpPr>
        <p:spPr>
          <a:xfrm>
            <a:off x="6286500" y="33909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noGrp="1"/>
          </p:cNvSpPr>
          <p:nvPr/>
        </p:nvSpPr>
        <p:spPr>
          <a:xfrm>
            <a:off x="6610350" y="39052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noGrp="1"/>
          </p:cNvSpPr>
          <p:nvPr/>
        </p:nvSpPr>
        <p:spPr>
          <a:xfrm>
            <a:off x="1962150" y="4953000"/>
            <a:ext cx="8267700" cy="781050"/>
          </a:xfrm>
          <a:prstGeom prst="roundRect">
            <a:avLst>
              <a:gd name="adj" fmla="val 14634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noGrp="1"/>
          </p:cNvSpPr>
          <p:nvPr/>
        </p:nvSpPr>
        <p:spPr>
          <a:xfrm>
            <a:off x="2324100" y="5219700"/>
            <a:ext cx="754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  <a:endParaRPr sz="1775" b="1">
              <a:solidFill>
                <a:srgbClr val="0B5CAD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  <a:endParaRPr sz="1775" b="1">
              <a:solidFill>
                <a:srgbClr val="087F5B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  <a:endParaRPr sz="1775" b="1">
              <a:solidFill>
                <a:srgbClr val="A16207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899"/>
            <a:ext cx="7429500" cy="1390651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9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my-flask-app.tar</a:t>
            </a:r>
            <a:endParaRPr lang="en-US"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6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export my-container -o snapshot.tar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sv-SE" sz="16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import snapshot.tar my-image:snapshot</a:t>
            </a:r>
            <a:endParaRPr lang="en-US" sz="16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6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noGrp="1"/>
          </p:cNvSpPr>
          <p:nvPr/>
        </p:nvSpPr>
        <p:spPr>
          <a:xfrm>
            <a:off x="34099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noGrp="1"/>
          </p:cNvSpPr>
          <p:nvPr/>
        </p:nvSpPr>
        <p:spPr>
          <a:xfrm>
            <a:off x="62103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noGrp="1"/>
          </p:cNvSpPr>
          <p:nvPr/>
        </p:nvSpPr>
        <p:spPr>
          <a:xfrm>
            <a:off x="90106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noGrp="1"/>
          </p:cNvSpPr>
          <p:nvPr/>
        </p:nvSpPr>
        <p:spPr>
          <a:xfrm>
            <a:off x="914400" y="4552950"/>
            <a:ext cx="102108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noGrp="1"/>
          </p:cNvSpPr>
          <p:nvPr/>
        </p:nvSpPr>
        <p:spPr>
          <a:xfrm>
            <a:off x="2286000" y="5264150"/>
            <a:ext cx="7478400" cy="4762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2500" lnSpcReduction="2000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2067</Words>
  <Application>Microsoft Office PowerPoint</Application>
  <DocSecurity>0</DocSecurity>
  <PresentationFormat>寬螢幕</PresentationFormat>
  <Paragraphs>489</Paragraphs>
  <Slides>28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5" baseType="lpstr">
      <vt:lpstr>Microsoft JhengHei</vt:lpstr>
      <vt:lpstr>Aptos</vt:lpstr>
      <vt:lpstr>Aptos Display</vt:lpstr>
      <vt:lpstr>Aptos Mono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19</cp:revision>
  <dcterms:created xsi:type="dcterms:W3CDTF">2026-06-26T16:01:52Z</dcterms:created>
  <dcterms:modified xsi:type="dcterms:W3CDTF">2026-06-29T12:53:36Z</dcterms:modified>
</cp:coreProperties>
</file>