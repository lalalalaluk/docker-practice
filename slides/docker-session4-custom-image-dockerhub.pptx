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311" r:id="rId12"/>
    <p:sldId id="277" r:id="rId13"/>
    <p:sldId id="266" r:id="rId14"/>
    <p:sldId id="278" r:id="rId15"/>
    <p:sldId id="270" r:id="rId16"/>
    <p:sldId id="283" r:id="rId17"/>
    <p:sldId id="285" r:id="rId18"/>
    <p:sldId id="313" r:id="rId19"/>
    <p:sldId id="315" r:id="rId20"/>
    <p:sldId id="314" r:id="rId21"/>
    <p:sldId id="312" r:id="rId22"/>
    <p:sldId id="272" r:id="rId23"/>
    <p:sldId id="273" r:id="rId24"/>
    <p:sldId id="274" r:id="rId25"/>
    <p:sldId id="290" r:id="rId26"/>
    <p:sldId id="291" r:id="rId27"/>
    <p:sldId id="292" r:id="rId28"/>
    <p:sldId id="293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4"/>
    <p:restoredTop sz="94659"/>
  </p:normalViewPr>
  <p:slideViewPr>
    <p:cSldViewPr snapToGrid="0">
      <p:cViewPr varScale="1">
        <p:scale>
          <a:sx n="82" d="100"/>
          <a:sy n="82" d="100"/>
        </p:scale>
        <p:origin x="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BE2E-EF8A-822A-8A88-1BA1EE8B9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DEB12-2358-6CA9-82EF-40AC0EA2B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BFE9D-BC9E-520A-EAF2-0F725DEB2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E3094-A61E-B40A-2FE9-5C05F082C73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8298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8DFAF-0756-87C1-3992-79C8616B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D71AF-D401-CFBA-A75E-C0EFEEF21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191FA-F959-2781-5022-DE99B995A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4C725-9307-0285-FDE3-66CC66AE04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857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8DFAF-0756-87C1-3992-79C8616B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D71AF-D401-CFBA-A75E-C0EFEEF21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191FA-F959-2781-5022-DE99B995A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4C725-9307-0285-FDE3-66CC66AE04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7608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8A71-FABC-4056-D307-D64E9BE8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B8704-CA2E-69D7-A721-8B00E6211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EB00C-D140-DBD4-9013-C95D10E3D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15A20-5649-FD4F-1B47-CF4A5FA0F5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93289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F59DAC-7E55-4518-86C6-5236E1F151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圖片 12"/>
          <p:cNvPicPr>
            <a:picLocks noChangeAspect="1"/>
          </p:cNvPicPr>
          <p:nvPr/>
        </p:nvPicPr>
        <p:blipFill>
          <a:blip r:embed="rId3"/>
          <a:srcRect l="16310" r="16310"/>
          <a:stretch>
            <a:fillRect/>
          </a:stretch>
        </p:blipFill>
        <p:spPr>
          <a:xfrm>
            <a:off x="3981450" y="0"/>
            <a:ext cx="821055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F21FCBD-85CC-45CE-B38D-5CE2D2DEA2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34000">
                <a:srgbClr val="07111F">
                  <a:alpha val="98000"/>
                </a:srgbClr>
              </a:gs>
              <a:gs pos="64000">
                <a:srgbClr val="07111F">
                  <a:alpha val="54000"/>
                </a:srgbClr>
              </a:gs>
              <a:gs pos="100000">
                <a:srgbClr val="07111F">
                  <a:alpha val="6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33C18F6-4019-4FA7-9484-7B42A13F267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209800" cy="3238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38B2CC-F789-4BDF-A225-4E20D36AF817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4 堂 | Build &amp; Runtime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30E6B2-047D-4089-8753-9FC5217E9F96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把可重複的環境寫進 Dockerfile，並學會限制容器吃掉的資源。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6FD0DD9-D01C-4353-A9B1-6468A0399F44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7524750" cy="990600"/>
          </a:xfrm>
          <a:prstGeom prst="roundRect">
            <a:avLst>
              <a:gd name="adj" fmla="val 1346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220AF7-292E-4D9D-8E32-CBA6CD7ABDDC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695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今天完成：自製 Flask Image、推到 Docker Hub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1E5E0D-2ECA-4F44-8742-573FB0C90899}"/>
              </a:ext>
            </a:extLst>
          </p:cNvPr>
          <p:cNvSpPr>
            <a:spLocks noGrp="1"/>
          </p:cNvSpPr>
          <p:nvPr/>
        </p:nvSpPr>
        <p:spPr>
          <a:xfrm>
            <a:off x="9620250" y="6000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5B36D8-A47B-B3D7-55FC-7BBFA8EFFE8C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 sz="4400">
                <a:solidFill>
                  <a:srgbClr val="DCEBFF"/>
                </a:solidFill>
                <a:latin typeface="Aptos"/>
                <a:ea typeface="Aptos"/>
                <a:cs typeface="Aptos"/>
              </a:rPr>
              <a:t>建立自己的 Docker Image</a:t>
            </a:r>
          </a:p>
          <a:p>
            <a:r>
              <a:rPr sz="4400">
                <a:solidFill>
                  <a:srgbClr val="DCEBFF"/>
                </a:solidFill>
                <a:latin typeface="Aptos"/>
                <a:ea typeface="Aptos"/>
                <a:cs typeface="Aptos"/>
              </a:rPr>
              <a:t>並推上 Docker Hub</a:t>
            </a:r>
          </a:p>
        </p:txBody>
      </p:sp>
    </p:spTree>
    <p:extLst>
      <p:ext uri="{BB962C8B-B14F-4D97-AF65-F5344CB8AC3E}">
        <p14:creationId xmlns:p14="http://schemas.microsoft.com/office/powerpoint/2010/main" val="172343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B45D5B6-3C21-4551-BDE6-54A7D0B977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16ED0B-EB9D-4DC3-8319-A544A766EF4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第四章主線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D94ADBE-45C6-4900-B984-2F835F67821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67B760B-1B9B-4570-AB78-9E439EBCC6AD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14350" cy="5143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F80F65-7632-46EF-A2AA-FD4C83DB59E8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60558C-D35F-43D4-88B3-3740A5B4723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建立自己的 Image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B7808C-668C-4943-B8BB-E9110CFBC563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從 python:3.11 base image 出發，寫出可重複 build 的 Flask Image。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C63D338-99EB-4100-B8EA-1689A24915AB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048C454-E96B-45A7-A76A-49AC6EE8DDCE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514350" cy="5143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01479C-CA18-44A3-AF86-8EE9200190B5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970283-46B4-424C-A82D-A30740CF74A9}"/>
              </a:ext>
            </a:extLst>
          </p:cNvPr>
          <p:cNvSpPr>
            <a:spLocks noGrp="1"/>
          </p:cNvSpPr>
          <p:nvPr/>
        </p:nvSpPr>
        <p:spPr>
          <a:xfrm>
            <a:off x="451485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Image 建立技巧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915BC9-E838-4FDC-9D1B-DF9C28F4967D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理解 cache、layers、.dockerignore、tag 與測試流程。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6E8B027-11CF-443C-895B-97B7D4E5573D}"/>
              </a:ext>
            </a:extLst>
          </p:cNvPr>
          <p:cNvSpPr>
            <a:spLocks noGrp="1"/>
          </p:cNvSpPr>
          <p:nvPr/>
        </p:nvSpPr>
        <p:spPr>
          <a:xfrm>
            <a:off x="79629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3FB78D0-B8E6-4D36-A93D-FCE1F6F29B16}"/>
              </a:ext>
            </a:extLst>
          </p:cNvPr>
          <p:cNvSpPr>
            <a:spLocks noGrp="1"/>
          </p:cNvSpPr>
          <p:nvPr/>
        </p:nvSpPr>
        <p:spPr>
          <a:xfrm>
            <a:off x="8191500" y="1943100"/>
            <a:ext cx="514350" cy="514350"/>
          </a:xfrm>
          <a:prstGeom prst="ellipse">
            <a:avLst/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21B6FB-4EB6-4167-821D-C1742E573709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A24AE2-27BE-4E01-BF05-766123D69E34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發佈到 Docker Hub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94FC18-10FD-48FC-AF93-60F64A877928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推上 Docker Hub，讓 compose 使用自己的 app image。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FCADF91-1170-4182-BA07-AFFC575ED79C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這堂課的關鍵句：把環境做進 Image，compose 只負責啟動服務。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23C8D62-9B42-41FA-9B60-1096A6C88D3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44CBED-9FB6-4D45-9CEF-77E343D4D59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0382" lnSpcReduction="20000"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requirements.txt 通常比程式碼少變。</a:t>
            </a:r>
          </a:p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82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先 COPY 它，可以讓 pip install 那層重用快取。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E1DDA3-BDD2-4766-945E-5DF276EC869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617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D3E9783-7AAC-41B6-8539-247941A6129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WHY CUSTOM IMAGES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57832C-518D-4C96-B0EB-0FF8CBDBF37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為什麼不要一直用 python image？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458BCB-DC45-4CF6-90D7-97047DB37F24}"/>
              </a:ext>
            </a:extLst>
          </p:cNvPr>
          <p:cNvSpPr>
            <a:spLocks noGrp="1"/>
          </p:cNvSpPr>
          <p:nvPr/>
        </p:nvSpPr>
        <p:spPr>
          <a:xfrm>
            <a:off x="933450" y="1638300"/>
            <a:ext cx="42862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19AB1A-F5F0-4489-8750-F5F56EAAED97}"/>
              </a:ext>
            </a:extLst>
          </p:cNvPr>
          <p:cNvSpPr>
            <a:spLocks noGrp="1"/>
          </p:cNvSpPr>
          <p:nvPr/>
        </p:nvSpPr>
        <p:spPr>
          <a:xfrm>
            <a:off x="1162050" y="18288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手動安裝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462C7D-AC21-4280-8FA8-317856EDB2C3}"/>
              </a:ext>
            </a:extLst>
          </p:cNvPr>
          <p:cNvSpPr>
            <a:spLocks noGrp="1"/>
          </p:cNvSpPr>
          <p:nvPr/>
        </p:nvSpPr>
        <p:spPr>
          <a:xfrm>
            <a:off x="1162050" y="2419350"/>
            <a:ext cx="38290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進容器、apt install、pip install、複製檔案。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問題：換一台機器就要重做，容易少步驟。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298273FE-9A46-4FA9-A425-471756AD4584}"/>
              </a:ext>
            </a:extLst>
          </p:cNvPr>
          <p:cNvSpPr>
            <a:spLocks noGrp="1"/>
          </p:cNvSpPr>
          <p:nvPr/>
        </p:nvSpPr>
        <p:spPr>
          <a:xfrm>
            <a:off x="5600700" y="2647950"/>
            <a:ext cx="895350" cy="4000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C20D5CE-72EE-4EC0-8239-C0EBFD23B89F}"/>
              </a:ext>
            </a:extLst>
          </p:cNvPr>
          <p:cNvSpPr>
            <a:spLocks noGrp="1"/>
          </p:cNvSpPr>
          <p:nvPr/>
        </p:nvSpPr>
        <p:spPr>
          <a:xfrm>
            <a:off x="6934200" y="1638300"/>
            <a:ext cx="4286250" cy="2476500"/>
          </a:xfrm>
          <a:prstGeom prst="roundRect">
            <a:avLst>
              <a:gd name="adj" fmla="val 461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2E52CB-CB1E-4FD2-A88C-EF0F1081E931}"/>
              </a:ext>
            </a:extLst>
          </p:cNvPr>
          <p:cNvSpPr>
            <a:spLocks noGrp="1"/>
          </p:cNvSpPr>
          <p:nvPr/>
        </p:nvSpPr>
        <p:spPr>
          <a:xfrm>
            <a:off x="7162800" y="18288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Dockerfile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63A157-A6FA-4DF1-AEB9-114EC1B64A4F}"/>
              </a:ext>
            </a:extLst>
          </p:cNvPr>
          <p:cNvSpPr>
            <a:spLocks noGrp="1"/>
          </p:cNvSpPr>
          <p:nvPr/>
        </p:nvSpPr>
        <p:spPr>
          <a:xfrm>
            <a:off x="7162800" y="2419350"/>
            <a:ext cx="38290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requirements.txt .</a:t>
            </a:r>
          </a:p>
          <a:p>
            <a:r>
              <a:t>RUN pip install -r requirements.txt</a:t>
            </a: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. .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510BCBA-7548-4B46-898F-20212B69E885}"/>
              </a:ext>
            </a:extLst>
          </p:cNvPr>
          <p:cNvSpPr>
            <a:spLocks noGrp="1"/>
          </p:cNvSpPr>
          <p:nvPr/>
        </p:nvSpPr>
        <p:spPr>
          <a:xfrm>
            <a:off x="1695450" y="4762500"/>
            <a:ext cx="8801100" cy="685800"/>
          </a:xfrm>
          <a:prstGeom prst="roundRect">
            <a:avLst>
              <a:gd name="adj" fmla="val 16667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FF5476-5321-4186-9609-E5D7F6815E0E}"/>
              </a:ext>
            </a:extLst>
          </p:cNvPr>
          <p:cNvSpPr>
            <a:spLocks noGrp="1"/>
          </p:cNvSpPr>
          <p:nvPr/>
        </p:nvSpPr>
        <p:spPr>
          <a:xfrm>
            <a:off x="2095500" y="497205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000" lnSpcReduction="20000"/>
          </a:bodyPr>
          <a:lstStyle/>
          <a:p>
            <a:r>
              <a:rPr>
                <a:latin typeface="Microsoft JhengHei"/>
                <a:ea typeface="Microsoft JhengHei"/>
                <a:cs typeface="Microsoft JhengHei"/>
              </a:rPr>
              <a:t>Dockerfile 把「安裝套件、複製程式、啟動 app」做進 Image，讓 compose 不必每次啟動才 pip install。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1A826C-F6D3-4EF9-AC2D-17BF3077A82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825D28-F458-4B25-98EE-45C9111E7FA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BC476A-19EB-4CA4-BDB7-90B405A9DBC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385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 spc="0">
                <a:ln>
                  <a:noFill/>
                </a:ln>
                <a:solidFill>
                  <a:srgbClr val="93C5FD"/>
                </a:solidFill>
                <a:latin typeface="Aptos"/>
                <a:ea typeface="Aptos"/>
                <a:cs typeface="Aptos"/>
              </a:rPr>
              <a:t>FLASK CODE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 spc="0">
                <a:ln>
                  <a:noFill/>
                </a:ln>
                <a:solidFill>
                  <a:srgbClr val="F8FAFC"/>
                </a:solidFill>
                <a:latin typeface="Aptos"/>
                <a:ea typeface="Aptos"/>
                <a:cs typeface="Aptos"/>
              </a:rPr>
              <a:t>app.py：最小 Flask 網頁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app.py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 spc="0" dirty="0">
              <a:ln>
                <a:noFill/>
              </a:ln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index():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"&lt;h1&gt;Hello Flask </a:t>
            </a:r>
            <a:r>
              <a:rPr sz="1800" b="0" i="0" u="none" cap="none" spc="0" dirty="0" err="1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Dockerfile</a:t>
            </a: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!&lt;/h1&gt;"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 spc="0" dirty="0">
              <a:ln>
                <a:noFill/>
              </a:ln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00" b="0" i="0" u="none" cap="none" spc="0" dirty="0" err="1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app.run</a:t>
            </a:r>
            <a:r>
              <a:rPr sz="1800" b="0" i="0" u="none" cap="none" spc="0" dirty="0">
                <a:ln>
                  <a:noFill/>
                </a:ln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 spc="0">
                <a:ln>
                  <a:noFill/>
                </a:ln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Flask 練習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 spc="0">
                <a:ln>
                  <a:noFill/>
                </a:ln>
                <a:solidFill>
                  <a:srgbClr val="94A3B8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ABD4690-EFD3-4423-BA10-417EAD0C1DC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DOCKERFILE ANATOMY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40B62C-AF46-49D2-B92E-D6D5B620A8D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Dockerfile</a:t>
            </a:r>
            <a:r>
              <a:rPr sz="28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最小可跑版</a:t>
            </a:r>
            <a:endParaRPr sz="28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C5D8050-55EC-4B79-BCBC-4755172B26B6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6286500" cy="295275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0FABAEE-04CF-4167-B3D1-0D8A58066DE8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6BF8E12-5F9A-4BBD-BAA3-AD2BC30137FA}"/>
              </a:ext>
            </a:extLst>
          </p:cNvPr>
          <p:cNvSpPr>
            <a:spLocks noGrp="1"/>
          </p:cNvSpPr>
          <p:nvPr/>
        </p:nvSpPr>
        <p:spPr>
          <a:xfrm>
            <a:off x="1066800" y="16097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4A52FC2-2BEB-4181-93FC-A3759AE3B015}"/>
              </a:ext>
            </a:extLst>
          </p:cNvPr>
          <p:cNvSpPr>
            <a:spLocks noGrp="1"/>
          </p:cNvSpPr>
          <p:nvPr/>
        </p:nvSpPr>
        <p:spPr>
          <a:xfrm>
            <a:off x="1238250" y="16097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0097C9-C592-4AFD-92A6-CAAA6EF4DD10}"/>
              </a:ext>
            </a:extLst>
          </p:cNvPr>
          <p:cNvSpPr>
            <a:spLocks noGrp="1"/>
          </p:cNvSpPr>
          <p:nvPr/>
        </p:nvSpPr>
        <p:spPr>
          <a:xfrm>
            <a:off x="933450" y="1866900"/>
            <a:ext cx="5867400" cy="26022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00" b="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600" b="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Dockerfile</a:t>
            </a:r>
            <a:endParaRPr lang="en-US" sz="1600" b="0" dirty="0">
              <a:solidFill>
                <a:schemeClr val="bg1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600" dirty="0">
                <a:solidFill>
                  <a:schemeClr val="bg1"/>
                </a:solidFill>
              </a:rPr>
              <a:t>FROM python:3.11</a:t>
            </a:r>
          </a:p>
          <a:p>
            <a:r>
              <a:rPr lang="zh-TW" altLang="zh-TW" sz="1600" dirty="0">
                <a:solidFill>
                  <a:schemeClr val="bg1"/>
                </a:solidFill>
              </a:rPr>
              <a:t>WORKDIR /app</a:t>
            </a:r>
          </a:p>
          <a:p>
            <a:r>
              <a:rPr lang="zh-TW" altLang="zh-TW" sz="1600" dirty="0">
                <a:solidFill>
                  <a:schemeClr val="bg1"/>
                </a:solidFill>
              </a:rPr>
              <a:t>COPY </a:t>
            </a:r>
            <a:r>
              <a:rPr lang="en-US" altLang="zh-TW" sz="1600" dirty="0">
                <a:solidFill>
                  <a:schemeClr val="bg1"/>
                </a:solidFill>
              </a:rPr>
              <a:t>app/</a:t>
            </a:r>
            <a:r>
              <a:rPr lang="zh-TW" altLang="zh-TW" sz="1600" dirty="0">
                <a:solidFill>
                  <a:schemeClr val="bg1"/>
                </a:solidFill>
              </a:rPr>
              <a:t> .</a:t>
            </a:r>
          </a:p>
          <a:p>
            <a:r>
              <a:rPr lang="zh-TW" altLang="zh-TW" sz="1600" dirty="0">
                <a:solidFill>
                  <a:schemeClr val="bg1"/>
                </a:solidFill>
              </a:rPr>
              <a:t>RUN pip install -r requirements.txt</a:t>
            </a:r>
          </a:p>
          <a:p>
            <a:r>
              <a:rPr lang="zh-TW" altLang="zh-TW" sz="1600" dirty="0">
                <a:solidFill>
                  <a:schemeClr val="bg1"/>
                </a:solidFill>
              </a:rPr>
              <a:t>RUN apt-get update </a:t>
            </a:r>
          </a:p>
          <a:p>
            <a:r>
              <a:rPr lang="zh-TW" altLang="zh-TW" sz="1600" dirty="0">
                <a:solidFill>
                  <a:schemeClr val="bg1"/>
                </a:solidFill>
              </a:rPr>
              <a:t>RUN apt-get install -y nano</a:t>
            </a:r>
          </a:p>
          <a:p>
            <a:r>
              <a:rPr lang="zh-TW" altLang="zh-TW" sz="1600" dirty="0">
                <a:solidFill>
                  <a:schemeClr val="bg1"/>
                </a:solidFill>
              </a:rPr>
              <a:t>EXPOSE 5000</a:t>
            </a:r>
            <a:br>
              <a:rPr lang="zh-TW" altLang="zh-TW" sz="1600" dirty="0">
                <a:solidFill>
                  <a:schemeClr val="bg1"/>
                </a:solidFill>
              </a:rPr>
            </a:br>
            <a:endParaRPr lang="zh-TW" altLang="zh-TW" sz="1600" dirty="0">
              <a:solidFill>
                <a:schemeClr val="bg1"/>
              </a:solidFill>
            </a:endParaRPr>
          </a:p>
          <a:p>
            <a:r>
              <a:rPr lang="zh-TW" altLang="zh-TW" sz="1600" dirty="0">
                <a:solidFill>
                  <a:schemeClr val="bg1"/>
                </a:solidFill>
              </a:rPr>
              <a:t>CMD ["python", "app.py"]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F67AA4A-FEE2-415B-B93F-300E8A4B19A4}"/>
              </a:ext>
            </a:extLst>
          </p:cNvPr>
          <p:cNvSpPr>
            <a:spLocks noGrp="1"/>
          </p:cNvSpPr>
          <p:nvPr/>
        </p:nvSpPr>
        <p:spPr>
          <a:xfrm>
            <a:off x="7620000" y="1428750"/>
            <a:ext cx="3276600" cy="514350"/>
          </a:xfrm>
          <a:prstGeom prst="roundRect">
            <a:avLst>
              <a:gd name="adj" fmla="val 1851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D02EC6-E681-4365-9222-A99C3557B4AB}"/>
              </a:ext>
            </a:extLst>
          </p:cNvPr>
          <p:cNvSpPr>
            <a:spLocks noGrp="1"/>
          </p:cNvSpPr>
          <p:nvPr/>
        </p:nvSpPr>
        <p:spPr>
          <a:xfrm>
            <a:off x="7848600" y="15811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FROM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C6B862-D69B-4A90-A58F-08879299CFAE}"/>
              </a:ext>
            </a:extLst>
          </p:cNvPr>
          <p:cNvSpPr>
            <a:spLocks noGrp="1"/>
          </p:cNvSpPr>
          <p:nvPr/>
        </p:nvSpPr>
        <p:spPr>
          <a:xfrm>
            <a:off x="9048750" y="15811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基礎 Image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B7B9D9C-4C54-4A6D-B2DF-B77B31E5AFB4}"/>
              </a:ext>
            </a:extLst>
          </p:cNvPr>
          <p:cNvSpPr>
            <a:spLocks noGrp="1"/>
          </p:cNvSpPr>
          <p:nvPr/>
        </p:nvSpPr>
        <p:spPr>
          <a:xfrm>
            <a:off x="7620000" y="2114550"/>
            <a:ext cx="3276600" cy="514350"/>
          </a:xfrm>
          <a:prstGeom prst="roundRect">
            <a:avLst>
              <a:gd name="adj" fmla="val 1851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3EA41F-ADE8-4156-9260-FC8FF3608635}"/>
              </a:ext>
            </a:extLst>
          </p:cNvPr>
          <p:cNvSpPr>
            <a:spLocks noGrp="1"/>
          </p:cNvSpPr>
          <p:nvPr/>
        </p:nvSpPr>
        <p:spPr>
          <a:xfrm>
            <a:off x="7848600" y="2266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WORKDIR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5E2C58-DAEB-4A39-A2D5-19F2107414C4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容器內工作目錄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13F53D-B450-4D5D-8936-4E262FBC9DF7}"/>
              </a:ext>
            </a:extLst>
          </p:cNvPr>
          <p:cNvSpPr>
            <a:spLocks noGrp="1"/>
          </p:cNvSpPr>
          <p:nvPr/>
        </p:nvSpPr>
        <p:spPr>
          <a:xfrm>
            <a:off x="7620000" y="2800350"/>
            <a:ext cx="3276600" cy="514350"/>
          </a:xfrm>
          <a:prstGeom prst="roundRect">
            <a:avLst>
              <a:gd name="adj" fmla="val 1851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CC02A8-F0F6-4E40-AC49-808B9DCFA572}"/>
              </a:ext>
            </a:extLst>
          </p:cNvPr>
          <p:cNvSpPr>
            <a:spLocks noGrp="1"/>
          </p:cNvSpPr>
          <p:nvPr/>
        </p:nvSpPr>
        <p:spPr>
          <a:xfrm>
            <a:off x="7848600" y="29527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COPY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70B169-20F9-4F20-91B3-7459BF8F4E10}"/>
              </a:ext>
            </a:extLst>
          </p:cNvPr>
          <p:cNvSpPr>
            <a:spLocks noGrp="1"/>
          </p:cNvSpPr>
          <p:nvPr/>
        </p:nvSpPr>
        <p:spPr>
          <a:xfrm>
            <a:off x="9048750" y="29527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複製檔案到 Image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9303596-78ED-4DB2-A341-1ACAEEE27D44}"/>
              </a:ext>
            </a:extLst>
          </p:cNvPr>
          <p:cNvSpPr>
            <a:spLocks noGrp="1"/>
          </p:cNvSpPr>
          <p:nvPr/>
        </p:nvSpPr>
        <p:spPr>
          <a:xfrm>
            <a:off x="7620000" y="3486150"/>
            <a:ext cx="3276600" cy="514350"/>
          </a:xfrm>
          <a:prstGeom prst="roundRect">
            <a:avLst>
              <a:gd name="adj" fmla="val 1851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3EFF28-94FF-4BDE-BE37-C0C1DB87FCA1}"/>
              </a:ext>
            </a:extLst>
          </p:cNvPr>
          <p:cNvSpPr>
            <a:spLocks noGrp="1"/>
          </p:cNvSpPr>
          <p:nvPr/>
        </p:nvSpPr>
        <p:spPr>
          <a:xfrm>
            <a:off x="7848600" y="36385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RUN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DB2138-BF22-4DC7-AB7F-EE6F6F9D2A46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build 時執行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C7795EA-D145-4C30-AA89-2C135EAD6FC1}"/>
              </a:ext>
            </a:extLst>
          </p:cNvPr>
          <p:cNvSpPr>
            <a:spLocks noGrp="1"/>
          </p:cNvSpPr>
          <p:nvPr/>
        </p:nvSpPr>
        <p:spPr>
          <a:xfrm>
            <a:off x="7620000" y="4171950"/>
            <a:ext cx="3276600" cy="514350"/>
          </a:xfrm>
          <a:prstGeom prst="roundRect">
            <a:avLst>
              <a:gd name="adj" fmla="val 1851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91228A-7D74-42DD-8B29-7E15D92251A7}"/>
              </a:ext>
            </a:extLst>
          </p:cNvPr>
          <p:cNvSpPr>
            <a:spLocks noGrp="1"/>
          </p:cNvSpPr>
          <p:nvPr/>
        </p:nvSpPr>
        <p:spPr>
          <a:xfrm>
            <a:off x="7848600" y="43243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CMD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1082CD-4060-460D-B7AE-E56E7ACB6C3B}"/>
              </a:ext>
            </a:extLst>
          </p:cNvPr>
          <p:cNvSpPr>
            <a:spLocks noGrp="1"/>
          </p:cNvSpPr>
          <p:nvPr/>
        </p:nvSpPr>
        <p:spPr>
          <a:xfrm>
            <a:off x="9048750" y="43243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container 啟動時執行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525738-C170-446C-B62E-796B5F86A6C3}"/>
              </a:ext>
            </a:extLst>
          </p:cNvPr>
          <p:cNvSpPr>
            <a:spLocks noGrp="1"/>
          </p:cNvSpPr>
          <p:nvPr/>
        </p:nvSpPr>
        <p:spPr>
          <a:xfrm>
            <a:off x="1809750" y="52768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先能跑起來，再慢慢加入優化。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F6A10E-8541-4738-8D43-A6C5957FCE8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D2FBF26-70F9-405B-9AF5-8323725C64B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BA1F231-620E-4D01-964C-BDE357A5468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052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06EE71-30A5-48DA-A18E-348D1C30EEC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DOCKERFILE MAP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DA8F17-B956-4AEA-82F1-7ECFD47F669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Dockerfile 常見指令地圖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D5EA444-587F-4213-B0F8-6AAED41A43FB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152400" tIns="152400" rIns="152400" bIns="152400" anchor="t">
            <a:normAutofit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FROM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選 base image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例：python:3.11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145D3DE-FF4E-4861-B820-FF6D1E4D3275}"/>
              </a:ext>
            </a:extLst>
          </p:cNvPr>
          <p:cNvSpPr>
            <a:spLocks noGrp="1"/>
          </p:cNvSpPr>
          <p:nvPr/>
        </p:nvSpPr>
        <p:spPr>
          <a:xfrm>
            <a:off x="3409950" y="15144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152400" tIns="152400" rIns="152400" bIns="152400" anchor="t">
            <a:normAutofit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WORKDIR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設定工作目錄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後面的指令都在這裡跑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22EDE66-E9AA-44B8-BF89-F653F84A54A0}"/>
              </a:ext>
            </a:extLst>
          </p:cNvPr>
          <p:cNvSpPr>
            <a:spLocks noGrp="1"/>
          </p:cNvSpPr>
          <p:nvPr/>
        </p:nvSpPr>
        <p:spPr>
          <a:xfrm>
            <a:off x="6210300" y="15144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152400" tIns="152400" rIns="152400" bIns="152400" anchor="t">
            <a:normAutofit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COPY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把檔案放進 image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初學先用 COPY，不急著用 ADD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A0E2469-16DB-4F4A-B83E-364BB1D16CA2}"/>
              </a:ext>
            </a:extLst>
          </p:cNvPr>
          <p:cNvSpPr>
            <a:spLocks noGrp="1"/>
          </p:cNvSpPr>
          <p:nvPr/>
        </p:nvSpPr>
        <p:spPr>
          <a:xfrm>
            <a:off x="9010650" y="15144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152400" tIns="152400" rIns="152400" bIns="152400" anchor="t">
            <a:normAutofit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時執行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安裝套件、建立資料夾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1ACBDD9-146F-4425-B3FC-5A68DA820564}"/>
              </a:ext>
            </a:extLst>
          </p:cNvPr>
          <p:cNvSpPr>
            <a:spLocks noGrp="1"/>
          </p:cNvSpPr>
          <p:nvPr/>
        </p:nvSpPr>
        <p:spPr>
          <a:xfrm>
            <a:off x="609600" y="27336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 lIns="152400" tIns="152400" rIns="152400" bIns="152400" anchor="t">
            <a:normAutofit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CMD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 啟動時執行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通常放啟動程式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C683526-325B-4080-B295-A42EEFF0A0AA}"/>
              </a:ext>
            </a:extLst>
          </p:cNvPr>
          <p:cNvSpPr>
            <a:spLocks noGrp="1"/>
          </p:cNvSpPr>
          <p:nvPr/>
        </p:nvSpPr>
        <p:spPr>
          <a:xfrm>
            <a:off x="3409950" y="27336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 lIns="152400" tIns="152400" rIns="152400" bIns="152400" anchor="t">
            <a:normAutofit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EXPOSE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文件提示 port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不等於真的開 port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8723E17-3494-4826-A939-0FDC50C3080B}"/>
              </a:ext>
            </a:extLst>
          </p:cNvPr>
          <p:cNvSpPr>
            <a:spLocks noGrp="1"/>
          </p:cNvSpPr>
          <p:nvPr/>
        </p:nvSpPr>
        <p:spPr>
          <a:xfrm>
            <a:off x="6210300" y="27336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 lIns="152400" tIns="152400" rIns="152400" bIns="152400" anchor="t">
            <a:normAutofit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ENV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非機密設定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密碼、token 不放這裡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4D66626-ED07-495D-AB3E-BDDEFB9629F5}"/>
              </a:ext>
            </a:extLst>
          </p:cNvPr>
          <p:cNvSpPr>
            <a:spLocks noGrp="1"/>
          </p:cNvSpPr>
          <p:nvPr/>
        </p:nvSpPr>
        <p:spPr>
          <a:xfrm>
            <a:off x="9010650" y="2733675"/>
            <a:ext cx="2571750" cy="9715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 lIns="152400" tIns="152400" rIns="152400" bIns="152400" anchor="t">
            <a:normAutofit fontScale="9674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LABEL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標記 image 資訊</a:t>
            </a:r>
          </a:p>
          <a:p>
            <a:pPr algn="l">
              <a:lnSpc>
                <a:spcPct val="106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作者、版本、用途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E31139F-D564-4AC4-BC53-8F932FA0360D}"/>
              </a:ext>
            </a:extLst>
          </p:cNvPr>
          <p:cNvSpPr>
            <a:spLocks noGrp="1"/>
          </p:cNvSpPr>
          <p:nvPr/>
        </p:nvSpPr>
        <p:spPr>
          <a:xfrm>
            <a:off x="1143000" y="4210050"/>
            <a:ext cx="9144000" cy="6096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D9E2EC"/>
            </a:solidFill>
            <a:prstDash val="solid"/>
          </a:ln>
        </p:spPr>
        <p:txBody>
          <a:bodyPr lIns="152400" tIns="152400" rIns="152400" bIns="1524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這堂先會讀懂常見指令；production 權限與安全設定之後再補。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FA5BC8-CCE4-4C28-97EA-0BF9DF07903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E29A778-8AEE-46F6-91EB-CC766E995E1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D7D1E8D-8355-4667-A11C-FCBB8FBED60F}"/>
              </a:ext>
            </a:extLst>
          </p:cNvPr>
          <p:cNvSpPr>
            <a:spLocks noGrp="1"/>
          </p:cNvSpPr>
          <p:nvPr/>
        </p:nvSpPr>
        <p:spPr>
          <a:xfrm>
            <a:off x="10858500" y="63817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05A</a:t>
            </a:r>
          </a:p>
        </p:txBody>
      </p:sp>
    </p:spTree>
    <p:extLst>
      <p:ext uri="{BB962C8B-B14F-4D97-AF65-F5344CB8AC3E}">
        <p14:creationId xmlns:p14="http://schemas.microsoft.com/office/powerpoint/2010/main" val="1542406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7324F87-7757-4EB6-AC9B-CA159A4F2C2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DOCKERFILE BEHAVIOR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66EFBA-621B-4328-A40B-0B8115D93EB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RUN / CMD / EXPOSE 差異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5D1F372-0298-441B-8B68-35F45386DE10}"/>
              </a:ext>
            </a:extLst>
          </p:cNvPr>
          <p:cNvSpPr>
            <a:spLocks noGrp="1"/>
          </p:cNvSpPr>
          <p:nvPr/>
        </p:nvSpPr>
        <p:spPr>
          <a:xfrm>
            <a:off x="914400" y="1590675"/>
            <a:ext cx="3276600" cy="247650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190500" tIns="190500" rIns="190500" bIns="1905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build image 的時候跑</a:t>
            </a:r>
          </a:p>
          <a:p>
            <a:pPr algn="ctr">
              <a:lnSpc>
                <a:spcPct val="106000"/>
              </a:lnSpc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會產生新的 image layer</a:t>
            </a:r>
          </a:p>
          <a:p>
            <a:pPr algn="ctr">
              <a:lnSpc>
                <a:spcPct val="106000"/>
              </a:lnSpc>
              <a:buNone/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例：RUN pip install -r requirements.txt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36BD907-C81A-419A-AB21-D9424CB73594}"/>
              </a:ext>
            </a:extLst>
          </p:cNvPr>
          <p:cNvSpPr>
            <a:spLocks noGrp="1"/>
          </p:cNvSpPr>
          <p:nvPr/>
        </p:nvSpPr>
        <p:spPr>
          <a:xfrm>
            <a:off x="4495800" y="1590675"/>
            <a:ext cx="3276600" cy="24765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9525">
            <a:solidFill>
              <a:srgbClr val="B7E4C7"/>
            </a:solidFill>
            <a:prstDash val="solid"/>
          </a:ln>
        </p:spPr>
        <p:txBody>
          <a:bodyPr lIns="190500" tIns="190500" rIns="190500" bIns="1905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87F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7F5B"/>
                </a:solidFill>
                <a:latin typeface="Aptos Display"/>
                <a:ea typeface="Aptos Display"/>
                <a:cs typeface="Aptos Display"/>
              </a:rPr>
              <a:t>CMD</a:t>
            </a:r>
          </a:p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container 啟動時跑</a:t>
            </a:r>
          </a:p>
          <a:p>
            <a:pPr algn="ctr">
              <a:lnSpc>
                <a:spcPct val="106000"/>
              </a:lnSpc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可被 docker run 後面的 command 覆蓋</a:t>
            </a:r>
          </a:p>
          <a:p>
            <a:pPr algn="ctr">
              <a:lnSpc>
                <a:spcPct val="106000"/>
              </a:lnSpc>
              <a:buNone/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例：CMD ["python", "app.py"]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C59F0C2-7FFC-44DF-9E07-E25DC99497DC}"/>
              </a:ext>
            </a:extLst>
          </p:cNvPr>
          <p:cNvSpPr>
            <a:spLocks noGrp="1"/>
          </p:cNvSpPr>
          <p:nvPr/>
        </p:nvSpPr>
        <p:spPr>
          <a:xfrm>
            <a:off x="8077200" y="1590675"/>
            <a:ext cx="3276600" cy="24765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9525">
            <a:solidFill>
              <a:srgbClr val="FFD999"/>
            </a:solidFill>
            <a:prstDash val="solid"/>
          </a:ln>
        </p:spPr>
        <p:txBody>
          <a:bodyPr lIns="190500" tIns="190500" rIns="190500" bIns="1905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A1620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A16207"/>
                </a:solidFill>
                <a:latin typeface="Aptos Display"/>
                <a:ea typeface="Aptos Display"/>
                <a:cs typeface="Aptos Display"/>
              </a:rPr>
              <a:t>EXPOSE</a:t>
            </a:r>
          </a:p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只是文件提示</a:t>
            </a:r>
          </a:p>
          <a:p>
            <a:pPr algn="ctr">
              <a:lnSpc>
                <a:spcPct val="106000"/>
              </a:lnSpc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不會自動對外開 port</a:t>
            </a:r>
          </a:p>
          <a:p>
            <a:pPr algn="ctr">
              <a:lnSpc>
                <a:spcPct val="106000"/>
              </a:lnSpc>
              <a:buNone/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仍要 -p 5000:5000 或 compose ports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ABF8AE1-2C0C-44EA-9A89-5C5535D5D7D8}"/>
              </a:ext>
            </a:extLst>
          </p:cNvPr>
          <p:cNvSpPr>
            <a:spLocks noGrp="1"/>
          </p:cNvSpPr>
          <p:nvPr/>
        </p:nvSpPr>
        <p:spPr>
          <a:xfrm>
            <a:off x="990600" y="4541525"/>
            <a:ext cx="10210800" cy="62865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 lIns="152400" tIns="152400" rIns="152400" bIns="1524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記法：RUN 做安裝，CMD 啟動程式，EXPOSE 留提醒。真的要開 port，要看 docker run -p 或 compose ports。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45B788F-81D4-4293-B970-4E90D7C4F16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1DADB5-E369-4D9B-88B5-D91D0B197E0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DC6E237-F9B1-48D0-983A-9D3081EFEECB}"/>
              </a:ext>
            </a:extLst>
          </p:cNvPr>
          <p:cNvSpPr>
            <a:spLocks noGrp="1"/>
          </p:cNvSpPr>
          <p:nvPr/>
        </p:nvSpPr>
        <p:spPr>
          <a:xfrm>
            <a:off x="10858500" y="63817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05B</a:t>
            </a:r>
          </a:p>
        </p:txBody>
      </p:sp>
    </p:spTree>
    <p:extLst>
      <p:ext uri="{BB962C8B-B14F-4D97-AF65-F5344CB8AC3E}">
        <p14:creationId xmlns:p14="http://schemas.microsoft.com/office/powerpoint/2010/main" val="1470951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51B097E6-FED0-457F-9945-A8F72E2E51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3E8409-14E9-4E4C-A9B7-7519F2D2328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P1：從零建構自己的映像檔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E7BF0F2-A7DE-4803-B2E2-740ECCB94427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6DB1F10-F17B-4622-B5B9-D96CA344F046}"/>
              </a:ext>
            </a:extLst>
          </p:cNvPr>
          <p:cNvSpPr>
            <a:spLocks noGrp="1"/>
          </p:cNvSpPr>
          <p:nvPr/>
        </p:nvSpPr>
        <p:spPr>
          <a:xfrm>
            <a:off x="1771650" y="2000250"/>
            <a:ext cx="533400" cy="533400"/>
          </a:xfrm>
          <a:prstGeom prst="ellipse">
            <a:avLst/>
          </a:prstGeom>
          <a:solidFill>
            <a:srgbClr val="00A97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F19578-9568-4C51-83C0-83E1AFC03D2C}"/>
              </a:ext>
            </a:extLst>
          </p:cNvPr>
          <p:cNvSpPr>
            <a:spLocks noGrp="1"/>
          </p:cNvSpPr>
          <p:nvPr/>
        </p:nvSpPr>
        <p:spPr>
          <a:xfrm>
            <a:off x="1771650" y="21240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3A7D2D-B395-4A2F-95B5-415CA266CDE1}"/>
              </a:ext>
            </a:extLst>
          </p:cNvPr>
          <p:cNvSpPr>
            <a:spLocks noGrp="1"/>
          </p:cNvSpPr>
          <p:nvPr/>
        </p:nvSpPr>
        <p:spPr>
          <a:xfrm>
            <a:off x="1009650" y="27813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建立 Python 程式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7B0F1-D36A-4421-A2A0-047142E2B149}"/>
              </a:ext>
            </a:extLst>
          </p:cNvPr>
          <p:cNvSpPr>
            <a:spLocks noGrp="1"/>
          </p:cNvSpPr>
          <p:nvPr/>
        </p:nvSpPr>
        <p:spPr>
          <a:xfrm>
            <a:off x="1009650" y="32575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印出 Hello from my image!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7A13F22-5285-4C1A-A91C-2DDE06D4A80E}"/>
              </a:ext>
            </a:extLst>
          </p:cNvPr>
          <p:cNvSpPr>
            <a:spLocks noGrp="1"/>
          </p:cNvSpPr>
          <p:nvPr/>
        </p:nvSpPr>
        <p:spPr>
          <a:xfrm>
            <a:off x="3657600" y="171450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586875C-FF8D-4DAF-A75B-7DF235937E82}"/>
              </a:ext>
            </a:extLst>
          </p:cNvPr>
          <p:cNvSpPr>
            <a:spLocks noGrp="1"/>
          </p:cNvSpPr>
          <p:nvPr/>
        </p:nvSpPr>
        <p:spPr>
          <a:xfrm>
            <a:off x="4629150" y="2000250"/>
            <a:ext cx="533400" cy="533400"/>
          </a:xfrm>
          <a:prstGeom prst="ellipse">
            <a:avLst/>
          </a:prstGeom>
          <a:solidFill>
            <a:srgbClr val="2496E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0163C9-09D6-4DB8-A679-0757A2B571E9}"/>
              </a:ext>
            </a:extLst>
          </p:cNvPr>
          <p:cNvSpPr>
            <a:spLocks noGrp="1"/>
          </p:cNvSpPr>
          <p:nvPr/>
        </p:nvSpPr>
        <p:spPr>
          <a:xfrm>
            <a:off x="4629150" y="21240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0FE7C3-80C3-4C3B-93F2-4CAEE3DA4BF0}"/>
              </a:ext>
            </a:extLst>
          </p:cNvPr>
          <p:cNvSpPr>
            <a:spLocks noGrp="1"/>
          </p:cNvSpPr>
          <p:nvPr/>
        </p:nvSpPr>
        <p:spPr>
          <a:xfrm>
            <a:off x="3867150" y="27813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寫 Dockerfile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C762D4-3153-403D-8E54-B4647ACDD4E5}"/>
              </a:ext>
            </a:extLst>
          </p:cNvPr>
          <p:cNvSpPr>
            <a:spLocks noGrp="1"/>
          </p:cNvSpPr>
          <p:nvPr/>
        </p:nvSpPr>
        <p:spPr>
          <a:xfrm>
            <a:off x="3867150" y="32575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 python:3.11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9BC277C-E3D2-4CD3-B8A3-F9099FE1A326}"/>
              </a:ext>
            </a:extLst>
          </p:cNvPr>
          <p:cNvSpPr>
            <a:spLocks noGrp="1"/>
          </p:cNvSpPr>
          <p:nvPr/>
        </p:nvSpPr>
        <p:spPr>
          <a:xfrm>
            <a:off x="6515100" y="171450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0F4230C-3A3A-4218-BE59-42712C8C443C}"/>
              </a:ext>
            </a:extLst>
          </p:cNvPr>
          <p:cNvSpPr>
            <a:spLocks noGrp="1"/>
          </p:cNvSpPr>
          <p:nvPr/>
        </p:nvSpPr>
        <p:spPr>
          <a:xfrm>
            <a:off x="7486650" y="2000250"/>
            <a:ext cx="533400" cy="533400"/>
          </a:xfrm>
          <a:prstGeom prst="ellipse">
            <a:avLst/>
          </a:prstGeom>
          <a:solidFill>
            <a:srgbClr val="00A97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91F1C2-8E15-48AF-BBC2-0E66DF6C12EC}"/>
              </a:ext>
            </a:extLst>
          </p:cNvPr>
          <p:cNvSpPr>
            <a:spLocks noGrp="1"/>
          </p:cNvSpPr>
          <p:nvPr/>
        </p:nvSpPr>
        <p:spPr>
          <a:xfrm>
            <a:off x="7486650" y="21240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B8686E-7E86-4757-B3D2-4962D1507007}"/>
              </a:ext>
            </a:extLst>
          </p:cNvPr>
          <p:cNvSpPr>
            <a:spLocks noGrp="1"/>
          </p:cNvSpPr>
          <p:nvPr/>
        </p:nvSpPr>
        <p:spPr>
          <a:xfrm>
            <a:off x="6724650" y="27813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先不加優化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A5733D-7221-4FF0-88D2-062A394B92D8}"/>
              </a:ext>
            </a:extLst>
          </p:cNvPr>
          <p:cNvSpPr>
            <a:spLocks noGrp="1"/>
          </p:cNvSpPr>
          <p:nvPr/>
        </p:nvSpPr>
        <p:spPr>
          <a:xfrm>
            <a:off x="6724650" y="32575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先理解每一行在做什麼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AEC7BAA-CA52-4479-86D1-583230AA5458}"/>
              </a:ext>
            </a:extLst>
          </p:cNvPr>
          <p:cNvSpPr>
            <a:spLocks noGrp="1"/>
          </p:cNvSpPr>
          <p:nvPr/>
        </p:nvSpPr>
        <p:spPr>
          <a:xfrm>
            <a:off x="9372600" y="171450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A4B5BDE2-E06B-44A7-9F93-CCA14C6A85CB}"/>
              </a:ext>
            </a:extLst>
          </p:cNvPr>
          <p:cNvSpPr>
            <a:spLocks noGrp="1"/>
          </p:cNvSpPr>
          <p:nvPr/>
        </p:nvSpPr>
        <p:spPr>
          <a:xfrm>
            <a:off x="10344150" y="2000250"/>
            <a:ext cx="533400" cy="533400"/>
          </a:xfrm>
          <a:prstGeom prst="ellipse">
            <a:avLst/>
          </a:prstGeom>
          <a:solidFill>
            <a:srgbClr val="00A97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8808A5-9CBB-41C7-945A-F88CC389DF93}"/>
              </a:ext>
            </a:extLst>
          </p:cNvPr>
          <p:cNvSpPr>
            <a:spLocks noGrp="1"/>
          </p:cNvSpPr>
          <p:nvPr/>
        </p:nvSpPr>
        <p:spPr>
          <a:xfrm>
            <a:off x="10344150" y="21240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CD9F342-34AF-4578-B784-3A58B1A2B57F}"/>
              </a:ext>
            </a:extLst>
          </p:cNvPr>
          <p:cNvSpPr>
            <a:spLocks noGrp="1"/>
          </p:cNvSpPr>
          <p:nvPr/>
        </p:nvSpPr>
        <p:spPr>
          <a:xfrm>
            <a:off x="9582150" y="27813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build / run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B22BEB-7983-4EAD-AC69-0AF33DECBB9F}"/>
              </a:ext>
            </a:extLst>
          </p:cNvPr>
          <p:cNvSpPr>
            <a:spLocks noGrp="1"/>
          </p:cNvSpPr>
          <p:nvPr/>
        </p:nvSpPr>
        <p:spPr>
          <a:xfrm>
            <a:off x="9582150" y="32575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114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確認輸出，再看 docker history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0858293-1B08-49FA-B8DA-E108E67A64AE}"/>
              </a:ext>
            </a:extLst>
          </p:cNvPr>
          <p:cNvSpPr>
            <a:spLocks noGrp="1"/>
          </p:cNvSpPr>
          <p:nvPr/>
        </p:nvSpPr>
        <p:spPr>
          <a:xfrm>
            <a:off x="2381250" y="4552950"/>
            <a:ext cx="7429500" cy="1219200"/>
          </a:xfrm>
          <a:prstGeom prst="roundRect">
            <a:avLst>
              <a:gd name="adj" fmla="val 781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F4747DC-5E39-453F-BB2C-978AB6F75E0F}"/>
              </a:ext>
            </a:extLst>
          </p:cNvPr>
          <p:cNvSpPr>
            <a:spLocks noGrp="1"/>
          </p:cNvSpPr>
          <p:nvPr/>
        </p:nvSpPr>
        <p:spPr>
          <a:xfrm>
            <a:off x="2552700" y="47148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6D37CF11-078B-4FED-9B86-AEADD9171985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5A5D8591-691D-4BA0-B1A0-331235727AC3}"/>
              </a:ext>
            </a:extLst>
          </p:cNvPr>
          <p:cNvSpPr>
            <a:spLocks noGrp="1"/>
          </p:cNvSpPr>
          <p:nvPr/>
        </p:nvSpPr>
        <p:spPr>
          <a:xfrm>
            <a:off x="2895600" y="47148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67E988-2301-4CDF-A88C-6628A18BB1A2}"/>
              </a:ext>
            </a:extLst>
          </p:cNvPr>
          <p:cNvSpPr>
            <a:spLocks noGrp="1"/>
          </p:cNvSpPr>
          <p:nvPr/>
        </p:nvSpPr>
        <p:spPr>
          <a:xfrm>
            <a:off x="2590800" y="4972050"/>
            <a:ext cx="701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402" lnSpcReduction="10000"/>
          </a:bodyPr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build -t my-first-image .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</a:t>
            </a:r>
            <a:r>
              <a:rPr lang="zh-TW" altLang="en-US"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altLang="zh-TW"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–p 5000:5000</a:t>
            </a: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my-first-image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history my-first-image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AED048-95C9-4CB0-A468-EA43E5F2A80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3C5082D-10C9-4A16-9E78-37A82631388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80CD6CE-19C7-41F1-8E55-1423DD4DE946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237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D94C558-CEFE-495D-BBA0-A5DD77D7933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BUILD LOOP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1ADADE-EF22-46BD-8E25-C4FBB3B5FB4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Build 後要馬上 Run，確認 Image 真的能用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79B506F-79CB-45C2-A97F-956B1A5575DE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6096000" cy="3429000"/>
          </a:xfrm>
          <a:prstGeom prst="roundRect">
            <a:avLst>
              <a:gd name="adj" fmla="val 277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E8AE9D5-3835-473B-A3D8-FE5216227B25}"/>
              </a:ext>
            </a:extLst>
          </p:cNvPr>
          <p:cNvSpPr>
            <a:spLocks noGrp="1"/>
          </p:cNvSpPr>
          <p:nvPr/>
        </p:nvSpPr>
        <p:spPr>
          <a:xfrm>
            <a:off x="1009650" y="16668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3987150-AF25-410D-AF8D-C407E7367F9B}"/>
              </a:ext>
            </a:extLst>
          </p:cNvPr>
          <p:cNvSpPr>
            <a:spLocks noGrp="1"/>
          </p:cNvSpPr>
          <p:nvPr/>
        </p:nvSpPr>
        <p:spPr>
          <a:xfrm>
            <a:off x="1181100" y="16668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B01F491-A849-4F06-887A-883F8D4F6DB5}"/>
              </a:ext>
            </a:extLst>
          </p:cNvPr>
          <p:cNvSpPr>
            <a:spLocks noGrp="1"/>
          </p:cNvSpPr>
          <p:nvPr/>
        </p:nvSpPr>
        <p:spPr>
          <a:xfrm>
            <a:off x="1352550" y="16668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F6D624-B6C7-4CA6-808A-2DC21FE5E3A5}"/>
              </a:ext>
            </a:extLst>
          </p:cNvPr>
          <p:cNvSpPr>
            <a:spLocks noGrp="1"/>
          </p:cNvSpPr>
          <p:nvPr/>
        </p:nvSpPr>
        <p:spPr>
          <a:xfrm>
            <a:off x="1047750" y="1924050"/>
            <a:ext cx="56769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04000"/>
              </a:lnSpc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build -t </a:t>
            </a:r>
            <a:r>
              <a:rPr lang="en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my-first-image 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4000"/>
              </a:lnSpc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test-flask -p 5001:5000 </a:t>
            </a:r>
            <a:r>
              <a:rPr lang="en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my-first-image</a:t>
            </a:r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test-flask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curl http://localhost:5000</a:t>
            </a: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test-flask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C72A16D-5986-4693-BFB0-38E68E4E73BE}"/>
              </a:ext>
            </a:extLst>
          </p:cNvPr>
          <p:cNvSpPr>
            <a:spLocks noGrp="1"/>
          </p:cNvSpPr>
          <p:nvPr/>
        </p:nvSpPr>
        <p:spPr>
          <a:xfrm>
            <a:off x="7677150" y="1809750"/>
            <a:ext cx="3105150" cy="2038350"/>
          </a:xfrm>
          <a:prstGeom prst="roundRect">
            <a:avLst>
              <a:gd name="adj" fmla="val 5607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812F8D-5852-4CCD-820A-9F2D8071DFA2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最小驗證循環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23E183-A1E9-44C8-B228-F38D164DCBFD}"/>
              </a:ext>
            </a:extLst>
          </p:cNvPr>
          <p:cNvSpPr>
            <a:spLocks noGrp="1"/>
          </p:cNvSpPr>
          <p:nvPr/>
        </p:nvSpPr>
        <p:spPr>
          <a:xfrm>
            <a:off x="7905750" y="2419350"/>
            <a:ext cx="26479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37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成功只代表 Image 被產出。</a:t>
            </a:r>
          </a:p>
          <a:p>
            <a:endParaRPr sz="15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run、logs、curl 才能確認程式在容器裡真的啟動。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1382D95-9473-42C3-AB9F-9CFD3F95FCA9}"/>
              </a:ext>
            </a:extLst>
          </p:cNvPr>
          <p:cNvSpPr>
            <a:spLocks noGrp="1"/>
          </p:cNvSpPr>
          <p:nvPr/>
        </p:nvSpPr>
        <p:spPr>
          <a:xfrm>
            <a:off x="1962150" y="5410200"/>
            <a:ext cx="82677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C3DC71-95D2-4556-9847-09F875EAF8F4}"/>
              </a:ext>
            </a:extLst>
          </p:cNvPr>
          <p:cNvSpPr>
            <a:spLocks noGrp="1"/>
          </p:cNvSpPr>
          <p:nvPr/>
        </p:nvSpPr>
        <p:spPr>
          <a:xfrm>
            <a:off x="2266950" y="5543550"/>
            <a:ext cx="7658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每次改 Dockerfile：build -&gt; run -&gt; logs -&gt; 清理測試容器。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344E7B-85DD-47F0-AEDC-23A1BB85982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A4FE1A-A1B1-4902-AC65-8F225132BDE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1B041E-89A0-4511-9CA1-EB423B4A002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640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44AD856-0C1F-437C-B31B-2C78C9E4DF6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IMAGE LAYERS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7B4825-5B46-4C80-A52B-0263B1A5274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Image 是一層一層堆出來的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A48145-2C0B-4EFB-BD29-78D5A929E69A}"/>
              </a:ext>
            </a:extLst>
          </p:cNvPr>
          <p:cNvSpPr>
            <a:spLocks noGrp="1"/>
          </p:cNvSpPr>
          <p:nvPr/>
        </p:nvSpPr>
        <p:spPr>
          <a:xfrm>
            <a:off x="3257550" y="2971800"/>
            <a:ext cx="5048250" cy="533400"/>
          </a:xfrm>
          <a:prstGeom prst="roundRect">
            <a:avLst>
              <a:gd name="adj" fmla="val 17857"/>
            </a:avLst>
          </a:prstGeom>
          <a:solidFill>
            <a:srgbClr val="E8F3FF"/>
          </a:solidFill>
          <a:ln w="11430">
            <a:solidFill>
              <a:srgbClr val="0B5C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0CF1BC-23F5-42AA-BF73-8B608863D008}"/>
              </a:ext>
            </a:extLst>
          </p:cNvPr>
          <p:cNvSpPr>
            <a:spLocks noGrp="1"/>
          </p:cNvSpPr>
          <p:nvPr/>
        </p:nvSpPr>
        <p:spPr>
          <a:xfrm>
            <a:off x="3638550" y="31146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CMD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5885436-4F80-4DED-9C44-A9F33C48B9E4}"/>
              </a:ext>
            </a:extLst>
          </p:cNvPr>
          <p:cNvSpPr>
            <a:spLocks noGrp="1"/>
          </p:cNvSpPr>
          <p:nvPr/>
        </p:nvSpPr>
        <p:spPr>
          <a:xfrm>
            <a:off x="3086100" y="2533650"/>
            <a:ext cx="5391150" cy="533400"/>
          </a:xfrm>
          <a:prstGeom prst="roundRect">
            <a:avLst>
              <a:gd name="adj" fmla="val 17857"/>
            </a:avLst>
          </a:prstGeom>
          <a:solidFill>
            <a:srgbClr val="E7F8F2"/>
          </a:solidFill>
          <a:ln w="1143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AD2C27-1527-4F6D-B1BD-88A35EF55E74}"/>
              </a:ext>
            </a:extLst>
          </p:cNvPr>
          <p:cNvSpPr>
            <a:spLocks noGrp="1"/>
          </p:cNvSpPr>
          <p:nvPr/>
        </p:nvSpPr>
        <p:spPr>
          <a:xfrm>
            <a:off x="3467100" y="2676525"/>
            <a:ext cx="462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COPY . 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1BFDFF1-931F-4A1B-AE54-BEA64915D504}"/>
              </a:ext>
            </a:extLst>
          </p:cNvPr>
          <p:cNvSpPr>
            <a:spLocks noGrp="1"/>
          </p:cNvSpPr>
          <p:nvPr/>
        </p:nvSpPr>
        <p:spPr>
          <a:xfrm>
            <a:off x="2914650" y="2095500"/>
            <a:ext cx="5734050" cy="533400"/>
          </a:xfrm>
          <a:prstGeom prst="roundRect">
            <a:avLst>
              <a:gd name="adj" fmla="val 17857"/>
            </a:avLst>
          </a:prstGeom>
          <a:solidFill>
            <a:srgbClr val="FFF6DD"/>
          </a:solidFill>
          <a:ln w="1143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C1D46E-E878-414D-A100-8914FF206D3A}"/>
              </a:ext>
            </a:extLst>
          </p:cNvPr>
          <p:cNvSpPr>
            <a:spLocks noGrp="1"/>
          </p:cNvSpPr>
          <p:nvPr/>
        </p:nvSpPr>
        <p:spPr>
          <a:xfrm>
            <a:off x="3295650" y="2238375"/>
            <a:ext cx="497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B45309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RUN pip install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DC2EA85-57E4-4CFF-903B-44BDD92D7553}"/>
              </a:ext>
            </a:extLst>
          </p:cNvPr>
          <p:cNvSpPr>
            <a:spLocks noGrp="1"/>
          </p:cNvSpPr>
          <p:nvPr/>
        </p:nvSpPr>
        <p:spPr>
          <a:xfrm>
            <a:off x="2743200" y="1657350"/>
            <a:ext cx="6076950" cy="533400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E82CFB-08D8-4B88-AD3B-793E02F31D9B}"/>
              </a:ext>
            </a:extLst>
          </p:cNvPr>
          <p:cNvSpPr>
            <a:spLocks noGrp="1"/>
          </p:cNvSpPr>
          <p:nvPr/>
        </p:nvSpPr>
        <p:spPr>
          <a:xfrm>
            <a:off x="3124200" y="1800225"/>
            <a:ext cx="531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COPY requirements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C9CC07B-27A8-4CDF-ACD2-8D8345878195}"/>
              </a:ext>
            </a:extLst>
          </p:cNvPr>
          <p:cNvSpPr>
            <a:spLocks noGrp="1"/>
          </p:cNvSpPr>
          <p:nvPr/>
        </p:nvSpPr>
        <p:spPr>
          <a:xfrm>
            <a:off x="2571750" y="1219200"/>
            <a:ext cx="6419850" cy="533400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C8388C-E58C-444D-BCC2-1041F191626F}"/>
              </a:ext>
            </a:extLst>
          </p:cNvPr>
          <p:cNvSpPr>
            <a:spLocks noGrp="1"/>
          </p:cNvSpPr>
          <p:nvPr/>
        </p:nvSpPr>
        <p:spPr>
          <a:xfrm>
            <a:off x="2952750" y="1362075"/>
            <a:ext cx="565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64748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python:3.11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DC8394B-38FE-435D-B89E-9AE64A0AA151}"/>
              </a:ext>
            </a:extLst>
          </p:cNvPr>
          <p:cNvSpPr>
            <a:spLocks noGrp="1"/>
          </p:cNvSpPr>
          <p:nvPr/>
        </p:nvSpPr>
        <p:spPr>
          <a:xfrm>
            <a:off x="7734300" y="1714500"/>
            <a:ext cx="31623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DAD5B-82BB-4154-9FFA-F2041E2FF835}"/>
              </a:ext>
            </a:extLst>
          </p:cNvPr>
          <p:cNvSpPr>
            <a:spLocks noGrp="1"/>
          </p:cNvSpPr>
          <p:nvPr/>
        </p:nvSpPr>
        <p:spPr>
          <a:xfrm>
            <a:off x="7962900" y="190500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重點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C13BA5-25C0-486A-899D-6CAE75DBD779}"/>
              </a:ext>
            </a:extLst>
          </p:cNvPr>
          <p:cNvSpPr>
            <a:spLocks noGrp="1"/>
          </p:cNvSpPr>
          <p:nvPr/>
        </p:nvSpPr>
        <p:spPr>
          <a:xfrm>
            <a:off x="7962900" y="2438400"/>
            <a:ext cx="27051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每個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RUN / COPY / ADD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通常都會產生新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layer。</a:t>
            </a: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上一層的內容不會因為下一層刪除檔案就真的消失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CF9AACF-353D-4CF3-9C41-DB8916D38D1B}"/>
              </a:ext>
            </a:extLst>
          </p:cNvPr>
          <p:cNvSpPr>
            <a:spLocks noGrp="1"/>
          </p:cNvSpPr>
          <p:nvPr/>
        </p:nvSpPr>
        <p:spPr>
          <a:xfrm>
            <a:off x="2476500" y="4914900"/>
            <a:ext cx="7239000" cy="742950"/>
          </a:xfrm>
          <a:prstGeom prst="roundRect">
            <a:avLst>
              <a:gd name="adj" fmla="val 1282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F3FC10E-E064-4F12-AA87-59EB25B48295}"/>
              </a:ext>
            </a:extLst>
          </p:cNvPr>
          <p:cNvSpPr>
            <a:spLocks noGrp="1"/>
          </p:cNvSpPr>
          <p:nvPr/>
        </p:nvSpPr>
        <p:spPr>
          <a:xfrm>
            <a:off x="2647950" y="50768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5741C5A-DE54-46E7-8B5C-0198D9650C43}"/>
              </a:ext>
            </a:extLst>
          </p:cNvPr>
          <p:cNvSpPr>
            <a:spLocks noGrp="1"/>
          </p:cNvSpPr>
          <p:nvPr/>
        </p:nvSpPr>
        <p:spPr>
          <a:xfrm>
            <a:off x="2819400" y="50768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CA9C513-FCE9-45DB-AC80-2D0C6885C52D}"/>
              </a:ext>
            </a:extLst>
          </p:cNvPr>
          <p:cNvSpPr>
            <a:spLocks noGrp="1"/>
          </p:cNvSpPr>
          <p:nvPr/>
        </p:nvSpPr>
        <p:spPr>
          <a:xfrm>
            <a:off x="2990850" y="50768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29A36C-58C8-4425-8610-74EE60A8A3E2}"/>
              </a:ext>
            </a:extLst>
          </p:cNvPr>
          <p:cNvSpPr>
            <a:spLocks noGrp="1"/>
          </p:cNvSpPr>
          <p:nvPr/>
        </p:nvSpPr>
        <p:spPr>
          <a:xfrm>
            <a:off x="2686050" y="5334000"/>
            <a:ext cx="681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4273" lnSpcReduction="20000"/>
          </a:bodyPr>
          <a:lstStyle/>
          <a:p>
            <a:pPr>
              <a:lnSpc>
                <a:spcPct val="104000"/>
              </a:lnSpc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history </a:t>
            </a:r>
            <a:r>
              <a:rPr lang="en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my-first-image</a:t>
            </a:r>
            <a:endParaRPr sz="18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565A00-F9D7-45F2-8242-5D4D973CF28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1FE1E9-B358-4488-BA71-3445B6BFB54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87E3C2-43DC-4F9C-A25B-46884362D0A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263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4B6B9A50-F343-4EAF-9421-8C0CB2584CD0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8DA937F-85B9-436E-A564-FC03C3DE5FA1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Step 1-2：先換 slim，再合併 RUN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C59B346-C944-475A-8A36-0C277FA704AF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4 堂 | 從可跑版開始逐步優化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476EC34-D8EC-4A27-8F38-3512930EB64A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A3653C4-7185-46AA-BDB7-F555A573109D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Step 1：base image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變小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python:3.11-slim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WORKDIR /app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. .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Step 2：把相關 apt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指令合併成同一層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apt-get update \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&amp;&amp; apt-get install -y nano 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pip install -r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requirements.txt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EXPOSE 5000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CMD ["python", "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app.py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"]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308A136-44D9-4FB1-B610-1EE237E3EB54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4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6F8370FB-1C84-480D-ACDA-8BEAD269D3AF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47545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A1809-21DE-94DB-F0B7-1E5B5A7A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318F7C8B-52A1-1BDD-04EA-492939486DD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49150E-4F2F-E892-C4EE-B7E471D2DEE0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Step 3：先 COPY requirements.txt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B8FD76D-2005-1311-639A-A8303E639619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4 堂 | 讓 pip install layer 可以重用快取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CFD87580-CA0F-1061-F5C4-B110C6C39CC8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35C918CB-1EA1-A974-12E2-5FBB9CDC7D59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python:3.11-slim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WORKDIR /app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" altLang="zh-TW"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apt-get update \</a:t>
            </a:r>
          </a:p>
          <a:p>
            <a:pPr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" altLang="zh-TW"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&amp;&amp; apt-get install -y nano 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requirements.txt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pip install -r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requirements.txt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. .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LABEL maintainer="your-email@example.com"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LABEL version="1.0"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LABEL description="My Flask web application"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EXPOSE 5000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CMD ["python", "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app.py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"]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5A869E1-3098-82B5-7547-CAADC4784C42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4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0BB5AABC-108E-C556-BB21-827E4561024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075667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B867030-5930-4462-8BEF-2063C172452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8A659E-480D-4BC9-AF4A-79C16312B6A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cache：為什麼先 COPY requirements？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F8BA79A-68BD-42BE-B959-FB19EE8B3D99}"/>
              </a:ext>
            </a:extLst>
          </p:cNvPr>
          <p:cNvSpPr>
            <a:spLocks noGrp="1"/>
          </p:cNvSpPr>
          <p:nvPr/>
        </p:nvSpPr>
        <p:spPr>
          <a:xfrm>
            <a:off x="819150" y="1504950"/>
            <a:ext cx="4762500" cy="3219450"/>
          </a:xfrm>
          <a:prstGeom prst="roundRect">
            <a:avLst>
              <a:gd name="adj" fmla="val 3550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E1DC44-BC29-4D72-BE37-0925D4AAD40A}"/>
              </a:ext>
            </a:extLst>
          </p:cNvPr>
          <p:cNvSpPr>
            <a:spLocks noGrp="1"/>
          </p:cNvSpPr>
          <p:nvPr/>
        </p:nvSpPr>
        <p:spPr>
          <a:xfrm>
            <a:off x="1047750" y="16954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重建更快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ECDC23-6C17-4151-809F-EE3D71FE4440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4305300" cy="2305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requirements.txt .</a:t>
            </a: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pip install ...</a:t>
            </a: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. .</a:t>
            </a:r>
          </a:p>
          <a:p>
            <a:endParaRPr sz="14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改 app.py 時，pip install 那層可重用快取。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5A8911A-67EB-4F9F-BBD0-A121EE78F43D}"/>
              </a:ext>
            </a:extLst>
          </p:cNvPr>
          <p:cNvSpPr>
            <a:spLocks noGrp="1"/>
          </p:cNvSpPr>
          <p:nvPr/>
        </p:nvSpPr>
        <p:spPr>
          <a:xfrm>
            <a:off x="6610350" y="1504950"/>
            <a:ext cx="4762500" cy="3219450"/>
          </a:xfrm>
          <a:prstGeom prst="roundRect">
            <a:avLst>
              <a:gd name="adj" fmla="val 3550"/>
            </a:avLst>
          </a:prstGeom>
          <a:solidFill>
            <a:srgbClr val="111827"/>
          </a:solidFill>
          <a:ln w="9525">
            <a:solidFill>
              <a:srgbClr val="FB71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09A1A9-E953-4A6B-B3B5-0A623BE23E90}"/>
              </a:ext>
            </a:extLst>
          </p:cNvPr>
          <p:cNvSpPr>
            <a:spLocks noGrp="1"/>
          </p:cNvSpPr>
          <p:nvPr/>
        </p:nvSpPr>
        <p:spPr>
          <a:xfrm>
            <a:off x="6838950" y="16954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rPr>
              <a:t>最小可跑版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0E7FE4-2C0B-464F-A827-BB0B4FFD4F7A}"/>
              </a:ext>
            </a:extLst>
          </p:cNvPr>
          <p:cNvSpPr>
            <a:spLocks noGrp="1"/>
          </p:cNvSpPr>
          <p:nvPr/>
        </p:nvSpPr>
        <p:spPr>
          <a:xfrm>
            <a:off x="6838950" y="2228850"/>
            <a:ext cx="4305300" cy="2305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. .</a:t>
            </a: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pip install ...</a:t>
            </a:r>
          </a:p>
          <a:p>
            <a:endParaRPr sz="14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任何檔案變更都讓快取失效，套件常常重裝。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4871D-A33D-44DD-8298-6B515832D6CD}"/>
              </a:ext>
            </a:extLst>
          </p:cNvPr>
          <p:cNvSpPr>
            <a:spLocks noGrp="1"/>
          </p:cNvSpPr>
          <p:nvPr/>
        </p:nvSpPr>
        <p:spPr>
          <a:xfrm>
            <a:off x="1485900" y="5410200"/>
            <a:ext cx="922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這一招主要讓 build 變快，不是讓 image 變小。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F452EC-0E63-49ED-90C0-49175A8FEDA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1B0C56-5F6B-47F6-8593-234C5FBD3C8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A2C52E-B47D-4B96-8152-23BC1FAEC31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6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A36AF55-B89D-4533-B5CF-B527938BB54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BUILD CONTEXT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127A0E-6CBA-4D53-8912-CC0048F4523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.</a:t>
            </a: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dockerignore：減少</a:t>
            </a: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 build context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9E07E39-DA42-4A6F-A946-237BB5D6240F}"/>
              </a:ext>
            </a:extLst>
          </p:cNvPr>
          <p:cNvSpPr>
            <a:spLocks noGrp="1"/>
          </p:cNvSpPr>
          <p:nvPr/>
        </p:nvSpPr>
        <p:spPr>
          <a:xfrm>
            <a:off x="952500" y="1581150"/>
            <a:ext cx="4095750" cy="28575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4DE6B0A-20A7-4E49-9F19-7CDB551B5555}"/>
              </a:ext>
            </a:extLst>
          </p:cNvPr>
          <p:cNvSpPr>
            <a:spLocks noGrp="1"/>
          </p:cNvSpPr>
          <p:nvPr/>
        </p:nvSpPr>
        <p:spPr>
          <a:xfrm>
            <a:off x="1123950" y="17430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465558C-11E8-4907-AFD9-72C4A4D13ECD}"/>
              </a:ext>
            </a:extLst>
          </p:cNvPr>
          <p:cNvSpPr>
            <a:spLocks noGrp="1"/>
          </p:cNvSpPr>
          <p:nvPr/>
        </p:nvSpPr>
        <p:spPr>
          <a:xfrm>
            <a:off x="1295400" y="17430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435F2EA-020B-49CB-96F0-91916EB353C9}"/>
              </a:ext>
            </a:extLst>
          </p:cNvPr>
          <p:cNvSpPr>
            <a:spLocks noGrp="1"/>
          </p:cNvSpPr>
          <p:nvPr/>
        </p:nvSpPr>
        <p:spPr>
          <a:xfrm>
            <a:off x="1466850" y="17430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9A54D6-362A-464E-B907-FAF1CE97872A}"/>
              </a:ext>
            </a:extLst>
          </p:cNvPr>
          <p:cNvSpPr>
            <a:spLocks noGrp="1"/>
          </p:cNvSpPr>
          <p:nvPr/>
        </p:nvSpPr>
        <p:spPr>
          <a:xfrm>
            <a:off x="1162050" y="2000250"/>
            <a:ext cx="3676650" cy="2305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67" lnSpcReduction="10000"/>
          </a:bodyPr>
          <a:lstStyle/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.git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__pycache__/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*.pyc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.venv/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venv/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.env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.vscode/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.DS_Store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node_modules/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*.log</a:t>
            </a:r>
          </a:p>
          <a:p>
            <a:pPr algn="l">
              <a:buNone/>
              <a:defRPr sz="15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bigfile.dat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93771E3-24DB-4D67-A3EF-F4A3E63B6919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4191000" cy="1581150"/>
          </a:xfrm>
          <a:prstGeom prst="roundRect">
            <a:avLst>
              <a:gd name="adj" fmla="val 7229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CAD54E-F047-48FD-B911-A82FB5F0EF53}"/>
              </a:ext>
            </a:extLst>
          </p:cNvPr>
          <p:cNvSpPr>
            <a:spLocks noGrp="1"/>
          </p:cNvSpPr>
          <p:nvPr/>
        </p:nvSpPr>
        <p:spPr>
          <a:xfrm>
            <a:off x="6324600" y="17716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沒有 .dockerignore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44EA93-BF18-4BB2-B52A-6156D2EADA5E}"/>
              </a:ext>
            </a:extLst>
          </p:cNvPr>
          <p:cNvSpPr>
            <a:spLocks noGrp="1"/>
          </p:cNvSpPr>
          <p:nvPr/>
        </p:nvSpPr>
        <p:spPr>
          <a:xfrm>
            <a:off x="6324600" y="2190750"/>
            <a:ext cx="3733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944" lnSpcReduction="20000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 .git、.env、cache、node_modules 也送進 Docker daemon。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結果：build context 變大，也增加 secret 被送出的風險。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9C4ACE6-8B0C-4FD4-A660-69BA0E1C826C}"/>
              </a:ext>
            </a:extLst>
          </p:cNvPr>
          <p:cNvSpPr>
            <a:spLocks noGrp="1"/>
          </p:cNvSpPr>
          <p:nvPr/>
        </p:nvSpPr>
        <p:spPr>
          <a:xfrm>
            <a:off x="6096000" y="3562350"/>
            <a:ext cx="4191000" cy="1581150"/>
          </a:xfrm>
          <a:prstGeom prst="roundRect">
            <a:avLst>
              <a:gd name="adj" fmla="val 7229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4868FA-BB59-4837-9583-C4892DB23D6A}"/>
              </a:ext>
            </a:extLst>
          </p:cNvPr>
          <p:cNvSpPr>
            <a:spLocks noGrp="1"/>
          </p:cNvSpPr>
          <p:nvPr/>
        </p:nvSpPr>
        <p:spPr>
          <a:xfrm>
            <a:off x="6324600" y="37528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有 .dockerignore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63E0DB-C435-4B1D-BC09-1762C912BC6F}"/>
              </a:ext>
            </a:extLst>
          </p:cNvPr>
          <p:cNvSpPr>
            <a:spLocks noGrp="1"/>
          </p:cNvSpPr>
          <p:nvPr/>
        </p:nvSpPr>
        <p:spPr>
          <a:xfrm>
            <a:off x="6324600" y="4171950"/>
            <a:ext cx="3733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4" lnSpcReduction="10000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只送 Docker build 真正需要的檔案。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結果：build 更快、context 更乾淨，也比較不容易把機密帶進去。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21A698-2EEB-4200-B7BE-43556B37FC5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FE8091-4B69-46D6-90AA-A9012C04B33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722A8E-EC94-4BD0-8B90-45FBC5501C3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C9D3E5-8727-99A7-D433-028DECB2A71C}"/>
              </a:ext>
            </a:extLst>
          </p:cNvPr>
          <p:cNvSpPr>
            <a:spLocks noGrp="1"/>
          </p:cNvSpPr>
          <p:nvPr/>
        </p:nvSpPr>
        <p:spPr>
          <a:xfrm>
            <a:off x="698500" y="5474018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5000"/>
              </a:lnSpc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"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https://</a:t>
            </a:r>
            <a:r>
              <a:rPr lang="en"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configs.sh</a:t>
            </a:r>
            <a:r>
              <a:rPr lang="en"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/</a:t>
            </a:r>
            <a:r>
              <a:rPr lang="en"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dockerignore</a:t>
            </a:r>
            <a:r>
              <a:rPr lang="en"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/</a:t>
            </a:r>
            <a:endParaRPr sz="2850" b="1" dirty="0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3575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6DACAD2-8668-4D93-8167-EE3D5AEEA9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OPTIMIZATION PLAYBOOK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5E6A40-D612-4FD9-9DC7-FA834F5D758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Image </a:t>
            </a: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優化流程：用同一份</a:t>
            </a: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Dockerfile</a:t>
            </a: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逐步改</a:t>
            </a:r>
            <a:endParaRPr sz="2850" b="1" dirty="0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91155B2-FE4A-412A-BBAC-08BA32D569C8}"/>
              </a:ext>
            </a:extLst>
          </p:cNvPr>
          <p:cNvSpPr>
            <a:spLocks noGrp="1"/>
          </p:cNvSpPr>
          <p:nvPr/>
        </p:nvSpPr>
        <p:spPr>
          <a:xfrm>
            <a:off x="1219200" y="1695450"/>
            <a:ext cx="426720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5C386C-E6DA-4BE6-A1A2-13D8D8B54AD9}"/>
              </a:ext>
            </a:extLst>
          </p:cNvPr>
          <p:cNvSpPr>
            <a:spLocks noGrp="1"/>
          </p:cNvSpPr>
          <p:nvPr/>
        </p:nvSpPr>
        <p:spPr>
          <a:xfrm>
            <a:off x="1447800" y="18859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ctr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Step 1：換 slim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91D219-7D45-49A8-AB46-04A071733CCF}"/>
              </a:ext>
            </a:extLst>
          </p:cNvPr>
          <p:cNvSpPr>
            <a:spLocks noGrp="1"/>
          </p:cNvSpPr>
          <p:nvPr/>
        </p:nvSpPr>
        <p:spPr>
          <a:xfrm>
            <a:off x="1447800" y="24193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FROM python:3.11-slim</a:t>
            </a:r>
          </a:p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基礎 Image 先變小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A858C12-B794-44E1-BC5D-8D8D323BD4B9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4267200" cy="1428750"/>
          </a:xfrm>
          <a:prstGeom prst="roundRect">
            <a:avLst>
              <a:gd name="adj" fmla="val 8000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93DCAF-2BB2-4AFC-8AD0-A026265BDB01}"/>
              </a:ext>
            </a:extLst>
          </p:cNvPr>
          <p:cNvSpPr>
            <a:spLocks noGrp="1"/>
          </p:cNvSpPr>
          <p:nvPr/>
        </p:nvSpPr>
        <p:spPr>
          <a:xfrm>
            <a:off x="6934200" y="18859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ctr">
              <a:lnSpc>
                <a:spcPct val="106000"/>
              </a:lnSpc>
              <a:buNone/>
              <a:def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Step 2：合併 RUN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52C55F-927C-4C4C-9068-3A19D8BBA3FA}"/>
              </a:ext>
            </a:extLst>
          </p:cNvPr>
          <p:cNvSpPr>
            <a:spLocks noGrp="1"/>
          </p:cNvSpPr>
          <p:nvPr/>
        </p:nvSpPr>
        <p:spPr>
          <a:xfrm>
            <a:off x="6934200" y="24193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apt update / install / cleanup</a:t>
            </a:r>
          </a:p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放在同一個 RUN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76C8F64-E981-49F6-A4C6-36A66BF8BDB6}"/>
              </a:ext>
            </a:extLst>
          </p:cNvPr>
          <p:cNvSpPr>
            <a:spLocks noGrp="1"/>
          </p:cNvSpPr>
          <p:nvPr/>
        </p:nvSpPr>
        <p:spPr>
          <a:xfrm>
            <a:off x="1219200" y="3733800"/>
            <a:ext cx="4267200" cy="142875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E7F9DF-23E7-4549-AA23-E610D78D5B78}"/>
              </a:ext>
            </a:extLst>
          </p:cNvPr>
          <p:cNvSpPr>
            <a:spLocks noGrp="1"/>
          </p:cNvSpPr>
          <p:nvPr/>
        </p:nvSpPr>
        <p:spPr>
          <a:xfrm>
            <a:off x="1447800" y="39243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ctr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Step 3：先 COPY requirements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EB53CE-D254-4D1C-A22E-EB7EFD79794E}"/>
              </a:ext>
            </a:extLst>
          </p:cNvPr>
          <p:cNvSpPr>
            <a:spLocks noGrp="1"/>
          </p:cNvSpPr>
          <p:nvPr/>
        </p:nvSpPr>
        <p:spPr>
          <a:xfrm>
            <a:off x="1447800" y="44577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讓 pip install 那層</a:t>
            </a:r>
          </a:p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可以重用快取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2EA463F-4D20-4287-A421-A87ABE978BDB}"/>
              </a:ext>
            </a:extLst>
          </p:cNvPr>
          <p:cNvSpPr>
            <a:spLocks noGrp="1"/>
          </p:cNvSpPr>
          <p:nvPr/>
        </p:nvSpPr>
        <p:spPr>
          <a:xfrm>
            <a:off x="6705600" y="3733800"/>
            <a:ext cx="4267200" cy="142875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47E74F-D3B7-485D-BE8A-39D3CBA561A1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ctr">
              <a:lnSpc>
                <a:spcPct val="106000"/>
              </a:lnSpc>
              <a:buNone/>
              <a:def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Step 4：加 .dockerignore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D223C4-D8CA-4CA2-A7A6-FAE3D494AD30}"/>
              </a:ext>
            </a:extLst>
          </p:cNvPr>
          <p:cNvSpPr>
            <a:spLocks noGrp="1"/>
          </p:cNvSpPr>
          <p:nvPr/>
        </p:nvSpPr>
        <p:spPr>
          <a:xfrm>
            <a:off x="6934200" y="44577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減少 build context</a:t>
            </a:r>
          </a:p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ignoreio 先產生初稿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CA6D42-7521-4807-922E-CBD5F145600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3AAB70-419F-4894-8364-2154EB853C5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29ACEA-1C9F-46B8-8C27-59047CA2249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52483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3D90E38-3499-45CA-958A-2BC97E53492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REGISTRY 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0C4978-E532-410A-BB17-A16BA6DFCEA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把</a:t>
            </a: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 Image </a:t>
            </a: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發佈到</a:t>
            </a: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 Docker Hub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5263E40-9D83-459E-A6CB-CB4F38A6ADFB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2247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408115-FA35-4B6C-A622-AD3E00995A6D}"/>
              </a:ext>
            </a:extLst>
          </p:cNvPr>
          <p:cNvSpPr>
            <a:spLocks noGrp="1"/>
          </p:cNvSpPr>
          <p:nvPr/>
        </p:nvSpPr>
        <p:spPr>
          <a:xfrm>
            <a:off x="1066800" y="2514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11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login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8C9FE6-AF8F-4784-970A-203F56ECB177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login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1FC28CC6-3CBF-45D0-A183-742174B66AA4}"/>
              </a:ext>
            </a:extLst>
          </p:cNvPr>
          <p:cNvSpPr>
            <a:spLocks noGrp="1"/>
          </p:cNvSpPr>
          <p:nvPr/>
        </p:nvSpPr>
        <p:spPr>
          <a:xfrm>
            <a:off x="3238500" y="2762250"/>
            <a:ext cx="457200" cy="2476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E3AC25E-ABC3-4D10-B881-0AA79C748CFB}"/>
              </a:ext>
            </a:extLst>
          </p:cNvPr>
          <p:cNvSpPr>
            <a:spLocks noGrp="1"/>
          </p:cNvSpPr>
          <p:nvPr/>
        </p:nvSpPr>
        <p:spPr>
          <a:xfrm>
            <a:off x="3638550" y="2209800"/>
            <a:ext cx="2247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647751-CA03-410C-8D4F-1C0015FB2E8C}"/>
              </a:ext>
            </a:extLst>
          </p:cNvPr>
          <p:cNvSpPr>
            <a:spLocks noGrp="1"/>
          </p:cNvSpPr>
          <p:nvPr/>
        </p:nvSpPr>
        <p:spPr>
          <a:xfrm>
            <a:off x="3848100" y="2514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11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tag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A2D832-7669-45C4-97C2-7FB225C8830D}"/>
              </a:ext>
            </a:extLst>
          </p:cNvPr>
          <p:cNvSpPr>
            <a:spLocks noGrp="1"/>
          </p:cNvSpPr>
          <p:nvPr/>
        </p:nvSpPr>
        <p:spPr>
          <a:xfrm>
            <a:off x="3848100" y="30670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tag my-flask-app:v3 帳號/my-flask-app:v1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A59866B9-F5FF-4F50-A9C0-EC93630D0180}"/>
              </a:ext>
            </a:extLst>
          </p:cNvPr>
          <p:cNvSpPr>
            <a:spLocks noGrp="1"/>
          </p:cNvSpPr>
          <p:nvPr/>
        </p:nvSpPr>
        <p:spPr>
          <a:xfrm>
            <a:off x="6019800" y="2762250"/>
            <a:ext cx="457200" cy="2476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6AC0913-2AC4-4D30-B441-F33277D5AC3F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2247900" cy="1466850"/>
          </a:xfrm>
          <a:prstGeom prst="roundRect">
            <a:avLst>
              <a:gd name="adj" fmla="val 7792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B3A091-8112-4CFB-A92F-81E22744DBD7}"/>
              </a:ext>
            </a:extLst>
          </p:cNvPr>
          <p:cNvSpPr>
            <a:spLocks noGrp="1"/>
          </p:cNvSpPr>
          <p:nvPr/>
        </p:nvSpPr>
        <p:spPr>
          <a:xfrm>
            <a:off x="6629400" y="2514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11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push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0847DA-91B4-45D3-9B66-92898C07141B}"/>
              </a:ext>
            </a:extLst>
          </p:cNvPr>
          <p:cNvSpPr>
            <a:spLocks noGrp="1"/>
          </p:cNvSpPr>
          <p:nvPr/>
        </p:nvSpPr>
        <p:spPr>
          <a:xfrm>
            <a:off x="6629400" y="30670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push 帳號/my-flask-app:v1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C11A957B-73D7-47CB-8D68-AB40DD0EC6E4}"/>
              </a:ext>
            </a:extLst>
          </p:cNvPr>
          <p:cNvSpPr>
            <a:spLocks noGrp="1"/>
          </p:cNvSpPr>
          <p:nvPr/>
        </p:nvSpPr>
        <p:spPr>
          <a:xfrm>
            <a:off x="8801100" y="2762250"/>
            <a:ext cx="457200" cy="2476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8AEF14C9-9F46-4C9C-9E5F-E66DEBA682D5}"/>
              </a:ext>
            </a:extLst>
          </p:cNvPr>
          <p:cNvSpPr>
            <a:spLocks noGrp="1"/>
          </p:cNvSpPr>
          <p:nvPr/>
        </p:nvSpPr>
        <p:spPr>
          <a:xfrm>
            <a:off x="9201150" y="2209800"/>
            <a:ext cx="2247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471B1B-2E44-4323-AAD3-100CC2979515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11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pull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682FAC-844B-4D61-B9B5-8EB45AE2E12F}"/>
              </a:ext>
            </a:extLst>
          </p:cNvPr>
          <p:cNvSpPr>
            <a:spLocks noGrp="1"/>
          </p:cNvSpPr>
          <p:nvPr/>
        </p:nvSpPr>
        <p:spPr>
          <a:xfrm>
            <a:off x="9410700" y="30670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pull 帳號/my-flask-app:v1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E4F559A-EA51-477D-893D-6BA8F518E673}"/>
              </a:ext>
            </a:extLst>
          </p:cNvPr>
          <p:cNvSpPr>
            <a:spLocks noGrp="1"/>
          </p:cNvSpPr>
          <p:nvPr/>
        </p:nvSpPr>
        <p:spPr>
          <a:xfrm>
            <a:off x="1581150" y="4762500"/>
            <a:ext cx="9029700" cy="590550"/>
          </a:xfrm>
          <a:prstGeom prst="roundRect">
            <a:avLst>
              <a:gd name="adj" fmla="val 16129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6BAE04F-E0B4-4225-A02A-69AAD9C915B7}"/>
              </a:ext>
            </a:extLst>
          </p:cNvPr>
          <p:cNvSpPr>
            <a:spLocks noGrp="1"/>
          </p:cNvSpPr>
          <p:nvPr/>
        </p:nvSpPr>
        <p:spPr>
          <a:xfrm>
            <a:off x="1924050" y="4953000"/>
            <a:ext cx="834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47" lnSpcReduction="10000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提醒：不要把密碼、token、.env 或私密設定 bake 進 Image。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BD95C2-4361-43D0-83B5-F035C0406D1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AEF8DB4-9E9D-4EBB-98F2-8AFA27CDEDC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967AC6-C962-43CC-8B57-4ACC86CA56B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93642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918F8B3-110E-4C55-98B6-5C0246E4D59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EBA34F-BD94-4BC5-9D8F-BFBDB6BB752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實作題 P3：推上 Docker Hub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23CF254-8AF5-40E2-9E8B-BE0B049429DF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6877050" cy="371475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3C14AA6-8F7B-425F-B119-AB0F74FC983F}"/>
              </a:ext>
            </a:extLst>
          </p:cNvPr>
          <p:cNvSpPr>
            <a:spLocks noGrp="1"/>
          </p:cNvSpPr>
          <p:nvPr/>
        </p:nvSpPr>
        <p:spPr>
          <a:xfrm>
            <a:off x="9715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9F7E1DF-01B6-493A-A9A8-F757EE77E7BF}"/>
              </a:ext>
            </a:extLst>
          </p:cNvPr>
          <p:cNvSpPr>
            <a:spLocks noGrp="1"/>
          </p:cNvSpPr>
          <p:nvPr/>
        </p:nvSpPr>
        <p:spPr>
          <a:xfrm>
            <a:off x="11430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C8769B0-4CA7-4182-A82C-A8C6457E9C28}"/>
              </a:ext>
            </a:extLst>
          </p:cNvPr>
          <p:cNvSpPr>
            <a:spLocks noGrp="1"/>
          </p:cNvSpPr>
          <p:nvPr/>
        </p:nvSpPr>
        <p:spPr>
          <a:xfrm>
            <a:off x="13144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E7053C-D226-4370-8169-7751DE9FA33E}"/>
              </a:ext>
            </a:extLst>
          </p:cNvPr>
          <p:cNvSpPr>
            <a:spLocks noGrp="1"/>
          </p:cNvSpPr>
          <p:nvPr/>
        </p:nvSpPr>
        <p:spPr>
          <a:xfrm>
            <a:off x="1009650" y="1847850"/>
            <a:ext cx="66675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login</a:t>
            </a: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tag my-first-image</a:t>
            </a:r>
            <a:r>
              <a:rPr lang="en-US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:1.0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yourname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/my-first-image:</a:t>
            </a:r>
            <a:r>
              <a:rPr lang="en-US"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1.0</a:t>
            </a:r>
          </a:p>
          <a:p>
            <a:pPr>
              <a:lnSpc>
                <a:spcPct val="104000"/>
              </a:lnSpc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" altLang="zh-TW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tag my-first-image:1.0 </a:t>
            </a:r>
            <a:r>
              <a:rPr lang="en" altLang="zh-TW" sz="15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yourname</a:t>
            </a:r>
            <a:r>
              <a:rPr lang="en" altLang="zh-TW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</a:t>
            </a:r>
            <a:r>
              <a:rPr lang="en" altLang="zh-TW" sz="15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my-first-image:latest</a:t>
            </a:r>
            <a:endParaRPr lang="en" altLang="zh-TW" sz="15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push </a:t>
            </a:r>
            <a:r>
              <a:rPr sz="15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yourname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/my-first-image:</a:t>
            </a:r>
            <a:r>
              <a:rPr lang="en-US"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1.0</a:t>
            </a:r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</a:t>
            </a:r>
            <a:r>
              <a:rPr sz="15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rmi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yourname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/my-first-image:</a:t>
            </a:r>
            <a:r>
              <a:rPr lang="en-US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1.0</a:t>
            </a:r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</a:t>
            </a:r>
            <a:r>
              <a:rPr sz="15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yourname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/my-first-image:</a:t>
            </a:r>
            <a:r>
              <a:rPr lang="en-US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1.0</a:t>
            </a:r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</a:t>
            </a:r>
            <a:r>
              <a:rPr sz="15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yourname</a:t>
            </a: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/my-first-image:</a:t>
            </a:r>
            <a:r>
              <a:rPr lang="en-US"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1.0</a:t>
            </a:r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1AD0F0-7789-4959-8B8C-4C87FD12B7A4}"/>
              </a:ext>
            </a:extLst>
          </p:cNvPr>
          <p:cNvSpPr>
            <a:spLocks noGrp="1"/>
          </p:cNvSpPr>
          <p:nvPr/>
        </p:nvSpPr>
        <p:spPr>
          <a:xfrm>
            <a:off x="7905750" y="1962150"/>
            <a:ext cx="3048000" cy="194310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8A8255-0F5B-40C6-963A-054B16B5ACAC}"/>
              </a:ext>
            </a:extLst>
          </p:cNvPr>
          <p:cNvSpPr>
            <a:spLocks noGrp="1"/>
          </p:cNvSpPr>
          <p:nvPr/>
        </p:nvSpPr>
        <p:spPr>
          <a:xfrm>
            <a:off x="8134350" y="21526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完成標準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356A96-516C-4C34-BBAD-9B1D89EE4799}"/>
              </a:ext>
            </a:extLst>
          </p:cNvPr>
          <p:cNvSpPr>
            <a:spLocks noGrp="1"/>
          </p:cNvSpPr>
          <p:nvPr/>
        </p:nvSpPr>
        <p:spPr>
          <a:xfrm>
            <a:off x="8134350" y="2686050"/>
            <a:ext cx="2590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Docker Hub 網頁看得到 repository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本機刪除後可以 pull 回來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run 後仍能看到正確輸出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78CF96-2FBF-45B2-AF6A-D7ECC54DFDCF}"/>
              </a:ext>
            </a:extLst>
          </p:cNvPr>
          <p:cNvSpPr>
            <a:spLocks noGrp="1"/>
          </p:cNvSpPr>
          <p:nvPr/>
        </p:nvSpPr>
        <p:spPr>
          <a:xfrm>
            <a:off x="2000250" y="5581650"/>
            <a:ext cx="819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35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yourname 要換成自己的 Docker Hub 帳號。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31AF31-2043-4F54-BE20-5B7B26E9A93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E0657F-CDED-4181-BFEA-522692F401B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08CAEF-4169-4522-882F-8E5A833A0994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35742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A15A8-8392-8B4F-E59E-95484DEA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B88F08E-32F4-6E95-E6C6-7964AB67880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2A39FF-C547-F4DE-A3D4-456ACFC73FA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使用自己的flask</a:t>
            </a:r>
            <a:r>
              <a:rPr lang="en-US" sz="28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image</a:t>
            </a:r>
            <a:endParaRPr sz="28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6813037-F850-8673-3040-B2B5A1530203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6464300" cy="468630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7F509C2-F4F3-51EA-E9B0-C26219880751}"/>
              </a:ext>
            </a:extLst>
          </p:cNvPr>
          <p:cNvSpPr>
            <a:spLocks noGrp="1"/>
          </p:cNvSpPr>
          <p:nvPr/>
        </p:nvSpPr>
        <p:spPr>
          <a:xfrm>
            <a:off x="9715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7B0C55F-75A7-F3C1-CF0B-336BD42D2E9A}"/>
              </a:ext>
            </a:extLst>
          </p:cNvPr>
          <p:cNvSpPr>
            <a:spLocks noGrp="1"/>
          </p:cNvSpPr>
          <p:nvPr/>
        </p:nvSpPr>
        <p:spPr>
          <a:xfrm>
            <a:off x="11430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AB27425-2FBD-2EDD-035C-875009EF31C7}"/>
              </a:ext>
            </a:extLst>
          </p:cNvPr>
          <p:cNvSpPr>
            <a:spLocks noGrp="1"/>
          </p:cNvSpPr>
          <p:nvPr/>
        </p:nvSpPr>
        <p:spPr>
          <a:xfrm>
            <a:off x="13144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6FB54A-DFF0-5D3C-05B3-581010038433}"/>
              </a:ext>
            </a:extLst>
          </p:cNvPr>
          <p:cNvSpPr>
            <a:spLocks noGrp="1"/>
          </p:cNvSpPr>
          <p:nvPr/>
        </p:nvSpPr>
        <p:spPr>
          <a:xfrm>
            <a:off x="1009650" y="1847849"/>
            <a:ext cx="6057900" cy="4253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 lang="zh-TW" altLang="zh-TW" dirty="0">
                <a:solidFill>
                  <a:schemeClr val="bg1"/>
                </a:solidFill>
              </a:rPr>
              <a:t>app: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build: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context: .</a:t>
            </a:r>
            <a:r>
              <a:rPr lang="en-US" altLang="zh-TW" dirty="0">
                <a:solidFill>
                  <a:schemeClr val="bg1"/>
                </a:solidFill>
              </a:rPr>
              <a:t>/app</a:t>
            </a:r>
            <a:r>
              <a:rPr lang="zh-TW" altLang="en-US" dirty="0">
                <a:solidFill>
                  <a:schemeClr val="bg1"/>
                </a:solidFill>
              </a:rPr>
              <a:t>  </a:t>
            </a:r>
            <a:endParaRPr lang="zh-TW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dockerfile: Dockerfile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restart: unless-stopped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environment: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DB_HOST: db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DB_NAME: testdb</a:t>
            </a:r>
            <a:r>
              <a:rPr lang="zh-TW" altLang="en-US" dirty="0">
                <a:solidFill>
                  <a:schemeClr val="bg1"/>
                </a:solidFill>
              </a:rPr>
              <a:t>  </a:t>
            </a:r>
            <a:endParaRPr lang="zh-TW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DB_USER: testuser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DB_PASSWORD: testpass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ports: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- "8000:5000"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depends_on: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- db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A80B9E-DD2A-BFEA-BF85-32D3F59134BA}"/>
              </a:ext>
            </a:extLst>
          </p:cNvPr>
          <p:cNvSpPr>
            <a:spLocks noGrp="1"/>
          </p:cNvSpPr>
          <p:nvPr/>
        </p:nvSpPr>
        <p:spPr>
          <a:xfrm>
            <a:off x="7905750" y="1962150"/>
            <a:ext cx="3048000" cy="194310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8890AA-D94F-E4B4-F8A2-3E48E21CADA3}"/>
              </a:ext>
            </a:extLst>
          </p:cNvPr>
          <p:cNvSpPr>
            <a:spLocks noGrp="1"/>
          </p:cNvSpPr>
          <p:nvPr/>
        </p:nvSpPr>
        <p:spPr>
          <a:xfrm>
            <a:off x="8134350" y="21526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dirty="0" err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完成標準</a:t>
            </a:r>
            <a:endParaRPr sz="2100" b="1" dirty="0">
              <a:solidFill>
                <a:srgbClr val="86EFA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F950C0-1091-4CBD-F5BF-015D8CE019B9}"/>
              </a:ext>
            </a:extLst>
          </p:cNvPr>
          <p:cNvSpPr>
            <a:spLocks noGrp="1"/>
          </p:cNvSpPr>
          <p:nvPr/>
        </p:nvSpPr>
        <p:spPr>
          <a:xfrm>
            <a:off x="8134350" y="2686050"/>
            <a:ext cx="2590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Docker Hub 網頁看得到 repository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本機刪除後可以 pull 回來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run 後仍能看到正確輸出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5E446-B194-E7E0-73DD-5235C9FDB61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DA39BA-01B2-EF1A-8F88-98862382707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5A26D1-9796-700E-BC15-B0C2D9BFBAB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007956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A15A8-8392-8B4F-E59E-95484DEA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B88F08E-32F4-6E95-E6C6-7964AB67880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2A39FF-C547-F4DE-A3D4-456ACFC73FA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使用自己的flask</a:t>
            </a:r>
            <a:r>
              <a:rPr lang="en-US" sz="28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image</a:t>
            </a:r>
            <a:endParaRPr sz="28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6813037-F850-8673-3040-B2B5A1530203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6464300" cy="468630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7F509C2-F4F3-51EA-E9B0-C26219880751}"/>
              </a:ext>
            </a:extLst>
          </p:cNvPr>
          <p:cNvSpPr>
            <a:spLocks noGrp="1"/>
          </p:cNvSpPr>
          <p:nvPr/>
        </p:nvSpPr>
        <p:spPr>
          <a:xfrm>
            <a:off x="9715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7B0C55F-75A7-F3C1-CF0B-336BD42D2E9A}"/>
              </a:ext>
            </a:extLst>
          </p:cNvPr>
          <p:cNvSpPr>
            <a:spLocks noGrp="1"/>
          </p:cNvSpPr>
          <p:nvPr/>
        </p:nvSpPr>
        <p:spPr>
          <a:xfrm>
            <a:off x="11430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AB27425-2FBD-2EDD-035C-875009EF31C7}"/>
              </a:ext>
            </a:extLst>
          </p:cNvPr>
          <p:cNvSpPr>
            <a:spLocks noGrp="1"/>
          </p:cNvSpPr>
          <p:nvPr/>
        </p:nvSpPr>
        <p:spPr>
          <a:xfrm>
            <a:off x="13144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6FB54A-DFF0-5D3C-05B3-581010038433}"/>
              </a:ext>
            </a:extLst>
          </p:cNvPr>
          <p:cNvSpPr>
            <a:spLocks noGrp="1"/>
          </p:cNvSpPr>
          <p:nvPr/>
        </p:nvSpPr>
        <p:spPr>
          <a:xfrm>
            <a:off x="1009650" y="1847849"/>
            <a:ext cx="6057900" cy="4253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 lang="zh-TW" altLang="zh-TW" dirty="0">
                <a:solidFill>
                  <a:schemeClr val="bg1"/>
                </a:solidFill>
              </a:rPr>
              <a:t>app: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image: my-flask-app:latest</a:t>
            </a:r>
            <a:r>
              <a:rPr lang="zh-TW" altLang="en-US" dirty="0">
                <a:solidFill>
                  <a:schemeClr val="bg1"/>
                </a:solidFill>
              </a:rPr>
              <a:t>  </a:t>
            </a:r>
            <a:endParaRPr lang="zh-TW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restart: unless-stopped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environment: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DB_HOST: db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DB_NAME: testdb</a:t>
            </a:r>
            <a:r>
              <a:rPr lang="zh-TW" altLang="en-US" dirty="0">
                <a:solidFill>
                  <a:schemeClr val="bg1"/>
                </a:solidFill>
              </a:rPr>
              <a:t>  </a:t>
            </a:r>
            <a:endParaRPr lang="zh-TW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DB_USER: testuser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DB_PASSWORD: testpass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ports: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- "8000:5000"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depends_on: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- db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A80B9E-DD2A-BFEA-BF85-32D3F59134BA}"/>
              </a:ext>
            </a:extLst>
          </p:cNvPr>
          <p:cNvSpPr>
            <a:spLocks noGrp="1"/>
          </p:cNvSpPr>
          <p:nvPr/>
        </p:nvSpPr>
        <p:spPr>
          <a:xfrm>
            <a:off x="7905750" y="1962150"/>
            <a:ext cx="3048000" cy="194310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8890AA-D94F-E4B4-F8A2-3E48E21CADA3}"/>
              </a:ext>
            </a:extLst>
          </p:cNvPr>
          <p:cNvSpPr>
            <a:spLocks noGrp="1"/>
          </p:cNvSpPr>
          <p:nvPr/>
        </p:nvSpPr>
        <p:spPr>
          <a:xfrm>
            <a:off x="8134350" y="21526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dirty="0" err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完成標準</a:t>
            </a:r>
            <a:endParaRPr sz="2100" b="1" dirty="0">
              <a:solidFill>
                <a:srgbClr val="86EFA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F950C0-1091-4CBD-F5BF-015D8CE019B9}"/>
              </a:ext>
            </a:extLst>
          </p:cNvPr>
          <p:cNvSpPr>
            <a:spLocks noGrp="1"/>
          </p:cNvSpPr>
          <p:nvPr/>
        </p:nvSpPr>
        <p:spPr>
          <a:xfrm>
            <a:off x="8134350" y="2686050"/>
            <a:ext cx="2590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Docker Hub 網頁看得到 repository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本機刪除後可以 pull 回來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run 後仍能看到正確輸出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5E446-B194-E7E0-73DD-5235C9FDB61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DA39BA-01B2-EF1A-8F88-98862382707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5A26D1-9796-700E-BC15-B0C2D9BFBAB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68310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96644-4814-3B4B-0311-3D454147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DF4E20A-26B2-FC18-DFF5-9191440063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CC891E-4F90-CF0C-CF54-0D9BA54DB74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使用自己的遠端flask</a:t>
            </a:r>
            <a:r>
              <a:rPr lang="en-US" sz="28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image</a:t>
            </a:r>
            <a:endParaRPr sz="28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F4D0CD4-90BF-36AE-3BF7-5CAFCF325129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6464300" cy="468630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607A3D3-FE78-08A9-90BE-3CED3F89A0A5}"/>
              </a:ext>
            </a:extLst>
          </p:cNvPr>
          <p:cNvSpPr>
            <a:spLocks noGrp="1"/>
          </p:cNvSpPr>
          <p:nvPr/>
        </p:nvSpPr>
        <p:spPr>
          <a:xfrm>
            <a:off x="9715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CF0C8B3-4546-3F8A-C57A-C23FC47FF3BD}"/>
              </a:ext>
            </a:extLst>
          </p:cNvPr>
          <p:cNvSpPr>
            <a:spLocks noGrp="1"/>
          </p:cNvSpPr>
          <p:nvPr/>
        </p:nvSpPr>
        <p:spPr>
          <a:xfrm>
            <a:off x="11430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358E9AD3-754D-18B1-AA81-561E9DA4DC3A}"/>
              </a:ext>
            </a:extLst>
          </p:cNvPr>
          <p:cNvSpPr>
            <a:spLocks noGrp="1"/>
          </p:cNvSpPr>
          <p:nvPr/>
        </p:nvSpPr>
        <p:spPr>
          <a:xfrm>
            <a:off x="13144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3623EE-2EBB-3C14-781F-81ED36E55D7D}"/>
              </a:ext>
            </a:extLst>
          </p:cNvPr>
          <p:cNvSpPr>
            <a:spLocks noGrp="1"/>
          </p:cNvSpPr>
          <p:nvPr/>
        </p:nvSpPr>
        <p:spPr>
          <a:xfrm>
            <a:off x="1009650" y="1847849"/>
            <a:ext cx="6057900" cy="4253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r>
              <a:rPr lang="zh-TW" altLang="zh-TW" dirty="0">
                <a:solidFill>
                  <a:schemeClr val="bg1"/>
                </a:solidFill>
              </a:rPr>
              <a:t>app: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image: </a:t>
            </a:r>
            <a:r>
              <a:rPr lang="en-US" altLang="zh-TW" dirty="0" err="1">
                <a:solidFill>
                  <a:schemeClr val="bg1"/>
                </a:solidFill>
              </a:rPr>
              <a:t>yourname</a:t>
            </a:r>
            <a:r>
              <a:rPr lang="en-US" altLang="zh-TW" dirty="0">
                <a:solidFill>
                  <a:schemeClr val="bg1"/>
                </a:solidFill>
              </a:rPr>
              <a:t>/</a:t>
            </a:r>
            <a:r>
              <a:rPr lang="zh-TW" altLang="zh-TW" dirty="0">
                <a:solidFill>
                  <a:schemeClr val="bg1"/>
                </a:solidFill>
              </a:rPr>
              <a:t>my-flask-app:latest</a:t>
            </a:r>
            <a:r>
              <a:rPr lang="zh-TW" altLang="en-US" dirty="0">
                <a:solidFill>
                  <a:schemeClr val="bg1"/>
                </a:solidFill>
              </a:rPr>
              <a:t>  </a:t>
            </a:r>
            <a:endParaRPr lang="zh-TW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restart: unless-stopped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environment: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DB_HOST: db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DB_NAME: testdb</a:t>
            </a:r>
            <a:r>
              <a:rPr lang="zh-TW" altLang="en-US" dirty="0">
                <a:solidFill>
                  <a:schemeClr val="bg1"/>
                </a:solidFill>
              </a:rPr>
              <a:t>  </a:t>
            </a:r>
            <a:endParaRPr lang="zh-TW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DB_USER: testuser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DB_PASSWORD: testpass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ports: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- "8000:5000"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zh-TW" altLang="zh-TW" dirty="0">
                <a:solidFill>
                  <a:schemeClr val="bg1"/>
                </a:solidFill>
              </a:rPr>
              <a:t>depends_on: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  </a:t>
            </a:r>
            <a:r>
              <a:rPr lang="zh-TW" altLang="zh-TW" dirty="0">
                <a:solidFill>
                  <a:schemeClr val="bg1"/>
                </a:solidFill>
              </a:rPr>
              <a:t>- db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08796B6-52D8-4776-0878-338DAEA956F7}"/>
              </a:ext>
            </a:extLst>
          </p:cNvPr>
          <p:cNvSpPr>
            <a:spLocks noGrp="1"/>
          </p:cNvSpPr>
          <p:nvPr/>
        </p:nvSpPr>
        <p:spPr>
          <a:xfrm>
            <a:off x="7905750" y="1962150"/>
            <a:ext cx="3048000" cy="194310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F6F66E-A9FB-77E7-0EA2-4FB395215E67}"/>
              </a:ext>
            </a:extLst>
          </p:cNvPr>
          <p:cNvSpPr>
            <a:spLocks noGrp="1"/>
          </p:cNvSpPr>
          <p:nvPr/>
        </p:nvSpPr>
        <p:spPr>
          <a:xfrm>
            <a:off x="8134350" y="21526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dirty="0" err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完成標準</a:t>
            </a:r>
            <a:endParaRPr sz="2100" b="1" dirty="0">
              <a:solidFill>
                <a:srgbClr val="86EFA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E92BC7-0AFA-AEA8-FC4B-E1FCD4AD20C8}"/>
              </a:ext>
            </a:extLst>
          </p:cNvPr>
          <p:cNvSpPr>
            <a:spLocks noGrp="1"/>
          </p:cNvSpPr>
          <p:nvPr/>
        </p:nvSpPr>
        <p:spPr>
          <a:xfrm>
            <a:off x="8134350" y="2686050"/>
            <a:ext cx="2590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Docker Hub 網頁看得到 repository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本機刪除後可以 pull 回來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run 後仍能看到正確輸出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635F64-AF7B-FDFC-2CCB-A55BBC277B0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9CD3FF-006B-A65E-EDCB-171E8975EF7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D36E0C-3DDB-D09C-F7CC-5F3419D1392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16190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0046382-DB90-61EC-B4A3-9C75E13AAD73}"/>
              </a:ext>
            </a:extLst>
          </p:cNvPr>
          <p:cNvSpPr txBox="1"/>
          <p:nvPr/>
        </p:nvSpPr>
        <p:spPr>
          <a:xfrm>
            <a:off x="7569200" y="5411450"/>
            <a:ext cx="51435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800" dirty="0"/>
              <a:t>額外補充</a:t>
            </a:r>
          </a:p>
        </p:txBody>
      </p:sp>
    </p:spTree>
    <p:extLst>
      <p:ext uri="{BB962C8B-B14F-4D97-AF65-F5344CB8AC3E}">
        <p14:creationId xmlns:p14="http://schemas.microsoft.com/office/powerpoint/2010/main" val="1095336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230D268-1A45-4EAB-B8C3-978F0176BD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46435F-713C-4BFB-8CF7-F64FAC0F5D2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A5B4FC"/>
                </a:solidFill>
              </a:defRPr>
            </a:pPr>
            <a:r>
              <a:rPr sz="900" b="1">
                <a:solidFill>
                  <a:srgbClr val="A5B4FC"/>
                </a:solidFill>
              </a:rPr>
              <a:t>DOCKERFILE BEHAVIOR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02230D-32A0-40D1-A345-6248F189D7E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CMD vs ENTRYPOINT：誰會被 docker run 覆蓋？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AD4939C-7775-4AE5-9EDF-C7AA19B798B8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5048250" cy="295275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00B08E6-3D17-48AC-B82C-3E0D7F2E4D56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5048250" cy="295275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A6635-8265-45C3-A483-0860CE52BC39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93C5FD"/>
                </a:solidFill>
              </a:defRPr>
            </a:pPr>
            <a:r>
              <a:rPr sz="1950" b="1">
                <a:solidFill>
                  <a:srgbClr val="93C5FD"/>
                </a:solidFill>
              </a:rPr>
              <a:t>CMD：預設指令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ED2816-4224-441C-A59A-2718D65B713F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2E8F0"/>
                </a:solidFill>
              </a:defRPr>
            </a:pPr>
            <a:r>
              <a:rPr sz="1350">
                <a:solidFill>
                  <a:srgbClr val="E2E8F0"/>
                </a:solidFill>
              </a:rPr>
              <a:t>使用者在 docker run 後面補指令時，整個 CMD 會被取代。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91BB24C-1DE9-4243-91B9-838B8C08A756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4514850" cy="1219200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7D58BC-452B-4DDD-B9F2-B36B6263D592}"/>
              </a:ext>
            </a:extLst>
          </p:cNvPr>
          <p:cNvSpPr>
            <a:spLocks noGrp="1"/>
          </p:cNvSpPr>
          <p:nvPr/>
        </p:nvSpPr>
        <p:spPr>
          <a:xfrm>
            <a:off x="1238250" y="331470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CMD ["python", "app.py"]</a:t>
            </a:r>
          </a:p>
          <a:p>
            <a:endParaRPr sz="1275">
              <a:solidFill>
                <a:srgbClr val="E5E7EB"/>
              </a:solidFill>
            </a:endParaRP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$ docker run my-app bash</a:t>
            </a: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=&gt; bash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7BBED-35BC-4909-B3B3-CC8A7DCB5882}"/>
              </a:ext>
            </a:extLst>
          </p:cNvPr>
          <p:cNvSpPr>
            <a:spLocks noGrp="1"/>
          </p:cNvSpPr>
          <p:nvPr/>
        </p:nvSpPr>
        <p:spPr>
          <a:xfrm>
            <a:off x="6648450" y="194310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86EFAC"/>
                </a:solidFill>
              </a:defRPr>
            </a:pPr>
            <a:r>
              <a:rPr sz="1950" b="1">
                <a:solidFill>
                  <a:srgbClr val="86EFAC"/>
                </a:solidFill>
              </a:rPr>
              <a:t>ENTRYPOINT：固定主程式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69BC4F-0FD8-4A53-9F9A-6FFC2C062F2A}"/>
              </a:ext>
            </a:extLst>
          </p:cNvPr>
          <p:cNvSpPr>
            <a:spLocks noGrp="1"/>
          </p:cNvSpPr>
          <p:nvPr/>
        </p:nvSpPr>
        <p:spPr>
          <a:xfrm>
            <a:off x="6648450" y="24193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2E8F0"/>
                </a:solidFill>
              </a:defRPr>
            </a:pPr>
            <a:r>
              <a:rPr sz="1350">
                <a:solidFill>
                  <a:srgbClr val="E2E8F0"/>
                </a:solidFill>
              </a:rPr>
              <a:t>使用者補的內容通常會接在 ENTRYPOINT 後面，變成參數。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F18840B-74F1-407B-969A-0A1E49A8961D}"/>
              </a:ext>
            </a:extLst>
          </p:cNvPr>
          <p:cNvSpPr>
            <a:spLocks noGrp="1"/>
          </p:cNvSpPr>
          <p:nvPr/>
        </p:nvSpPr>
        <p:spPr>
          <a:xfrm>
            <a:off x="6648450" y="3143250"/>
            <a:ext cx="4514850" cy="1219200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4678F-5DB3-4528-9E56-B9763162097B}"/>
              </a:ext>
            </a:extLst>
          </p:cNvPr>
          <p:cNvSpPr>
            <a:spLocks noGrp="1"/>
          </p:cNvSpPr>
          <p:nvPr/>
        </p:nvSpPr>
        <p:spPr>
          <a:xfrm>
            <a:off x="6858000" y="331470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ENTRYPOINT ["python", "app.py"]</a:t>
            </a:r>
          </a:p>
          <a:p>
            <a:endParaRPr sz="1275">
              <a:solidFill>
                <a:srgbClr val="E5E7EB"/>
              </a:solidFill>
            </a:endParaRP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$ docker run my-app bash</a:t>
            </a: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=&gt; python app.py bash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851357A-852D-473B-B5D3-02DDCB6E1267}"/>
              </a:ext>
            </a:extLst>
          </p:cNvPr>
          <p:cNvSpPr>
            <a:spLocks noGrp="1"/>
          </p:cNvSpPr>
          <p:nvPr/>
        </p:nvSpPr>
        <p:spPr>
          <a:xfrm>
            <a:off x="2000250" y="5010150"/>
            <a:ext cx="8191500" cy="704850"/>
          </a:xfrm>
          <a:prstGeom prst="roundRect">
            <a:avLst>
              <a:gd name="adj" fmla="val 16216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0E5D2C-00A1-4DF3-B70A-85B9DAAB1C4D}"/>
              </a:ext>
            </a:extLst>
          </p:cNvPr>
          <p:cNvSpPr>
            <a:spLocks noGrp="1"/>
          </p:cNvSpPr>
          <p:nvPr/>
        </p:nvSpPr>
        <p:spPr>
          <a:xfrm>
            <a:off x="2362200" y="5219700"/>
            <a:ext cx="746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5E7EB"/>
                </a:solidFill>
              </a:defRPr>
            </a:pPr>
            <a:r>
              <a:rPr sz="1350">
                <a:solidFill>
                  <a:srgbClr val="E5E7EB"/>
                </a:solidFill>
              </a:rPr>
              <a:t>真的要換掉 ENTRYPOINT，可以用 --entrypoint；新手先記住：CMD 容易被取代，ENTRYPOINT 比較固定。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3793AB-ECD2-4773-82CD-FB618C15AE5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4288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C37016-0280-4EFC-A098-EC30CEA5138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CBD5E1"/>
                </a:solidFill>
              </a:defRPr>
            </a:pPr>
            <a:r>
              <a:rPr sz="825">
                <a:solidFill>
                  <a:srgbClr val="CBD5E1"/>
                </a:solidFill>
              </a:rPr>
              <a:t>Docker 基礎教學 | 第 4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A89AC2-B8C3-4C58-87F1-78D58BBE6137}"/>
              </a:ext>
            </a:extLst>
          </p:cNvPr>
          <p:cNvSpPr>
            <a:spLocks noGrp="1"/>
          </p:cNvSpPr>
          <p:nvPr/>
        </p:nvSpPr>
        <p:spPr>
          <a:xfrm>
            <a:off x="9810750" y="64008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CMD / ENTRYPOINT 1</a:t>
            </a:r>
          </a:p>
        </p:txBody>
      </p:sp>
    </p:spTree>
    <p:extLst>
      <p:ext uri="{BB962C8B-B14F-4D97-AF65-F5344CB8AC3E}">
        <p14:creationId xmlns:p14="http://schemas.microsoft.com/office/powerpoint/2010/main" val="1001492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230D268-1A45-4EAB-B8C3-978F0176BD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46435F-713C-4BFB-8CF7-F64FAC0F5D2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A5B4FC"/>
                </a:solidFill>
              </a:defRPr>
            </a:pPr>
            <a:r>
              <a:rPr sz="900" b="1">
                <a:solidFill>
                  <a:srgbClr val="A5B4FC"/>
                </a:solidFill>
              </a:rPr>
              <a:t>DOCKER RUN COMMAND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02230D-32A0-40D1-A345-6248F189D7E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不加 sh/bash vs 結尾加 sh/bash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AD4939C-7775-4AE5-9EDF-C7AA19B798B8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5048250" cy="295275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00B08E6-3D17-48AC-B82C-3E0D7F2E4D56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5048250" cy="295275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A6635-8265-45C3-A483-0860CE52BC39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93C5FD"/>
                </a:solidFill>
              </a:defRPr>
            </a:pPr>
            <a:r>
              <a:rPr sz="1950" b="1">
                <a:solidFill>
                  <a:srgbClr val="93C5FD"/>
                </a:solidFill>
              </a:rPr>
              <a:t>不補指令：跑預設 CMD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ED2816-4224-441C-A59A-2718D65B713F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2E8F0"/>
                </a:solidFill>
              </a:defRPr>
            </a:pPr>
            <a:r>
              <a:rPr sz="1350">
                <a:solidFill>
                  <a:srgbClr val="E2E8F0"/>
                </a:solidFill>
              </a:rPr>
              <a:t>Dockerfile 的 CMD 會在 container 啟動時執行。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91BB24C-1DE9-4243-91B9-838B8C08A756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4514850" cy="1219200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7D58BC-452B-4DDD-B9F2-B36B6263D592}"/>
              </a:ext>
            </a:extLst>
          </p:cNvPr>
          <p:cNvSpPr>
            <a:spLocks noGrp="1"/>
          </p:cNvSpPr>
          <p:nvPr/>
        </p:nvSpPr>
        <p:spPr>
          <a:xfrm>
            <a:off x="1238250" y="331470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CMD ["python", "app.py"]</a:t>
            </a:r>
          </a:p>
          <a:p>
            <a:endParaRPr sz="1275">
              <a:solidFill>
                <a:srgbClr val="E5E7EB"/>
              </a:solidFill>
            </a:endParaRP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$ docker run my-app</a:t>
            </a: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=&gt; python app.py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7BBED-35BC-4909-B3B3-CC8A7DCB5882}"/>
              </a:ext>
            </a:extLst>
          </p:cNvPr>
          <p:cNvSpPr>
            <a:spLocks noGrp="1"/>
          </p:cNvSpPr>
          <p:nvPr/>
        </p:nvSpPr>
        <p:spPr>
          <a:xfrm>
            <a:off x="6648450" y="1943100"/>
            <a:ext cx="451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86EFAC"/>
                </a:solidFill>
              </a:defRPr>
            </a:pPr>
            <a:r>
              <a:rPr sz="1950" b="1">
                <a:solidFill>
                  <a:srgbClr val="86EFAC"/>
                </a:solidFill>
              </a:rPr>
              <a:t>結尾加 sh/bash：覆蓋 CMD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69BC4F-0FD8-4A53-9F9A-6FFC2C062F2A}"/>
              </a:ext>
            </a:extLst>
          </p:cNvPr>
          <p:cNvSpPr>
            <a:spLocks noGrp="1"/>
          </p:cNvSpPr>
          <p:nvPr/>
        </p:nvSpPr>
        <p:spPr>
          <a:xfrm>
            <a:off x="6648450" y="24193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2E8F0"/>
                </a:solidFill>
              </a:defRPr>
            </a:pPr>
            <a:r>
              <a:rPr sz="1350">
                <a:solidFill>
                  <a:srgbClr val="E2E8F0"/>
                </a:solidFill>
              </a:rPr>
              <a:t>docker run 後面補的指令會取代整個 CMD。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F18840B-74F1-407B-969A-0A1E49A8961D}"/>
              </a:ext>
            </a:extLst>
          </p:cNvPr>
          <p:cNvSpPr>
            <a:spLocks noGrp="1"/>
          </p:cNvSpPr>
          <p:nvPr/>
        </p:nvSpPr>
        <p:spPr>
          <a:xfrm>
            <a:off x="6648450" y="3143250"/>
            <a:ext cx="4514850" cy="1219200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4678F-5DB3-4528-9E56-B9763162097B}"/>
              </a:ext>
            </a:extLst>
          </p:cNvPr>
          <p:cNvSpPr>
            <a:spLocks noGrp="1"/>
          </p:cNvSpPr>
          <p:nvPr/>
        </p:nvSpPr>
        <p:spPr>
          <a:xfrm>
            <a:off x="6858000" y="331470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CMD ["python", "app.py"]</a:t>
            </a:r>
          </a:p>
          <a:p>
            <a:endParaRPr sz="1275">
              <a:solidFill>
                <a:srgbClr val="E5E7EB"/>
              </a:solidFill>
            </a:endParaRP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$ docker run my-app bash</a:t>
            </a: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=&gt; bash（服務不會啟動）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851357A-852D-473B-B5D3-02DDCB6E1267}"/>
              </a:ext>
            </a:extLst>
          </p:cNvPr>
          <p:cNvSpPr>
            <a:spLocks noGrp="1"/>
          </p:cNvSpPr>
          <p:nvPr/>
        </p:nvSpPr>
        <p:spPr>
          <a:xfrm>
            <a:off x="2000250" y="5010150"/>
            <a:ext cx="8191500" cy="704850"/>
          </a:xfrm>
          <a:prstGeom prst="roundRect">
            <a:avLst>
              <a:gd name="adj" fmla="val 16216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0E5D2C-00A1-4DF3-B70A-85B9DAAB1C4D}"/>
              </a:ext>
            </a:extLst>
          </p:cNvPr>
          <p:cNvSpPr>
            <a:spLocks noGrp="1"/>
          </p:cNvSpPr>
          <p:nvPr/>
        </p:nvSpPr>
        <p:spPr>
          <a:xfrm>
            <a:off x="2362200" y="5219700"/>
            <a:ext cx="746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5E7EB"/>
                </a:solidFill>
              </a:defRPr>
            </a:pPr>
            <a:r>
              <a:rPr sz="1350">
                <a:solidFill>
                  <a:srgbClr val="E5E7EB"/>
                </a:solidFill>
              </a:rPr>
              <a:t>第二章回扣：docker run nginx sh 是只開 shell；docker exec -it nginx-life sh 是進入已在跑的 nginx，服務仍在。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3793AB-ECD2-4773-82CD-FB618C15AE5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4288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C37016-0280-4EFC-A098-EC30CEA5138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CBD5E1"/>
                </a:solidFill>
              </a:defRPr>
            </a:pPr>
            <a:r>
              <a:rPr sz="825">
                <a:solidFill>
                  <a:srgbClr val="CBD5E1"/>
                </a:solidFill>
              </a:rPr>
              <a:t>Docker 基礎教學 | 第 4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A89AC2-B8C3-4C58-87F1-78D58BBE6137}"/>
              </a:ext>
            </a:extLst>
          </p:cNvPr>
          <p:cNvSpPr>
            <a:spLocks noGrp="1"/>
          </p:cNvSpPr>
          <p:nvPr/>
        </p:nvSpPr>
        <p:spPr>
          <a:xfrm>
            <a:off x="9810750" y="64008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CMD 覆蓋小觀念</a:t>
            </a:r>
          </a:p>
        </p:txBody>
      </p:sp>
    </p:spTree>
    <p:extLst>
      <p:ext uri="{BB962C8B-B14F-4D97-AF65-F5344CB8AC3E}">
        <p14:creationId xmlns:p14="http://schemas.microsoft.com/office/powerpoint/2010/main" val="1001492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18A3494-4B9D-4BED-BAA7-9CC0873505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0DCE9B-AB07-43D4-9AB4-67DB818AD10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A5B4FC"/>
                </a:solidFill>
              </a:defRPr>
            </a:pPr>
            <a:r>
              <a:rPr sz="900" b="1">
                <a:solidFill>
                  <a:srgbClr val="A5B4FC"/>
                </a:solidFill>
              </a:rPr>
              <a:t>BEST PRACTICE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470020-12EF-4C85-A0CD-4ADF38CC6BF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實戰組合：ENTRYPOINT 放工具，CMD 放預設參數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427EE0-4D2F-47AD-94BB-4A827634A4BF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E2E8F0"/>
                </a:solidFill>
              </a:defRPr>
            </a:pPr>
            <a:r>
              <a:rPr sz="1500">
                <a:solidFill>
                  <a:srgbClr val="E2E8F0"/>
                </a:solidFill>
              </a:rPr>
              <a:t>把固定不變的主程式放在 ENTRYPOINT，把可以被使用者替換的預設目標放在 CMD。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2552BAF-1E7B-4805-BB0B-CA6A36C4AD47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4762500" cy="200025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354283-B5F9-4D4A-9855-3BE475F3E0F3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43434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# 一定會執行的主程式</a:t>
            </a: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ENTRYPOINT ["ping"]</a:t>
            </a:r>
          </a:p>
          <a:p>
            <a:endParaRPr sz="1275">
              <a:solidFill>
                <a:srgbClr val="E5E7EB"/>
              </a:solidFill>
            </a:endParaRP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# 預設參數，可以被 docker run 後面的內容取代</a:t>
            </a:r>
          </a:p>
          <a:p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CMD ["google.com"]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8A91E4C-4114-4E8B-AC40-0B23BA38E6EA}"/>
              </a:ext>
            </a:extLst>
          </p:cNvPr>
          <p:cNvSpPr>
            <a:spLocks noGrp="1"/>
          </p:cNvSpPr>
          <p:nvPr/>
        </p:nvSpPr>
        <p:spPr>
          <a:xfrm>
            <a:off x="6286500" y="2133600"/>
            <a:ext cx="4286250" cy="819150"/>
          </a:xfrm>
          <a:prstGeom prst="roundRect">
            <a:avLst>
              <a:gd name="adj" fmla="val 13953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99016E-7451-420C-9B6E-8316E1C7C41F}"/>
              </a:ext>
            </a:extLst>
          </p:cNvPr>
          <p:cNvSpPr>
            <a:spLocks noGrp="1"/>
          </p:cNvSpPr>
          <p:nvPr/>
        </p:nvSpPr>
        <p:spPr>
          <a:xfrm>
            <a:off x="6610350" y="23241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E5E7EB"/>
                </a:solidFill>
              </a:defRPr>
            </a:pPr>
            <a:r>
              <a:rPr sz="1500">
                <a:solidFill>
                  <a:srgbClr val="E5E7EB"/>
                </a:solidFill>
              </a:rPr>
              <a:t>$ docker run my-ping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1EE215-5779-404A-BA0C-A421D5112FB1}"/>
              </a:ext>
            </a:extLst>
          </p:cNvPr>
          <p:cNvSpPr>
            <a:spLocks noGrp="1"/>
          </p:cNvSpPr>
          <p:nvPr/>
        </p:nvSpPr>
        <p:spPr>
          <a:xfrm>
            <a:off x="6610350" y="26479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93C5FD"/>
                </a:solidFill>
              </a:defRPr>
            </a:pPr>
            <a:r>
              <a:rPr sz="1500" b="1">
                <a:solidFill>
                  <a:srgbClr val="93C5FD"/>
                </a:solidFill>
              </a:rPr>
              <a:t>=&gt; ping google.com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BE5BA40-09A0-41D8-AF68-C76850D8C992}"/>
              </a:ext>
            </a:extLst>
          </p:cNvPr>
          <p:cNvSpPr>
            <a:spLocks noGrp="1"/>
          </p:cNvSpPr>
          <p:nvPr/>
        </p:nvSpPr>
        <p:spPr>
          <a:xfrm>
            <a:off x="6286500" y="3390900"/>
            <a:ext cx="4286250" cy="819150"/>
          </a:xfrm>
          <a:prstGeom prst="roundRect">
            <a:avLst>
              <a:gd name="adj" fmla="val 13953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C56D24-2B6F-41DA-87DD-3284E6841CC4}"/>
              </a:ext>
            </a:extLst>
          </p:cNvPr>
          <p:cNvSpPr>
            <a:spLocks noGrp="1"/>
          </p:cNvSpPr>
          <p:nvPr/>
        </p:nvSpPr>
        <p:spPr>
          <a:xfrm>
            <a:off x="6610350" y="35814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E5E7EB"/>
                </a:solidFill>
              </a:defRPr>
            </a:pPr>
            <a:r>
              <a:rPr sz="1500">
                <a:solidFill>
                  <a:srgbClr val="E5E7EB"/>
                </a:solidFill>
              </a:rPr>
              <a:t>$ docker run my-ping yahoo.com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103952-8727-4573-BF4D-915BF8A3CAE2}"/>
              </a:ext>
            </a:extLst>
          </p:cNvPr>
          <p:cNvSpPr>
            <a:spLocks noGrp="1"/>
          </p:cNvSpPr>
          <p:nvPr/>
        </p:nvSpPr>
        <p:spPr>
          <a:xfrm>
            <a:off x="6610350" y="39052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86EFAC"/>
                </a:solidFill>
              </a:defRPr>
            </a:pPr>
            <a:r>
              <a:rPr sz="1500" b="1">
                <a:solidFill>
                  <a:srgbClr val="86EFAC"/>
                </a:solidFill>
              </a:rPr>
              <a:t>=&gt; ping yahoo.com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DF076BE-085A-4B4D-8958-C295373310B0}"/>
              </a:ext>
            </a:extLst>
          </p:cNvPr>
          <p:cNvSpPr>
            <a:spLocks noGrp="1"/>
          </p:cNvSpPr>
          <p:nvPr/>
        </p:nvSpPr>
        <p:spPr>
          <a:xfrm>
            <a:off x="1962150" y="4953000"/>
            <a:ext cx="8267700" cy="781050"/>
          </a:xfrm>
          <a:prstGeom prst="roundRect">
            <a:avLst>
              <a:gd name="adj" fmla="val 14634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9E3420-5F55-4A1D-8D12-C78A84C5DAE4}"/>
              </a:ext>
            </a:extLst>
          </p:cNvPr>
          <p:cNvSpPr>
            <a:spLocks noGrp="1"/>
          </p:cNvSpPr>
          <p:nvPr/>
        </p:nvSpPr>
        <p:spPr>
          <a:xfrm>
            <a:off x="2324100" y="5219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一句話：ENTRYPOINT 決定容器像什麼工具，CMD 提供這個工具的預設參數。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71035E-DB62-4B03-A501-2DF6C0BF42F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4288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7AE55B-13E3-4E7D-B991-CFE036F4C78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CBD5E1"/>
                </a:solidFill>
              </a:defRPr>
            </a:pPr>
            <a:r>
              <a:rPr sz="825">
                <a:solidFill>
                  <a:srgbClr val="CBD5E1"/>
                </a:solidFill>
              </a:rPr>
              <a:t>Docker 基礎教學 | 第 4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AF5892-94CB-4824-94E3-3D7B8D47CB1D}"/>
              </a:ext>
            </a:extLst>
          </p:cNvPr>
          <p:cNvSpPr>
            <a:spLocks noGrp="1"/>
          </p:cNvSpPr>
          <p:nvPr/>
        </p:nvSpPr>
        <p:spPr>
          <a:xfrm>
            <a:off x="9810750" y="64008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CMD / ENTRYPOINT 2</a:t>
            </a:r>
          </a:p>
        </p:txBody>
      </p:sp>
    </p:spTree>
    <p:extLst>
      <p:ext uri="{BB962C8B-B14F-4D97-AF65-F5344CB8AC3E}">
        <p14:creationId xmlns:p14="http://schemas.microsoft.com/office/powerpoint/2010/main" val="1877316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3093B7-3227-41B5-AFBC-201D13ACDAC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DEVELOPMENT WORKFLOW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9AFDD6-4A76-4FDD-B10B-5E2C4EEC064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開發環境管理：常見有兩條路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B3B2462-E948-4379-A9DE-3D0833F385AC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4953000" cy="3152775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228600" tIns="228600" rIns="228600" bIns="2286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 派</a:t>
            </a:r>
          </a:p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VS Code Dev Containers</a:t>
            </a:r>
          </a:p>
          <a:p>
            <a:pPr>
              <a:buNone/>
              <a:defRPr sz="600"/>
            </a:pPr>
            <a:endParaRPr sz="1500" b="1">
              <a:solidFill>
                <a:srgbClr val="0B122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2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把「開發用的作業系統、工具、套件」都放進容器。</a:t>
            </a:r>
          </a:p>
          <a:p>
            <a:pPr algn="l">
              <a:lnSpc>
                <a:spcPct val="106000"/>
              </a:lnSpc>
              <a:buNone/>
              <a:defRPr sz="12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適合團隊電腦不同、需要系統套件、想讓 VS Code 也進容器。</a:t>
            </a:r>
          </a:p>
          <a:p>
            <a:pPr algn="l">
              <a:lnSpc>
                <a:spcPct val="106000"/>
              </a:lnSpc>
              <a:buNone/>
              <a:defRPr sz="12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2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外掛名稱：Dev Containers（Microsoft）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7209F59-79E5-46ED-B710-7027BE031DCA}"/>
              </a:ext>
            </a:extLst>
          </p:cNvPr>
          <p:cNvSpPr>
            <a:spLocks noGrp="1"/>
          </p:cNvSpPr>
          <p:nvPr/>
        </p:nvSpPr>
        <p:spPr>
          <a:xfrm>
            <a:off x="5791200" y="1495425"/>
            <a:ext cx="4953000" cy="3152775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9525">
            <a:solidFill>
              <a:srgbClr val="B7E4C7"/>
            </a:solidFill>
            <a:prstDash val="solid"/>
          </a:ln>
        </p:spPr>
        <p:txBody>
          <a:bodyPr lIns="228600" tIns="228600" rIns="228600" bIns="2286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87F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7F5B"/>
                </a:solidFill>
                <a:latin typeface="Aptos Display"/>
                <a:ea typeface="Aptos Display"/>
                <a:cs typeface="Aptos Display"/>
              </a:rPr>
              <a:t>語言工具派</a:t>
            </a:r>
          </a:p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uv / Poetry / pip-tools</a:t>
            </a:r>
          </a:p>
          <a:p>
            <a:pPr>
              <a:buNone/>
              <a:defRPr sz="600"/>
            </a:pPr>
            <a:endParaRPr sz="1500" b="1">
              <a:solidFill>
                <a:srgbClr val="0B122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2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把「Python 版本、虛擬環境、套件版本」管理清楚。</a:t>
            </a:r>
          </a:p>
          <a:p>
            <a:pPr algn="l">
              <a:lnSpc>
                <a:spcPct val="106000"/>
              </a:lnSpc>
              <a:buNone/>
              <a:defRPr sz="12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Django / Flask 純 Python 專案很常用，啟動快、學習成本低。</a:t>
            </a:r>
          </a:p>
          <a:p>
            <a:pPr algn="l">
              <a:lnSpc>
                <a:spcPct val="106000"/>
              </a:lnSpc>
              <a:buNone/>
              <a:defRPr sz="1250" b="1">
                <a:solidFill>
                  <a:srgbClr val="087F5B"/>
                </a:solidFill>
                <a:latin typeface="Aptos"/>
                <a:ea typeface="Aptos"/>
                <a:cs typeface="Aptos"/>
              </a:defRPr>
            </a:pPr>
            <a:r>
              <a:rPr sz="1250" b="1">
                <a:solidFill>
                  <a:srgbClr val="087F5B"/>
                </a:solidFill>
                <a:latin typeface="Aptos"/>
                <a:ea typeface="Aptos"/>
                <a:cs typeface="Aptos"/>
              </a:rPr>
              <a:t>重點：lock file 讓每個人裝到同一批套件。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131A42-A910-4CF1-9B8B-DC44CED3D57A}"/>
              </a:ext>
            </a:extLst>
          </p:cNvPr>
          <p:cNvSpPr>
            <a:spLocks noGrp="1"/>
          </p:cNvSpPr>
          <p:nvPr/>
        </p:nvSpPr>
        <p:spPr>
          <a:xfrm>
            <a:off x="1143000" y="5029200"/>
            <a:ext cx="9144000" cy="5715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 lIns="152400" tIns="152400" rIns="152400" bIns="1524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這不是部署方式的二選一，而是「日常開發環境」怎麼管理。最後上線仍然可以打包成 Docker image。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298D40E-17FC-44AE-BC2B-230F73A9316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66E6F29-69AF-472B-AF9F-BB8BE03A8B6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4E83581-228B-4C73-8D5C-D06752AD2D63}"/>
              </a:ext>
            </a:extLst>
          </p:cNvPr>
          <p:cNvSpPr>
            <a:spLocks noGrp="1"/>
          </p:cNvSpPr>
          <p:nvPr/>
        </p:nvSpPr>
        <p:spPr>
          <a:xfrm>
            <a:off x="10858500" y="63817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</p:spTree>
    <p:extLst>
      <p:ext uri="{BB962C8B-B14F-4D97-AF65-F5344CB8AC3E}">
        <p14:creationId xmlns:p14="http://schemas.microsoft.com/office/powerpoint/2010/main" val="754590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EE934A-4CBD-446C-9D62-C4645E50904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DEVELOPMENT WORKFLOW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948F-13CC-4011-9A23-C57038AF28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什麼時候用 Dev Containers，什麼時候用 uv / Poetry？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3D0CBFB-66DF-453E-BFF1-73502C94D31B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7DCFF"/>
            </a:solidFill>
            <a:prstDash val="solid"/>
          </a:ln>
        </p:spPr>
        <p:txBody>
          <a:bodyPr lIns="209550" tIns="209550" rIns="209550" bIns="20955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7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選 Dev Containers</a:t>
            </a:r>
          </a:p>
          <a:p>
            <a:pPr>
              <a:buNone/>
              <a:defRPr sz="600"/>
            </a:pPr>
            <a:endParaRPr sz="1775" b="1">
              <a:solidFill>
                <a:srgbClr val="0B5CAD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團隊成員的 OS 不同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需要 apt、系統函式庫或 CLI 工具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想讓 terminal / debugger 都在容器裡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想靠近 production image 的環境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427EAD4-63AD-49C6-A054-847F82034280}"/>
              </a:ext>
            </a:extLst>
          </p:cNvPr>
          <p:cNvSpPr>
            <a:spLocks noGrp="1"/>
          </p:cNvSpPr>
          <p:nvPr/>
        </p:nvSpPr>
        <p:spPr>
          <a:xfrm>
            <a:off x="4381500" y="14478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7E4C7"/>
            </a:solidFill>
            <a:prstDash val="solid"/>
          </a:ln>
        </p:spPr>
        <p:txBody>
          <a:bodyPr lIns="209550" tIns="209550" rIns="209550" bIns="20955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75" b="1">
                <a:solidFill>
                  <a:srgbClr val="087F5B"/>
                </a:solidFill>
                <a:latin typeface="Aptos Display"/>
                <a:ea typeface="Aptos Display"/>
                <a:cs typeface="Aptos Display"/>
              </a:defRPr>
            </a:pPr>
            <a:r>
              <a:rPr sz="1775" b="1">
                <a:solidFill>
                  <a:srgbClr val="087F5B"/>
                </a:solidFill>
                <a:latin typeface="Aptos Display"/>
                <a:ea typeface="Aptos Display"/>
                <a:cs typeface="Aptos Display"/>
              </a:rPr>
              <a:t>選 uv / Poetry</a:t>
            </a:r>
          </a:p>
          <a:p>
            <a:pPr>
              <a:buNone/>
              <a:defRPr sz="600"/>
            </a:pPr>
            <a:endParaRPr sz="1775" b="1">
              <a:solidFill>
                <a:srgbClr val="087F5B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主要問題是 Python 套件版本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本機開發就很順，不想整個 IDE 進容器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Django / Flask 專案要快速建立 venv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用 lock file 固定依賴版本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6D4AB3B-CB7C-43E8-8FBF-44CC2B680F6D}"/>
              </a:ext>
            </a:extLst>
          </p:cNvPr>
          <p:cNvSpPr>
            <a:spLocks noGrp="1"/>
          </p:cNvSpPr>
          <p:nvPr/>
        </p:nvSpPr>
        <p:spPr>
          <a:xfrm>
            <a:off x="8153400" y="14478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9525">
            <a:solidFill>
              <a:srgbClr val="FFD999"/>
            </a:solidFill>
            <a:prstDash val="solid"/>
          </a:ln>
        </p:spPr>
        <p:txBody>
          <a:bodyPr lIns="209550" tIns="209550" rIns="209550" bIns="20955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75" b="1">
                <a:solidFill>
                  <a:srgbClr val="A16207"/>
                </a:solidFill>
                <a:latin typeface="Aptos Display"/>
                <a:ea typeface="Aptos Display"/>
                <a:cs typeface="Aptos Display"/>
              </a:defRPr>
            </a:pPr>
            <a:r>
              <a:rPr sz="1775" b="1">
                <a:solidFill>
                  <a:srgbClr val="A16207"/>
                </a:solidFill>
                <a:latin typeface="Aptos Display"/>
                <a:ea typeface="Aptos Display"/>
                <a:cs typeface="Aptos Display"/>
              </a:rPr>
              <a:t>實務上可混用</a:t>
            </a:r>
          </a:p>
          <a:p>
            <a:pPr>
              <a:buNone/>
              <a:defRPr sz="600"/>
            </a:pPr>
            <a:endParaRPr sz="1775" b="1">
              <a:solidFill>
                <a:srgbClr val="A16207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容器管 OS 與工具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uv / Poetry 管 Python packages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Dockerfile 管部署 image</a:t>
            </a: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先選最能降低混亂的那一層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E02D16F-F184-428A-8CE9-B6C5342B00B3}"/>
              </a:ext>
            </a:extLst>
          </p:cNvPr>
          <p:cNvSpPr>
            <a:spLocks noGrp="1"/>
          </p:cNvSpPr>
          <p:nvPr/>
        </p:nvSpPr>
        <p:spPr>
          <a:xfrm>
            <a:off x="1143000" y="4933950"/>
            <a:ext cx="9144000" cy="6286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152400" tIns="152400" rIns="152400" bIns="1524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本課程只先認識 VS Code 外掛：Dev Containers。設定檔細節等真的要把專案開進容器時再學。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A6E95FD-54DC-4BD8-835C-BF181067825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BA9B145-D86E-4B3D-B54D-24BD2F20F7B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8328211-942F-4420-91F7-45676D11892D}"/>
              </a:ext>
            </a:extLst>
          </p:cNvPr>
          <p:cNvSpPr>
            <a:spLocks noGrp="1"/>
          </p:cNvSpPr>
          <p:nvPr/>
        </p:nvSpPr>
        <p:spPr>
          <a:xfrm>
            <a:off x="10858500" y="63817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</p:spTree>
    <p:extLst>
      <p:ext uri="{BB962C8B-B14F-4D97-AF65-F5344CB8AC3E}">
        <p14:creationId xmlns:p14="http://schemas.microsoft.com/office/powerpoint/2010/main" val="892956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78C492C3-A6CF-4B3D-A085-63E466DAB9D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IMAGE PORTABILITY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0749C8-40C1-46B3-A03E-27038C3252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save/load 與 export/import 不一樣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18360FF-2C47-4A49-9740-E492EC02DC10}"/>
              </a:ext>
            </a:extLst>
          </p:cNvPr>
          <p:cNvSpPr>
            <a:spLocks noGrp="1"/>
          </p:cNvSpPr>
          <p:nvPr/>
        </p:nvSpPr>
        <p:spPr>
          <a:xfrm>
            <a:off x="1123950" y="1657350"/>
            <a:ext cx="4572000" cy="2476500"/>
          </a:xfrm>
          <a:prstGeom prst="roundRect">
            <a:avLst>
              <a:gd name="adj" fmla="val 461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09D0AF-B0F8-4D86-9AB6-9E2080B5CF1E}"/>
              </a:ext>
            </a:extLst>
          </p:cNvPr>
          <p:cNvSpPr>
            <a:spLocks noGrp="1"/>
          </p:cNvSpPr>
          <p:nvPr/>
        </p:nvSpPr>
        <p:spPr>
          <a:xfrm>
            <a:off x="1352550" y="1847850"/>
            <a:ext cx="411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 save / load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ACB10C-496F-4103-8F80-08D3D4138258}"/>
              </a:ext>
            </a:extLst>
          </p:cNvPr>
          <p:cNvSpPr>
            <a:spLocks noGrp="1"/>
          </p:cNvSpPr>
          <p:nvPr/>
        </p:nvSpPr>
        <p:spPr>
          <a:xfrm>
            <a:off x="1352550" y="2457450"/>
            <a:ext cx="41148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保存 Image。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會保留 layers、tag、history。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適合把建好的 Image 搬到另一台機器。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848DAFB-A6D2-4A44-9DE2-B002C36AF72D}"/>
              </a:ext>
            </a:extLst>
          </p:cNvPr>
          <p:cNvSpPr>
            <a:spLocks noGrp="1"/>
          </p:cNvSpPr>
          <p:nvPr/>
        </p:nvSpPr>
        <p:spPr>
          <a:xfrm>
            <a:off x="6496050" y="1657350"/>
            <a:ext cx="4572000" cy="2476500"/>
          </a:xfrm>
          <a:prstGeom prst="roundRect">
            <a:avLst>
              <a:gd name="adj" fmla="val 4615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196765-36B3-4B88-8AAC-A9F231F540E5}"/>
              </a:ext>
            </a:extLst>
          </p:cNvPr>
          <p:cNvSpPr>
            <a:spLocks noGrp="1"/>
          </p:cNvSpPr>
          <p:nvPr/>
        </p:nvSpPr>
        <p:spPr>
          <a:xfrm>
            <a:off x="6724650" y="1847850"/>
            <a:ext cx="411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docker export / import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095700-9DD9-45D1-B7D2-289A680FD41A}"/>
              </a:ext>
            </a:extLst>
          </p:cNvPr>
          <p:cNvSpPr>
            <a:spLocks noGrp="1"/>
          </p:cNvSpPr>
          <p:nvPr/>
        </p:nvSpPr>
        <p:spPr>
          <a:xfrm>
            <a:off x="6724650" y="2457450"/>
            <a:ext cx="41148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保存 Container 檔案系統。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不保留原本 Image 的 layer history。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較像把執行後的檔案系統打包。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123C036-39F9-43CE-B4F7-878E6A426EDB}"/>
              </a:ext>
            </a:extLst>
          </p:cNvPr>
          <p:cNvSpPr>
            <a:spLocks noGrp="1"/>
          </p:cNvSpPr>
          <p:nvPr/>
        </p:nvSpPr>
        <p:spPr>
          <a:xfrm>
            <a:off x="2381250" y="4914899"/>
            <a:ext cx="7429500" cy="1390651"/>
          </a:xfrm>
          <a:prstGeom prst="roundRect">
            <a:avLst>
              <a:gd name="adj" fmla="val 1063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C5C0D661-AFD4-4072-A60C-66A3AA559DA0}"/>
              </a:ext>
            </a:extLst>
          </p:cNvPr>
          <p:cNvSpPr>
            <a:spLocks noGrp="1"/>
          </p:cNvSpPr>
          <p:nvPr/>
        </p:nvSpPr>
        <p:spPr>
          <a:xfrm>
            <a:off x="2552700" y="50768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6608D93-09B2-436C-AE9F-13E8BFAF90C9}"/>
              </a:ext>
            </a:extLst>
          </p:cNvPr>
          <p:cNvSpPr>
            <a:spLocks noGrp="1"/>
          </p:cNvSpPr>
          <p:nvPr/>
        </p:nvSpPr>
        <p:spPr>
          <a:xfrm>
            <a:off x="2724150" y="50768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6C62F00E-CB26-48B6-94B1-75A1FE4AE871}"/>
              </a:ext>
            </a:extLst>
          </p:cNvPr>
          <p:cNvSpPr>
            <a:spLocks noGrp="1"/>
          </p:cNvSpPr>
          <p:nvPr/>
        </p:nvSpPr>
        <p:spPr>
          <a:xfrm>
            <a:off x="2895600" y="50768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9ED1DD-464E-4156-8EC7-1E07C46CB4A9}"/>
              </a:ext>
            </a:extLst>
          </p:cNvPr>
          <p:cNvSpPr>
            <a:spLocks noGrp="1"/>
          </p:cNvSpPr>
          <p:nvPr/>
        </p:nvSpPr>
        <p:spPr>
          <a:xfrm>
            <a:off x="2590800" y="5334000"/>
            <a:ext cx="701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9" lnSpcReduction="20000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save my-flask-app:v3 -o my-flask-app.tar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load -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my-flask-app.tar</a:t>
            </a:r>
            <a:endParaRPr lang="en-US"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6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export my-container -o snapshot.tar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sv-SE" sz="16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import snapshot.tar my-image:snapshot</a:t>
            </a:r>
            <a:endParaRPr lang="en-US" sz="16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6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D12D4F-03D9-419B-A36B-45B38C30333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171904-E732-477C-845E-BD3FD8779BC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71B497-8AFC-4797-AFD9-A4E2D1919E9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4744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5BC74E-18B4-4142-AD00-6A7E3898F8C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IMAGE PORTABILITY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A0FA50-1335-4328-94F1-5AB5E2E1232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7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7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為什麼不直接 docker pull？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9AD6EE4-1531-45DD-8759-6676F0E34A68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2571750" cy="25336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txBody>
          <a:bodyPr lIns="190500" tIns="190500" rIns="190500" bIns="1905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平常首選</a:t>
            </a:r>
          </a:p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pull</a:t>
            </a:r>
          </a:p>
          <a:p>
            <a:pPr>
              <a:buNone/>
              <a:defRPr sz="500"/>
            </a:pPr>
            <a:endParaRPr sz="1650" b="1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  <a:p>
            <a:pPr algn="ctr">
              <a:lnSpc>
                <a:spcPct val="106000"/>
              </a:lnSpc>
              <a:buNone/>
              <a:defRPr sz="11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有網路、有 registry，就直接 pull。這是日常開發最標準做法。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A427B25-9401-4503-8EEA-985125B14AF9}"/>
              </a:ext>
            </a:extLst>
          </p:cNvPr>
          <p:cNvSpPr>
            <a:spLocks noGrp="1"/>
          </p:cNvSpPr>
          <p:nvPr/>
        </p:nvSpPr>
        <p:spPr>
          <a:xfrm>
            <a:off x="3409950" y="1543050"/>
            <a:ext cx="2571750" cy="2533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 lIns="190500" tIns="190500" rIns="190500" bIns="1905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封閉網路</a:t>
            </a:r>
          </a:p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不能連 Docker Hub</a:t>
            </a:r>
          </a:p>
          <a:p>
            <a:pPr>
              <a:buNone/>
              <a:defRPr sz="500"/>
            </a:pPr>
            <a:endParaRPr sz="1650" b="1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  <a:p>
            <a:pPr algn="ctr">
              <a:lnSpc>
                <a:spcPct val="106000"/>
              </a:lnSpc>
              <a:buNone/>
              <a:defRPr sz="11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正式機、內網、客戶環境可能完全不能對外連線。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BDE15ED-54B1-4B3D-8E6C-2FA204F7D9AF}"/>
              </a:ext>
            </a:extLst>
          </p:cNvPr>
          <p:cNvSpPr>
            <a:spLocks noGrp="1"/>
          </p:cNvSpPr>
          <p:nvPr/>
        </p:nvSpPr>
        <p:spPr>
          <a:xfrm>
            <a:off x="6210300" y="1543050"/>
            <a:ext cx="2571750" cy="2533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 lIns="190500" tIns="190500" rIns="190500" bIns="1905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不能上傳</a:t>
            </a:r>
          </a:p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Image 不能離開公司</a:t>
            </a:r>
          </a:p>
          <a:p>
            <a:pPr>
              <a:buNone/>
              <a:defRPr sz="500"/>
            </a:pPr>
            <a:endParaRPr sz="1650" b="1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  <a:p>
            <a:pPr algn="ctr">
              <a:lnSpc>
                <a:spcPct val="106000"/>
              </a:lnSpc>
              <a:buNone/>
              <a:defRPr sz="11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商業機密或客戶規範不允許放到外部 registry。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60DCEF0-252A-4C80-ADBE-5E482872E5A9}"/>
              </a:ext>
            </a:extLst>
          </p:cNvPr>
          <p:cNvSpPr>
            <a:spLocks noGrp="1"/>
          </p:cNvSpPr>
          <p:nvPr/>
        </p:nvSpPr>
        <p:spPr>
          <a:xfrm>
            <a:off x="9010650" y="1543050"/>
            <a:ext cx="2571750" cy="253365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9525">
            <a:solidFill>
              <a:srgbClr val="FFD999"/>
            </a:solidFill>
            <a:prstDash val="solid"/>
          </a:ln>
        </p:spPr>
        <p:txBody>
          <a:bodyPr lIns="190500" tIns="190500" rIns="190500" bIns="1905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50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Image 很大</a:t>
            </a:r>
          </a:p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用檔案搬比較快</a:t>
            </a:r>
          </a:p>
          <a:p>
            <a:pPr>
              <a:buNone/>
              <a:defRPr sz="500"/>
            </a:pPr>
            <a:endParaRPr sz="1650" b="1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  <a:p>
            <a:pPr algn="ctr">
              <a:lnSpc>
                <a:spcPct val="106000"/>
              </a:lnSpc>
              <a:buNone/>
              <a:defRPr sz="11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 / ML image 很大，內部傳檔可能比每台都 pull 更省時間。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61AF22B-49D9-46C0-8090-41BDEB40B37C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10210800" cy="5715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 lIns="152400" tIns="152400" rIns="152400" bIns="15240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一句話：pull 是從 registry 下載；save / load 是把 image 變成 .tar 檔案交付。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FF6C10D-D4C7-41BC-AF9E-DD35345A1251}"/>
              </a:ext>
            </a:extLst>
          </p:cNvPr>
          <p:cNvSpPr>
            <a:spLocks noGrp="1"/>
          </p:cNvSpPr>
          <p:nvPr/>
        </p:nvSpPr>
        <p:spPr>
          <a:xfrm>
            <a:off x="2286000" y="5264150"/>
            <a:ext cx="7478400" cy="47625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D9E2EC"/>
            </a:solidFill>
            <a:prstDash val="solid"/>
          </a:ln>
        </p:spPr>
        <p:txBody>
          <a:bodyPr lIns="152400" tIns="152400" rIns="152400" bIns="152400" anchor="t">
            <a:normAutofit fontScale="92500" lnSpcReduction="2000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docker save -o app.tar my-flask-app:v3        docker load -i app.tar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7698740-2221-4571-A684-3F6D6A229C6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7B53EEA-C984-4B31-9080-EDC6CB2D19E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6ECC5D1-1A45-421E-87F7-9F834A73FEEF}"/>
              </a:ext>
            </a:extLst>
          </p:cNvPr>
          <p:cNvSpPr>
            <a:spLocks noGrp="1"/>
          </p:cNvSpPr>
          <p:nvPr/>
        </p:nvSpPr>
        <p:spPr>
          <a:xfrm>
            <a:off x="10858500" y="63817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PORT</a:t>
            </a:r>
          </a:p>
        </p:txBody>
      </p:sp>
    </p:spTree>
    <p:extLst>
      <p:ext uri="{BB962C8B-B14F-4D97-AF65-F5344CB8AC3E}">
        <p14:creationId xmlns:p14="http://schemas.microsoft.com/office/powerpoint/2010/main" val="9415178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2085</Words>
  <Application>Microsoft Office PowerPoint</Application>
  <DocSecurity>0</DocSecurity>
  <PresentationFormat>寬螢幕</PresentationFormat>
  <Paragraphs>492</Paragraphs>
  <Slides>28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6" baseType="lpstr">
      <vt:lpstr>微軟正黑體</vt:lpstr>
      <vt:lpstr>Aptos</vt:lpstr>
      <vt:lpstr>Aptos Display</vt:lpstr>
      <vt:lpstr>Aptos Mono</vt:lpstr>
      <vt:lpstr>Arial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sdt</cp:lastModifiedBy>
  <cp:revision>20</cp:revision>
  <dcterms:created xsi:type="dcterms:W3CDTF">2026-06-26T16:01:52Z</dcterms:created>
  <dcterms:modified xsi:type="dcterms:W3CDTF">2026-08-16T14:12:20Z</dcterms:modified>
</cp:coreProperties>
</file>