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presProps.xml" ContentType="application/vnd.openxmlformats-officedocument.presentationml.pres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  <ns0:Override PartName="/ppt/slides/slide28.xml" ContentType="application/vnd.openxmlformats-officedocument.presentationml.slide+xml"/>
  <ns0:Override PartName="/ppt/slides/slide29.xml" ContentType="application/vnd.openxmlformats-officedocument.presentationml.slide+xml"/>
  <ns0:Override PartName="/ppt/slides/slide30.xml" ContentType="application/vnd.openxmlformats-officedocument.presentationml.slide+xml"/>
  <ns0:Override PartName="/ppt/slides/slide31.xml" ContentType="application/vnd.openxmlformats-officedocument.presentationml.slide+xml"/>
  <ns0:Override PartName="/ppt/slides/slide32.xml" ContentType="application/vnd.openxmlformats-officedocument.presentationml.slide+xml"/>
  <ns0:Override PartName="/ppt/slides/slide33.xml" ContentType="application/vnd.openxmlformats-officedocument.presentationml.slide+xml"/>
  <ns0:Override PartName="/ppt/slides/slide34.xml" ContentType="application/vnd.openxmlformats-officedocument.presentationml.slide+xml"/>
  <ns0:Override PartName="/ppt/slides/slide35.xml" ContentType="application/vnd.openxmlformats-officedocument.presentationml.slide+xml"/>
  <ns0:Override PartName="/ppt/slides/slide36.xml" ContentType="application/vnd.openxmlformats-officedocument.presentationml.slide+xml"/>
  <ns0:Override PartName="/ppt/slides/slide37.xml" ContentType="application/vnd.openxmlformats-officedocument.presentationml.slide+xml"/>
  <ns0:Override PartName="/ppt/slides/slide38.xml" ContentType="application/vnd.openxmlformats-officedocument.presentationml.slide+xml"/>
  <ns0:Override PartName="/ppt/slides/slide39.xml" ContentType="application/vnd.openxmlformats-officedocument.presentationml.slide+xml"/>
  <ns0:Override PartName="/ppt/slides/slide40.xml" ContentType="application/vnd.openxmlformats-officedocument.presentationml.slide+xml"/>
  <ns0:Override PartName="/ppt/slides/slide41.xml" ContentType="application/vnd.openxmlformats-officedocument.presentationml.slide+xml"/>
  <ns0:Override PartName="/ppt/slides/slide42.xml" ContentType="application/vnd.openxmlformats-officedocument.presentationml.slide+xml"/>
  <ns0:Override PartName="/ppt/slides/slide43.xml" ContentType="application/vnd.openxmlformats-officedocument.presentationml.slide+xml"/>
  <ns0:Override PartName="/ppt/slides/slide44.xml" ContentType="application/vnd.openxmlformats-officedocument.presentationml.slide+xml"/>
</ns0: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6cb2c7043b2a47cb" /><ns0:Relationship Type="http://schemas.openxmlformats.org/officeDocument/2006/relationships/extended-properties" Target="/docProps/app.xml" Id="R9fcef75cbd4344e4" /><ns0:Relationship Type="http://schemas.openxmlformats.org/officeDocument/2006/relationships/officeDocument" Target="/ppt/presentation.xml" Id="R090fea75b9e64455" /></ns0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20b98f2a43354112"/>
  </p:sldMasterIdLst>
  <p:notesMasterIdLst>
    <p:notesMasterId xmlns:r="http://schemas.openxmlformats.org/officeDocument/2006/relationships" r:id="R7e04b84720f44138"/>
  </p:notesMasterIdLst>
  <p:sldIdLst>
    <p:sldId xmlns:r="http://schemas.openxmlformats.org/officeDocument/2006/relationships" id="256" r:id="Rcf5d13e6f52d4cb7"/>
    <p:sldId xmlns:r="http://schemas.openxmlformats.org/officeDocument/2006/relationships" id="257" r:id="Ra0cdee1e9814491c"/>
    <p:sldId xmlns:r="http://schemas.openxmlformats.org/officeDocument/2006/relationships" id="258" r:id="R325d0377d57e428d"/>
    <p:sldId xmlns:r="http://schemas.openxmlformats.org/officeDocument/2006/relationships" id="259" r:id="R48fd4e3334724999"/>
    <p:sldId xmlns:r="http://schemas.openxmlformats.org/officeDocument/2006/relationships" id="260" r:id="Rcab1ebeb063b4c3b"/>
    <p:sldId xmlns:r="http://schemas.openxmlformats.org/officeDocument/2006/relationships" id="261" r:id="R9fcd54827955408c"/>
    <p:sldId xmlns:r="http://schemas.openxmlformats.org/officeDocument/2006/relationships" id="262" r:id="Rdc80b6adfd7b4fd9"/>
    <p:sldId xmlns:r="http://schemas.openxmlformats.org/officeDocument/2006/relationships" id="263" r:id="Ra92290c42bb84522"/>
    <p:sldId xmlns:r="http://schemas.openxmlformats.org/officeDocument/2006/relationships" id="264" r:id="Rf3d9232d9e5b427b"/>
    <p:sldId xmlns:r="http://schemas.openxmlformats.org/officeDocument/2006/relationships" id="265" r:id="R4f2d5b9a5ba7455e"/>
    <p:sldId xmlns:r="http://schemas.openxmlformats.org/officeDocument/2006/relationships" id="266" r:id="R29600f4682bd4a6d"/>
    <p:sldId xmlns:r="http://schemas.openxmlformats.org/officeDocument/2006/relationships" id="267" r:id="R2ac95e0720be4c32"/>
    <p:sldId xmlns:r="http://schemas.openxmlformats.org/officeDocument/2006/relationships" id="268" r:id="R9efa413ac06a438e"/>
    <p:sldId xmlns:r="http://schemas.openxmlformats.org/officeDocument/2006/relationships" id="269" r:id="R71bf09bbf842497a"/>
    <p:sldId xmlns:r="http://schemas.openxmlformats.org/officeDocument/2006/relationships" id="270" r:id="Rb0adbe4a7ea546b0"/>
    <p:sldId xmlns:r="http://schemas.openxmlformats.org/officeDocument/2006/relationships" id="271" r:id="R9254ce8970a545f7"/>
    <p:sldId xmlns:r="http://schemas.openxmlformats.org/officeDocument/2006/relationships" id="272" r:id="R4469aad3ca1b4ee4"/>
    <p:sldId xmlns:r="http://schemas.openxmlformats.org/officeDocument/2006/relationships" id="273" r:id="Rfb831e38e8444138"/>
    <p:sldId xmlns:r="http://schemas.openxmlformats.org/officeDocument/2006/relationships" id="274" r:id="R8f0499d21b46496d"/>
    <p:sldId xmlns:r="http://schemas.openxmlformats.org/officeDocument/2006/relationships" id="275" r:id="R884ab836deb74d8c"/>
    <p:sldId xmlns:r="http://schemas.openxmlformats.org/officeDocument/2006/relationships" id="276" r:id="Rb4f1f6f2799f4afe"/>
    <p:sldId xmlns:r="http://schemas.openxmlformats.org/officeDocument/2006/relationships" id="277" r:id="R25a15ff4b6bb462a"/>
    <p:sldId xmlns:r="http://schemas.openxmlformats.org/officeDocument/2006/relationships" id="278" r:id="Rd44c264997564b0d"/>
    <p:sldId xmlns:r="http://schemas.openxmlformats.org/officeDocument/2006/relationships" id="279" r:id="Rb874a7ebea954634"/>
    <p:sldId xmlns:r="http://schemas.openxmlformats.org/officeDocument/2006/relationships" id="280" r:id="R26db982e10bb4d70"/>
    <p:sldId xmlns:r="http://schemas.openxmlformats.org/officeDocument/2006/relationships" id="281" r:id="Rffb5461ba1ab4dc5"/>
    <p:sldId xmlns:r="http://schemas.openxmlformats.org/officeDocument/2006/relationships" id="282" r:id="Rf9ff6c6c1e644844"/>
    <p:sldId xmlns:r="http://schemas.openxmlformats.org/officeDocument/2006/relationships" id="283" r:id="Re62291301e4742a5"/>
    <p:sldId xmlns:r="http://schemas.openxmlformats.org/officeDocument/2006/relationships" id="284" r:id="R0544bc884805401e"/>
    <p:sldId xmlns:r="http://schemas.openxmlformats.org/officeDocument/2006/relationships" id="285" r:id="R21249b4c13ce44de"/>
    <p:sldId xmlns:r="http://schemas.openxmlformats.org/officeDocument/2006/relationships" id="286" r:id="R5ea09b2bfd5346ac"/>
    <p:sldId xmlns:r="http://schemas.openxmlformats.org/officeDocument/2006/relationships" id="287" r:id="R6b1dedcb97064ead"/>
    <p:sldId xmlns:r="http://schemas.openxmlformats.org/officeDocument/2006/relationships" id="288" r:id="Rdcda3141948b4215"/>
    <p:sldId xmlns:r="http://schemas.openxmlformats.org/officeDocument/2006/relationships" id="289" r:id="R695fbe01ee7a4194"/>
    <p:sldId xmlns:r="http://schemas.openxmlformats.org/officeDocument/2006/relationships" id="290" r:id="R698701a9503840e1"/>
    <p:sldId xmlns:r="http://schemas.openxmlformats.org/officeDocument/2006/relationships" id="291" r:id="R1ab90c56a6ad42a1"/>
    <p:sldId xmlns:r="http://schemas.openxmlformats.org/officeDocument/2006/relationships" id="292" r:id="R688806edbe784159"/>
    <p:sldId xmlns:r="http://schemas.openxmlformats.org/officeDocument/2006/relationships" id="293" r:id="Raa255a47d90849ab"/>
    <p:sldId xmlns:r="http://schemas.openxmlformats.org/officeDocument/2006/relationships" id="294" r:id="R93ea280d32334cfc"/>
    <p:sldId xmlns:r="http://schemas.openxmlformats.org/officeDocument/2006/relationships" id="295" r:id="R1f6e945344b94749"/>
    <p:sldId xmlns:r="http://schemas.openxmlformats.org/officeDocument/2006/relationships" id="296" r:id="R286bcb1df70645a8"/>
    <p:sldId xmlns:r="http://schemas.openxmlformats.org/officeDocument/2006/relationships" id="297" r:id="Rc07c7b647da44fb0"/>
    <p:sldId xmlns:r="http://schemas.openxmlformats.org/officeDocument/2006/relationships" id="298" r:id="Rfe0be296f2c345f1"/>
    <p:sldId xmlns:r="http://schemas.openxmlformats.org/officeDocument/2006/relationships" id="299" r:id="Rb8958d0a8c814a88"/>
    <p:sldId id="300" r:id="rId1"/>
    <p:sldId id="301" r:id="rId2"/>
    <p:sldId id="302" r:id="rId3"/>
    <p:sldId id="303" r:id="rId4"/>
    <p:sldId id="304" r:id="rId5"/>
    <p:sldId id="305" r:id="rId6"/>
    <p:sldId id="306" r:id="rId7"/>
    <p:sldId id="307" r:id="rId8"/>
    <p:sldId id="308" r:id="rId9"/>
    <p:sldId id="309" r:id="rId10"/>
    <p:sldId id="310" r:id="rId11"/>
    <p:sldId id="311" r:id="rId12"/>
    <p:sldId id="312" r:id="rId13"/>
    <p:sldId id="313" r:id="rId14"/>
    <p:sldId id="314" r:id="rId15"/>
    <p:sldId id="315" r:id="rId16"/>
    <p:sldId id="316" r:id="rId17"/>
    <p:sldId id="317" r:id="rId18"/>
    <p:sldId id="318" r:id="rId19"/>
    <p:sldId id="319" r:id="rId20"/>
    <p:sldId id="320" r:id="rId21"/>
    <p:sldId id="321" r:id="rId22"/>
    <p:sldId id="322" r:id="rId2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5a29e73df3c044a8" /><ns0:Relationship Type="http://schemas.openxmlformats.org/officeDocument/2006/relationships/slideMaster" Target="/ppt/slideMasters/slideMaster1.xml" Id="R20b98f2a43354112" /><ns0:Relationship Type="http://schemas.openxmlformats.org/officeDocument/2006/relationships/presProps" Target="/ppt/presProps.xml" Id="R57055aa11d9e4782" /><ns0:Relationship Type="http://schemas.openxmlformats.org/officeDocument/2006/relationships/tableStyles" Target="/ppt/tableStyles.xml" Id="R03fba0c3724545bd" /><ns0:Relationship Type="http://schemas.openxmlformats.org/officeDocument/2006/relationships/slide" Target="/ppt/slides/slide1.xml" Id="Rcf5d13e6f52d4cb7" /><ns0:Relationship Type="http://schemas.openxmlformats.org/officeDocument/2006/relationships/slide" Target="/ppt/slides/slide2.xml" Id="Ra0cdee1e9814491c" /><ns0:Relationship Type="http://schemas.openxmlformats.org/officeDocument/2006/relationships/slide" Target="/ppt/slides/slide3.xml" Id="R325d0377d57e428d" /><ns0:Relationship Type="http://schemas.openxmlformats.org/officeDocument/2006/relationships/slide" Target="/ppt/slides/slide4.xml" Id="R48fd4e3334724999" /><ns0:Relationship Type="http://schemas.openxmlformats.org/officeDocument/2006/relationships/slide" Target="/ppt/slides/slide5.xml" Id="Rcab1ebeb063b4c3b" /><ns0:Relationship Type="http://schemas.openxmlformats.org/officeDocument/2006/relationships/slide" Target="/ppt/slides/slide6.xml" Id="R9fcd54827955408c" /><ns0:Relationship Type="http://schemas.openxmlformats.org/officeDocument/2006/relationships/slide" Target="/ppt/slides/slide7.xml" Id="Rdc80b6adfd7b4fd9" /><ns0:Relationship Type="http://schemas.openxmlformats.org/officeDocument/2006/relationships/slide" Target="/ppt/slides/slide8.xml" Id="Ra92290c42bb84522" /><ns0:Relationship Type="http://schemas.openxmlformats.org/officeDocument/2006/relationships/slide" Target="/ppt/slides/slide9.xml" Id="Rf3d9232d9e5b427b" /><ns0:Relationship Type="http://schemas.openxmlformats.org/officeDocument/2006/relationships/slide" Target="/ppt/slides/slide10.xml" Id="R4f2d5b9a5ba7455e" /><ns0:Relationship Type="http://schemas.openxmlformats.org/officeDocument/2006/relationships/slide" Target="/ppt/slides/slide11.xml" Id="R29600f4682bd4a6d" /><ns0:Relationship Type="http://schemas.openxmlformats.org/officeDocument/2006/relationships/slide" Target="/ppt/slides/slide12.xml" Id="R2ac95e0720be4c32" /><ns0:Relationship Type="http://schemas.openxmlformats.org/officeDocument/2006/relationships/slide" Target="/ppt/slides/slide13.xml" Id="R9efa413ac06a438e" /><ns0:Relationship Type="http://schemas.openxmlformats.org/officeDocument/2006/relationships/slide" Target="/ppt/slides/slide14.xml" Id="R71bf09bbf842497a" /><ns0:Relationship Type="http://schemas.openxmlformats.org/officeDocument/2006/relationships/slide" Target="/ppt/slides/slide15.xml" Id="Rb0adbe4a7ea546b0" /><ns0:Relationship Type="http://schemas.openxmlformats.org/officeDocument/2006/relationships/slide" Target="/ppt/slides/slide16.xml" Id="R9254ce8970a545f7" /><ns0:Relationship Type="http://schemas.openxmlformats.org/officeDocument/2006/relationships/slide" Target="/ppt/slides/slide17.xml" Id="R4469aad3ca1b4ee4" /><ns0:Relationship Type="http://schemas.openxmlformats.org/officeDocument/2006/relationships/slide" Target="/ppt/slides/slide18.xml" Id="Rfb831e38e8444138" /><ns0:Relationship Type="http://schemas.openxmlformats.org/officeDocument/2006/relationships/slide" Target="/ppt/slides/slide19.xml" Id="R8f0499d21b46496d" /><ns0:Relationship Type="http://schemas.openxmlformats.org/officeDocument/2006/relationships/slide" Target="/ppt/slides/slide20.xml" Id="R884ab836deb74d8c" /><ns0:Relationship Type="http://schemas.openxmlformats.org/officeDocument/2006/relationships/slide" Target="/ppt/slides/slide21.xml" Id="Rb4f1f6f2799f4afe" /><ns0:Relationship Type="http://schemas.openxmlformats.org/officeDocument/2006/relationships/slide" Target="/ppt/slides/slide22.xml" Id="R25a15ff4b6bb462a" /><ns0:Relationship Type="http://schemas.openxmlformats.org/officeDocument/2006/relationships/slide" Target="/ppt/slides/slide23.xml" Id="Rd44c264997564b0d" /><ns0:Relationship Type="http://schemas.openxmlformats.org/officeDocument/2006/relationships/slide" Target="/ppt/slides/slide24.xml" Id="Rb874a7ebea954634" /><ns0:Relationship Type="http://schemas.openxmlformats.org/officeDocument/2006/relationships/slide" Target="/ppt/slides/slide25.xml" Id="R26db982e10bb4d70" /><ns0:Relationship Type="http://schemas.openxmlformats.org/officeDocument/2006/relationships/slide" Target="/ppt/slides/slide26.xml" Id="Rffb5461ba1ab4dc5" /><ns0:Relationship Type="http://schemas.openxmlformats.org/officeDocument/2006/relationships/slide" Target="/ppt/slides/slide27.xml" Id="Rf9ff6c6c1e644844" /><ns0:Relationship Type="http://schemas.openxmlformats.org/officeDocument/2006/relationships/slide" Target="/ppt/slides/slide28.xml" Id="Re62291301e4742a5" /><ns0:Relationship Type="http://schemas.openxmlformats.org/officeDocument/2006/relationships/slide" Target="/ppt/slides/slide29.xml" Id="R0544bc884805401e" /><ns0:Relationship Type="http://schemas.openxmlformats.org/officeDocument/2006/relationships/slide" Target="/ppt/slides/slide30.xml" Id="R21249b4c13ce44de" /><ns0:Relationship Type="http://schemas.openxmlformats.org/officeDocument/2006/relationships/slide" Target="/ppt/slides/slide31.xml" Id="R5ea09b2bfd5346ac" /><ns0:Relationship Type="http://schemas.openxmlformats.org/officeDocument/2006/relationships/slide" Target="/ppt/slides/slide32.xml" Id="R6b1dedcb97064ead" /><ns0:Relationship Type="http://schemas.openxmlformats.org/officeDocument/2006/relationships/slide" Target="/ppt/slides/slide33.xml" Id="Rdcda3141948b4215" /><ns0:Relationship Type="http://schemas.openxmlformats.org/officeDocument/2006/relationships/slide" Target="/ppt/slides/slide34.xml" Id="R695fbe01ee7a4194" /><ns0:Relationship Type="http://schemas.openxmlformats.org/officeDocument/2006/relationships/slide" Target="/ppt/slides/slide35.xml" Id="R698701a9503840e1" /><ns0:Relationship Type="http://schemas.openxmlformats.org/officeDocument/2006/relationships/slide" Target="/ppt/slides/slide36.xml" Id="R1ab90c56a6ad42a1" /><ns0:Relationship Type="http://schemas.openxmlformats.org/officeDocument/2006/relationships/slide" Target="/ppt/slides/slide37.xml" Id="R688806edbe784159" /><ns0:Relationship Type="http://schemas.openxmlformats.org/officeDocument/2006/relationships/slide" Target="/ppt/slides/slide38.xml" Id="Raa255a47d90849ab" /><ns0:Relationship Type="http://schemas.openxmlformats.org/officeDocument/2006/relationships/slide" Target="/ppt/slides/slide39.xml" Id="R93ea280d32334cfc" /><ns0:Relationship Type="http://schemas.openxmlformats.org/officeDocument/2006/relationships/slide" Target="/ppt/slides/slide40.xml" Id="R1f6e945344b94749" /><ns0:Relationship Type="http://schemas.openxmlformats.org/officeDocument/2006/relationships/slide" Target="/ppt/slides/slide41.xml" Id="R286bcb1df70645a8" /><ns0:Relationship Type="http://schemas.openxmlformats.org/officeDocument/2006/relationships/slide" Target="/ppt/slides/slide42.xml" Id="Rc07c7b647da44fb0" /><ns0:Relationship Type="http://schemas.openxmlformats.org/officeDocument/2006/relationships/slide" Target="/ppt/slides/slide43.xml" Id="Rfe0be296f2c345f1" /><ns0:Relationship Type="http://schemas.openxmlformats.org/officeDocument/2006/relationships/slide" Target="/ppt/slides/slide44.xml" Id="Rb8958d0a8c814a88" /><ns0:Relationship Type="http://schemas.openxmlformats.org/officeDocument/2006/relationships/slide" Target="/ppt/slides/slide45.xml" Id="rId1" /><ns0:Relationship Type="http://schemas.openxmlformats.org/officeDocument/2006/relationships/slide" Target="/ppt/slides/slide46.xml" Id="rId2" /><ns0:Relationship Type="http://schemas.openxmlformats.org/officeDocument/2006/relationships/slide" Target="/ppt/slides/slide47.xml" Id="rId3" /><ns0:Relationship Type="http://schemas.openxmlformats.org/officeDocument/2006/relationships/slide" Target="/ppt/slides/slide48.xml" Id="rId4" /><ns0:Relationship Type="http://schemas.openxmlformats.org/officeDocument/2006/relationships/slide" Target="/ppt/slides/slide49.xml" Id="rId5" /><ns0:Relationship Type="http://schemas.openxmlformats.org/officeDocument/2006/relationships/slide" Target="/ppt/slides/slide50.xml" Id="rId6" /><ns0:Relationship Type="http://schemas.openxmlformats.org/officeDocument/2006/relationships/slide" Target="/ppt/slides/slide51.xml" Id="rId7" /><ns0:Relationship Type="http://schemas.openxmlformats.org/officeDocument/2006/relationships/slide" Target="/ppt/slides/slide52.xml" Id="rId8" /><ns0:Relationship Type="http://schemas.openxmlformats.org/officeDocument/2006/relationships/slide" Target="/ppt/slides/slide53.xml" Id="rId9" /><ns0:Relationship Type="http://schemas.openxmlformats.org/officeDocument/2006/relationships/slide" Target="/ppt/slides/slide54.xml" Id="rId10" /><ns0:Relationship Type="http://schemas.openxmlformats.org/officeDocument/2006/relationships/slide" Target="/ppt/slides/slide55.xml" Id="rId11" /><ns0:Relationship Type="http://schemas.openxmlformats.org/officeDocument/2006/relationships/slide" Target="/ppt/slides/slide56.xml" Id="rId12" /><ns0:Relationship Type="http://schemas.openxmlformats.org/officeDocument/2006/relationships/slide" Target="/ppt/slides/slide57.xml" Id="rId13" /><ns0:Relationship Type="http://schemas.openxmlformats.org/officeDocument/2006/relationships/slide" Target="/ppt/slides/slide58.xml" Id="rId14" /><ns0:Relationship Type="http://schemas.openxmlformats.org/officeDocument/2006/relationships/slide" Target="/ppt/slides/slide59.xml" Id="rId15" /><ns0:Relationship Type="http://schemas.openxmlformats.org/officeDocument/2006/relationships/slide" Target="/ppt/slides/slide60.xml" Id="rId16" /><ns0:Relationship Type="http://schemas.openxmlformats.org/officeDocument/2006/relationships/slide" Target="/ppt/slides/slide61.xml" Id="rId17" /><ns0:Relationship Type="http://schemas.openxmlformats.org/officeDocument/2006/relationships/slide" Target="/ppt/slides/slide62.xml" Id="rId18" /><ns0:Relationship Type="http://schemas.openxmlformats.org/officeDocument/2006/relationships/slide" Target="/ppt/slides/slide63.xml" Id="rId19" /><ns0:Relationship Type="http://schemas.openxmlformats.org/officeDocument/2006/relationships/slide" Target="/ppt/slides/slide64.xml" Id="rId20" /><ns0:Relationship Type="http://schemas.openxmlformats.org/officeDocument/2006/relationships/slide" Target="/ppt/slides/slide65.xml" Id="rId21" /><ns0:Relationship Type="http://schemas.openxmlformats.org/officeDocument/2006/relationships/slide" Target="/ppt/slides/slide66.xml" Id="rId22" /><ns0:Relationship Type="http://schemas.openxmlformats.org/officeDocument/2006/relationships/slide" Target="/ppt/slides/slide67.xml" Id="rId23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0ebb8bb938904f9e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7f104d56b5f54dfb" /><ns0:Relationship Type="http://schemas.openxmlformats.org/officeDocument/2006/relationships/slideLayout" Target="/ppt/slideLayouts/slideLayout1.xml" Id="R535fd62d9f584f83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35fd62d9f584f8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f8149c4432a46f1" /><ns0:Relationship Type="http://schemas.openxmlformats.org/officeDocument/2006/relationships/image" Target="/ppt/media/image.png" Id="R1c39052c085044b2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bfe9ebe60ba4714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11780752c934e9a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7bf36847be84518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73b79345efa4d69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004c03150e24900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90bb122fd5348d5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1e511536a49412b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37d327206d44bef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676974cb49b4572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3939b0d46d14a0a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bf809781a0f472e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1838e1ae0ae4ce2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4421b80647840b7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723efd622454710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bac92c2bbdc4079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bb46a2ba1114981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2c91857f93b4647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282e66a3e4c4df4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7812c1303a447b9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55612d88a1b45be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2834760df2f46f0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18209696ba1485a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8d0953e799b4706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bc576edb1bc49f0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16c0925ded24c62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c3dfeff66e84efd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0edf48dbdcc4331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fe18658690b44c3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43cacfedfff4c7e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757f6c4ef2f4b03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70b3ac0d1ec486b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560049938fb4b19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04519690ada4907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b575908abbb4726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d220fb2fe634df7" /></ns0:Relationships>
</file>

<file path=ppt/slides/_rels/slide3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8eb4526b0374145" /></ns0:Relationships>
</file>

<file path=ppt/slides/_rels/slide3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b65d3237c9a4b72" /></ns0:Relationships>
</file>

<file path=ppt/slides/_rels/slide3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4dc00a4677c439f" /></ns0:Relationships>
</file>

<file path=ppt/slides/_rels/slide4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62b6d53ce754ede" /><ns0:Relationship Type="http://schemas.openxmlformats.org/officeDocument/2006/relationships/image" Target="/ppt/media/image2.png" Id="Rdcc8df6364df45a3" /></ns0:Relationships>
</file>

<file path=ppt/slides/_rels/slide4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a336e745d52419e" /></ns0:Relationships>
</file>

<file path=ppt/slides/_rels/slide4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6eeb03dc92c4f84" /></ns0:Relationships>
</file>

<file path=ppt/slides/_rels/slide4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4d8ebe857ab45f5" /></ns0:Relationships>
</file>

<file path=ppt/slides/_rels/slide4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cf34e19fe204c19" /></ns0: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66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67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84967CE-887C-4AA8-8AD1-0D6D7D438C7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3" name=""/>
          <p:cNvPicPr>
            <a:picLocks noChangeAspect="1"/>
          </p:cNvPicPr>
          <p:nvPr/>
        </p:nvPicPr>
        <p:blipFill>
          <a:blip r:embed="R1c39052c085044b2"/>
          <a:srcRect l="15216" t="0" r="15216" b="0"/>
          <a:stretch>
            <a:fillRect l="0" t="0" r="0" b="0"/>
          </a:stretch>
        </p:blipFill>
        <p:spPr>
          <a:xfrm>
            <a:off x="3714750" y="0"/>
            <a:ext cx="8477250" cy="68580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F9065CF5-B323-4631-8CB2-4AF06C00E5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58000"/>
                </a:srgbClr>
              </a:gs>
              <a:gs pos="100000">
                <a:srgbClr val="07111F">
                  <a:alpha val="4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053388F0-C642-4DBE-8C20-E4605149390C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26695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0CD53B39-1EA2-4769-A104-20F453E6F246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2114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6 堂 | Advanced CI/CD</a:t>
            </a:r>
          </a:p>
        </p:txBody>
      </p:sp>
      <p:sp>
        <p:nvSpPr>
          <p:cNvPr id="6" name="">
            <a:extLst>
              <a:ext uri="{FF2B5EF4-FFF2-40B4-BE49-F238E27FC236}">
                <ns2:creationId id="{9950A96A-E892-492B-A091-B99B36B08348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7429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GitHub Actions</a:t>
            </a:r>
          </a:p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進階實作與課程總結</a:t>
            </a:r>
          </a:p>
        </p:txBody>
      </p:sp>
      <p:sp>
        <p:nvSpPr>
          <p:cNvPr id="7" name="">
            <a:extLst>
              <a:ext uri="{FF2B5EF4-FFF2-40B4-BE49-F238E27FC236}">
                <ns2:creationId id="{BA4DF8F4-39FE-459C-A91F-36159493ADC9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7239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752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把 test、build、health check、push、manual deploy 串成完整 Flask CI/CD pipeline。</a:t>
            </a:r>
          </a:p>
        </p:txBody>
      </p:sp>
      <p:sp>
        <p:nvSpPr>
          <p:cNvPr id="8" name="">
            <a:extLst>
              <a:ext uri="{FF2B5EF4-FFF2-40B4-BE49-F238E27FC236}">
                <ns2:creationId id="{09937254-DC11-4130-8EA6-E01BCE3269D0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7524750" cy="990600"/>
          </a:xfrm>
          <a:prstGeom prst="roundRect">
            <a:avLst>
              <a:gd name="adj" fmla="val 1346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98C4E672-7981-4047-8C73-C503854650FF}"/>
              </a:ext>
            </a:extLst>
          </p:cNvPr>
          <p:cNvSpPr>
            <a:spLocks noGrp="1"/>
          </p:cNvSpPr>
          <p:nvPr/>
        </p:nvSpPr>
        <p:spPr>
          <a:xfrm>
            <a:off x="990600" y="4533900"/>
            <a:ext cx="6953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795"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今天完成：進階語法、完整 Flask pipeline、Secrets / Cache / Matrix、除錯與手動部署、六堂課總回顧。</a:t>
            </a:r>
          </a:p>
        </p:txBody>
      </p:sp>
      <p:sp>
        <p:nvSpPr>
          <p:cNvPr id="10" name="">
            <a:extLst>
              <a:ext uri="{FF2B5EF4-FFF2-40B4-BE49-F238E27FC236}">
                <ns2:creationId id="{E83F2541-74F9-4B71-913E-48D91BDDDD45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ns4:creationId val="380309484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E248380-BD51-430F-A1AB-F30B2159C5D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>
              <a:ext uri="{FF2B5EF4-FFF2-40B4-BE49-F238E27FC236}">
                <ns2:creationId id="{043BFC2E-573E-46B4-9922-15047410F2B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>
              <a:ext uri="{FF2B5EF4-FFF2-40B4-BE49-F238E27FC236}">
                <ns2:creationId id="{82CEACB3-6056-4B2D-B484-DD9B8B2C0D72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5F5BCCA1-F7B4-411A-8B8F-C8455282FA1B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80FFAD01-1D0D-4F8E-84FC-7263BE7301FA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ADFF7041-C45A-496D-9193-D8BAD99A6871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進階語法</a:t>
            </a:r>
          </a:p>
        </p:txBody>
      </p:sp>
      <p:sp>
        <p:nvSpPr>
          <p:cNvPr id="7" name="">
            <a:extLst>
              <a:ext uri="{FF2B5EF4-FFF2-40B4-BE49-F238E27FC236}">
                <ns2:creationId id="{C20DA034-3728-43DE-8D9A-777CBFD152D1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env、secrets、if、needs、context、permissions、concurrency。</a:t>
            </a:r>
          </a:p>
        </p:txBody>
      </p:sp>
      <p:sp>
        <p:nvSpPr>
          <p:cNvPr id="8" name="">
            <a:extLst>
              <a:ext uri="{FF2B5EF4-FFF2-40B4-BE49-F238E27FC236}">
                <ns2:creationId id="{5A04997A-BF04-47F8-93FB-6327E5863F39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2001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141B012A-ABD6-46F7-B2D1-B4002685F5E3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50 分鐘</a:t>
            </a:r>
          </a:p>
        </p:txBody>
      </p:sp>
      <p:sp>
        <p:nvSpPr>
          <p:cNvPr id="10" name="">
            <a:extLst>
              <a:ext uri="{FF2B5EF4-FFF2-40B4-BE49-F238E27FC236}">
                <ns2:creationId id="{404B6197-6D46-4AC9-A6E9-4DA8A021520F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A9EE5F69-480F-46EA-9355-A669E188EC87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E4CBE2D9-B349-43DC-9E30-A32011F47C11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ns2:creationId id="{F171BED2-524A-4D4F-9902-2ACB6CE8395A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完整 Pipeline</a:t>
            </a:r>
          </a:p>
        </p:txBody>
      </p:sp>
      <p:sp>
        <p:nvSpPr>
          <p:cNvPr id="14" name="">
            <a:extLst>
              <a:ext uri="{FF2B5EF4-FFF2-40B4-BE49-F238E27FC236}">
                <ns2:creationId id="{64DA3F9F-D865-4A19-8FD9-2DA84E3125B0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專案，串 test -&gt; build -&gt; health check -&gt; push。</a:t>
            </a:r>
          </a:p>
        </p:txBody>
      </p:sp>
      <p:sp>
        <p:nvSpPr>
          <p:cNvPr id="15" name="">
            <a:extLst>
              <a:ext uri="{FF2B5EF4-FFF2-40B4-BE49-F238E27FC236}">
                <ns2:creationId id="{9D3D583B-9FAF-4672-B733-4EE92E1A0F35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2001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983DAEE4-DE6E-400D-886A-80EAEAC0F900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90 分鐘</a:t>
            </a:r>
          </a:p>
        </p:txBody>
      </p:sp>
      <p:sp>
        <p:nvSpPr>
          <p:cNvPr id="17" name="">
            <a:extLst>
              <a:ext uri="{FF2B5EF4-FFF2-40B4-BE49-F238E27FC236}">
                <ns2:creationId id="{4982C867-A1DA-4203-BD0E-88579372BF7D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51EDC398-7891-49CD-B0B0-F94D047B572E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291AC950-764D-429C-BA57-598798CE640A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>
              <a:ext uri="{FF2B5EF4-FFF2-40B4-BE49-F238E27FC236}">
                <ns2:creationId id="{4332261A-7DA8-46D4-9392-2C607261F09D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技巧 / 除錯 / 部署</a:t>
            </a:r>
          </a:p>
        </p:txBody>
      </p:sp>
      <p:sp>
        <p:nvSpPr>
          <p:cNvPr id="21" name="">
            <a:extLst>
              <a:ext uri="{FF2B5EF4-FFF2-40B4-BE49-F238E27FC236}">
                <ns2:creationId id="{1BFD1310-43E7-4C7A-9A41-B15E186B2179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Cache、Matrix、Artifact、常見錯誤、手動部署與總練習。</a:t>
            </a:r>
          </a:p>
        </p:txBody>
      </p:sp>
      <p:sp>
        <p:nvSpPr>
          <p:cNvPr id="22" name="">
            <a:extLst>
              <a:ext uri="{FF2B5EF4-FFF2-40B4-BE49-F238E27FC236}">
                <ns2:creationId id="{40617EAF-700B-4478-A088-040F9610DA53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2001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3F7EE375-6CCA-4BC3-AEF7-E84AB9EB5A35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70 分鐘</a:t>
            </a:r>
          </a:p>
        </p:txBody>
      </p:sp>
      <p:sp>
        <p:nvSpPr>
          <p:cNvPr id="24" name="">
            <a:extLst>
              <a:ext uri="{FF2B5EF4-FFF2-40B4-BE49-F238E27FC236}">
                <ns2:creationId id="{C050D67A-B434-4DD1-9ACB-BCFCABEEC047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這堂課的核心：讓 pipeline 不只會跑，還能安全、可觀察、可除錯。</a:t>
            </a:r>
          </a:p>
        </p:txBody>
      </p:sp>
      <p:sp>
        <p:nvSpPr>
          <p:cNvPr id="25" name="">
            <a:extLst>
              <a:ext uri="{FF2B5EF4-FFF2-40B4-BE49-F238E27FC236}">
                <ns2:creationId id="{656FC704-572D-4031-864C-42228818663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FB5CC257-D9F9-43ED-812E-704FE8536AD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27" name="">
            <a:extLst>
              <a:ext uri="{FF2B5EF4-FFF2-40B4-BE49-F238E27FC236}">
                <ns2:creationId id="{738B3EC4-EEA8-4922-A600-72A32903244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ns3:creationId val="1282865361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59A57F4-A5CD-4479-959D-FD0FC744081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ADVANCED TOOLKIT</a:t>
            </a:r>
          </a:p>
        </p:txBody>
      </p:sp>
      <p:sp>
        <p:nvSpPr>
          <p:cNvPr id="2" name="">
            <a:extLst>
              <a:ext uri="{FF2B5EF4-FFF2-40B4-BE49-F238E27FC236}">
                <ns2:creationId id="{9A1BE359-C670-4725-981D-62FD2314378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真實專案會用到的六個工具</a:t>
            </a:r>
          </a:p>
        </p:txBody>
      </p:sp>
      <p:sp>
        <p:nvSpPr>
          <p:cNvPr id="3" name="">
            <a:extLst>
              <a:ext uri="{FF2B5EF4-FFF2-40B4-BE49-F238E27FC236}">
                <ns2:creationId id="{82B908CD-A702-406C-967B-CC00B05C8A29}"/>
              </a:ext>
            </a:extLst>
          </p:cNvPr>
          <p:cNvSpPr>
            <a:spLocks noGrp="1"/>
          </p:cNvSpPr>
          <p:nvPr/>
        </p:nvSpPr>
        <p:spPr>
          <a:xfrm>
            <a:off x="1219200" y="1676400"/>
            <a:ext cx="4267200" cy="1390650"/>
          </a:xfrm>
          <a:prstGeom prst="roundRect">
            <a:avLst>
              <a:gd name="adj" fmla="val 8219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D217A4C8-DF9F-469F-8DC6-1E46AEF87237}"/>
              </a:ext>
            </a:extLst>
          </p:cNvPr>
          <p:cNvSpPr>
            <a:spLocks noGrp="1"/>
          </p:cNvSpPr>
          <p:nvPr/>
        </p:nvSpPr>
        <p:spPr>
          <a:xfrm>
            <a:off x="1447800" y="18669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</a:t>
            </a:r>
          </a:p>
        </p:txBody>
      </p:sp>
      <p:sp>
        <p:nvSpPr>
          <p:cNvPr id="5" name="">
            <a:extLst>
              <a:ext uri="{FF2B5EF4-FFF2-40B4-BE49-F238E27FC236}">
                <ns2:creationId id="{4DEC6A96-82CD-4684-945C-1D8D2948E667}"/>
              </a:ext>
            </a:extLst>
          </p:cNvPr>
          <p:cNvSpPr>
            <a:spLocks noGrp="1"/>
          </p:cNvSpPr>
          <p:nvPr/>
        </p:nvSpPr>
        <p:spPr>
          <a:xfrm>
            <a:off x="1447800" y="2419350"/>
            <a:ext cx="3810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重複使用設定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IMAGE_NAME、PYTHON_VERSION</a:t>
            </a:r>
          </a:p>
        </p:txBody>
      </p:sp>
      <p:sp>
        <p:nvSpPr>
          <p:cNvPr id="6" name="">
            <a:extLst>
              <a:ext uri="{FF2B5EF4-FFF2-40B4-BE49-F238E27FC236}">
                <ns2:creationId id="{1A58D077-0F95-405D-8D8E-F60AE576C39C}"/>
              </a:ext>
            </a:extLst>
          </p:cNvPr>
          <p:cNvSpPr>
            <a:spLocks noGrp="1"/>
          </p:cNvSpPr>
          <p:nvPr/>
        </p:nvSpPr>
        <p:spPr>
          <a:xfrm>
            <a:off x="6705600" y="1676400"/>
            <a:ext cx="4267200" cy="1390650"/>
          </a:xfrm>
          <a:prstGeom prst="roundRect">
            <a:avLst>
              <a:gd name="adj" fmla="val 8219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782ADC7D-6634-4BF1-A385-F43D5AFA20D9}"/>
              </a:ext>
            </a:extLst>
          </p:cNvPr>
          <p:cNvSpPr>
            <a:spLocks noGrp="1"/>
          </p:cNvSpPr>
          <p:nvPr/>
        </p:nvSpPr>
        <p:spPr>
          <a:xfrm>
            <a:off x="6934200" y="18669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secrets</a:t>
            </a:r>
          </a:p>
        </p:txBody>
      </p:sp>
      <p:sp>
        <p:nvSpPr>
          <p:cNvPr id="8" name="">
            <a:extLst>
              <a:ext uri="{FF2B5EF4-FFF2-40B4-BE49-F238E27FC236}">
                <ns2:creationId id="{BB8B6AD4-2536-49DE-B51A-6CB658B9A88C}"/>
              </a:ext>
            </a:extLst>
          </p:cNvPr>
          <p:cNvSpPr>
            <a:spLocks noGrp="1"/>
          </p:cNvSpPr>
          <p:nvPr/>
        </p:nvSpPr>
        <p:spPr>
          <a:xfrm>
            <a:off x="6934200" y="2419350"/>
            <a:ext cx="3810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安全保存機密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Hub token</a:t>
            </a:r>
          </a:p>
        </p:txBody>
      </p:sp>
      <p:sp>
        <p:nvSpPr>
          <p:cNvPr id="9" name="">
            <a:extLst>
              <a:ext uri="{FF2B5EF4-FFF2-40B4-BE49-F238E27FC236}">
                <ns2:creationId id="{5E594B5C-E2BD-43DB-AADB-A06A846BE602}"/>
              </a:ext>
            </a:extLst>
          </p:cNvPr>
          <p:cNvSpPr>
            <a:spLocks noGrp="1"/>
          </p:cNvSpPr>
          <p:nvPr/>
        </p:nvSpPr>
        <p:spPr>
          <a:xfrm>
            <a:off x="1219200" y="3714750"/>
            <a:ext cx="4267200" cy="1390650"/>
          </a:xfrm>
          <a:prstGeom prst="roundRect">
            <a:avLst>
              <a:gd name="adj" fmla="val 8219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E45CCD41-54AB-4E39-AC74-7E3B3CFB036C}"/>
              </a:ext>
            </a:extLst>
          </p:cNvPr>
          <p:cNvSpPr>
            <a:spLocks noGrp="1"/>
          </p:cNvSpPr>
          <p:nvPr/>
        </p:nvSpPr>
        <p:spPr>
          <a:xfrm>
            <a:off x="1447800" y="390525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if / needs</a:t>
            </a:r>
          </a:p>
        </p:txBody>
      </p:sp>
      <p:sp>
        <p:nvSpPr>
          <p:cNvPr id="11" name="">
            <a:extLst>
              <a:ext uri="{FF2B5EF4-FFF2-40B4-BE49-F238E27FC236}">
                <ns2:creationId id="{1DD7F0FB-C53E-4297-A81F-BE40DF12AFDF}"/>
              </a:ext>
            </a:extLst>
          </p:cNvPr>
          <p:cNvSpPr>
            <a:spLocks noGrp="1"/>
          </p:cNvSpPr>
          <p:nvPr/>
        </p:nvSpPr>
        <p:spPr>
          <a:xfrm>
            <a:off x="1447800" y="4457700"/>
            <a:ext cx="3810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控制何時跑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建立 job 依賴</a:t>
            </a:r>
          </a:p>
        </p:txBody>
      </p:sp>
      <p:sp>
        <p:nvSpPr>
          <p:cNvPr id="12" name="">
            <a:extLst>
              <a:ext uri="{FF2B5EF4-FFF2-40B4-BE49-F238E27FC236}">
                <ns2:creationId id="{E1616005-5A19-4864-AB53-C608DD01233A}"/>
              </a:ext>
            </a:extLst>
          </p:cNvPr>
          <p:cNvSpPr>
            <a:spLocks noGrp="1"/>
          </p:cNvSpPr>
          <p:nvPr/>
        </p:nvSpPr>
        <p:spPr>
          <a:xfrm>
            <a:off x="6705600" y="3714750"/>
            <a:ext cx="4267200" cy="1390650"/>
          </a:xfrm>
          <a:prstGeom prst="roundRect">
            <a:avLst>
              <a:gd name="adj" fmla="val 8219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C75F2E38-4787-4E87-A416-FC14AE692FF4}"/>
              </a:ext>
            </a:extLst>
          </p:cNvPr>
          <p:cNvSpPr>
            <a:spLocks noGrp="1"/>
          </p:cNvSpPr>
          <p:nvPr/>
        </p:nvSpPr>
        <p:spPr>
          <a:xfrm>
            <a:off x="6934200" y="390525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dispatch / matrix</a:t>
            </a:r>
          </a:p>
        </p:txBody>
      </p:sp>
      <p:sp>
        <p:nvSpPr>
          <p:cNvPr id="14" name="">
            <a:extLst>
              <a:ext uri="{FF2B5EF4-FFF2-40B4-BE49-F238E27FC236}">
                <ns2:creationId id="{99534D04-385D-4559-8F02-809996F1FCA4}"/>
              </a:ext>
            </a:extLst>
          </p:cNvPr>
          <p:cNvSpPr>
            <a:spLocks noGrp="1"/>
          </p:cNvSpPr>
          <p:nvPr/>
        </p:nvSpPr>
        <p:spPr>
          <a:xfrm>
            <a:off x="6934200" y="4457700"/>
            <a:ext cx="3810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手動觸發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多版本測試</a:t>
            </a:r>
          </a:p>
        </p:txBody>
      </p:sp>
      <p:sp>
        <p:nvSpPr>
          <p:cNvPr id="15" name="">
            <a:extLst>
              <a:ext uri="{FF2B5EF4-FFF2-40B4-BE49-F238E27FC236}">
                <ns2:creationId id="{517E11D9-1693-4FF9-A9CA-CFA9F334BB3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F006CC3F-1C82-4236-A6FD-ADA33749E1B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7" name="">
            <a:extLst>
              <a:ext uri="{FF2B5EF4-FFF2-40B4-BE49-F238E27FC236}">
                <ns2:creationId id="{3935F5D4-AB8D-477B-90EC-15E04FED3E9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ns3:creationId val="1340273961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22B05AB-5020-41AD-AD10-837E6787561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ENV LEVELS</a:t>
            </a:r>
          </a:p>
        </p:txBody>
      </p:sp>
      <p:sp>
        <p:nvSpPr>
          <p:cNvPr id="2" name="">
            <a:extLst>
              <a:ext uri="{FF2B5EF4-FFF2-40B4-BE49-F238E27FC236}">
                <ns2:creationId id="{50154A64-728F-42E1-9BA4-31CA01F718F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環境變數有三個層級</a:t>
            </a:r>
          </a:p>
        </p:txBody>
      </p:sp>
      <p:sp>
        <p:nvSpPr>
          <p:cNvPr id="3" name="">
            <a:extLst>
              <a:ext uri="{FF2B5EF4-FFF2-40B4-BE49-F238E27FC236}">
                <ns2:creationId id="{E34769BB-6AC9-44B9-9A1B-CF98E0F2154B}"/>
              </a:ext>
            </a:extLst>
          </p:cNvPr>
          <p:cNvSpPr>
            <a:spLocks noGrp="1"/>
          </p:cNvSpPr>
          <p:nvPr/>
        </p:nvSpPr>
        <p:spPr>
          <a:xfrm>
            <a:off x="723900" y="1257300"/>
            <a:ext cx="6667500" cy="4419600"/>
          </a:xfrm>
          <a:prstGeom prst="roundRect">
            <a:avLst>
              <a:gd name="adj" fmla="val 215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294EF904-51D7-435F-84D3-5C5765199463}"/>
              </a:ext>
            </a:extLst>
          </p:cNvPr>
          <p:cNvSpPr>
            <a:spLocks noGrp="1"/>
          </p:cNvSpPr>
          <p:nvPr/>
        </p:nvSpPr>
        <p:spPr>
          <a:xfrm>
            <a:off x="895350" y="14192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23295670-1612-4FA2-A450-B1B4527CC0A6}"/>
              </a:ext>
            </a:extLst>
          </p:cNvPr>
          <p:cNvSpPr>
            <a:spLocks noGrp="1"/>
          </p:cNvSpPr>
          <p:nvPr/>
        </p:nvSpPr>
        <p:spPr>
          <a:xfrm>
            <a:off x="1066800" y="14192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4C879B5F-4527-4B63-89B7-78A4F7EF348B}"/>
              </a:ext>
            </a:extLst>
          </p:cNvPr>
          <p:cNvSpPr>
            <a:spLocks noGrp="1"/>
          </p:cNvSpPr>
          <p:nvPr/>
        </p:nvSpPr>
        <p:spPr>
          <a:xfrm>
            <a:off x="1238250" y="14192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E54EEF2-3645-448C-869F-32F018CE6FE9}"/>
              </a:ext>
            </a:extLst>
          </p:cNvPr>
          <p:cNvSpPr>
            <a:spLocks noGrp="1"/>
          </p:cNvSpPr>
          <p:nvPr/>
        </p:nvSpPr>
        <p:spPr>
          <a:xfrm>
            <a:off x="933450" y="1676400"/>
            <a:ext cx="6248400" cy="386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env: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IMAGE_NAME: my-flask-app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PYTHON_VERSION: '3.11'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build: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env: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FLASK_ENV: testing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- name: 顯示環境變數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run: |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  echo "Image: ${{ env.IMAGE_NAME }}"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  echo "Python: ${{ env.PYTHON_VERSION }}"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  echo "Flask: $FLASK_ENV"</a:t>
            </a:r>
          </a:p>
        </p:txBody>
      </p:sp>
      <p:sp>
        <p:nvSpPr>
          <p:cNvPr id="8" name="">
            <a:extLst>
              <a:ext uri="{FF2B5EF4-FFF2-40B4-BE49-F238E27FC236}">
                <ns2:creationId id="{169094A5-52DB-46EB-8598-B5ADC7DAEF0F}"/>
              </a:ext>
            </a:extLst>
          </p:cNvPr>
          <p:cNvSpPr>
            <a:spLocks noGrp="1"/>
          </p:cNvSpPr>
          <p:nvPr/>
        </p:nvSpPr>
        <p:spPr>
          <a:xfrm>
            <a:off x="7981950" y="1619250"/>
            <a:ext cx="2857500" cy="781050"/>
          </a:xfrm>
          <a:prstGeom prst="roundRect">
            <a:avLst>
              <a:gd name="adj" fmla="val 1463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CB2103C1-70E6-4811-A36E-64F63D28639B}"/>
              </a:ext>
            </a:extLst>
          </p:cNvPr>
          <p:cNvSpPr>
            <a:spLocks noGrp="1"/>
          </p:cNvSpPr>
          <p:nvPr/>
        </p:nvSpPr>
        <p:spPr>
          <a:xfrm>
            <a:off x="8210550" y="18097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Workflow</a:t>
            </a:r>
          </a:p>
        </p:txBody>
      </p:sp>
      <p:sp>
        <p:nvSpPr>
          <p:cNvPr id="10" name="">
            <a:extLst>
              <a:ext uri="{FF2B5EF4-FFF2-40B4-BE49-F238E27FC236}">
                <ns2:creationId id="{B55E3FFD-098E-40B2-A0F8-B07F6EE6944A}"/>
              </a:ext>
            </a:extLst>
          </p:cNvPr>
          <p:cNvSpPr>
            <a:spLocks noGrp="1"/>
          </p:cNvSpPr>
          <p:nvPr/>
        </p:nvSpPr>
        <p:spPr>
          <a:xfrm>
            <a:off x="8210550" y="2114550"/>
            <a:ext cx="2400300" cy="9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3676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所有 job 都能用</a:t>
            </a:r>
          </a:p>
        </p:txBody>
      </p:sp>
      <p:sp>
        <p:nvSpPr>
          <p:cNvPr id="11" name="">
            <a:extLst>
              <a:ext uri="{FF2B5EF4-FFF2-40B4-BE49-F238E27FC236}">
                <ns2:creationId id="{0B8DB305-43C6-41CA-B012-0C92C4960A3E}"/>
              </a:ext>
            </a:extLst>
          </p:cNvPr>
          <p:cNvSpPr>
            <a:spLocks noGrp="1"/>
          </p:cNvSpPr>
          <p:nvPr/>
        </p:nvSpPr>
        <p:spPr>
          <a:xfrm>
            <a:off x="7981950" y="2686050"/>
            <a:ext cx="2857500" cy="781050"/>
          </a:xfrm>
          <a:prstGeom prst="roundRect">
            <a:avLst>
              <a:gd name="adj" fmla="val 1463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6A7DB2D6-8290-4555-A007-31EF3070740F}"/>
              </a:ext>
            </a:extLst>
          </p:cNvPr>
          <p:cNvSpPr>
            <a:spLocks noGrp="1"/>
          </p:cNvSpPr>
          <p:nvPr/>
        </p:nvSpPr>
        <p:spPr>
          <a:xfrm>
            <a:off x="8210550" y="28765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Job</a:t>
            </a:r>
          </a:p>
        </p:txBody>
      </p:sp>
      <p:sp>
        <p:nvSpPr>
          <p:cNvPr id="13" name="">
            <a:extLst>
              <a:ext uri="{FF2B5EF4-FFF2-40B4-BE49-F238E27FC236}">
                <ns2:creationId id="{BC3D60EF-9A17-45D1-B78B-318EC4D4B43F}"/>
              </a:ext>
            </a:extLst>
          </p:cNvPr>
          <p:cNvSpPr>
            <a:spLocks noGrp="1"/>
          </p:cNvSpPr>
          <p:nvPr/>
        </p:nvSpPr>
        <p:spPr>
          <a:xfrm>
            <a:off x="8210550" y="3181350"/>
            <a:ext cx="2400300" cy="9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3676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只有這個 job 能用</a:t>
            </a:r>
          </a:p>
        </p:txBody>
      </p:sp>
      <p:sp>
        <p:nvSpPr>
          <p:cNvPr id="14" name="">
            <a:extLst>
              <a:ext uri="{FF2B5EF4-FFF2-40B4-BE49-F238E27FC236}">
                <ns2:creationId id="{0BA44B79-39A0-421A-B580-9A0FB987EB62}"/>
              </a:ext>
            </a:extLst>
          </p:cNvPr>
          <p:cNvSpPr>
            <a:spLocks noGrp="1"/>
          </p:cNvSpPr>
          <p:nvPr/>
        </p:nvSpPr>
        <p:spPr>
          <a:xfrm>
            <a:off x="7981950" y="3752850"/>
            <a:ext cx="2857500" cy="781050"/>
          </a:xfrm>
          <a:prstGeom prst="roundRect">
            <a:avLst>
              <a:gd name="adj" fmla="val 1463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9648D0BE-FDCA-41CE-8170-BE879DECDEE3}"/>
              </a:ext>
            </a:extLst>
          </p:cNvPr>
          <p:cNvSpPr>
            <a:spLocks noGrp="1"/>
          </p:cNvSpPr>
          <p:nvPr/>
        </p:nvSpPr>
        <p:spPr>
          <a:xfrm>
            <a:off x="8210550" y="39433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Step</a:t>
            </a:r>
          </a:p>
        </p:txBody>
      </p:sp>
      <p:sp>
        <p:nvSpPr>
          <p:cNvPr id="16" name="">
            <a:extLst>
              <a:ext uri="{FF2B5EF4-FFF2-40B4-BE49-F238E27FC236}">
                <ns2:creationId id="{EFA26DB6-33F2-4C39-AEAF-DA2FD44244A5}"/>
              </a:ext>
            </a:extLst>
          </p:cNvPr>
          <p:cNvSpPr>
            <a:spLocks noGrp="1"/>
          </p:cNvSpPr>
          <p:nvPr/>
        </p:nvSpPr>
        <p:spPr>
          <a:xfrm>
            <a:off x="8210550" y="4248150"/>
            <a:ext cx="2400300" cy="9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3676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只有這個 step 能用</a:t>
            </a:r>
          </a:p>
        </p:txBody>
      </p:sp>
      <p:sp>
        <p:nvSpPr>
          <p:cNvPr id="17" name="">
            <a:extLst>
              <a:ext uri="{FF2B5EF4-FFF2-40B4-BE49-F238E27FC236}">
                <ns2:creationId id="{73EBAB3E-2ED8-47F7-A917-36727061200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525BED68-6F1A-475A-BB84-CF93983FD3D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9" name="">
            <a:extLst>
              <a:ext uri="{FF2B5EF4-FFF2-40B4-BE49-F238E27FC236}">
                <ns2:creationId id="{60B7234D-FA37-4D52-B147-EC9469F5780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ns3:creationId val="1737420999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D465BD1-A232-4BEE-B649-4B31BFC6885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SECRETS</a:t>
            </a:r>
          </a:p>
        </p:txBody>
      </p:sp>
      <p:sp>
        <p:nvSpPr>
          <p:cNvPr id="2" name="">
            <a:extLst>
              <a:ext uri="{FF2B5EF4-FFF2-40B4-BE49-F238E27FC236}">
                <ns2:creationId id="{3D651C12-4B47-4614-8AC2-2E557118135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密碼和 token 不寫進 repo</a:t>
            </a:r>
          </a:p>
        </p:txBody>
      </p:sp>
      <p:sp>
        <p:nvSpPr>
          <p:cNvPr id="3" name="">
            <a:extLst>
              <a:ext uri="{FF2B5EF4-FFF2-40B4-BE49-F238E27FC236}">
                <ns2:creationId id="{91290E94-2C36-4B6C-87D0-BD819DD8E777}"/>
              </a:ext>
            </a:extLst>
          </p:cNvPr>
          <p:cNvSpPr>
            <a:spLocks noGrp="1"/>
          </p:cNvSpPr>
          <p:nvPr/>
        </p:nvSpPr>
        <p:spPr>
          <a:xfrm>
            <a:off x="9906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63A9277-0DA4-4730-A66B-C334CE671777}"/>
              </a:ext>
            </a:extLst>
          </p:cNvPr>
          <p:cNvSpPr>
            <a:spLocks noGrp="1"/>
          </p:cNvSpPr>
          <p:nvPr/>
        </p:nvSpPr>
        <p:spPr>
          <a:xfrm>
            <a:off x="12192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839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DOCKERHUB_USERNAME</a:t>
            </a:r>
          </a:p>
        </p:txBody>
      </p:sp>
      <p:sp>
        <p:nvSpPr>
          <p:cNvPr id="5" name="">
            <a:extLst>
              <a:ext uri="{FF2B5EF4-FFF2-40B4-BE49-F238E27FC236}">
                <ns2:creationId id="{890506F4-BABD-4314-B6DA-040A4983AC95}"/>
              </a:ext>
            </a:extLst>
          </p:cNvPr>
          <p:cNvSpPr>
            <a:spLocks noGrp="1"/>
          </p:cNvSpPr>
          <p:nvPr/>
        </p:nvSpPr>
        <p:spPr>
          <a:xfrm>
            <a:off x="12192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Hub 帳號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放在 GitHub repository secret</a:t>
            </a:r>
          </a:p>
        </p:txBody>
      </p:sp>
      <p:sp>
        <p:nvSpPr>
          <p:cNvPr id="6" name="">
            <a:extLst>
              <a:ext uri="{FF2B5EF4-FFF2-40B4-BE49-F238E27FC236}">
                <ns2:creationId id="{F26C4DFE-2AA1-4F2F-A98E-81804E63D40E}"/>
              </a:ext>
            </a:extLst>
          </p:cNvPr>
          <p:cNvSpPr>
            <a:spLocks noGrp="1"/>
          </p:cNvSpPr>
          <p:nvPr/>
        </p:nvSpPr>
        <p:spPr>
          <a:xfrm>
            <a:off x="47244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860B76EC-AFB9-4397-8BDA-CFBDE25A78A6}"/>
              </a:ext>
            </a:extLst>
          </p:cNvPr>
          <p:cNvSpPr>
            <a:spLocks noGrp="1"/>
          </p:cNvSpPr>
          <p:nvPr/>
        </p:nvSpPr>
        <p:spPr>
          <a:xfrm>
            <a:off x="49530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91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DOCKERHUB_TOKEN</a:t>
            </a:r>
          </a:p>
        </p:txBody>
      </p:sp>
      <p:sp>
        <p:nvSpPr>
          <p:cNvPr id="8" name="">
            <a:extLst>
              <a:ext uri="{FF2B5EF4-FFF2-40B4-BE49-F238E27FC236}">
                <ns2:creationId id="{0D8283D0-82E2-47DD-9556-B88A57D2D180}"/>
              </a:ext>
            </a:extLst>
          </p:cNvPr>
          <p:cNvSpPr>
            <a:spLocks noGrp="1"/>
          </p:cNvSpPr>
          <p:nvPr/>
        </p:nvSpPr>
        <p:spPr>
          <a:xfrm>
            <a:off x="49530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Hub Access Token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只在 workflow 執行時讀取</a:t>
            </a:r>
          </a:p>
        </p:txBody>
      </p:sp>
      <p:sp>
        <p:nvSpPr>
          <p:cNvPr id="9" name="">
            <a:extLst>
              <a:ext uri="{FF2B5EF4-FFF2-40B4-BE49-F238E27FC236}">
                <ns2:creationId id="{A03491BC-3A8D-4016-BF96-40C3FECE7AED}"/>
              </a:ext>
            </a:extLst>
          </p:cNvPr>
          <p:cNvSpPr>
            <a:spLocks noGrp="1"/>
          </p:cNvSpPr>
          <p:nvPr/>
        </p:nvSpPr>
        <p:spPr>
          <a:xfrm>
            <a:off x="84582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C2DDF618-00A0-4AB7-A4F1-B3EE59DA3EF8}"/>
              </a:ext>
            </a:extLst>
          </p:cNvPr>
          <p:cNvSpPr>
            <a:spLocks noGrp="1"/>
          </p:cNvSpPr>
          <p:nvPr/>
        </p:nvSpPr>
        <p:spPr>
          <a:xfrm>
            <a:off x="86868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使用方式</a:t>
            </a:r>
          </a:p>
        </p:txBody>
      </p:sp>
      <p:sp>
        <p:nvSpPr>
          <p:cNvPr id="11" name="">
            <a:extLst>
              <a:ext uri="{FF2B5EF4-FFF2-40B4-BE49-F238E27FC236}">
                <ns2:creationId id="{2F9722CF-2C47-4183-9846-C4AD80CA53BE}"/>
              </a:ext>
            </a:extLst>
          </p:cNvPr>
          <p:cNvSpPr>
            <a:spLocks noGrp="1"/>
          </p:cNvSpPr>
          <p:nvPr/>
        </p:nvSpPr>
        <p:spPr>
          <a:xfrm>
            <a:off x="86868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7187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username: ${{ secrets.DOCKERHUB_USERNAME }}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password: ${{ secrets.DOCKERHUB_TOKEN }}</a:t>
            </a:r>
          </a:p>
        </p:txBody>
      </p:sp>
      <p:sp>
        <p:nvSpPr>
          <p:cNvPr id="12" name="">
            <a:extLst>
              <a:ext uri="{FF2B5EF4-FFF2-40B4-BE49-F238E27FC236}">
                <ns2:creationId id="{1FA90910-C656-41D7-A61E-17B0F8754C93}"/>
              </a:ext>
            </a:extLst>
          </p:cNvPr>
          <p:cNvSpPr>
            <a:spLocks noGrp="1"/>
          </p:cNvSpPr>
          <p:nvPr/>
        </p:nvSpPr>
        <p:spPr>
          <a:xfrm>
            <a:off x="1600200" y="5029200"/>
            <a:ext cx="899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安全原則：env 放非機密設定；secrets 放密碼、token、API key。</a:t>
            </a:r>
          </a:p>
        </p:txBody>
      </p:sp>
      <p:sp>
        <p:nvSpPr>
          <p:cNvPr id="13" name="">
            <a:extLst>
              <a:ext uri="{FF2B5EF4-FFF2-40B4-BE49-F238E27FC236}">
                <ns2:creationId id="{7F60EE74-66A2-4401-AA9F-E0B8CDC7ECB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7263DF78-1EB7-4596-8998-7A582A96F56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>
              <a:ext uri="{FF2B5EF4-FFF2-40B4-BE49-F238E27FC236}">
                <ns2:creationId id="{7B54E529-320C-4E7F-9E29-55331C307F2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ns3:creationId val="911044411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BE9C10D-0B56-4356-9486-1C31DEE9D04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GITHUB CONTEXT</a:t>
            </a:r>
          </a:p>
        </p:txBody>
      </p:sp>
      <p:sp>
        <p:nvSpPr>
          <p:cNvPr id="2" name="">
            <a:extLst>
              <a:ext uri="{FF2B5EF4-FFF2-40B4-BE49-F238E27FC236}">
                <ns2:creationId id="{4BA69CD2-3F4D-45E2-86E2-7E571DB7810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workflow 可以讀到這次觸發事件的資訊</a:t>
            </a:r>
          </a:p>
        </p:txBody>
      </p:sp>
      <p:sp>
        <p:nvSpPr>
          <p:cNvPr id="3" name="">
            <a:extLst>
              <a:ext uri="{FF2B5EF4-FFF2-40B4-BE49-F238E27FC236}">
                <ns2:creationId id="{52581D8D-02F2-40B9-815D-3909FD503B54}"/>
              </a:ext>
            </a:extLst>
          </p:cNvPr>
          <p:cNvSpPr>
            <a:spLocks noGrp="1"/>
          </p:cNvSpPr>
          <p:nvPr/>
        </p:nvSpPr>
        <p:spPr>
          <a:xfrm>
            <a:off x="781050" y="1390650"/>
            <a:ext cx="6762750" cy="3714750"/>
          </a:xfrm>
          <a:prstGeom prst="roundRect">
            <a:avLst>
              <a:gd name="adj" fmla="val 25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36C46A36-D9C4-43EB-A8FB-C3ED28342DAF}"/>
              </a:ext>
            </a:extLst>
          </p:cNvPr>
          <p:cNvSpPr>
            <a:spLocks noGrp="1"/>
          </p:cNvSpPr>
          <p:nvPr/>
        </p:nvSpPr>
        <p:spPr>
          <a:xfrm>
            <a:off x="952500" y="1552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F6BFFDD-2622-45D2-A97D-4DCB15E4F17D}"/>
              </a:ext>
            </a:extLst>
          </p:cNvPr>
          <p:cNvSpPr>
            <a:spLocks noGrp="1"/>
          </p:cNvSpPr>
          <p:nvPr/>
        </p:nvSpPr>
        <p:spPr>
          <a:xfrm>
            <a:off x="1123950" y="1552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ED2A4243-B381-4F6C-B7F0-AB9057CC2EEC}"/>
              </a:ext>
            </a:extLst>
          </p:cNvPr>
          <p:cNvSpPr>
            <a:spLocks noGrp="1"/>
          </p:cNvSpPr>
          <p:nvPr/>
        </p:nvSpPr>
        <p:spPr>
          <a:xfrm>
            <a:off x="1295400" y="1552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5D707A6-059C-4D81-8070-14316A24D428}"/>
              </a:ext>
            </a:extLst>
          </p:cNvPr>
          <p:cNvSpPr>
            <a:spLocks noGrp="1"/>
          </p:cNvSpPr>
          <p:nvPr/>
        </p:nvSpPr>
        <p:spPr>
          <a:xfrm>
            <a:off x="990600" y="1809750"/>
            <a:ext cx="6343650" cy="3162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顯示 GitHub 事件資訊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run: |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"event: ${{ github.event_name }}"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"branch: ${{ github.ref }}"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rPr sz="1200">
                <a:solidFill>
                  <a:srgbClr val="F1F5F9"/>
                </a:solidFill>
              </a:rPr>
              <a:t>    echo "sha: ${{ github.sha }}"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"actor: ${{ github.actor }}"</a:t>
            </a:r>
          </a:p>
        </p:txBody>
      </p:sp>
      <p:sp>
        <p:nvSpPr>
          <p:cNvPr id="8" name="">
            <a:extLst>
              <a:ext uri="{FF2B5EF4-FFF2-40B4-BE49-F238E27FC236}">
                <ns2:creationId id="{9988E654-FEF1-4265-B6BC-E5C11DFCDB47}"/>
              </a:ext>
            </a:extLst>
          </p:cNvPr>
          <p:cNvSpPr>
            <a:spLocks noGrp="1"/>
          </p:cNvSpPr>
          <p:nvPr/>
        </p:nvSpPr>
        <p:spPr>
          <a:xfrm>
            <a:off x="8096250" y="2057400"/>
            <a:ext cx="2895600" cy="1809750"/>
          </a:xfrm>
          <a:prstGeom prst="roundRect">
            <a:avLst>
              <a:gd name="adj" fmla="val 6316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D35B0F40-DB8F-4FAE-B6BF-5F6CCA3639DA}"/>
              </a:ext>
            </a:extLst>
          </p:cNvPr>
          <p:cNvSpPr>
            <a:spLocks noGrp="1"/>
          </p:cNvSpPr>
          <p:nvPr/>
        </p:nvSpPr>
        <p:spPr>
          <a:xfrm>
            <a:off x="8324850" y="2247900"/>
            <a:ext cx="2438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常用欄位</a:t>
            </a:r>
          </a:p>
        </p:txBody>
      </p:sp>
      <p:sp>
        <p:nvSpPr>
          <p:cNvPr id="10" name="">
            <a:extLst>
              <a:ext uri="{FF2B5EF4-FFF2-40B4-BE49-F238E27FC236}">
                <ns2:creationId id="{B500DEDD-7F7A-42D2-B3CF-3B4A50C5C000}"/>
              </a:ext>
            </a:extLst>
          </p:cNvPr>
          <p:cNvSpPr>
            <a:spLocks noGrp="1"/>
          </p:cNvSpPr>
          <p:nvPr/>
        </p:nvSpPr>
        <p:spPr>
          <a:xfrm>
            <a:off x="8324850" y="2781300"/>
            <a:ext cx="24384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9173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github.event_name：push / pull_request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github.ref：refs/heads/main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github.sha：commit hash</a:t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github.actor：觸發者</a:t>
            </a:r>
          </a:p>
        </p:txBody>
      </p:sp>
      <p:sp>
        <p:nvSpPr>
          <p:cNvPr id="11" name="">
            <a:extLst>
              <a:ext uri="{FF2B5EF4-FFF2-40B4-BE49-F238E27FC236}">
                <ns2:creationId id="{3D05AEB5-4AED-4AB4-8976-23FE464CB78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A53A02CD-37AD-4763-A84B-9AB413BFB24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>
              <a:ext uri="{FF2B5EF4-FFF2-40B4-BE49-F238E27FC236}">
                <ns2:creationId id="{221F3A2D-330B-4F01-B709-48D55C6D52F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ns3:creationId val="606437099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BE9C10D-0B56-4356-9486-1C31DEE9D04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CONDITIONAL EXECUTION</a:t>
            </a:r>
          </a:p>
        </p:txBody>
      </p:sp>
      <p:sp>
        <p:nvSpPr>
          <p:cNvPr id="2" name="">
            <a:extLst>
              <a:ext uri="{FF2B5EF4-FFF2-40B4-BE49-F238E27FC236}">
                <ns2:creationId id="{4BA69CD2-3F4D-45E2-86E2-7E571DB7810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用 if 控制 step 或 job 何時執行</a:t>
            </a:r>
          </a:p>
        </p:txBody>
      </p:sp>
      <p:sp>
        <p:nvSpPr>
          <p:cNvPr id="3" name="">
            <a:extLst>
              <a:ext uri="{FF2B5EF4-FFF2-40B4-BE49-F238E27FC236}">
                <ns2:creationId id="{52581D8D-02F2-40B9-815D-3909FD503B54}"/>
              </a:ext>
            </a:extLst>
          </p:cNvPr>
          <p:cNvSpPr>
            <a:spLocks noGrp="1"/>
          </p:cNvSpPr>
          <p:nvPr/>
        </p:nvSpPr>
        <p:spPr>
          <a:xfrm>
            <a:off x="781050" y="1390650"/>
            <a:ext cx="6762750" cy="3714750"/>
          </a:xfrm>
          <a:prstGeom prst="roundRect">
            <a:avLst>
              <a:gd name="adj" fmla="val 25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36C46A36-D9C4-43EB-A8FB-C3ED28342DAF}"/>
              </a:ext>
            </a:extLst>
          </p:cNvPr>
          <p:cNvSpPr>
            <a:spLocks noGrp="1"/>
          </p:cNvSpPr>
          <p:nvPr/>
        </p:nvSpPr>
        <p:spPr>
          <a:xfrm>
            <a:off x="952500" y="1552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F6BFFDD-2622-45D2-A97D-4DCB15E4F17D}"/>
              </a:ext>
            </a:extLst>
          </p:cNvPr>
          <p:cNvSpPr>
            <a:spLocks noGrp="1"/>
          </p:cNvSpPr>
          <p:nvPr/>
        </p:nvSpPr>
        <p:spPr>
          <a:xfrm>
            <a:off x="1123950" y="1552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ED2A4243-B381-4F6C-B7F0-AB9057CC2EEC}"/>
              </a:ext>
            </a:extLst>
          </p:cNvPr>
          <p:cNvSpPr>
            <a:spLocks noGrp="1"/>
          </p:cNvSpPr>
          <p:nvPr/>
        </p:nvSpPr>
        <p:spPr>
          <a:xfrm>
            <a:off x="1295400" y="1552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5D707A6-059C-4D81-8070-14316A24D428}"/>
              </a:ext>
            </a:extLst>
          </p:cNvPr>
          <p:cNvSpPr>
            <a:spLocks noGrp="1"/>
          </p:cNvSpPr>
          <p:nvPr/>
        </p:nvSpPr>
        <p:spPr>
          <a:xfrm>
            <a:off x="990600" y="1809750"/>
            <a:ext cx="6343650" cy="3162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steps: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- name: 只在 main 分支執行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if: github.ref == 'refs/heads/main'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run: echo "This is main branch"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- name: 只在 PR 時執行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if: github.event_name == 'pull_request'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run: echo "This is a pull request"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- name: 前一步失敗才執行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if: failure()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run: echo "Something went wrong!"</a:t>
            </a:r>
          </a:p>
        </p:txBody>
      </p:sp>
      <p:sp>
        <p:nvSpPr>
          <p:cNvPr id="8" name="">
            <a:extLst>
              <a:ext uri="{FF2B5EF4-FFF2-40B4-BE49-F238E27FC236}">
                <ns2:creationId id="{9988E654-FEF1-4265-B6BC-E5C11DFCDB47}"/>
              </a:ext>
            </a:extLst>
          </p:cNvPr>
          <p:cNvSpPr>
            <a:spLocks noGrp="1"/>
          </p:cNvSpPr>
          <p:nvPr/>
        </p:nvSpPr>
        <p:spPr>
          <a:xfrm>
            <a:off x="8096250" y="2057400"/>
            <a:ext cx="2895600" cy="1809750"/>
          </a:xfrm>
          <a:prstGeom prst="roundRect">
            <a:avLst>
              <a:gd name="adj" fmla="val 6316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D35B0F40-DB8F-4FAE-B6BF-5F6CCA3639DA}"/>
              </a:ext>
            </a:extLst>
          </p:cNvPr>
          <p:cNvSpPr>
            <a:spLocks noGrp="1"/>
          </p:cNvSpPr>
          <p:nvPr/>
        </p:nvSpPr>
        <p:spPr>
          <a:xfrm>
            <a:off x="8324850" y="2247900"/>
            <a:ext cx="2438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使用情境</a:t>
            </a:r>
          </a:p>
        </p:txBody>
      </p:sp>
      <p:sp>
        <p:nvSpPr>
          <p:cNvPr id="10" name="">
            <a:extLst>
              <a:ext uri="{FF2B5EF4-FFF2-40B4-BE49-F238E27FC236}">
                <ns2:creationId id="{B500DEDD-7F7A-42D2-B3CF-3B4A50C5C000}"/>
              </a:ext>
            </a:extLst>
          </p:cNvPr>
          <p:cNvSpPr>
            <a:spLocks noGrp="1"/>
          </p:cNvSpPr>
          <p:nvPr/>
        </p:nvSpPr>
        <p:spPr>
          <a:xfrm>
            <a:off x="8324850" y="2781300"/>
            <a:ext cx="24384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8246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PR 只跑測試。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main push 才 build / push。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失敗時才輸出 logs 或診斷資訊。</a:t>
            </a:r>
          </a:p>
        </p:txBody>
      </p:sp>
      <p:sp>
        <p:nvSpPr>
          <p:cNvPr id="11" name="">
            <a:extLst>
              <a:ext uri="{FF2B5EF4-FFF2-40B4-BE49-F238E27FC236}">
                <ns2:creationId id="{3D05AEB5-4AED-4AB4-8976-23FE464CB78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A53A02CD-37AD-4763-A84B-9AB413BFB24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>
              <a:ext uri="{FF2B5EF4-FFF2-40B4-BE49-F238E27FC236}">
                <ns2:creationId id="{221F3A2D-330B-4F01-B709-48D55C6D52F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ns3:creationId val="606437099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5A51A6C-B985-4386-9365-1878935D7DE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JOB DEPENDENCIES</a:t>
            </a:r>
          </a:p>
        </p:txBody>
      </p:sp>
      <p:sp>
        <p:nvSpPr>
          <p:cNvPr id="2" name="">
            <a:extLst>
              <a:ext uri="{FF2B5EF4-FFF2-40B4-BE49-F238E27FC236}">
                <ns2:creationId id="{CFF95952-0EDA-49DD-A71A-BBF9B57C515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needs 建立 Job 依賴</a:t>
            </a:r>
          </a:p>
        </p:txBody>
      </p:sp>
      <p:sp>
        <p:nvSpPr>
          <p:cNvPr id="3" name="">
            <a:extLst>
              <a:ext uri="{FF2B5EF4-FFF2-40B4-BE49-F238E27FC236}">
                <ns2:creationId id="{7CE061B4-4363-4003-8001-2DB1AADD5CA5}"/>
              </a:ext>
            </a:extLst>
          </p:cNvPr>
          <p:cNvSpPr>
            <a:spLocks noGrp="1"/>
          </p:cNvSpPr>
          <p:nvPr/>
        </p:nvSpPr>
        <p:spPr>
          <a:xfrm>
            <a:off x="1619250" y="2266950"/>
            <a:ext cx="2095500" cy="1257300"/>
          </a:xfrm>
          <a:prstGeom prst="roundRect">
            <a:avLst>
              <a:gd name="adj" fmla="val 9091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CB91A8DB-F9E0-436A-846C-7106D8EF5226}"/>
              </a:ext>
            </a:extLst>
          </p:cNvPr>
          <p:cNvSpPr>
            <a:spLocks noGrp="1"/>
          </p:cNvSpPr>
          <p:nvPr/>
        </p:nvSpPr>
        <p:spPr>
          <a:xfrm>
            <a:off x="1847850" y="2457450"/>
            <a:ext cx="1638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224"/>
          </a:bodyPr>
          <a:lstStyle/>
          <a:p>
            <a:pPr algn="ctr">
              <a:lnSpc>
                <a:spcPct val="106000"/>
              </a:lnSpc>
              <a:buNone/>
              <a:defRPr sz="23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test</a:t>
            </a:r>
          </a:p>
        </p:txBody>
      </p:sp>
      <p:sp>
        <p:nvSpPr>
          <p:cNvPr id="5" name="">
            <a:extLst>
              <a:ext uri="{FF2B5EF4-FFF2-40B4-BE49-F238E27FC236}">
                <ns2:creationId id="{576BF22D-368D-4429-B98D-CB7E15E7A208}"/>
              </a:ext>
            </a:extLst>
          </p:cNvPr>
          <p:cNvSpPr>
            <a:spLocks noGrp="1"/>
          </p:cNvSpPr>
          <p:nvPr/>
        </p:nvSpPr>
        <p:spPr>
          <a:xfrm>
            <a:off x="1847850" y="3009900"/>
            <a:ext cx="1638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跑測試</a:t>
            </a:r>
          </a:p>
        </p:txBody>
      </p:sp>
      <p:sp>
        <p:nvSpPr>
          <p:cNvPr id="6" name="">
            <a:extLst>
              <a:ext uri="{FF2B5EF4-FFF2-40B4-BE49-F238E27FC236}">
                <ns2:creationId id="{9AD830AD-4BE9-4FF4-B271-5B7700C29821}"/>
              </a:ext>
            </a:extLst>
          </p:cNvPr>
          <p:cNvSpPr>
            <a:spLocks noGrp="1"/>
          </p:cNvSpPr>
          <p:nvPr/>
        </p:nvSpPr>
        <p:spPr>
          <a:xfrm>
            <a:off x="4057650" y="2781300"/>
            <a:ext cx="876300" cy="3238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2737C56-DF0E-4F7C-A824-BBCCB717B62E}"/>
              </a:ext>
            </a:extLst>
          </p:cNvPr>
          <p:cNvSpPr>
            <a:spLocks noGrp="1"/>
          </p:cNvSpPr>
          <p:nvPr/>
        </p:nvSpPr>
        <p:spPr>
          <a:xfrm>
            <a:off x="5276850" y="2266950"/>
            <a:ext cx="2095500" cy="1257300"/>
          </a:xfrm>
          <a:prstGeom prst="roundRect">
            <a:avLst>
              <a:gd name="adj" fmla="val 9091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1F9A89F6-EBDE-4BCA-83F1-A831125F7EF7}"/>
              </a:ext>
            </a:extLst>
          </p:cNvPr>
          <p:cNvSpPr>
            <a:spLocks noGrp="1"/>
          </p:cNvSpPr>
          <p:nvPr/>
        </p:nvSpPr>
        <p:spPr>
          <a:xfrm>
            <a:off x="5505450" y="2457450"/>
            <a:ext cx="1638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224"/>
          </a:bodyPr>
          <a:lstStyle/>
          <a:p>
            <a:pPr algn="ctr">
              <a:lnSpc>
                <a:spcPct val="106000"/>
              </a:lnSpc>
              <a:buNone/>
              <a:defRPr sz="23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</a:t>
            </a:r>
          </a:p>
        </p:txBody>
      </p:sp>
      <p:sp>
        <p:nvSpPr>
          <p:cNvPr id="9" name="">
            <a:extLst>
              <a:ext uri="{FF2B5EF4-FFF2-40B4-BE49-F238E27FC236}">
                <ns2:creationId id="{2E9FF74B-D05E-44AA-B452-11E55B52FD4E}"/>
              </a:ext>
            </a:extLst>
          </p:cNvPr>
          <p:cNvSpPr>
            <a:spLocks noGrp="1"/>
          </p:cNvSpPr>
          <p:nvPr/>
        </p:nvSpPr>
        <p:spPr>
          <a:xfrm>
            <a:off x="5505450" y="3009900"/>
            <a:ext cx="1638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0350"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+ health check + push</a:t>
            </a:r>
          </a:p>
        </p:txBody>
      </p:sp>
      <p:sp>
        <p:nvSpPr>
          <p:cNvPr id="10" name="">
            <a:extLst>
              <a:ext uri="{FF2B5EF4-FFF2-40B4-BE49-F238E27FC236}">
                <ns2:creationId id="{7F94FE2F-3C79-4DE9-9112-50C84B6717D8}"/>
              </a:ext>
            </a:extLst>
          </p:cNvPr>
          <p:cNvSpPr>
            <a:spLocks noGrp="1"/>
          </p:cNvSpPr>
          <p:nvPr/>
        </p:nvSpPr>
        <p:spPr>
          <a:xfrm>
            <a:off x="7715250" y="2781300"/>
            <a:ext cx="876300" cy="3238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DA7A8196-F70E-4CA1-A417-A5499EC67277}"/>
              </a:ext>
            </a:extLst>
          </p:cNvPr>
          <p:cNvSpPr>
            <a:spLocks noGrp="1"/>
          </p:cNvSpPr>
          <p:nvPr/>
        </p:nvSpPr>
        <p:spPr>
          <a:xfrm>
            <a:off x="8934450" y="2266950"/>
            <a:ext cx="2095500" cy="1257300"/>
          </a:xfrm>
          <a:prstGeom prst="roundRect">
            <a:avLst>
              <a:gd name="adj" fmla="val 909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A202D1D1-E878-498C-AE37-AF41D16A51FA}"/>
              </a:ext>
            </a:extLst>
          </p:cNvPr>
          <p:cNvSpPr>
            <a:spLocks noGrp="1"/>
          </p:cNvSpPr>
          <p:nvPr/>
        </p:nvSpPr>
        <p:spPr>
          <a:xfrm>
            <a:off x="9163050" y="2457450"/>
            <a:ext cx="1638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224"/>
          </a:bodyPr>
          <a:lstStyle/>
          <a:p>
            <a:pPr algn="ctr">
              <a:lnSpc>
                <a:spcPct val="106000"/>
              </a:lnSpc>
              <a:buNone/>
              <a:defRPr sz="23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deploy</a:t>
            </a:r>
          </a:p>
        </p:txBody>
      </p:sp>
      <p:sp>
        <p:nvSpPr>
          <p:cNvPr id="13" name="">
            <a:extLst>
              <a:ext uri="{FF2B5EF4-FFF2-40B4-BE49-F238E27FC236}">
                <ns2:creationId id="{2E6FC821-8CBC-4663-9547-630311CA663E}"/>
              </a:ext>
            </a:extLst>
          </p:cNvPr>
          <p:cNvSpPr>
            <a:spLocks noGrp="1"/>
          </p:cNvSpPr>
          <p:nvPr/>
        </p:nvSpPr>
        <p:spPr>
          <a:xfrm>
            <a:off x="9163050" y="3009900"/>
            <a:ext cx="1638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898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手動部署或輸出資訊</a:t>
            </a:r>
          </a:p>
        </p:txBody>
      </p:sp>
      <p:sp>
        <p:nvSpPr>
          <p:cNvPr id="14" name="">
            <a:extLst>
              <a:ext uri="{FF2B5EF4-FFF2-40B4-BE49-F238E27FC236}">
                <ns2:creationId id="{C89A5835-CCA4-4BE8-9A42-FBDE36E7E404}"/>
              </a:ext>
            </a:extLst>
          </p:cNvPr>
          <p:cNvSpPr>
            <a:spLocks noGrp="1"/>
          </p:cNvSpPr>
          <p:nvPr/>
        </p:nvSpPr>
        <p:spPr>
          <a:xfrm>
            <a:off x="2952750" y="4572000"/>
            <a:ext cx="6286500" cy="1123950"/>
          </a:xfrm>
          <a:prstGeom prst="roundRect">
            <a:avLst>
              <a:gd name="adj" fmla="val 84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5" name="">
            <a:extLst>
              <a:ext uri="{FF2B5EF4-FFF2-40B4-BE49-F238E27FC236}">
                <ns2:creationId id="{00607124-5450-4F51-8B3B-4890B4E47F4D}"/>
              </a:ext>
            </a:extLst>
          </p:cNvPr>
          <p:cNvSpPr>
            <a:spLocks noGrp="1"/>
          </p:cNvSpPr>
          <p:nvPr/>
        </p:nvSpPr>
        <p:spPr>
          <a:xfrm>
            <a:off x="3124200" y="47339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710B9236-6530-4158-97C8-43EF970B7D10}"/>
              </a:ext>
            </a:extLst>
          </p:cNvPr>
          <p:cNvSpPr>
            <a:spLocks noGrp="1"/>
          </p:cNvSpPr>
          <p:nvPr/>
        </p:nvSpPr>
        <p:spPr>
          <a:xfrm>
            <a:off x="3295650" y="47339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DD0B7EAD-D2F8-4BC8-8181-548D380B3BF4}"/>
              </a:ext>
            </a:extLst>
          </p:cNvPr>
          <p:cNvSpPr>
            <a:spLocks noGrp="1"/>
          </p:cNvSpPr>
          <p:nvPr/>
        </p:nvSpPr>
        <p:spPr>
          <a:xfrm>
            <a:off x="3467100" y="47339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ABCEA65E-12C2-440A-8A26-2F2AEDB996CC}"/>
              </a:ext>
            </a:extLst>
          </p:cNvPr>
          <p:cNvSpPr>
            <a:spLocks noGrp="1"/>
          </p:cNvSpPr>
          <p:nvPr/>
        </p:nvSpPr>
        <p:spPr>
          <a:xfrm>
            <a:off x="3162300" y="4991100"/>
            <a:ext cx="5867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0562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docker: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needs: test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deploy: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needs: docker</a:t>
            </a:r>
          </a:p>
        </p:txBody>
      </p:sp>
      <p:sp>
        <p:nvSpPr>
          <p:cNvPr id="19" name="">
            <a:extLst>
              <a:ext uri="{FF2B5EF4-FFF2-40B4-BE49-F238E27FC236}">
                <ns2:creationId id="{42CF8500-0D37-46F6-8FB7-3EDA35816AE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1C940593-776D-4173-B58D-AA3693CAAB1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21" name="">
            <a:extLst>
              <a:ext uri="{FF2B5EF4-FFF2-40B4-BE49-F238E27FC236}">
                <ns2:creationId id="{2FBC3741-FF4E-4104-BC91-9EEC88BDE8B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ns3:creationId val="1506892438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60A2A51-8D2F-4B33-A3C1-9A191158B55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MANUAL TRIGGER</a:t>
            </a:r>
          </a:p>
        </p:txBody>
      </p:sp>
      <p:sp>
        <p:nvSpPr>
          <p:cNvPr id="2" name="">
            <a:extLst>
              <a:ext uri="{FF2B5EF4-FFF2-40B4-BE49-F238E27FC236}">
                <ns2:creationId id="{D033EE35-3C70-4909-8726-3C0666912F2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workflow_dispatch：手動觸發 Pipeline</a:t>
            </a:r>
          </a:p>
        </p:txBody>
      </p:sp>
      <p:sp>
        <p:nvSpPr>
          <p:cNvPr id="3" name="">
            <a:extLst>
              <a:ext uri="{FF2B5EF4-FFF2-40B4-BE49-F238E27FC236}">
                <ns2:creationId id="{445B0D0C-2480-4FBA-98F2-1894B8AF98A3}"/>
              </a:ext>
            </a:extLst>
          </p:cNvPr>
          <p:cNvSpPr>
            <a:spLocks noGrp="1"/>
          </p:cNvSpPr>
          <p:nvPr/>
        </p:nvSpPr>
        <p:spPr>
          <a:xfrm>
            <a:off x="914400" y="1371600"/>
            <a:ext cx="5715000" cy="3429000"/>
          </a:xfrm>
          <a:prstGeom prst="roundRect">
            <a:avLst>
              <a:gd name="adj" fmla="val 277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77E25492-0BFE-4CC7-9AE3-E4BB0F054A7A}"/>
              </a:ext>
            </a:extLst>
          </p:cNvPr>
          <p:cNvSpPr>
            <a:spLocks noGrp="1"/>
          </p:cNvSpPr>
          <p:nvPr/>
        </p:nvSpPr>
        <p:spPr>
          <a:xfrm>
            <a:off x="1085850" y="15335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95EA741-9928-40EE-97D7-69B3D2741369}"/>
              </a:ext>
            </a:extLst>
          </p:cNvPr>
          <p:cNvSpPr>
            <a:spLocks noGrp="1"/>
          </p:cNvSpPr>
          <p:nvPr/>
        </p:nvSpPr>
        <p:spPr>
          <a:xfrm>
            <a:off x="1257300" y="15335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C3079F8-41D5-48B2-9906-62940633B742}"/>
              </a:ext>
            </a:extLst>
          </p:cNvPr>
          <p:cNvSpPr>
            <a:spLocks noGrp="1"/>
          </p:cNvSpPr>
          <p:nvPr/>
        </p:nvSpPr>
        <p:spPr>
          <a:xfrm>
            <a:off x="1428750" y="15335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27F9895-4ECD-40B0-9936-A0D32BE50DE1}"/>
              </a:ext>
            </a:extLst>
          </p:cNvPr>
          <p:cNvSpPr>
            <a:spLocks noGrp="1"/>
          </p:cNvSpPr>
          <p:nvPr/>
        </p:nvSpPr>
        <p:spPr>
          <a:xfrm>
            <a:off x="1123950" y="1790700"/>
            <a:ext cx="5295900" cy="2876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on: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workflow_dispatch: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inputs: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environment: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description: 'Deploy environment'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required: true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default: 'staging'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type: choice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options: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  - staging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  - production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image_tag: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description: 'Docker image tag'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required: true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default: 'latest'</a:t>
            </a:r>
          </a:p>
        </p:txBody>
      </p:sp>
      <p:sp>
        <p:nvSpPr>
          <p:cNvPr id="8" name="">
            <a:extLst>
              <a:ext uri="{FF2B5EF4-FFF2-40B4-BE49-F238E27FC236}">
                <ns2:creationId id="{FD69AD85-10EA-43AB-9975-AA8F624D9EC8}"/>
              </a:ext>
            </a:extLst>
          </p:cNvPr>
          <p:cNvSpPr>
            <a:spLocks noGrp="1"/>
          </p:cNvSpPr>
          <p:nvPr/>
        </p:nvSpPr>
        <p:spPr>
          <a:xfrm>
            <a:off x="7524750" y="1943100"/>
            <a:ext cx="3143250" cy="1714500"/>
          </a:xfrm>
          <a:prstGeom prst="roundRect">
            <a:avLst>
              <a:gd name="adj" fmla="val 666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41BF2C72-F2B8-4DAB-A4A2-6B0189505E84}"/>
              </a:ext>
            </a:extLst>
          </p:cNvPr>
          <p:cNvSpPr>
            <a:spLocks noGrp="1"/>
          </p:cNvSpPr>
          <p:nvPr/>
        </p:nvSpPr>
        <p:spPr>
          <a:xfrm>
            <a:off x="7753350" y="21336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什麼時候需要？</a:t>
            </a:r>
          </a:p>
        </p:txBody>
      </p:sp>
      <p:sp>
        <p:nvSpPr>
          <p:cNvPr id="10" name="">
            <a:extLst>
              <a:ext uri="{FF2B5EF4-FFF2-40B4-BE49-F238E27FC236}">
                <ns2:creationId id="{6E33DDA6-8EA9-4B6C-8164-A525037AF4E7}"/>
              </a:ext>
            </a:extLst>
          </p:cNvPr>
          <p:cNvSpPr>
            <a:spLocks noGrp="1"/>
          </p:cNvSpPr>
          <p:nvPr/>
        </p:nvSpPr>
        <p:spPr>
          <a:xfrm>
            <a:off x="7753350" y="2552700"/>
            <a:ext cx="26860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202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部署通常不一定每次 push 都要做。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手動觸發可以選擇環境與 image tag。</a:t>
            </a:r>
          </a:p>
        </p:txBody>
      </p:sp>
      <p:sp>
        <p:nvSpPr>
          <p:cNvPr id="11" name="">
            <a:extLst>
              <a:ext uri="{FF2B5EF4-FFF2-40B4-BE49-F238E27FC236}">
                <ns2:creationId id="{85F70D86-11D3-411C-B4DE-53A16DB22F77}"/>
              </a:ext>
            </a:extLst>
          </p:cNvPr>
          <p:cNvSpPr>
            <a:spLocks noGrp="1"/>
          </p:cNvSpPr>
          <p:nvPr/>
        </p:nvSpPr>
        <p:spPr>
          <a:xfrm>
            <a:off x="2057400" y="5295900"/>
            <a:ext cx="8077200" cy="438150"/>
          </a:xfrm>
          <a:prstGeom prst="roundRect">
            <a:avLst>
              <a:gd name="adj" fmla="val 2173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64D7FDD1-5978-4E6E-A1D1-2F9AC2A60D3B}"/>
              </a:ext>
            </a:extLst>
          </p:cNvPr>
          <p:cNvSpPr>
            <a:spLocks noGrp="1"/>
          </p:cNvSpPr>
          <p:nvPr/>
        </p:nvSpPr>
        <p:spPr>
          <a:xfrm>
            <a:off x="2381250" y="5429250"/>
            <a:ext cx="742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754"/>
          </a:bodyPr>
          <a:lstStyle/>
          <a:p>
            <a:pPr algn="ctr">
              <a:lnSpc>
                <a:spcPct val="106000"/>
              </a:lnSpc>
              <a:buNone/>
              <a:defRPr sz="142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Actions 頁面會出現 Run workflow 按鈕，可以帶參數執行。</a:t>
            </a:r>
          </a:p>
        </p:txBody>
      </p:sp>
      <p:sp>
        <p:nvSpPr>
          <p:cNvPr id="13" name="">
            <a:extLst>
              <a:ext uri="{FF2B5EF4-FFF2-40B4-BE49-F238E27FC236}">
                <ns2:creationId id="{99BD9A9D-65BD-42F8-9934-C42BFCAC119E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DC8EABFC-1DBC-488D-9EB6-968B55ED54A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>
              <a:ext uri="{FF2B5EF4-FFF2-40B4-BE49-F238E27FC236}">
                <ns2:creationId id="{838A1030-3BEB-4840-B70E-D30CA099A45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ns3:creationId val="1725203703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D465BD1-A232-4BEE-B649-4B31BFC6885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SAFETY CONTROLS</a:t>
            </a:r>
          </a:p>
        </p:txBody>
      </p:sp>
      <p:sp>
        <p:nvSpPr>
          <p:cNvPr id="2" name="">
            <a:extLst>
              <a:ext uri="{FF2B5EF4-FFF2-40B4-BE49-F238E27FC236}">
                <ns2:creationId id="{3D651C12-4B47-4614-8AC2-2E557118135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permissions 與 concurrency</a:t>
            </a:r>
          </a:p>
        </p:txBody>
      </p:sp>
      <p:sp>
        <p:nvSpPr>
          <p:cNvPr id="3" name="">
            <a:extLst>
              <a:ext uri="{FF2B5EF4-FFF2-40B4-BE49-F238E27FC236}">
                <ns2:creationId id="{91290E94-2C36-4B6C-87D0-BD819DD8E777}"/>
              </a:ext>
            </a:extLst>
          </p:cNvPr>
          <p:cNvSpPr>
            <a:spLocks noGrp="1"/>
          </p:cNvSpPr>
          <p:nvPr/>
        </p:nvSpPr>
        <p:spPr>
          <a:xfrm>
            <a:off x="9906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63A9277-0DA4-4730-A66B-C334CE671777}"/>
              </a:ext>
            </a:extLst>
          </p:cNvPr>
          <p:cNvSpPr>
            <a:spLocks noGrp="1"/>
          </p:cNvSpPr>
          <p:nvPr/>
        </p:nvSpPr>
        <p:spPr>
          <a:xfrm>
            <a:off x="12192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permissions</a:t>
            </a:r>
          </a:p>
        </p:txBody>
      </p:sp>
      <p:sp>
        <p:nvSpPr>
          <p:cNvPr id="5" name="">
            <a:extLst>
              <a:ext uri="{FF2B5EF4-FFF2-40B4-BE49-F238E27FC236}">
                <ns2:creationId id="{890506F4-BABD-4314-B6DA-040A4983AC95}"/>
              </a:ext>
            </a:extLst>
          </p:cNvPr>
          <p:cNvSpPr>
            <a:spLocks noGrp="1"/>
          </p:cNvSpPr>
          <p:nvPr/>
        </p:nvSpPr>
        <p:spPr>
          <a:xfrm>
            <a:off x="12192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明確限制 GITHUB_TOKEN 權限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例如：contents: read</a:t>
            </a:r>
          </a:p>
        </p:txBody>
      </p:sp>
      <p:sp>
        <p:nvSpPr>
          <p:cNvPr id="6" name="">
            <a:extLst>
              <a:ext uri="{FF2B5EF4-FFF2-40B4-BE49-F238E27FC236}">
                <ns2:creationId id="{F26C4DFE-2AA1-4F2F-A98E-81804E63D40E}"/>
              </a:ext>
            </a:extLst>
          </p:cNvPr>
          <p:cNvSpPr>
            <a:spLocks noGrp="1"/>
          </p:cNvSpPr>
          <p:nvPr/>
        </p:nvSpPr>
        <p:spPr>
          <a:xfrm>
            <a:off x="47244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860B76EC-AFB9-4397-8BDA-CFBDE25A78A6}"/>
              </a:ext>
            </a:extLst>
          </p:cNvPr>
          <p:cNvSpPr>
            <a:spLocks noGrp="1"/>
          </p:cNvSpPr>
          <p:nvPr/>
        </p:nvSpPr>
        <p:spPr>
          <a:xfrm>
            <a:off x="49530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concurrency</a:t>
            </a:r>
          </a:p>
        </p:txBody>
      </p:sp>
      <p:sp>
        <p:nvSpPr>
          <p:cNvPr id="8" name="">
            <a:extLst>
              <a:ext uri="{FF2B5EF4-FFF2-40B4-BE49-F238E27FC236}">
                <ns2:creationId id="{0D8283D0-82E2-47DD-9556-B88A57D2D180}"/>
              </a:ext>
            </a:extLst>
          </p:cNvPr>
          <p:cNvSpPr>
            <a:spLocks noGrp="1"/>
          </p:cNvSpPr>
          <p:nvPr/>
        </p:nvSpPr>
        <p:spPr>
          <a:xfrm>
            <a:off x="49530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同一分支只保留最新 workflow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避免舊部署晚到覆蓋新版</a:t>
            </a:r>
          </a:p>
        </p:txBody>
      </p:sp>
      <p:sp>
        <p:nvSpPr>
          <p:cNvPr id="9" name="">
            <a:extLst>
              <a:ext uri="{FF2B5EF4-FFF2-40B4-BE49-F238E27FC236}">
                <ns2:creationId id="{A03491BC-3A8D-4016-BF96-40C3FECE7AED}"/>
              </a:ext>
            </a:extLst>
          </p:cNvPr>
          <p:cNvSpPr>
            <a:spLocks noGrp="1"/>
          </p:cNvSpPr>
          <p:nvPr/>
        </p:nvSpPr>
        <p:spPr>
          <a:xfrm>
            <a:off x="84582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C2DDF618-00A0-4AB7-A4F1-B3EE59DA3EF8}"/>
              </a:ext>
            </a:extLst>
          </p:cNvPr>
          <p:cNvSpPr>
            <a:spLocks noGrp="1"/>
          </p:cNvSpPr>
          <p:nvPr/>
        </p:nvSpPr>
        <p:spPr>
          <a:xfrm>
            <a:off x="86868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建議設定</a:t>
            </a:r>
          </a:p>
        </p:txBody>
      </p:sp>
      <p:sp>
        <p:nvSpPr>
          <p:cNvPr id="11" name="">
            <a:extLst>
              <a:ext uri="{FF2B5EF4-FFF2-40B4-BE49-F238E27FC236}">
                <ns2:creationId id="{2F9722CF-2C47-4183-9846-C4AD80CA53BE}"/>
              </a:ext>
            </a:extLst>
          </p:cNvPr>
          <p:cNvSpPr>
            <a:spLocks noGrp="1"/>
          </p:cNvSpPr>
          <p:nvPr/>
        </p:nvSpPr>
        <p:spPr>
          <a:xfrm>
            <a:off x="86868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4322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permissions: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  contents: read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/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concurrency: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  group: cicd-${{ github.ref }}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  cancel-in-progress: true</a:t>
            </a:r>
          </a:p>
        </p:txBody>
      </p:sp>
      <p:sp>
        <p:nvSpPr>
          <p:cNvPr id="12" name="">
            <a:extLst>
              <a:ext uri="{FF2B5EF4-FFF2-40B4-BE49-F238E27FC236}">
                <ns2:creationId id="{1FA90910-C656-41D7-A61E-17B0F8754C93}"/>
              </a:ext>
            </a:extLst>
          </p:cNvPr>
          <p:cNvSpPr>
            <a:spLocks noGrp="1"/>
          </p:cNvSpPr>
          <p:nvPr/>
        </p:nvSpPr>
        <p:spPr>
          <a:xfrm>
            <a:off x="1600200" y="5029200"/>
            <a:ext cx="899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把權限和併發寫清楚，pipeline 才比較像 production workflow。</a:t>
            </a:r>
          </a:p>
        </p:txBody>
      </p:sp>
      <p:sp>
        <p:nvSpPr>
          <p:cNvPr id="13" name="">
            <a:extLst>
              <a:ext uri="{FF2B5EF4-FFF2-40B4-BE49-F238E27FC236}">
                <ns2:creationId id="{7F60EE74-66A2-4401-AA9F-E0B8CDC7ECB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7263DF78-1EB7-4596-8998-7A582A96F56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>
              <a:ext uri="{FF2B5EF4-FFF2-40B4-BE49-F238E27FC236}">
                <ns2:creationId id="{7B54E529-320C-4E7F-9E29-55331C307F2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ns3:creationId val="911044411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550EA79-7737-44A9-99D5-FFE3A30FC32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CAPSTONE TARGET</a:t>
            </a:r>
          </a:p>
        </p:txBody>
      </p:sp>
      <p:sp>
        <p:nvSpPr>
          <p:cNvPr id="2" name="">
            <a:extLst>
              <a:ext uri="{FF2B5EF4-FFF2-40B4-BE49-F238E27FC236}">
                <ns2:creationId id="{9B6BFF46-4995-47CF-ACD8-50A2C18B1FF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完整 Flask CI/CD Pipeline 目標</a:t>
            </a:r>
          </a:p>
        </p:txBody>
      </p:sp>
      <p:sp>
        <p:nvSpPr>
          <p:cNvPr id="3" name="">
            <a:extLst>
              <a:ext uri="{FF2B5EF4-FFF2-40B4-BE49-F238E27FC236}">
                <ns2:creationId id="{0290A3DE-8873-4DDA-BC9A-FE7301C38422}"/>
              </a:ext>
            </a:extLst>
          </p:cNvPr>
          <p:cNvSpPr>
            <a:spLocks noGrp="1"/>
          </p:cNvSpPr>
          <p:nvPr/>
        </p:nvSpPr>
        <p:spPr>
          <a:xfrm>
            <a:off x="66675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E6B009F-D7A1-4244-8183-9D432E8CE330}"/>
              </a:ext>
            </a:extLst>
          </p:cNvPr>
          <p:cNvSpPr>
            <a:spLocks noGrp="1"/>
          </p:cNvSpPr>
          <p:nvPr/>
        </p:nvSpPr>
        <p:spPr>
          <a:xfrm>
            <a:off x="83820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Push</a:t>
            </a:r>
          </a:p>
        </p:txBody>
      </p:sp>
      <p:sp>
        <p:nvSpPr>
          <p:cNvPr id="5" name="">
            <a:extLst>
              <a:ext uri="{FF2B5EF4-FFF2-40B4-BE49-F238E27FC236}">
                <ns2:creationId id="{7ED78E24-71C2-47C5-B63B-AA361212C326}"/>
              </a:ext>
            </a:extLst>
          </p:cNvPr>
          <p:cNvSpPr>
            <a:spLocks noGrp="1"/>
          </p:cNvSpPr>
          <p:nvPr/>
        </p:nvSpPr>
        <p:spPr>
          <a:xfrm>
            <a:off x="83820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推程式碼</a:t>
            </a:r>
          </a:p>
        </p:txBody>
      </p:sp>
      <p:sp>
        <p:nvSpPr>
          <p:cNvPr id="6" name="">
            <a:extLst>
              <a:ext uri="{FF2B5EF4-FFF2-40B4-BE49-F238E27FC236}">
                <ns2:creationId id="{28562411-2F2E-4F7F-B5B4-53905B8F3354}"/>
              </a:ext>
            </a:extLst>
          </p:cNvPr>
          <p:cNvSpPr>
            <a:spLocks noGrp="1"/>
          </p:cNvSpPr>
          <p:nvPr/>
        </p:nvSpPr>
        <p:spPr>
          <a:xfrm>
            <a:off x="2533650" y="2781300"/>
            <a:ext cx="5143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CF8C9EA-E7EA-4CB4-88C9-06665E821D04}"/>
              </a:ext>
            </a:extLst>
          </p:cNvPr>
          <p:cNvSpPr>
            <a:spLocks noGrp="1"/>
          </p:cNvSpPr>
          <p:nvPr/>
        </p:nvSpPr>
        <p:spPr>
          <a:xfrm>
            <a:off x="293370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5D836CD8-9FE8-4461-ACDA-B105768B6043}"/>
              </a:ext>
            </a:extLst>
          </p:cNvPr>
          <p:cNvSpPr>
            <a:spLocks noGrp="1"/>
          </p:cNvSpPr>
          <p:nvPr/>
        </p:nvSpPr>
        <p:spPr>
          <a:xfrm>
            <a:off x="310515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Test</a:t>
            </a:r>
          </a:p>
        </p:txBody>
      </p:sp>
      <p:sp>
        <p:nvSpPr>
          <p:cNvPr id="9" name="">
            <a:extLst>
              <a:ext uri="{FF2B5EF4-FFF2-40B4-BE49-F238E27FC236}">
                <ns2:creationId id="{D8D1655D-7610-4EFD-B700-211FCDA07686}"/>
              </a:ext>
            </a:extLst>
          </p:cNvPr>
          <p:cNvSpPr>
            <a:spLocks noGrp="1"/>
          </p:cNvSpPr>
          <p:nvPr/>
        </p:nvSpPr>
        <p:spPr>
          <a:xfrm>
            <a:off x="310515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自動測試</a:t>
            </a:r>
          </a:p>
        </p:txBody>
      </p:sp>
      <p:sp>
        <p:nvSpPr>
          <p:cNvPr id="10" name="">
            <a:extLst>
              <a:ext uri="{FF2B5EF4-FFF2-40B4-BE49-F238E27FC236}">
                <ns2:creationId id="{1BA431D3-83C9-4CE3-9388-6726EA27A052}"/>
              </a:ext>
            </a:extLst>
          </p:cNvPr>
          <p:cNvSpPr>
            <a:spLocks noGrp="1"/>
          </p:cNvSpPr>
          <p:nvPr/>
        </p:nvSpPr>
        <p:spPr>
          <a:xfrm>
            <a:off x="4800600" y="2781300"/>
            <a:ext cx="5143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726264F6-950B-462E-B672-22C9E35CFF31}"/>
              </a:ext>
            </a:extLst>
          </p:cNvPr>
          <p:cNvSpPr>
            <a:spLocks noGrp="1"/>
          </p:cNvSpPr>
          <p:nvPr/>
        </p:nvSpPr>
        <p:spPr>
          <a:xfrm>
            <a:off x="520065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950D961D-B81C-47BB-8E22-5B1DF1415937}"/>
              </a:ext>
            </a:extLst>
          </p:cNvPr>
          <p:cNvSpPr>
            <a:spLocks noGrp="1"/>
          </p:cNvSpPr>
          <p:nvPr/>
        </p:nvSpPr>
        <p:spPr>
          <a:xfrm>
            <a:off x="537210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Build</a:t>
            </a:r>
          </a:p>
        </p:txBody>
      </p:sp>
      <p:sp>
        <p:nvSpPr>
          <p:cNvPr id="13" name="">
            <a:extLst>
              <a:ext uri="{FF2B5EF4-FFF2-40B4-BE49-F238E27FC236}">
                <ns2:creationId id="{62698839-6192-4E18-B548-BC8E923171D7}"/>
              </a:ext>
            </a:extLst>
          </p:cNvPr>
          <p:cNvSpPr>
            <a:spLocks noGrp="1"/>
          </p:cNvSpPr>
          <p:nvPr/>
        </p:nvSpPr>
        <p:spPr>
          <a:xfrm>
            <a:off x="537210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建構 Image</a:t>
            </a:r>
          </a:p>
        </p:txBody>
      </p:sp>
      <p:sp>
        <p:nvSpPr>
          <p:cNvPr id="14" name="">
            <a:extLst>
              <a:ext uri="{FF2B5EF4-FFF2-40B4-BE49-F238E27FC236}">
                <ns2:creationId id="{1D812C37-9DC5-45A4-BE39-78DC3A78CEE9}"/>
              </a:ext>
            </a:extLst>
          </p:cNvPr>
          <p:cNvSpPr>
            <a:spLocks noGrp="1"/>
          </p:cNvSpPr>
          <p:nvPr/>
        </p:nvSpPr>
        <p:spPr>
          <a:xfrm>
            <a:off x="7067550" y="2781300"/>
            <a:ext cx="5143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4CF72F5F-FBAE-42DA-BEF4-9C4319E63DF3}"/>
              </a:ext>
            </a:extLst>
          </p:cNvPr>
          <p:cNvSpPr>
            <a:spLocks noGrp="1"/>
          </p:cNvSpPr>
          <p:nvPr/>
        </p:nvSpPr>
        <p:spPr>
          <a:xfrm>
            <a:off x="746760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F48F59F5-FFFD-42AF-B1E7-FD51CD1B5FA2}"/>
              </a:ext>
            </a:extLst>
          </p:cNvPr>
          <p:cNvSpPr>
            <a:spLocks noGrp="1"/>
          </p:cNvSpPr>
          <p:nvPr/>
        </p:nvSpPr>
        <p:spPr>
          <a:xfrm>
            <a:off x="763905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Health</a:t>
            </a:r>
          </a:p>
        </p:txBody>
      </p:sp>
      <p:sp>
        <p:nvSpPr>
          <p:cNvPr id="17" name="">
            <a:extLst>
              <a:ext uri="{FF2B5EF4-FFF2-40B4-BE49-F238E27FC236}">
                <ns2:creationId id="{54C13991-5F81-40C4-BE65-56A9A32CDEA7}"/>
              </a:ext>
            </a:extLst>
          </p:cNvPr>
          <p:cNvSpPr>
            <a:spLocks noGrp="1"/>
          </p:cNvSpPr>
          <p:nvPr/>
        </p:nvSpPr>
        <p:spPr>
          <a:xfrm>
            <a:off x="763905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容器健康檢查</a:t>
            </a:r>
          </a:p>
        </p:txBody>
      </p:sp>
      <p:sp>
        <p:nvSpPr>
          <p:cNvPr id="18" name="">
            <a:extLst>
              <a:ext uri="{FF2B5EF4-FFF2-40B4-BE49-F238E27FC236}">
                <ns2:creationId id="{2B6547CD-745E-405F-976B-ED9716105403}"/>
              </a:ext>
            </a:extLst>
          </p:cNvPr>
          <p:cNvSpPr>
            <a:spLocks noGrp="1"/>
          </p:cNvSpPr>
          <p:nvPr/>
        </p:nvSpPr>
        <p:spPr>
          <a:xfrm>
            <a:off x="9334500" y="2781300"/>
            <a:ext cx="5143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BA36856C-252F-44D1-86B9-0355BCA06CED}"/>
              </a:ext>
            </a:extLst>
          </p:cNvPr>
          <p:cNvSpPr>
            <a:spLocks noGrp="1"/>
          </p:cNvSpPr>
          <p:nvPr/>
        </p:nvSpPr>
        <p:spPr>
          <a:xfrm>
            <a:off x="973455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0" name="">
            <a:extLst>
              <a:ext uri="{FF2B5EF4-FFF2-40B4-BE49-F238E27FC236}">
                <ns2:creationId id="{0383A8BF-937D-4E69-AB40-E64116D02BC3}"/>
              </a:ext>
            </a:extLst>
          </p:cNvPr>
          <p:cNvSpPr>
            <a:spLocks noGrp="1"/>
          </p:cNvSpPr>
          <p:nvPr/>
        </p:nvSpPr>
        <p:spPr>
          <a:xfrm>
            <a:off x="990600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Push Image</a:t>
            </a:r>
          </a:p>
        </p:txBody>
      </p:sp>
      <p:sp>
        <p:nvSpPr>
          <p:cNvPr id="21" name="">
            <a:extLst>
              <a:ext uri="{FF2B5EF4-FFF2-40B4-BE49-F238E27FC236}">
                <ns2:creationId id="{39872D1F-4CBD-4094-9EBF-313B5808D445}"/>
              </a:ext>
            </a:extLst>
          </p:cNvPr>
          <p:cNvSpPr>
            <a:spLocks noGrp="1"/>
          </p:cNvSpPr>
          <p:nvPr/>
        </p:nvSpPr>
        <p:spPr>
          <a:xfrm>
            <a:off x="990600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上傳 Docker Hub</a:t>
            </a:r>
          </a:p>
        </p:txBody>
      </p:sp>
      <p:sp>
        <p:nvSpPr>
          <p:cNvPr id="22" name="">
            <a:extLst>
              <a:ext uri="{FF2B5EF4-FFF2-40B4-BE49-F238E27FC236}">
                <ns2:creationId id="{C7A7A029-A615-407D-897D-3E7DF32648B4}"/>
              </a:ext>
            </a:extLst>
          </p:cNvPr>
          <p:cNvSpPr>
            <a:spLocks noGrp="1"/>
          </p:cNvSpPr>
          <p:nvPr/>
        </p:nvSpPr>
        <p:spPr>
          <a:xfrm>
            <a:off x="1524000" y="4781550"/>
            <a:ext cx="914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第六堂不是多一個 workflow，而是把前五堂學過的東西串成一條可靠的交付路徑。</a:t>
            </a:r>
          </a:p>
        </p:txBody>
      </p:sp>
      <p:sp>
        <p:nvSpPr>
          <p:cNvPr id="23" name="">
            <a:extLst>
              <a:ext uri="{FF2B5EF4-FFF2-40B4-BE49-F238E27FC236}">
                <ns2:creationId id="{F627DCB0-5DAB-4940-857D-DF27FCCF1B9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820DC27C-FB60-4301-A492-0A61A9D3FBF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25" name="">
            <a:extLst>
              <a:ext uri="{FF2B5EF4-FFF2-40B4-BE49-F238E27FC236}">
                <ns2:creationId id="{F6E11502-0004-4E6F-BF17-EC31F383D32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ns3:creationId val="350259297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BE99CAA-C920-44F0-A856-EE5AF1267E6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CHECKPOINTS</a:t>
            </a:r>
          </a:p>
        </p:txBody>
      </p:sp>
      <p:sp>
        <p:nvSpPr>
          <p:cNvPr id="2" name="">
            <a:extLst>
              <a:ext uri="{FF2B5EF4-FFF2-40B4-BE49-F238E27FC236}">
                <ns2:creationId id="{B6EA3E67-3670-4C2E-A954-81B7FCC175C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實作不要一次貼完整 workflow</a:t>
            </a:r>
          </a:p>
        </p:txBody>
      </p:sp>
      <p:sp>
        <p:nvSpPr>
          <p:cNvPr id="3" name="">
            <a:extLst>
              <a:ext uri="{FF2B5EF4-FFF2-40B4-BE49-F238E27FC236}">
                <ns2:creationId id="{311C542A-7AF0-4FB9-ABAD-EB308DEE7487}"/>
              </a:ext>
            </a:extLst>
          </p:cNvPr>
          <p:cNvSpPr>
            <a:spLocks noGrp="1"/>
          </p:cNvSpPr>
          <p:nvPr/>
        </p:nvSpPr>
        <p:spPr>
          <a:xfrm>
            <a:off x="838200" y="1676400"/>
            <a:ext cx="2857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C3BFFBAB-B4E4-4E84-856B-0F5D404078DC}"/>
              </a:ext>
            </a:extLst>
          </p:cNvPr>
          <p:cNvSpPr>
            <a:spLocks noGrp="1"/>
          </p:cNvSpPr>
          <p:nvPr/>
        </p:nvSpPr>
        <p:spPr>
          <a:xfrm>
            <a:off x="1085850" y="1943100"/>
            <a:ext cx="419100" cy="41910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4A58D63A-4020-4508-81FC-E560B16855C4}"/>
              </a:ext>
            </a:extLst>
          </p:cNvPr>
          <p:cNvSpPr>
            <a:spLocks noGrp="1"/>
          </p:cNvSpPr>
          <p:nvPr/>
        </p:nvSpPr>
        <p:spPr>
          <a:xfrm>
            <a:off x="1085850" y="20478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</a:t>
            </a:r>
          </a:p>
        </p:txBody>
      </p:sp>
      <p:sp>
        <p:nvSpPr>
          <p:cNvPr id="6" name="">
            <a:extLst>
              <a:ext uri="{FF2B5EF4-FFF2-40B4-BE49-F238E27FC236}">
                <ns2:creationId id="{F41A8029-0E4C-49CA-86BC-10C683FA99F6}"/>
              </a:ext>
            </a:extLst>
          </p:cNvPr>
          <p:cNvSpPr>
            <a:spLocks noGrp="1"/>
          </p:cNvSpPr>
          <p:nvPr/>
        </p:nvSpPr>
        <p:spPr>
          <a:xfrm>
            <a:off x="1676400" y="19431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168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專案</a:t>
            </a:r>
          </a:p>
        </p:txBody>
      </p:sp>
      <p:sp>
        <p:nvSpPr>
          <p:cNvPr id="7" name="">
            <a:extLst>
              <a:ext uri="{FF2B5EF4-FFF2-40B4-BE49-F238E27FC236}">
                <ns2:creationId id="{A7E3A204-61E6-4CFE-B7F4-B38CFA5A9A61}"/>
              </a:ext>
            </a:extLst>
          </p:cNvPr>
          <p:cNvSpPr>
            <a:spLocks noGrp="1"/>
          </p:cNvSpPr>
          <p:nvPr/>
        </p:nvSpPr>
        <p:spPr>
          <a:xfrm>
            <a:off x="1676400" y="23241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168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本機 pytest + docker run</a:t>
            </a:r>
          </a:p>
        </p:txBody>
      </p:sp>
      <p:sp>
        <p:nvSpPr>
          <p:cNvPr id="8" name="">
            <a:extLst>
              <a:ext uri="{FF2B5EF4-FFF2-40B4-BE49-F238E27FC236}">
                <ns2:creationId id="{9AC7133B-27CB-416C-B724-38A1E962607F}"/>
              </a:ext>
            </a:extLst>
          </p:cNvPr>
          <p:cNvSpPr>
            <a:spLocks noGrp="1"/>
          </p:cNvSpPr>
          <p:nvPr/>
        </p:nvSpPr>
        <p:spPr>
          <a:xfrm>
            <a:off x="4457700" y="1676400"/>
            <a:ext cx="2857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3C9F0786-7523-4FFB-9A29-C38D94B20AEA}"/>
              </a:ext>
            </a:extLst>
          </p:cNvPr>
          <p:cNvSpPr>
            <a:spLocks noGrp="1"/>
          </p:cNvSpPr>
          <p:nvPr/>
        </p:nvSpPr>
        <p:spPr>
          <a:xfrm>
            <a:off x="4705350" y="1943100"/>
            <a:ext cx="419100" cy="41910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D5777BC8-AAFB-4C30-A2E8-925CF73E7C78}"/>
              </a:ext>
            </a:extLst>
          </p:cNvPr>
          <p:cNvSpPr>
            <a:spLocks noGrp="1"/>
          </p:cNvSpPr>
          <p:nvPr/>
        </p:nvSpPr>
        <p:spPr>
          <a:xfrm>
            <a:off x="4705350" y="20478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</a:t>
            </a:r>
          </a:p>
        </p:txBody>
      </p:sp>
      <p:sp>
        <p:nvSpPr>
          <p:cNvPr id="11" name="">
            <a:extLst>
              <a:ext uri="{FF2B5EF4-FFF2-40B4-BE49-F238E27FC236}">
                <ns2:creationId id="{D5D5D389-EC7B-4C16-ABA9-CC1E3ED0ED85}"/>
              </a:ext>
            </a:extLst>
          </p:cNvPr>
          <p:cNvSpPr>
            <a:spLocks noGrp="1"/>
          </p:cNvSpPr>
          <p:nvPr/>
        </p:nvSpPr>
        <p:spPr>
          <a:xfrm>
            <a:off x="5295900" y="19431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168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Test job</a:t>
            </a:r>
          </a:p>
        </p:txBody>
      </p:sp>
      <p:sp>
        <p:nvSpPr>
          <p:cNvPr id="12" name="">
            <a:extLst>
              <a:ext uri="{FF2B5EF4-FFF2-40B4-BE49-F238E27FC236}">
                <ns2:creationId id="{C438A614-54CB-439D-AC3B-C1C82926451B}"/>
              </a:ext>
            </a:extLst>
          </p:cNvPr>
          <p:cNvSpPr>
            <a:spLocks noGrp="1"/>
          </p:cNvSpPr>
          <p:nvPr/>
        </p:nvSpPr>
        <p:spPr>
          <a:xfrm>
            <a:off x="5295900" y="23241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956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push 後確認 Actions 綠燈</a:t>
            </a:r>
          </a:p>
        </p:txBody>
      </p:sp>
      <p:sp>
        <p:nvSpPr>
          <p:cNvPr id="13" name="">
            <a:extLst>
              <a:ext uri="{FF2B5EF4-FFF2-40B4-BE49-F238E27FC236}">
                <ns2:creationId id="{1E9063D9-4C0B-457A-9C6B-A9A65D055702}"/>
              </a:ext>
            </a:extLst>
          </p:cNvPr>
          <p:cNvSpPr>
            <a:spLocks noGrp="1"/>
          </p:cNvSpPr>
          <p:nvPr/>
        </p:nvSpPr>
        <p:spPr>
          <a:xfrm>
            <a:off x="8077200" y="1676400"/>
            <a:ext cx="2857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F05CCF99-C032-4FFB-BFFB-C213552A3512}"/>
              </a:ext>
            </a:extLst>
          </p:cNvPr>
          <p:cNvSpPr>
            <a:spLocks noGrp="1"/>
          </p:cNvSpPr>
          <p:nvPr/>
        </p:nvSpPr>
        <p:spPr>
          <a:xfrm>
            <a:off x="8324850" y="1943100"/>
            <a:ext cx="419100" cy="41910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69B0DC8E-C0F3-4038-8130-6C25D219A522}"/>
              </a:ext>
            </a:extLst>
          </p:cNvPr>
          <p:cNvSpPr>
            <a:spLocks noGrp="1"/>
          </p:cNvSpPr>
          <p:nvPr/>
        </p:nvSpPr>
        <p:spPr>
          <a:xfrm>
            <a:off x="8324850" y="20478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</a:t>
            </a:r>
          </a:p>
        </p:txBody>
      </p:sp>
      <p:sp>
        <p:nvSpPr>
          <p:cNvPr id="16" name="">
            <a:extLst>
              <a:ext uri="{FF2B5EF4-FFF2-40B4-BE49-F238E27FC236}">
                <ns2:creationId id="{2CD4FCB7-4F96-4074-BDAD-33315AFE52FB}"/>
              </a:ext>
            </a:extLst>
          </p:cNvPr>
          <p:cNvSpPr>
            <a:spLocks noGrp="1"/>
          </p:cNvSpPr>
          <p:nvPr/>
        </p:nvSpPr>
        <p:spPr>
          <a:xfrm>
            <a:off x="8915400" y="19431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168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build</a:t>
            </a:r>
          </a:p>
        </p:txBody>
      </p:sp>
      <p:sp>
        <p:nvSpPr>
          <p:cNvPr id="17" name="">
            <a:extLst>
              <a:ext uri="{FF2B5EF4-FFF2-40B4-BE49-F238E27FC236}">
                <ns2:creationId id="{A7D39B76-544E-48AE-9A69-362D7DACD91E}"/>
              </a:ext>
            </a:extLst>
          </p:cNvPr>
          <p:cNvSpPr>
            <a:spLocks noGrp="1"/>
          </p:cNvSpPr>
          <p:nvPr/>
        </p:nvSpPr>
        <p:spPr>
          <a:xfrm>
            <a:off x="8915400" y="23241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632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 build，不登入、不 push</a:t>
            </a:r>
          </a:p>
        </p:txBody>
      </p:sp>
      <p:sp>
        <p:nvSpPr>
          <p:cNvPr id="18" name="">
            <a:extLst>
              <a:ext uri="{FF2B5EF4-FFF2-40B4-BE49-F238E27FC236}">
                <ns2:creationId id="{E4333415-DECF-47DA-9D68-31AFF05CCAF7}"/>
              </a:ext>
            </a:extLst>
          </p:cNvPr>
          <p:cNvSpPr>
            <a:spLocks noGrp="1"/>
          </p:cNvSpPr>
          <p:nvPr/>
        </p:nvSpPr>
        <p:spPr>
          <a:xfrm>
            <a:off x="838200" y="3619500"/>
            <a:ext cx="2857500" cy="1352550"/>
          </a:xfrm>
          <a:prstGeom prst="roundRect">
            <a:avLst>
              <a:gd name="adj" fmla="val 8451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9" name="">
            <a:extLst>
              <a:ext uri="{FF2B5EF4-FFF2-40B4-BE49-F238E27FC236}">
                <ns2:creationId id="{6DCFC6D0-CB8B-4194-A7DC-D5DA7F43BBF3}"/>
              </a:ext>
            </a:extLst>
          </p:cNvPr>
          <p:cNvSpPr>
            <a:spLocks noGrp="1"/>
          </p:cNvSpPr>
          <p:nvPr/>
        </p:nvSpPr>
        <p:spPr>
          <a:xfrm>
            <a:off x="1085850" y="3886200"/>
            <a:ext cx="419100" cy="41910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53CAA1CA-DDF0-40EC-B089-15C30E99BD4E}"/>
              </a:ext>
            </a:extLst>
          </p:cNvPr>
          <p:cNvSpPr>
            <a:spLocks noGrp="1"/>
          </p:cNvSpPr>
          <p:nvPr/>
        </p:nvSpPr>
        <p:spPr>
          <a:xfrm>
            <a:off x="1085850" y="39909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</a:t>
            </a:r>
          </a:p>
        </p:txBody>
      </p:sp>
      <p:sp>
        <p:nvSpPr>
          <p:cNvPr id="21" name="">
            <a:extLst>
              <a:ext uri="{FF2B5EF4-FFF2-40B4-BE49-F238E27FC236}">
                <ns2:creationId id="{FCAE8222-E58F-44BC-839D-4993D66BC80D}"/>
              </a:ext>
            </a:extLst>
          </p:cNvPr>
          <p:cNvSpPr>
            <a:spLocks noGrp="1"/>
          </p:cNvSpPr>
          <p:nvPr/>
        </p:nvSpPr>
        <p:spPr>
          <a:xfrm>
            <a:off x="1676400" y="38862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168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Health check</a:t>
            </a:r>
          </a:p>
        </p:txBody>
      </p:sp>
      <p:sp>
        <p:nvSpPr>
          <p:cNvPr id="22" name="">
            <a:extLst>
              <a:ext uri="{FF2B5EF4-FFF2-40B4-BE49-F238E27FC236}">
                <ns2:creationId id="{449F4A2B-08BB-4149-9C1D-06A930CDCE6A}"/>
              </a:ext>
            </a:extLst>
          </p:cNvPr>
          <p:cNvSpPr>
            <a:spLocks noGrp="1"/>
          </p:cNvSpPr>
          <p:nvPr/>
        </p:nvSpPr>
        <p:spPr>
          <a:xfrm>
            <a:off x="1676400" y="42672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268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CI 裡 run container + curl</a:t>
            </a:r>
          </a:p>
        </p:txBody>
      </p:sp>
      <p:sp>
        <p:nvSpPr>
          <p:cNvPr id="23" name="">
            <a:extLst>
              <a:ext uri="{FF2B5EF4-FFF2-40B4-BE49-F238E27FC236}">
                <ns2:creationId id="{3407B492-B23A-41C6-A57B-D07A7416BABF}"/>
              </a:ext>
            </a:extLst>
          </p:cNvPr>
          <p:cNvSpPr>
            <a:spLocks noGrp="1"/>
          </p:cNvSpPr>
          <p:nvPr/>
        </p:nvSpPr>
        <p:spPr>
          <a:xfrm>
            <a:off x="4457700" y="3619500"/>
            <a:ext cx="2857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4" name="">
            <a:extLst>
              <a:ext uri="{FF2B5EF4-FFF2-40B4-BE49-F238E27FC236}">
                <ns2:creationId id="{D9D5B4D1-2E4E-4184-BC1D-9975372898D4}"/>
              </a:ext>
            </a:extLst>
          </p:cNvPr>
          <p:cNvSpPr>
            <a:spLocks noGrp="1"/>
          </p:cNvSpPr>
          <p:nvPr/>
        </p:nvSpPr>
        <p:spPr>
          <a:xfrm>
            <a:off x="4705350" y="3886200"/>
            <a:ext cx="419100" cy="41910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7981D178-F7B1-40FA-B2A7-B705B24831B2}"/>
              </a:ext>
            </a:extLst>
          </p:cNvPr>
          <p:cNvSpPr>
            <a:spLocks noGrp="1"/>
          </p:cNvSpPr>
          <p:nvPr/>
        </p:nvSpPr>
        <p:spPr>
          <a:xfrm>
            <a:off x="4705350" y="39909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</a:t>
            </a:r>
          </a:p>
        </p:txBody>
      </p:sp>
      <p:sp>
        <p:nvSpPr>
          <p:cNvPr id="26" name="">
            <a:extLst>
              <a:ext uri="{FF2B5EF4-FFF2-40B4-BE49-F238E27FC236}">
                <ns2:creationId id="{4F7B3690-1E6B-44B4-8E2D-1E13D1B49B4D}"/>
              </a:ext>
            </a:extLst>
          </p:cNvPr>
          <p:cNvSpPr>
            <a:spLocks noGrp="1"/>
          </p:cNvSpPr>
          <p:nvPr/>
        </p:nvSpPr>
        <p:spPr>
          <a:xfrm>
            <a:off x="5295900" y="38862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168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Hub</a:t>
            </a:r>
          </a:p>
        </p:txBody>
      </p:sp>
      <p:sp>
        <p:nvSpPr>
          <p:cNvPr id="27" name="">
            <a:extLst>
              <a:ext uri="{FF2B5EF4-FFF2-40B4-BE49-F238E27FC236}">
                <ns2:creationId id="{EB78F70D-4EF7-411C-A945-924DC393872A}"/>
              </a:ext>
            </a:extLst>
          </p:cNvPr>
          <p:cNvSpPr>
            <a:spLocks noGrp="1"/>
          </p:cNvSpPr>
          <p:nvPr/>
        </p:nvSpPr>
        <p:spPr>
          <a:xfrm>
            <a:off x="5295900" y="42672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Secrets + login + push</a:t>
            </a:r>
          </a:p>
        </p:txBody>
      </p:sp>
      <p:sp>
        <p:nvSpPr>
          <p:cNvPr id="28" name="">
            <a:extLst>
              <a:ext uri="{FF2B5EF4-FFF2-40B4-BE49-F238E27FC236}">
                <ns2:creationId id="{EDE96F73-7493-445F-B87C-DE34BEE0923C}"/>
              </a:ext>
            </a:extLst>
          </p:cNvPr>
          <p:cNvSpPr>
            <a:spLocks noGrp="1"/>
          </p:cNvSpPr>
          <p:nvPr/>
        </p:nvSpPr>
        <p:spPr>
          <a:xfrm>
            <a:off x="8077200" y="3619500"/>
            <a:ext cx="2857500" cy="1352550"/>
          </a:xfrm>
          <a:prstGeom prst="roundRect">
            <a:avLst>
              <a:gd name="adj" fmla="val 8451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9" name="">
            <a:extLst>
              <a:ext uri="{FF2B5EF4-FFF2-40B4-BE49-F238E27FC236}">
                <ns2:creationId id="{57659DED-1F61-480A-99D7-77AF0C82F311}"/>
              </a:ext>
            </a:extLst>
          </p:cNvPr>
          <p:cNvSpPr>
            <a:spLocks noGrp="1"/>
          </p:cNvSpPr>
          <p:nvPr/>
        </p:nvSpPr>
        <p:spPr>
          <a:xfrm>
            <a:off x="8324850" y="3886200"/>
            <a:ext cx="419100" cy="4191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30" name="">
            <a:extLst>
              <a:ext uri="{FF2B5EF4-FFF2-40B4-BE49-F238E27FC236}">
                <ns2:creationId id="{BC2D75DE-56C7-431C-987A-0A58A2F42B0C}"/>
              </a:ext>
            </a:extLst>
          </p:cNvPr>
          <p:cNvSpPr>
            <a:spLocks noGrp="1"/>
          </p:cNvSpPr>
          <p:nvPr/>
        </p:nvSpPr>
        <p:spPr>
          <a:xfrm>
            <a:off x="8324850" y="39909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</a:t>
            </a:r>
          </a:p>
        </p:txBody>
      </p:sp>
      <p:sp>
        <p:nvSpPr>
          <p:cNvPr id="31" name="">
            <a:extLst>
              <a:ext uri="{FF2B5EF4-FFF2-40B4-BE49-F238E27FC236}">
                <ns2:creationId id="{CDA73B10-DB29-45D5-8F51-93B816EF1137}"/>
              </a:ext>
            </a:extLst>
          </p:cNvPr>
          <p:cNvSpPr>
            <a:spLocks noGrp="1"/>
          </p:cNvSpPr>
          <p:nvPr/>
        </p:nvSpPr>
        <p:spPr>
          <a:xfrm>
            <a:off x="8915400" y="38862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168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Verify</a:t>
            </a:r>
          </a:p>
        </p:txBody>
      </p:sp>
      <p:sp>
        <p:nvSpPr>
          <p:cNvPr id="32" name="">
            <a:extLst>
              <a:ext uri="{FF2B5EF4-FFF2-40B4-BE49-F238E27FC236}">
                <ns2:creationId id="{A530A3A9-8277-4A62-98BE-0264789443F9}"/>
              </a:ext>
            </a:extLst>
          </p:cNvPr>
          <p:cNvSpPr>
            <a:spLocks noGrp="1"/>
          </p:cNvSpPr>
          <p:nvPr/>
        </p:nvSpPr>
        <p:spPr>
          <a:xfrm>
            <a:off x="8915400" y="42672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pull / run / health</a:t>
            </a:r>
          </a:p>
        </p:txBody>
      </p:sp>
      <p:sp>
        <p:nvSpPr>
          <p:cNvPr id="33" name="">
            <a:extLst>
              <a:ext uri="{FF2B5EF4-FFF2-40B4-BE49-F238E27FC236}">
                <ns2:creationId id="{2FD09210-543C-4F68-B98D-CDF412A97CBE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4" name="">
            <a:extLst>
              <a:ext uri="{FF2B5EF4-FFF2-40B4-BE49-F238E27FC236}">
                <ns2:creationId id="{AA4CE06B-0726-43E1-B00E-FF0C0BFD4DE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35" name="">
            <a:extLst>
              <a:ext uri="{FF2B5EF4-FFF2-40B4-BE49-F238E27FC236}">
                <ns2:creationId id="{FE51CACE-E9FD-417D-93D3-C65E64C5AC2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ns3:creationId val="578693508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7C5C095-6A9B-4108-AD95-09B3F8D83C5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PROJECT FILES</a:t>
            </a:r>
          </a:p>
        </p:txBody>
      </p:sp>
      <p:sp>
        <p:nvSpPr>
          <p:cNvPr id="2" name="">
            <a:extLst>
              <a:ext uri="{FF2B5EF4-FFF2-40B4-BE49-F238E27FC236}">
                <ns2:creationId id="{12567048-11E9-4E29-9EF7-A51E397C74D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專案需要這五個檔案</a:t>
            </a:r>
          </a:p>
        </p:txBody>
      </p:sp>
      <p:sp>
        <p:nvSpPr>
          <p:cNvPr id="3" name="">
            <a:extLst>
              <a:ext uri="{FF2B5EF4-FFF2-40B4-BE49-F238E27FC236}">
                <ns2:creationId id="{DB31F024-ACAF-4B9D-839A-220EAD134F0E}"/>
              </a:ext>
            </a:extLst>
          </p:cNvPr>
          <p:cNvSpPr>
            <a:spLocks noGrp="1"/>
          </p:cNvSpPr>
          <p:nvPr/>
        </p:nvSpPr>
        <p:spPr>
          <a:xfrm>
            <a:off x="704850" y="2038350"/>
            <a:ext cx="180975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F28E7AAD-EB51-463B-949D-512F19F2A553}"/>
              </a:ext>
            </a:extLst>
          </p:cNvPr>
          <p:cNvSpPr>
            <a:spLocks noGrp="1"/>
          </p:cNvSpPr>
          <p:nvPr/>
        </p:nvSpPr>
        <p:spPr>
          <a:xfrm>
            <a:off x="933450" y="2228850"/>
            <a:ext cx="1352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app.py</a:t>
            </a:r>
          </a:p>
        </p:txBody>
      </p:sp>
      <p:sp>
        <p:nvSpPr>
          <p:cNvPr id="5" name="">
            <a:extLst>
              <a:ext uri="{FF2B5EF4-FFF2-40B4-BE49-F238E27FC236}">
                <ns2:creationId id="{6F264C71-4DEB-4B4A-A432-57F9F0200E91}"/>
              </a:ext>
            </a:extLst>
          </p:cNvPr>
          <p:cNvSpPr>
            <a:spLocks noGrp="1"/>
          </p:cNvSpPr>
          <p:nvPr/>
        </p:nvSpPr>
        <p:spPr>
          <a:xfrm>
            <a:off x="933450" y="2724150"/>
            <a:ext cx="13525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API 與 /health</a:t>
            </a:r>
          </a:p>
        </p:txBody>
      </p:sp>
      <p:sp>
        <p:nvSpPr>
          <p:cNvPr id="6" name="">
            <a:extLst>
              <a:ext uri="{FF2B5EF4-FFF2-40B4-BE49-F238E27FC236}">
                <ns2:creationId id="{6DC0C4F4-1A94-4DFA-8EF3-5ECFA58A0659}"/>
              </a:ext>
            </a:extLst>
          </p:cNvPr>
          <p:cNvSpPr>
            <a:spLocks noGrp="1"/>
          </p:cNvSpPr>
          <p:nvPr/>
        </p:nvSpPr>
        <p:spPr>
          <a:xfrm>
            <a:off x="2914650" y="2038350"/>
            <a:ext cx="180975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28C95D0-29A8-49A8-9968-0FC4F46BC60A}"/>
              </a:ext>
            </a:extLst>
          </p:cNvPr>
          <p:cNvSpPr>
            <a:spLocks noGrp="1"/>
          </p:cNvSpPr>
          <p:nvPr/>
        </p:nvSpPr>
        <p:spPr>
          <a:xfrm>
            <a:off x="3143250" y="2228850"/>
            <a:ext cx="1352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test_app.py</a:t>
            </a:r>
          </a:p>
        </p:txBody>
      </p:sp>
      <p:sp>
        <p:nvSpPr>
          <p:cNvPr id="8" name="">
            <a:extLst>
              <a:ext uri="{FF2B5EF4-FFF2-40B4-BE49-F238E27FC236}">
                <ns2:creationId id="{39A4D7A4-46E9-4A98-8DAA-1E699E2D5886}"/>
              </a:ext>
            </a:extLst>
          </p:cNvPr>
          <p:cNvSpPr>
            <a:spLocks noGrp="1"/>
          </p:cNvSpPr>
          <p:nvPr/>
        </p:nvSpPr>
        <p:spPr>
          <a:xfrm>
            <a:off x="3143250" y="2724150"/>
            <a:ext cx="13525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pytest 測試</a:t>
            </a:r>
          </a:p>
        </p:txBody>
      </p:sp>
      <p:sp>
        <p:nvSpPr>
          <p:cNvPr id="9" name="">
            <a:extLst>
              <a:ext uri="{FF2B5EF4-FFF2-40B4-BE49-F238E27FC236}">
                <ns2:creationId id="{0CD925B4-D0D5-47BF-8420-49F471E94A77}"/>
              </a:ext>
            </a:extLst>
          </p:cNvPr>
          <p:cNvSpPr>
            <a:spLocks noGrp="1"/>
          </p:cNvSpPr>
          <p:nvPr/>
        </p:nvSpPr>
        <p:spPr>
          <a:xfrm>
            <a:off x="5124450" y="2038350"/>
            <a:ext cx="180975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D3B1FA55-FDB7-4D4E-A8C5-86B1F5F7A7E5}"/>
              </a:ext>
            </a:extLst>
          </p:cNvPr>
          <p:cNvSpPr>
            <a:spLocks noGrp="1"/>
          </p:cNvSpPr>
          <p:nvPr/>
        </p:nvSpPr>
        <p:spPr>
          <a:xfrm>
            <a:off x="5353050" y="2228850"/>
            <a:ext cx="1352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34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requirements.txt</a:t>
            </a:r>
          </a:p>
        </p:txBody>
      </p:sp>
      <p:sp>
        <p:nvSpPr>
          <p:cNvPr id="11" name="">
            <a:extLst>
              <a:ext uri="{FF2B5EF4-FFF2-40B4-BE49-F238E27FC236}">
                <ns2:creationId id="{6D4290AB-E7D5-4B50-BE5C-F468A755F7EE}"/>
              </a:ext>
            </a:extLst>
          </p:cNvPr>
          <p:cNvSpPr>
            <a:spLocks noGrp="1"/>
          </p:cNvSpPr>
          <p:nvPr/>
        </p:nvSpPr>
        <p:spPr>
          <a:xfrm>
            <a:off x="5353050" y="2724150"/>
            <a:ext cx="13525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/ pytest</a:t>
            </a:r>
          </a:p>
        </p:txBody>
      </p:sp>
      <p:sp>
        <p:nvSpPr>
          <p:cNvPr id="12" name="">
            <a:extLst>
              <a:ext uri="{FF2B5EF4-FFF2-40B4-BE49-F238E27FC236}">
                <ns2:creationId id="{BB41B2D3-4D14-4645-842B-09EB0B12CE06}"/>
              </a:ext>
            </a:extLst>
          </p:cNvPr>
          <p:cNvSpPr>
            <a:spLocks noGrp="1"/>
          </p:cNvSpPr>
          <p:nvPr/>
        </p:nvSpPr>
        <p:spPr>
          <a:xfrm>
            <a:off x="7334250" y="2038350"/>
            <a:ext cx="1809750" cy="1466850"/>
          </a:xfrm>
          <a:prstGeom prst="roundRect">
            <a:avLst>
              <a:gd name="adj" fmla="val 779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B159A187-1882-4536-A543-E0C8DF17D210}"/>
              </a:ext>
            </a:extLst>
          </p:cNvPr>
          <p:cNvSpPr>
            <a:spLocks noGrp="1"/>
          </p:cNvSpPr>
          <p:nvPr/>
        </p:nvSpPr>
        <p:spPr>
          <a:xfrm>
            <a:off x="7562850" y="2228850"/>
            <a:ext cx="1352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14" name="">
            <a:extLst>
              <a:ext uri="{FF2B5EF4-FFF2-40B4-BE49-F238E27FC236}">
                <ns2:creationId id="{E9B75EEF-A74A-49DC-8B4C-A79C9394613F}"/>
              </a:ext>
            </a:extLst>
          </p:cNvPr>
          <p:cNvSpPr>
            <a:spLocks noGrp="1"/>
          </p:cNvSpPr>
          <p:nvPr/>
        </p:nvSpPr>
        <p:spPr>
          <a:xfrm>
            <a:off x="7562850" y="2724150"/>
            <a:ext cx="13525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建構 Image</a:t>
            </a:r>
          </a:p>
        </p:txBody>
      </p:sp>
      <p:sp>
        <p:nvSpPr>
          <p:cNvPr id="15" name="">
            <a:extLst>
              <a:ext uri="{FF2B5EF4-FFF2-40B4-BE49-F238E27FC236}">
                <ns2:creationId id="{48F83ECB-E6BA-45B8-A985-94D00F89D64C}"/>
              </a:ext>
            </a:extLst>
          </p:cNvPr>
          <p:cNvSpPr>
            <a:spLocks noGrp="1"/>
          </p:cNvSpPr>
          <p:nvPr/>
        </p:nvSpPr>
        <p:spPr>
          <a:xfrm>
            <a:off x="9544050" y="2038350"/>
            <a:ext cx="1809750" cy="1466850"/>
          </a:xfrm>
          <a:prstGeom prst="roundRect">
            <a:avLst>
              <a:gd name="adj" fmla="val 7792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82A5F8F1-9014-4C74-857E-16378A9EA068}"/>
              </a:ext>
            </a:extLst>
          </p:cNvPr>
          <p:cNvSpPr>
            <a:spLocks noGrp="1"/>
          </p:cNvSpPr>
          <p:nvPr/>
        </p:nvSpPr>
        <p:spPr>
          <a:xfrm>
            <a:off x="9772650" y="2228850"/>
            <a:ext cx="1352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.dockerignore</a:t>
            </a:r>
          </a:p>
        </p:txBody>
      </p:sp>
      <p:sp>
        <p:nvSpPr>
          <p:cNvPr id="17" name="">
            <a:extLst>
              <a:ext uri="{FF2B5EF4-FFF2-40B4-BE49-F238E27FC236}">
                <ns2:creationId id="{505D4161-8272-4578-9DDD-CCB05CC9933A}"/>
              </a:ext>
            </a:extLst>
          </p:cNvPr>
          <p:cNvSpPr>
            <a:spLocks noGrp="1"/>
          </p:cNvSpPr>
          <p:nvPr/>
        </p:nvSpPr>
        <p:spPr>
          <a:xfrm>
            <a:off x="9772650" y="2724150"/>
            <a:ext cx="13525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排除不需要進 Image 的檔案</a:t>
            </a:r>
          </a:p>
        </p:txBody>
      </p:sp>
      <p:sp>
        <p:nvSpPr>
          <p:cNvPr id="18" name="">
            <a:extLst>
              <a:ext uri="{FF2B5EF4-FFF2-40B4-BE49-F238E27FC236}">
                <ns2:creationId id="{EA0D9A4E-3E95-4204-AFBF-447AF911FC9B}"/>
              </a:ext>
            </a:extLst>
          </p:cNvPr>
          <p:cNvSpPr>
            <a:spLocks noGrp="1"/>
          </p:cNvSpPr>
          <p:nvPr/>
        </p:nvSpPr>
        <p:spPr>
          <a:xfrm>
            <a:off x="3810000" y="4572000"/>
            <a:ext cx="4572000" cy="857250"/>
          </a:xfrm>
          <a:prstGeom prst="roundRect">
            <a:avLst>
              <a:gd name="adj" fmla="val 1111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9" name="">
            <a:extLst>
              <a:ext uri="{FF2B5EF4-FFF2-40B4-BE49-F238E27FC236}">
                <ns2:creationId id="{5ACE4117-DDF3-45B5-A0A4-91982126F9ED}"/>
              </a:ext>
            </a:extLst>
          </p:cNvPr>
          <p:cNvSpPr>
            <a:spLocks noGrp="1"/>
          </p:cNvSpPr>
          <p:nvPr/>
        </p:nvSpPr>
        <p:spPr>
          <a:xfrm>
            <a:off x="3981450" y="47339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97E541DB-7C74-4250-8DD0-F4D194AB908F}"/>
              </a:ext>
            </a:extLst>
          </p:cNvPr>
          <p:cNvSpPr>
            <a:spLocks noGrp="1"/>
          </p:cNvSpPr>
          <p:nvPr/>
        </p:nvSpPr>
        <p:spPr>
          <a:xfrm>
            <a:off x="4152900" y="47339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0DC6F0A5-94DE-4BB8-BCCC-13CBBE067BB2}"/>
              </a:ext>
            </a:extLst>
          </p:cNvPr>
          <p:cNvSpPr>
            <a:spLocks noGrp="1"/>
          </p:cNvSpPr>
          <p:nvPr/>
        </p:nvSpPr>
        <p:spPr>
          <a:xfrm>
            <a:off x="4324350" y="47339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1F512472-4491-4D1B-A89D-4144B720F129}"/>
              </a:ext>
            </a:extLst>
          </p:cNvPr>
          <p:cNvSpPr>
            <a:spLocks noGrp="1"/>
          </p:cNvSpPr>
          <p:nvPr/>
        </p:nvSpPr>
        <p:spPr>
          <a:xfrm>
            <a:off x="4019550" y="4991100"/>
            <a:ext cx="4152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128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flask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pytest</a:t>
            </a:r>
          </a:p>
        </p:txBody>
      </p:sp>
      <p:sp>
        <p:nvSpPr>
          <p:cNvPr id="23" name="">
            <a:extLst>
              <a:ext uri="{FF2B5EF4-FFF2-40B4-BE49-F238E27FC236}">
                <ns2:creationId id="{28D86B6F-7B2D-4088-ACE8-8A336330ABD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D7CB5061-64DF-4AEC-BD4A-837E33F6187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25" name="">
            <a:extLst>
              <a:ext uri="{FF2B5EF4-FFF2-40B4-BE49-F238E27FC236}">
                <ns2:creationId id="{92DDBEDA-6F66-4AE6-AD52-E185F3FCB7C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ns3:creationId val="570337447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FC027F4-39E7-47D1-80B5-028905E19DF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FLASK APP</a:t>
            </a:r>
          </a:p>
        </p:txBody>
      </p:sp>
      <p:sp>
        <p:nvSpPr>
          <p:cNvPr id="2" name="">
            <a:extLst>
              <a:ext uri="{FF2B5EF4-FFF2-40B4-BE49-F238E27FC236}">
                <ns2:creationId id="{AC804E62-D324-4A3B-821F-DE6181AF5BD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app.py：API 與健康檢查</a:t>
            </a:r>
          </a:p>
        </p:txBody>
      </p:sp>
      <p:sp>
        <p:nvSpPr>
          <p:cNvPr id="3" name="">
            <a:extLst>
              <a:ext uri="{FF2B5EF4-FFF2-40B4-BE49-F238E27FC236}">
                <ns2:creationId id="{3F273D3E-70FA-4E70-B91E-1F7D0C9BA325}"/>
              </a:ext>
            </a:extLst>
          </p:cNvPr>
          <p:cNvSpPr>
            <a:spLocks noGrp="1"/>
          </p:cNvSpPr>
          <p:nvPr/>
        </p:nvSpPr>
        <p:spPr>
          <a:xfrm>
            <a:off x="781050" y="1314450"/>
            <a:ext cx="6381750" cy="3771900"/>
          </a:xfrm>
          <a:prstGeom prst="roundRect">
            <a:avLst>
              <a:gd name="adj" fmla="val 252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DE25673B-4405-443E-9E41-7E733689226A}"/>
              </a:ext>
            </a:extLst>
          </p:cNvPr>
          <p:cNvSpPr>
            <a:spLocks noGrp="1"/>
          </p:cNvSpPr>
          <p:nvPr/>
        </p:nvSpPr>
        <p:spPr>
          <a:xfrm>
            <a:off x="952500" y="1476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F7F36D5A-4D64-4D8F-8444-38447D718500}"/>
              </a:ext>
            </a:extLst>
          </p:cNvPr>
          <p:cNvSpPr>
            <a:spLocks noGrp="1"/>
          </p:cNvSpPr>
          <p:nvPr/>
        </p:nvSpPr>
        <p:spPr>
          <a:xfrm>
            <a:off x="1123950" y="1476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0AEF2BF7-68D1-47EC-9F6F-C63C39EA642B}"/>
              </a:ext>
            </a:extLst>
          </p:cNvPr>
          <p:cNvSpPr>
            <a:spLocks noGrp="1"/>
          </p:cNvSpPr>
          <p:nvPr/>
        </p:nvSpPr>
        <p:spPr>
          <a:xfrm>
            <a:off x="1295400" y="1476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04809B1B-04DA-417E-91E6-5C22FD6D2292}"/>
              </a:ext>
            </a:extLst>
          </p:cNvPr>
          <p:cNvSpPr>
            <a:spLocks noGrp="1"/>
          </p:cNvSpPr>
          <p:nvPr/>
        </p:nvSpPr>
        <p:spPr>
          <a:xfrm>
            <a:off x="990600" y="1733550"/>
            <a:ext cx="5962650" cy="3219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@app.route("/")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return jsonify({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"message": "Hello from CI/CD!",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"version": "1.0.0"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})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@app.route("/health")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def health():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return jsonify({"status": "healthy"})</a:t>
            </a:r>
          </a:p>
        </p:txBody>
      </p:sp>
      <p:sp>
        <p:nvSpPr>
          <p:cNvPr id="8" name="">
            <a:extLst>
              <a:ext uri="{FF2B5EF4-FFF2-40B4-BE49-F238E27FC236}">
                <ns2:creationId id="{8A5CE20A-0F70-404F-A331-02A469A13230}"/>
              </a:ext>
            </a:extLst>
          </p:cNvPr>
          <p:cNvSpPr>
            <a:spLocks noGrp="1"/>
          </p:cNvSpPr>
          <p:nvPr/>
        </p:nvSpPr>
        <p:spPr>
          <a:xfrm>
            <a:off x="7886700" y="1847850"/>
            <a:ext cx="3048000" cy="1104900"/>
          </a:xfrm>
          <a:prstGeom prst="roundRect">
            <a:avLst>
              <a:gd name="adj" fmla="val 10345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877AB314-9133-46EB-A0C2-2DABC7A06333}"/>
              </a:ext>
            </a:extLst>
          </p:cNvPr>
          <p:cNvSpPr>
            <a:spLocks noGrp="1"/>
          </p:cNvSpPr>
          <p:nvPr/>
        </p:nvSpPr>
        <p:spPr>
          <a:xfrm>
            <a:off x="8115300" y="20383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/</a:t>
            </a:r>
          </a:p>
        </p:txBody>
      </p:sp>
      <p:sp>
        <p:nvSpPr>
          <p:cNvPr id="10" name="">
            <a:extLst>
              <a:ext uri="{FF2B5EF4-FFF2-40B4-BE49-F238E27FC236}">
                <ns2:creationId id="{0BB0A8D8-F879-41CC-9E0D-2D76A0BDDC81}"/>
              </a:ext>
            </a:extLst>
          </p:cNvPr>
          <p:cNvSpPr>
            <a:spLocks noGrp="1"/>
          </p:cNvSpPr>
          <p:nvPr/>
        </p:nvSpPr>
        <p:spPr>
          <a:xfrm>
            <a:off x="8115300" y="2495550"/>
            <a:ext cx="2590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645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回傳基本 API 訊息，確認應用可回應。</a:t>
            </a:r>
          </a:p>
        </p:txBody>
      </p:sp>
      <p:sp>
        <p:nvSpPr>
          <p:cNvPr id="11" name="">
            <a:extLst>
              <a:ext uri="{FF2B5EF4-FFF2-40B4-BE49-F238E27FC236}">
                <ns2:creationId id="{F92A4C45-A621-4D90-A2E1-5E7F623A4A0F}"/>
              </a:ext>
            </a:extLst>
          </p:cNvPr>
          <p:cNvSpPr>
            <a:spLocks noGrp="1"/>
          </p:cNvSpPr>
          <p:nvPr/>
        </p:nvSpPr>
        <p:spPr>
          <a:xfrm>
            <a:off x="7886700" y="3448050"/>
            <a:ext cx="3048000" cy="1104900"/>
          </a:xfrm>
          <a:prstGeom prst="roundRect">
            <a:avLst>
              <a:gd name="adj" fmla="val 10345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7F031882-BD75-4023-8932-B7FD48B95A7A}"/>
              </a:ext>
            </a:extLst>
          </p:cNvPr>
          <p:cNvSpPr>
            <a:spLocks noGrp="1"/>
          </p:cNvSpPr>
          <p:nvPr/>
        </p:nvSpPr>
        <p:spPr>
          <a:xfrm>
            <a:off x="8115300" y="36385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/health</a:t>
            </a:r>
          </a:p>
        </p:txBody>
      </p:sp>
      <p:sp>
        <p:nvSpPr>
          <p:cNvPr id="13" name="">
            <a:extLst>
              <a:ext uri="{FF2B5EF4-FFF2-40B4-BE49-F238E27FC236}">
                <ns2:creationId id="{1A2546FB-09EC-4D67-9D46-AA339CFA87C7}"/>
              </a:ext>
            </a:extLst>
          </p:cNvPr>
          <p:cNvSpPr>
            <a:spLocks noGrp="1"/>
          </p:cNvSpPr>
          <p:nvPr/>
        </p:nvSpPr>
        <p:spPr>
          <a:xfrm>
            <a:off x="8115300" y="4095750"/>
            <a:ext cx="2590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2803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讓 workflow 或部署環境用 curl 檢查服務是否健康。</a:t>
            </a:r>
          </a:p>
        </p:txBody>
      </p:sp>
      <p:sp>
        <p:nvSpPr>
          <p:cNvPr id="14" name="">
            <a:extLst>
              <a:ext uri="{FF2B5EF4-FFF2-40B4-BE49-F238E27FC236}">
                <ns2:creationId id="{BBB75589-3EA9-4D9B-9751-BF85CDD1BFA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846F7C4-45EB-4E03-B91C-1631C1B4C5D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6" name="">
            <a:extLst>
              <a:ext uri="{FF2B5EF4-FFF2-40B4-BE49-F238E27FC236}">
                <ns2:creationId id="{9750BAA0-4D23-4D89-BDFB-7F019302F6A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ns3:creationId val="1451877062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C800B0B-8758-489E-B333-74697DA5B34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FLASK TESTS</a:t>
            </a:r>
          </a:p>
        </p:txBody>
      </p:sp>
      <p:sp>
        <p:nvSpPr>
          <p:cNvPr id="2" name="">
            <a:extLst>
              <a:ext uri="{FF2B5EF4-FFF2-40B4-BE49-F238E27FC236}">
                <ns2:creationId id="{C7D7C432-806A-4CA4-8135-C7E9FA52862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test_app.py：測 API，也測函數</a:t>
            </a:r>
          </a:p>
        </p:txBody>
      </p:sp>
      <p:sp>
        <p:nvSpPr>
          <p:cNvPr id="3" name="">
            <a:extLst>
              <a:ext uri="{FF2B5EF4-FFF2-40B4-BE49-F238E27FC236}">
                <ns2:creationId id="{F5B93D2E-CAFF-42C9-B615-DDAE94D2DF65}"/>
              </a:ext>
            </a:extLst>
          </p:cNvPr>
          <p:cNvSpPr>
            <a:spLocks noGrp="1"/>
          </p:cNvSpPr>
          <p:nvPr/>
        </p:nvSpPr>
        <p:spPr>
          <a:xfrm>
            <a:off x="723900" y="1276350"/>
            <a:ext cx="6762750" cy="4457700"/>
          </a:xfrm>
          <a:prstGeom prst="roundRect">
            <a:avLst>
              <a:gd name="adj" fmla="val 213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66B7434D-7766-49BB-8919-FC0863C47907}"/>
              </a:ext>
            </a:extLst>
          </p:cNvPr>
          <p:cNvSpPr>
            <a:spLocks noGrp="1"/>
          </p:cNvSpPr>
          <p:nvPr/>
        </p:nvSpPr>
        <p:spPr>
          <a:xfrm>
            <a:off x="895350" y="14382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C20B712-67CA-42D1-A301-8A55FA40BDE5}"/>
              </a:ext>
            </a:extLst>
          </p:cNvPr>
          <p:cNvSpPr>
            <a:spLocks noGrp="1"/>
          </p:cNvSpPr>
          <p:nvPr/>
        </p:nvSpPr>
        <p:spPr>
          <a:xfrm>
            <a:off x="1066800" y="14382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7844F80-3AC8-452F-A6F6-6E9622619C89}"/>
              </a:ext>
            </a:extLst>
          </p:cNvPr>
          <p:cNvSpPr>
            <a:spLocks noGrp="1"/>
          </p:cNvSpPr>
          <p:nvPr/>
        </p:nvSpPr>
        <p:spPr>
          <a:xfrm>
            <a:off x="1238250" y="14382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7215D3BD-3AF9-4B60-999B-891460BBDC38}"/>
              </a:ext>
            </a:extLst>
          </p:cNvPr>
          <p:cNvSpPr>
            <a:spLocks noGrp="1"/>
          </p:cNvSpPr>
          <p:nvPr/>
        </p:nvSpPr>
        <p:spPr>
          <a:xfrm>
            <a:off x="933450" y="1695450"/>
            <a:ext cx="6343650" cy="390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import pytest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from app import app, add, is_positive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@pytest.fixture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def client():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app.config["TESTING"] = True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with app.test_client() as client: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yield client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def test_health(client):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response = client.get("/health")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assert response.status_code == 200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assert response.get_json()["status"] == "healthy"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rPr sz="1050">
                <a:solidFill>
                  <a:srgbClr val="F1F5F9"/>
                </a:solidFill>
              </a:rPr>
              <a:t>def test_add():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assert add(2, 3) == 5</a:t>
            </a:r>
          </a:p>
        </p:txBody>
      </p:sp>
      <p:sp>
        <p:nvSpPr>
          <p:cNvPr id="8" name="">
            <a:extLst>
              <a:ext uri="{FF2B5EF4-FFF2-40B4-BE49-F238E27FC236}">
                <ns2:creationId id="{E896B4AF-BF5F-4CB5-92A5-37F23F359BF8}"/>
              </a:ext>
            </a:extLst>
          </p:cNvPr>
          <p:cNvSpPr>
            <a:spLocks noGrp="1"/>
          </p:cNvSpPr>
          <p:nvPr/>
        </p:nvSpPr>
        <p:spPr>
          <a:xfrm>
            <a:off x="8058150" y="2133600"/>
            <a:ext cx="2857500" cy="19050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116C4244-DAF3-4B28-8B1B-1EDA033492D2}"/>
              </a:ext>
            </a:extLst>
          </p:cNvPr>
          <p:cNvSpPr>
            <a:spLocks noGrp="1"/>
          </p:cNvSpPr>
          <p:nvPr/>
        </p:nvSpPr>
        <p:spPr>
          <a:xfrm>
            <a:off x="8286750" y="23241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測試重點</a:t>
            </a:r>
          </a:p>
        </p:txBody>
      </p:sp>
      <p:sp>
        <p:nvSpPr>
          <p:cNvPr id="10" name="">
            <a:extLst>
              <a:ext uri="{FF2B5EF4-FFF2-40B4-BE49-F238E27FC236}">
                <ns2:creationId id="{F0B0714C-9642-439D-8BB7-55B468FE22D7}"/>
              </a:ext>
            </a:extLst>
          </p:cNvPr>
          <p:cNvSpPr>
            <a:spLocks noGrp="1"/>
          </p:cNvSpPr>
          <p:nvPr/>
        </p:nvSpPr>
        <p:spPr>
          <a:xfrm>
            <a:off x="8286750" y="28384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Flask test_client 不用真的開 port。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/health 回 200 才算健康。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核心函數也一起測。</a:t>
            </a:r>
          </a:p>
        </p:txBody>
      </p:sp>
      <p:sp>
        <p:nvSpPr>
          <p:cNvPr id="11" name="">
            <a:extLst>
              <a:ext uri="{FF2B5EF4-FFF2-40B4-BE49-F238E27FC236}">
                <ns2:creationId id="{D30E49B5-A3E0-4ABC-9089-65CECBCC377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4056402A-52B5-4301-AB80-BC021BE54F9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>
              <a:ext uri="{FF2B5EF4-FFF2-40B4-BE49-F238E27FC236}">
                <ns2:creationId id="{33B602D8-035D-4D26-8D31-532944F7420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ns3:creationId val="1002535832"/>
      </p:ext>
    </p:extLst>
  </p:cSld>
</p:sld>
</file>

<file path=ppt/slides/slide1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AEA63FA-1564-4E4F-B17F-B7E86EDB587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CONTAINER PACKAGING</a:t>
            </a:r>
          </a:p>
        </p:txBody>
      </p:sp>
      <p:sp>
        <p:nvSpPr>
          <p:cNvPr id="2" name="">
            <a:extLst>
              <a:ext uri="{FF2B5EF4-FFF2-40B4-BE49-F238E27FC236}">
                <ns2:creationId id="{FBB0AAC2-4A40-4347-BF4B-B16B971CAC5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 與 .dockerignore</a:t>
            </a:r>
          </a:p>
        </p:txBody>
      </p:sp>
      <p:sp>
        <p:nvSpPr>
          <p:cNvPr id="3" name="">
            <a:extLst>
              <a:ext uri="{FF2B5EF4-FFF2-40B4-BE49-F238E27FC236}">
                <ns2:creationId id="{7FC382A6-9F7B-4054-BF3F-B0FEB2245E49}"/>
              </a:ext>
            </a:extLst>
          </p:cNvPr>
          <p:cNvSpPr>
            <a:spLocks noGrp="1"/>
          </p:cNvSpPr>
          <p:nvPr/>
        </p:nvSpPr>
        <p:spPr>
          <a:xfrm>
            <a:off x="723900" y="1466850"/>
            <a:ext cx="5715000" cy="2667000"/>
          </a:xfrm>
          <a:prstGeom prst="roundRect">
            <a:avLst>
              <a:gd name="adj" fmla="val 357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F54E599C-EB19-4589-A420-B0683548EF11}"/>
              </a:ext>
            </a:extLst>
          </p:cNvPr>
          <p:cNvSpPr>
            <a:spLocks noGrp="1"/>
          </p:cNvSpPr>
          <p:nvPr/>
        </p:nvSpPr>
        <p:spPr>
          <a:xfrm>
            <a:off x="89535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ECF9AA67-2156-485A-8A28-D419C9CA9319}"/>
              </a:ext>
            </a:extLst>
          </p:cNvPr>
          <p:cNvSpPr>
            <a:spLocks noGrp="1"/>
          </p:cNvSpPr>
          <p:nvPr/>
        </p:nvSpPr>
        <p:spPr>
          <a:xfrm>
            <a:off x="106680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3C6CCE78-F9E4-4BE9-9155-D7BC23C29E6F}"/>
              </a:ext>
            </a:extLst>
          </p:cNvPr>
          <p:cNvSpPr>
            <a:spLocks noGrp="1"/>
          </p:cNvSpPr>
          <p:nvPr/>
        </p:nvSpPr>
        <p:spPr>
          <a:xfrm>
            <a:off x="123825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7ECC1B68-78CB-4A4C-B37A-82239D36EA4F}"/>
              </a:ext>
            </a:extLst>
          </p:cNvPr>
          <p:cNvSpPr>
            <a:spLocks noGrp="1"/>
          </p:cNvSpPr>
          <p:nvPr/>
        </p:nvSpPr>
        <p:spPr>
          <a:xfrm>
            <a:off x="933450" y="1885950"/>
            <a:ext cx="5295900" cy="2114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">
            <a:extLst>
              <a:ext uri="{FF2B5EF4-FFF2-40B4-BE49-F238E27FC236}">
                <ns2:creationId id="{82BFC24A-6EA6-43A7-91D5-EB501976872C}"/>
              </a:ext>
            </a:extLst>
          </p:cNvPr>
          <p:cNvSpPr>
            <a:spLocks noGrp="1"/>
          </p:cNvSpPr>
          <p:nvPr/>
        </p:nvSpPr>
        <p:spPr>
          <a:xfrm>
            <a:off x="7143750" y="1466850"/>
            <a:ext cx="3429000" cy="2667000"/>
          </a:xfrm>
          <a:prstGeom prst="roundRect">
            <a:avLst>
              <a:gd name="adj" fmla="val 357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9" name="">
            <a:extLst>
              <a:ext uri="{FF2B5EF4-FFF2-40B4-BE49-F238E27FC236}">
                <ns2:creationId id="{A4189096-F604-4FD9-B89A-6A89D0D77A83}"/>
              </a:ext>
            </a:extLst>
          </p:cNvPr>
          <p:cNvSpPr>
            <a:spLocks noGrp="1"/>
          </p:cNvSpPr>
          <p:nvPr/>
        </p:nvSpPr>
        <p:spPr>
          <a:xfrm>
            <a:off x="731520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A0215D35-0815-4E84-93FC-8AC76101574D}"/>
              </a:ext>
            </a:extLst>
          </p:cNvPr>
          <p:cNvSpPr>
            <a:spLocks noGrp="1"/>
          </p:cNvSpPr>
          <p:nvPr/>
        </p:nvSpPr>
        <p:spPr>
          <a:xfrm>
            <a:off x="748665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7A7F32B3-62F2-4B30-86D5-E29AEF79A354}"/>
              </a:ext>
            </a:extLst>
          </p:cNvPr>
          <p:cNvSpPr>
            <a:spLocks noGrp="1"/>
          </p:cNvSpPr>
          <p:nvPr/>
        </p:nvSpPr>
        <p:spPr>
          <a:xfrm>
            <a:off x="765810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C177869C-40C7-4D9A-BE07-94B21D241AA1}"/>
              </a:ext>
            </a:extLst>
          </p:cNvPr>
          <p:cNvSpPr>
            <a:spLocks noGrp="1"/>
          </p:cNvSpPr>
          <p:nvPr/>
        </p:nvSpPr>
        <p:spPr>
          <a:xfrm>
            <a:off x="7353300" y="1885950"/>
            <a:ext cx="3009900" cy="2114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.github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.venv/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*.md</a:t>
            </a:r>
          </a:p>
        </p:txBody>
      </p:sp>
      <p:sp>
        <p:nvSpPr>
          <p:cNvPr id="13" name="">
            <a:extLst>
              <a:ext uri="{FF2B5EF4-FFF2-40B4-BE49-F238E27FC236}">
                <ns2:creationId id="{7F270C39-7EE7-4054-973C-B6D485E55F2C}"/>
              </a:ext>
            </a:extLst>
          </p:cNvPr>
          <p:cNvSpPr>
            <a:spLocks noGrp="1"/>
          </p:cNvSpPr>
          <p:nvPr/>
        </p:nvSpPr>
        <p:spPr>
          <a:xfrm>
            <a:off x="1771650" y="4953000"/>
            <a:ext cx="8648700" cy="552450"/>
          </a:xfrm>
          <a:prstGeom prst="roundRect">
            <a:avLst>
              <a:gd name="adj" fmla="val 1724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514DF38A-2765-49CE-9905-1A447D771A4F}"/>
              </a:ext>
            </a:extLst>
          </p:cNvPr>
          <p:cNvSpPr>
            <a:spLocks noGrp="1"/>
          </p:cNvSpPr>
          <p:nvPr/>
        </p:nvSpPr>
        <p:spPr>
          <a:xfrm>
            <a:off x="2095500" y="512445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305"/>
          </a:bodyPr>
          <a:lstStyle/>
          <a:p>
            <a:pPr algn="ctr">
              <a:lnSpc>
                <a:spcPct val="106000"/>
              </a:lnSpc>
              <a:buNone/>
              <a:defRPr sz="14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初學階段先保持簡單；CI 先跑 pytest，再 build image。</a:t>
            </a:r>
          </a:p>
        </p:txBody>
      </p:sp>
      <p:sp>
        <p:nvSpPr>
          <p:cNvPr id="15" name="">
            <a:extLst>
              <a:ext uri="{FF2B5EF4-FFF2-40B4-BE49-F238E27FC236}">
                <ns2:creationId id="{256EF16E-1236-4D45-8AA7-E1FF49AF44A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9396595B-1142-4FF7-8D88-1508927F51B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7" name="">
            <a:extLst>
              <a:ext uri="{FF2B5EF4-FFF2-40B4-BE49-F238E27FC236}">
                <ns2:creationId id="{D5B97052-C203-4936-9153-D0FE488178D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ns3:creationId val="1530269548"/>
      </p:ext>
    </p:extLst>
  </p:cSld>
</p:sld>
</file>

<file path=ppt/slides/slide1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8C9A0993-591A-487D-A981-1277F58960E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LOCAL CHECK</a:t>
            </a:r>
          </a:p>
        </p:txBody>
      </p:sp>
      <p:sp>
        <p:nvSpPr>
          <p:cNvPr id="2" name="">
            <a:extLst>
              <a:ext uri="{FF2B5EF4-FFF2-40B4-BE49-F238E27FC236}">
                <ns2:creationId id="{B8F7B600-ADC2-4227-8507-D2E64956C0C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先在本機確認測試與容器能跑</a:t>
            </a:r>
          </a:p>
        </p:txBody>
      </p:sp>
      <p:sp>
        <p:nvSpPr>
          <p:cNvPr id="3" name="">
            <a:extLst>
              <a:ext uri="{FF2B5EF4-FFF2-40B4-BE49-F238E27FC236}">
                <ns2:creationId id="{3EA1DF41-079F-438D-A96A-48EC7B2A442E}"/>
              </a:ext>
            </a:extLst>
          </p:cNvPr>
          <p:cNvSpPr>
            <a:spLocks noGrp="1"/>
          </p:cNvSpPr>
          <p:nvPr/>
        </p:nvSpPr>
        <p:spPr>
          <a:xfrm>
            <a:off x="895350" y="1504950"/>
            <a:ext cx="7239000" cy="2762250"/>
          </a:xfrm>
          <a:prstGeom prst="roundRect">
            <a:avLst>
              <a:gd name="adj" fmla="val 344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4121CEC-34BA-4498-AA0F-3F0616A7F3A8}"/>
              </a:ext>
            </a:extLst>
          </p:cNvPr>
          <p:cNvSpPr>
            <a:spLocks noGrp="1"/>
          </p:cNvSpPr>
          <p:nvPr/>
        </p:nvSpPr>
        <p:spPr>
          <a:xfrm>
            <a:off x="1066800" y="1666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22FBDF31-48BE-4CEF-BD3F-BA270DDE86F2}"/>
              </a:ext>
            </a:extLst>
          </p:cNvPr>
          <p:cNvSpPr>
            <a:spLocks noGrp="1"/>
          </p:cNvSpPr>
          <p:nvPr/>
        </p:nvSpPr>
        <p:spPr>
          <a:xfrm>
            <a:off x="1238250" y="1666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9CF50388-9555-4D86-AB9C-67AFC8A1C56B}"/>
              </a:ext>
            </a:extLst>
          </p:cNvPr>
          <p:cNvSpPr>
            <a:spLocks noGrp="1"/>
          </p:cNvSpPr>
          <p:nvPr/>
        </p:nvSpPr>
        <p:spPr>
          <a:xfrm>
            <a:off x="1409700" y="1666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681799AD-525B-46A1-B41E-E78F17FFFF2A}"/>
              </a:ext>
            </a:extLst>
          </p:cNvPr>
          <p:cNvSpPr>
            <a:spLocks noGrp="1"/>
          </p:cNvSpPr>
          <p:nvPr/>
        </p:nvSpPr>
        <p:spPr>
          <a:xfrm>
            <a:off x="1104900" y="1924050"/>
            <a:ext cx="6819900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rPr sz="1200">
                <a:solidFill>
                  <a:srgbClr val="F1F5F9"/>
                </a:solidFill>
              </a:rPr>
              <a:t>pytest test_app.py -v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rPr sz="1200">
                <a:solidFill>
                  <a:srgbClr val="F1F5F9"/>
                </a:solidFill>
              </a:rPr>
              <a:t>docker build -t docker-cicd-demo:local .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docker run -d --name cicd-local -p 5000:5000 docker-cicd-demo:local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curl http://localhost:5000/health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rPr sz="1200">
                <a:solidFill>
                  <a:srgbClr val="F1F5F9"/>
                </a:solidFill>
              </a:rPr>
              <a:t>docker rm -f cicd-local</a:t>
            </a:r>
          </a:p>
        </p:txBody>
      </p:sp>
      <p:sp>
        <p:nvSpPr>
          <p:cNvPr id="8" name="">
            <a:extLst>
              <a:ext uri="{FF2B5EF4-FFF2-40B4-BE49-F238E27FC236}">
                <ns2:creationId id="{996E812C-3C1C-4DBA-ACA7-46035EAD3334}"/>
              </a:ext>
            </a:extLst>
          </p:cNvPr>
          <p:cNvSpPr>
            <a:spLocks noGrp="1"/>
          </p:cNvSpPr>
          <p:nvPr/>
        </p:nvSpPr>
        <p:spPr>
          <a:xfrm>
            <a:off x="8686800" y="1885950"/>
            <a:ext cx="2381250" cy="1809750"/>
          </a:xfrm>
          <a:prstGeom prst="roundRect">
            <a:avLst>
              <a:gd name="adj" fmla="val 6316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8F2802C0-5ECD-4687-AB56-63D4E6778224}"/>
              </a:ext>
            </a:extLst>
          </p:cNvPr>
          <p:cNvSpPr>
            <a:spLocks noGrp="1"/>
          </p:cNvSpPr>
          <p:nvPr/>
        </p:nvSpPr>
        <p:spPr>
          <a:xfrm>
            <a:off x="8915400" y="2076450"/>
            <a:ext cx="1924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驗證重點</a:t>
            </a:r>
          </a:p>
        </p:txBody>
      </p:sp>
      <p:sp>
        <p:nvSpPr>
          <p:cNvPr id="10" name="">
            <a:extLst>
              <a:ext uri="{FF2B5EF4-FFF2-40B4-BE49-F238E27FC236}">
                <ns2:creationId id="{69329B9F-8B31-40B1-8780-DA05430AF5AB}"/>
              </a:ext>
            </a:extLst>
          </p:cNvPr>
          <p:cNvSpPr>
            <a:spLocks noGrp="1"/>
          </p:cNvSpPr>
          <p:nvPr/>
        </p:nvSpPr>
        <p:spPr>
          <a:xfrm>
            <a:off x="8915400" y="2552700"/>
            <a:ext cx="19240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pytest 全部通過。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Image build 成功。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容器能啟動。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4. /health 回 healthy。</a:t>
            </a:r>
          </a:p>
        </p:txBody>
      </p:sp>
      <p:sp>
        <p:nvSpPr>
          <p:cNvPr id="11" name="">
            <a:extLst>
              <a:ext uri="{FF2B5EF4-FFF2-40B4-BE49-F238E27FC236}">
                <ns2:creationId id="{184C355F-4118-4343-ACCC-FE822ABBC5B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10ABC92F-615C-4059-970D-C7AC145933F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>
              <a:ext uri="{FF2B5EF4-FFF2-40B4-BE49-F238E27FC236}">
                <ns2:creationId id="{5801DF00-3ABF-4073-9BFC-98C6991193E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ns3:creationId val="1071792724"/>
      </p:ext>
    </p:extLst>
  </p:cSld>
</p:sld>
</file>

<file path=ppt/slides/slide1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8C899A2-3B45-4563-9CAE-4D2E666D95D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TEST JOB FIRST</a:t>
            </a:r>
          </a:p>
        </p:txBody>
      </p:sp>
      <p:sp>
        <p:nvSpPr>
          <p:cNvPr id="2" name="">
            <a:extLst>
              <a:ext uri="{FF2B5EF4-FFF2-40B4-BE49-F238E27FC236}">
                <ns2:creationId id="{2D21003A-FE9B-4298-9A37-331FA6E9977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第一版 workflow 只跑測試</a:t>
            </a:r>
          </a:p>
        </p:txBody>
      </p:sp>
      <p:sp>
        <p:nvSpPr>
          <p:cNvPr id="3" name="">
            <a:extLst>
              <a:ext uri="{FF2B5EF4-FFF2-40B4-BE49-F238E27FC236}">
                <ns2:creationId id="{D760BC1D-142D-4567-8AA2-F1E0FD14372C}"/>
              </a:ext>
            </a:extLst>
          </p:cNvPr>
          <p:cNvSpPr>
            <a:spLocks noGrp="1"/>
          </p:cNvSpPr>
          <p:nvPr/>
        </p:nvSpPr>
        <p:spPr>
          <a:xfrm>
            <a:off x="781050" y="1238250"/>
            <a:ext cx="6667500" cy="4400550"/>
          </a:xfrm>
          <a:prstGeom prst="roundRect">
            <a:avLst>
              <a:gd name="adj" fmla="val 216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8E08568-1C78-4468-990B-39B6AF537629}"/>
              </a:ext>
            </a:extLst>
          </p:cNvPr>
          <p:cNvSpPr>
            <a:spLocks noGrp="1"/>
          </p:cNvSpPr>
          <p:nvPr/>
        </p:nvSpPr>
        <p:spPr>
          <a:xfrm>
            <a:off x="952500" y="1400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F092C3DD-73DB-4B37-8378-A9DDC801FD57}"/>
              </a:ext>
            </a:extLst>
          </p:cNvPr>
          <p:cNvSpPr>
            <a:spLocks noGrp="1"/>
          </p:cNvSpPr>
          <p:nvPr/>
        </p:nvSpPr>
        <p:spPr>
          <a:xfrm>
            <a:off x="1123950" y="1400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277FD76-57B7-4762-B6FF-4164D80477B9}"/>
              </a:ext>
            </a:extLst>
          </p:cNvPr>
          <p:cNvSpPr>
            <a:spLocks noGrp="1"/>
          </p:cNvSpPr>
          <p:nvPr/>
        </p:nvSpPr>
        <p:spPr>
          <a:xfrm>
            <a:off x="1295400" y="1400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52761B0-D008-442E-8DB5-F78F179AD501}"/>
              </a:ext>
            </a:extLst>
          </p:cNvPr>
          <p:cNvSpPr>
            <a:spLocks noGrp="1"/>
          </p:cNvSpPr>
          <p:nvPr/>
        </p:nvSpPr>
        <p:spPr>
          <a:xfrm>
            <a:off x="990600" y="1657350"/>
            <a:ext cx="6248400" cy="3848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test: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runs-on: ubuntu-latest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steps: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name: Checkout code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uses: actions/checkout@v4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name: Setup Python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uses: actions/setup-python@v5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with: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python-version: ${{ env.PYTHON_VERSION }}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name: Install dependencies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run: pip install -r requirements.txt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name: Run pytest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run: pytest test_app.py -v</a:t>
            </a:r>
          </a:p>
        </p:txBody>
      </p:sp>
      <p:sp>
        <p:nvSpPr>
          <p:cNvPr id="8" name="">
            <a:extLst>
              <a:ext uri="{FF2B5EF4-FFF2-40B4-BE49-F238E27FC236}">
                <ns2:creationId id="{EEEF691D-DB2E-4231-BB4E-22D54D8A7C0D}"/>
              </a:ext>
            </a:extLst>
          </p:cNvPr>
          <p:cNvSpPr>
            <a:spLocks noGrp="1"/>
          </p:cNvSpPr>
          <p:nvPr/>
        </p:nvSpPr>
        <p:spPr>
          <a:xfrm>
            <a:off x="7981950" y="2114550"/>
            <a:ext cx="2914650" cy="1809750"/>
          </a:xfrm>
          <a:prstGeom prst="roundRect">
            <a:avLst>
              <a:gd name="adj" fmla="val 6316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A7F06D77-405A-4953-AA28-56936EAF346A}"/>
              </a:ext>
            </a:extLst>
          </p:cNvPr>
          <p:cNvSpPr>
            <a:spLocks noGrp="1"/>
          </p:cNvSpPr>
          <p:nvPr/>
        </p:nvSpPr>
        <p:spPr>
          <a:xfrm>
            <a:off x="8210550" y="230505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目的</a:t>
            </a:r>
          </a:p>
        </p:txBody>
      </p:sp>
      <p:sp>
        <p:nvSpPr>
          <p:cNvPr id="10" name="">
            <a:extLst>
              <a:ext uri="{FF2B5EF4-FFF2-40B4-BE49-F238E27FC236}">
                <ns2:creationId id="{35732797-8091-4791-913B-EA69E9C29953}"/>
              </a:ext>
            </a:extLst>
          </p:cNvPr>
          <p:cNvSpPr>
            <a:spLocks noGrp="1"/>
          </p:cNvSpPr>
          <p:nvPr/>
        </p:nvSpPr>
        <p:spPr>
          <a:xfrm>
            <a:off x="8210550" y="2857500"/>
            <a:ext cx="24574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141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F1F5F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1F5F9"/>
                </a:solidFill>
                <a:latin typeface="Aptos"/>
                <a:ea typeface="Aptos"/>
                <a:cs typeface="Aptos"/>
              </a:rPr>
              <a:t>先在乾淨的 runner 上確認測試通過。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F1F5F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1F5F9"/>
                </a:solidFill>
                <a:latin typeface="Aptos"/>
                <a:ea typeface="Aptos"/>
                <a:cs typeface="Aptos"/>
              </a:rPr>
              <a:t>不要一開始就把 build、login、push 全塞進去。</a:t>
            </a:r>
          </a:p>
        </p:txBody>
      </p:sp>
      <p:sp>
        <p:nvSpPr>
          <p:cNvPr id="11" name="">
            <a:extLst>
              <a:ext uri="{FF2B5EF4-FFF2-40B4-BE49-F238E27FC236}">
                <ns2:creationId id="{961C3623-DA6B-48E4-9A77-90DB89A4CB8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D01233D0-8D4E-4D82-8B7B-D7AD74859D9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>
              <a:ext uri="{FF2B5EF4-FFF2-40B4-BE49-F238E27FC236}">
                <ns2:creationId id="{02EF7264-59EF-4325-97CB-7619D702D76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ns3:creationId val="1654273898"/>
      </p:ext>
    </p:extLst>
  </p:cSld>
</p:sld>
</file>

<file path=ppt/slides/slide1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7593C99-30FF-4D66-B2BF-5B5BBE7A8DB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FAILURE DRILL</a:t>
            </a:r>
          </a:p>
        </p:txBody>
      </p:sp>
      <p:sp>
        <p:nvSpPr>
          <p:cNvPr id="2" name="">
            <a:extLst>
              <a:ext uri="{FF2B5EF4-FFF2-40B4-BE49-F238E27FC236}">
                <ns2:creationId id="{5351B82A-7CDE-45CB-A348-3191ACBF8B0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故意讓測試失敗，練習看 log</a:t>
            </a:r>
          </a:p>
        </p:txBody>
      </p:sp>
      <p:sp>
        <p:nvSpPr>
          <p:cNvPr id="3" name="">
            <a:extLst>
              <a:ext uri="{FF2B5EF4-FFF2-40B4-BE49-F238E27FC236}">
                <ns2:creationId id="{BEF566D5-44CB-4A56-A77B-12E9A75F918E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4381500" cy="1714500"/>
          </a:xfrm>
          <a:prstGeom prst="roundRect">
            <a:avLst>
              <a:gd name="adj" fmla="val 6667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FAF3403-55CF-4A3B-9A14-C5B32DA82A2C}"/>
              </a:ext>
            </a:extLst>
          </p:cNvPr>
          <p:cNvSpPr>
            <a:spLocks noGrp="1"/>
          </p:cNvSpPr>
          <p:nvPr/>
        </p:nvSpPr>
        <p:spPr>
          <a:xfrm>
            <a:off x="1371600" y="20002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操作</a:t>
            </a:r>
          </a:p>
        </p:txBody>
      </p:sp>
      <p:sp>
        <p:nvSpPr>
          <p:cNvPr id="5" name="">
            <a:extLst>
              <a:ext uri="{FF2B5EF4-FFF2-40B4-BE49-F238E27FC236}">
                <ns2:creationId id="{964BD4ED-FCCA-4E13-88E8-D8E58AEBB066}"/>
              </a:ext>
            </a:extLst>
          </p:cNvPr>
          <p:cNvSpPr>
            <a:spLocks noGrp="1"/>
          </p:cNvSpPr>
          <p:nvPr/>
        </p:nvSpPr>
        <p:spPr>
          <a:xfrm>
            <a:off x="1371600" y="2609850"/>
            <a:ext cx="39243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把 app.py 的 version 改成 2.0.0，但 test 仍期待 1.0.0。</a:t>
            </a:r>
          </a:p>
        </p:txBody>
      </p:sp>
      <p:sp>
        <p:nvSpPr>
          <p:cNvPr id="6" name="">
            <a:extLst>
              <a:ext uri="{FF2B5EF4-FFF2-40B4-BE49-F238E27FC236}">
                <ns2:creationId id="{CFD5BBAF-C8D8-4EDE-81A0-B0E5FB0A5A2B}"/>
              </a:ext>
            </a:extLst>
          </p:cNvPr>
          <p:cNvSpPr>
            <a:spLocks noGrp="1"/>
          </p:cNvSpPr>
          <p:nvPr/>
        </p:nvSpPr>
        <p:spPr>
          <a:xfrm>
            <a:off x="6667500" y="1809750"/>
            <a:ext cx="4381500" cy="1714500"/>
          </a:xfrm>
          <a:prstGeom prst="roundRect">
            <a:avLst>
              <a:gd name="adj" fmla="val 6667"/>
            </a:avLst>
          </a:prstGeom>
          <a:solidFill>
            <a:srgbClr val="111827"/>
          </a:solidFill>
          <a:ln w="9525">
            <a:solidFill>
              <a:srgbClr val="FB718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2265466F-58A5-406A-A215-1479A39747B3}"/>
              </a:ext>
            </a:extLst>
          </p:cNvPr>
          <p:cNvSpPr>
            <a:spLocks noGrp="1"/>
          </p:cNvSpPr>
          <p:nvPr/>
        </p:nvSpPr>
        <p:spPr>
          <a:xfrm>
            <a:off x="6896100" y="20002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觀察</a:t>
            </a:r>
          </a:p>
        </p:txBody>
      </p:sp>
      <p:sp>
        <p:nvSpPr>
          <p:cNvPr id="8" name="">
            <a:extLst>
              <a:ext uri="{FF2B5EF4-FFF2-40B4-BE49-F238E27FC236}">
                <ns2:creationId id="{6AAF5B25-6506-4222-A61F-8CDA10E8F554}"/>
              </a:ext>
            </a:extLst>
          </p:cNvPr>
          <p:cNvSpPr>
            <a:spLocks noGrp="1"/>
          </p:cNvSpPr>
          <p:nvPr/>
        </p:nvSpPr>
        <p:spPr>
          <a:xfrm>
            <a:off x="6896100" y="2609850"/>
            <a:ext cx="39243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Actions 變紅後，點進失敗的 job 與 step，找第一個 AssertionError。</a:t>
            </a:r>
          </a:p>
        </p:txBody>
      </p:sp>
      <p:sp>
        <p:nvSpPr>
          <p:cNvPr id="9" name="">
            <a:extLst>
              <a:ext uri="{FF2B5EF4-FFF2-40B4-BE49-F238E27FC236}">
                <ns2:creationId id="{E4ED16E1-0806-41F0-A960-9EB1FC00EBF9}"/>
              </a:ext>
            </a:extLst>
          </p:cNvPr>
          <p:cNvSpPr>
            <a:spLocks noGrp="1"/>
          </p:cNvSpPr>
          <p:nvPr/>
        </p:nvSpPr>
        <p:spPr>
          <a:xfrm>
            <a:off x="2952750" y="4705350"/>
            <a:ext cx="6286500" cy="1066800"/>
          </a:xfrm>
          <a:prstGeom prst="roundRect">
            <a:avLst>
              <a:gd name="adj" fmla="val 892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0" name="">
            <a:extLst>
              <a:ext uri="{FF2B5EF4-FFF2-40B4-BE49-F238E27FC236}">
                <ns2:creationId id="{B1EA992B-DE9D-43C8-B7B7-1414B8AA1E68}"/>
              </a:ext>
            </a:extLst>
          </p:cNvPr>
          <p:cNvSpPr>
            <a:spLocks noGrp="1"/>
          </p:cNvSpPr>
          <p:nvPr/>
        </p:nvSpPr>
        <p:spPr>
          <a:xfrm>
            <a:off x="3124200" y="48672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F9026116-5004-4AEF-8256-E72E86AF304C}"/>
              </a:ext>
            </a:extLst>
          </p:cNvPr>
          <p:cNvSpPr>
            <a:spLocks noGrp="1"/>
          </p:cNvSpPr>
          <p:nvPr/>
        </p:nvSpPr>
        <p:spPr>
          <a:xfrm>
            <a:off x="3295650" y="48672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65F1D06A-7F9F-49DB-8F35-9149644C46CE}"/>
              </a:ext>
            </a:extLst>
          </p:cNvPr>
          <p:cNvSpPr>
            <a:spLocks noGrp="1"/>
          </p:cNvSpPr>
          <p:nvPr/>
        </p:nvSpPr>
        <p:spPr>
          <a:xfrm>
            <a:off x="3467100" y="48672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C261C678-DCE9-4553-94FD-E7C71F4CA766}"/>
              </a:ext>
            </a:extLst>
          </p:cNvPr>
          <p:cNvSpPr>
            <a:spLocks noGrp="1"/>
          </p:cNvSpPr>
          <p:nvPr/>
        </p:nvSpPr>
        <p:spPr>
          <a:xfrm>
            <a:off x="3162300" y="5124450"/>
            <a:ext cx="5867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E       AssertionError: assert '2.0.0' == '1.0.0'</a:t>
            </a:r>
          </a:p>
        </p:txBody>
      </p:sp>
      <p:sp>
        <p:nvSpPr>
          <p:cNvPr id="14" name="">
            <a:extLst>
              <a:ext uri="{FF2B5EF4-FFF2-40B4-BE49-F238E27FC236}">
                <ns2:creationId id="{A80957BA-09A3-4611-8EDD-31911E6B364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5A27E396-271F-46AC-A57F-65493DDC3C6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6" name="">
            <a:extLst>
              <a:ext uri="{FF2B5EF4-FFF2-40B4-BE49-F238E27FC236}">
                <ns2:creationId id="{DCF7DE80-B4B3-4111-B9FA-A0AA04C8596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ns3:creationId val="1126456957"/>
      </p:ext>
    </p:extLst>
  </p:cSld>
</p:sld>
</file>

<file path=ppt/slides/slide2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FED20CF-D301-48E5-BD41-E19F787DE47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BUILD ONLY</a:t>
            </a:r>
          </a:p>
        </p:txBody>
      </p:sp>
      <p:sp>
        <p:nvSpPr>
          <p:cNvPr id="2" name="">
            <a:extLst>
              <a:ext uri="{FF2B5EF4-FFF2-40B4-BE49-F238E27FC236}">
                <ns2:creationId id="{94014669-ED95-43A2-BB37-8A00FFFC75B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第二個 checkpoint：先 build，不 push</a:t>
            </a:r>
          </a:p>
        </p:txBody>
      </p:sp>
      <p:sp>
        <p:nvSpPr>
          <p:cNvPr id="3" name="">
            <a:extLst>
              <a:ext uri="{FF2B5EF4-FFF2-40B4-BE49-F238E27FC236}">
                <ns2:creationId id="{42B38C91-4142-4B5D-850E-2614E782079C}"/>
              </a:ext>
            </a:extLst>
          </p:cNvPr>
          <p:cNvSpPr>
            <a:spLocks noGrp="1"/>
          </p:cNvSpPr>
          <p:nvPr/>
        </p:nvSpPr>
        <p:spPr>
          <a:xfrm>
            <a:off x="704850" y="1257300"/>
            <a:ext cx="6858000" cy="4171950"/>
          </a:xfrm>
          <a:prstGeom prst="roundRect">
            <a:avLst>
              <a:gd name="adj" fmla="val 228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35EE873F-2731-463D-BF36-EEB53867C738}"/>
              </a:ext>
            </a:extLst>
          </p:cNvPr>
          <p:cNvSpPr>
            <a:spLocks noGrp="1"/>
          </p:cNvSpPr>
          <p:nvPr/>
        </p:nvSpPr>
        <p:spPr>
          <a:xfrm>
            <a:off x="876300" y="14192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541311A-8563-4B4B-8894-840957E1A609}"/>
              </a:ext>
            </a:extLst>
          </p:cNvPr>
          <p:cNvSpPr>
            <a:spLocks noGrp="1"/>
          </p:cNvSpPr>
          <p:nvPr/>
        </p:nvSpPr>
        <p:spPr>
          <a:xfrm>
            <a:off x="1047750" y="14192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82D4B2F0-0EDD-44DE-BF63-87B38C061290}"/>
              </a:ext>
            </a:extLst>
          </p:cNvPr>
          <p:cNvSpPr>
            <a:spLocks noGrp="1"/>
          </p:cNvSpPr>
          <p:nvPr/>
        </p:nvSpPr>
        <p:spPr>
          <a:xfrm>
            <a:off x="1219200" y="14192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B7D9D2A5-AB8F-4955-820C-11684E1044AF}"/>
              </a:ext>
            </a:extLst>
          </p:cNvPr>
          <p:cNvSpPr>
            <a:spLocks noGrp="1"/>
          </p:cNvSpPr>
          <p:nvPr/>
        </p:nvSpPr>
        <p:spPr>
          <a:xfrm>
            <a:off x="914400" y="1676400"/>
            <a:ext cx="6438900" cy="3619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docker: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runs-on: ubuntu-latest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needs: test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if: github.event_name == 'push' &amp;&amp; github.ref == 'refs/heads/main'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steps: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name: Checkout code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rPr sz="1200">
                <a:solidFill>
                  <a:srgbClr val="F1F5F9"/>
                </a:solidFill>
              </a:rPr>
              <a:t>      uses: actions/checkout@v4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name: Build image locally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run: docker build -t ${{ env.IMAGE_NAME }}:ci .</a:t>
            </a:r>
          </a:p>
        </p:txBody>
      </p:sp>
      <p:sp>
        <p:nvSpPr>
          <p:cNvPr id="8" name="">
            <a:extLst>
              <a:ext uri="{FF2B5EF4-FFF2-40B4-BE49-F238E27FC236}">
                <ns2:creationId id="{2820FDF6-B367-42F2-926D-385A080A4DFE}"/>
              </a:ext>
            </a:extLst>
          </p:cNvPr>
          <p:cNvSpPr>
            <a:spLocks noGrp="1"/>
          </p:cNvSpPr>
          <p:nvPr/>
        </p:nvSpPr>
        <p:spPr>
          <a:xfrm>
            <a:off x="8077200" y="2095500"/>
            <a:ext cx="2857500" cy="1714500"/>
          </a:xfrm>
          <a:prstGeom prst="roundRect">
            <a:avLst>
              <a:gd name="adj" fmla="val 6667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7BEC1E84-267A-4048-9C56-B86ACE993A8D}"/>
              </a:ext>
            </a:extLst>
          </p:cNvPr>
          <p:cNvSpPr>
            <a:spLocks noGrp="1"/>
          </p:cNvSpPr>
          <p:nvPr/>
        </p:nvSpPr>
        <p:spPr>
          <a:xfrm>
            <a:off x="8305800" y="22860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兩道門</a:t>
            </a:r>
          </a:p>
        </p:txBody>
      </p:sp>
      <p:sp>
        <p:nvSpPr>
          <p:cNvPr id="10" name="">
            <a:extLst>
              <a:ext uri="{FF2B5EF4-FFF2-40B4-BE49-F238E27FC236}">
                <ns2:creationId id="{7064D4CB-560C-42CB-901F-EBF8394E1F2C}"/>
              </a:ext>
            </a:extLst>
          </p:cNvPr>
          <p:cNvSpPr>
            <a:spLocks noGrp="1"/>
          </p:cNvSpPr>
          <p:nvPr/>
        </p:nvSpPr>
        <p:spPr>
          <a:xfrm>
            <a:off x="8305800" y="2800350"/>
            <a:ext cx="24003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1107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needs: test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測試通過才跑。</a:t>
            </a:r>
          </a:p>
          <a:p>
            <a:r>
              <a:t/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if: push + main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PR 不 build / push。</a:t>
            </a:r>
          </a:p>
        </p:txBody>
      </p:sp>
      <p:sp>
        <p:nvSpPr>
          <p:cNvPr id="11" name="">
            <a:extLst>
              <a:ext uri="{FF2B5EF4-FFF2-40B4-BE49-F238E27FC236}">
                <ns2:creationId id="{276F95DE-D753-4120-9E2C-38DE0A8DE31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9CDBB7DD-FD05-48FD-A7C0-22BF12AA676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>
              <a:ext uri="{FF2B5EF4-FFF2-40B4-BE49-F238E27FC236}">
                <ns2:creationId id="{11D79E30-64FC-4850-853B-702DAABAFC3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ns3:creationId val="589192860"/>
      </p:ext>
    </p:extLst>
  </p:cSld>
</p:sld>
</file>

<file path=ppt/slides/slide2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7FEF037-CCB9-47C9-81D4-EBC9EACD12B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HEALTH CHECK BEFORE PUSH</a:t>
            </a:r>
          </a:p>
        </p:txBody>
      </p:sp>
      <p:sp>
        <p:nvSpPr>
          <p:cNvPr id="2" name="">
            <a:extLst>
              <a:ext uri="{FF2B5EF4-FFF2-40B4-BE49-F238E27FC236}">
                <ns2:creationId id="{BE67BA4E-0028-49B4-A90A-F71D4BD7CF7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成功不代表服務真的能跑</a:t>
            </a:r>
          </a:p>
        </p:txBody>
      </p:sp>
      <p:sp>
        <p:nvSpPr>
          <p:cNvPr id="3" name="">
            <a:extLst>
              <a:ext uri="{FF2B5EF4-FFF2-40B4-BE49-F238E27FC236}">
                <ns2:creationId id="{A1AEBBDB-6C7F-4121-9BF0-FDD99257ABF2}"/>
              </a:ext>
            </a:extLst>
          </p:cNvPr>
          <p:cNvSpPr>
            <a:spLocks noGrp="1"/>
          </p:cNvSpPr>
          <p:nvPr/>
        </p:nvSpPr>
        <p:spPr>
          <a:xfrm>
            <a:off x="952500" y="1581150"/>
            <a:ext cx="6286500" cy="2362200"/>
          </a:xfrm>
          <a:prstGeom prst="roundRect">
            <a:avLst>
              <a:gd name="adj" fmla="val 403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27DE3AD7-73DF-4F2E-B799-B2609FD8D26C}"/>
              </a:ext>
            </a:extLst>
          </p:cNvPr>
          <p:cNvSpPr>
            <a:spLocks noGrp="1"/>
          </p:cNvSpPr>
          <p:nvPr/>
        </p:nvSpPr>
        <p:spPr>
          <a:xfrm>
            <a:off x="1123950" y="17430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03FEE9A-96FE-4631-B552-7A1CCFD388CC}"/>
              </a:ext>
            </a:extLst>
          </p:cNvPr>
          <p:cNvSpPr>
            <a:spLocks noGrp="1"/>
          </p:cNvSpPr>
          <p:nvPr/>
        </p:nvSpPr>
        <p:spPr>
          <a:xfrm>
            <a:off x="1295400" y="17430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FA13194D-0A88-4B31-853B-C5946FB3D408}"/>
              </a:ext>
            </a:extLst>
          </p:cNvPr>
          <p:cNvSpPr>
            <a:spLocks noGrp="1"/>
          </p:cNvSpPr>
          <p:nvPr/>
        </p:nvSpPr>
        <p:spPr>
          <a:xfrm>
            <a:off x="1466850" y="17430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F7FFD3C7-227E-45FC-8280-F5FC3A2D173D}"/>
              </a:ext>
            </a:extLst>
          </p:cNvPr>
          <p:cNvSpPr>
            <a:spLocks noGrp="1"/>
          </p:cNvSpPr>
          <p:nvPr/>
        </p:nvSpPr>
        <p:spPr>
          <a:xfrm>
            <a:off x="1162050" y="2000250"/>
            <a:ext cx="58674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9787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Run container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rPr sz="1200">
                <a:solidFill>
                  <a:srgbClr val="F1F5F9"/>
                </a:solidFill>
              </a:rPr>
              <a:t>  run: docker run -d --name app -p 5000:5000 ${{ env.IMAGE_NAME }}:ci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rPr sz="1200">
                <a:solidFill>
                  <a:srgbClr val="F1F5F9"/>
                </a:solidFill>
              </a:rPr>
              <a:t>- name: Check health endpoint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run: curl --fail http://localhost:5000/health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Show logs on failure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if: failure()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run: docker logs app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Stop container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if: always()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run: docker rm -f app</a:t>
            </a:r>
          </a:p>
        </p:txBody>
      </p:sp>
      <p:sp>
        <p:nvSpPr>
          <p:cNvPr id="8" name="">
            <a:extLst>
              <a:ext uri="{FF2B5EF4-FFF2-40B4-BE49-F238E27FC236}">
                <ns2:creationId id="{11B78420-58B0-44B4-9935-D9A79939D6C9}"/>
              </a:ext>
            </a:extLst>
          </p:cNvPr>
          <p:cNvSpPr>
            <a:spLocks noGrp="1"/>
          </p:cNvSpPr>
          <p:nvPr/>
        </p:nvSpPr>
        <p:spPr>
          <a:xfrm>
            <a:off x="7981950" y="1828800"/>
            <a:ext cx="2952750" cy="1714500"/>
          </a:xfrm>
          <a:prstGeom prst="roundRect">
            <a:avLst>
              <a:gd name="adj" fmla="val 666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D6B15784-E18F-47EC-844E-E87119D189EB}"/>
              </a:ext>
            </a:extLst>
          </p:cNvPr>
          <p:cNvSpPr>
            <a:spLocks noGrp="1"/>
          </p:cNvSpPr>
          <p:nvPr/>
        </p:nvSpPr>
        <p:spPr>
          <a:xfrm>
            <a:off x="8210550" y="2019300"/>
            <a:ext cx="2495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放在哪裡？</a:t>
            </a:r>
          </a:p>
        </p:txBody>
      </p:sp>
      <p:sp>
        <p:nvSpPr>
          <p:cNvPr id="10" name="">
            <a:extLst>
              <a:ext uri="{FF2B5EF4-FFF2-40B4-BE49-F238E27FC236}">
                <ns2:creationId id="{AACBC702-7A03-4BD3-8A51-078905B4825E}"/>
              </a:ext>
            </a:extLst>
          </p:cNvPr>
          <p:cNvSpPr>
            <a:spLocks noGrp="1"/>
          </p:cNvSpPr>
          <p:nvPr/>
        </p:nvSpPr>
        <p:spPr>
          <a:xfrm>
            <a:off x="8210550" y="2438400"/>
            <a:ext cx="24955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3529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完 Image 之後、push Docker Hub 之前。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目的：先確認容器真的能跑，才把 Image 推出去。</a:t>
            </a:r>
          </a:p>
        </p:txBody>
      </p:sp>
      <p:sp>
        <p:nvSpPr>
          <p:cNvPr id="11" name="">
            <a:extLst>
              <a:ext uri="{FF2B5EF4-FFF2-40B4-BE49-F238E27FC236}">
                <ns2:creationId id="{7F192F57-EA1D-4FA9-B5D4-B6D11CBE6910}"/>
              </a:ext>
            </a:extLst>
          </p:cNvPr>
          <p:cNvSpPr>
            <a:spLocks noGrp="1"/>
          </p:cNvSpPr>
          <p:nvPr/>
        </p:nvSpPr>
        <p:spPr>
          <a:xfrm>
            <a:off x="1847850" y="4857750"/>
            <a:ext cx="8496300" cy="590550"/>
          </a:xfrm>
          <a:prstGeom prst="roundRect">
            <a:avLst>
              <a:gd name="adj" fmla="val 1612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A72EDD1E-3C14-451C-AB15-961ECDA60B48}"/>
              </a:ext>
            </a:extLst>
          </p:cNvPr>
          <p:cNvSpPr>
            <a:spLocks noGrp="1"/>
          </p:cNvSpPr>
          <p:nvPr/>
        </p:nvSpPr>
        <p:spPr>
          <a:xfrm>
            <a:off x="2190750" y="5048250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847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正式流程：curl --fail /health 成功才允許 push。</a:t>
            </a:r>
          </a:p>
        </p:txBody>
      </p:sp>
      <p:sp>
        <p:nvSpPr>
          <p:cNvPr id="13" name="">
            <a:extLst>
              <a:ext uri="{FF2B5EF4-FFF2-40B4-BE49-F238E27FC236}">
                <ns2:creationId id="{1AECDC56-57A5-4415-8438-5654AB9CEA6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CC146EE8-23DB-4907-AD42-B01072E2BEE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>
              <a:ext uri="{FF2B5EF4-FFF2-40B4-BE49-F238E27FC236}">
                <ns2:creationId id="{072F7DED-BE41-4366-9470-D435BCCF0B7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ns3:creationId val="1452383956"/>
      </p:ext>
    </p:extLst>
  </p:cSld>
</p:sld>
</file>

<file path=ppt/slides/slide2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D465BD1-A232-4BEE-B649-4B31BFC6885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 HUB TOKEN</a:t>
            </a:r>
          </a:p>
        </p:txBody>
      </p:sp>
      <p:sp>
        <p:nvSpPr>
          <p:cNvPr id="2" name="">
            <a:extLst>
              <a:ext uri="{FF2B5EF4-FFF2-40B4-BE49-F238E27FC236}">
                <ns2:creationId id="{3D651C12-4B47-4614-8AC2-2E557118135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建立 Access Token 並放進 GitHub Secrets</a:t>
            </a:r>
          </a:p>
        </p:txBody>
      </p:sp>
      <p:sp>
        <p:nvSpPr>
          <p:cNvPr id="3" name="">
            <a:extLst>
              <a:ext uri="{FF2B5EF4-FFF2-40B4-BE49-F238E27FC236}">
                <ns2:creationId id="{91290E94-2C36-4B6C-87D0-BD819DD8E777}"/>
              </a:ext>
            </a:extLst>
          </p:cNvPr>
          <p:cNvSpPr>
            <a:spLocks noGrp="1"/>
          </p:cNvSpPr>
          <p:nvPr/>
        </p:nvSpPr>
        <p:spPr>
          <a:xfrm>
            <a:off x="9906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63A9277-0DA4-4730-A66B-C334CE671777}"/>
              </a:ext>
            </a:extLst>
          </p:cNvPr>
          <p:cNvSpPr>
            <a:spLocks noGrp="1"/>
          </p:cNvSpPr>
          <p:nvPr/>
        </p:nvSpPr>
        <p:spPr>
          <a:xfrm>
            <a:off x="12192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Docker Hub</a:t>
            </a:r>
          </a:p>
        </p:txBody>
      </p:sp>
      <p:sp>
        <p:nvSpPr>
          <p:cNvPr id="5" name="">
            <a:extLst>
              <a:ext uri="{FF2B5EF4-FFF2-40B4-BE49-F238E27FC236}">
                <ns2:creationId id="{890506F4-BABD-4314-B6DA-040A4983AC95}"/>
              </a:ext>
            </a:extLst>
          </p:cNvPr>
          <p:cNvSpPr>
            <a:spLocks noGrp="1"/>
          </p:cNvSpPr>
          <p:nvPr/>
        </p:nvSpPr>
        <p:spPr>
          <a:xfrm>
            <a:off x="12192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Account settings -&gt; Security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New access token</a:t>
            </a:r>
          </a:p>
        </p:txBody>
      </p:sp>
      <p:sp>
        <p:nvSpPr>
          <p:cNvPr id="6" name="">
            <a:extLst>
              <a:ext uri="{FF2B5EF4-FFF2-40B4-BE49-F238E27FC236}">
                <ns2:creationId id="{F26C4DFE-2AA1-4F2F-A98E-81804E63D40E}"/>
              </a:ext>
            </a:extLst>
          </p:cNvPr>
          <p:cNvSpPr>
            <a:spLocks noGrp="1"/>
          </p:cNvSpPr>
          <p:nvPr/>
        </p:nvSpPr>
        <p:spPr>
          <a:xfrm>
            <a:off x="47244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860B76EC-AFB9-4397-8BDA-CFBDE25A78A6}"/>
              </a:ext>
            </a:extLst>
          </p:cNvPr>
          <p:cNvSpPr>
            <a:spLocks noGrp="1"/>
          </p:cNvSpPr>
          <p:nvPr/>
        </p:nvSpPr>
        <p:spPr>
          <a:xfrm>
            <a:off x="49530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GitHub Repo</a:t>
            </a:r>
          </a:p>
        </p:txBody>
      </p:sp>
      <p:sp>
        <p:nvSpPr>
          <p:cNvPr id="8" name="">
            <a:extLst>
              <a:ext uri="{FF2B5EF4-FFF2-40B4-BE49-F238E27FC236}">
                <ns2:creationId id="{0D8283D0-82E2-47DD-9556-B88A57D2D180}"/>
              </a:ext>
            </a:extLst>
          </p:cNvPr>
          <p:cNvSpPr>
            <a:spLocks noGrp="1"/>
          </p:cNvSpPr>
          <p:nvPr/>
        </p:nvSpPr>
        <p:spPr>
          <a:xfrm>
            <a:off x="49530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Settings -&gt; Secrets and variables -&gt; Actions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New repository secret</a:t>
            </a:r>
          </a:p>
        </p:txBody>
      </p:sp>
      <p:sp>
        <p:nvSpPr>
          <p:cNvPr id="9" name="">
            <a:extLst>
              <a:ext uri="{FF2B5EF4-FFF2-40B4-BE49-F238E27FC236}">
                <ns2:creationId id="{A03491BC-3A8D-4016-BF96-40C3FECE7AED}"/>
              </a:ext>
            </a:extLst>
          </p:cNvPr>
          <p:cNvSpPr>
            <a:spLocks noGrp="1"/>
          </p:cNvSpPr>
          <p:nvPr/>
        </p:nvSpPr>
        <p:spPr>
          <a:xfrm>
            <a:off x="84582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C2DDF618-00A0-4AB7-A4F1-B3EE59DA3EF8}"/>
              </a:ext>
            </a:extLst>
          </p:cNvPr>
          <p:cNvSpPr>
            <a:spLocks noGrp="1"/>
          </p:cNvSpPr>
          <p:nvPr/>
        </p:nvSpPr>
        <p:spPr>
          <a:xfrm>
            <a:off x="86868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需要兩個 secret</a:t>
            </a:r>
          </a:p>
        </p:txBody>
      </p:sp>
      <p:sp>
        <p:nvSpPr>
          <p:cNvPr id="11" name="">
            <a:extLst>
              <a:ext uri="{FF2B5EF4-FFF2-40B4-BE49-F238E27FC236}">
                <ns2:creationId id="{2F9722CF-2C47-4183-9846-C4AD80CA53BE}"/>
              </a:ext>
            </a:extLst>
          </p:cNvPr>
          <p:cNvSpPr>
            <a:spLocks noGrp="1"/>
          </p:cNvSpPr>
          <p:nvPr/>
        </p:nvSpPr>
        <p:spPr>
          <a:xfrm>
            <a:off x="86868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DOCKERHUB_USERNAME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DOCKERHUB_TOKEN</a:t>
            </a:r>
          </a:p>
        </p:txBody>
      </p:sp>
      <p:sp>
        <p:nvSpPr>
          <p:cNvPr id="12" name="">
            <a:extLst>
              <a:ext uri="{FF2B5EF4-FFF2-40B4-BE49-F238E27FC236}">
                <ns2:creationId id="{1FA90910-C656-41D7-A61E-17B0F8754C93}"/>
              </a:ext>
            </a:extLst>
          </p:cNvPr>
          <p:cNvSpPr>
            <a:spLocks noGrp="1"/>
          </p:cNvSpPr>
          <p:nvPr/>
        </p:nvSpPr>
        <p:spPr>
          <a:xfrm>
            <a:off x="1600200" y="5029200"/>
            <a:ext cx="899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token 只會顯示一次；忘記複製就刪掉重建。</a:t>
            </a:r>
          </a:p>
        </p:txBody>
      </p:sp>
      <p:sp>
        <p:nvSpPr>
          <p:cNvPr id="13" name="">
            <a:extLst>
              <a:ext uri="{FF2B5EF4-FFF2-40B4-BE49-F238E27FC236}">
                <ns2:creationId id="{7F60EE74-66A2-4401-AA9F-E0B8CDC7ECB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7263DF78-1EB7-4596-8998-7A582A96F56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>
              <a:ext uri="{FF2B5EF4-FFF2-40B4-BE49-F238E27FC236}">
                <ns2:creationId id="{7B54E529-320C-4E7F-9E29-55331C307F2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ns3:creationId val="911044411"/>
      </p:ext>
    </p:extLst>
  </p:cSld>
</p:sld>
</file>

<file path=ppt/slides/slide2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DAD7B24-09DA-4A35-83F2-AF81EBF7987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WORKFLOW OVERVIEW</a:t>
            </a:r>
          </a:p>
        </p:txBody>
      </p:sp>
      <p:sp>
        <p:nvSpPr>
          <p:cNvPr id="2" name="">
            <a:extLst>
              <a:ext uri="{FF2B5EF4-FFF2-40B4-BE49-F238E27FC236}">
                <ns2:creationId id="{7D68A864-938C-49DA-A98D-984131C153E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cicd.yml 的最終結構</a:t>
            </a:r>
          </a:p>
        </p:txBody>
      </p:sp>
      <p:sp>
        <p:nvSpPr>
          <p:cNvPr id="3" name="">
            <a:extLst>
              <a:ext uri="{FF2B5EF4-FFF2-40B4-BE49-F238E27FC236}">
                <ns2:creationId id="{97899894-BBCB-4FE5-AACA-7DD354920474}"/>
              </a:ext>
            </a:extLst>
          </p:cNvPr>
          <p:cNvSpPr>
            <a:spLocks noGrp="1"/>
          </p:cNvSpPr>
          <p:nvPr/>
        </p:nvSpPr>
        <p:spPr>
          <a:xfrm>
            <a:off x="1162050" y="1885950"/>
            <a:ext cx="2095500" cy="12192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CDF08E08-E602-4BC9-B67D-FE179E8D7C86}"/>
              </a:ext>
            </a:extLst>
          </p:cNvPr>
          <p:cNvSpPr>
            <a:spLocks noGrp="1"/>
          </p:cNvSpPr>
          <p:nvPr/>
        </p:nvSpPr>
        <p:spPr>
          <a:xfrm>
            <a:off x="1390650" y="2076450"/>
            <a:ext cx="1638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224"/>
          </a:bodyPr>
          <a:lstStyle/>
          <a:p>
            <a:pPr algn="ctr">
              <a:lnSpc>
                <a:spcPct val="106000"/>
              </a:lnSpc>
              <a:buNone/>
              <a:defRPr sz="23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on</a:t>
            </a:r>
          </a:p>
        </p:txBody>
      </p:sp>
      <p:sp>
        <p:nvSpPr>
          <p:cNvPr id="5" name="">
            <a:extLst>
              <a:ext uri="{FF2B5EF4-FFF2-40B4-BE49-F238E27FC236}">
                <ns2:creationId id="{64F6A1D4-A255-447D-9F0D-8E4A1EB8C844}"/>
              </a:ext>
            </a:extLst>
          </p:cNvPr>
          <p:cNvSpPr>
            <a:spLocks noGrp="1"/>
          </p:cNvSpPr>
          <p:nvPr/>
        </p:nvSpPr>
        <p:spPr>
          <a:xfrm>
            <a:off x="1390650" y="2628900"/>
            <a:ext cx="1638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push / pull_request</a:t>
            </a:r>
          </a:p>
        </p:txBody>
      </p:sp>
      <p:sp>
        <p:nvSpPr>
          <p:cNvPr id="6" name="">
            <a:extLst>
              <a:ext uri="{FF2B5EF4-FFF2-40B4-BE49-F238E27FC236}">
                <ns2:creationId id="{9D8DF7C4-5F46-418A-ABCC-52A61EC4E7D4}"/>
              </a:ext>
            </a:extLst>
          </p:cNvPr>
          <p:cNvSpPr>
            <a:spLocks noGrp="1"/>
          </p:cNvSpPr>
          <p:nvPr/>
        </p:nvSpPr>
        <p:spPr>
          <a:xfrm>
            <a:off x="3600450" y="2343150"/>
            <a:ext cx="66675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E64F0B4-3793-4FA5-86E3-3063A5E488B6}"/>
              </a:ext>
            </a:extLst>
          </p:cNvPr>
          <p:cNvSpPr>
            <a:spLocks noGrp="1"/>
          </p:cNvSpPr>
          <p:nvPr/>
        </p:nvSpPr>
        <p:spPr>
          <a:xfrm>
            <a:off x="4610100" y="1885950"/>
            <a:ext cx="2095500" cy="1219200"/>
          </a:xfrm>
          <a:prstGeom prst="roundRect">
            <a:avLst>
              <a:gd name="adj" fmla="val 937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5876F9E3-30EE-4766-8781-D2CE8B3676D1}"/>
              </a:ext>
            </a:extLst>
          </p:cNvPr>
          <p:cNvSpPr>
            <a:spLocks noGrp="1"/>
          </p:cNvSpPr>
          <p:nvPr/>
        </p:nvSpPr>
        <p:spPr>
          <a:xfrm>
            <a:off x="4838700" y="2076450"/>
            <a:ext cx="1638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224"/>
          </a:bodyPr>
          <a:lstStyle/>
          <a:p>
            <a:pPr algn="ctr">
              <a:lnSpc>
                <a:spcPct val="106000"/>
              </a:lnSpc>
              <a:buNone/>
              <a:defRPr sz="23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</a:t>
            </a:r>
          </a:p>
        </p:txBody>
      </p:sp>
      <p:sp>
        <p:nvSpPr>
          <p:cNvPr id="9" name="">
            <a:extLst>
              <a:ext uri="{FF2B5EF4-FFF2-40B4-BE49-F238E27FC236}">
                <ns2:creationId id="{A0089779-C200-45B1-B00B-E82FEA560A45}"/>
              </a:ext>
            </a:extLst>
          </p:cNvPr>
          <p:cNvSpPr>
            <a:spLocks noGrp="1"/>
          </p:cNvSpPr>
          <p:nvPr/>
        </p:nvSpPr>
        <p:spPr>
          <a:xfrm>
            <a:off x="4838700" y="2628900"/>
            <a:ext cx="1638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8962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PYTHON_VERSION / IMAGE_NAME</a:t>
            </a:r>
          </a:p>
        </p:txBody>
      </p:sp>
      <p:sp>
        <p:nvSpPr>
          <p:cNvPr id="10" name="">
            <a:extLst>
              <a:ext uri="{FF2B5EF4-FFF2-40B4-BE49-F238E27FC236}">
                <ns2:creationId id="{6A997D94-B450-42F0-914C-E3521B61BE19}"/>
              </a:ext>
            </a:extLst>
          </p:cNvPr>
          <p:cNvSpPr>
            <a:spLocks noGrp="1"/>
          </p:cNvSpPr>
          <p:nvPr/>
        </p:nvSpPr>
        <p:spPr>
          <a:xfrm>
            <a:off x="7048500" y="2343150"/>
            <a:ext cx="66675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9ED6A580-D6ED-4C43-A9F2-2705C598CEEF}"/>
              </a:ext>
            </a:extLst>
          </p:cNvPr>
          <p:cNvSpPr>
            <a:spLocks noGrp="1"/>
          </p:cNvSpPr>
          <p:nvPr/>
        </p:nvSpPr>
        <p:spPr>
          <a:xfrm>
            <a:off x="8058150" y="1885950"/>
            <a:ext cx="2095500" cy="1219200"/>
          </a:xfrm>
          <a:prstGeom prst="roundRect">
            <a:avLst>
              <a:gd name="adj" fmla="val 937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09587A4C-FE9F-4E3A-80B3-A2AE03245EE6}"/>
              </a:ext>
            </a:extLst>
          </p:cNvPr>
          <p:cNvSpPr>
            <a:spLocks noGrp="1"/>
          </p:cNvSpPr>
          <p:nvPr/>
        </p:nvSpPr>
        <p:spPr>
          <a:xfrm>
            <a:off x="8286750" y="2076450"/>
            <a:ext cx="1638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224"/>
          </a:bodyPr>
          <a:lstStyle/>
          <a:p>
            <a:pPr algn="ctr">
              <a:lnSpc>
                <a:spcPct val="106000"/>
              </a:lnSpc>
              <a:buNone/>
              <a:defRPr sz="23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jobs</a:t>
            </a:r>
          </a:p>
        </p:txBody>
      </p:sp>
      <p:sp>
        <p:nvSpPr>
          <p:cNvPr id="13" name="">
            <a:extLst>
              <a:ext uri="{FF2B5EF4-FFF2-40B4-BE49-F238E27FC236}">
                <ns2:creationId id="{450D1B8E-8A6D-4964-B921-9BE602CCAC8D}"/>
              </a:ext>
            </a:extLst>
          </p:cNvPr>
          <p:cNvSpPr>
            <a:spLocks noGrp="1"/>
          </p:cNvSpPr>
          <p:nvPr/>
        </p:nvSpPr>
        <p:spPr>
          <a:xfrm>
            <a:off x="8286750" y="2628900"/>
            <a:ext cx="1638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test + docker</a:t>
            </a:r>
          </a:p>
        </p:txBody>
      </p:sp>
      <p:sp>
        <p:nvSpPr>
          <p:cNvPr id="14" name="">
            <a:extLst>
              <a:ext uri="{FF2B5EF4-FFF2-40B4-BE49-F238E27FC236}">
                <ns2:creationId id="{14830E50-E95B-4F05-AC13-59948A494326}"/>
              </a:ext>
            </a:extLst>
          </p:cNvPr>
          <p:cNvSpPr>
            <a:spLocks noGrp="1"/>
          </p:cNvSpPr>
          <p:nvPr/>
        </p:nvSpPr>
        <p:spPr>
          <a:xfrm>
            <a:off x="2724150" y="4095750"/>
            <a:ext cx="6743700" cy="1676400"/>
          </a:xfrm>
          <a:prstGeom prst="roundRect">
            <a:avLst>
              <a:gd name="adj" fmla="val 568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5" name="">
            <a:extLst>
              <a:ext uri="{FF2B5EF4-FFF2-40B4-BE49-F238E27FC236}">
                <ns2:creationId id="{3D11E673-F841-4050-AF40-BC7B836468C2}"/>
              </a:ext>
            </a:extLst>
          </p:cNvPr>
          <p:cNvSpPr>
            <a:spLocks noGrp="1"/>
          </p:cNvSpPr>
          <p:nvPr/>
        </p:nvSpPr>
        <p:spPr>
          <a:xfrm>
            <a:off x="2895600" y="4257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AF5C419C-70DB-4A0D-8D63-86973A9559B8}"/>
              </a:ext>
            </a:extLst>
          </p:cNvPr>
          <p:cNvSpPr>
            <a:spLocks noGrp="1"/>
          </p:cNvSpPr>
          <p:nvPr/>
        </p:nvSpPr>
        <p:spPr>
          <a:xfrm>
            <a:off x="3067050" y="4257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91E29FD6-DB33-4EBF-9EC1-5DB51DA69517}"/>
              </a:ext>
            </a:extLst>
          </p:cNvPr>
          <p:cNvSpPr>
            <a:spLocks noGrp="1"/>
          </p:cNvSpPr>
          <p:nvPr/>
        </p:nvSpPr>
        <p:spPr>
          <a:xfrm>
            <a:off x="3238500" y="4257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379ACFCE-10F8-4449-90B5-ACC41193B1CA}"/>
              </a:ext>
            </a:extLst>
          </p:cNvPr>
          <p:cNvSpPr>
            <a:spLocks noGrp="1"/>
          </p:cNvSpPr>
          <p:nvPr/>
        </p:nvSpPr>
        <p:spPr>
          <a:xfrm>
            <a:off x="2933700" y="4514850"/>
            <a:ext cx="63246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36626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name: Flask CI/CD Pipeline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on: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push: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pull_request: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permissions: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contents: read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concurrency: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group: cicd-${{ github.ref }}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cancel-in-progress: true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test: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docker:</a:t>
            </a:r>
          </a:p>
        </p:txBody>
      </p:sp>
      <p:sp>
        <p:nvSpPr>
          <p:cNvPr id="19" name="">
            <a:extLst>
              <a:ext uri="{FF2B5EF4-FFF2-40B4-BE49-F238E27FC236}">
                <ns2:creationId id="{82676EB6-E7F3-49E5-8752-82C7AC64FBE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FB2CD6AF-6F31-4754-BF13-B784C001832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21" name="">
            <a:extLst>
              <a:ext uri="{FF2B5EF4-FFF2-40B4-BE49-F238E27FC236}">
                <ns2:creationId id="{6A11D469-F3E6-4DAE-A97D-D31DF049374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ns3:creationId val="252658656"/>
      </p:ext>
    </p:extLst>
  </p:cSld>
</p:sld>
</file>

<file path=ppt/slides/slide2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8C899A2-3B45-4563-9CAE-4D2E666D95D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TEST JOB</a:t>
            </a:r>
          </a:p>
        </p:txBody>
      </p:sp>
      <p:sp>
        <p:nvSpPr>
          <p:cNvPr id="2" name="">
            <a:extLst>
              <a:ext uri="{FF2B5EF4-FFF2-40B4-BE49-F238E27FC236}">
                <ns2:creationId id="{2D21003A-FE9B-4298-9A37-331FA6E9977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Job 1：pytest + cache</a:t>
            </a:r>
          </a:p>
        </p:txBody>
      </p:sp>
      <p:sp>
        <p:nvSpPr>
          <p:cNvPr id="3" name="">
            <a:extLst>
              <a:ext uri="{FF2B5EF4-FFF2-40B4-BE49-F238E27FC236}">
                <ns2:creationId id="{D760BC1D-142D-4567-8AA2-F1E0FD14372C}"/>
              </a:ext>
            </a:extLst>
          </p:cNvPr>
          <p:cNvSpPr>
            <a:spLocks noGrp="1"/>
          </p:cNvSpPr>
          <p:nvPr/>
        </p:nvSpPr>
        <p:spPr>
          <a:xfrm>
            <a:off x="781050" y="1238250"/>
            <a:ext cx="6667500" cy="4400550"/>
          </a:xfrm>
          <a:prstGeom prst="roundRect">
            <a:avLst>
              <a:gd name="adj" fmla="val 216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8E08568-1C78-4468-990B-39B6AF537629}"/>
              </a:ext>
            </a:extLst>
          </p:cNvPr>
          <p:cNvSpPr>
            <a:spLocks noGrp="1"/>
          </p:cNvSpPr>
          <p:nvPr/>
        </p:nvSpPr>
        <p:spPr>
          <a:xfrm>
            <a:off x="952500" y="1400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F092C3DD-73DB-4B37-8378-A9DDC801FD57}"/>
              </a:ext>
            </a:extLst>
          </p:cNvPr>
          <p:cNvSpPr>
            <a:spLocks noGrp="1"/>
          </p:cNvSpPr>
          <p:nvPr/>
        </p:nvSpPr>
        <p:spPr>
          <a:xfrm>
            <a:off x="1123950" y="1400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277FD76-57B7-4762-B6FF-4164D80477B9}"/>
              </a:ext>
            </a:extLst>
          </p:cNvPr>
          <p:cNvSpPr>
            <a:spLocks noGrp="1"/>
          </p:cNvSpPr>
          <p:nvPr/>
        </p:nvSpPr>
        <p:spPr>
          <a:xfrm>
            <a:off x="1295400" y="1400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52761B0-D008-442E-8DB5-F78F179AD501}"/>
              </a:ext>
            </a:extLst>
          </p:cNvPr>
          <p:cNvSpPr>
            <a:spLocks noGrp="1"/>
          </p:cNvSpPr>
          <p:nvPr/>
        </p:nvSpPr>
        <p:spPr>
          <a:xfrm>
            <a:off x="990600" y="1657350"/>
            <a:ext cx="6248400" cy="3848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test: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runs-on: ubuntu-latest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steps: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uses: actions/checkout@v4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uses: actions/setup-python@v5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rPr sz="1050">
                <a:solidFill>
                  <a:srgbClr val="F1F5F9"/>
                </a:solidFill>
              </a:rPr>
              <a:t>      with: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python-version: ${{ env.PYTHON_VERSION }}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uses: actions/cache@v4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with: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path: ~/.cache/pip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rPr sz="1050">
                <a:solidFill>
                  <a:srgbClr val="F1F5F9"/>
                </a:solidFill>
              </a:rPr>
              <a:t>        key: ${{ runner.os }}-pip-${{ hashFiles('requirements.txt') }}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run: pip install -r requirements.txt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run: pytest test_app.py -v</a:t>
            </a:r>
          </a:p>
        </p:txBody>
      </p:sp>
      <p:sp>
        <p:nvSpPr>
          <p:cNvPr id="8" name="">
            <a:extLst>
              <a:ext uri="{FF2B5EF4-FFF2-40B4-BE49-F238E27FC236}">
                <ns2:creationId id="{EEEF691D-DB2E-4231-BB4E-22D54D8A7C0D}"/>
              </a:ext>
            </a:extLst>
          </p:cNvPr>
          <p:cNvSpPr>
            <a:spLocks noGrp="1"/>
          </p:cNvSpPr>
          <p:nvPr/>
        </p:nvSpPr>
        <p:spPr>
          <a:xfrm>
            <a:off x="7981950" y="2114550"/>
            <a:ext cx="2914650" cy="1809750"/>
          </a:xfrm>
          <a:prstGeom prst="roundRect">
            <a:avLst>
              <a:gd name="adj" fmla="val 6316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A7F06D77-405A-4953-AA28-56936EAF346A}"/>
              </a:ext>
            </a:extLst>
          </p:cNvPr>
          <p:cNvSpPr>
            <a:spLocks noGrp="1"/>
          </p:cNvSpPr>
          <p:nvPr/>
        </p:nvSpPr>
        <p:spPr>
          <a:xfrm>
            <a:off x="8210550" y="230505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目的</a:t>
            </a:r>
          </a:p>
        </p:txBody>
      </p:sp>
      <p:sp>
        <p:nvSpPr>
          <p:cNvPr id="10" name="">
            <a:extLst>
              <a:ext uri="{FF2B5EF4-FFF2-40B4-BE49-F238E27FC236}">
                <ns2:creationId id="{35732797-8091-4791-913B-EA69E9C29953}"/>
              </a:ext>
            </a:extLst>
          </p:cNvPr>
          <p:cNvSpPr>
            <a:spLocks noGrp="1"/>
          </p:cNvSpPr>
          <p:nvPr/>
        </p:nvSpPr>
        <p:spPr>
          <a:xfrm>
            <a:off x="8210550" y="2857500"/>
            <a:ext cx="24574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9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F1F5F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1F5F9"/>
                </a:solidFill>
                <a:latin typeface="Aptos"/>
                <a:ea typeface="Aptos"/>
                <a:cs typeface="Aptos"/>
              </a:rPr>
              <a:t>先測試，後 build。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F1F5F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1F5F9"/>
                </a:solidFill>
                <a:latin typeface="Aptos"/>
                <a:ea typeface="Aptos"/>
                <a:cs typeface="Aptos"/>
              </a:rPr>
              <a:t>加 cache 是優化，不是讓失敗測試通過的魔法。</a:t>
            </a:r>
          </a:p>
        </p:txBody>
      </p:sp>
      <p:sp>
        <p:nvSpPr>
          <p:cNvPr id="11" name="">
            <a:extLst>
              <a:ext uri="{FF2B5EF4-FFF2-40B4-BE49-F238E27FC236}">
                <ns2:creationId id="{961C3623-DA6B-48E4-9A77-90DB89A4CB8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D01233D0-8D4E-4D82-8B7B-D7AD74859D9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>
              <a:ext uri="{FF2B5EF4-FFF2-40B4-BE49-F238E27FC236}">
                <ns2:creationId id="{02EF7264-59EF-4325-97CB-7619D702D76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ns3:creationId val="1654273898"/>
      </p:ext>
    </p:extLst>
  </p:cSld>
</p:sld>
</file>

<file path=ppt/slides/slide2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FED20CF-D301-48E5-BD41-E19F787DE47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 JOB</a:t>
            </a:r>
          </a:p>
        </p:txBody>
      </p:sp>
      <p:sp>
        <p:nvSpPr>
          <p:cNvPr id="2" name="">
            <a:extLst>
              <a:ext uri="{FF2B5EF4-FFF2-40B4-BE49-F238E27FC236}">
                <ns2:creationId id="{94014669-ED95-43A2-BB37-8A00FFFC75B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Job 2：build、health check、login、push</a:t>
            </a:r>
          </a:p>
        </p:txBody>
      </p:sp>
      <p:sp>
        <p:nvSpPr>
          <p:cNvPr id="3" name="">
            <a:extLst>
              <a:ext uri="{FF2B5EF4-FFF2-40B4-BE49-F238E27FC236}">
                <ns2:creationId id="{42B38C91-4142-4B5D-850E-2614E782079C}"/>
              </a:ext>
            </a:extLst>
          </p:cNvPr>
          <p:cNvSpPr>
            <a:spLocks noGrp="1"/>
          </p:cNvSpPr>
          <p:nvPr/>
        </p:nvSpPr>
        <p:spPr>
          <a:xfrm>
            <a:off x="704850" y="1257300"/>
            <a:ext cx="6858000" cy="4171950"/>
          </a:xfrm>
          <a:prstGeom prst="roundRect">
            <a:avLst>
              <a:gd name="adj" fmla="val 228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35EE873F-2731-463D-BF36-EEB53867C738}"/>
              </a:ext>
            </a:extLst>
          </p:cNvPr>
          <p:cNvSpPr>
            <a:spLocks noGrp="1"/>
          </p:cNvSpPr>
          <p:nvPr/>
        </p:nvSpPr>
        <p:spPr>
          <a:xfrm>
            <a:off x="876300" y="14192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541311A-8563-4B4B-8894-840957E1A609}"/>
              </a:ext>
            </a:extLst>
          </p:cNvPr>
          <p:cNvSpPr>
            <a:spLocks noGrp="1"/>
          </p:cNvSpPr>
          <p:nvPr/>
        </p:nvSpPr>
        <p:spPr>
          <a:xfrm>
            <a:off x="1047750" y="14192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82D4B2F0-0EDD-44DE-BF63-87B38C061290}"/>
              </a:ext>
            </a:extLst>
          </p:cNvPr>
          <p:cNvSpPr>
            <a:spLocks noGrp="1"/>
          </p:cNvSpPr>
          <p:nvPr/>
        </p:nvSpPr>
        <p:spPr>
          <a:xfrm>
            <a:off x="1219200" y="14192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B7D9D2A5-AB8F-4955-820C-11684E1044AF}"/>
              </a:ext>
            </a:extLst>
          </p:cNvPr>
          <p:cNvSpPr>
            <a:spLocks noGrp="1"/>
          </p:cNvSpPr>
          <p:nvPr/>
        </p:nvSpPr>
        <p:spPr>
          <a:xfrm>
            <a:off x="914400" y="1676400"/>
            <a:ext cx="6438900" cy="3619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docker: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runs-on: ubuntu-latest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needs: test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if: github.event_name == 'push' &amp;&amp; github.ref == 'refs/heads/main'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steps: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uses: actions/checkout@v4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rPr sz="1050">
                <a:solidFill>
                  <a:srgbClr val="F1F5F9"/>
                </a:solidFill>
              </a:rPr>
              <a:t>    - name: Create image tags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id: meta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run: |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echo "sha_short=$(git rev-parse --short HEAD)" &gt;&gt; $GITHUB_OUTPUT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echo "image=${{ secrets.DOCKERHUB_USERNAME }}/${{ env.IMAGE_NAME }}" &gt;&gt; $GITHUB_OUTPUT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- name: Build image locally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rPr sz="1050">
                <a:solidFill>
                  <a:srgbClr val="F1F5F9"/>
                </a:solidFill>
              </a:rPr>
              <a:t>      run: docker build -t ${{ steps.meta.outputs.image }}:latest .</a:t>
            </a:r>
          </a:p>
        </p:txBody>
      </p:sp>
      <p:sp>
        <p:nvSpPr>
          <p:cNvPr id="8" name="">
            <a:extLst>
              <a:ext uri="{FF2B5EF4-FFF2-40B4-BE49-F238E27FC236}">
                <ns2:creationId id="{2820FDF6-B367-42F2-926D-385A080A4DFE}"/>
              </a:ext>
            </a:extLst>
          </p:cNvPr>
          <p:cNvSpPr>
            <a:spLocks noGrp="1"/>
          </p:cNvSpPr>
          <p:nvPr/>
        </p:nvSpPr>
        <p:spPr>
          <a:xfrm>
            <a:off x="8077200" y="2095500"/>
            <a:ext cx="2857500" cy="1714500"/>
          </a:xfrm>
          <a:prstGeom prst="roundRect">
            <a:avLst>
              <a:gd name="adj" fmla="val 6667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7BEC1E84-267A-4048-9C56-B86ACE993A8D}"/>
              </a:ext>
            </a:extLst>
          </p:cNvPr>
          <p:cNvSpPr>
            <a:spLocks noGrp="1"/>
          </p:cNvSpPr>
          <p:nvPr/>
        </p:nvSpPr>
        <p:spPr>
          <a:xfrm>
            <a:off x="8305800" y="22860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流程順序</a:t>
            </a:r>
          </a:p>
        </p:txBody>
      </p:sp>
      <p:sp>
        <p:nvSpPr>
          <p:cNvPr id="10" name="">
            <a:extLst>
              <a:ext uri="{FF2B5EF4-FFF2-40B4-BE49-F238E27FC236}">
                <ns2:creationId id="{7064D4CB-560C-42CB-901F-EBF8394E1F2C}"/>
              </a:ext>
            </a:extLst>
          </p:cNvPr>
          <p:cNvSpPr>
            <a:spLocks noGrp="1"/>
          </p:cNvSpPr>
          <p:nvPr/>
        </p:nvSpPr>
        <p:spPr>
          <a:xfrm>
            <a:off x="8305800" y="2800350"/>
            <a:ext cx="24003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48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F1F5F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1F5F9"/>
                </a:solidFill>
                <a:latin typeface="Aptos"/>
                <a:ea typeface="Aptos"/>
                <a:cs typeface="Aptos"/>
              </a:rPr>
              <a:t>build image</a:t>
            </a:r>
          </a:p>
          <a:p>
            <a:pPr algn="ctr">
              <a:lnSpc>
                <a:spcPct val="106000"/>
              </a:lnSpc>
              <a:buNone/>
              <a:defRPr sz="1200" b="0">
                <a:solidFill>
                  <a:srgbClr val="F1F5F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1F5F9"/>
                </a:solidFill>
                <a:latin typeface="Aptos"/>
                <a:ea typeface="Aptos"/>
                <a:cs typeface="Aptos"/>
              </a:rPr>
              <a:t>run container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rPr sz="1200">
                <a:solidFill>
                  <a:srgbClr val="F1F5F9"/>
                </a:solidFill>
              </a:rPr>
              <a:t>curl /health</a:t>
            </a:r>
          </a:p>
          <a:p>
            <a:pPr algn="ctr">
              <a:lnSpc>
                <a:spcPct val="106000"/>
              </a:lnSpc>
              <a:buNone/>
              <a:defRPr sz="1200" b="0">
                <a:solidFill>
                  <a:srgbClr val="F1F5F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1F5F9"/>
                </a:solidFill>
                <a:latin typeface="Aptos"/>
                <a:ea typeface="Aptos"/>
                <a:cs typeface="Aptos"/>
              </a:rPr>
              <a:t>login Docker Hub</a:t>
            </a:r>
          </a:p>
          <a:p>
            <a:pPr algn="ctr">
              <a:lnSpc>
                <a:spcPct val="106000"/>
              </a:lnSpc>
              <a:buNone/>
              <a:defRPr sz="1200" b="0">
                <a:solidFill>
                  <a:srgbClr val="F1F5F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1F5F9"/>
                </a:solidFill>
                <a:latin typeface="Aptos"/>
                <a:ea typeface="Aptos"/>
                <a:cs typeface="Aptos"/>
              </a:rPr>
              <a:t>push image</a:t>
            </a:r>
          </a:p>
        </p:txBody>
      </p:sp>
      <p:sp>
        <p:nvSpPr>
          <p:cNvPr id="11" name="">
            <a:extLst>
              <a:ext uri="{FF2B5EF4-FFF2-40B4-BE49-F238E27FC236}">
                <ns2:creationId id="{276F95DE-D753-4120-9E2C-38DE0A8DE31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9CDBB7DD-FD05-48FD-A7C0-22BF12AA676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>
              <a:ext uri="{FF2B5EF4-FFF2-40B4-BE49-F238E27FC236}">
                <ns2:creationId id="{11D79E30-64FC-4850-853B-702DAABAFC3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ns3:creationId val="589192860"/>
      </p:ext>
    </p:extLst>
  </p:cSld>
</p:sld>
</file>

<file path=ppt/slides/slide2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CC4BFD5-1D61-431E-8E1F-B8B95CE2514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IMAGE TAGS</a:t>
            </a:r>
          </a:p>
        </p:txBody>
      </p:sp>
      <p:sp>
        <p:nvSpPr>
          <p:cNvPr id="2" name="">
            <a:extLst>
              <a:ext uri="{FF2B5EF4-FFF2-40B4-BE49-F238E27FC236}">
                <ns2:creationId id="{D9CCAFAC-1A9A-4790-91E7-800691BFF6E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latest 與 commit SHA 要一起用</a:t>
            </a:r>
          </a:p>
        </p:txBody>
      </p:sp>
      <p:sp>
        <p:nvSpPr>
          <p:cNvPr id="3" name="">
            <a:extLst>
              <a:ext uri="{FF2B5EF4-FFF2-40B4-BE49-F238E27FC236}">
                <ns2:creationId id="{23EBE4E5-5B2F-4A53-98DD-18EF6C8E5E34}"/>
              </a:ext>
            </a:extLst>
          </p:cNvPr>
          <p:cNvSpPr>
            <a:spLocks noGrp="1"/>
          </p:cNvSpPr>
          <p:nvPr/>
        </p:nvSpPr>
        <p:spPr>
          <a:xfrm>
            <a:off x="704850" y="1238250"/>
            <a:ext cx="7239000" cy="4095750"/>
          </a:xfrm>
          <a:prstGeom prst="roundRect">
            <a:avLst>
              <a:gd name="adj" fmla="val 232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A1A8061C-C567-47EA-BA7E-DAD3B11E5A81}"/>
              </a:ext>
            </a:extLst>
          </p:cNvPr>
          <p:cNvSpPr>
            <a:spLocks noGrp="1"/>
          </p:cNvSpPr>
          <p:nvPr/>
        </p:nvSpPr>
        <p:spPr>
          <a:xfrm>
            <a:off x="876300" y="1400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8897717F-3E01-4E36-88F2-2C118B183698}"/>
              </a:ext>
            </a:extLst>
          </p:cNvPr>
          <p:cNvSpPr>
            <a:spLocks noGrp="1"/>
          </p:cNvSpPr>
          <p:nvPr/>
        </p:nvSpPr>
        <p:spPr>
          <a:xfrm>
            <a:off x="1047750" y="1400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433AE91-F979-4DC7-B72C-C4ED0128935C}"/>
              </a:ext>
            </a:extLst>
          </p:cNvPr>
          <p:cNvSpPr>
            <a:spLocks noGrp="1"/>
          </p:cNvSpPr>
          <p:nvPr/>
        </p:nvSpPr>
        <p:spPr>
          <a:xfrm>
            <a:off x="1219200" y="1400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4831979-5B15-4A24-8A86-7DDDC30FD7D6}"/>
              </a:ext>
            </a:extLst>
          </p:cNvPr>
          <p:cNvSpPr>
            <a:spLocks noGrp="1"/>
          </p:cNvSpPr>
          <p:nvPr/>
        </p:nvSpPr>
        <p:spPr>
          <a:xfrm>
            <a:off x="914400" y="1657350"/>
            <a:ext cx="6819900" cy="3543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Build image locally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run: |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docker build \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-t ${{ steps.meta.outputs.image }}:latest \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-t ${{ steps.meta.outputs.image }}:${{ steps.meta.outputs.sha_short }} \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rPr sz="1200">
                <a:solidFill>
                  <a:srgbClr val="F1F5F9"/>
                </a:solidFill>
              </a:rPr>
              <a:t>      .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Push image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run: |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docker push ${{ steps.meta.outputs.image }}:latest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docker push ${{ steps.meta.outputs.image }}:${{ steps.meta.outputs.sha_short }}</a:t>
            </a:r>
          </a:p>
        </p:txBody>
      </p:sp>
      <p:sp>
        <p:nvSpPr>
          <p:cNvPr id="8" name="">
            <a:extLst>
              <a:ext uri="{FF2B5EF4-FFF2-40B4-BE49-F238E27FC236}">
                <ns2:creationId id="{A11717DB-45FA-4D93-A32A-4F29726CD340}"/>
              </a:ext>
            </a:extLst>
          </p:cNvPr>
          <p:cNvSpPr>
            <a:spLocks noGrp="1"/>
          </p:cNvSpPr>
          <p:nvPr/>
        </p:nvSpPr>
        <p:spPr>
          <a:xfrm>
            <a:off x="8382000" y="1809750"/>
            <a:ext cx="2571750" cy="990600"/>
          </a:xfrm>
          <a:prstGeom prst="roundRect">
            <a:avLst>
              <a:gd name="adj" fmla="val 1153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58FB53CE-E07C-4A3E-A2F6-18E7CFFF8DD0}"/>
              </a:ext>
            </a:extLst>
          </p:cNvPr>
          <p:cNvSpPr>
            <a:spLocks noGrp="1"/>
          </p:cNvSpPr>
          <p:nvPr/>
        </p:nvSpPr>
        <p:spPr>
          <a:xfrm>
            <a:off x="8610600" y="200025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latest</a:t>
            </a:r>
          </a:p>
        </p:txBody>
      </p:sp>
      <p:sp>
        <p:nvSpPr>
          <p:cNvPr id="10" name="">
            <a:extLst>
              <a:ext uri="{FF2B5EF4-FFF2-40B4-BE49-F238E27FC236}">
                <ns2:creationId id="{F76EE814-E524-47E7-A064-22676243D176}"/>
              </a:ext>
            </a:extLst>
          </p:cNvPr>
          <p:cNvSpPr>
            <a:spLocks noGrp="1"/>
          </p:cNvSpPr>
          <p:nvPr/>
        </p:nvSpPr>
        <p:spPr>
          <a:xfrm>
            <a:off x="8610600" y="2438400"/>
            <a:ext cx="21145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7069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永遠指向最新版本，方便開發測試。</a:t>
            </a:r>
          </a:p>
        </p:txBody>
      </p:sp>
      <p:sp>
        <p:nvSpPr>
          <p:cNvPr id="11" name="">
            <a:extLst>
              <a:ext uri="{FF2B5EF4-FFF2-40B4-BE49-F238E27FC236}">
                <ns2:creationId id="{770537E8-0CAF-4477-A657-BA53FEDCC068}"/>
              </a:ext>
            </a:extLst>
          </p:cNvPr>
          <p:cNvSpPr>
            <a:spLocks noGrp="1"/>
          </p:cNvSpPr>
          <p:nvPr/>
        </p:nvSpPr>
        <p:spPr>
          <a:xfrm>
            <a:off x="8382000" y="3371850"/>
            <a:ext cx="2571750" cy="990600"/>
          </a:xfrm>
          <a:prstGeom prst="roundRect">
            <a:avLst>
              <a:gd name="adj" fmla="val 11538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D4B8BB81-9F3C-4F96-8A93-21C7C798F05F}"/>
              </a:ext>
            </a:extLst>
          </p:cNvPr>
          <p:cNvSpPr>
            <a:spLocks noGrp="1"/>
          </p:cNvSpPr>
          <p:nvPr/>
        </p:nvSpPr>
        <p:spPr>
          <a:xfrm>
            <a:off x="8610600" y="356235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sha_short</a:t>
            </a:r>
          </a:p>
        </p:txBody>
      </p:sp>
      <p:sp>
        <p:nvSpPr>
          <p:cNvPr id="13" name="">
            <a:extLst>
              <a:ext uri="{FF2B5EF4-FFF2-40B4-BE49-F238E27FC236}">
                <ns2:creationId id="{20583A33-02A1-4CB2-BCB7-DAB20EF007DF}"/>
              </a:ext>
            </a:extLst>
          </p:cNvPr>
          <p:cNvSpPr>
            <a:spLocks noGrp="1"/>
          </p:cNvSpPr>
          <p:nvPr/>
        </p:nvSpPr>
        <p:spPr>
          <a:xfrm>
            <a:off x="8610600" y="4000500"/>
            <a:ext cx="21145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8986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每次 commit 都有獨立版本，方便追溯與回滾。</a:t>
            </a:r>
          </a:p>
        </p:txBody>
      </p:sp>
      <p:sp>
        <p:nvSpPr>
          <p:cNvPr id="14" name="">
            <a:extLst>
              <a:ext uri="{FF2B5EF4-FFF2-40B4-BE49-F238E27FC236}">
                <ns2:creationId id="{35A68845-645C-4E7F-8B75-D1B8E6942A1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338284DB-872F-4116-BA23-4109F034D90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6" name="">
            <a:extLst>
              <a:ext uri="{FF2B5EF4-FFF2-40B4-BE49-F238E27FC236}">
                <ns2:creationId id="{6EA65AE1-C04E-4C7E-B7FF-DF04C19EFBE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ns3:creationId val="371382191"/>
      </p:ext>
    </p:extLst>
  </p:cSld>
</p:sld>
</file>

<file path=ppt/slides/slide2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5B79E5D-1BCD-4485-818C-1CFC492A09E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DEPLOY INFO OUTPUT</a:t>
            </a:r>
          </a:p>
        </p:txBody>
      </p:sp>
      <p:sp>
        <p:nvSpPr>
          <p:cNvPr id="2" name="">
            <a:extLst>
              <a:ext uri="{FF2B5EF4-FFF2-40B4-BE49-F238E27FC236}">
                <ns2:creationId id="{8A09375B-A48A-43F9-B93A-0ED8DFB9835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輸出部署資訊：讓下一步清楚可複製</a:t>
            </a:r>
          </a:p>
        </p:txBody>
      </p:sp>
      <p:sp>
        <p:nvSpPr>
          <p:cNvPr id="3" name="">
            <a:extLst>
              <a:ext uri="{FF2B5EF4-FFF2-40B4-BE49-F238E27FC236}">
                <ns2:creationId id="{8BD0CDB2-A93B-4536-BCC3-22502A362590}"/>
              </a:ext>
            </a:extLst>
          </p:cNvPr>
          <p:cNvSpPr>
            <a:spLocks noGrp="1"/>
          </p:cNvSpPr>
          <p:nvPr/>
        </p:nvSpPr>
        <p:spPr>
          <a:xfrm>
            <a:off x="800100" y="1466850"/>
            <a:ext cx="8667750" cy="238125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D2325F85-33AC-4DCC-AA72-E979AE2B657E}"/>
              </a:ext>
            </a:extLst>
          </p:cNvPr>
          <p:cNvSpPr>
            <a:spLocks noGrp="1"/>
          </p:cNvSpPr>
          <p:nvPr/>
        </p:nvSpPr>
        <p:spPr>
          <a:xfrm>
            <a:off x="97155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BA551CBF-5CA9-4BB0-A7A7-F7F460B2BBAC}"/>
              </a:ext>
            </a:extLst>
          </p:cNvPr>
          <p:cNvSpPr>
            <a:spLocks noGrp="1"/>
          </p:cNvSpPr>
          <p:nvPr/>
        </p:nvSpPr>
        <p:spPr>
          <a:xfrm>
            <a:off x="114300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43F9C76-E9AD-4B32-BE6E-8E0986E6B418}"/>
              </a:ext>
            </a:extLst>
          </p:cNvPr>
          <p:cNvSpPr>
            <a:spLocks noGrp="1"/>
          </p:cNvSpPr>
          <p:nvPr/>
        </p:nvSpPr>
        <p:spPr>
          <a:xfrm>
            <a:off x="131445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DE5B731E-173D-4775-BB33-C808680D9723}"/>
              </a:ext>
            </a:extLst>
          </p:cNvPr>
          <p:cNvSpPr>
            <a:spLocks noGrp="1"/>
          </p:cNvSpPr>
          <p:nvPr/>
        </p:nvSpPr>
        <p:spPr>
          <a:xfrm>
            <a:off x="1009650" y="1885950"/>
            <a:ext cx="824865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Print deployment commands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run: |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"Docker image pushed successfully."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"Image: ${{ steps.meta.outputs.image }}"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"Tags: latest, ${{ steps.meta.outputs.sha_short }}"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""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"Deploy with:"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"docker pull ${{ steps.meta.outputs.image }}:latest"</a:t>
            </a:r>
          </a:p>
          <a:p>
            <a:pPr algn="l">
              <a:lnSpc>
                <a:spcPct val="104000"/>
              </a:lnSpc>
              <a:buNone/>
              <a:defRPr sz="105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"docker run -d -p 5000:5000 ${{ steps.meta.outputs.image }}:latest"</a:t>
            </a:r>
          </a:p>
        </p:txBody>
      </p:sp>
      <p:sp>
        <p:nvSpPr>
          <p:cNvPr id="8" name="">
            <a:extLst>
              <a:ext uri="{FF2B5EF4-FFF2-40B4-BE49-F238E27FC236}">
                <ns2:creationId id="{52EB2E33-2D59-4F39-800D-6DE89946CD06}"/>
              </a:ext>
            </a:extLst>
          </p:cNvPr>
          <p:cNvSpPr>
            <a:spLocks noGrp="1"/>
          </p:cNvSpPr>
          <p:nvPr/>
        </p:nvSpPr>
        <p:spPr>
          <a:xfrm>
            <a:off x="2076450" y="4686300"/>
            <a:ext cx="8039100" cy="609600"/>
          </a:xfrm>
          <a:prstGeom prst="roundRect">
            <a:avLst>
              <a:gd name="adj" fmla="val 1562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1FCBC0E4-B168-4389-8EE0-3F083CA0E5E0}"/>
              </a:ext>
            </a:extLst>
          </p:cNvPr>
          <p:cNvSpPr>
            <a:spLocks noGrp="1"/>
          </p:cNvSpPr>
          <p:nvPr/>
        </p:nvSpPr>
        <p:spPr>
          <a:xfrm>
            <a:off x="2381250" y="4895850"/>
            <a:ext cx="742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847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CI log 不只是結果，也可以把部署指令明確輸出，降低操作錯誤。</a:t>
            </a:r>
          </a:p>
        </p:txBody>
      </p:sp>
      <p:sp>
        <p:nvSpPr>
          <p:cNvPr id="10" name="">
            <a:extLst>
              <a:ext uri="{FF2B5EF4-FFF2-40B4-BE49-F238E27FC236}">
                <ns2:creationId id="{C2E41077-CD9D-43C9-9664-9A6144223D8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A0B26A4F-9E9E-4939-9BC0-74815B55012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2" name="">
            <a:extLst>
              <a:ext uri="{FF2B5EF4-FFF2-40B4-BE49-F238E27FC236}">
                <ns2:creationId id="{18D7188C-0E88-464C-9A07-805597F1EAA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ns3:creationId val="62292333"/>
      </p:ext>
    </p:extLst>
  </p:cSld>
</p:sld>
</file>

<file path=ppt/slides/slide2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8C9A0993-591A-487D-A981-1277F58960E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VERIFY IMAGE</a:t>
            </a:r>
          </a:p>
        </p:txBody>
      </p:sp>
      <p:sp>
        <p:nvSpPr>
          <p:cNvPr id="2" name="">
            <a:extLst>
              <a:ext uri="{FF2B5EF4-FFF2-40B4-BE49-F238E27FC236}">
                <ns2:creationId id="{B8F7B600-ADC2-4227-8507-D2E64956C0C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驗證 Docker Hub 上的 Image 能用</a:t>
            </a:r>
          </a:p>
        </p:txBody>
      </p:sp>
      <p:sp>
        <p:nvSpPr>
          <p:cNvPr id="3" name="">
            <a:extLst>
              <a:ext uri="{FF2B5EF4-FFF2-40B4-BE49-F238E27FC236}">
                <ns2:creationId id="{3EA1DF41-079F-438D-A96A-48EC7B2A442E}"/>
              </a:ext>
            </a:extLst>
          </p:cNvPr>
          <p:cNvSpPr>
            <a:spLocks noGrp="1"/>
          </p:cNvSpPr>
          <p:nvPr/>
        </p:nvSpPr>
        <p:spPr>
          <a:xfrm>
            <a:off x="895350" y="1504950"/>
            <a:ext cx="7239000" cy="2762250"/>
          </a:xfrm>
          <a:prstGeom prst="roundRect">
            <a:avLst>
              <a:gd name="adj" fmla="val 344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4121CEC-34BA-4498-AA0F-3F0616A7F3A8}"/>
              </a:ext>
            </a:extLst>
          </p:cNvPr>
          <p:cNvSpPr>
            <a:spLocks noGrp="1"/>
          </p:cNvSpPr>
          <p:nvPr/>
        </p:nvSpPr>
        <p:spPr>
          <a:xfrm>
            <a:off x="1066800" y="1666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22FBDF31-48BE-4CEF-BD3F-BA270DDE86F2}"/>
              </a:ext>
            </a:extLst>
          </p:cNvPr>
          <p:cNvSpPr>
            <a:spLocks noGrp="1"/>
          </p:cNvSpPr>
          <p:nvPr/>
        </p:nvSpPr>
        <p:spPr>
          <a:xfrm>
            <a:off x="1238250" y="1666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9CF50388-9555-4D86-AB9C-67AFC8A1C56B}"/>
              </a:ext>
            </a:extLst>
          </p:cNvPr>
          <p:cNvSpPr>
            <a:spLocks noGrp="1"/>
          </p:cNvSpPr>
          <p:nvPr/>
        </p:nvSpPr>
        <p:spPr>
          <a:xfrm>
            <a:off x="1409700" y="1666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681799AD-525B-46A1-B41E-E78F17FFFF2A}"/>
              </a:ext>
            </a:extLst>
          </p:cNvPr>
          <p:cNvSpPr>
            <a:spLocks noGrp="1"/>
          </p:cNvSpPr>
          <p:nvPr/>
        </p:nvSpPr>
        <p:spPr>
          <a:xfrm>
            <a:off x="1104900" y="1924050"/>
            <a:ext cx="6819900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docker pull 你的帳號/docker-cicd-demo:latest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docker run -d --name cicd-test -p 5000:5000 你的帳號/docker-cicd-demo:latest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curl http://localhost:5000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curl http://localhost:5000/health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docker rm -f cicd-test</a:t>
            </a:r>
          </a:p>
        </p:txBody>
      </p:sp>
      <p:sp>
        <p:nvSpPr>
          <p:cNvPr id="8" name="">
            <a:extLst>
              <a:ext uri="{FF2B5EF4-FFF2-40B4-BE49-F238E27FC236}">
                <ns2:creationId id="{996E812C-3C1C-4DBA-ACA7-46035EAD3334}"/>
              </a:ext>
            </a:extLst>
          </p:cNvPr>
          <p:cNvSpPr>
            <a:spLocks noGrp="1"/>
          </p:cNvSpPr>
          <p:nvPr/>
        </p:nvSpPr>
        <p:spPr>
          <a:xfrm>
            <a:off x="8686800" y="1885950"/>
            <a:ext cx="2381250" cy="1809750"/>
          </a:xfrm>
          <a:prstGeom prst="roundRect">
            <a:avLst>
              <a:gd name="adj" fmla="val 6316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8F2802C0-5ECD-4687-AB56-63D4E6778224}"/>
              </a:ext>
            </a:extLst>
          </p:cNvPr>
          <p:cNvSpPr>
            <a:spLocks noGrp="1"/>
          </p:cNvSpPr>
          <p:nvPr/>
        </p:nvSpPr>
        <p:spPr>
          <a:xfrm>
            <a:off x="8915400" y="2076450"/>
            <a:ext cx="1924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驗證重點</a:t>
            </a:r>
          </a:p>
        </p:txBody>
      </p:sp>
      <p:sp>
        <p:nvSpPr>
          <p:cNvPr id="10" name="">
            <a:extLst>
              <a:ext uri="{FF2B5EF4-FFF2-40B4-BE49-F238E27FC236}">
                <ns2:creationId id="{69329B9F-8B31-40B1-8780-DA05430AF5AB}"/>
              </a:ext>
            </a:extLst>
          </p:cNvPr>
          <p:cNvSpPr>
            <a:spLocks noGrp="1"/>
          </p:cNvSpPr>
          <p:nvPr/>
        </p:nvSpPr>
        <p:spPr>
          <a:xfrm>
            <a:off x="8915400" y="2552700"/>
            <a:ext cx="19240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986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pull 得下來。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容器能啟動。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/health 回 healthy。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4. 測完清理容器。</a:t>
            </a:r>
          </a:p>
        </p:txBody>
      </p:sp>
      <p:sp>
        <p:nvSpPr>
          <p:cNvPr id="11" name="">
            <a:extLst>
              <a:ext uri="{FF2B5EF4-FFF2-40B4-BE49-F238E27FC236}">
                <ns2:creationId id="{184C355F-4118-4343-ACCC-FE822ABBC5B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10ABC92F-615C-4059-970D-C7AC145933F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>
              <a:ext uri="{FF2B5EF4-FFF2-40B4-BE49-F238E27FC236}">
                <ns2:creationId id="{5801DF00-3ABF-4073-9BFC-98C6991193E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ns3:creationId val="1071792724"/>
      </p:ext>
    </p:extLst>
  </p:cSld>
</p:sld>
</file>

<file path=ppt/slides/slide2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41F0DD2-BC1B-4803-8960-0584D89E689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CI BADGE</a:t>
            </a:r>
          </a:p>
        </p:txBody>
      </p:sp>
      <p:sp>
        <p:nvSpPr>
          <p:cNvPr id="2" name="">
            <a:extLst>
              <a:ext uri="{FF2B5EF4-FFF2-40B4-BE49-F238E27FC236}">
                <ns2:creationId id="{3919F05C-48DA-4EB5-B12A-2F6A8F71D6E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README 一眼看出 CI 狀態</a:t>
            </a:r>
          </a:p>
        </p:txBody>
      </p:sp>
      <p:sp>
        <p:nvSpPr>
          <p:cNvPr id="3" name="">
            <a:extLst>
              <a:ext uri="{FF2B5EF4-FFF2-40B4-BE49-F238E27FC236}">
                <ns2:creationId id="{21AB3765-5367-45B7-B420-3EB3B4C1CBA4}"/>
              </a:ext>
            </a:extLst>
          </p:cNvPr>
          <p:cNvSpPr>
            <a:spLocks noGrp="1"/>
          </p:cNvSpPr>
          <p:nvPr/>
        </p:nvSpPr>
        <p:spPr>
          <a:xfrm>
            <a:off x="914400" y="1695450"/>
            <a:ext cx="8763000" cy="819150"/>
          </a:xfrm>
          <a:prstGeom prst="roundRect">
            <a:avLst>
              <a:gd name="adj" fmla="val 1162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048621E2-E93B-4BDB-8D15-505C06686A7E}"/>
              </a:ext>
            </a:extLst>
          </p:cNvPr>
          <p:cNvSpPr>
            <a:spLocks noGrp="1"/>
          </p:cNvSpPr>
          <p:nvPr/>
        </p:nvSpPr>
        <p:spPr>
          <a:xfrm>
            <a:off x="108585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8B401C3-73F7-4AA6-AD64-9CC6AFF45B43}"/>
              </a:ext>
            </a:extLst>
          </p:cNvPr>
          <p:cNvSpPr>
            <a:spLocks noGrp="1"/>
          </p:cNvSpPr>
          <p:nvPr/>
        </p:nvSpPr>
        <p:spPr>
          <a:xfrm>
            <a:off x="125730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0B32A4ED-BCC8-45A5-9AA9-9A4356C09870}"/>
              </a:ext>
            </a:extLst>
          </p:cNvPr>
          <p:cNvSpPr>
            <a:spLocks noGrp="1"/>
          </p:cNvSpPr>
          <p:nvPr/>
        </p:nvSpPr>
        <p:spPr>
          <a:xfrm>
            <a:off x="142875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81C504D0-5625-42F1-B55A-261EF843D381}"/>
              </a:ext>
            </a:extLst>
          </p:cNvPr>
          <p:cNvSpPr>
            <a:spLocks noGrp="1"/>
          </p:cNvSpPr>
          <p:nvPr/>
        </p:nvSpPr>
        <p:spPr>
          <a:xfrm>
            <a:off x="1123950" y="2114550"/>
            <a:ext cx="8343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![CI](https://github.com/你的帳號/docker-cicd-demo/actions/workflows/cicd.yml/badge.svg)</a:t>
            </a:r>
          </a:p>
        </p:txBody>
      </p:sp>
      <p:sp>
        <p:nvSpPr>
          <p:cNvPr id="8" name="">
            <a:extLst>
              <a:ext uri="{FF2B5EF4-FFF2-40B4-BE49-F238E27FC236}">
                <ns2:creationId id="{EDFF9317-6D0C-4C2E-8E71-485F29A4E401}"/>
              </a:ext>
            </a:extLst>
          </p:cNvPr>
          <p:cNvSpPr>
            <a:spLocks noGrp="1"/>
          </p:cNvSpPr>
          <p:nvPr/>
        </p:nvSpPr>
        <p:spPr>
          <a:xfrm>
            <a:off x="1981200" y="3486150"/>
            <a:ext cx="2857500" cy="1333500"/>
          </a:xfrm>
          <a:prstGeom prst="roundRect">
            <a:avLst>
              <a:gd name="adj" fmla="val 8571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EFCD9798-5AB5-4475-94A5-8EB0C118FA5E}"/>
              </a:ext>
            </a:extLst>
          </p:cNvPr>
          <p:cNvSpPr>
            <a:spLocks noGrp="1"/>
          </p:cNvSpPr>
          <p:nvPr/>
        </p:nvSpPr>
        <p:spPr>
          <a:xfrm>
            <a:off x="2209800" y="36766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616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綠色</a:t>
            </a:r>
          </a:p>
        </p:txBody>
      </p:sp>
      <p:sp>
        <p:nvSpPr>
          <p:cNvPr id="10" name="">
            <a:extLst>
              <a:ext uri="{FF2B5EF4-FFF2-40B4-BE49-F238E27FC236}">
                <ns2:creationId id="{CADC6657-6802-410F-BDE1-0B419988C1C5}"/>
              </a:ext>
            </a:extLst>
          </p:cNvPr>
          <p:cNvSpPr>
            <a:spLocks noGrp="1"/>
          </p:cNvSpPr>
          <p:nvPr/>
        </p:nvSpPr>
        <p:spPr>
          <a:xfrm>
            <a:off x="2209800" y="4267200"/>
            <a:ext cx="2400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目前 workflow 通過。</a:t>
            </a:r>
          </a:p>
        </p:txBody>
      </p:sp>
      <p:sp>
        <p:nvSpPr>
          <p:cNvPr id="11" name="">
            <a:extLst>
              <a:ext uri="{FF2B5EF4-FFF2-40B4-BE49-F238E27FC236}">
                <ns2:creationId id="{83427648-7D4B-449A-A978-7B5A48F46598}"/>
              </a:ext>
            </a:extLst>
          </p:cNvPr>
          <p:cNvSpPr>
            <a:spLocks noGrp="1"/>
          </p:cNvSpPr>
          <p:nvPr/>
        </p:nvSpPr>
        <p:spPr>
          <a:xfrm>
            <a:off x="7353300" y="3486150"/>
            <a:ext cx="2857500" cy="1333500"/>
          </a:xfrm>
          <a:prstGeom prst="roundRect">
            <a:avLst>
              <a:gd name="adj" fmla="val 8571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74CE4E5D-8675-4D33-AAD1-8B60BD6D1F59}"/>
              </a:ext>
            </a:extLst>
          </p:cNvPr>
          <p:cNvSpPr>
            <a:spLocks noGrp="1"/>
          </p:cNvSpPr>
          <p:nvPr/>
        </p:nvSpPr>
        <p:spPr>
          <a:xfrm>
            <a:off x="7581900" y="36766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616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紅色</a:t>
            </a:r>
          </a:p>
        </p:txBody>
      </p:sp>
      <p:sp>
        <p:nvSpPr>
          <p:cNvPr id="13" name="">
            <a:extLst>
              <a:ext uri="{FF2B5EF4-FFF2-40B4-BE49-F238E27FC236}">
                <ns2:creationId id="{7E06CDB3-BFDC-48AE-BF37-084B3B869E9E}"/>
              </a:ext>
            </a:extLst>
          </p:cNvPr>
          <p:cNvSpPr>
            <a:spLocks noGrp="1"/>
          </p:cNvSpPr>
          <p:nvPr/>
        </p:nvSpPr>
        <p:spPr>
          <a:xfrm>
            <a:off x="7581900" y="4267200"/>
            <a:ext cx="2400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目前 workflow 失敗。</a:t>
            </a:r>
          </a:p>
        </p:txBody>
      </p:sp>
      <p:sp>
        <p:nvSpPr>
          <p:cNvPr id="14" name="">
            <a:extLst>
              <a:ext uri="{FF2B5EF4-FFF2-40B4-BE49-F238E27FC236}">
                <ns2:creationId id="{9F434A88-60DF-4500-8912-2675724FCF7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3A4A3C98-AF37-4DBE-B3B6-99F408728C0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6" name="">
            <a:extLst>
              <a:ext uri="{FF2B5EF4-FFF2-40B4-BE49-F238E27FC236}">
                <ns2:creationId id="{A98B2FE6-4578-4954-A427-A290E03906D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ns3:creationId val="2124442926"/>
      </p:ext>
    </p:extLst>
  </p:cSld>
</p:sld>
</file>

<file path=ppt/slides/slide3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0236020-16EB-4F71-9568-C49EF566C85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DEPENDENCY CACHE</a:t>
            </a:r>
          </a:p>
        </p:txBody>
      </p:sp>
      <p:sp>
        <p:nvSpPr>
          <p:cNvPr id="2" name="">
            <a:extLst>
              <a:ext uri="{FF2B5EF4-FFF2-40B4-BE49-F238E27FC236}">
                <ns2:creationId id="{712D6501-3C89-4D8B-8E62-A70237BD470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快取 pip 依賴，加速 CI</a:t>
            </a:r>
          </a:p>
        </p:txBody>
      </p:sp>
      <p:sp>
        <p:nvSpPr>
          <p:cNvPr id="3" name="">
            <a:extLst>
              <a:ext uri="{FF2B5EF4-FFF2-40B4-BE49-F238E27FC236}">
                <ns2:creationId id="{2BE6BCA2-23CA-4801-A7A0-E3CAFEDE9ECE}"/>
              </a:ext>
            </a:extLst>
          </p:cNvPr>
          <p:cNvSpPr>
            <a:spLocks noGrp="1"/>
          </p:cNvSpPr>
          <p:nvPr/>
        </p:nvSpPr>
        <p:spPr>
          <a:xfrm>
            <a:off x="800100" y="1543050"/>
            <a:ext cx="7620000" cy="2266950"/>
          </a:xfrm>
          <a:prstGeom prst="roundRect">
            <a:avLst>
              <a:gd name="adj" fmla="val 420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026DD955-838A-4DAE-BD4B-063C442A502D}"/>
              </a:ext>
            </a:extLst>
          </p:cNvPr>
          <p:cNvSpPr>
            <a:spLocks noGrp="1"/>
          </p:cNvSpPr>
          <p:nvPr/>
        </p:nvSpPr>
        <p:spPr>
          <a:xfrm>
            <a:off x="971550" y="17049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46E4D340-BB71-47E5-A1C5-4B352E16132E}"/>
              </a:ext>
            </a:extLst>
          </p:cNvPr>
          <p:cNvSpPr>
            <a:spLocks noGrp="1"/>
          </p:cNvSpPr>
          <p:nvPr/>
        </p:nvSpPr>
        <p:spPr>
          <a:xfrm>
            <a:off x="1143000" y="17049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4A8DA5F7-94E8-42B9-8F74-43B4AEF3B21F}"/>
              </a:ext>
            </a:extLst>
          </p:cNvPr>
          <p:cNvSpPr>
            <a:spLocks noGrp="1"/>
          </p:cNvSpPr>
          <p:nvPr/>
        </p:nvSpPr>
        <p:spPr>
          <a:xfrm>
            <a:off x="1314450" y="17049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07E03516-61AE-4DC0-9323-E45533A5F932}"/>
              </a:ext>
            </a:extLst>
          </p:cNvPr>
          <p:cNvSpPr>
            <a:spLocks noGrp="1"/>
          </p:cNvSpPr>
          <p:nvPr/>
        </p:nvSpPr>
        <p:spPr>
          <a:xfrm>
            <a:off x="1009650" y="1962150"/>
            <a:ext cx="720090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82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Cache pip packages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uses: actions/cache@v4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with: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path: ~/.cache/pip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key: ${{ runner.os }}-pip-${{ hashFiles('requirements.txt') }}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rPr sz="1200">
                <a:solidFill>
                  <a:srgbClr val="F1F5F9"/>
                </a:solidFill>
              </a:rPr>
              <a:t>    restore-keys: |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${{ runner.os }}-pip-</a:t>
            </a:r>
          </a:p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Install dependencies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run: pip install -r requirements.txt</a:t>
            </a:r>
          </a:p>
        </p:txBody>
      </p:sp>
      <p:sp>
        <p:nvSpPr>
          <p:cNvPr id="8" name="">
            <a:extLst>
              <a:ext uri="{FF2B5EF4-FFF2-40B4-BE49-F238E27FC236}">
                <ns2:creationId id="{42D69B58-60BE-481E-84E0-774D32EE17D9}"/>
              </a:ext>
            </a:extLst>
          </p:cNvPr>
          <p:cNvSpPr>
            <a:spLocks noGrp="1"/>
          </p:cNvSpPr>
          <p:nvPr/>
        </p:nvSpPr>
        <p:spPr>
          <a:xfrm>
            <a:off x="1600200" y="4610100"/>
            <a:ext cx="3429000" cy="1104900"/>
          </a:xfrm>
          <a:prstGeom prst="roundRect">
            <a:avLst>
              <a:gd name="adj" fmla="val 10345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E23D7A82-403B-4611-9625-52F16C5089DB}"/>
              </a:ext>
            </a:extLst>
          </p:cNvPr>
          <p:cNvSpPr>
            <a:spLocks noGrp="1"/>
          </p:cNvSpPr>
          <p:nvPr/>
        </p:nvSpPr>
        <p:spPr>
          <a:xfrm>
            <a:off x="1828800" y="4800600"/>
            <a:ext cx="2971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快取命中</a:t>
            </a:r>
          </a:p>
        </p:txBody>
      </p:sp>
      <p:sp>
        <p:nvSpPr>
          <p:cNvPr id="10" name="">
            <a:extLst>
              <a:ext uri="{FF2B5EF4-FFF2-40B4-BE49-F238E27FC236}">
                <ns2:creationId id="{FB42BF57-B8DE-4083-90D2-6F3464482A9F}"/>
              </a:ext>
            </a:extLst>
          </p:cNvPr>
          <p:cNvSpPr>
            <a:spLocks noGrp="1"/>
          </p:cNvSpPr>
          <p:nvPr/>
        </p:nvSpPr>
        <p:spPr>
          <a:xfrm>
            <a:off x="1828800" y="5238750"/>
            <a:ext cx="2971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403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requirements.txt 沒變時，用上次下載的套件。</a:t>
            </a:r>
          </a:p>
        </p:txBody>
      </p:sp>
      <p:sp>
        <p:nvSpPr>
          <p:cNvPr id="11" name="">
            <a:extLst>
              <a:ext uri="{FF2B5EF4-FFF2-40B4-BE49-F238E27FC236}">
                <ns2:creationId id="{E3F1194B-CEF1-440A-BB12-84F448029876}"/>
              </a:ext>
            </a:extLst>
          </p:cNvPr>
          <p:cNvSpPr>
            <a:spLocks noGrp="1"/>
          </p:cNvSpPr>
          <p:nvPr/>
        </p:nvSpPr>
        <p:spPr>
          <a:xfrm>
            <a:off x="7162800" y="4610100"/>
            <a:ext cx="3429000" cy="1104900"/>
          </a:xfrm>
          <a:prstGeom prst="roundRect">
            <a:avLst>
              <a:gd name="adj" fmla="val 10345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5393857B-0968-46EF-B37E-0FB91224E1F6}"/>
              </a:ext>
            </a:extLst>
          </p:cNvPr>
          <p:cNvSpPr>
            <a:spLocks noGrp="1"/>
          </p:cNvSpPr>
          <p:nvPr/>
        </p:nvSpPr>
        <p:spPr>
          <a:xfrm>
            <a:off x="7391400" y="4800600"/>
            <a:ext cx="2971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快取失效</a:t>
            </a:r>
          </a:p>
        </p:txBody>
      </p:sp>
      <p:sp>
        <p:nvSpPr>
          <p:cNvPr id="13" name="">
            <a:extLst>
              <a:ext uri="{FF2B5EF4-FFF2-40B4-BE49-F238E27FC236}">
                <ns2:creationId id="{E0E6531A-7B8B-4C76-AE5C-C88AB3BFA597}"/>
              </a:ext>
            </a:extLst>
          </p:cNvPr>
          <p:cNvSpPr>
            <a:spLocks noGrp="1"/>
          </p:cNvSpPr>
          <p:nvPr/>
        </p:nvSpPr>
        <p:spPr>
          <a:xfrm>
            <a:off x="7391400" y="5238750"/>
            <a:ext cx="2971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6903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requirements.txt 改了，就重新安裝並建立新快取。</a:t>
            </a:r>
          </a:p>
        </p:txBody>
      </p:sp>
      <p:sp>
        <p:nvSpPr>
          <p:cNvPr id="14" name="">
            <a:extLst>
              <a:ext uri="{FF2B5EF4-FFF2-40B4-BE49-F238E27FC236}">
                <ns2:creationId id="{C704F87D-07B4-43D0-A00B-6829DC1C0F9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165F23FA-9610-4A8E-8113-91F32647716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6" name="">
            <a:extLst>
              <a:ext uri="{FF2B5EF4-FFF2-40B4-BE49-F238E27FC236}">
                <ns2:creationId id="{2B2F36A8-2A5E-4BE0-867A-03BFBB7A7AA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ns3:creationId val="845044999"/>
      </p:ext>
    </p:extLst>
  </p:cSld>
</p:sld>
</file>

<file path=ppt/slides/slide3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5EA698A-8BBA-4B08-B1FD-7DD23A7C0BE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MATRIX TESTING</a:t>
            </a:r>
          </a:p>
        </p:txBody>
      </p:sp>
      <p:sp>
        <p:nvSpPr>
          <p:cNvPr id="2" name="">
            <a:extLst>
              <a:ext uri="{FF2B5EF4-FFF2-40B4-BE49-F238E27FC236}">
                <ns2:creationId id="{37663BB5-18FD-40C9-A0E2-7079BAC192A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Matrix：同時測多個 Python 版本</a:t>
            </a:r>
          </a:p>
        </p:txBody>
      </p:sp>
      <p:sp>
        <p:nvSpPr>
          <p:cNvPr id="3" name="">
            <a:extLst>
              <a:ext uri="{FF2B5EF4-FFF2-40B4-BE49-F238E27FC236}">
                <ns2:creationId id="{701246C5-0350-4FE3-ACC2-CD473A964948}"/>
              </a:ext>
            </a:extLst>
          </p:cNvPr>
          <p:cNvSpPr>
            <a:spLocks noGrp="1"/>
          </p:cNvSpPr>
          <p:nvPr/>
        </p:nvSpPr>
        <p:spPr>
          <a:xfrm>
            <a:off x="723900" y="1257300"/>
            <a:ext cx="6572250" cy="4171950"/>
          </a:xfrm>
          <a:prstGeom prst="roundRect">
            <a:avLst>
              <a:gd name="adj" fmla="val 228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1EE4A11F-7152-4AA9-ACD9-855242BF6D33}"/>
              </a:ext>
            </a:extLst>
          </p:cNvPr>
          <p:cNvSpPr>
            <a:spLocks noGrp="1"/>
          </p:cNvSpPr>
          <p:nvPr/>
        </p:nvSpPr>
        <p:spPr>
          <a:xfrm>
            <a:off x="895350" y="14192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13238629-CDC9-4FCF-9110-BEE1EEE0380B}"/>
              </a:ext>
            </a:extLst>
          </p:cNvPr>
          <p:cNvSpPr>
            <a:spLocks noGrp="1"/>
          </p:cNvSpPr>
          <p:nvPr/>
        </p:nvSpPr>
        <p:spPr>
          <a:xfrm>
            <a:off x="1066800" y="14192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C49F3B0A-7AD5-4105-A953-EFA4CF0FDB62}"/>
              </a:ext>
            </a:extLst>
          </p:cNvPr>
          <p:cNvSpPr>
            <a:spLocks noGrp="1"/>
          </p:cNvSpPr>
          <p:nvPr/>
        </p:nvSpPr>
        <p:spPr>
          <a:xfrm>
            <a:off x="1238250" y="14192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C9A0A137-AC3E-4DE0-8FE2-F6D226E8FD15}"/>
              </a:ext>
            </a:extLst>
          </p:cNvPr>
          <p:cNvSpPr>
            <a:spLocks noGrp="1"/>
          </p:cNvSpPr>
          <p:nvPr/>
        </p:nvSpPr>
        <p:spPr>
          <a:xfrm>
            <a:off x="933450" y="1676400"/>
            <a:ext cx="6153150" cy="3619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test: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strategy: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matrix: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python-version: ['3.10', '3.11', '3.12']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- uses: actions/checkout@v4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- uses: actions/setup-python@v5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  python-version: ${{ matrix.python-version }}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- run: pip install -r requirements.txt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- run: pytest test_app.py -v</a:t>
            </a:r>
          </a:p>
        </p:txBody>
      </p:sp>
      <p:sp>
        <p:nvSpPr>
          <p:cNvPr id="8" name="">
            <a:extLst>
              <a:ext uri="{FF2B5EF4-FFF2-40B4-BE49-F238E27FC236}">
                <ns2:creationId id="{EB5F25BC-E17B-4A16-B101-ECF62E09987F}"/>
              </a:ext>
            </a:extLst>
          </p:cNvPr>
          <p:cNvSpPr>
            <a:spLocks noGrp="1"/>
          </p:cNvSpPr>
          <p:nvPr/>
        </p:nvSpPr>
        <p:spPr>
          <a:xfrm>
            <a:off x="7962900" y="2038350"/>
            <a:ext cx="3048000" cy="1809750"/>
          </a:xfrm>
          <a:prstGeom prst="roundRect">
            <a:avLst>
              <a:gd name="adj" fmla="val 6316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C76D715D-FBD2-43AD-95A3-E34F58F249B5}"/>
              </a:ext>
            </a:extLst>
          </p:cNvPr>
          <p:cNvSpPr>
            <a:spLocks noGrp="1"/>
          </p:cNvSpPr>
          <p:nvPr/>
        </p:nvSpPr>
        <p:spPr>
          <a:xfrm>
            <a:off x="8191500" y="22288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結果</a:t>
            </a:r>
          </a:p>
        </p:txBody>
      </p:sp>
      <p:sp>
        <p:nvSpPr>
          <p:cNvPr id="10" name="">
            <a:extLst>
              <a:ext uri="{FF2B5EF4-FFF2-40B4-BE49-F238E27FC236}">
                <ns2:creationId id="{0FA24D10-0696-4B7F-B0FB-55718972268C}"/>
              </a:ext>
            </a:extLst>
          </p:cNvPr>
          <p:cNvSpPr>
            <a:spLocks noGrp="1"/>
          </p:cNvSpPr>
          <p:nvPr/>
        </p:nvSpPr>
        <p:spPr>
          <a:xfrm>
            <a:off x="8191500" y="2781300"/>
            <a:ext cx="25908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466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同一份測試會在 3 個 Python 版本上並行執行。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適合套件、函式庫或需要支援多版本的專案。</a:t>
            </a:r>
          </a:p>
        </p:txBody>
      </p:sp>
      <p:sp>
        <p:nvSpPr>
          <p:cNvPr id="11" name="">
            <a:extLst>
              <a:ext uri="{FF2B5EF4-FFF2-40B4-BE49-F238E27FC236}">
                <ns2:creationId id="{15E56489-377D-4D75-9A22-F47B01F3A42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24E1E8B-97E7-48B4-BAC3-E36B12604B7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3" name="">
            <a:extLst>
              <a:ext uri="{FF2B5EF4-FFF2-40B4-BE49-F238E27FC236}">
                <ns2:creationId id="{6216F8CE-635F-4B34-8C3C-67063CA1D9D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ns3:creationId val="1009578581"/>
      </p:ext>
    </p:extLst>
  </p:cSld>
</p:sld>
</file>

<file path=ppt/slides/slide3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0236020-16EB-4F71-9568-C49EF566C85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TEST ARTIFACTS</a:t>
            </a:r>
          </a:p>
        </p:txBody>
      </p:sp>
      <p:sp>
        <p:nvSpPr>
          <p:cNvPr id="2" name="">
            <a:extLst>
              <a:ext uri="{FF2B5EF4-FFF2-40B4-BE49-F238E27FC236}">
                <ns2:creationId id="{712D6501-3C89-4D8B-8E62-A70237BD470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上傳測試報告方便下載與追查</a:t>
            </a:r>
          </a:p>
        </p:txBody>
      </p:sp>
      <p:sp>
        <p:nvSpPr>
          <p:cNvPr id="3" name="">
            <a:extLst>
              <a:ext uri="{FF2B5EF4-FFF2-40B4-BE49-F238E27FC236}">
                <ns2:creationId id="{2BE6BCA2-23CA-4801-A7A0-E3CAFEDE9ECE}"/>
              </a:ext>
            </a:extLst>
          </p:cNvPr>
          <p:cNvSpPr>
            <a:spLocks noGrp="1"/>
          </p:cNvSpPr>
          <p:nvPr/>
        </p:nvSpPr>
        <p:spPr>
          <a:xfrm>
            <a:off x="800100" y="1543050"/>
            <a:ext cx="7620000" cy="2266950"/>
          </a:xfrm>
          <a:prstGeom prst="roundRect">
            <a:avLst>
              <a:gd name="adj" fmla="val 420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026DD955-838A-4DAE-BD4B-063C442A502D}"/>
              </a:ext>
            </a:extLst>
          </p:cNvPr>
          <p:cNvSpPr>
            <a:spLocks noGrp="1"/>
          </p:cNvSpPr>
          <p:nvPr/>
        </p:nvSpPr>
        <p:spPr>
          <a:xfrm>
            <a:off x="971550" y="17049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46E4D340-BB71-47E5-A1C5-4B352E16132E}"/>
              </a:ext>
            </a:extLst>
          </p:cNvPr>
          <p:cNvSpPr>
            <a:spLocks noGrp="1"/>
          </p:cNvSpPr>
          <p:nvPr/>
        </p:nvSpPr>
        <p:spPr>
          <a:xfrm>
            <a:off x="1143000" y="17049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4A8DA5F7-94E8-42B9-8F74-43B4AEF3B21F}"/>
              </a:ext>
            </a:extLst>
          </p:cNvPr>
          <p:cNvSpPr>
            <a:spLocks noGrp="1"/>
          </p:cNvSpPr>
          <p:nvPr/>
        </p:nvSpPr>
        <p:spPr>
          <a:xfrm>
            <a:off x="1314450" y="17049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07E03516-61AE-4DC0-9323-E45533A5F932}"/>
              </a:ext>
            </a:extLst>
          </p:cNvPr>
          <p:cNvSpPr>
            <a:spLocks noGrp="1"/>
          </p:cNvSpPr>
          <p:nvPr/>
        </p:nvSpPr>
        <p:spPr>
          <a:xfrm>
            <a:off x="1009650" y="1962150"/>
            <a:ext cx="720090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Run pytest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run: pytest test_app.py -v --junitxml=test-results.xml</a:t>
            </a:r>
          </a:p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Upload test report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if: always()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rPr sz="1200">
                <a:solidFill>
                  <a:srgbClr val="F1F5F9"/>
                </a:solidFill>
              </a:rPr>
              <a:t>  uses: actions/upload-artifact@v4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with: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name: test-results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path: test-results.xml</a:t>
            </a:r>
          </a:p>
        </p:txBody>
      </p:sp>
      <p:sp>
        <p:nvSpPr>
          <p:cNvPr id="8" name="">
            <a:extLst>
              <a:ext uri="{FF2B5EF4-FFF2-40B4-BE49-F238E27FC236}">
                <ns2:creationId id="{42D69B58-60BE-481E-84E0-774D32EE17D9}"/>
              </a:ext>
            </a:extLst>
          </p:cNvPr>
          <p:cNvSpPr>
            <a:spLocks noGrp="1"/>
          </p:cNvSpPr>
          <p:nvPr/>
        </p:nvSpPr>
        <p:spPr>
          <a:xfrm>
            <a:off x="1600200" y="4610100"/>
            <a:ext cx="3429000" cy="1104900"/>
          </a:xfrm>
          <a:prstGeom prst="roundRect">
            <a:avLst>
              <a:gd name="adj" fmla="val 10345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E23D7A82-403B-4611-9625-52F16C5089DB}"/>
              </a:ext>
            </a:extLst>
          </p:cNvPr>
          <p:cNvSpPr>
            <a:spLocks noGrp="1"/>
          </p:cNvSpPr>
          <p:nvPr/>
        </p:nvSpPr>
        <p:spPr>
          <a:xfrm>
            <a:off x="1828800" y="4800600"/>
            <a:ext cx="2971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為什麼 if: always()？</a:t>
            </a:r>
          </a:p>
        </p:txBody>
      </p:sp>
      <p:sp>
        <p:nvSpPr>
          <p:cNvPr id="10" name="">
            <a:extLst>
              <a:ext uri="{FF2B5EF4-FFF2-40B4-BE49-F238E27FC236}">
                <ns2:creationId id="{FB42BF57-B8DE-4083-90D2-6F3464482A9F}"/>
              </a:ext>
            </a:extLst>
          </p:cNvPr>
          <p:cNvSpPr>
            <a:spLocks noGrp="1"/>
          </p:cNvSpPr>
          <p:nvPr/>
        </p:nvSpPr>
        <p:spPr>
          <a:xfrm>
            <a:off x="1828800" y="5238750"/>
            <a:ext cx="2971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測試失敗時也要上傳報告。</a:t>
            </a:r>
          </a:p>
        </p:txBody>
      </p:sp>
      <p:sp>
        <p:nvSpPr>
          <p:cNvPr id="11" name="">
            <a:extLst>
              <a:ext uri="{FF2B5EF4-FFF2-40B4-BE49-F238E27FC236}">
                <ns2:creationId id="{E3F1194B-CEF1-440A-BB12-84F448029876}"/>
              </a:ext>
            </a:extLst>
          </p:cNvPr>
          <p:cNvSpPr>
            <a:spLocks noGrp="1"/>
          </p:cNvSpPr>
          <p:nvPr/>
        </p:nvSpPr>
        <p:spPr>
          <a:xfrm>
            <a:off x="7162800" y="4610100"/>
            <a:ext cx="3429000" cy="1104900"/>
          </a:xfrm>
          <a:prstGeom prst="roundRect">
            <a:avLst>
              <a:gd name="adj" fmla="val 10345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5393857B-0968-46EF-B37E-0FB91224E1F6}"/>
              </a:ext>
            </a:extLst>
          </p:cNvPr>
          <p:cNvSpPr>
            <a:spLocks noGrp="1"/>
          </p:cNvSpPr>
          <p:nvPr/>
        </p:nvSpPr>
        <p:spPr>
          <a:xfrm>
            <a:off x="7391400" y="4800600"/>
            <a:ext cx="2971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適合放什麼？</a:t>
            </a:r>
          </a:p>
        </p:txBody>
      </p:sp>
      <p:sp>
        <p:nvSpPr>
          <p:cNvPr id="13" name="">
            <a:extLst>
              <a:ext uri="{FF2B5EF4-FFF2-40B4-BE49-F238E27FC236}">
                <ns2:creationId id="{E0E6531A-7B8B-4C76-AE5C-C88AB3BFA597}"/>
              </a:ext>
            </a:extLst>
          </p:cNvPr>
          <p:cNvSpPr>
            <a:spLocks noGrp="1"/>
          </p:cNvSpPr>
          <p:nvPr/>
        </p:nvSpPr>
        <p:spPr>
          <a:xfrm>
            <a:off x="7391400" y="5238750"/>
            <a:ext cx="2971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903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測試報告、coverage、build log、打包後的檔案。</a:t>
            </a:r>
          </a:p>
        </p:txBody>
      </p:sp>
      <p:sp>
        <p:nvSpPr>
          <p:cNvPr id="14" name="">
            <a:extLst>
              <a:ext uri="{FF2B5EF4-FFF2-40B4-BE49-F238E27FC236}">
                <ns2:creationId id="{C704F87D-07B4-43D0-A00B-6829DC1C0F9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165F23FA-9610-4A8E-8113-91F32647716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6" name="">
            <a:extLst>
              <a:ext uri="{FF2B5EF4-FFF2-40B4-BE49-F238E27FC236}">
                <ns2:creationId id="{2B2F36A8-2A5E-4BE0-867A-03BFBB7A7AA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ns3:creationId val="845044999"/>
      </p:ext>
    </p:extLst>
  </p:cSld>
</p:sld>
</file>

<file path=ppt/slides/slide3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D465BD1-A232-4BEE-B649-4B31BFC6885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DEBUG CHECKLIST</a:t>
            </a:r>
          </a:p>
        </p:txBody>
      </p:sp>
      <p:sp>
        <p:nvSpPr>
          <p:cNvPr id="2" name="">
            <a:extLst>
              <a:ext uri="{FF2B5EF4-FFF2-40B4-BE49-F238E27FC236}">
                <ns2:creationId id="{3D651C12-4B47-4614-8AC2-2E557118135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看到紅色不要慌，先定位錯在哪</a:t>
            </a:r>
          </a:p>
        </p:txBody>
      </p:sp>
      <p:sp>
        <p:nvSpPr>
          <p:cNvPr id="3" name="">
            <a:extLst>
              <a:ext uri="{FF2B5EF4-FFF2-40B4-BE49-F238E27FC236}">
                <ns2:creationId id="{91290E94-2C36-4B6C-87D0-BD819DD8E777}"/>
              </a:ext>
            </a:extLst>
          </p:cNvPr>
          <p:cNvSpPr>
            <a:spLocks noGrp="1"/>
          </p:cNvSpPr>
          <p:nvPr/>
        </p:nvSpPr>
        <p:spPr>
          <a:xfrm>
            <a:off x="9906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63A9277-0DA4-4730-A66B-C334CE671777}"/>
              </a:ext>
            </a:extLst>
          </p:cNvPr>
          <p:cNvSpPr>
            <a:spLocks noGrp="1"/>
          </p:cNvSpPr>
          <p:nvPr/>
        </p:nvSpPr>
        <p:spPr>
          <a:xfrm>
            <a:off x="12192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1：哪個 job 失敗？</a:t>
            </a:r>
          </a:p>
        </p:txBody>
      </p:sp>
      <p:sp>
        <p:nvSpPr>
          <p:cNvPr id="5" name="">
            <a:extLst>
              <a:ext uri="{FF2B5EF4-FFF2-40B4-BE49-F238E27FC236}">
                <ns2:creationId id="{890506F4-BABD-4314-B6DA-040A4983AC95}"/>
              </a:ext>
            </a:extLst>
          </p:cNvPr>
          <p:cNvSpPr>
            <a:spLocks noGrp="1"/>
          </p:cNvSpPr>
          <p:nvPr/>
        </p:nvSpPr>
        <p:spPr>
          <a:xfrm>
            <a:off x="12192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test、docker、deploy？先縮小範圍。</a:t>
            </a:r>
          </a:p>
        </p:txBody>
      </p:sp>
      <p:sp>
        <p:nvSpPr>
          <p:cNvPr id="6" name="">
            <a:extLst>
              <a:ext uri="{FF2B5EF4-FFF2-40B4-BE49-F238E27FC236}">
                <ns2:creationId id="{F26C4DFE-2AA1-4F2F-A98E-81804E63D40E}"/>
              </a:ext>
            </a:extLst>
          </p:cNvPr>
          <p:cNvSpPr>
            <a:spLocks noGrp="1"/>
          </p:cNvSpPr>
          <p:nvPr/>
        </p:nvSpPr>
        <p:spPr>
          <a:xfrm>
            <a:off x="47244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860B76EC-AFB9-4397-8BDA-CFBDE25A78A6}"/>
              </a:ext>
            </a:extLst>
          </p:cNvPr>
          <p:cNvSpPr>
            <a:spLocks noGrp="1"/>
          </p:cNvSpPr>
          <p:nvPr/>
        </p:nvSpPr>
        <p:spPr>
          <a:xfrm>
            <a:off x="49530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2：哪個 step 失敗？</a:t>
            </a:r>
          </a:p>
        </p:txBody>
      </p:sp>
      <p:sp>
        <p:nvSpPr>
          <p:cNvPr id="8" name="">
            <a:extLst>
              <a:ext uri="{FF2B5EF4-FFF2-40B4-BE49-F238E27FC236}">
                <ns2:creationId id="{0D8283D0-82E2-47DD-9556-B88A57D2D180}"/>
              </a:ext>
            </a:extLst>
          </p:cNvPr>
          <p:cNvSpPr>
            <a:spLocks noGrp="1"/>
          </p:cNvSpPr>
          <p:nvPr/>
        </p:nvSpPr>
        <p:spPr>
          <a:xfrm>
            <a:off x="49530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install、pytest、build、login、curl？</a:t>
            </a:r>
          </a:p>
        </p:txBody>
      </p:sp>
      <p:sp>
        <p:nvSpPr>
          <p:cNvPr id="9" name="">
            <a:extLst>
              <a:ext uri="{FF2B5EF4-FFF2-40B4-BE49-F238E27FC236}">
                <ns2:creationId id="{A03491BC-3A8D-4016-BF96-40C3FECE7AED}"/>
              </a:ext>
            </a:extLst>
          </p:cNvPr>
          <p:cNvSpPr>
            <a:spLocks noGrp="1"/>
          </p:cNvSpPr>
          <p:nvPr/>
        </p:nvSpPr>
        <p:spPr>
          <a:xfrm>
            <a:off x="84582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C2DDF618-00A0-4AB7-A4F1-B3EE59DA3EF8}"/>
              </a:ext>
            </a:extLst>
          </p:cNvPr>
          <p:cNvSpPr>
            <a:spLocks noGrp="1"/>
          </p:cNvSpPr>
          <p:nvPr/>
        </p:nvSpPr>
        <p:spPr>
          <a:xfrm>
            <a:off x="86868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2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3：第一個 error 是什麼？</a:t>
            </a:r>
          </a:p>
        </p:txBody>
      </p:sp>
      <p:sp>
        <p:nvSpPr>
          <p:cNvPr id="11" name="">
            <a:extLst>
              <a:ext uri="{FF2B5EF4-FFF2-40B4-BE49-F238E27FC236}">
                <ns2:creationId id="{2F9722CF-2C47-4183-9846-C4AD80CA53BE}"/>
              </a:ext>
            </a:extLst>
          </p:cNvPr>
          <p:cNvSpPr>
            <a:spLocks noGrp="1"/>
          </p:cNvSpPr>
          <p:nvPr/>
        </p:nvSpPr>
        <p:spPr>
          <a:xfrm>
            <a:off x="86868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484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先看第一個真正錯誤，不要只看最後一行。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完成標準：能自己指出失敗原因。</a:t>
            </a:r>
          </a:p>
        </p:txBody>
      </p:sp>
      <p:sp>
        <p:nvSpPr>
          <p:cNvPr id="12" name="">
            <a:extLst>
              <a:ext uri="{FF2B5EF4-FFF2-40B4-BE49-F238E27FC236}">
                <ns2:creationId id="{1FA90910-C656-41D7-A61E-17B0F8754C93}"/>
              </a:ext>
            </a:extLst>
          </p:cNvPr>
          <p:cNvSpPr>
            <a:spLocks noGrp="1"/>
          </p:cNvSpPr>
          <p:nvPr/>
        </p:nvSpPr>
        <p:spPr>
          <a:xfrm>
            <a:off x="1600200" y="5029200"/>
            <a:ext cx="899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排查順序：job -&gt; step -&gt; 第一個 error message。</a:t>
            </a:r>
          </a:p>
        </p:txBody>
      </p:sp>
      <p:sp>
        <p:nvSpPr>
          <p:cNvPr id="13" name="">
            <a:extLst>
              <a:ext uri="{FF2B5EF4-FFF2-40B4-BE49-F238E27FC236}">
                <ns2:creationId id="{7F60EE74-66A2-4401-AA9F-E0B8CDC7ECB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7263DF78-1EB7-4596-8998-7A582A96F56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>
              <a:ext uri="{FF2B5EF4-FFF2-40B4-BE49-F238E27FC236}">
                <ns2:creationId id="{7B54E529-320C-4E7F-9E29-55331C307F2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33</a:t>
            </a:r>
          </a:p>
        </p:txBody>
      </p:sp>
    </p:spTree>
    <p:extLst>
      <p:ext uri="{BB962C8B-B14F-4D97-AF65-F5344CB8AC3E}">
        <ns3:creationId val="911044411"/>
      </p:ext>
    </p:extLst>
  </p:cSld>
</p:sld>
</file>

<file path=ppt/slides/slide3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D465BD1-A232-4BEE-B649-4B31BFC6885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COMMON ERRORS</a:t>
            </a:r>
          </a:p>
        </p:txBody>
      </p:sp>
      <p:sp>
        <p:nvSpPr>
          <p:cNvPr id="2" name="">
            <a:extLst>
              <a:ext uri="{FF2B5EF4-FFF2-40B4-BE49-F238E27FC236}">
                <ns2:creationId id="{3D651C12-4B47-4614-8AC2-2E557118135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YAML 與 Secrets 最常見</a:t>
            </a:r>
          </a:p>
        </p:txBody>
      </p:sp>
      <p:sp>
        <p:nvSpPr>
          <p:cNvPr id="3" name="">
            <a:extLst>
              <a:ext uri="{FF2B5EF4-FFF2-40B4-BE49-F238E27FC236}">
                <ns2:creationId id="{91290E94-2C36-4B6C-87D0-BD819DD8E777}"/>
              </a:ext>
            </a:extLst>
          </p:cNvPr>
          <p:cNvSpPr>
            <a:spLocks noGrp="1"/>
          </p:cNvSpPr>
          <p:nvPr/>
        </p:nvSpPr>
        <p:spPr>
          <a:xfrm>
            <a:off x="9906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63A9277-0DA4-4730-A66B-C334CE671777}"/>
              </a:ext>
            </a:extLst>
          </p:cNvPr>
          <p:cNvSpPr>
            <a:spLocks noGrp="1"/>
          </p:cNvSpPr>
          <p:nvPr/>
        </p:nvSpPr>
        <p:spPr>
          <a:xfrm>
            <a:off x="12192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YAML 縮排</a:t>
            </a:r>
          </a:p>
        </p:txBody>
      </p:sp>
      <p:sp>
        <p:nvSpPr>
          <p:cNvPr id="5" name="">
            <a:extLst>
              <a:ext uri="{FF2B5EF4-FFF2-40B4-BE49-F238E27FC236}">
                <ns2:creationId id="{890506F4-BABD-4314-B6DA-040A4983AC95}"/>
              </a:ext>
            </a:extLst>
          </p:cNvPr>
          <p:cNvSpPr>
            <a:spLocks noGrp="1"/>
          </p:cNvSpPr>
          <p:nvPr/>
        </p:nvSpPr>
        <p:spPr>
          <a:xfrm>
            <a:off x="12192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jobs 底下的 job ID 要縮排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一律用空白，不要用 Tab</a:t>
            </a:r>
          </a:p>
        </p:txBody>
      </p:sp>
      <p:sp>
        <p:nvSpPr>
          <p:cNvPr id="6" name="">
            <a:extLst>
              <a:ext uri="{FF2B5EF4-FFF2-40B4-BE49-F238E27FC236}">
                <ns2:creationId id="{F26C4DFE-2AA1-4F2F-A98E-81804E63D40E}"/>
              </a:ext>
            </a:extLst>
          </p:cNvPr>
          <p:cNvSpPr>
            <a:spLocks noGrp="1"/>
          </p:cNvSpPr>
          <p:nvPr/>
        </p:nvSpPr>
        <p:spPr>
          <a:xfrm>
            <a:off x="47244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860B76EC-AFB9-4397-8BDA-CFBDE25A78A6}"/>
              </a:ext>
            </a:extLst>
          </p:cNvPr>
          <p:cNvSpPr>
            <a:spLocks noGrp="1"/>
          </p:cNvSpPr>
          <p:nvPr/>
        </p:nvSpPr>
        <p:spPr>
          <a:xfrm>
            <a:off x="49530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Secret 名稱</a:t>
            </a:r>
          </a:p>
        </p:txBody>
      </p:sp>
      <p:sp>
        <p:nvSpPr>
          <p:cNvPr id="8" name="">
            <a:extLst>
              <a:ext uri="{FF2B5EF4-FFF2-40B4-BE49-F238E27FC236}">
                <ns2:creationId id="{0D8283D0-82E2-47DD-9556-B88A57D2D180}"/>
              </a:ext>
            </a:extLst>
          </p:cNvPr>
          <p:cNvSpPr>
            <a:spLocks noGrp="1"/>
          </p:cNvSpPr>
          <p:nvPr/>
        </p:nvSpPr>
        <p:spPr>
          <a:xfrm>
            <a:off x="49530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DOCKERHUB_TOKEN 與 DOCKER_HUB_TOKEN 是不同名字</a:t>
            </a:r>
          </a:p>
        </p:txBody>
      </p:sp>
      <p:sp>
        <p:nvSpPr>
          <p:cNvPr id="9" name="">
            <a:extLst>
              <a:ext uri="{FF2B5EF4-FFF2-40B4-BE49-F238E27FC236}">
                <ns2:creationId id="{A03491BC-3A8D-4016-BF96-40C3FECE7AED}"/>
              </a:ext>
            </a:extLst>
          </p:cNvPr>
          <p:cNvSpPr>
            <a:spLocks noGrp="1"/>
          </p:cNvSpPr>
          <p:nvPr/>
        </p:nvSpPr>
        <p:spPr>
          <a:xfrm>
            <a:off x="84582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C2DDF618-00A0-4AB7-A4F1-B3EE59DA3EF8}"/>
              </a:ext>
            </a:extLst>
          </p:cNvPr>
          <p:cNvSpPr>
            <a:spLocks noGrp="1"/>
          </p:cNvSpPr>
          <p:nvPr/>
        </p:nvSpPr>
        <p:spPr>
          <a:xfrm>
            <a:off x="86868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排查方式</a:t>
            </a:r>
          </a:p>
        </p:txBody>
      </p:sp>
      <p:sp>
        <p:nvSpPr>
          <p:cNvPr id="11" name="">
            <a:extLst>
              <a:ext uri="{FF2B5EF4-FFF2-40B4-BE49-F238E27FC236}">
                <ns2:creationId id="{2F9722CF-2C47-4183-9846-C4AD80CA53BE}"/>
              </a:ext>
            </a:extLst>
          </p:cNvPr>
          <p:cNvSpPr>
            <a:spLocks noGrp="1"/>
          </p:cNvSpPr>
          <p:nvPr/>
        </p:nvSpPr>
        <p:spPr>
          <a:xfrm>
            <a:off x="86868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檢查 repo secrets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檢查 workflow 拼字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確認 token 沒過期</a:t>
            </a:r>
          </a:p>
        </p:txBody>
      </p:sp>
      <p:sp>
        <p:nvSpPr>
          <p:cNvPr id="12" name="">
            <a:extLst>
              <a:ext uri="{FF2B5EF4-FFF2-40B4-BE49-F238E27FC236}">
                <ns2:creationId id="{1FA90910-C656-41D7-A61E-17B0F8754C93}"/>
              </a:ext>
            </a:extLst>
          </p:cNvPr>
          <p:cNvSpPr>
            <a:spLocks noGrp="1"/>
          </p:cNvSpPr>
          <p:nvPr/>
        </p:nvSpPr>
        <p:spPr>
          <a:xfrm>
            <a:off x="1600200" y="5029200"/>
            <a:ext cx="899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大部分 CI/CD 錯誤不是工具壞掉，而是設定拼字或縮排錯。</a:t>
            </a:r>
          </a:p>
        </p:txBody>
      </p:sp>
      <p:sp>
        <p:nvSpPr>
          <p:cNvPr id="13" name="">
            <a:extLst>
              <a:ext uri="{FF2B5EF4-FFF2-40B4-BE49-F238E27FC236}">
                <ns2:creationId id="{7F60EE74-66A2-4401-AA9F-E0B8CDC7ECB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7263DF78-1EB7-4596-8998-7A582A96F56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>
              <a:ext uri="{FF2B5EF4-FFF2-40B4-BE49-F238E27FC236}">
                <ns2:creationId id="{7B54E529-320C-4E7F-9E29-55331C307F2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</p:spTree>
    <p:extLst>
      <p:ext uri="{BB962C8B-B14F-4D97-AF65-F5344CB8AC3E}">
        <ns3:creationId val="911044411"/>
      </p:ext>
    </p:extLst>
  </p:cSld>
</p:sld>
</file>

<file path=ppt/slides/slide3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D465BD1-A232-4BEE-B649-4B31BFC6885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COMMON ERRORS</a:t>
            </a:r>
          </a:p>
        </p:txBody>
      </p:sp>
      <p:sp>
        <p:nvSpPr>
          <p:cNvPr id="2" name="">
            <a:extLst>
              <a:ext uri="{FF2B5EF4-FFF2-40B4-BE49-F238E27FC236}">
                <ns2:creationId id="{3D651C12-4B47-4614-8AC2-2E557118135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Image 與容器健康檢查</a:t>
            </a:r>
          </a:p>
        </p:txBody>
      </p:sp>
      <p:sp>
        <p:nvSpPr>
          <p:cNvPr id="3" name="">
            <a:extLst>
              <a:ext uri="{FF2B5EF4-FFF2-40B4-BE49-F238E27FC236}">
                <ns2:creationId id="{91290E94-2C36-4B6C-87D0-BD819DD8E777}"/>
              </a:ext>
            </a:extLst>
          </p:cNvPr>
          <p:cNvSpPr>
            <a:spLocks noGrp="1"/>
          </p:cNvSpPr>
          <p:nvPr/>
        </p:nvSpPr>
        <p:spPr>
          <a:xfrm>
            <a:off x="9906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63A9277-0DA4-4730-A66B-C334CE671777}"/>
              </a:ext>
            </a:extLst>
          </p:cNvPr>
          <p:cNvSpPr>
            <a:spLocks noGrp="1"/>
          </p:cNvSpPr>
          <p:nvPr/>
        </p:nvSpPr>
        <p:spPr>
          <a:xfrm>
            <a:off x="12192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Image 名稱</a:t>
            </a:r>
          </a:p>
        </p:txBody>
      </p:sp>
      <p:sp>
        <p:nvSpPr>
          <p:cNvPr id="5" name="">
            <a:extLst>
              <a:ext uri="{FF2B5EF4-FFF2-40B4-BE49-F238E27FC236}">
                <ns2:creationId id="{890506F4-BABD-4314-B6DA-040A4983AC95}"/>
              </a:ext>
            </a:extLst>
          </p:cNvPr>
          <p:cNvSpPr>
            <a:spLocks noGrp="1"/>
          </p:cNvSpPr>
          <p:nvPr/>
        </p:nvSpPr>
        <p:spPr>
          <a:xfrm>
            <a:off x="12192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457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image 名稱建議全小寫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myname/docker-cicd-demo</a:t>
            </a:r>
          </a:p>
        </p:txBody>
      </p:sp>
      <p:sp>
        <p:nvSpPr>
          <p:cNvPr id="6" name="">
            <a:extLst>
              <a:ext uri="{FF2B5EF4-FFF2-40B4-BE49-F238E27FC236}">
                <ns2:creationId id="{F26C4DFE-2AA1-4F2F-A98E-81804E63D40E}"/>
              </a:ext>
            </a:extLst>
          </p:cNvPr>
          <p:cNvSpPr>
            <a:spLocks noGrp="1"/>
          </p:cNvSpPr>
          <p:nvPr/>
        </p:nvSpPr>
        <p:spPr>
          <a:xfrm>
            <a:off x="47244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860B76EC-AFB9-4397-8BDA-CFBDE25A78A6}"/>
              </a:ext>
            </a:extLst>
          </p:cNvPr>
          <p:cNvSpPr>
            <a:spLocks noGrp="1"/>
          </p:cNvSpPr>
          <p:nvPr/>
        </p:nvSpPr>
        <p:spPr>
          <a:xfrm>
            <a:off x="49530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容器啟動太慢</a:t>
            </a:r>
          </a:p>
        </p:txBody>
      </p:sp>
      <p:sp>
        <p:nvSpPr>
          <p:cNvPr id="8" name="">
            <a:extLst>
              <a:ext uri="{FF2B5EF4-FFF2-40B4-BE49-F238E27FC236}">
                <ns2:creationId id="{0D8283D0-82E2-47DD-9556-B88A57D2D180}"/>
              </a:ext>
            </a:extLst>
          </p:cNvPr>
          <p:cNvSpPr>
            <a:spLocks noGrp="1"/>
          </p:cNvSpPr>
          <p:nvPr/>
        </p:nvSpPr>
        <p:spPr>
          <a:xfrm>
            <a:off x="49530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sleep 5 不夠就改 retry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curl --fail 搭配 sleep</a:t>
            </a:r>
          </a:p>
        </p:txBody>
      </p:sp>
      <p:sp>
        <p:nvSpPr>
          <p:cNvPr id="9" name="">
            <a:extLst>
              <a:ext uri="{FF2B5EF4-FFF2-40B4-BE49-F238E27FC236}">
                <ns2:creationId id="{A03491BC-3A8D-4016-BF96-40C3FECE7AED}"/>
              </a:ext>
            </a:extLst>
          </p:cNvPr>
          <p:cNvSpPr>
            <a:spLocks noGrp="1"/>
          </p:cNvSpPr>
          <p:nvPr/>
        </p:nvSpPr>
        <p:spPr>
          <a:xfrm>
            <a:off x="84582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C2DDF618-00A0-4AB7-A4F1-B3EE59DA3EF8}"/>
              </a:ext>
            </a:extLst>
          </p:cNvPr>
          <p:cNvSpPr>
            <a:spLocks noGrp="1"/>
          </p:cNvSpPr>
          <p:nvPr/>
        </p:nvSpPr>
        <p:spPr>
          <a:xfrm>
            <a:off x="86868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本機可以、CI 不行</a:t>
            </a:r>
          </a:p>
        </p:txBody>
      </p:sp>
      <p:sp>
        <p:nvSpPr>
          <p:cNvPr id="11" name="">
            <a:extLst>
              <a:ext uri="{FF2B5EF4-FFF2-40B4-BE49-F238E27FC236}">
                <ns2:creationId id="{2F9722CF-2C47-4183-9846-C4AD80CA53BE}"/>
              </a:ext>
            </a:extLst>
          </p:cNvPr>
          <p:cNvSpPr>
            <a:spLocks noGrp="1"/>
          </p:cNvSpPr>
          <p:nvPr/>
        </p:nvSpPr>
        <p:spPr>
          <a:xfrm>
            <a:off x="86868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檔案沒 commit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requirements 漏套件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Flask 沒 listen 0.0.0.0</a:t>
            </a:r>
          </a:p>
        </p:txBody>
      </p:sp>
      <p:sp>
        <p:nvSpPr>
          <p:cNvPr id="12" name="">
            <a:extLst>
              <a:ext uri="{FF2B5EF4-FFF2-40B4-BE49-F238E27FC236}">
                <ns2:creationId id="{1FA90910-C656-41D7-A61E-17B0F8754C93}"/>
              </a:ext>
            </a:extLst>
          </p:cNvPr>
          <p:cNvSpPr>
            <a:spLocks noGrp="1"/>
          </p:cNvSpPr>
          <p:nvPr/>
        </p:nvSpPr>
        <p:spPr>
          <a:xfrm>
            <a:off x="1600200" y="5029200"/>
            <a:ext cx="899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Flask 在容器裡要 app.run(host="0.0.0.0", port=5000)。</a:t>
            </a:r>
          </a:p>
        </p:txBody>
      </p:sp>
      <p:sp>
        <p:nvSpPr>
          <p:cNvPr id="13" name="">
            <a:extLst>
              <a:ext uri="{FF2B5EF4-FFF2-40B4-BE49-F238E27FC236}">
                <ns2:creationId id="{7F60EE74-66A2-4401-AA9F-E0B8CDC7ECB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7263DF78-1EB7-4596-8998-7A582A96F56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>
              <a:ext uri="{FF2B5EF4-FFF2-40B4-BE49-F238E27FC236}">
                <ns2:creationId id="{7B54E529-320C-4E7F-9E29-55331C307F2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</p:spTree>
    <p:extLst>
      <p:ext uri="{BB962C8B-B14F-4D97-AF65-F5344CB8AC3E}">
        <ns3:creationId val="911044411"/>
      </p:ext>
    </p:extLst>
  </p:cSld>
</p:sld>
</file>

<file path=ppt/slides/slide3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550EA79-7737-44A9-99D5-FFE3A30FC32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MANUAL DEPLOY</a:t>
            </a:r>
          </a:p>
        </p:txBody>
      </p:sp>
      <p:sp>
        <p:nvSpPr>
          <p:cNvPr id="2" name="">
            <a:extLst>
              <a:ext uri="{FF2B5EF4-FFF2-40B4-BE49-F238E27FC236}">
                <ns2:creationId id="{9B6BFF46-4995-47CF-ACD8-50A2C18B1FF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production 部署通常保留人工確認</a:t>
            </a:r>
          </a:p>
        </p:txBody>
      </p:sp>
      <p:sp>
        <p:nvSpPr>
          <p:cNvPr id="3" name="">
            <a:extLst>
              <a:ext uri="{FF2B5EF4-FFF2-40B4-BE49-F238E27FC236}">
                <ns2:creationId id="{0290A3DE-8873-4DDA-BC9A-FE7301C38422}"/>
              </a:ext>
            </a:extLst>
          </p:cNvPr>
          <p:cNvSpPr>
            <a:spLocks noGrp="1"/>
          </p:cNvSpPr>
          <p:nvPr/>
        </p:nvSpPr>
        <p:spPr>
          <a:xfrm>
            <a:off x="66675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E6B009F-D7A1-4244-8183-9D432E8CE330}"/>
              </a:ext>
            </a:extLst>
          </p:cNvPr>
          <p:cNvSpPr>
            <a:spLocks noGrp="1"/>
          </p:cNvSpPr>
          <p:nvPr/>
        </p:nvSpPr>
        <p:spPr>
          <a:xfrm>
            <a:off x="83820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Push</a:t>
            </a:r>
          </a:p>
        </p:txBody>
      </p:sp>
      <p:sp>
        <p:nvSpPr>
          <p:cNvPr id="5" name="">
            <a:extLst>
              <a:ext uri="{FF2B5EF4-FFF2-40B4-BE49-F238E27FC236}">
                <ns2:creationId id="{7ED78E24-71C2-47C5-B63B-AA361212C326}"/>
              </a:ext>
            </a:extLst>
          </p:cNvPr>
          <p:cNvSpPr>
            <a:spLocks noGrp="1"/>
          </p:cNvSpPr>
          <p:nvPr/>
        </p:nvSpPr>
        <p:spPr>
          <a:xfrm>
            <a:off x="83820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測試</a:t>
            </a:r>
          </a:p>
        </p:txBody>
      </p:sp>
      <p:sp>
        <p:nvSpPr>
          <p:cNvPr id="6" name="">
            <a:extLst>
              <a:ext uri="{FF2B5EF4-FFF2-40B4-BE49-F238E27FC236}">
                <ns2:creationId id="{28562411-2F2E-4F7F-B5B4-53905B8F3354}"/>
              </a:ext>
            </a:extLst>
          </p:cNvPr>
          <p:cNvSpPr>
            <a:spLocks noGrp="1"/>
          </p:cNvSpPr>
          <p:nvPr/>
        </p:nvSpPr>
        <p:spPr>
          <a:xfrm>
            <a:off x="2533650" y="2781300"/>
            <a:ext cx="5143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CF8C9EA-E7EA-4CB4-88C9-06665E821D04}"/>
              </a:ext>
            </a:extLst>
          </p:cNvPr>
          <p:cNvSpPr>
            <a:spLocks noGrp="1"/>
          </p:cNvSpPr>
          <p:nvPr/>
        </p:nvSpPr>
        <p:spPr>
          <a:xfrm>
            <a:off x="293370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5D836CD8-9FE8-4461-ACDA-B105768B6043}"/>
              </a:ext>
            </a:extLst>
          </p:cNvPr>
          <p:cNvSpPr>
            <a:spLocks noGrp="1"/>
          </p:cNvSpPr>
          <p:nvPr/>
        </p:nvSpPr>
        <p:spPr>
          <a:xfrm>
            <a:off x="310515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Build</a:t>
            </a:r>
          </a:p>
        </p:txBody>
      </p:sp>
      <p:sp>
        <p:nvSpPr>
          <p:cNvPr id="9" name="">
            <a:extLst>
              <a:ext uri="{FF2B5EF4-FFF2-40B4-BE49-F238E27FC236}">
                <ns2:creationId id="{D8D1655D-7610-4EFD-B700-211FCDA07686}"/>
              </a:ext>
            </a:extLst>
          </p:cNvPr>
          <p:cNvSpPr>
            <a:spLocks noGrp="1"/>
          </p:cNvSpPr>
          <p:nvPr/>
        </p:nvSpPr>
        <p:spPr>
          <a:xfrm>
            <a:off x="310515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推 image</a:t>
            </a:r>
          </a:p>
        </p:txBody>
      </p:sp>
      <p:sp>
        <p:nvSpPr>
          <p:cNvPr id="10" name="">
            <a:extLst>
              <a:ext uri="{FF2B5EF4-FFF2-40B4-BE49-F238E27FC236}">
                <ns2:creationId id="{1BA431D3-83C9-4CE3-9388-6726EA27A052}"/>
              </a:ext>
            </a:extLst>
          </p:cNvPr>
          <p:cNvSpPr>
            <a:spLocks noGrp="1"/>
          </p:cNvSpPr>
          <p:nvPr/>
        </p:nvSpPr>
        <p:spPr>
          <a:xfrm>
            <a:off x="4800600" y="2781300"/>
            <a:ext cx="5143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726264F6-950B-462E-B672-22C9E35CFF31}"/>
              </a:ext>
            </a:extLst>
          </p:cNvPr>
          <p:cNvSpPr>
            <a:spLocks noGrp="1"/>
          </p:cNvSpPr>
          <p:nvPr/>
        </p:nvSpPr>
        <p:spPr>
          <a:xfrm>
            <a:off x="520065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950D961D-B81C-47BB-8E22-5B1DF1415937}"/>
              </a:ext>
            </a:extLst>
          </p:cNvPr>
          <p:cNvSpPr>
            <a:spLocks noGrp="1"/>
          </p:cNvSpPr>
          <p:nvPr/>
        </p:nvSpPr>
        <p:spPr>
          <a:xfrm>
            <a:off x="537210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Run workflow</a:t>
            </a:r>
          </a:p>
        </p:txBody>
      </p:sp>
      <p:sp>
        <p:nvSpPr>
          <p:cNvPr id="13" name="">
            <a:extLst>
              <a:ext uri="{FF2B5EF4-FFF2-40B4-BE49-F238E27FC236}">
                <ns2:creationId id="{62698839-6192-4E18-B548-BC8E923171D7}"/>
              </a:ext>
            </a:extLst>
          </p:cNvPr>
          <p:cNvSpPr>
            <a:spLocks noGrp="1"/>
          </p:cNvSpPr>
          <p:nvPr/>
        </p:nvSpPr>
        <p:spPr>
          <a:xfrm>
            <a:off x="537210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選環境</a:t>
            </a:r>
          </a:p>
        </p:txBody>
      </p:sp>
      <p:sp>
        <p:nvSpPr>
          <p:cNvPr id="14" name="">
            <a:extLst>
              <a:ext uri="{FF2B5EF4-FFF2-40B4-BE49-F238E27FC236}">
                <ns2:creationId id="{1D812C37-9DC5-45A4-BE39-78DC3A78CEE9}"/>
              </a:ext>
            </a:extLst>
          </p:cNvPr>
          <p:cNvSpPr>
            <a:spLocks noGrp="1"/>
          </p:cNvSpPr>
          <p:nvPr/>
        </p:nvSpPr>
        <p:spPr>
          <a:xfrm>
            <a:off x="7067550" y="2781300"/>
            <a:ext cx="5143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4CF72F5F-FBAE-42DA-BEF4-9C4319E63DF3}"/>
              </a:ext>
            </a:extLst>
          </p:cNvPr>
          <p:cNvSpPr>
            <a:spLocks noGrp="1"/>
          </p:cNvSpPr>
          <p:nvPr/>
        </p:nvSpPr>
        <p:spPr>
          <a:xfrm>
            <a:off x="746760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F48F59F5-FFFD-42AF-B1E7-FD51CD1B5FA2}"/>
              </a:ext>
            </a:extLst>
          </p:cNvPr>
          <p:cNvSpPr>
            <a:spLocks noGrp="1"/>
          </p:cNvSpPr>
          <p:nvPr/>
        </p:nvSpPr>
        <p:spPr>
          <a:xfrm>
            <a:off x="763905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Deploy</a:t>
            </a:r>
          </a:p>
        </p:txBody>
      </p:sp>
      <p:sp>
        <p:nvSpPr>
          <p:cNvPr id="17" name="">
            <a:extLst>
              <a:ext uri="{FF2B5EF4-FFF2-40B4-BE49-F238E27FC236}">
                <ns2:creationId id="{54C13991-5F81-40C4-BE65-56A9A32CDEA7}"/>
              </a:ext>
            </a:extLst>
          </p:cNvPr>
          <p:cNvSpPr>
            <a:spLocks noGrp="1"/>
          </p:cNvSpPr>
          <p:nvPr/>
        </p:nvSpPr>
        <p:spPr>
          <a:xfrm>
            <a:off x="763905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部署指定 tag</a:t>
            </a:r>
          </a:p>
        </p:txBody>
      </p:sp>
      <p:sp>
        <p:nvSpPr>
          <p:cNvPr id="18" name="">
            <a:extLst>
              <a:ext uri="{FF2B5EF4-FFF2-40B4-BE49-F238E27FC236}">
                <ns2:creationId id="{2B6547CD-745E-405F-976B-ED9716105403}"/>
              </a:ext>
            </a:extLst>
          </p:cNvPr>
          <p:cNvSpPr>
            <a:spLocks noGrp="1"/>
          </p:cNvSpPr>
          <p:nvPr/>
        </p:nvSpPr>
        <p:spPr>
          <a:xfrm>
            <a:off x="9334500" y="2781300"/>
            <a:ext cx="5143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BA36856C-252F-44D1-86B9-0355BCA06CED}"/>
              </a:ext>
            </a:extLst>
          </p:cNvPr>
          <p:cNvSpPr>
            <a:spLocks noGrp="1"/>
          </p:cNvSpPr>
          <p:nvPr/>
        </p:nvSpPr>
        <p:spPr>
          <a:xfrm>
            <a:off x="973455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0" name="">
            <a:extLst>
              <a:ext uri="{FF2B5EF4-FFF2-40B4-BE49-F238E27FC236}">
                <ns2:creationId id="{0383A8BF-937D-4E69-AB40-E64116D02BC3}"/>
              </a:ext>
            </a:extLst>
          </p:cNvPr>
          <p:cNvSpPr>
            <a:spLocks noGrp="1"/>
          </p:cNvSpPr>
          <p:nvPr/>
        </p:nvSpPr>
        <p:spPr>
          <a:xfrm>
            <a:off x="990600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Verify</a:t>
            </a:r>
          </a:p>
        </p:txBody>
      </p:sp>
      <p:sp>
        <p:nvSpPr>
          <p:cNvPr id="21" name="">
            <a:extLst>
              <a:ext uri="{FF2B5EF4-FFF2-40B4-BE49-F238E27FC236}">
                <ns2:creationId id="{39872D1F-4CBD-4094-9EBF-313B5808D445}"/>
              </a:ext>
            </a:extLst>
          </p:cNvPr>
          <p:cNvSpPr>
            <a:spLocks noGrp="1"/>
          </p:cNvSpPr>
          <p:nvPr/>
        </p:nvSpPr>
        <p:spPr>
          <a:xfrm>
            <a:off x="990600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檢查 /health</a:t>
            </a:r>
          </a:p>
        </p:txBody>
      </p:sp>
      <p:sp>
        <p:nvSpPr>
          <p:cNvPr id="22" name="">
            <a:extLst>
              <a:ext uri="{FF2B5EF4-FFF2-40B4-BE49-F238E27FC236}">
                <ns2:creationId id="{C7A7A029-A615-407D-897D-3E7DF32648B4}"/>
              </a:ext>
            </a:extLst>
          </p:cNvPr>
          <p:cNvSpPr>
            <a:spLocks noGrp="1"/>
          </p:cNvSpPr>
          <p:nvPr/>
        </p:nvSpPr>
        <p:spPr>
          <a:xfrm>
            <a:off x="1524000" y="4781550"/>
            <a:ext cx="914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測試與打包自動化；production 上線保留手動確認。</a:t>
            </a:r>
          </a:p>
        </p:txBody>
      </p:sp>
      <p:sp>
        <p:nvSpPr>
          <p:cNvPr id="23" name="">
            <a:extLst>
              <a:ext uri="{FF2B5EF4-FFF2-40B4-BE49-F238E27FC236}">
                <ns2:creationId id="{F627DCB0-5DAB-4940-857D-DF27FCCF1B9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820DC27C-FB60-4301-A492-0A61A9D3FBF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25" name="">
            <a:extLst>
              <a:ext uri="{FF2B5EF4-FFF2-40B4-BE49-F238E27FC236}">
                <ns2:creationId id="{F6E11502-0004-4E6F-BF17-EC31F383D32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36</a:t>
            </a:r>
          </a:p>
        </p:txBody>
      </p:sp>
    </p:spTree>
    <p:extLst>
      <p:ext uri="{BB962C8B-B14F-4D97-AF65-F5344CB8AC3E}">
        <ns3:creationId val="350259297"/>
      </p:ext>
    </p:extLst>
  </p:cSld>
</p:sld>
</file>

<file path=ppt/slides/slide3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60A2A51-8D2F-4B33-A3C1-9A191158B55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DEPLOY INPUTS</a:t>
            </a:r>
          </a:p>
        </p:txBody>
      </p:sp>
      <p:sp>
        <p:nvSpPr>
          <p:cNvPr id="2" name="">
            <a:extLst>
              <a:ext uri="{FF2B5EF4-FFF2-40B4-BE49-F238E27FC236}">
                <ns2:creationId id="{D033EE35-3C70-4909-8726-3C0666912F2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workflow_dispatch 帶部署環境與 image tag</a:t>
            </a:r>
          </a:p>
        </p:txBody>
      </p:sp>
      <p:sp>
        <p:nvSpPr>
          <p:cNvPr id="3" name="">
            <a:extLst>
              <a:ext uri="{FF2B5EF4-FFF2-40B4-BE49-F238E27FC236}">
                <ns2:creationId id="{445B0D0C-2480-4FBA-98F2-1894B8AF98A3}"/>
              </a:ext>
            </a:extLst>
          </p:cNvPr>
          <p:cNvSpPr>
            <a:spLocks noGrp="1"/>
          </p:cNvSpPr>
          <p:nvPr/>
        </p:nvSpPr>
        <p:spPr>
          <a:xfrm>
            <a:off x="914400" y="1371600"/>
            <a:ext cx="5715000" cy="3429000"/>
          </a:xfrm>
          <a:prstGeom prst="roundRect">
            <a:avLst>
              <a:gd name="adj" fmla="val 277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77E25492-0BFE-4CC7-9AE3-E4BB0F054A7A}"/>
              </a:ext>
            </a:extLst>
          </p:cNvPr>
          <p:cNvSpPr>
            <a:spLocks noGrp="1"/>
          </p:cNvSpPr>
          <p:nvPr/>
        </p:nvSpPr>
        <p:spPr>
          <a:xfrm>
            <a:off x="1085850" y="15335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95EA741-9928-40EE-97D7-69B3D2741369}"/>
              </a:ext>
            </a:extLst>
          </p:cNvPr>
          <p:cNvSpPr>
            <a:spLocks noGrp="1"/>
          </p:cNvSpPr>
          <p:nvPr/>
        </p:nvSpPr>
        <p:spPr>
          <a:xfrm>
            <a:off x="1257300" y="15335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C3079F8-41D5-48B2-9906-62940633B742}"/>
              </a:ext>
            </a:extLst>
          </p:cNvPr>
          <p:cNvSpPr>
            <a:spLocks noGrp="1"/>
          </p:cNvSpPr>
          <p:nvPr/>
        </p:nvSpPr>
        <p:spPr>
          <a:xfrm>
            <a:off x="1428750" y="15335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27F9895-4ECD-40B0-9936-A0D32BE50DE1}"/>
              </a:ext>
            </a:extLst>
          </p:cNvPr>
          <p:cNvSpPr>
            <a:spLocks noGrp="1"/>
          </p:cNvSpPr>
          <p:nvPr/>
        </p:nvSpPr>
        <p:spPr>
          <a:xfrm>
            <a:off x="1123950" y="1790700"/>
            <a:ext cx="5295900" cy="2876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on: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workflow_dispatch: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inputs: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environment: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description: 'Deploy environment'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required: true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default: 'staging'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type: choice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options: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  - staging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  - production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image_tag: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description: 'Docker image tag'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required: true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    default: 'latest'</a:t>
            </a:r>
          </a:p>
        </p:txBody>
      </p:sp>
      <p:sp>
        <p:nvSpPr>
          <p:cNvPr id="8" name="">
            <a:extLst>
              <a:ext uri="{FF2B5EF4-FFF2-40B4-BE49-F238E27FC236}">
                <ns2:creationId id="{FD69AD85-10EA-43AB-9975-AA8F624D9EC8}"/>
              </a:ext>
            </a:extLst>
          </p:cNvPr>
          <p:cNvSpPr>
            <a:spLocks noGrp="1"/>
          </p:cNvSpPr>
          <p:nvPr/>
        </p:nvSpPr>
        <p:spPr>
          <a:xfrm>
            <a:off x="7524750" y="1943100"/>
            <a:ext cx="3143250" cy="1714500"/>
          </a:xfrm>
          <a:prstGeom prst="roundRect">
            <a:avLst>
              <a:gd name="adj" fmla="val 666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41BF2C72-F2B8-4DAB-A4A2-6B0189505E84}"/>
              </a:ext>
            </a:extLst>
          </p:cNvPr>
          <p:cNvSpPr>
            <a:spLocks noGrp="1"/>
          </p:cNvSpPr>
          <p:nvPr/>
        </p:nvSpPr>
        <p:spPr>
          <a:xfrm>
            <a:off x="7753350" y="21336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讀取 input</a:t>
            </a:r>
          </a:p>
        </p:txBody>
      </p:sp>
      <p:sp>
        <p:nvSpPr>
          <p:cNvPr id="10" name="">
            <a:extLst>
              <a:ext uri="{FF2B5EF4-FFF2-40B4-BE49-F238E27FC236}">
                <ns2:creationId id="{6E33DDA6-8EA9-4B6C-8164-A525037AF4E7}"/>
              </a:ext>
            </a:extLst>
          </p:cNvPr>
          <p:cNvSpPr>
            <a:spLocks noGrp="1"/>
          </p:cNvSpPr>
          <p:nvPr/>
        </p:nvSpPr>
        <p:spPr>
          <a:xfrm>
            <a:off x="7753350" y="2552700"/>
            <a:ext cx="26860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68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echo "Environment: ${{ inputs.environment }}"</a:t>
            </a:r>
          </a:p>
          <a:p>
            <a:r>
              <a:t>echo "Image tag: ${{ inputs.image_tag }}"</a:t>
            </a:r>
          </a:p>
        </p:txBody>
      </p:sp>
      <p:sp>
        <p:nvSpPr>
          <p:cNvPr id="11" name="">
            <a:extLst>
              <a:ext uri="{FF2B5EF4-FFF2-40B4-BE49-F238E27FC236}">
                <ns2:creationId id="{85F70D86-11D3-411C-B4DE-53A16DB22F77}"/>
              </a:ext>
            </a:extLst>
          </p:cNvPr>
          <p:cNvSpPr>
            <a:spLocks noGrp="1"/>
          </p:cNvSpPr>
          <p:nvPr/>
        </p:nvSpPr>
        <p:spPr>
          <a:xfrm>
            <a:off x="2057400" y="5295900"/>
            <a:ext cx="8077200" cy="438150"/>
          </a:xfrm>
          <a:prstGeom prst="roundRect">
            <a:avLst>
              <a:gd name="adj" fmla="val 2173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64D7FDD1-5978-4E6E-A1D1-2F9AC2A60D3B}"/>
              </a:ext>
            </a:extLst>
          </p:cNvPr>
          <p:cNvSpPr>
            <a:spLocks noGrp="1"/>
          </p:cNvSpPr>
          <p:nvPr/>
        </p:nvSpPr>
        <p:spPr>
          <a:xfrm>
            <a:off x="2381250" y="5429250"/>
            <a:ext cx="7429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754"/>
          </a:bodyPr>
          <a:lstStyle/>
          <a:p>
            <a:pPr algn="ctr">
              <a:lnSpc>
                <a:spcPct val="106000"/>
              </a:lnSpc>
              <a:buNone/>
              <a:defRPr sz="142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同一份 workflow 可以部署不同環境，也可以指定不同 image tag。</a:t>
            </a:r>
          </a:p>
        </p:txBody>
      </p:sp>
      <p:sp>
        <p:nvSpPr>
          <p:cNvPr id="13" name="">
            <a:extLst>
              <a:ext uri="{FF2B5EF4-FFF2-40B4-BE49-F238E27FC236}">
                <ns2:creationId id="{99BD9A9D-65BD-42F8-9934-C42BFCAC119E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DC8EABFC-1DBC-488D-9EB6-968B55ED54A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>
              <a:ext uri="{FF2B5EF4-FFF2-40B4-BE49-F238E27FC236}">
                <ns2:creationId id="{838A1030-3BEB-4840-B70E-D30CA099A45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37</a:t>
            </a:r>
          </a:p>
        </p:txBody>
      </p:sp>
    </p:spTree>
    <p:extLst>
      <p:ext uri="{BB962C8B-B14F-4D97-AF65-F5344CB8AC3E}">
        <ns3:creationId val="1725203703"/>
      </p:ext>
    </p:extLst>
  </p:cSld>
</p:sld>
</file>

<file path=ppt/slides/slide3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5B79E5D-1BCD-4485-818C-1CFC492A09E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SIMULATED DEPLOY</a:t>
            </a:r>
          </a:p>
        </p:txBody>
      </p:sp>
      <p:sp>
        <p:nvSpPr>
          <p:cNvPr id="2" name="">
            <a:extLst>
              <a:ext uri="{FF2B5EF4-FFF2-40B4-BE49-F238E27FC236}">
                <ns2:creationId id="{8A09375B-A48A-43F9-B93A-0ED8DFB9835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先用 echo 練流程，不急著連真伺服器</a:t>
            </a:r>
          </a:p>
        </p:txBody>
      </p:sp>
      <p:sp>
        <p:nvSpPr>
          <p:cNvPr id="3" name="">
            <a:extLst>
              <a:ext uri="{FF2B5EF4-FFF2-40B4-BE49-F238E27FC236}">
                <ns2:creationId id="{8BD0CDB2-A93B-4536-BCC3-22502A362590}"/>
              </a:ext>
            </a:extLst>
          </p:cNvPr>
          <p:cNvSpPr>
            <a:spLocks noGrp="1"/>
          </p:cNvSpPr>
          <p:nvPr/>
        </p:nvSpPr>
        <p:spPr>
          <a:xfrm>
            <a:off x="800100" y="1466850"/>
            <a:ext cx="8667750" cy="238125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D2325F85-33AC-4DCC-AA72-E979AE2B657E}"/>
              </a:ext>
            </a:extLst>
          </p:cNvPr>
          <p:cNvSpPr>
            <a:spLocks noGrp="1"/>
          </p:cNvSpPr>
          <p:nvPr/>
        </p:nvSpPr>
        <p:spPr>
          <a:xfrm>
            <a:off x="97155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BA551CBF-5CA9-4BB0-A7A7-F7F460B2BBAC}"/>
              </a:ext>
            </a:extLst>
          </p:cNvPr>
          <p:cNvSpPr>
            <a:spLocks noGrp="1"/>
          </p:cNvSpPr>
          <p:nvPr/>
        </p:nvSpPr>
        <p:spPr>
          <a:xfrm>
            <a:off x="114300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43F9C76-E9AD-4B32-BE6E-8E0986E6B418}"/>
              </a:ext>
            </a:extLst>
          </p:cNvPr>
          <p:cNvSpPr>
            <a:spLocks noGrp="1"/>
          </p:cNvSpPr>
          <p:nvPr/>
        </p:nvSpPr>
        <p:spPr>
          <a:xfrm>
            <a:off x="131445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DE5B731E-173D-4775-BB33-C808680D9723}"/>
              </a:ext>
            </a:extLst>
          </p:cNvPr>
          <p:cNvSpPr>
            <a:spLocks noGrp="1"/>
          </p:cNvSpPr>
          <p:nvPr/>
        </p:nvSpPr>
        <p:spPr>
          <a:xfrm>
            <a:off x="1009650" y="1885950"/>
            <a:ext cx="824865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919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Print deploy plan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run: |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"Deploying to: ${{ inputs.environment }}"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"Image: ${{ secrets.DOCKERHUB_USERNAME }}/${{ env.IMAGE_NAME }}:${{ inputs.image_tag }}"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- name: Simulate deploy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run: |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"Pull image"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"Stop old container"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"Run new container"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  echo "Check health"</a:t>
            </a:r>
          </a:p>
        </p:txBody>
      </p:sp>
      <p:sp>
        <p:nvSpPr>
          <p:cNvPr id="8" name="">
            <a:extLst>
              <a:ext uri="{FF2B5EF4-FFF2-40B4-BE49-F238E27FC236}">
                <ns2:creationId id="{52EB2E33-2D59-4F39-800D-6DE89946CD06}"/>
              </a:ext>
            </a:extLst>
          </p:cNvPr>
          <p:cNvSpPr>
            <a:spLocks noGrp="1"/>
          </p:cNvSpPr>
          <p:nvPr/>
        </p:nvSpPr>
        <p:spPr>
          <a:xfrm>
            <a:off x="2076450" y="4686300"/>
            <a:ext cx="8039100" cy="609600"/>
          </a:xfrm>
          <a:prstGeom prst="roundRect">
            <a:avLst>
              <a:gd name="adj" fmla="val 1562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1FCBC0E4-B168-4389-8EE0-3F083CA0E5E0}"/>
              </a:ext>
            </a:extLst>
          </p:cNvPr>
          <p:cNvSpPr>
            <a:spLocks noGrp="1"/>
          </p:cNvSpPr>
          <p:nvPr/>
        </p:nvSpPr>
        <p:spPr>
          <a:xfrm>
            <a:off x="2381250" y="4895850"/>
            <a:ext cx="742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847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這堂課的目標是先掌握部署 job 骨架，不需要一次跳到雲端或 Kubernetes。</a:t>
            </a:r>
          </a:p>
        </p:txBody>
      </p:sp>
      <p:sp>
        <p:nvSpPr>
          <p:cNvPr id="10" name="">
            <a:extLst>
              <a:ext uri="{FF2B5EF4-FFF2-40B4-BE49-F238E27FC236}">
                <ns2:creationId id="{C2E41077-CD9D-43C9-9664-9A6144223D8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A0B26A4F-9E9E-4939-9BC0-74815B55012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2" name="">
            <a:extLst>
              <a:ext uri="{FF2B5EF4-FFF2-40B4-BE49-F238E27FC236}">
                <ns2:creationId id="{18D7188C-0E88-464C-9A07-805597F1EAA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38</a:t>
            </a:r>
          </a:p>
        </p:txBody>
      </p:sp>
    </p:spTree>
    <p:extLst>
      <p:ext uri="{BB962C8B-B14F-4D97-AF65-F5344CB8AC3E}">
        <ns3:creationId val="62292333"/>
      </p:ext>
    </p:extLst>
  </p:cSld>
</p:sld>
</file>

<file path=ppt/slides/slide3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D465BD1-A232-4BEE-B649-4B31BFC6885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REAL DEPLOY NEEDS</a:t>
            </a:r>
          </a:p>
        </p:txBody>
      </p:sp>
      <p:sp>
        <p:nvSpPr>
          <p:cNvPr id="2" name="">
            <a:extLst>
              <a:ext uri="{FF2B5EF4-FFF2-40B4-BE49-F238E27FC236}">
                <ns2:creationId id="{3D651C12-4B47-4614-8AC2-2E557118135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真正部署時會多出哪些東西？</a:t>
            </a:r>
          </a:p>
        </p:txBody>
      </p:sp>
      <p:sp>
        <p:nvSpPr>
          <p:cNvPr id="3" name="">
            <a:extLst>
              <a:ext uri="{FF2B5EF4-FFF2-40B4-BE49-F238E27FC236}">
                <ns2:creationId id="{91290E94-2C36-4B6C-87D0-BD819DD8E777}"/>
              </a:ext>
            </a:extLst>
          </p:cNvPr>
          <p:cNvSpPr>
            <a:spLocks noGrp="1"/>
          </p:cNvSpPr>
          <p:nvPr/>
        </p:nvSpPr>
        <p:spPr>
          <a:xfrm>
            <a:off x="9906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63A9277-0DA4-4730-A66B-C334CE671777}"/>
              </a:ext>
            </a:extLst>
          </p:cNvPr>
          <p:cNvSpPr>
            <a:spLocks noGrp="1"/>
          </p:cNvSpPr>
          <p:nvPr/>
        </p:nvSpPr>
        <p:spPr>
          <a:xfrm>
            <a:off x="12192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遠端連線</a:t>
            </a:r>
          </a:p>
        </p:txBody>
      </p:sp>
      <p:sp>
        <p:nvSpPr>
          <p:cNvPr id="5" name="">
            <a:extLst>
              <a:ext uri="{FF2B5EF4-FFF2-40B4-BE49-F238E27FC236}">
                <ns2:creationId id="{890506F4-BABD-4314-B6DA-040A4983AC95}"/>
              </a:ext>
            </a:extLst>
          </p:cNvPr>
          <p:cNvSpPr>
            <a:spLocks noGrp="1"/>
          </p:cNvSpPr>
          <p:nvPr/>
        </p:nvSpPr>
        <p:spPr>
          <a:xfrm>
            <a:off x="12192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SSH key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放進 GitHub Secrets</a:t>
            </a:r>
          </a:p>
        </p:txBody>
      </p:sp>
      <p:sp>
        <p:nvSpPr>
          <p:cNvPr id="6" name="">
            <a:extLst>
              <a:ext uri="{FF2B5EF4-FFF2-40B4-BE49-F238E27FC236}">
                <ns2:creationId id="{F26C4DFE-2AA1-4F2F-A98E-81804E63D40E}"/>
              </a:ext>
            </a:extLst>
          </p:cNvPr>
          <p:cNvSpPr>
            <a:spLocks noGrp="1"/>
          </p:cNvSpPr>
          <p:nvPr/>
        </p:nvSpPr>
        <p:spPr>
          <a:xfrm>
            <a:off x="47244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860B76EC-AFB9-4397-8BDA-CFBDE25A78A6}"/>
              </a:ext>
            </a:extLst>
          </p:cNvPr>
          <p:cNvSpPr>
            <a:spLocks noGrp="1"/>
          </p:cNvSpPr>
          <p:nvPr/>
        </p:nvSpPr>
        <p:spPr>
          <a:xfrm>
            <a:off x="49530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遠端 docker 指令</a:t>
            </a:r>
          </a:p>
        </p:txBody>
      </p:sp>
      <p:sp>
        <p:nvSpPr>
          <p:cNvPr id="8" name="">
            <a:extLst>
              <a:ext uri="{FF2B5EF4-FFF2-40B4-BE49-F238E27FC236}">
                <ns2:creationId id="{0D8283D0-82E2-47DD-9556-B88A57D2D180}"/>
              </a:ext>
            </a:extLst>
          </p:cNvPr>
          <p:cNvSpPr>
            <a:spLocks noGrp="1"/>
          </p:cNvSpPr>
          <p:nvPr/>
        </p:nvSpPr>
        <p:spPr>
          <a:xfrm>
            <a:off x="49530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484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ssh user@host "docker pull ..."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ssh user@host "docker run ..."</a:t>
            </a:r>
          </a:p>
        </p:txBody>
      </p:sp>
      <p:sp>
        <p:nvSpPr>
          <p:cNvPr id="9" name="">
            <a:extLst>
              <a:ext uri="{FF2B5EF4-FFF2-40B4-BE49-F238E27FC236}">
                <ns2:creationId id="{A03491BC-3A8D-4016-BF96-40C3FECE7AED}"/>
              </a:ext>
            </a:extLst>
          </p:cNvPr>
          <p:cNvSpPr>
            <a:spLocks noGrp="1"/>
          </p:cNvSpPr>
          <p:nvPr/>
        </p:nvSpPr>
        <p:spPr>
          <a:xfrm>
            <a:off x="84582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C2DDF618-00A0-4AB7-A4F1-B3EE59DA3EF8}"/>
              </a:ext>
            </a:extLst>
          </p:cNvPr>
          <p:cNvSpPr>
            <a:spLocks noGrp="1"/>
          </p:cNvSpPr>
          <p:nvPr/>
        </p:nvSpPr>
        <p:spPr>
          <a:xfrm>
            <a:off x="86868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服務不中斷</a:t>
            </a:r>
          </a:p>
        </p:txBody>
      </p:sp>
      <p:sp>
        <p:nvSpPr>
          <p:cNvPr id="11" name="">
            <a:extLst>
              <a:ext uri="{FF2B5EF4-FFF2-40B4-BE49-F238E27FC236}">
                <ns2:creationId id="{2F9722CF-2C47-4183-9846-C4AD80CA53BE}"/>
              </a:ext>
            </a:extLst>
          </p:cNvPr>
          <p:cNvSpPr>
            <a:spLocks noGrp="1"/>
          </p:cNvSpPr>
          <p:nvPr/>
        </p:nvSpPr>
        <p:spPr>
          <a:xfrm>
            <a:off x="86868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反向代理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blue-green deployment</a:t>
            </a:r>
          </a:p>
        </p:txBody>
      </p:sp>
      <p:sp>
        <p:nvSpPr>
          <p:cNvPr id="12" name="">
            <a:extLst>
              <a:ext uri="{FF2B5EF4-FFF2-40B4-BE49-F238E27FC236}">
                <ns2:creationId id="{1FA90910-C656-41D7-A61E-17B0F8754C93}"/>
              </a:ext>
            </a:extLst>
          </p:cNvPr>
          <p:cNvSpPr>
            <a:spLocks noGrp="1"/>
          </p:cNvSpPr>
          <p:nvPr/>
        </p:nvSpPr>
        <p:spPr>
          <a:xfrm>
            <a:off x="1600200" y="5029200"/>
            <a:ext cx="899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先掌握 CI/CD 骨架，再學 ECS、Cloud Run、Kubernetes 會更穩。</a:t>
            </a:r>
          </a:p>
        </p:txBody>
      </p:sp>
      <p:sp>
        <p:nvSpPr>
          <p:cNvPr id="13" name="">
            <a:extLst>
              <a:ext uri="{FF2B5EF4-FFF2-40B4-BE49-F238E27FC236}">
                <ns2:creationId id="{7F60EE74-66A2-4401-AA9F-E0B8CDC7ECB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7263DF78-1EB7-4596-8998-7A582A96F56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>
              <a:ext uri="{FF2B5EF4-FFF2-40B4-BE49-F238E27FC236}">
                <ns2:creationId id="{7B54E529-320C-4E7F-9E29-55331C307F2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39</a:t>
            </a:r>
          </a:p>
        </p:txBody>
      </p:sp>
    </p:spTree>
    <p:extLst>
      <p:ext uri="{BB962C8B-B14F-4D97-AF65-F5344CB8AC3E}">
        <ns3:creationId val="911044411"/>
      </p:ext>
    </p:extLst>
  </p:cSld>
</p:sld>
</file>

<file path=ppt/slides/slide40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36F969E-94FC-4C2A-9B27-884808476F2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COURSE RECAP</a:t>
            </a:r>
          </a:p>
        </p:txBody>
      </p:sp>
      <p:sp>
        <p:nvSpPr>
          <p:cNvPr id="2" name="">
            <a:extLst>
              <a:ext uri="{FF2B5EF4-FFF2-40B4-BE49-F238E27FC236}">
                <ns2:creationId id="{C43B2C29-82A1-4FCE-96CB-59BBD9CB827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六堂課回顧</a:t>
            </a:r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 r:embed="Rdcc8df6364df45a3"/>
          <a:srcRect l="5914" t="0" r="5914" b="0"/>
          <a:stretch>
            <a:fillRect l="0" t="0" r="0" b="0"/>
          </a:stretch>
        </p:blipFill>
        <p:spPr>
          <a:xfrm>
            <a:off x="6724650" y="1428750"/>
            <a:ext cx="4476750" cy="2857500"/>
          </a:xfrm>
          <a:prstGeom prst="roundRect">
            <a:avLst/>
          </a:prstGeom>
        </p:spPr>
      </p:pic>
      <p:sp>
        <p:nvSpPr>
          <p:cNvPr id="4" name="">
            <a:extLst>
              <a:ext uri="{FF2B5EF4-FFF2-40B4-BE49-F238E27FC236}">
                <ns2:creationId id="{77FD8D13-2787-4849-B33C-FCF689C923A1}"/>
              </a:ext>
            </a:extLst>
          </p:cNvPr>
          <p:cNvSpPr>
            <a:spLocks noGrp="1"/>
          </p:cNvSpPr>
          <p:nvPr/>
        </p:nvSpPr>
        <p:spPr>
          <a:xfrm>
            <a:off x="6724650" y="1428750"/>
            <a:ext cx="4476750" cy="2857500"/>
          </a:xfrm>
          <a:prstGeom prst="roundRect">
            <a:avLst>
              <a:gd name="adj" fmla="val 4667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25D59414-CF89-499D-A063-5612DECF59DE}"/>
              </a:ext>
            </a:extLst>
          </p:cNvPr>
          <p:cNvSpPr>
            <a:spLocks noGrp="1"/>
          </p:cNvSpPr>
          <p:nvPr/>
        </p:nvSpPr>
        <p:spPr>
          <a:xfrm>
            <a:off x="895350" y="1504950"/>
            <a:ext cx="400050" cy="40005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3BFE8B37-34E8-46EB-B49B-60D0D9C304CF}"/>
              </a:ext>
            </a:extLst>
          </p:cNvPr>
          <p:cNvSpPr>
            <a:spLocks noGrp="1"/>
          </p:cNvSpPr>
          <p:nvPr/>
        </p:nvSpPr>
        <p:spPr>
          <a:xfrm>
            <a:off x="895350" y="16002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7" name="">
            <a:extLst>
              <a:ext uri="{FF2B5EF4-FFF2-40B4-BE49-F238E27FC236}">
                <ns2:creationId id="{585650CF-2AAC-4641-BA54-A9928911B3DF}"/>
              </a:ext>
            </a:extLst>
          </p:cNvPr>
          <p:cNvSpPr>
            <a:spLocks noGrp="1"/>
          </p:cNvSpPr>
          <p:nvPr/>
        </p:nvSpPr>
        <p:spPr>
          <a:xfrm>
            <a:off x="1485900" y="15811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基礎與安裝</a:t>
            </a:r>
          </a:p>
        </p:txBody>
      </p:sp>
      <p:sp>
        <p:nvSpPr>
          <p:cNvPr id="8" name="">
            <a:extLst>
              <a:ext uri="{FF2B5EF4-FFF2-40B4-BE49-F238E27FC236}">
                <ns2:creationId id="{80AAD6BA-0E20-47E0-8BAA-6EBD1E15F145}"/>
              </a:ext>
            </a:extLst>
          </p:cNvPr>
          <p:cNvSpPr>
            <a:spLocks noGrp="1"/>
          </p:cNvSpPr>
          <p:nvPr/>
        </p:nvSpPr>
        <p:spPr>
          <a:xfrm>
            <a:off x="895350" y="2114550"/>
            <a:ext cx="400050" cy="40005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4170986C-94D7-466F-BAFB-AD86092D5A2F}"/>
              </a:ext>
            </a:extLst>
          </p:cNvPr>
          <p:cNvSpPr>
            <a:spLocks noGrp="1"/>
          </p:cNvSpPr>
          <p:nvPr/>
        </p:nvSpPr>
        <p:spPr>
          <a:xfrm>
            <a:off x="895350" y="22098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>
              <a:ext uri="{FF2B5EF4-FFF2-40B4-BE49-F238E27FC236}">
                <ns2:creationId id="{7BFC57C6-49BF-411E-B976-DEFF5F9D0D4D}"/>
              </a:ext>
            </a:extLst>
          </p:cNvPr>
          <p:cNvSpPr>
            <a:spLocks noGrp="1"/>
          </p:cNvSpPr>
          <p:nvPr/>
        </p:nvSpPr>
        <p:spPr>
          <a:xfrm>
            <a:off x="1485900" y="21907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容器操作與 Volume</a:t>
            </a:r>
          </a:p>
        </p:txBody>
      </p:sp>
      <p:sp>
        <p:nvSpPr>
          <p:cNvPr id="11" name="">
            <a:extLst>
              <a:ext uri="{FF2B5EF4-FFF2-40B4-BE49-F238E27FC236}">
                <ns2:creationId id="{182FAA5A-2478-405E-9DBD-922673C03E7B}"/>
              </a:ext>
            </a:extLst>
          </p:cNvPr>
          <p:cNvSpPr>
            <a:spLocks noGrp="1"/>
          </p:cNvSpPr>
          <p:nvPr/>
        </p:nvSpPr>
        <p:spPr>
          <a:xfrm>
            <a:off x="895350" y="2724150"/>
            <a:ext cx="400050" cy="40005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30F35427-C9B7-468F-B417-259FBA015797}"/>
              </a:ext>
            </a:extLst>
          </p:cNvPr>
          <p:cNvSpPr>
            <a:spLocks noGrp="1"/>
          </p:cNvSpPr>
          <p:nvPr/>
        </p:nvSpPr>
        <p:spPr>
          <a:xfrm>
            <a:off x="895350" y="28194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3" name="">
            <a:extLst>
              <a:ext uri="{FF2B5EF4-FFF2-40B4-BE49-F238E27FC236}">
                <ns2:creationId id="{B0CF6BFE-62CA-45E4-87E0-19BAD2889C0D}"/>
              </a:ext>
            </a:extLst>
          </p:cNvPr>
          <p:cNvSpPr>
            <a:spLocks noGrp="1"/>
          </p:cNvSpPr>
          <p:nvPr/>
        </p:nvSpPr>
        <p:spPr>
          <a:xfrm>
            <a:off x="1485900" y="28003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與 MySQL</a:t>
            </a:r>
          </a:p>
        </p:txBody>
      </p:sp>
      <p:sp>
        <p:nvSpPr>
          <p:cNvPr id="14" name="">
            <a:extLst>
              <a:ext uri="{FF2B5EF4-FFF2-40B4-BE49-F238E27FC236}">
                <ns2:creationId id="{DA9BFCA0-0955-487A-8687-60B43074AAD9}"/>
              </a:ext>
            </a:extLst>
          </p:cNvPr>
          <p:cNvSpPr>
            <a:spLocks noGrp="1"/>
          </p:cNvSpPr>
          <p:nvPr/>
        </p:nvSpPr>
        <p:spPr>
          <a:xfrm>
            <a:off x="895350" y="3333750"/>
            <a:ext cx="400050" cy="40005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997E3EE-2A14-4AFC-9033-05CB9F2CE12E}"/>
              </a:ext>
            </a:extLst>
          </p:cNvPr>
          <p:cNvSpPr>
            <a:spLocks noGrp="1"/>
          </p:cNvSpPr>
          <p:nvPr/>
        </p:nvSpPr>
        <p:spPr>
          <a:xfrm>
            <a:off x="895350" y="34290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6" name="">
            <a:extLst>
              <a:ext uri="{FF2B5EF4-FFF2-40B4-BE49-F238E27FC236}">
                <ns2:creationId id="{AA8132C3-F6A3-406E-AC77-12C81826971A}"/>
              </a:ext>
            </a:extLst>
          </p:cNvPr>
          <p:cNvSpPr>
            <a:spLocks noGrp="1"/>
          </p:cNvSpPr>
          <p:nvPr/>
        </p:nvSpPr>
        <p:spPr>
          <a:xfrm>
            <a:off x="1485900" y="34099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與 Image</a:t>
            </a:r>
          </a:p>
        </p:txBody>
      </p:sp>
      <p:sp>
        <p:nvSpPr>
          <p:cNvPr id="17" name="">
            <a:extLst>
              <a:ext uri="{FF2B5EF4-FFF2-40B4-BE49-F238E27FC236}">
                <ns2:creationId id="{D9B68F5F-8FA2-4307-BA3B-F148B298FC53}"/>
              </a:ext>
            </a:extLst>
          </p:cNvPr>
          <p:cNvSpPr>
            <a:spLocks noGrp="1"/>
          </p:cNvSpPr>
          <p:nvPr/>
        </p:nvSpPr>
        <p:spPr>
          <a:xfrm>
            <a:off x="895350" y="3943350"/>
            <a:ext cx="400050" cy="40005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DF095542-C0AE-4C91-8612-57E0E8EC6069}"/>
              </a:ext>
            </a:extLst>
          </p:cNvPr>
          <p:cNvSpPr>
            <a:spLocks noGrp="1"/>
          </p:cNvSpPr>
          <p:nvPr/>
        </p:nvSpPr>
        <p:spPr>
          <a:xfrm>
            <a:off x="895350" y="40386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19" name="">
            <a:extLst>
              <a:ext uri="{FF2B5EF4-FFF2-40B4-BE49-F238E27FC236}">
                <ns2:creationId id="{03267089-D1FF-4EE9-B8D2-9FD76F5B3D8D}"/>
              </a:ext>
            </a:extLst>
          </p:cNvPr>
          <p:cNvSpPr>
            <a:spLocks noGrp="1"/>
          </p:cNvSpPr>
          <p:nvPr/>
        </p:nvSpPr>
        <p:spPr>
          <a:xfrm>
            <a:off x="1485900" y="40195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CI/CD 入門</a:t>
            </a:r>
          </a:p>
        </p:txBody>
      </p:sp>
      <p:sp>
        <p:nvSpPr>
          <p:cNvPr id="20" name="">
            <a:extLst>
              <a:ext uri="{FF2B5EF4-FFF2-40B4-BE49-F238E27FC236}">
                <ns2:creationId id="{8CC8FADB-9E96-4573-B3B4-05E4E5A831CD}"/>
              </a:ext>
            </a:extLst>
          </p:cNvPr>
          <p:cNvSpPr>
            <a:spLocks noGrp="1"/>
          </p:cNvSpPr>
          <p:nvPr/>
        </p:nvSpPr>
        <p:spPr>
          <a:xfrm>
            <a:off x="895350" y="4552950"/>
            <a:ext cx="400050" cy="40005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2632057B-9B9A-4E17-AF12-73B22AA9D8F4}"/>
              </a:ext>
            </a:extLst>
          </p:cNvPr>
          <p:cNvSpPr>
            <a:spLocks noGrp="1"/>
          </p:cNvSpPr>
          <p:nvPr/>
        </p:nvSpPr>
        <p:spPr>
          <a:xfrm>
            <a:off x="895350" y="46482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2" name="">
            <a:extLst>
              <a:ext uri="{FF2B5EF4-FFF2-40B4-BE49-F238E27FC236}">
                <ns2:creationId id="{7694D29A-2C10-4304-A1D3-38830A943CA3}"/>
              </a:ext>
            </a:extLst>
          </p:cNvPr>
          <p:cNvSpPr>
            <a:spLocks noGrp="1"/>
          </p:cNvSpPr>
          <p:nvPr/>
        </p:nvSpPr>
        <p:spPr>
          <a:xfrm>
            <a:off x="1485900" y="46291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Actions 進階實作</a:t>
            </a:r>
          </a:p>
        </p:txBody>
      </p:sp>
      <p:sp>
        <p:nvSpPr>
          <p:cNvPr id="23" name="">
            <a:extLst>
              <a:ext uri="{FF2B5EF4-FFF2-40B4-BE49-F238E27FC236}">
                <ns2:creationId id="{33204C53-2929-4AD9-A445-933A549BFFCE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B07F9F1D-D243-4BB2-9306-C67173B0384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25" name="">
            <a:extLst>
              <a:ext uri="{FF2B5EF4-FFF2-40B4-BE49-F238E27FC236}">
                <ns2:creationId id="{C88F7F9C-A21B-44D6-BAEB-5D9D5FC7D75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40</a:t>
            </a:r>
          </a:p>
        </p:txBody>
      </p:sp>
    </p:spTree>
    <p:extLst>
      <p:ext uri="{BB962C8B-B14F-4D97-AF65-F5344CB8AC3E}">
        <ns4:creationId val="2016475383"/>
      </p:ext>
    </p:extLst>
  </p:cSld>
</p:sld>
</file>

<file path=ppt/slides/slide4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5D9491E-DD76-48A6-81BA-FD87193F1C7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END-TO-END FLOW</a:t>
            </a:r>
          </a:p>
        </p:txBody>
      </p:sp>
      <p:sp>
        <p:nvSpPr>
          <p:cNvPr id="2" name="">
            <a:extLst>
              <a:ext uri="{FF2B5EF4-FFF2-40B4-BE49-F238E27FC236}">
                <ns2:creationId id="{A5CD1EB9-C8C2-4E43-8A58-A33E1D378F3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完整的開發到部署流程</a:t>
            </a:r>
          </a:p>
        </p:txBody>
      </p:sp>
      <p:sp>
        <p:nvSpPr>
          <p:cNvPr id="3" name="">
            <a:extLst>
              <a:ext uri="{FF2B5EF4-FFF2-40B4-BE49-F238E27FC236}">
                <ns2:creationId id="{3B89A5A1-A294-44C6-A670-D71258EB8138}"/>
              </a:ext>
            </a:extLst>
          </p:cNvPr>
          <p:cNvSpPr>
            <a:spLocks noGrp="1"/>
          </p:cNvSpPr>
          <p:nvPr/>
        </p:nvSpPr>
        <p:spPr>
          <a:xfrm>
            <a:off x="609600" y="2381250"/>
            <a:ext cx="1428750" cy="106680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0B1220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68B1158B-B3AC-4976-AF8B-BA9330448845}"/>
              </a:ext>
            </a:extLst>
          </p:cNvPr>
          <p:cNvSpPr>
            <a:spLocks noGrp="1"/>
          </p:cNvSpPr>
          <p:nvPr/>
        </p:nvSpPr>
        <p:spPr>
          <a:xfrm>
            <a:off x="762000" y="2781300"/>
            <a:ext cx="1123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寫程式碼</a:t>
            </a:r>
          </a:p>
        </p:txBody>
      </p:sp>
      <p:sp>
        <p:nvSpPr>
          <p:cNvPr id="5" name="">
            <a:extLst>
              <a:ext uri="{FF2B5EF4-FFF2-40B4-BE49-F238E27FC236}">
                <ns2:creationId id="{287B7215-95FE-4676-A752-38A6F638C3F2}"/>
              </a:ext>
            </a:extLst>
          </p:cNvPr>
          <p:cNvSpPr>
            <a:spLocks noGrp="1"/>
          </p:cNvSpPr>
          <p:nvPr/>
        </p:nvSpPr>
        <p:spPr>
          <a:xfrm>
            <a:off x="2133600" y="2781300"/>
            <a:ext cx="381000" cy="2286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0223A495-DD20-485D-9FD6-31C748F84DF7}"/>
              </a:ext>
            </a:extLst>
          </p:cNvPr>
          <p:cNvSpPr>
            <a:spLocks noGrp="1"/>
          </p:cNvSpPr>
          <p:nvPr/>
        </p:nvSpPr>
        <p:spPr>
          <a:xfrm>
            <a:off x="2495550" y="2381250"/>
            <a:ext cx="1428750" cy="1066800"/>
          </a:xfrm>
          <a:prstGeom prst="roundRect">
            <a:avLst>
              <a:gd name="adj" fmla="val 8929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965533C1-8DCF-4947-A5B2-613D0FE7D90A}"/>
              </a:ext>
            </a:extLst>
          </p:cNvPr>
          <p:cNvSpPr>
            <a:spLocks noGrp="1"/>
          </p:cNvSpPr>
          <p:nvPr/>
        </p:nvSpPr>
        <p:spPr>
          <a:xfrm>
            <a:off x="2647950" y="2781300"/>
            <a:ext cx="1123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git push</a:t>
            </a:r>
          </a:p>
        </p:txBody>
      </p:sp>
      <p:sp>
        <p:nvSpPr>
          <p:cNvPr id="8" name="">
            <a:extLst>
              <a:ext uri="{FF2B5EF4-FFF2-40B4-BE49-F238E27FC236}">
                <ns2:creationId id="{479CAE80-97A9-481C-AA3E-F33E8E5A7189}"/>
              </a:ext>
            </a:extLst>
          </p:cNvPr>
          <p:cNvSpPr>
            <a:spLocks noGrp="1"/>
          </p:cNvSpPr>
          <p:nvPr/>
        </p:nvSpPr>
        <p:spPr>
          <a:xfrm>
            <a:off x="4019550" y="2781300"/>
            <a:ext cx="381000" cy="2286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81B55BBF-C47F-490C-AD4E-EE6465C1D910}"/>
              </a:ext>
            </a:extLst>
          </p:cNvPr>
          <p:cNvSpPr>
            <a:spLocks noGrp="1"/>
          </p:cNvSpPr>
          <p:nvPr/>
        </p:nvSpPr>
        <p:spPr>
          <a:xfrm>
            <a:off x="4381500" y="2381250"/>
            <a:ext cx="1428750" cy="1066800"/>
          </a:xfrm>
          <a:prstGeom prst="roundRect">
            <a:avLst>
              <a:gd name="adj" fmla="val 8929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86AD09D3-429F-4C48-9B63-ACA4BE1D453B}"/>
              </a:ext>
            </a:extLst>
          </p:cNvPr>
          <p:cNvSpPr>
            <a:spLocks noGrp="1"/>
          </p:cNvSpPr>
          <p:nvPr/>
        </p:nvSpPr>
        <p:spPr>
          <a:xfrm>
            <a:off x="4533900" y="2781300"/>
            <a:ext cx="1123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自動測試</a:t>
            </a:r>
          </a:p>
        </p:txBody>
      </p:sp>
      <p:sp>
        <p:nvSpPr>
          <p:cNvPr id="11" name="">
            <a:extLst>
              <a:ext uri="{FF2B5EF4-FFF2-40B4-BE49-F238E27FC236}">
                <ns2:creationId id="{3BA2C73A-1473-402B-AB91-96BFA7D925C0}"/>
              </a:ext>
            </a:extLst>
          </p:cNvPr>
          <p:cNvSpPr>
            <a:spLocks noGrp="1"/>
          </p:cNvSpPr>
          <p:nvPr/>
        </p:nvSpPr>
        <p:spPr>
          <a:xfrm>
            <a:off x="5905500" y="2781300"/>
            <a:ext cx="381000" cy="2286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8253173-310C-4423-9111-46D6DEEC136B}"/>
              </a:ext>
            </a:extLst>
          </p:cNvPr>
          <p:cNvSpPr>
            <a:spLocks noGrp="1"/>
          </p:cNvSpPr>
          <p:nvPr/>
        </p:nvSpPr>
        <p:spPr>
          <a:xfrm>
            <a:off x="6267450" y="2381250"/>
            <a:ext cx="1428750" cy="1066800"/>
          </a:xfrm>
          <a:prstGeom prst="roundRect">
            <a:avLst>
              <a:gd name="adj" fmla="val 8929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5955826E-E8B0-49C6-BC29-150436EE2116}"/>
              </a:ext>
            </a:extLst>
          </p:cNvPr>
          <p:cNvSpPr>
            <a:spLocks noGrp="1"/>
          </p:cNvSpPr>
          <p:nvPr/>
        </p:nvSpPr>
        <p:spPr>
          <a:xfrm>
            <a:off x="6419850" y="2781300"/>
            <a:ext cx="1123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build Image</a:t>
            </a:r>
          </a:p>
        </p:txBody>
      </p:sp>
      <p:sp>
        <p:nvSpPr>
          <p:cNvPr id="14" name="">
            <a:extLst>
              <a:ext uri="{FF2B5EF4-FFF2-40B4-BE49-F238E27FC236}">
                <ns2:creationId id="{253810C6-D3E4-4D2D-B269-1BE307A995AA}"/>
              </a:ext>
            </a:extLst>
          </p:cNvPr>
          <p:cNvSpPr>
            <a:spLocks noGrp="1"/>
          </p:cNvSpPr>
          <p:nvPr/>
        </p:nvSpPr>
        <p:spPr>
          <a:xfrm>
            <a:off x="7791450" y="2781300"/>
            <a:ext cx="381000" cy="2286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E1EF7557-8329-42E1-AB94-56982342E3F5}"/>
              </a:ext>
            </a:extLst>
          </p:cNvPr>
          <p:cNvSpPr>
            <a:spLocks noGrp="1"/>
          </p:cNvSpPr>
          <p:nvPr/>
        </p:nvSpPr>
        <p:spPr>
          <a:xfrm>
            <a:off x="8153400" y="2381250"/>
            <a:ext cx="1428750" cy="1066800"/>
          </a:xfrm>
          <a:prstGeom prst="roundRect">
            <a:avLst>
              <a:gd name="adj" fmla="val 8929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EC843CC1-32D4-4194-B667-1A211973C87D}"/>
              </a:ext>
            </a:extLst>
          </p:cNvPr>
          <p:cNvSpPr>
            <a:spLocks noGrp="1"/>
          </p:cNvSpPr>
          <p:nvPr/>
        </p:nvSpPr>
        <p:spPr>
          <a:xfrm>
            <a:off x="8305800" y="2781300"/>
            <a:ext cx="1123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health check</a:t>
            </a:r>
          </a:p>
        </p:txBody>
      </p:sp>
      <p:sp>
        <p:nvSpPr>
          <p:cNvPr id="17" name="">
            <a:extLst>
              <a:ext uri="{FF2B5EF4-FFF2-40B4-BE49-F238E27FC236}">
                <ns2:creationId id="{B12FDB27-176A-4F68-9546-FE92DD96F257}"/>
              </a:ext>
            </a:extLst>
          </p:cNvPr>
          <p:cNvSpPr>
            <a:spLocks noGrp="1"/>
          </p:cNvSpPr>
          <p:nvPr/>
        </p:nvSpPr>
        <p:spPr>
          <a:xfrm>
            <a:off x="9677400" y="2781300"/>
            <a:ext cx="381000" cy="2286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9ADA2C15-0D63-4D63-B6DD-3E44250DBBCB}"/>
              </a:ext>
            </a:extLst>
          </p:cNvPr>
          <p:cNvSpPr>
            <a:spLocks noGrp="1"/>
          </p:cNvSpPr>
          <p:nvPr/>
        </p:nvSpPr>
        <p:spPr>
          <a:xfrm>
            <a:off x="10039350" y="2381250"/>
            <a:ext cx="1428750" cy="106680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64748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9" name="">
            <a:extLst>
              <a:ext uri="{FF2B5EF4-FFF2-40B4-BE49-F238E27FC236}">
                <ns2:creationId id="{8CF6FC82-4E04-4B0D-AE1B-CF82674D7B4A}"/>
              </a:ext>
            </a:extLst>
          </p:cNvPr>
          <p:cNvSpPr>
            <a:spLocks noGrp="1"/>
          </p:cNvSpPr>
          <p:nvPr/>
        </p:nvSpPr>
        <p:spPr>
          <a:xfrm>
            <a:off x="10191750" y="2781300"/>
            <a:ext cx="1123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push Hub</a:t>
            </a:r>
          </a:p>
        </p:txBody>
      </p:sp>
      <p:sp>
        <p:nvSpPr>
          <p:cNvPr id="20" name="">
            <a:extLst>
              <a:ext uri="{FF2B5EF4-FFF2-40B4-BE49-F238E27FC236}">
                <ns2:creationId id="{345F7B7E-DE8F-4520-8703-4ED42E08DDF5}"/>
              </a:ext>
            </a:extLst>
          </p:cNvPr>
          <p:cNvSpPr>
            <a:spLocks noGrp="1"/>
          </p:cNvSpPr>
          <p:nvPr/>
        </p:nvSpPr>
        <p:spPr>
          <a:xfrm>
            <a:off x="1962150" y="4705350"/>
            <a:ext cx="8267700" cy="590550"/>
          </a:xfrm>
          <a:prstGeom prst="roundRect">
            <a:avLst>
              <a:gd name="adj" fmla="val 1612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1" name="">
            <a:extLst>
              <a:ext uri="{FF2B5EF4-FFF2-40B4-BE49-F238E27FC236}">
                <ns2:creationId id="{19CCFE68-60B5-4D5C-A919-6D95D46EC67D}"/>
              </a:ext>
            </a:extLst>
          </p:cNvPr>
          <p:cNvSpPr>
            <a:spLocks noGrp="1"/>
          </p:cNvSpPr>
          <p:nvPr/>
        </p:nvSpPr>
        <p:spPr>
          <a:xfrm>
            <a:off x="2286000" y="4895850"/>
            <a:ext cx="762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Docker 讓應用可包裝；CI/CD 讓包裝與交付可重複、可驗證。</a:t>
            </a:r>
          </a:p>
        </p:txBody>
      </p:sp>
      <p:sp>
        <p:nvSpPr>
          <p:cNvPr id="22" name="">
            <a:extLst>
              <a:ext uri="{FF2B5EF4-FFF2-40B4-BE49-F238E27FC236}">
                <ns2:creationId id="{5830CF83-9A50-4054-A5D9-8E03927911F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FF624D67-968E-400E-B38C-DDB78358110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24" name="">
            <a:extLst>
              <a:ext uri="{FF2B5EF4-FFF2-40B4-BE49-F238E27FC236}">
                <ns2:creationId id="{09C7EB5B-1B7F-48E1-8772-1709EB04BCE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41</a:t>
            </a:r>
          </a:p>
        </p:txBody>
      </p:sp>
    </p:spTree>
    <p:extLst>
      <p:ext uri="{BB962C8B-B14F-4D97-AF65-F5344CB8AC3E}">
        <ns3:creationId val="1605393214"/>
      </p:ext>
    </p:extLst>
  </p:cSld>
</p:sld>
</file>

<file path=ppt/slides/slide4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AAF3294-2EBB-4AEC-997B-569B6A08332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CHECK YOURSELF</a:t>
            </a:r>
          </a:p>
        </p:txBody>
      </p:sp>
      <p:sp>
        <p:nvSpPr>
          <p:cNvPr id="2" name="">
            <a:extLst>
              <a:ext uri="{FF2B5EF4-FFF2-40B4-BE49-F238E27FC236}">
                <ns2:creationId id="{EA9C963A-8790-4FE2-8523-4CEA672C31B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到這裡你應該能回答</a:t>
            </a:r>
          </a:p>
        </p:txBody>
      </p:sp>
      <p:sp>
        <p:nvSpPr>
          <p:cNvPr id="3" name="">
            <a:extLst>
              <a:ext uri="{FF2B5EF4-FFF2-40B4-BE49-F238E27FC236}">
                <ns2:creationId id="{32FC3121-7734-4EAD-8306-5A0D5C317078}"/>
              </a:ext>
            </a:extLst>
          </p:cNvPr>
          <p:cNvSpPr>
            <a:spLocks noGrp="1"/>
          </p:cNvSpPr>
          <p:nvPr/>
        </p:nvSpPr>
        <p:spPr>
          <a:xfrm>
            <a:off x="1123950" y="1809750"/>
            <a:ext cx="4381500" cy="1809750"/>
          </a:xfrm>
          <a:prstGeom prst="roundRect">
            <a:avLst>
              <a:gd name="adj" fmla="val 6316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2344C389-BB9A-4350-A031-C3738DC8B27D}"/>
              </a:ext>
            </a:extLst>
          </p:cNvPr>
          <p:cNvSpPr>
            <a:spLocks noGrp="1"/>
          </p:cNvSpPr>
          <p:nvPr/>
        </p:nvSpPr>
        <p:spPr>
          <a:xfrm>
            <a:off x="1352550" y="20002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224"/>
          </a:bodyPr>
          <a:lstStyle/>
          <a:p>
            <a:pPr algn="ctr">
              <a:lnSpc>
                <a:spcPct val="106000"/>
              </a:lnSpc>
              <a:buNone/>
              <a:defRPr sz="23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CI/CD 核心</a:t>
            </a:r>
          </a:p>
        </p:txBody>
      </p:sp>
      <p:sp>
        <p:nvSpPr>
          <p:cNvPr id="5" name="">
            <a:extLst>
              <a:ext uri="{FF2B5EF4-FFF2-40B4-BE49-F238E27FC236}">
                <ns2:creationId id="{6F5D25D1-7461-41A2-BCFA-67E1827D0323}"/>
              </a:ext>
            </a:extLst>
          </p:cNvPr>
          <p:cNvSpPr>
            <a:spLocks noGrp="1"/>
          </p:cNvSpPr>
          <p:nvPr/>
        </p:nvSpPr>
        <p:spPr>
          <a:xfrm>
            <a:off x="1352550" y="2609850"/>
            <a:ext cx="39243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為什麼測試失敗就不應該 build image？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為什麼 secret 不能寫在 YAML 裡？</a:t>
            </a:r>
          </a:p>
        </p:txBody>
      </p:sp>
      <p:sp>
        <p:nvSpPr>
          <p:cNvPr id="6" name="">
            <a:extLst>
              <a:ext uri="{FF2B5EF4-FFF2-40B4-BE49-F238E27FC236}">
                <ns2:creationId id="{585BF889-2934-4A71-AE5F-D2862CEC9F09}"/>
              </a:ext>
            </a:extLst>
          </p:cNvPr>
          <p:cNvSpPr>
            <a:spLocks noGrp="1"/>
          </p:cNvSpPr>
          <p:nvPr/>
        </p:nvSpPr>
        <p:spPr>
          <a:xfrm>
            <a:off x="6705600" y="1809750"/>
            <a:ext cx="4381500" cy="1809750"/>
          </a:xfrm>
          <a:prstGeom prst="roundRect">
            <a:avLst>
              <a:gd name="adj" fmla="val 6316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44C408E6-9427-4AB7-852F-F86DF15C97AE}"/>
              </a:ext>
            </a:extLst>
          </p:cNvPr>
          <p:cNvSpPr>
            <a:spLocks noGrp="1"/>
          </p:cNvSpPr>
          <p:nvPr/>
        </p:nvSpPr>
        <p:spPr>
          <a:xfrm>
            <a:off x="6934200" y="20002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224"/>
          </a:bodyPr>
          <a:lstStyle/>
          <a:p>
            <a:pPr algn="ctr">
              <a:lnSpc>
                <a:spcPct val="106000"/>
              </a:lnSpc>
              <a:buNone/>
              <a:defRPr sz="23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Docker 核心</a:t>
            </a:r>
          </a:p>
        </p:txBody>
      </p:sp>
      <p:sp>
        <p:nvSpPr>
          <p:cNvPr id="8" name="">
            <a:extLst>
              <a:ext uri="{FF2B5EF4-FFF2-40B4-BE49-F238E27FC236}">
                <ns2:creationId id="{1166A348-CC1A-4289-91E3-C6350EC326DF}"/>
              </a:ext>
            </a:extLst>
          </p:cNvPr>
          <p:cNvSpPr>
            <a:spLocks noGrp="1"/>
          </p:cNvSpPr>
          <p:nvPr/>
        </p:nvSpPr>
        <p:spPr>
          <a:xfrm>
            <a:off x="6934200" y="2609850"/>
            <a:ext cx="39243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Image 和 Container 差在哪裡？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為什麼容器要 listen 0.0.0.0？</a:t>
            </a:r>
          </a:p>
        </p:txBody>
      </p:sp>
      <p:sp>
        <p:nvSpPr>
          <p:cNvPr id="9" name="">
            <a:extLst>
              <a:ext uri="{FF2B5EF4-FFF2-40B4-BE49-F238E27FC236}">
                <ns2:creationId id="{B3CF3D19-3064-4D02-A537-66EF3186EF13}"/>
              </a:ext>
            </a:extLst>
          </p:cNvPr>
          <p:cNvSpPr>
            <a:spLocks noGrp="1"/>
          </p:cNvSpPr>
          <p:nvPr/>
        </p:nvSpPr>
        <p:spPr>
          <a:xfrm>
            <a:off x="3143250" y="4743450"/>
            <a:ext cx="5905500" cy="895350"/>
          </a:xfrm>
          <a:prstGeom prst="roundRect">
            <a:avLst>
              <a:gd name="adj" fmla="val 106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0" name="">
            <a:extLst>
              <a:ext uri="{FF2B5EF4-FFF2-40B4-BE49-F238E27FC236}">
                <ns2:creationId id="{007B2908-A23C-407A-9C99-F534748BAA46}"/>
              </a:ext>
            </a:extLst>
          </p:cNvPr>
          <p:cNvSpPr>
            <a:spLocks noGrp="1"/>
          </p:cNvSpPr>
          <p:nvPr/>
        </p:nvSpPr>
        <p:spPr>
          <a:xfrm>
            <a:off x="3314700" y="4905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56EB2FF3-1FC1-4143-80C9-34C5009F3FC7}"/>
              </a:ext>
            </a:extLst>
          </p:cNvPr>
          <p:cNvSpPr>
            <a:spLocks noGrp="1"/>
          </p:cNvSpPr>
          <p:nvPr/>
        </p:nvSpPr>
        <p:spPr>
          <a:xfrm>
            <a:off x="3486150" y="4905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18718E4-D927-46E4-88C2-16A2B1BCF363}"/>
              </a:ext>
            </a:extLst>
          </p:cNvPr>
          <p:cNvSpPr>
            <a:spLocks noGrp="1"/>
          </p:cNvSpPr>
          <p:nvPr/>
        </p:nvSpPr>
        <p:spPr>
          <a:xfrm>
            <a:off x="3657600" y="4905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6BAB7D34-5364-4CD4-9064-8D0FD6DFAAF9}"/>
              </a:ext>
            </a:extLst>
          </p:cNvPr>
          <p:cNvSpPr>
            <a:spLocks noGrp="1"/>
          </p:cNvSpPr>
          <p:nvPr/>
        </p:nvSpPr>
        <p:spPr>
          <a:xfrm>
            <a:off x="3352800" y="5162550"/>
            <a:ext cx="5486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5072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review: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- needs / if / secrets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- health check before push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F1F5F9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F1F5F9"/>
                </a:solidFill>
                <a:latin typeface="Consolas"/>
                <a:ea typeface="Consolas"/>
                <a:cs typeface="Consolas"/>
              </a:rPr>
              <a:t>  - latest vs sha tag</a:t>
            </a:r>
          </a:p>
        </p:txBody>
      </p:sp>
      <p:sp>
        <p:nvSpPr>
          <p:cNvPr id="14" name="">
            <a:extLst>
              <a:ext uri="{FF2B5EF4-FFF2-40B4-BE49-F238E27FC236}">
                <ns2:creationId id="{4C1FCF3B-76BD-4087-BC65-6E287DC73B3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131CEC56-3473-4AC0-A285-A0B1C0D8A61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6" name="">
            <a:extLst>
              <a:ext uri="{FF2B5EF4-FFF2-40B4-BE49-F238E27FC236}">
                <ns2:creationId id="{3FE1FB1D-D0BA-4416-89F8-152A9CF7D26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42</a:t>
            </a:r>
          </a:p>
        </p:txBody>
      </p:sp>
    </p:spTree>
    <p:extLst>
      <p:ext uri="{BB962C8B-B14F-4D97-AF65-F5344CB8AC3E}">
        <ns3:creationId val="941797186"/>
      </p:ext>
    </p:extLst>
  </p:cSld>
</p:sld>
</file>

<file path=ppt/slides/slide4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D465BD1-A232-4BEE-B649-4B31BFC6885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FINAL EXERCISES</a:t>
            </a:r>
          </a:p>
        </p:txBody>
      </p:sp>
      <p:sp>
        <p:nvSpPr>
          <p:cNvPr id="2" name="">
            <a:extLst>
              <a:ext uri="{FF2B5EF4-FFF2-40B4-BE49-F238E27FC236}">
                <ns2:creationId id="{3D651C12-4B47-4614-8AC2-2E557118135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把第六堂內容真正做完</a:t>
            </a:r>
          </a:p>
        </p:txBody>
      </p:sp>
      <p:sp>
        <p:nvSpPr>
          <p:cNvPr id="3" name="">
            <a:extLst>
              <a:ext uri="{FF2B5EF4-FFF2-40B4-BE49-F238E27FC236}">
                <ns2:creationId id="{91290E94-2C36-4B6C-87D0-BD819DD8E777}"/>
              </a:ext>
            </a:extLst>
          </p:cNvPr>
          <p:cNvSpPr>
            <a:spLocks noGrp="1"/>
          </p:cNvSpPr>
          <p:nvPr/>
        </p:nvSpPr>
        <p:spPr>
          <a:xfrm>
            <a:off x="9906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63A9277-0DA4-4730-A66B-C334CE671777}"/>
              </a:ext>
            </a:extLst>
          </p:cNvPr>
          <p:cNvSpPr>
            <a:spLocks noGrp="1"/>
          </p:cNvSpPr>
          <p:nvPr/>
        </p:nvSpPr>
        <p:spPr>
          <a:xfrm>
            <a:off x="12192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練習 1：health retry</a:t>
            </a:r>
          </a:p>
        </p:txBody>
      </p:sp>
      <p:sp>
        <p:nvSpPr>
          <p:cNvPr id="5" name="">
            <a:extLst>
              <a:ext uri="{FF2B5EF4-FFF2-40B4-BE49-F238E27FC236}">
                <ns2:creationId id="{890506F4-BABD-4314-B6DA-040A4983AC95}"/>
              </a:ext>
            </a:extLst>
          </p:cNvPr>
          <p:cNvSpPr>
            <a:spLocks noGrp="1"/>
          </p:cNvSpPr>
          <p:nvPr/>
        </p:nvSpPr>
        <p:spPr>
          <a:xfrm>
            <a:off x="12192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把固定 sleep 改成 retry 版本，curl 成功才離開。</a:t>
            </a:r>
          </a:p>
        </p:txBody>
      </p:sp>
      <p:sp>
        <p:nvSpPr>
          <p:cNvPr id="6" name="">
            <a:extLst>
              <a:ext uri="{FF2B5EF4-FFF2-40B4-BE49-F238E27FC236}">
                <ns2:creationId id="{F26C4DFE-2AA1-4F2F-A98E-81804E63D40E}"/>
              </a:ext>
            </a:extLst>
          </p:cNvPr>
          <p:cNvSpPr>
            <a:spLocks noGrp="1"/>
          </p:cNvSpPr>
          <p:nvPr/>
        </p:nvSpPr>
        <p:spPr>
          <a:xfrm>
            <a:off x="47244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860B76EC-AFB9-4397-8BDA-CFBDE25A78A6}"/>
              </a:ext>
            </a:extLst>
          </p:cNvPr>
          <p:cNvSpPr>
            <a:spLocks noGrp="1"/>
          </p:cNvSpPr>
          <p:nvPr/>
        </p:nvSpPr>
        <p:spPr>
          <a:xfrm>
            <a:off x="49530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24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練習 2：manual deploy</a:t>
            </a:r>
          </a:p>
        </p:txBody>
      </p:sp>
      <p:sp>
        <p:nvSpPr>
          <p:cNvPr id="8" name="">
            <a:extLst>
              <a:ext uri="{FF2B5EF4-FFF2-40B4-BE49-F238E27FC236}">
                <ns2:creationId id="{0D8283D0-82E2-47DD-9556-B88A57D2D180}"/>
              </a:ext>
            </a:extLst>
          </p:cNvPr>
          <p:cNvSpPr>
            <a:spLocks noGrp="1"/>
          </p:cNvSpPr>
          <p:nvPr/>
        </p:nvSpPr>
        <p:spPr>
          <a:xfrm>
            <a:off x="49530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新增 deploy.yml，用 workflow_dispatch 選 staging / production。</a:t>
            </a:r>
          </a:p>
        </p:txBody>
      </p:sp>
      <p:sp>
        <p:nvSpPr>
          <p:cNvPr id="9" name="">
            <a:extLst>
              <a:ext uri="{FF2B5EF4-FFF2-40B4-BE49-F238E27FC236}">
                <ns2:creationId id="{A03491BC-3A8D-4016-BF96-40C3FECE7AED}"/>
              </a:ext>
            </a:extLst>
          </p:cNvPr>
          <p:cNvSpPr>
            <a:spLocks noGrp="1"/>
          </p:cNvSpPr>
          <p:nvPr/>
        </p:nvSpPr>
        <p:spPr>
          <a:xfrm>
            <a:off x="8458200" y="1905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C2DDF618-00A0-4AB7-A4F1-B3EE59DA3EF8}"/>
              </a:ext>
            </a:extLst>
          </p:cNvPr>
          <p:cNvSpPr>
            <a:spLocks noGrp="1"/>
          </p:cNvSpPr>
          <p:nvPr/>
        </p:nvSpPr>
        <p:spPr>
          <a:xfrm>
            <a:off x="8686800" y="2095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26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練習 3：matrix + artifact</a:t>
            </a:r>
          </a:p>
        </p:txBody>
      </p:sp>
      <p:sp>
        <p:nvSpPr>
          <p:cNvPr id="11" name="">
            <a:extLst>
              <a:ext uri="{FF2B5EF4-FFF2-40B4-BE49-F238E27FC236}">
                <ns2:creationId id="{2F9722CF-2C47-4183-9846-C4AD80CA53BE}"/>
              </a:ext>
            </a:extLst>
          </p:cNvPr>
          <p:cNvSpPr>
            <a:spLocks noGrp="1"/>
          </p:cNvSpPr>
          <p:nvPr/>
        </p:nvSpPr>
        <p:spPr>
          <a:xfrm>
            <a:off x="868680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7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 Python 3.10 / 3.11 / 3.12，並上傳 test-results.xml。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交付物：Actions 綠燈、Docker Hub Image、README badge。</a:t>
            </a:r>
          </a:p>
        </p:txBody>
      </p:sp>
      <p:sp>
        <p:nvSpPr>
          <p:cNvPr id="12" name="">
            <a:extLst>
              <a:ext uri="{FF2B5EF4-FFF2-40B4-BE49-F238E27FC236}">
                <ns2:creationId id="{1FA90910-C656-41D7-A61E-17B0F8754C93}"/>
              </a:ext>
            </a:extLst>
          </p:cNvPr>
          <p:cNvSpPr>
            <a:spLocks noGrp="1"/>
          </p:cNvSpPr>
          <p:nvPr/>
        </p:nvSpPr>
        <p:spPr>
          <a:xfrm>
            <a:off x="1600200" y="5029200"/>
            <a:ext cx="899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完成標準：Repository 首頁能看到 CI 狀態，Actions 有成功紀錄。</a:t>
            </a:r>
          </a:p>
        </p:txBody>
      </p:sp>
      <p:sp>
        <p:nvSpPr>
          <p:cNvPr id="13" name="">
            <a:extLst>
              <a:ext uri="{FF2B5EF4-FFF2-40B4-BE49-F238E27FC236}">
                <ns2:creationId id="{7F60EE74-66A2-4401-AA9F-E0B8CDC7ECB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7263DF78-1EB7-4596-8998-7A582A96F56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5" name="">
            <a:extLst>
              <a:ext uri="{FF2B5EF4-FFF2-40B4-BE49-F238E27FC236}">
                <ns2:creationId id="{7B54E529-320C-4E7F-9E29-55331C307F2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43</a:t>
            </a:r>
          </a:p>
        </p:txBody>
      </p:sp>
    </p:spTree>
    <p:extLst>
      <p:ext uri="{BB962C8B-B14F-4D97-AF65-F5344CB8AC3E}">
        <ns3:creationId val="911044411"/>
      </p:ext>
    </p:extLst>
  </p:cSld>
</p:sld>
</file>

<file path=ppt/slides/slide4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7BC7CD0-FA7E-4BB6-BFB7-C2C2ACD4EF0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2" name="">
            <a:extLst>
              <a:ext uri="{FF2B5EF4-FFF2-40B4-BE49-F238E27FC236}">
                <ns2:creationId id="{BF7F8777-2642-4099-B6E0-647606A4C7F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接下來可以學什麼？</a:t>
            </a:r>
          </a:p>
        </p:txBody>
      </p:sp>
      <p:sp>
        <p:nvSpPr>
          <p:cNvPr id="3" name="">
            <a:extLst>
              <a:ext uri="{FF2B5EF4-FFF2-40B4-BE49-F238E27FC236}">
                <ns2:creationId id="{36D04C2B-4B4D-4CCF-B605-F05BFC10876D}"/>
              </a:ext>
            </a:extLst>
          </p:cNvPr>
          <p:cNvSpPr>
            <a:spLocks noGrp="1"/>
          </p:cNvSpPr>
          <p:nvPr/>
        </p:nvSpPr>
        <p:spPr>
          <a:xfrm>
            <a:off x="819150" y="1885950"/>
            <a:ext cx="238125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3AAAACD-85A1-4F51-8BED-D2F40C8A84A8}"/>
              </a:ext>
            </a:extLst>
          </p:cNvPr>
          <p:cNvSpPr>
            <a:spLocks noGrp="1"/>
          </p:cNvSpPr>
          <p:nvPr/>
        </p:nvSpPr>
        <p:spPr>
          <a:xfrm>
            <a:off x="1047750" y="2076450"/>
            <a:ext cx="1924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容器編排</a:t>
            </a:r>
          </a:p>
        </p:txBody>
      </p:sp>
      <p:sp>
        <p:nvSpPr>
          <p:cNvPr id="5" name="">
            <a:extLst>
              <a:ext uri="{FF2B5EF4-FFF2-40B4-BE49-F238E27FC236}">
                <ns2:creationId id="{3C19BBB5-CCB0-40C3-B68C-3D38E92D6191}"/>
              </a:ext>
            </a:extLst>
          </p:cNvPr>
          <p:cNvSpPr>
            <a:spLocks noGrp="1"/>
          </p:cNvSpPr>
          <p:nvPr/>
        </p:nvSpPr>
        <p:spPr>
          <a:xfrm>
            <a:off x="1047750" y="2628900"/>
            <a:ext cx="19240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Kubernetes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Swarm</a:t>
            </a:r>
          </a:p>
        </p:txBody>
      </p:sp>
      <p:sp>
        <p:nvSpPr>
          <p:cNvPr id="6" name="">
            <a:extLst>
              <a:ext uri="{FF2B5EF4-FFF2-40B4-BE49-F238E27FC236}">
                <ns2:creationId id="{80D627A7-1652-4B7D-A1BF-5743E2BE5BEB}"/>
              </a:ext>
            </a:extLst>
          </p:cNvPr>
          <p:cNvSpPr>
            <a:spLocks noGrp="1"/>
          </p:cNvSpPr>
          <p:nvPr/>
        </p:nvSpPr>
        <p:spPr>
          <a:xfrm>
            <a:off x="3600450" y="1885950"/>
            <a:ext cx="2381250" cy="1809750"/>
          </a:xfrm>
          <a:prstGeom prst="roundRect">
            <a:avLst>
              <a:gd name="adj" fmla="val 6316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E9E029BB-5A35-4EDC-AC95-07A1FC17A672}"/>
              </a:ext>
            </a:extLst>
          </p:cNvPr>
          <p:cNvSpPr>
            <a:spLocks noGrp="1"/>
          </p:cNvSpPr>
          <p:nvPr/>
        </p:nvSpPr>
        <p:spPr>
          <a:xfrm>
            <a:off x="3829050" y="2076450"/>
            <a:ext cx="1924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雲端部署</a:t>
            </a:r>
          </a:p>
        </p:txBody>
      </p:sp>
      <p:sp>
        <p:nvSpPr>
          <p:cNvPr id="8" name="">
            <a:extLst>
              <a:ext uri="{FF2B5EF4-FFF2-40B4-BE49-F238E27FC236}">
                <ns2:creationId id="{D84BDD84-8075-405C-ACDC-20E2FA0CFCEA}"/>
              </a:ext>
            </a:extLst>
          </p:cNvPr>
          <p:cNvSpPr>
            <a:spLocks noGrp="1"/>
          </p:cNvSpPr>
          <p:nvPr/>
        </p:nvSpPr>
        <p:spPr>
          <a:xfrm>
            <a:off x="3829050" y="2628900"/>
            <a:ext cx="19240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AWS ECS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GCP Cloud Run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Azure Container Apps</a:t>
            </a:r>
          </a:p>
        </p:txBody>
      </p:sp>
      <p:sp>
        <p:nvSpPr>
          <p:cNvPr id="9" name="">
            <a:extLst>
              <a:ext uri="{FF2B5EF4-FFF2-40B4-BE49-F238E27FC236}">
                <ns2:creationId id="{CA0A3324-9B3F-4E26-BA29-6355D14347E7}"/>
              </a:ext>
            </a:extLst>
          </p:cNvPr>
          <p:cNvSpPr>
            <a:spLocks noGrp="1"/>
          </p:cNvSpPr>
          <p:nvPr/>
        </p:nvSpPr>
        <p:spPr>
          <a:xfrm>
            <a:off x="6381750" y="1885950"/>
            <a:ext cx="2381250" cy="1809750"/>
          </a:xfrm>
          <a:prstGeom prst="roundRect">
            <a:avLst>
              <a:gd name="adj" fmla="val 6316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3119C4BC-3926-44A4-81EF-9F662E76C525}"/>
              </a:ext>
            </a:extLst>
          </p:cNvPr>
          <p:cNvSpPr>
            <a:spLocks noGrp="1"/>
          </p:cNvSpPr>
          <p:nvPr/>
        </p:nvSpPr>
        <p:spPr>
          <a:xfrm>
            <a:off x="6610350" y="2076450"/>
            <a:ext cx="1924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監控</a:t>
            </a:r>
          </a:p>
        </p:txBody>
      </p:sp>
      <p:sp>
        <p:nvSpPr>
          <p:cNvPr id="11" name="">
            <a:extLst>
              <a:ext uri="{FF2B5EF4-FFF2-40B4-BE49-F238E27FC236}">
                <ns2:creationId id="{8288E3FD-444A-4326-9BCB-2B6C770CFB15}"/>
              </a:ext>
            </a:extLst>
          </p:cNvPr>
          <p:cNvSpPr>
            <a:spLocks noGrp="1"/>
          </p:cNvSpPr>
          <p:nvPr/>
        </p:nvSpPr>
        <p:spPr>
          <a:xfrm>
            <a:off x="6610350" y="2628900"/>
            <a:ext cx="19240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Prometheus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Grafana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ELK Stack</a:t>
            </a:r>
          </a:p>
        </p:txBody>
      </p:sp>
      <p:sp>
        <p:nvSpPr>
          <p:cNvPr id="12" name="">
            <a:extLst>
              <a:ext uri="{FF2B5EF4-FFF2-40B4-BE49-F238E27FC236}">
                <ns2:creationId id="{A824039E-3656-4812-B77C-B23C012E63DB}"/>
              </a:ext>
            </a:extLst>
          </p:cNvPr>
          <p:cNvSpPr>
            <a:spLocks noGrp="1"/>
          </p:cNvSpPr>
          <p:nvPr/>
        </p:nvSpPr>
        <p:spPr>
          <a:xfrm>
            <a:off x="9163050" y="1885950"/>
            <a:ext cx="2381250" cy="1809750"/>
          </a:xfrm>
          <a:prstGeom prst="roundRect">
            <a:avLst>
              <a:gd name="adj" fmla="val 6316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1AEB4010-8276-4B61-B830-74828EC429E7}"/>
              </a:ext>
            </a:extLst>
          </p:cNvPr>
          <p:cNvSpPr>
            <a:spLocks noGrp="1"/>
          </p:cNvSpPr>
          <p:nvPr/>
        </p:nvSpPr>
        <p:spPr>
          <a:xfrm>
            <a:off x="9391650" y="2076450"/>
            <a:ext cx="1924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進階 CI/CD</a:t>
            </a:r>
          </a:p>
        </p:txBody>
      </p:sp>
      <p:sp>
        <p:nvSpPr>
          <p:cNvPr id="14" name="">
            <a:extLst>
              <a:ext uri="{FF2B5EF4-FFF2-40B4-BE49-F238E27FC236}">
                <ns2:creationId id="{C91C9EDF-EAB1-40B3-A765-E3DE7715A43C}"/>
              </a:ext>
            </a:extLst>
          </p:cNvPr>
          <p:cNvSpPr>
            <a:spLocks noGrp="1"/>
          </p:cNvSpPr>
          <p:nvPr/>
        </p:nvSpPr>
        <p:spPr>
          <a:xfrm>
            <a:off x="9391650" y="2628900"/>
            <a:ext cx="19240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Argo CD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GitOps</a:t>
            </a:r>
          </a:p>
        </p:txBody>
      </p:sp>
      <p:sp>
        <p:nvSpPr>
          <p:cNvPr id="15" name="">
            <a:extLst>
              <a:ext uri="{FF2B5EF4-FFF2-40B4-BE49-F238E27FC236}">
                <ns2:creationId id="{81568016-5791-4D2F-B40F-5DEB8651BF22}"/>
              </a:ext>
            </a:extLst>
          </p:cNvPr>
          <p:cNvSpPr>
            <a:spLocks noGrp="1"/>
          </p:cNvSpPr>
          <p:nvPr/>
        </p:nvSpPr>
        <p:spPr>
          <a:xfrm>
            <a:off x="1752600" y="4819650"/>
            <a:ext cx="8686800" cy="70485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4EE8C889-18CC-424E-94F5-D4201514DA14}"/>
              </a:ext>
            </a:extLst>
          </p:cNvPr>
          <p:cNvSpPr>
            <a:spLocks noGrp="1"/>
          </p:cNvSpPr>
          <p:nvPr/>
        </p:nvSpPr>
        <p:spPr>
          <a:xfrm>
            <a:off x="2095500" y="504825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你現在已經有能力：寫 Dockerfile、跑 Compose、用 Actions 自動測試、驗證與推送 image。</a:t>
            </a:r>
          </a:p>
        </p:txBody>
      </p:sp>
      <p:sp>
        <p:nvSpPr>
          <p:cNvPr id="17" name="">
            <a:extLst>
              <a:ext uri="{FF2B5EF4-FFF2-40B4-BE49-F238E27FC236}">
                <ns2:creationId id="{4093A901-4D61-44E7-BAD2-A040A1BAC8C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22727D9A-BD9D-4D3A-B704-309D39DFF4F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6 堂</a:t>
            </a:r>
          </a:p>
        </p:txBody>
      </p:sp>
      <p:sp>
        <p:nvSpPr>
          <p:cNvPr id="19" name="">
            <a:extLst>
              <a:ext uri="{FF2B5EF4-FFF2-40B4-BE49-F238E27FC236}">
                <ns2:creationId id="{63D57D00-11CF-461B-A25B-0B991E44EE6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44</a:t>
            </a:r>
          </a:p>
        </p:txBody>
      </p:sp>
    </p:spTree>
    <p:extLst>
      <p:ext uri="{BB962C8B-B14F-4D97-AF65-F5344CB8AC3E}">
        <ns3:creationId val="137515203"/>
      </p:ext>
    </p:extLst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1: env 層級範例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1: env 層級範例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CI with Environment Variables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push: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 [ main ]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IMAGE_NAME: my-flask-app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PYTHON_VERSION: '3.11'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build: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FLASK_ENV: testing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顯示環境變數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|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"Image: ${{ env.IMAGE_NAME }}"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"Python: ${{ env.PYTHON_VERSION }}"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Code 1/23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2: env 層級範例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2: env 層級範例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"Flask: $FLASK_ENV"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Code 2/23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3: Secrets 登入 Docker Hub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3: Secrets 登入 Docker Hub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 name: 登入 Docker Hub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uses: docker/login-action@v3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with: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username: ${{ secrets.DOCKERHUB_USERNAME }}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password: ${{ secrets.DOCKERHUB_TOKEN }}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Code 3/23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4: Flask app.py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4: Flask app.py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jsonify({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"message": "Hello from CI/CD!",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"version": "1.0.0"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@app.route("/health")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health():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jsonify({"status": "healthy"})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add(a, b):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a + b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Code 4/23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5: Flask app.py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5: Flask app.py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is_positive(n):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n &gt; 0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app.run(host="0.0.0.0", port=5000)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Code 5/23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6: test_app.py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6: test_app.py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pytest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app import app, add, is_positive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@pytest.fixture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client():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app.config["TESTING"] = True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with app.test_client() as client: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yield client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test_hello(client):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response = client.get("/")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response.status_code == 200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data = response.get_json()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"message" in data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data["version"] == "1.0.0"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test_health(client):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response = client.get("/health")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response.status_code == 200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Code 6/23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7: test_app.py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7: test_app.py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data = response.get_json()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data["status"] == "healthy"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test_add():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add(2, 3) == 5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add(-1, 1) == 0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test_is_positive():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is_positive(1) is True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is_positive(-1) is False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is_positive(0) is False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Code 7/23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8: requirements.txt / Dockerfile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8: requirements.txt / Dockerfile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pytest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Code 8/23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9: .dockerignore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9: .dockerignore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.github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.venv/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*.md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Code 9/23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10: 本機測試指令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10: 本機測試指令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pytest test_app.py -v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```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預期結果：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```text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test_app.py::test_hello PASSED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test_app.py::test_health PASSED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test_app.py::test_add PASSED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test_app.py::test_is_positive PASSED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```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再測 Docker Image：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```powershell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docker-cicd-demo:local .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cicd-local -p 5000:5000 docker-cicd-demo:local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curl http://localhost:5000/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curl http://localhost:5000/health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cicd-local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Code 10/23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A10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11: 第一版測試 workflow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11: 第一版測試 workflow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Flask CI/CD Pipeline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push: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 [ main ]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pull_request: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 [ main ]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permissions: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contents: read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PYTHON_VERSION: '3.11'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IMAGE_NAME: docker-cicd-demo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test: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name: Run tests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Checkout code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Code 11/23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A11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12: 第一版測試 workflow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12: 第一版測試 workflow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actions/checkout@v4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Setup Python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actions/setup-python@v5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python-version: ${{ env.PYTHON_VERSION }}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Install dependencies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pip install -r requirements.txt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Run pytest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pytest test_app.py -v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Code 12/23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A12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13: 加入 Docker build workflow (1/3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13: 加入 Docker build workflow (1/3)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Flask CI/CD Pipeline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push: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 [ main ]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pull_request: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 [ main ]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permissions: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contents: read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PYTHON_VERSION: '3.11'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IMAGE_NAME: docker-cicd-demo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test: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name: Run tests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Checkout code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Code 13/23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A13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14: 加入 Docker build workflow (2/3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14: 加入 Docker build workflow (2/3)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actions/checkout@v4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Setup Python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actions/setup-python@v5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python-version: ${{ env.PYTHON_VERSION }}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Install dependencies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pip install -r requirements.txt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Run pytest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pytest test_app.py -v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docker: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name: Build Docker image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needs: 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if: github.event_name == 'push' &amp;&amp; github.ref == 'refs/heads/main'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Checkout code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actions/checkout@v4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Code 14/23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A14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15: 加入 Docker build workflow (3/3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15: 加入 Docker build workflow (3/3)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Build image locally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build -t ${{ env.IMAGE_NAME }}:ci 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Code 15/23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A15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16: CI 健康檢查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16: CI 健康檢查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Run container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run -d --name app -p 5000:5000 ${{ env.IMAGE_NAME }}:ci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Wait for app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sleep 5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Check health endpoint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curl --fail http://localhost:5000/health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Show container logs on failure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if: failure()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logs app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Stop container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if: always()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rm -f app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Code 16/23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A16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17: 完整 CI/CD workflow (1/5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17: 完整 CI/CD workflow (1/5)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Flask CI/CD Pipeline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push: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 [ main ]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pull_request: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 [ main ]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permissions: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contents: read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concurrency: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group: cicd-${{ github.ref }}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cancel-in-progress: true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PYTHON_VERSION: '3.11'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IMAGE_NAME: docker-cicd-demo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test: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name: Run tests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Code 17/23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A17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18: 完整 CI/CD workflow (2/5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18: 完整 CI/CD workflow (2/5)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Checkout code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actions/checkout@v4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Setup Python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actions/setup-python@v5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python-version: ${{ env.PYTHON_VERSION }}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Cache pip packages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actions/cache@v4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path: ~/.cache/pip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key: ${{ runner.os }}-pip-${{ hashFiles('requirements.txt') }}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restore-keys: |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${{ runner.os }}-pip-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Install dependencies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pip install -r requirements.txt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Code 18/23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A18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19: 完整 CI/CD workflow (3/5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19: 完整 CI/CD workflow (3/5)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Run pytest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pytest test_app.py -v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docker: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name: Build and push Docker image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needs: 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if: github.event_name == 'push' &amp;&amp; github.ref == 'refs/heads/main'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Checkout code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actions/checkout@v4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Create image tags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id: meta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|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"sha_short=$(git rev-parse --short HEAD)" &gt;&gt; $GITHUB_OUTPUT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"image=${{ secrets.DOCKERHUB_USERNAME }}/${{ env.IMAGE_NAME }}" &gt;&gt;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$GITHUB_OUTPUT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Build image locally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|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Code 19/23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A19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20: 完整 CI/CD workflow (4/5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20: 完整 CI/CD workflow (4/5)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docker build \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-t ${{ steps.meta.outputs.image }}:latest \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-t ${{ steps.meta.outputs.image }}:${{ steps.meta.outputs.sha_short }} \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.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Run container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run -d --name app -p 5000:5000 ${{ steps.meta.outputs.image }}:latest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Wait for app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sleep 5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Check health endpoint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curl --fail http://localhost:5000/health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Show container logs on failure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if: failure()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logs app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Stop container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if: always()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rm -f app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Code 20/23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A20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21: 完整 CI/CD workflow (5/5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21: 完整 CI/CD workflow (5/5)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Login to Docker Hub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docker/login-action@v3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username: ${{ secrets.DOCKERHUB_USERNAME }}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password: ${{ secrets.DOCKERHUB_TOKEN }}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Push image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|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docker push ${{ steps.meta.outputs.image }}:latest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docker push ${{ steps.meta.outputs.image }}:${{ steps.meta.outputs.sha_short }}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Print deployment commands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|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"Docker image pushed successfully."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"Image: ${{ steps.meta.outputs.image }}"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"Tags: latest, ${{ steps.meta.outputs.sha_short }}"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"Deploy with:"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"docker pull ${{ steps.meta.outputs.image }}:latest"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"docker run -d -p 5000:5000 ${{ steps.meta.outputs.image }}:latest"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Code 21/23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A21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22: 手動部署 workflow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22: 手動部署 workflow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Manual Deploy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workflow_dispatch: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inputs: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environment: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description: 'Deploy environment'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required: true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default: 'staging'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type: choice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options: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- staging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- production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image_tag: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description: 'Docker image tag'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required: true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default: 'latest'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permissions: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contents: read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env: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Code 22/23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A22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程式碼附錄 23: 手動部署 workflow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程式碼附錄 23: 手動部署 workflow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IMAGE_NAME: docker-cicd-demo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deploy: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Print deploy plan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|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"Deploying to: ${{ inputs.environment }}"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"Image: ${{ secrets.DOCKERHUB_USERNAME }}/${{ env.IMAGE_NAME }}:${{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inputs.image_tag }}"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Simulate deploy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|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"Pull image"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"Stop old container"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"Run new container"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echo "Check health"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Code 23/23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A23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2026-06-21T16:18:46.0010000Z</dcterms:created>
  <dcterms:modified xsi:type="dcterms:W3CDTF">2026-06-21T16:18:46.0010000Z</dcterms:modified>
</coreProperties>
</file>