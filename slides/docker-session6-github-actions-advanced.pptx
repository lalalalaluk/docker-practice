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4c2eb491c04e48" /><Relationship Type="http://schemas.openxmlformats.org/officeDocument/2006/relationships/extended-properties" Target="/docProps/app.xml" Id="Rc1916cfc69b54536" /><Relationship Type="http://schemas.openxmlformats.org/officeDocument/2006/relationships/officeDocument" Target="/ppt/presentation.xml" Id="R24eb14897ebd49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4d2a6921f482f"/>
  </p:sldMasterIdLst>
  <p:sldIdLst>
    <p:sldId xmlns:r="http://schemas.openxmlformats.org/officeDocument/2006/relationships" id="256" r:id="R62a2b1414cb046db"/>
    <p:sldId xmlns:r="http://schemas.openxmlformats.org/officeDocument/2006/relationships" id="257" r:id="Rf6a06d840e474aa3"/>
    <p:sldId xmlns:r="http://schemas.openxmlformats.org/officeDocument/2006/relationships" id="258" r:id="Rf04a048a15264ee2"/>
    <p:sldId xmlns:r="http://schemas.openxmlformats.org/officeDocument/2006/relationships" id="259" r:id="R72bd6c42d6904cb4"/>
    <p:sldId xmlns:r="http://schemas.openxmlformats.org/officeDocument/2006/relationships" id="260" r:id="Rd430e35556c64a63"/>
    <p:sldId xmlns:r="http://schemas.openxmlformats.org/officeDocument/2006/relationships" id="261" r:id="Rb20b6b2ff0ba4dc6"/>
    <p:sldId xmlns:r="http://schemas.openxmlformats.org/officeDocument/2006/relationships" id="262" r:id="R684ebd8f34764fdf"/>
    <p:sldId xmlns:r="http://schemas.openxmlformats.org/officeDocument/2006/relationships" id="263" r:id="Rddb89301bcc74712"/>
    <p:sldId xmlns:r="http://schemas.openxmlformats.org/officeDocument/2006/relationships" id="264" r:id="R8c54cd6d5f724feb"/>
    <p:sldId xmlns:r="http://schemas.openxmlformats.org/officeDocument/2006/relationships" id="265" r:id="Rb3ed9b5598184ffc"/>
    <p:sldId xmlns:r="http://schemas.openxmlformats.org/officeDocument/2006/relationships" id="266" r:id="Ra51a10bc77ab404c"/>
    <p:sldId xmlns:r="http://schemas.openxmlformats.org/officeDocument/2006/relationships" id="267" r:id="R468e0323ab0942fc"/>
    <p:sldId xmlns:r="http://schemas.openxmlformats.org/officeDocument/2006/relationships" id="268" r:id="Rb14e302e7f754d84"/>
    <p:sldId xmlns:r="http://schemas.openxmlformats.org/officeDocument/2006/relationships" id="269" r:id="R7afc985f43f74955"/>
    <p:sldId xmlns:r="http://schemas.openxmlformats.org/officeDocument/2006/relationships" id="270" r:id="R7404e312f8ec41b8"/>
    <p:sldId xmlns:r="http://schemas.openxmlformats.org/officeDocument/2006/relationships" id="271" r:id="R28dadf8848394e46"/>
    <p:sldId xmlns:r="http://schemas.openxmlformats.org/officeDocument/2006/relationships" id="272" r:id="Rd3d6a3b9b9454a94"/>
    <p:sldId xmlns:r="http://schemas.openxmlformats.org/officeDocument/2006/relationships" id="273" r:id="Rc1337ecc54004527"/>
    <p:sldId xmlns:r="http://schemas.openxmlformats.org/officeDocument/2006/relationships" id="274" r:id="Rd96911d4550b40b9"/>
    <p:sldId xmlns:r="http://schemas.openxmlformats.org/officeDocument/2006/relationships" id="275" r:id="R6d2e4b684cf84cfe"/>
    <p:sldId xmlns:r="http://schemas.openxmlformats.org/officeDocument/2006/relationships" id="276" r:id="R7553d00b43024b68"/>
    <p:sldId xmlns:r="http://schemas.openxmlformats.org/officeDocument/2006/relationships" id="277" r:id="Rb1d046fce68b4d17"/>
    <p:sldId xmlns:r="http://schemas.openxmlformats.org/officeDocument/2006/relationships" id="278" r:id="Rc178dc25bf8442c4"/>
    <p:sldId xmlns:r="http://schemas.openxmlformats.org/officeDocument/2006/relationships" id="279" r:id="R21e462a42d3e4227"/>
    <p:sldId xmlns:r="http://schemas.openxmlformats.org/officeDocument/2006/relationships" id="280" r:id="R56890f74ead24288"/>
    <p:sldId xmlns:r="http://schemas.openxmlformats.org/officeDocument/2006/relationships" id="281" r:id="R18eb01c9591a4cee"/>
    <p:sldId xmlns:r="http://schemas.openxmlformats.org/officeDocument/2006/relationships" id="282" r:id="R256ffc4dba7a418a"/>
    <p:sldId xmlns:r="http://schemas.openxmlformats.org/officeDocument/2006/relationships" id="283" r:id="R1610ded70ee24d44"/>
    <p:sldId xmlns:r="http://schemas.openxmlformats.org/officeDocument/2006/relationships" id="284" r:id="R19bcf70926cf4fcb"/>
    <p:sldId xmlns:r="http://schemas.openxmlformats.org/officeDocument/2006/relationships" id="285" r:id="Rc375546b5e5a494b"/>
    <p:sldId xmlns:r="http://schemas.openxmlformats.org/officeDocument/2006/relationships" id="286" r:id="R535e6db305bd4940"/>
    <p:sldId xmlns:r="http://schemas.openxmlformats.org/officeDocument/2006/relationships" id="287" r:id="R03185644caab4d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856492ef6243c1" /><Relationship Type="http://schemas.openxmlformats.org/officeDocument/2006/relationships/slideMaster" Target="/ppt/slideMasters/slideMaster1.xml" Id="R8304d2a6921f482f" /><Relationship Type="http://schemas.openxmlformats.org/officeDocument/2006/relationships/presProps" Target="/ppt/presProps.xml" Id="Rdc8e19a3d7f24994" /><Relationship Type="http://schemas.openxmlformats.org/officeDocument/2006/relationships/tableStyles" Target="/ppt/tableStyles.xml" Id="R6345e6b121b04d35" /><Relationship Type="http://schemas.openxmlformats.org/officeDocument/2006/relationships/slide" Target="/ppt/slides/slide1.xml" Id="R62a2b1414cb046db" /><Relationship Type="http://schemas.openxmlformats.org/officeDocument/2006/relationships/slide" Target="/ppt/slides/slide2.xml" Id="Rf6a06d840e474aa3" /><Relationship Type="http://schemas.openxmlformats.org/officeDocument/2006/relationships/slide" Target="/ppt/slides/slide3.xml" Id="Rf04a048a15264ee2" /><Relationship Type="http://schemas.openxmlformats.org/officeDocument/2006/relationships/slide" Target="/ppt/slides/slide4.xml" Id="R72bd6c42d6904cb4" /><Relationship Type="http://schemas.openxmlformats.org/officeDocument/2006/relationships/slide" Target="/ppt/slides/slide5.xml" Id="Rd430e35556c64a63" /><Relationship Type="http://schemas.openxmlformats.org/officeDocument/2006/relationships/slide" Target="/ppt/slides/slide6.xml" Id="Rb20b6b2ff0ba4dc6" /><Relationship Type="http://schemas.openxmlformats.org/officeDocument/2006/relationships/slide" Target="/ppt/slides/slide7.xml" Id="R684ebd8f34764fdf" /><Relationship Type="http://schemas.openxmlformats.org/officeDocument/2006/relationships/slide" Target="/ppt/slides/slide8.xml" Id="Rddb89301bcc74712" /><Relationship Type="http://schemas.openxmlformats.org/officeDocument/2006/relationships/slide" Target="/ppt/slides/slide9.xml" Id="R8c54cd6d5f724feb" /><Relationship Type="http://schemas.openxmlformats.org/officeDocument/2006/relationships/slide" Target="/ppt/slides/slide10.xml" Id="Rb3ed9b5598184ffc" /><Relationship Type="http://schemas.openxmlformats.org/officeDocument/2006/relationships/slide" Target="/ppt/slides/slide11.xml" Id="Ra51a10bc77ab404c" /><Relationship Type="http://schemas.openxmlformats.org/officeDocument/2006/relationships/slide" Target="/ppt/slides/slide12.xml" Id="R468e0323ab0942fc" /><Relationship Type="http://schemas.openxmlformats.org/officeDocument/2006/relationships/slide" Target="/ppt/slides/slide13.xml" Id="Rb14e302e7f754d84" /><Relationship Type="http://schemas.openxmlformats.org/officeDocument/2006/relationships/slide" Target="/ppt/slides/slide14.xml" Id="R7afc985f43f74955" /><Relationship Type="http://schemas.openxmlformats.org/officeDocument/2006/relationships/slide" Target="/ppt/slides/slide15.xml" Id="R7404e312f8ec41b8" /><Relationship Type="http://schemas.openxmlformats.org/officeDocument/2006/relationships/slide" Target="/ppt/slides/slide16.xml" Id="R28dadf8848394e46" /><Relationship Type="http://schemas.openxmlformats.org/officeDocument/2006/relationships/slide" Target="/ppt/slides/slide17.xml" Id="Rd3d6a3b9b9454a94" /><Relationship Type="http://schemas.openxmlformats.org/officeDocument/2006/relationships/slide" Target="/ppt/slides/slide18.xml" Id="Rc1337ecc54004527" /><Relationship Type="http://schemas.openxmlformats.org/officeDocument/2006/relationships/slide" Target="/ppt/slides/slide19.xml" Id="Rd96911d4550b40b9" /><Relationship Type="http://schemas.openxmlformats.org/officeDocument/2006/relationships/slide" Target="/ppt/slides/slide20.xml" Id="R6d2e4b684cf84cfe" /><Relationship Type="http://schemas.openxmlformats.org/officeDocument/2006/relationships/slide" Target="/ppt/slides/slide21.xml" Id="R7553d00b43024b68" /><Relationship Type="http://schemas.openxmlformats.org/officeDocument/2006/relationships/slide" Target="/ppt/slides/slide22.xml" Id="Rb1d046fce68b4d17" /><Relationship Type="http://schemas.openxmlformats.org/officeDocument/2006/relationships/slide" Target="/ppt/slides/slide23.xml" Id="Rc178dc25bf8442c4" /><Relationship Type="http://schemas.openxmlformats.org/officeDocument/2006/relationships/slide" Target="/ppt/slides/slide24.xml" Id="R21e462a42d3e4227" /><Relationship Type="http://schemas.openxmlformats.org/officeDocument/2006/relationships/slide" Target="/ppt/slides/slide25.xml" Id="R56890f74ead24288" /><Relationship Type="http://schemas.openxmlformats.org/officeDocument/2006/relationships/slide" Target="/ppt/slides/slide26.xml" Id="R18eb01c9591a4cee" /><Relationship Type="http://schemas.openxmlformats.org/officeDocument/2006/relationships/slide" Target="/ppt/slides/slide27.xml" Id="R256ffc4dba7a418a" /><Relationship Type="http://schemas.openxmlformats.org/officeDocument/2006/relationships/slide" Target="/ppt/slides/slide28.xml" Id="R1610ded70ee24d44" /><Relationship Type="http://schemas.openxmlformats.org/officeDocument/2006/relationships/slide" Target="/ppt/slides/slide29.xml" Id="R19bcf70926cf4fcb" /><Relationship Type="http://schemas.openxmlformats.org/officeDocument/2006/relationships/slide" Target="/ppt/slides/slide30.xml" Id="Rc375546b5e5a494b" /><Relationship Type="http://schemas.openxmlformats.org/officeDocument/2006/relationships/slide" Target="/ppt/slides/slide31.xml" Id="R535e6db305bd4940" /><Relationship Type="http://schemas.openxmlformats.org/officeDocument/2006/relationships/slide" Target="/ppt/slides/slide32.xml" Id="R03185644caab4dc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acef55b6b47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3a5597f5394fcb" /><Relationship Type="http://schemas.openxmlformats.org/officeDocument/2006/relationships/slideLayout" Target="/ppt/slideLayouts/slideLayout1.xml" Id="R9bb9cc29a1e348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9cc29a1e348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0ce2b5fdd44e2" /><Relationship Type="http://schemas.openxmlformats.org/officeDocument/2006/relationships/image" Target="/ppt/media/image.png" Id="Rb0cfc332b87647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761bbaef6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5510bafdb49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0411821424f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9098d99f74d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c0732a9db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113ff4b30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9695604db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3cc691eee4f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a57db343248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61efe66ed47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1cdb9d7ba43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0ea27293a41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0b2e518e94c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c661c59ae42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9e72c18ce43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d94a4fd0a44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c61d84f7146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1fb3ff05f4b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a2bc548484b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39afd0e6240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98982cc2c45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27674b94349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7f379b1dc45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e760ce72c45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1c9218bc140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d92958dae42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fb190b5e8444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a1c495384407f" /><Relationship Type="http://schemas.openxmlformats.org/officeDocument/2006/relationships/image" Target="/ppt/media/image2.png" Id="R6dbd1229fee144f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e9182ca78429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4c2abb3a74b2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f4553ec1746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967CE-887C-4AA8-8AD1-0D6D7D43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fc332b876470d"/>
          <a:srcRect xmlns:a="http://schemas.openxmlformats.org/drawingml/2006/main" l="15216" t="0" r="152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0"/>
            <a:ext cx="8477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5CF5-B323-4631-8CB2-4AF06C00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34000">
                <a:srgbClr val="07111F">
                  <a:alpha val="98000"/>
                </a:srgbClr>
              </a:gs>
              <a:gs pos="64000">
                <a:srgbClr val="07111F">
                  <a:alpha val="58000"/>
                </a:srgbClr>
              </a:gs>
              <a:gs pos="100000">
                <a:srgbClr val="07111F">
                  <a:alpha val="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388F0-C642-4DBE-8C20-E4605149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266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53B39-1EA2-4769-A104-20F453E6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6 堂 | Advanced CI/CD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0A96A-E892-492B-A091-B99B36B0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GitHub Actions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進階實作與課程總結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DF8F4-39FE-459C-A91F-3615949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把 test、build、push、verify 串成完整 Flask CI/CD pipeline。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37254-DC11-4130-8EA6-E01BCE32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524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4E672-7981-4047-8C73-C5038546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今天完成：進階 workflow 語法、完整 Flask pipeline、Badge / Cache / Matrix、六堂課總回顧。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F2541-74F9-4B71-913E-48D91BDD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00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session6.md</a:t>
            </a:r>
          </a:p>
        </p:txBody>
      </p:sp>
    </p:spTree>
    <p:extLst>
      <p:ext uri="{BB962C8B-B14F-4D97-AF65-F5344CB8AC3E}">
        <p14:creationId xmlns:p14="http://schemas.microsoft.com/office/powerpoint/2010/main" val="380309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248380-BD51-430F-A1AB-F30B2159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BFC2E-573E-46B4-9922-1504741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EACB3-6056-4B2D-B484-DD9B8B2C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BCCA1-F7B4-411A-8B8F-C845528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FAD01-1D0D-4F8E-84FC-7263BE73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F7041-C45A-496D-9193-D8BAD99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進階語法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DA034-3728-43DE-8D9A-777CBFD1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env、if、needs、workflow_dispatch，讓 workflow 更像真實專案。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4997A-BF04-47F8-93FB-6327E586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012A-ABD6-46F7-B2D1-B4002685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B6197-6D46-4AC9-A6E9-4DA8A021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E5F69-480F-46EA-9355-A669E188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BE2D9-B349-43DC-9E30-A32011F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1BED2-524A-4D4F-9902-2ACB6CE8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完整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A3F9F-D865-4A19-8FD9-2DA84E3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建立 Flask 專案，串 test -&gt; docker -&gt; Docker Hub。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D583B-9FAF-4672-B733-4EE92E1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053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DAEE4-DE6E-400D-886A-80EAEAC0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52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1.5 小時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2C867-A1DA-4203-BD0E-88579372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DC398-7891-49CD-B0B0-F94D047B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AC950-764D-429C-BA57-598798C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2261A-7DA8-46D4-9392-2C60726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技巧與總結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D1310-43E7-4C7A-9A41-B15E186B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Badge、Cache、Matrix，加上六堂課整體回顧。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17EAF-700B-4478-A088-040F9610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EE375-6CCA-4BC3-AEF7-E84AB9EB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52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0.5 小時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0D67A-B434-4DD1-9ACB-BCFCABEE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這堂課的核心：讓 pipeline 不只會跑，還能被控制、被驗證、被展示。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FC704-572D-4031-864C-42228818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CC257-D9F9-43ED-812E-704FE853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B3EC4-EEA8-4922-A600-72A3290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2865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A57F4-A5CD-4479-959D-FD0FC74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ADVANCED TOOLKIT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BE359-C670-4725-981D-62FD2314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進階 Actions 的四個工具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908CD-A702-406C-967B-CC00B05C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42672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7A4C8-DF9F-469F-8DC6-1E46AEF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669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env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6A96-82CD-4684-945C-1D8D294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19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重複使用變數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IMAGE_NAME、PYTHON_VERSION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8D077-0F95-405D-8D8E-F60AE576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42672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ADC7D-6634-4BF1-A385-F43D5AFA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669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B6AD4-2536-49DE-B51A-6CB658B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根據事件或分支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決定 step/job 是否執行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94B5C-E2BD-43DB-AADB-A06A846B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42672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CCD41-54AB-4E39-AC74-7E3B3CFB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05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7F0FB-C53E-4297-A81F-BE40DF12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577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建立 job 依賴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test -&gt; build -&gt; 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16005-5A19-4864-AB53-C608DD0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2672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F2E38-4787-4E87-A416-FC14AE69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workflow_dispatch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34D04-385D-4559-8F02-809996F1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手動觸發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選 staging /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E11D9-1693-4FF9-A9CA-CFA9F334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6CC3F-1C82-4236-A6FD-ADA3374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5F5D4-AB8D-477B-90EC-15E04FED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0273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B05AB-5020-41AD-AD10-837E6787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ENV LEVELS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54A64-728F-42E1-9BA4-31CA01F7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環境變數有三個層級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769BB-6AC9-44B9-9A1B-CF98E0F2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667500" cy="441960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EF904-51D7-435F-84D3-5C576519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95670-1612-4FA2-A450-B1B4527C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79B5F-4527-4B63-89B7-78A4F7E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4EEF2-3645-448C-869F-32F018CE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62484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env: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IMAGE_NAME: my-flask-app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PYTHON_VERSION: '3.11'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jobs: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build: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FLASK_ENV: testing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顯示環境變數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|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echo "Image: ${{ env.IMAGE_NAME }}"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echo "Python: ${{ env.PYTHON_VERSION }}"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echo "Flask: $FLASK_ENV"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094A5-52DB-46EB-8598-B5ADC7D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103C1-70E6-4811-A36E-64F63D28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E3FFD-098E-40B2-A0F8-B07F6EE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2400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所有 job 都能用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DB305-43C6-41CA-B012-0C92C496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860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DB2D6-8290-4555-A007-31EF3070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Job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D60EF-9A17-45D1-B78B-318EC4D4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400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只有這個 job 能用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44B79-39A0-421A-B580-9A0FB98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8D0BE-FDCA-41CE-8170-BE879DE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Step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26DB6-33F2-4C39-AEAF-DA2FD44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48150"/>
            <a:ext cx="2400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只有這個 step 能用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BAB3E-2ED8-47F7-A917-36727061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BED68-6F1A-475A-BB84-CF93983F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7234D-FA37-4D52-B147-EC9469F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7420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465BD1-A232-4BEE-B649-4B31BFC6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51C12-4B47-4614-8AC2-2E557118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1：env 層級差在哪？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90E94-2C36-4B6C-87D0-BD819DD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A9277-0DA4-4730-A66B-C334CE67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Workflow 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06F4-BABD-4314-B6DA-040A4983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259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所有 job 都能用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寫在最外層 env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C4DFE-2AA1-4F2F-A98E-81804E63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050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B76EC-AFB9-4397-8BDA-CFBDE25A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Job 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283D0-82E2-47DD-9556-B88A57D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259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只有該 job 的 steps 能用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寫在 job 底下 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491BC-3A8D-4016-BF96-40C3FECE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DF618-00A0-4AB7-A4F1-B3EE59D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Step 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722CF-2C47-4183-9846-C4AD80CA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59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只有該 step 能用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寫在 step 底下 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90910-C656-41D7-A61E-17B0F87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判斷原則：變數放在越小範圍，影響越小，也越不容易誤用。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0EE74-66A2-4401-AA9F-E0B8CDC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3DF78-1EB7-4596-8998-7A582A9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4E529-320C-4E7F-9E29-55331C3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1044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9C10D-0B56-4356-9486-1C31DEE9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CONDITIONAL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69CD2-3F4D-45E2-86E2-7E571DB7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 if 控制 step 何時執行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81D8D-02F2-40B9-815D-3909FD50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676275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46A36-D9C4-43EB-A8FB-C3ED283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BFFDD-2622-45D2-A97D-4DCB15E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A4243-B381-4F6C-B7F0-AB9057CC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707A6-059C-4D81-8070-14316A2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63436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steps: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name: 只在 main 分支執行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if: github.ref == 'refs/heads/main'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run: echo "This is main branch"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name: 只在 PR 時執行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if: github.event_name == 'pull_request'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run: echo "This is a pull request"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name: 前一步失敗才執行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if: failure()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run: echo "Something went wrong!"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8E654-FEF1-4265-B6BC-E5C11DFC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2895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B0F40-DB8F-4FAE-B6BF-5F6CCA36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使用情境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0DEDD-7F7A-42D2-B3CF-3B4A50C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438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PR 只跑測試。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main push 才 build / push。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失敗時才發通知或輸出診斷資訊。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5AEB5-4AED-4AB4-8976-23FE464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A02CD-37AD-4763-A84B-9AB413BF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F3A2D-330B-4F01-B709-48D55C6D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6437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51A6C-B985-4386-9365-1878935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JOB DEPENDENCIES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5952-0EDA-49DD-A71A-BBF9B57C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needs 建立 Job 依賴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061B4-4363-4003-8001-2DB1AADD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1A8DB-F9E0-436A-846C-7106D8E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574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BF22D-368D-4429-B98D-CB7E15E7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99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跑測試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830AD-4BE9-4FF4-B271-5B7700C2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37C56-DF0E-4F7C-A824-BBCCB717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A89F6-EBDE-4BCA-83F1-A831125F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FF74B-D05E-44AA-B452-11E55B52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建構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4FE2F-3C79-4DE9-9112-50C84B67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A8196-F70E-4CA1-A417-A5499EC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2D1D1-E878-498C-AE37-AF41D16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FC821-8CBC-4663-9547-630311CA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部署或輸出資訊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A5835-CCA4-4BE8-9A42-FBDE36E7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62865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07124-5450-4F51-8B3B-4890B4E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B9236-6530-4158-97C8-43EF970B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B7EAD-D2F8-4BC8-8181-548D380B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EA65E-12C2-440A-8A26-2F2AEDB9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91100"/>
            <a:ext cx="586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21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build: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needs: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deploy: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needs: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F8500-0D37-46F6-8FB7-3EDA358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40593-776D-4173-B58D-AA3693CA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C3741-FF4E-4104-BC91-9EEC88BD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6892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93C99-30FF-4D66-B2BF-5B5BBE7A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1B82A-7CDE-45CB-A348-3191ACB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2：needs: test 是什麼意思？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566D5-44CB-4A56-A77B-12E9A75F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381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F3403-55CF-4A3B-9A14-C5B32DA8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02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意思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BD4ED-FCCA-4E13-88E8-D8E58AE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這個 job 要等 test job 完成，才會開始執行。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5BBAF-C8D8-4EDE-81A0-B0E5FB0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381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5466F-58A5-406A-A215-1479A397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rPr>
              <a:t>如果 test 失敗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F5B25-6506-4222-A61F-8CDA10E8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85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後面的 job 不會執行。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壞掉的程式不會被 build 或 push。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D16E1-0806-41F0-A960-9EB1FC00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62865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A992B-DE9D-43C8-B7B7-1414B8AA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26116-5004-4AEF-8256-E72E86AF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1D06A-7F9F-49DB-8F35-9149644C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C678-DCE9-4553-94FD-E7C71F4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needs: 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if: github.event_name == 'push'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957BA-09A3-4611-8EDD-31911E6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7E396-271F-46AC-A57F-65493DD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7DE80-B4B3-4111-B9FA-A0AA04C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6456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0A2A51-8D2F-4B33-A3C1-9A191158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MANUAL TRIGGER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3EE35-3C70-4909-8726-3C06669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workflow_dispatch：手動觸發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B0D0C-2480-4FBA-98F2-1894B8AF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5715000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25492-0BFE-4CC7-9AE3-E4BB0F05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EA741-9928-40EE-97D7-69B3D274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079F8-41D5-48B2-9906-6294063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F9895-4ECD-40B0-9936-A0D32BE5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2959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on: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push: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branches: [ main 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workflow_dispatch: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inputs: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environment: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description: '部署環境'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required: true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default: 'staging'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type: choice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options: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- staging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-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9AD85-10EA-43AB-9975-AA8F624D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F2C72-F2B8-4DAB-A4A2-6B01895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336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什麼時候需要？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3DDA6-8EA9-4B6C-8164-A525037A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5270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2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部署通常不一定每次 push 都要做。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手動觸發可以讓你選擇環境，例如 staging 或 production。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70D86-11D3-411C-B4DE-53A16DB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95900"/>
            <a:ext cx="8077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7FDD1-5978-4E6E-A1D1-2F9AC2A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7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Actions 頁面會出現 Run workflow 按鈕，可以帶參數執行。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D9A9D-65BD-42F8-9934-C42BFCAC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EABFC-1DBC-488D-9EB6-968B55ED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A1030-3BEB-4840-B70E-D30CA099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5203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0EA79-7737-44A9-99D5-FFE3A30F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CAPSTONE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BFF46-4995-47CF-ACD8-50A2C18B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完整 Flask CI/CD Pipeline 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0A3DE-8873-4DDA-BC9A-FE7301C3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752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B009F-D7A1-4244-8183-9D432E8C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78E24-71C2-47C5-B63B-AA36121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推程式碼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62411-2F2E-4F7F-B5B4-53905B8F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813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8C9EA-E7EA-4CB4-88C9-06665E82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1752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36CD8-9FE8-4461-ACDA-B105768B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1655D-7610-4EFD-B700-211FCDA0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自動測試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431D3-83C9-4CE3-9388-6726EA27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264F6-950B-462E-B672-22C9E35C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52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D961D-B81C-47BB-8E22-5B1DF141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98839-6192-4E18-B548-BC8E9231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480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建構 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12C37-9DC5-45A4-BE39-78DC3A7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72F5F-FBAE-42DA-BEF4-9C4319E6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1752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F59F5-FFFD-42AF-B1E7-FD51CD1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Push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13991-5F81-40C4-BE65-56A9A32C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上傳 Docker 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547CD-745E-405F-976B-ED971610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6856C-252F-44D1-86B9-0355BCA0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52650"/>
            <a:ext cx="1752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3A8BF-937D-4E69-AB40-E64116D0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72D1F-4CBD-4094-9EBF-313B5808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pull / run / curl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7A029-A615-407D-897D-3E7DF326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第六堂不是多一個 workflow，而是把前五堂學過的東西串成一條路。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7DCB0-5DAB-4940-857D-DF27FCCF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DC27C-FB60-4301-A492-0A61A9D3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11502-0004-4E6F-BF17-EC31F383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0259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5C095-6A9B-4108-AD95-09B3F8D8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PROJECT 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67048-11E9-4E29-9EF7-A51E397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Flask 專案需要這五個檔案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F024-ACAF-4B9D-839A-220EAD13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E7AAD-EB51-463B-949D-512F19F2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app.py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64C71-4DEB-4B4A-A432-57F9F020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與 /health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0C4F4-1A94-4DFA-8EF3-5ECFA58A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95D0-29A8-49A8-9968-0FC4F46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test_app.py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4D7A4-46E9-4A98-8DAA-1E699E2D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pytest 測試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925B4-D0D5-47BF-8420-49F471E9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1FA55-FDB7-4D4E-A8C5-86B1F5F7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requirements.txt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290AB-E7D5-4B50-BE5C-F468A755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241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/ pytest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1B2D3-4D14-4645-842B-09EB0B1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9A187-1882-4536-A543-E0C8DF17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Dockerfile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75EEF-A74A-49DC-8B4C-A79C9394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建構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83ECB-E6BA-45B8-A985-94D00F8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5F8F1-9014-4C74-857E-16378A9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288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.dockerignore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D4161-8272-4578-9DDD-CCB05CC9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241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排除不需要進 Image 的檔案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D9A4E-3E95-4204-AFBF-447AF911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45720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E4117-DDF3-45B5-A0A4-91982126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541DB-7C74-4250-8DD0-F4D194AB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6F0A5-94DE-4BB8-BCCC-13CBBE06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12472-4491-4D1B-A89D-4144B720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911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7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86B6F-7B2D-4088-ACE8-8A336330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B5061-64DF-4AEC-BD4A-837E33F6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DBEDA-6F66-4AE6-AD52-E185F3FC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0337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027F4-39E7-47D1-80B5-028905E1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FLASK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04E62-D324-4A3B-821F-DE6181A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app.py：API 與健康檢查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73D3E-70FA-4E70-B91E-1F7D0C9B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6381750" cy="3771900"/>
          </a:xfrm>
          <a:prstGeom xmlns:a="http://schemas.openxmlformats.org/drawingml/2006/main" prst="roundRect">
            <a:avLst>
              <a:gd name="adj" fmla="val 252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5673B-4405-443E-9E41-7E733689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36D5A-4D64-4D8F-8444-38447D71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7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F2BF7-68D1-47EC-9F6F-C63C39EA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7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09B1B-04DA-417E-91E6-5C22FD6D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59626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@app.route('/')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hello():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'message': 'Hello from CI/CD!',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'version': '1.0.0'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@app.route('/health')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health():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jsonify({'status': 'healthy'})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CE20A-0F70-404F-A331-02A469A1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AB314-9133-46EB-A0C2-2DABC7A0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0A8D8-F879-41CC-9E0D-2D76A0BD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回傳基本 API 訊息，確認應用可回應。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A4C45-A621-4D90-A2E1-5E7F623A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31882-BD75-4023-8932-B7FD48B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/health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546FB-09EC-4D67-9D46-AA339CFA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8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讓 workflow 或部署環境用 curl 檢查服務是否健康。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75589-3EA9-4D9B-9751-BF85CDD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6F7C4-45EB-4E03-B91C-1631C1B4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0BAA0-4D23-4D89-BDFB-7F019302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18770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00B0B-8758-489E-B333-74697DA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FLASK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7C432-806A-4CA4-8135-C7E9FA52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test_app.py：測 API，也測函數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93D2E-CAFF-42C9-B615-DDAE94D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762750" cy="4457700"/>
          </a:xfrm>
          <a:prstGeom xmlns:a="http://schemas.openxmlformats.org/drawingml/2006/main" prst="roundRect">
            <a:avLst>
              <a:gd name="adj" fmla="val 213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7434D-7766-49BB-8919-FC0863C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0B712-67CA-42D1-A301-8A55FA40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3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44F80-3AC8-452F-A6F6-6E962261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3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5D3BD-3AF9-4B60-999B-891460BB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6343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pytest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app import app, add, is_positive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@pytest.fixture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client():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app.config['TESTING'] = True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with app.test_client() as client: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yield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test_health(client):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response = client.get('/health')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assert response.status_code == 200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data = response.get_json()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assert data['status'] == 'healthy'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test_add():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assert add(2, 3) ==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6B4AF-BF5F-4CB5-92A5-37F23F35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2857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C4244-DAF3-4B28-8B1B-1EDA033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測試重點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0714C-9642-439D-8BB7-55B468F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2400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Flask test_client 不用真的開 port。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/health 回 200 才算健康。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核心函數也一起測。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E49B5-A3E0-4ABC-9089-65CECBCC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6402A-52B5-4301-AB80-BC021BE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602D8-035D-4D26-8D31-532944F7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2535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A63FA-1564-4E4F-B17F-B7E86EDB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CONTAINER PACKAGING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0AAC2-4A40-4347-BF4B-B16B971C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Dockerfile 與 .dockerignore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382A6-9F7B-4054-BF3F-B0FEB22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E599C-EB19-4589-A420-B0683548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9AA67-2156-485A-8A28-D419C9CA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CCE78-F9E4-4BE9-9155-D7BC23C2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C1B68-78CB-4A4C-B37A-82239D3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52959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python:3.11-slim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WORKDIR /app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requirements.txt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pip install --no-cache-dir -r requirements.txt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.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EXPOSE 5000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CMD ["python", "app.py"]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FC24A-6EA6-43A7-91D5-EB50197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34290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89096-F604-4FD9-B89A-6A89D0D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15D35-0815-4E84-93FC-8AC76101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F32B3-62F2-4B30-86D5-E29AEF7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7869C-40C7-4D9A-BE07-94B21D24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85950"/>
            <a:ext cx="30099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.git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.github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__pycache__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*.pyc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venv/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.env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*.md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test_*.py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70C39-7EE7-4054-973C-B6D485E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53000"/>
            <a:ext cx="86487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DF38A-2765-49CE-9905-1A447D7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注意：這份 .dockerignore 排除 test_*.py，正式 Image 不帶測試檔；CI 先跑測試再 build。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EF16E-1236-4D45-8AA7-E1FF49AF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6595B-1142-4FF7-8D88-1508927F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97052-C203-4936-9153-D0FE488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302695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99CAA-C920-44F0-A856-EE5AF126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A3E67-3670-4C2E-A954-81B7FCC1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P1：完整 Pipeline 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C542A-7AF0-4FB9-ABAD-EB308DE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FFBAB-B4E4-4E84-856B-0F5D4040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8D63A-4020-4508-81FC-E560B168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78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A8029-0E4C-49CA-86BC-10C683FA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Flask 專案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3A204-61E6-4CFE-B7F4-B38CFA5A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+ 測試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7133B-27CB-416C-B724-38A1E962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F0786-7523-4FFB-9A29-C38D94B2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43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77BC8-AAFB-4C30-A2E8-925CF73E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478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5D389-EC7B-4C16-ABA9-CC1E3ED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8A614-54CB-439D-AC3B-C1C82926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.dockerignore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063D9-4C0B-457A-9C6B-A9A65D0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CCF99-C032-4FFB-BFFB-C213552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43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0DC8E-C0F3-4038-8130-6C25D219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478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4FCB7-4F96-4074-BDAD-33315AF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Secrets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39B76-544E-48AE-9A69-362D7DA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Hub 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33415-DECF-47DA-9D68-31AFF05C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FC6D0-CB8B-4194-A7DC-D5DA7F43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AA1CA-DDF0-40EC-B089-15C30E9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909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E8222-E58F-44BC-839D-4993D66B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86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F4A2B-08BB-4149-9C1D-06A930CD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 -&gt; docker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7B492-B23A-41C6-A57B-D07A7416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5B4D1-2E4E-4184-BC1D-99753728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1D178-F7B1-40FA-B2A7-B705B24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909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B3690-1E6B-44B4-8E2D-1E13D1B4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86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Push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8F70D-4EF7-411C-A945-924DC393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觀察流程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96F73-7493-445F-B87C-DE34BEE0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59DED-1F61-480A-99D7-77AF0C82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2D75DE-56C7-431C-987A-0A58A2F4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909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73B10-DB29-45D5-8F51-93B816E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Pull /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30A3A9-8277-4A62-98BE-02647894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確認能用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09210-543C-4F68-B98D-CDF412A9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4CE06B-0726-43E1-B00E-FF0C0BFD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51CACE-E9FD-417D-93D3-C65E64C5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786935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D7B24-09DA-4A35-83F2-AF81EBF7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WORKFLOW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8A864-938C-49DA-A98D-984131C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cicd.yml 的整體結構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99894-BBCB-4FE5-AACA-7DD35492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08E08-E602-4BC9-B67D-FE179E8D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764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6A1D4-A255-447D-9F0D-8E4A1EB8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push / pull_request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DF7C4-5F46-418A-ABCC-52A61EC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4F0B4-3793-4FA5-86E3-3063A5E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6F9E3-30EE-4766-8781-D2CE8B36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89779-C200-45B1-B00B-E82FEA56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289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IMAGE_NAME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97D94-B450-42F0-914C-E3521B61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6A580-D6ED-4C43-A9F2-2705C598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87A4C-FE9F-4E3A-80B3-A2AE0324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D1B8E-8A6D-4964-B921-9BE602CC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 + docker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30E50-E95B-4F05-AC13-59948A49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67437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1E673-F841-4050-AF40-BC7B8364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C419C-70DB-4A0D-8D63-86973A95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29FD6-DB33-4EBF-9EC1-5DB51DA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ACFCE-10F8-4449-90B5-ACC41193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14850"/>
            <a:ext cx="632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39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name: Flask CI/CD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on: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push: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pull_request: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env: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IMAGE_NAME: docker-cicd-demo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jobs: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test: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docker: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76EB6-E7F3-49E5-8752-82C7AC64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CD6AF-6F31-4754-BF13-B784C001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1D469-F3E6-4DAE-A97D-D31DF049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26586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899A2-3B45-4563-9CAE-4D2E666D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TEST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1003A-FE9B-4298-9A37-331FA6E9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Job 1：test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0BC1D-142D-4567-8AA2-F1E0FD14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6667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08568-1C78-4468-990B-39B6AF53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2C3DD-73DB-4B37-8378-A9DDC801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7FD76-57B7-4762-B6FF-4164D804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761B0-D008-442E-8DB5-F78F179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2484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runs-on: ubuntu-latest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steps: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- name: 拉取程式碼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uses: actions/checkout@v4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- name: 安裝 Python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uses: actions/setup-python@v5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with: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python-version: '3.11'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- name: 安裝依賴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run: pip install -r requirements.txt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- name: 執行測試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run: pytest test_app.py -v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F691D-DB2E-4231-BB4E-22D54D8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29146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6D77-405A-4953-AA28-56936EAF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目的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32797-8091-4791-913B-EA69E9C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先在乾淨的 runner 上確認測試通過。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只有測試通過，後面的 docker job 才有意義。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C3623-DA6B-48E4-9A77-90DB89A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233D0-8D4E-4D82-8B7B-D7AD7485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F7264-59EF-4325-97CB-7619D70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542738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ED20CF-D301-48E5-BD41-E19F787D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BUILD AND PUSH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14669-ED95-43A2-BB37-8A00FFFC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Job 2：docker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8C91-4142-4B5D-850E-2614E78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6858000" cy="4171950"/>
          </a:xfrm>
          <a:prstGeom xmlns:a="http://schemas.openxmlformats.org/drawingml/2006/main" prst="roundRect">
            <a:avLst>
              <a:gd name="adj" fmla="val 228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E873F-2731-463D-BF36-EEB5386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1311A-8563-4B4B-8894-840957E1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4B2F0-0EDD-44DE-BF63-87B38C06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9D2A5-AB8F-4955-820C-11684E10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4389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runs-on: ubuntu-latest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needs: 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if: github.event_name == 'push'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steps: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- uses: actions/checkout@v4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- name: 登入 Docker Hub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uses: docker/login-action@v3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with: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username: ${{ secrets.DOCKERHUB_USERNAME }}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password: ${{ secrets.DOCKERHUB_TOKEN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- name: Build 並 Push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uses: docker/build-push-action@v5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0FDF6-B367-42F2-926D-385A080A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C1E84-267A-4048-9C56-B86ACE99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兩道門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4D4CB-560C-42CB-901F-EBF8394E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400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needs: test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測試通過才跑。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if: push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PR 不 build / push。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F95DE-D753-4120-9E2C-38DE0A8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BB7DD-FD05-48FD-A7C0-22BF12AA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79E30-64FC-4850-853B-702DAAB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891928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4BFD5-1D61-431E-8E1F-B8B95CE2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VERSION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AFAC-1A9A-4790-91E7-800691BF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版本資訊與 Image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BE4E5-5B2F-4A53-98DD-18EF6C8E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2390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8061C-C567-47EA-BA7E-DAD3B11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7717F-3E01-4E36-88F2-2C118B18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3AE91-F979-4DC7-B72C-C4ED0128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31979-5B15-4A24-8A86-7DDDC30F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819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 name: 取得版本資訊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id: version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run: |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echo "sha_short=$(git rev-parse --short HEAD)" &gt;&gt; $GITHUB_OUTPUT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echo "date=$(date +'%Y%m%d')" &gt;&gt; $GITHUB_OUTPUT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 name: Build 並 Push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uses: docker/build-push-action@v5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with: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tags: |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${{ secrets.DOCKERHUB_USERNAME }}/${{ env.IMAGE_NAME }}:latest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${{ secrets.DOCKERHUB_USERNAME }}/${{ env.IMAGE_NAME }}:${{ steps.version.outputs.sha_short 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717DB-45FA-4D93-A32A-4F29726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B53CE-E07C-4A3E-A2F6-18E7CFFF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latest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EE814-E524-47E7-A064-22676243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0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永遠指向最新版本，方便開發測試。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537E8-0CAF-4477-A657-BA53FEDC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8BB81-9F3C-4F96-8A93-21C7C79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sha_short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83A33-02A1-4CB2-BCB7-DAB20EF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89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每次 commit 都有獨立版本，方便追溯與回滾。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68845-645C-4E7F-8B75-D1B8E69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284DB-872F-4116-BA23-4109F034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65AE1-C04E-4C7E-B7FF-DF04C19E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713821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79E5D-1BCD-4485-818C-1CFC492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DEPLOY INFO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9375B-A48A-43F9-B93A-0ED8DFB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輸出部署資訊：讓下一步清楚可複製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0CDB2-A93B-4536-BCC3-22502A36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8667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25F85-33AC-4DCC-AA72-E979AE2B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51CBF-5CA9-4BB0-A7A7-F7F460B2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F9C76-E9AD-4B32-BE6E-8E0986E6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B731E-173D-4775-BB33-C808680D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8248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 name: 輸出部署資訊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run: |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echo "Docker Image 已推送！"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echo "Image: ${{ secrets.DOCKERHUB_USERNAME }}/${{ env.IMAGE_NAME }}"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echo "Tags: latest, ${{ steps.version.outputs.sha_short }}"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echo "docker pull ${{ secrets.DOCKERHUB_USERNAME }}/${{ env.IMAGE_NAME }}:latest"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echo "docker run -d -p 5000:5000 ${{ secrets.DOCKERHUB_USERNAME }}/${{ env.IMAGE_NAME }}:latest"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B2E33-2D59-4F39-800D-6DE8994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80391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BC0E4-B168-4389-8EE0-3F083CA0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CI log 不只是結果，也可以把部署指令明確輸出，降低操作錯誤。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41077-CD9D-43C9-9664-9A61442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26A4F-9E9E-4939-9BC0-74815B5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7188C-0E88-464C-9A07-805597F1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22923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A0993-591A-487D-A981-1277F589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VERIFY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7B600-ADC2-4227-8507-D2E64956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驗證 Docker Hub 上的 Image 能用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1DF41-079F-438D-A96A-48EC7B2A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7239000" cy="2762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21CEC-34BA-4498-AA0F-3F0616A7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BDF31-48BE-4CEF-BD3F-BA270DDE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50388-9555-4D86-AB9C-67AFC8A1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799AD-525B-46A1-B41E-E78F17FF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681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你的帳號/docker-cicd-demo:latest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cicd-test -p 5000:5000 你的帳號/docker-cicd-demo:latest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curl http://localhost:5000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curl http://localhost:5000/health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cicd-test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E812C-3C1C-4DBA-ACA7-46035EAD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859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802C0-5ECD-4687-AB56-63D4E677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驗證重點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29B9F-8B31-40B1-8780-DA05430A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52700"/>
            <a:ext cx="1924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Docker Hub pull 得下來。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容器能啟動。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/health 回 healthy。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4. 測完清理容器。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C355F-4118-4343-ACCC-FE822ABB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BC92F-615C-4059-970D-C7AC1459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1DF00-3ABF-4073-9BFC-98C6991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717927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EF037-CCB9-47C9-81D4-EBC9EACD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HEALTH CHECK BEFORE PUSH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7BA4E-0028-49B4-A90A-F71D4BD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挑戰 C1：Push 前先跑容器健康檢查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EBBDB-6C7F-4121-9BF0-FDD9925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6286500" cy="23622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E3AD7-73DF-4F2E-B799-B2609FD8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FEE9A-96FE-4631-B552-7A1CCFD3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3194D-0A88-4B31-853B-C5946FB3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FD3C7-227E-45FC-8280-F5FC3A2D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5867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build -t local-test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health-test -p 5000:5000 local-test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curl -f http://localhost:5000/health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health-test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78420-58B0-44B4-9935-D9A79939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2952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15784-E18F-47EC-844E-E87119D1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放在哪裡？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BC702-7A03-4BD3-8A51-078905B4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38400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3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完 Image 之後、push Docker Hub 之前。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目的：先確認容器真的能跑，才把 Image 推出去。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92F57-EA1D-4FA9-B5D4-B6D11CBE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57750"/>
            <a:ext cx="84963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EDD1E-3C14-451C-AB15-961ECDA6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完成標準：curl -f /health 成功才允許 push。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CDC56-57A5-4415-8438-5654AB9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46EE8-23DB-4907-AD42-B01072E2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F7DED-BE41-4366-9470-D435BCCF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523839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1F0DD2-BC1B-4803-8960-0584D89E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CI BADGE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9F05C-48DA-4EB5-B12A-2F6A8F71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Badge：README 一眼看出 CI 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B3765-5367-45B7-B420-3EB3B4C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8763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621E2-E93B-4BDB-8D15-505C0668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57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401C3-73F7-4AA6-AD64-9CC6AFF4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57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2A4ED-BCC8-45A5-9AA9-9A4356C0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57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504D0-5625-42F1-B55A-261EF84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![CI](https://github.com/你的帳號/docker-cicd-demo/actions/workflows/cicd.yml/badge.svg)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F9317-6D0C-4C2E-8E71-485F29A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8615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D9798-5AB5-4475-94A5-8EB0C118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76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綠色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C6657-6802-410F-BDE1-0B419988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67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目前 workflow 通過。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27648-7D4B-449A-A978-7B5A48F4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E4E5D-8675-4D33-AAD1-8B60BD6D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76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紅色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6CDB3-BFDC-48AE-BF37-084B3B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67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目前 workflow 失敗。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34A88-60DF-4500-8912-2675724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A3C98-AF37-4DBE-B3B6-99F40872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B2FE6-4578-4954-A427-A290E039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244429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6C982-93FB-4572-A27C-8A89A7E7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2625F-9222-4CCD-91F7-BBE8161A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P2：加上 Badge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0305C-A30A-4C87-AF65-2067A635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31350-EC91-4164-B0D5-D670C6F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打開 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2DB97-79EB-4805-BEB1-8941BD91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找到專案介紹開頭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0EFB2-4636-45C1-8E29-7809B17E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002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CD128-DA36-4D86-9141-90E53106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貼上 badge Markdown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41163-65AA-403F-B501-44E46883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860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路徑要正確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BAF48-BBE0-46B0-9D3A-835A0596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7961C-78EF-4580-8C5E-600D0943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Commit / Push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40D3A-F12F-4D39-B38F-7B17C478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README 顯示徽章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B0A66-A7C8-4D26-9FC2-2E0D3028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2688A-D683-4EA6-A108-F694B152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確認綠燈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03A6A-E738-4592-B9F9-B8F03DA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通過後變綠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A867D-7F22-4B1A-AFD0-37256853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AB02B-2DF2-4052-AB6B-17D017FE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773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完成標準：Repository 首頁可以直接看到 CI 狀態。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43589-E920-46A0-B3DA-B72E5E16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1B2E4-781C-413F-96C0-CD52FF4D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89989-6F26-48D3-ADBA-E3394BA1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258638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36020-16EB-4F71-9568-C49EF566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DEPENDENCY 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D6501-3C89-4D8B-8E62-A70237B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快取 pip 依賴，加速 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6BCA2-23CA-4801-A7A0-E3CAFEDE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762000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DD955-838A-4DAE-BD4B-063C442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0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4D340-BB71-47E5-A1C5-4B352E16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0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DA5F7-94E8-42B9-8F74-43B4AEF3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0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03516-61AE-4DC0-9323-E45533A5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7200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 name: 快取 pip 套件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uses: actions/cache@v4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with: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path: ~/.cache/pip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key: ${{ runner.os }}-pip-${{ hashFiles('requirements.txt')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 name: 安裝依賴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run: pip install -r requirements.txt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69B58-60BE-481E-84E0-774D32EE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342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D7A82-403B-4611-9625-52F16C50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快取命中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2BF57-B8DE-4083-90D2-6F34644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387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requirements.txt 沒變時，用上次下載的套件。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1194B-CEF1-440A-BB12-84F44802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342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3857B-0968-46EF-B37E-0FB9122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006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快取失效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6531A-7B8B-4C76-AE5C-C88AB3BF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387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requirements.txt 改了，就重新安裝並建立新快取。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4F87D-07B4-43D0-A00B-6829DC1C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F23FA-9610-4A8E-8113-91F32647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F36A8-2A5E-4BE0-867A-03BFBB7A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450449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34A44C-6041-41F2-8D28-5A0336C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03DFD-FE2F-4D14-8E3A-875012A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P3：快取加速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87483-DD2A-4534-8333-FAC4F4D6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3048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042C4-3C7C-44C4-8E90-A93F0154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907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加快取前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F9F33-81A0-44F0-9402-A626DDE1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03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跑一次 workflow。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記錄 pip install 花多久。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507E9-AEE5-44CA-9D63-CA9E8E51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14F65-F027-41EE-8665-A7EA885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3048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198F2-BE57-4F04-ABA9-3C2B3B5E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907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加上 cache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7032A-3193-484C-A62F-948F022A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03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加入 actions/cache@v4。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再次 push 觸發 workflow。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96AC6-6EFA-4E81-BB8E-0939293F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09156-1908-4B22-8E2D-D5A97441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2095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0DCC1-D9E9-44CD-AD0E-970FC70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比較結果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ADB7E-80A6-49D3-BC0D-747D65B4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第二次是否更快？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log 是否顯示 cache hit？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28457-64DB-4F34-950E-2B208DD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00600"/>
            <a:ext cx="82677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D8DEC-9EFB-4301-9125-A0C607C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72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完成標準：能說明 cache key 是怎麼決定快取是否重用。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C868A-D5ED-4CF1-8960-19E53D70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271E3-42FF-40F0-8037-2B7ED8F1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2B228-5383-4166-A708-3CEABC22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260691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EA698A-8BBA-4B08-B1FD-7DD23A7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MATRIX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63BB5-18FD-40C9-A0E2-7079BAC1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Matrix：同時測多個版本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246C5-0350-4FE3-ACC2-CD473A96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572250" cy="4171950"/>
          </a:xfrm>
          <a:prstGeom xmlns:a="http://schemas.openxmlformats.org/drawingml/2006/main" prst="roundRect">
            <a:avLst>
              <a:gd name="adj" fmla="val 228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4A11F-7152-4AA9-ACD9-855242BF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38629-CDC9-4FCF-9110-BEE1EEE0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F3B0A-7AD5-4105-A953-EFA4CF0F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1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0A137-AC3E-4DE0-8FE2-F6D226E8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61531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jobs: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test: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strategy: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matrix: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python-version: ['3.9', '3.10', '3.11', '3.12']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uses: actions/checkout@v4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uses: actions/setup-python@v5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with: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python-version: ${{ matrix.python-version }}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run: pip install -r requirements.txt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run: pytest test_app.py -v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F25BC-E17B-4A16-B101-ECF62E09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D715D-FBD2-43AD-95A3-E34F58F2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24D10-0696-4B7F-B0FB-55718972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同一份測試會在多個 Python 版本上並行執行。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適合套件、函式庫或需要支援多版本的專案。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56489-377D-4D75-9A22-F47B01F3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E1E8B-97E7-48B4-BAC3-E36B1260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6F8CE-635F-4B34-8C3C-67063CA1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095785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F3294-2EBB-4AEC-997B-569B6A08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C963A-8790-4FE2-8523-4CEA672C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3：Matrix 有什麼用？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C3121-7734-4EAD-8306-5A0D5C31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4381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4C389-BB9A-4350-A031-C3738DC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用途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D25D1-7461-41A2-BCFA-67E1827D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一次定義多個環境組合，讓同一套測試在不同版本或 OS 上跑。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BF889-2934-4A71-AE5F-D2862CEC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4381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408E6-9427-4AB7-852F-F86DF15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適合情境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6A348-CC1A-4289-91E3-C6350EC3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你的程式需要支援多個 Python 版本、Node 版本，或多種作業系統。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F3D19-3064-4D02-A537-66EF3186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5905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B2908-A23C-407A-9C99-F534748B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B2FF3-1FC1-4143-80C9-34C5009F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718E4-D927-46E4-88C2-16A2B1BC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B7D34-5364-4CD4-9064-8D0FD6DF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6255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matrix: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python-version: ['3.9', '3.10', '3.11', '3.12']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FCF3B-76BD-4087-BC65-6E287DC7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CEC56-3473-4AC0-A285-A0B1C0D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1FB1D-D0BA-4416-89F8-152A9CF7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417971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6F969E-94FC-4C2A-9B27-88480847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COURSE 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B2C29-82A1-4FCE-96CB-59BBD9CB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六堂課回顧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d1229fee144f4"/>
          <a:srcRect xmlns:a="http://schemas.openxmlformats.org/drawingml/2006/main" l="5914" t="0" r="59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428750"/>
            <a:ext cx="4476750" cy="2857500"/>
          </a:xfrm>
          <a:prstGeom xmlns:a="http://schemas.openxmlformats.org/drawingml/2006/main" prst="round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D8D13-2787-4849-B33C-FCF689C9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28750"/>
            <a:ext cx="44767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59414-CF89-499D-A063-5612DECF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E8B37-34E8-46EB-B49B-60D0D9C3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650CF-2AAC-4641-BA54-A9928911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81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基礎與安裝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AD6BA-0E20-47E0-8BAA-6EBD1E15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0986C-94D7-466F-BAFB-AD86092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C57C6-49BF-411E-B976-DEFF5F9D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90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容器操作與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FAA5A-2478-405E-9DBD-922673C0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35427-C9B7-468F-B417-259FBA01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F6BFE-62CA-45E4-87E0-19BAD288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00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與 MySQL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FCA0-0955-487A-8687-60B43074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7E3EE-2A14-4AFC-9033-05CB9F2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132C3-F6A3-406E-AC77-12C8182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0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Dockerfile 與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68F5F-8FA2-4307-BA3B-F148B298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95542-C0AE-4C91-8612-57E0E8EC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67089-D1FF-4EE9-B8D2-9FD76F5B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CI/CD 入門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8FADB-9E96-4573-B3B4-05E4E5A8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2057B-9B9A-4E17-AF12-73B22AA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4D29A-2C10-4304-A1D3-38830A94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29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Actions 進階實作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04C53-2929-4AD9-A445-933A549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F9F1D-D243-4BB2-9306-C67173B0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F7F9C-A21B-44D6-BAEB-5D9D5FC7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164753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9491E-DD76-48A6-81BA-FD87193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END-TO-END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1EB9-C8C2-4E43-8A58-A33E1D37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完整的開發到部署流程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9A5A1-A294-44C6-A670-D71258EB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1158B-B3AC-4976-AF8B-BA93304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寫程式碼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B7215-95FE-4676-A752-38A6F638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81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3A495-DD20-485D-9FD6-31C748F8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428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533C1-8DCF-4947-A5B2-613D0FE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git push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CAE80-97A9-481C-AA3E-F33E8E5A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81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55BBF-C47F-490C-AD4E-EE6465C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28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D09D3-429F-4C48-9B63-ACA4BE1D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自動測試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2C73A-1473-402B-AB91-96BFA7D9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53173-310C-4423-9111-46D6DEE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1428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5826E-E8B0-49C6-BC29-150436EE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build 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810C6-D3E4-4D2D-B269-1BE307A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F7557-8329-42E1-AB94-56982342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1428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43CC1-32D4-4194-B667-1A211973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push 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FDB27-176A-4F68-9546-FE92DD96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A2C15-0D63-4D63-B6DD-3E44250D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428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6FC82-4E04-4B0D-AE1B-CF82674D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81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部署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F7B7E-DE8F-4520-8703-4ED42E08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05350"/>
            <a:ext cx="8267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CFE68-60B5-4D5C-A919-6D95D46E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Docker 讓應用可包裝；CI/CD 讓包裝與交付可重複。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0CF83-9A50-4054-A5D9-8E039279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24D67-968E-400E-B38C-DDB78358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7EB5B-1B7F-48E1-8772-1709EB0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053932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E39E7B-A654-4AB4-AC87-9A16E4E9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CHALLENGE C1-C2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5D47-6BA7-47C2-A471-A9AA1EA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最後挑戰：把課程能力串起來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BA463-009D-445B-AA84-09E1853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762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B1355-6F8D-46F0-972D-A0828B72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C1：Image 健康檢查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B370D-2EB0-4780-A160-5778515D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4305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build 完 Image 後，在 CI 裡 docker run 起來。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用 curl 測 /health，成功才 push。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04475-E67A-4396-BC65-B6D20F41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4762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A3B3C-3F22-4547-B389-6B445F06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669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C2：Flask + MySQL 完整 CI/CD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901E1-29FF-4DDD-B2E5-3A0A42F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95550"/>
            <a:ext cx="4305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Docker Compose 專案。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Push 自動測試。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測試通過 build / push。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README badge + cache。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2A39B-C748-4DDA-83FA-611E7545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交付物：repository 連結、Actions 成功紀錄、Docker Hub Image、README badge。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8278D-8B09-4318-8DC0-77F86DF9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184E7-4A32-44A7-9F96-AEBE4180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564AB-59B8-4EBE-A326-E090B95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077115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C7CD0-FA7E-4BB6-BFB7-C2C2ACD4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F8777-2642-4099-B6E0-647606A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接下來可以學什麼？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04C2B-4B4D-4CCF-B605-F05BFC1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AAACD-85A1-4F51-8BED-D2F40C8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容器編排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9BBB5-CCB0-40C3-B68C-3D38E92D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Kubernetes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Swarm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627A7-1652-4B7D-A1BF-5743E2B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029BB-5A35-4EDC-AC95-07A1FC1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雲端部署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BDD84-8075-405C-ACDC-20E2FA0C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AWS ECS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GCP Cloud Run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Azure Container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A3324-9B3F-4E26-BA29-6355D143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9C4BC-3926-44A4-81EF-9F662E7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監控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8E3FD-444A-4326-9BCB-2B6C770C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Prometheus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Grafana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ELK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4039E-3656-4812-B77C-B23C012E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B4010-8276-4B61-B830-74828EC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進階 CI/CD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C9EDF-EAB1-40B3-A765-E3DE771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ArgoCD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68016-5791-4D2F-B40F-5DEB8651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8686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8C889-18CC-424E-94F5-D420151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你現在已經有能力：讀 Docker Hub 文件、寫 Dockerfile、跑 Compose、用 Actions 自動測試與 build。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3A901-4D61-44E7-BAD2-A040A1B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27D9A-BD9D-4D3A-B704-309D39D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6 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57D00-11CF-461B-A25B-0B991E44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37515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2026-06-19T07:49:07.1310000Z</dcterms:created>
  <dcterms:modified xsi:type="dcterms:W3CDTF">2026-06-19T07:49:07.1310000Z</dcterms:modified>
</coreProperties>
</file>