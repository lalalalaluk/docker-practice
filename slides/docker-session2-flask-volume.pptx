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63" r:id="rId5"/>
    <p:sldId id="267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9" r:id="rId16"/>
    <p:sldId id="281" r:id="rId17"/>
    <p:sldId id="284" r:id="rId18"/>
    <p:sldId id="285" r:id="rId19"/>
    <p:sldId id="286" r:id="rId20"/>
    <p:sldId id="287" r:id="rId21"/>
    <p:sldId id="288" r:id="rId22"/>
    <p:sldId id="290" r:id="rId23"/>
    <p:sldId id="291" r:id="rId24"/>
    <p:sldId id="292" r:id="rId25"/>
    <p:sldId id="293" r:id="rId26"/>
    <p:sldId id="295" r:id="rId27"/>
    <p:sldId id="296" r:id="rId28"/>
    <p:sldId id="297" r:id="rId29"/>
    <p:sldId id="298" r:id="rId3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2379DB9-6435-4DD6-9E2B-C159E8D87CC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圖片 12"/>
          <p:cNvPicPr>
            <a:picLocks noChangeAspect="1"/>
          </p:cNvPicPr>
          <p:nvPr/>
        </p:nvPicPr>
        <p:blipFill>
          <a:blip r:embed="rId3"/>
          <a:srcRect l="19046" r="19046"/>
          <a:stretch>
            <a:fillRect/>
          </a:stretch>
        </p:blipFill>
        <p:spPr>
          <a:xfrm>
            <a:off x="4648200" y="0"/>
            <a:ext cx="754380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3A70816D-0440-4D1D-A039-3742EB5F0E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9589248-AC9C-44EA-8599-BA4056BDEC26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03835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7DDA3BA-8BB1-44D5-96F0-A13006474DB1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885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2 堂 | Hands-on Docker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4CD9324-C28A-40CD-B77A-403DF481BC11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81050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容器生命週期、Nginx Volume、Flask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F2FC229-F4AF-45C0-BFE5-56EA4B88E474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500" lnSpcReduction="2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先用 nginx 走過生命週期與 Volume，再把同一個 Bind Mount 觀念套到 Flask 開發。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58A69169-2392-4B53-BAD9-16AD2A2DB7D9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E2D7A60-BFB1-4BE6-990B-8CDCD46BA309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今天完成：指令分開練，nginx 打底 Volume，再用 Flask 練程式碼掛載。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D76DCDA-45B5-4B9F-9A39-5D78C3BC65C4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31552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ED2675DE-309F-429B-8B84-E48A0444CF0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EBD7214-6508-4CBF-928D-31F7ADFB927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A4AAC91-7A07-4920-A9D9-3FEBF96E5FF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F2447484-D1D8-4D47-9473-6425962CCCA9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243B644-5F24-4C24-998D-033BE1E48491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5829668-CBED-4A3F-BADA-6D6ED3980633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容器生命週期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C2B6C85-3206-4C07-8E36-C83197F001A0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27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nginx 分段練 pull、images、run、ps、exec、stop、rm、rmi，並看見 container 修改會消失。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01B064E-178F-4440-AEBF-1B9FB9D43892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56BDA09-0376-404F-B4DC-791A895320D2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50 分鐘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647CE78D-E74C-4B0D-8AF2-58C69E288713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093786D1-7388-4AA3-98E8-AC82A2EF9F61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C65A474-1AD6-40BF-841F-68DCB3D61405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9F9A3F6-4E9D-4DE6-BF5E-06FD58197C6D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Nginx Volume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125D1F1-E81B-45B4-9802-1865BB79FE0F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nginx 練 Bind Mount、:ro、Named Volume，知道資料為什麼要放在容器外。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0548E35C-866F-4816-9EFF-F3FF70ED0FDB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58ADD95-C0DC-4CE4-B388-C29AE134E2D6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50 分鐘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83C40B72-89E4-4448-9248-883D7D11A22A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6226E2FF-10E6-4840-B410-11BE6A8245BF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01109CC-B303-4D04-AD17-B022800B4465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8211192-A8DC-4490-8FC6-2E376866109C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Bind Mount 練習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E19226-355A-4B07-AE24-74CE782D575A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把本機 Flask 專案掛進 Python container，練 -p、-v、-w 與開發重啟流程。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52A08800-DA70-4A74-B77B-47678BB19D77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9E10457-4CBD-425A-95BA-C83562CCAA99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50 分鐘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2AE81FE-93D8-471B-9BFF-A526BC743C6C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這堂課的主線：nginx 先看懂資料掛載；Flask 再練真實程式碼開發流程。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69421B4-C0C3-49FB-A438-49FAF73C769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7F7E86D-626D-45E1-85B1-5B451EE122D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88D31EE-117E-4C26-A70E-8E6A1C5E960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469804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5689BD98-990B-417F-B175-AF4384FCE7E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STEP 1 / PULL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0A615FA-DF00-4349-A999-5FF70C0CC28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Step 1：先下載 nginx image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A33C738-B90F-45FE-B0A3-898E58F4C258}"/>
              </a:ext>
            </a:extLst>
          </p:cNvPr>
          <p:cNvSpPr>
            <a:spLocks noGrp="1"/>
          </p:cNvSpPr>
          <p:nvPr/>
        </p:nvSpPr>
        <p:spPr>
          <a:xfrm>
            <a:off x="876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1B28D5CD-E93F-4488-8E91-10C56CFA16BC}"/>
              </a:ext>
            </a:extLst>
          </p:cNvPr>
          <p:cNvSpPr>
            <a:spLocks noGrp="1"/>
          </p:cNvSpPr>
          <p:nvPr/>
        </p:nvSpPr>
        <p:spPr>
          <a:xfrm>
            <a:off x="1104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E99D00E-5F63-42DC-AFA2-A43966F32C3D}"/>
              </a:ext>
            </a:extLst>
          </p:cNvPr>
          <p:cNvSpPr>
            <a:spLocks noGrp="1"/>
          </p:cNvSpPr>
          <p:nvPr/>
        </p:nvSpPr>
        <p:spPr>
          <a:xfrm>
            <a:off x="1104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1F7D20C-226B-43ED-BD1E-E2A1EEE12629}"/>
              </a:ext>
            </a:extLst>
          </p:cNvPr>
          <p:cNvSpPr>
            <a:spLocks noGrp="1"/>
          </p:cNvSpPr>
          <p:nvPr/>
        </p:nvSpPr>
        <p:spPr>
          <a:xfrm>
            <a:off x="1104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pull nginx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59310E8-82E0-4B11-BB0E-FA17D2EE8B1C}"/>
              </a:ext>
            </a:extLst>
          </p:cNvPr>
          <p:cNvSpPr>
            <a:spLocks noGrp="1"/>
          </p:cNvSpPr>
          <p:nvPr/>
        </p:nvSpPr>
        <p:spPr>
          <a:xfrm>
            <a:off x="1104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只下載 image。</a:t>
            </a: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D8EC1A80-BB11-41CE-918F-0483C552159E}"/>
              </a:ext>
            </a:extLst>
          </p:cNvPr>
          <p:cNvSpPr>
            <a:spLocks noGrp="1"/>
          </p:cNvSpPr>
          <p:nvPr/>
        </p:nvSpPr>
        <p:spPr>
          <a:xfrm>
            <a:off x="3124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66F1527F-143C-4C1C-92BB-AD98D68F908E}"/>
              </a:ext>
            </a:extLst>
          </p:cNvPr>
          <p:cNvSpPr>
            <a:spLocks noGrp="1"/>
          </p:cNvSpPr>
          <p:nvPr/>
        </p:nvSpPr>
        <p:spPr>
          <a:xfrm>
            <a:off x="3543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92AAEC41-7750-44EE-8965-A60A0E947A4F}"/>
              </a:ext>
            </a:extLst>
          </p:cNvPr>
          <p:cNvSpPr>
            <a:spLocks noGrp="1"/>
          </p:cNvSpPr>
          <p:nvPr/>
        </p:nvSpPr>
        <p:spPr>
          <a:xfrm>
            <a:off x="3771900" y="2438400"/>
            <a:ext cx="419100" cy="41910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E861EA0-5939-41F4-A36D-F404BACF4644}"/>
              </a:ext>
            </a:extLst>
          </p:cNvPr>
          <p:cNvSpPr>
            <a:spLocks noGrp="1"/>
          </p:cNvSpPr>
          <p:nvPr/>
        </p:nvSpPr>
        <p:spPr>
          <a:xfrm>
            <a:off x="3771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813B0F5-DBAE-4518-86BA-4FB5CEC8A184}"/>
              </a:ext>
            </a:extLst>
          </p:cNvPr>
          <p:cNvSpPr>
            <a:spLocks noGrp="1"/>
          </p:cNvSpPr>
          <p:nvPr/>
        </p:nvSpPr>
        <p:spPr>
          <a:xfrm>
            <a:off x="3771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35C7F05-6AF8-44F3-BF41-33F4DF784A5E}"/>
              </a:ext>
            </a:extLst>
          </p:cNvPr>
          <p:cNvSpPr>
            <a:spLocks noGrp="1"/>
          </p:cNvSpPr>
          <p:nvPr/>
        </p:nvSpPr>
        <p:spPr>
          <a:xfrm>
            <a:off x="3771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641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唯讀範本，還不是服務。</a:t>
            </a:r>
          </a:p>
        </p:txBody>
      </p:sp>
      <p:sp>
        <p:nvSpPr>
          <p:cNvPr id="14" name="箭號: 向右 13">
            <a:extLst>
              <a:ext uri="{FF2B5EF4-FFF2-40B4-BE49-F238E27FC236}">
                <a16:creationId xmlns:a16="http://schemas.microsoft.com/office/drawing/2014/main" id="{4BBA93B8-9FBE-476D-9CA3-9267B5464C3F}"/>
              </a:ext>
            </a:extLst>
          </p:cNvPr>
          <p:cNvSpPr>
            <a:spLocks noGrp="1"/>
          </p:cNvSpPr>
          <p:nvPr/>
        </p:nvSpPr>
        <p:spPr>
          <a:xfrm>
            <a:off x="5791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58A3125-1998-4854-8688-11FE3B200701}"/>
              </a:ext>
            </a:extLst>
          </p:cNvPr>
          <p:cNvSpPr>
            <a:spLocks noGrp="1"/>
          </p:cNvSpPr>
          <p:nvPr/>
        </p:nvSpPr>
        <p:spPr>
          <a:xfrm>
            <a:off x="6210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2B6C8871-4947-42B5-97C3-A4360401CB2B}"/>
              </a:ext>
            </a:extLst>
          </p:cNvPr>
          <p:cNvSpPr>
            <a:spLocks noGrp="1"/>
          </p:cNvSpPr>
          <p:nvPr/>
        </p:nvSpPr>
        <p:spPr>
          <a:xfrm>
            <a:off x="6438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FE6073E-2081-45BB-ACDD-CBF9400AA38E}"/>
              </a:ext>
            </a:extLst>
          </p:cNvPr>
          <p:cNvSpPr>
            <a:spLocks noGrp="1"/>
          </p:cNvSpPr>
          <p:nvPr/>
        </p:nvSpPr>
        <p:spPr>
          <a:xfrm>
            <a:off x="6438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7920220-8110-4AF8-8531-FCFA40AC4F06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images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D798924-4698-47EC-B8E1-EBA5490D8CEF}"/>
              </a:ext>
            </a:extLst>
          </p:cNvPr>
          <p:cNvSpPr>
            <a:spLocks noGrp="1"/>
          </p:cNvSpPr>
          <p:nvPr/>
        </p:nvSpPr>
        <p:spPr>
          <a:xfrm>
            <a:off x="6438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57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下一張再確認清單。</a:t>
            </a:r>
          </a:p>
        </p:txBody>
      </p:sp>
      <p:sp>
        <p:nvSpPr>
          <p:cNvPr id="20" name="箭號: 向右 19">
            <a:extLst>
              <a:ext uri="{FF2B5EF4-FFF2-40B4-BE49-F238E27FC236}">
                <a16:creationId xmlns:a16="http://schemas.microsoft.com/office/drawing/2014/main" id="{53B02B09-48A1-41EB-8FB4-42B8054E622E}"/>
              </a:ext>
            </a:extLst>
          </p:cNvPr>
          <p:cNvSpPr>
            <a:spLocks noGrp="1"/>
          </p:cNvSpPr>
          <p:nvPr/>
        </p:nvSpPr>
        <p:spPr>
          <a:xfrm>
            <a:off x="8458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006DD704-99CE-458C-8914-FE20B45DAD37}"/>
              </a:ext>
            </a:extLst>
          </p:cNvPr>
          <p:cNvSpPr>
            <a:spLocks noGrp="1"/>
          </p:cNvSpPr>
          <p:nvPr/>
        </p:nvSpPr>
        <p:spPr>
          <a:xfrm>
            <a:off x="8877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097208FC-F700-4CCD-B4DA-A8A9DCC6B967}"/>
              </a:ext>
            </a:extLst>
          </p:cNvPr>
          <p:cNvSpPr>
            <a:spLocks noGrp="1"/>
          </p:cNvSpPr>
          <p:nvPr/>
        </p:nvSpPr>
        <p:spPr>
          <a:xfrm>
            <a:off x="9105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8A51D42-09C5-409A-BB45-1664F26AE3B1}"/>
              </a:ext>
            </a:extLst>
          </p:cNvPr>
          <p:cNvSpPr>
            <a:spLocks noGrp="1"/>
          </p:cNvSpPr>
          <p:nvPr/>
        </p:nvSpPr>
        <p:spPr>
          <a:xfrm>
            <a:off x="9105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F6DCC7F-E796-436C-9CBF-AF9805B042E7}"/>
              </a:ext>
            </a:extLst>
          </p:cNvPr>
          <p:cNvSpPr>
            <a:spLocks noGrp="1"/>
          </p:cNvSpPr>
          <p:nvPr/>
        </p:nvSpPr>
        <p:spPr>
          <a:xfrm>
            <a:off x="9105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/ rm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2623591-34AA-4E03-8EA4-508AE9E35747}"/>
              </a:ext>
            </a:extLst>
          </p:cNvPr>
          <p:cNvSpPr>
            <a:spLocks noGrp="1"/>
          </p:cNvSpPr>
          <p:nvPr/>
        </p:nvSpPr>
        <p:spPr>
          <a:xfrm>
            <a:off x="9105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後面再分開練。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3DC8EAF1-0D2F-4868-9819-5109DB2F0753}"/>
              </a:ext>
            </a:extLst>
          </p:cNvPr>
          <p:cNvSpPr>
            <a:spLocks noGrp="1"/>
          </p:cNvSpPr>
          <p:nvPr/>
        </p:nvSpPr>
        <p:spPr>
          <a:xfrm>
            <a:off x="2514600" y="4762500"/>
            <a:ext cx="7162800" cy="13525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lang="zh-TW" altLang="en-US" dirty="0"/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12C439FB-1CC5-4264-970E-B17DA2083ECF}"/>
              </a:ext>
            </a:extLst>
          </p:cNvPr>
          <p:cNvSpPr>
            <a:spLocks noGrp="1"/>
          </p:cNvSpPr>
          <p:nvPr/>
        </p:nvSpPr>
        <p:spPr>
          <a:xfrm>
            <a:off x="268605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6ADFE14F-531F-47F1-A77E-26C21A9F7758}"/>
              </a:ext>
            </a:extLst>
          </p:cNvPr>
          <p:cNvSpPr>
            <a:spLocks noGrp="1"/>
          </p:cNvSpPr>
          <p:nvPr/>
        </p:nvSpPr>
        <p:spPr>
          <a:xfrm>
            <a:off x="285750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3D75C1AE-BE24-4ADB-B848-0B3692010BB5}"/>
              </a:ext>
            </a:extLst>
          </p:cNvPr>
          <p:cNvSpPr>
            <a:spLocks noGrp="1"/>
          </p:cNvSpPr>
          <p:nvPr/>
        </p:nvSpPr>
        <p:spPr>
          <a:xfrm>
            <a:off x="302895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AF1094D-FF8C-4571-899A-70577DD990E9}"/>
              </a:ext>
            </a:extLst>
          </p:cNvPr>
          <p:cNvSpPr>
            <a:spLocks noGrp="1"/>
          </p:cNvSpPr>
          <p:nvPr/>
        </p:nvSpPr>
        <p:spPr>
          <a:xfrm>
            <a:off x="2724150" y="5181600"/>
            <a:ext cx="67437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nginx</a:t>
            </a:r>
            <a:endParaRPr lang="en-US" sz="202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4000"/>
              </a:lnSpc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sz="2000" dirty="0">
                <a:solidFill>
                  <a:srgbClr val="E5E7EB"/>
                </a:solidFill>
                <a:latin typeface="Consolas"/>
              </a:rPr>
              <a:t>docker run -d --name nginx-life -p 9090:80 nginx</a:t>
            </a:r>
          </a:p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202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36324EA9-512A-46F9-8033-3CB942121A8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03AE1AA-C622-43D6-9FE9-0AFE56BE223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AEC3346-86B6-47CE-8526-CA3D400DC38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1034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137C4EE8-A14A-4045-9590-0C794140F56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STEP 6 / EDIT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0BBCBCB-6654-43B1-8340-E01DB0F585C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Step 6：在 container 裡修改 index.html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16F8A3C9-BADF-4E87-83FF-94334209D051}"/>
              </a:ext>
            </a:extLst>
          </p:cNvPr>
          <p:cNvSpPr>
            <a:spLocks noGrp="1"/>
          </p:cNvSpPr>
          <p:nvPr/>
        </p:nvSpPr>
        <p:spPr>
          <a:xfrm>
            <a:off x="895350" y="1447799"/>
            <a:ext cx="10401300" cy="1752601"/>
          </a:xfrm>
          <a:prstGeom prst="roundRect">
            <a:avLst>
              <a:gd name="adj" fmla="val 84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EE6EE9F6-775C-4C74-8E7A-22D5AB47F51D}"/>
              </a:ext>
            </a:extLst>
          </p:cNvPr>
          <p:cNvSpPr>
            <a:spLocks noGrp="1"/>
          </p:cNvSpPr>
          <p:nvPr/>
        </p:nvSpPr>
        <p:spPr>
          <a:xfrm>
            <a:off x="10668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4009566C-53AF-4805-A829-CFEFCE5B1245}"/>
              </a:ext>
            </a:extLst>
          </p:cNvPr>
          <p:cNvSpPr>
            <a:spLocks noGrp="1"/>
          </p:cNvSpPr>
          <p:nvPr/>
        </p:nvSpPr>
        <p:spPr>
          <a:xfrm>
            <a:off x="12382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287A3786-33E8-436D-883C-379B83DAA8D5}"/>
              </a:ext>
            </a:extLst>
          </p:cNvPr>
          <p:cNvSpPr>
            <a:spLocks noGrp="1"/>
          </p:cNvSpPr>
          <p:nvPr/>
        </p:nvSpPr>
        <p:spPr>
          <a:xfrm>
            <a:off x="14097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277AA81-1C27-4359-9065-B95978EC82D2}"/>
              </a:ext>
            </a:extLst>
          </p:cNvPr>
          <p:cNvSpPr>
            <a:spLocks noGrp="1"/>
          </p:cNvSpPr>
          <p:nvPr/>
        </p:nvSpPr>
        <p:spPr>
          <a:xfrm>
            <a:off x="1104900" y="1866899"/>
            <a:ext cx="9982200" cy="12030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echo '&lt;h1&gt;Hello from container&lt;/h1&gt;' &gt; index.html</a:t>
            </a:r>
            <a:endParaRPr lang="en-US"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lang="en-US" sz="13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dirty="0"/>
              <a:t>apt-get update 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dirty="0"/>
              <a:t>apt-get install -y nano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nano index.html</a:t>
            </a:r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5CAE6AD2-1778-40A1-BBEC-2BAF0ED2388B}"/>
              </a:ext>
            </a:extLst>
          </p:cNvPr>
          <p:cNvSpPr>
            <a:spLocks noGrp="1"/>
          </p:cNvSpPr>
          <p:nvPr/>
        </p:nvSpPr>
        <p:spPr>
          <a:xfrm>
            <a:off x="2268023" y="3626168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66E1FBA-49EA-4D26-87B4-69EB5577D145}"/>
              </a:ext>
            </a:extLst>
          </p:cNvPr>
          <p:cNvSpPr>
            <a:spLocks noGrp="1"/>
          </p:cNvSpPr>
          <p:nvPr/>
        </p:nvSpPr>
        <p:spPr>
          <a:xfrm>
            <a:off x="4935023" y="3626168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A6DA8BC-2327-4221-A569-0C0C81F21864}"/>
              </a:ext>
            </a:extLst>
          </p:cNvPr>
          <p:cNvSpPr>
            <a:spLocks noGrp="1"/>
          </p:cNvSpPr>
          <p:nvPr/>
        </p:nvSpPr>
        <p:spPr>
          <a:xfrm>
            <a:off x="2458523" y="3711893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畫面會變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5C142F0-130D-4E4D-9D01-D75BC8327FE0}"/>
              </a:ext>
            </a:extLst>
          </p:cNvPr>
          <p:cNvSpPr>
            <a:spLocks noGrp="1"/>
          </p:cNvSpPr>
          <p:nvPr/>
        </p:nvSpPr>
        <p:spPr>
          <a:xfrm>
            <a:off x="5125523" y="3702368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因為 nginx 讀到 container 內新的 index.html。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04519C0C-014D-4DB5-8B35-E708BCC934FB}"/>
              </a:ext>
            </a:extLst>
          </p:cNvPr>
          <p:cNvSpPr>
            <a:spLocks noGrp="1"/>
          </p:cNvSpPr>
          <p:nvPr/>
        </p:nvSpPr>
        <p:spPr>
          <a:xfrm>
            <a:off x="2268023" y="4102418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FDFFEFE7-E2F6-4EA5-8D70-51BEF3554534}"/>
              </a:ext>
            </a:extLst>
          </p:cNvPr>
          <p:cNvSpPr>
            <a:spLocks noGrp="1"/>
          </p:cNvSpPr>
          <p:nvPr/>
        </p:nvSpPr>
        <p:spPr>
          <a:xfrm>
            <a:off x="4935023" y="4102418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F73104E-63D2-4F8F-A7EF-3FF357812FDC}"/>
              </a:ext>
            </a:extLst>
          </p:cNvPr>
          <p:cNvSpPr>
            <a:spLocks noGrp="1"/>
          </p:cNvSpPr>
          <p:nvPr/>
        </p:nvSpPr>
        <p:spPr>
          <a:xfrm>
            <a:off x="2458523" y="4188143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先不要刪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EE9115B-5A17-472E-80E8-A46B1E497F81}"/>
              </a:ext>
            </a:extLst>
          </p:cNvPr>
          <p:cNvSpPr>
            <a:spLocks noGrp="1"/>
          </p:cNvSpPr>
          <p:nvPr/>
        </p:nvSpPr>
        <p:spPr>
          <a:xfrm>
            <a:off x="5125523" y="4178618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現在這個修改只存在 nginx-life 這個 container 裡。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171A10C5-9F84-46F2-B207-F094D084CE2E}"/>
              </a:ext>
            </a:extLst>
          </p:cNvPr>
          <p:cNvSpPr>
            <a:spLocks noGrp="1"/>
          </p:cNvSpPr>
          <p:nvPr/>
        </p:nvSpPr>
        <p:spPr>
          <a:xfrm>
            <a:off x="2268023" y="4578668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BB6BCC8C-35FF-46F1-A758-05EC06A61C47}"/>
              </a:ext>
            </a:extLst>
          </p:cNvPr>
          <p:cNvSpPr>
            <a:spLocks noGrp="1"/>
          </p:cNvSpPr>
          <p:nvPr/>
        </p:nvSpPr>
        <p:spPr>
          <a:xfrm>
            <a:off x="4935023" y="4578668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BF638AE-B7CC-400B-B4B1-353F59516DB1}"/>
              </a:ext>
            </a:extLst>
          </p:cNvPr>
          <p:cNvSpPr>
            <a:spLocks noGrp="1"/>
          </p:cNvSpPr>
          <p:nvPr/>
        </p:nvSpPr>
        <p:spPr>
          <a:xfrm>
            <a:off x="2458523" y="4664393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重點問題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251D6D3-93AF-4CC6-8701-E2387AADD5B9}"/>
              </a:ext>
            </a:extLst>
          </p:cNvPr>
          <p:cNvSpPr>
            <a:spLocks noGrp="1"/>
          </p:cNvSpPr>
          <p:nvPr/>
        </p:nvSpPr>
        <p:spPr>
          <a:xfrm>
            <a:off x="5125523" y="4654868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如果刪掉 container，再用同一個 image 重建，修改還在嗎？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0127BFFD-BD18-4B94-8608-3DEC9D5BA386}"/>
              </a:ext>
            </a:extLst>
          </p:cNvPr>
          <p:cNvSpPr>
            <a:spLocks noGrp="1"/>
          </p:cNvSpPr>
          <p:nvPr/>
        </p:nvSpPr>
        <p:spPr>
          <a:xfrm>
            <a:off x="2268023" y="5054918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9F503663-A2E6-4A30-AED7-F9D5FABD16B8}"/>
              </a:ext>
            </a:extLst>
          </p:cNvPr>
          <p:cNvSpPr>
            <a:spLocks noGrp="1"/>
          </p:cNvSpPr>
          <p:nvPr/>
        </p:nvSpPr>
        <p:spPr>
          <a:xfrm>
            <a:off x="4935023" y="5054918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BFC9448-C5FA-4EEB-8A67-555B81D5D517}"/>
              </a:ext>
            </a:extLst>
          </p:cNvPr>
          <p:cNvSpPr>
            <a:spLocks noGrp="1"/>
          </p:cNvSpPr>
          <p:nvPr/>
        </p:nvSpPr>
        <p:spPr>
          <a:xfrm>
            <a:off x="2458523" y="5140643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答案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6430780-7949-4464-9AB7-FA63012AEF41}"/>
              </a:ext>
            </a:extLst>
          </p:cNvPr>
          <p:cNvSpPr>
            <a:spLocks noGrp="1"/>
          </p:cNvSpPr>
          <p:nvPr/>
        </p:nvSpPr>
        <p:spPr>
          <a:xfrm>
            <a:off x="5125523" y="5131118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不在。這就是等等要看到的「容器無狀態」。</a:t>
            </a:r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EBC6C2E4-8E5C-4925-866A-661B777A81FD}"/>
              </a:ext>
            </a:extLst>
          </p:cNvPr>
          <p:cNvSpPr>
            <a:spLocks noGrp="1"/>
          </p:cNvSpPr>
          <p:nvPr/>
        </p:nvSpPr>
        <p:spPr>
          <a:xfrm>
            <a:off x="2268023" y="5531168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1371E11E-8021-4DFB-A66E-F9321DD060C6}"/>
              </a:ext>
            </a:extLst>
          </p:cNvPr>
          <p:cNvSpPr>
            <a:spLocks noGrp="1"/>
          </p:cNvSpPr>
          <p:nvPr/>
        </p:nvSpPr>
        <p:spPr>
          <a:xfrm>
            <a:off x="4935023" y="5531168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A703212-1195-499C-BD4C-D4F972AEE9AB}"/>
              </a:ext>
            </a:extLst>
          </p:cNvPr>
          <p:cNvSpPr>
            <a:spLocks noGrp="1"/>
          </p:cNvSpPr>
          <p:nvPr/>
        </p:nvSpPr>
        <p:spPr>
          <a:xfrm>
            <a:off x="2458523" y="5616893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離開 shell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53F5867-0AF3-4A6C-BDF5-CA40C966BFD5}"/>
              </a:ext>
            </a:extLst>
          </p:cNvPr>
          <p:cNvSpPr>
            <a:spLocks noGrp="1"/>
          </p:cNvSpPr>
          <p:nvPr/>
        </p:nvSpPr>
        <p:spPr>
          <a:xfrm>
            <a:off x="5125523" y="5607368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 lnSpcReduction="10000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6A263CB-46AD-4F28-974F-7D2314BC2F1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5E98947-EDC7-4DF9-8F95-BE40735B39E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E170968-5D4D-4953-B5B2-07E96D9A20E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70191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C0093603-F5E4-4B54-B75C-708A9CEA00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4CB15E9-E4EF-470B-A2A4-6EBB5A9EB0B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zh-TW" altLang="en-US"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熟練</a:t>
            </a:r>
            <a:r>
              <a:rPr lang="en-US" altLang="zh-TW"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</a:t>
            </a:r>
            <a:r>
              <a:rPr lang="zh-TW" altLang="en-US"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的生命週期操作</a:t>
            </a:r>
            <a:endParaRPr sz="285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0F06F61-5946-436D-9205-FF2B880FD59A}"/>
              </a:ext>
            </a:extLst>
          </p:cNvPr>
          <p:cNvSpPr>
            <a:spLocks noGrp="1"/>
          </p:cNvSpPr>
          <p:nvPr/>
        </p:nvSpPr>
        <p:spPr>
          <a:xfrm>
            <a:off x="781050" y="1390650"/>
            <a:ext cx="6191250" cy="4400550"/>
          </a:xfrm>
          <a:prstGeom prst="roundRect">
            <a:avLst>
              <a:gd name="adj" fmla="val 21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4F589B05-9D72-44CA-86B1-B3E7D5DD164A}"/>
              </a:ext>
            </a:extLst>
          </p:cNvPr>
          <p:cNvSpPr>
            <a:spLocks noGrp="1"/>
          </p:cNvSpPr>
          <p:nvPr/>
        </p:nvSpPr>
        <p:spPr>
          <a:xfrm>
            <a:off x="95250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C6B2AA2-C276-4BC2-85D6-FB604AABAD83}"/>
              </a:ext>
            </a:extLst>
          </p:cNvPr>
          <p:cNvSpPr>
            <a:spLocks noGrp="1"/>
          </p:cNvSpPr>
          <p:nvPr/>
        </p:nvSpPr>
        <p:spPr>
          <a:xfrm>
            <a:off x="112395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97CA58AE-BC14-4423-BF0B-1178D89ACABF}"/>
              </a:ext>
            </a:extLst>
          </p:cNvPr>
          <p:cNvSpPr>
            <a:spLocks noGrp="1"/>
          </p:cNvSpPr>
          <p:nvPr/>
        </p:nvSpPr>
        <p:spPr>
          <a:xfrm>
            <a:off x="129540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45FB0C0-1EA0-4D6F-AD06-E1E135D7CF4D}"/>
              </a:ext>
            </a:extLst>
          </p:cNvPr>
          <p:cNvSpPr>
            <a:spLocks noGrp="1"/>
          </p:cNvSpPr>
          <p:nvPr/>
        </p:nvSpPr>
        <p:spPr>
          <a:xfrm>
            <a:off x="990600" y="1809750"/>
            <a:ext cx="5772150" cy="3848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nginx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lang="en-US"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-p 9090:80 nginx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</a:t>
            </a:r>
            <a:r>
              <a:rPr sz="13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ps</a:t>
            </a:r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lang="en-US"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nginx-life </a:t>
            </a:r>
            <a:r>
              <a:rPr lang="en-US" sz="13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bash</a:t>
            </a:r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</a:t>
            </a:r>
            <a:r>
              <a:rPr sz="13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usr</a:t>
            </a: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/share/nginx/html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echo '&lt;h1&gt;Hello from container&lt;/h1&gt;' &gt; index.html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lang="en-US"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</a:t>
            </a:r>
            <a:r>
              <a:rPr lang="en-US" altLang="zh-TW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</a:t>
            </a:r>
            <a:r>
              <a:rPr lang="en-US" altLang="zh-TW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nginx-life</a:t>
            </a:r>
            <a:endParaRPr lang="en-US" altLang="zh-TW" sz="13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</a:t>
            </a:r>
            <a:r>
              <a:rPr lang="en-US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ocker restart </a:t>
            </a:r>
            <a:r>
              <a:rPr lang="en-US" altLang="zh-TW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nginx-life</a:t>
            </a:r>
            <a:endParaRPr lang="en-US"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lang="en-US" sz="13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-p 9090:80 nginx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13AE31E-5433-41A0-8C51-53E375A8E52B}"/>
              </a:ext>
            </a:extLst>
          </p:cNvPr>
          <p:cNvSpPr>
            <a:spLocks noGrp="1"/>
          </p:cNvSpPr>
          <p:nvPr/>
        </p:nvSpPr>
        <p:spPr>
          <a:xfrm>
            <a:off x="7639050" y="1714500"/>
            <a:ext cx="3143250" cy="1409700"/>
          </a:xfrm>
          <a:prstGeom prst="roundRect">
            <a:avLst>
              <a:gd name="adj" fmla="val 810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652E7FD-04B6-4850-B2C3-9C2B2E4F5E3B}"/>
              </a:ext>
            </a:extLst>
          </p:cNvPr>
          <p:cNvSpPr>
            <a:spLocks noGrp="1"/>
          </p:cNvSpPr>
          <p:nvPr/>
        </p:nvSpPr>
        <p:spPr>
          <a:xfrm>
            <a:off x="7867650" y="19050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每段做完都確認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36181D-67BF-4ECF-9805-219C66BF24D6}"/>
              </a:ext>
            </a:extLst>
          </p:cNvPr>
          <p:cNvSpPr>
            <a:spLocks noGrp="1"/>
          </p:cNvSpPr>
          <p:nvPr/>
        </p:nvSpPr>
        <p:spPr>
          <a:xfrm>
            <a:off x="7867650" y="2324100"/>
            <a:ext cx="26860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14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pull 看 image；run 看 ps；edit 看瀏覽器；recreate 看頁面是否回預設。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851020A-B2FB-4D4C-BFF9-D1936FFA7877}"/>
              </a:ext>
            </a:extLst>
          </p:cNvPr>
          <p:cNvSpPr>
            <a:spLocks noGrp="1"/>
          </p:cNvSpPr>
          <p:nvPr/>
        </p:nvSpPr>
        <p:spPr>
          <a:xfrm>
            <a:off x="7639050" y="3619500"/>
            <a:ext cx="3143250" cy="1600200"/>
          </a:xfrm>
          <a:prstGeom prst="roundRect">
            <a:avLst>
              <a:gd name="adj" fmla="val 7143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B768CED-80E6-493C-AB04-9325781CD8E5}"/>
              </a:ext>
            </a:extLst>
          </p:cNvPr>
          <p:cNvSpPr>
            <a:spLocks noGrp="1"/>
          </p:cNvSpPr>
          <p:nvPr/>
        </p:nvSpPr>
        <p:spPr>
          <a:xfrm>
            <a:off x="7867650" y="38100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1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Q2：為什麼改好的首頁不見？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69C4B6B-BE99-476E-BC51-B2241FA81C2F}"/>
              </a:ext>
            </a:extLst>
          </p:cNvPr>
          <p:cNvSpPr>
            <a:spLocks noGrp="1"/>
          </p:cNvSpPr>
          <p:nvPr/>
        </p:nvSpPr>
        <p:spPr>
          <a:xfrm>
            <a:off x="7867650" y="4419600"/>
            <a:ext cx="2686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 dirty="0" err="1">
                <a:solidFill>
                  <a:srgbClr val="E2E8F0"/>
                </a:solidFill>
                <a:latin typeface="Aptos"/>
                <a:ea typeface="Aptos"/>
                <a:cs typeface="Aptos"/>
              </a:rPr>
              <a:t>因為修改在</a:t>
            </a:r>
            <a:r>
              <a:rPr sz="1350" b="0" dirty="0">
                <a:solidFill>
                  <a:srgbClr val="E2E8F0"/>
                </a:solidFill>
                <a:latin typeface="Aptos"/>
                <a:ea typeface="Aptos"/>
                <a:cs typeface="Aptos"/>
              </a:rPr>
              <a:t> container </a:t>
            </a:r>
            <a:r>
              <a:rPr sz="1350" b="0" dirty="0" err="1">
                <a:solidFill>
                  <a:srgbClr val="E2E8F0"/>
                </a:solidFill>
                <a:latin typeface="Aptos"/>
                <a:ea typeface="Aptos"/>
                <a:cs typeface="Aptos"/>
              </a:rPr>
              <a:t>內；container</a:t>
            </a:r>
            <a:r>
              <a:rPr sz="1350" b="0" dirty="0">
                <a:solidFill>
                  <a:srgbClr val="E2E8F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E2E8F0"/>
                </a:solidFill>
                <a:latin typeface="Aptos"/>
                <a:ea typeface="Aptos"/>
                <a:cs typeface="Aptos"/>
              </a:rPr>
              <a:t>被刪掉後，未保存到外部的檔案也一起消失</a:t>
            </a:r>
            <a:r>
              <a:rPr sz="1350" b="0" dirty="0">
                <a:solidFill>
                  <a:srgbClr val="E2E8F0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1720EF-DCA6-452F-A356-913760CAE54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FE59A6-4431-4E6C-B000-D9C4824E005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D50CEAD-7AEB-4EC8-B8D5-8BE3252439A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72585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1367CD96-92D4-4BA0-BD97-C8D7DCC45E2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EPHEMERAL CONTAINERS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3DBC04D-C036-4698-BE9D-3EDFF45270A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臨時測試容器請加 --rm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F3F763B-FF34-4E03-812D-BEAE2262B393}"/>
              </a:ext>
            </a:extLst>
          </p:cNvPr>
          <p:cNvSpPr>
            <a:spLocks noGrp="1"/>
          </p:cNvSpPr>
          <p:nvPr/>
        </p:nvSpPr>
        <p:spPr>
          <a:xfrm>
            <a:off x="895350" y="1695450"/>
            <a:ext cx="5962650" cy="2114550"/>
          </a:xfrm>
          <a:prstGeom prst="roundRect">
            <a:avLst>
              <a:gd name="adj" fmla="val 450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4BB17C9-3F67-494F-9590-CA7064F7E462}"/>
              </a:ext>
            </a:extLst>
          </p:cNvPr>
          <p:cNvSpPr>
            <a:spLocks noGrp="1"/>
          </p:cNvSpPr>
          <p:nvPr/>
        </p:nvSpPr>
        <p:spPr>
          <a:xfrm>
            <a:off x="10668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09105F3-BFF6-47EE-8E76-D2C6A17A73C4}"/>
              </a:ext>
            </a:extLst>
          </p:cNvPr>
          <p:cNvSpPr>
            <a:spLocks noGrp="1"/>
          </p:cNvSpPr>
          <p:nvPr/>
        </p:nvSpPr>
        <p:spPr>
          <a:xfrm>
            <a:off x="12382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D185D74C-C1FA-4CD3-8F4A-BABFD8CF4931}"/>
              </a:ext>
            </a:extLst>
          </p:cNvPr>
          <p:cNvSpPr>
            <a:spLocks noGrp="1"/>
          </p:cNvSpPr>
          <p:nvPr/>
        </p:nvSpPr>
        <p:spPr>
          <a:xfrm>
            <a:off x="14097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333D64B-FDC3-4FC9-B2C7-65560702728B}"/>
              </a:ext>
            </a:extLst>
          </p:cNvPr>
          <p:cNvSpPr>
            <a:spLocks noGrp="1"/>
          </p:cNvSpPr>
          <p:nvPr/>
        </p:nvSpPr>
        <p:spPr>
          <a:xfrm>
            <a:off x="1104900" y="2114550"/>
            <a:ext cx="55435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6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用完即丟</a:t>
            </a:r>
            <a:endParaRPr sz="16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--rm </a:t>
            </a:r>
            <a:r>
              <a:rPr lang="en-US"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nginx</a:t>
            </a: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bash</a:t>
            </a:r>
          </a:p>
          <a:p>
            <a:endParaRPr sz="16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6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沒有</a:t>
            </a: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--</a:t>
            </a:r>
            <a:r>
              <a:rPr sz="16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rm：停止後仍留在</a:t>
            </a: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</a:t>
            </a:r>
            <a:r>
              <a:rPr sz="16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ps</a:t>
            </a: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-a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</a:t>
            </a:r>
            <a:r>
              <a:rPr lang="en-US" altLang="zh-TW"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nginx</a:t>
            </a: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bash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F0AAD5FC-6ACA-4C0E-8B26-D7DD54318F36}"/>
              </a:ext>
            </a:extLst>
          </p:cNvPr>
          <p:cNvSpPr>
            <a:spLocks noGrp="1"/>
          </p:cNvSpPr>
          <p:nvPr/>
        </p:nvSpPr>
        <p:spPr>
          <a:xfrm>
            <a:off x="7524750" y="1600200"/>
            <a:ext cx="3200400" cy="13335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D4AF116-097F-4296-BB1D-CFBADD96F38F}"/>
              </a:ext>
            </a:extLst>
          </p:cNvPr>
          <p:cNvSpPr>
            <a:spLocks noGrp="1"/>
          </p:cNvSpPr>
          <p:nvPr/>
        </p:nvSpPr>
        <p:spPr>
          <a:xfrm>
            <a:off x="7753350" y="1790700"/>
            <a:ext cx="2743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沒有 --rm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710A92C-66BA-43B3-8992-27306C9CF7D7}"/>
              </a:ext>
            </a:extLst>
          </p:cNvPr>
          <p:cNvSpPr>
            <a:spLocks noGrp="1"/>
          </p:cNvSpPr>
          <p:nvPr/>
        </p:nvSpPr>
        <p:spPr>
          <a:xfrm>
            <a:off x="7753350" y="2209800"/>
            <a:ext cx="274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停止後容器還在，需要手動 docker rm。適合長期跑的服務。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2B512E2A-1D78-4694-B402-331BF501D11F}"/>
              </a:ext>
            </a:extLst>
          </p:cNvPr>
          <p:cNvSpPr>
            <a:spLocks noGrp="1"/>
          </p:cNvSpPr>
          <p:nvPr/>
        </p:nvSpPr>
        <p:spPr>
          <a:xfrm>
            <a:off x="7524750" y="3257550"/>
            <a:ext cx="3200400" cy="1333500"/>
          </a:xfrm>
          <a:prstGeom prst="roundRect">
            <a:avLst>
              <a:gd name="adj" fmla="val 857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74C70D0-E667-4465-91E5-D5DFA4394AA4}"/>
              </a:ext>
            </a:extLst>
          </p:cNvPr>
          <p:cNvSpPr>
            <a:spLocks noGrp="1"/>
          </p:cNvSpPr>
          <p:nvPr/>
        </p:nvSpPr>
        <p:spPr>
          <a:xfrm>
            <a:off x="7753350" y="3448050"/>
            <a:ext cx="2743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--rm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E309C9E-0356-44D5-944F-894E4BF355B4}"/>
              </a:ext>
            </a:extLst>
          </p:cNvPr>
          <p:cNvSpPr>
            <a:spLocks noGrp="1"/>
          </p:cNvSpPr>
          <p:nvPr/>
        </p:nvSpPr>
        <p:spPr>
          <a:xfrm>
            <a:off x="7753350" y="3867150"/>
            <a:ext cx="274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28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exit 後自動刪除，不留垃圾。適合臨時測試、試指令。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56C8430-F043-4B92-AB57-092E16576CA6}"/>
              </a:ext>
            </a:extLst>
          </p:cNvPr>
          <p:cNvSpPr>
            <a:spLocks noGrp="1"/>
          </p:cNvSpPr>
          <p:nvPr/>
        </p:nvSpPr>
        <p:spPr>
          <a:xfrm>
            <a:off x="1524000" y="5334000"/>
            <a:ext cx="914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養成習慣：一次性容器加 --rm，避免累積一堆 Exited 容器。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6C2FFBE-F986-4A68-B8B3-B7EFC6D604F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98E175B-02B6-451A-BCF2-B0F9DABCFFA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9383ED5-2725-40E0-B842-3AF38BE13E6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66653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F5D1B20A-D099-4C43-98BB-73704058EFE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CONCEPT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AD18C44-56C3-40A3-9406-996278ECCEF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解決資料跟著容器消失的問題</a:t>
            </a:r>
          </a:p>
        </p:txBody>
      </p:sp>
      <p:pic>
        <p:nvPicPr>
          <p:cNvPr id="18" name="圖片 17"/>
          <p:cNvPicPr>
            <a:picLocks noChangeAspect="1"/>
          </p:cNvPicPr>
          <p:nvPr/>
        </p:nvPicPr>
        <p:blipFill>
          <a:blip r:embed="rId3"/>
          <a:srcRect l="3100" r="3100"/>
          <a:stretch>
            <a:fillRect/>
          </a:stretch>
        </p:blipFill>
        <p:spPr>
          <a:xfrm>
            <a:off x="6153150" y="1352550"/>
            <a:ext cx="4762500" cy="2857500"/>
          </a:xfrm>
          <a:prstGeom prst="roundRect">
            <a:avLst/>
          </a:prstGeom>
        </p:spPr>
      </p:pic>
      <p:sp>
        <p:nvSpPr>
          <p:cNvPr id="4" name="矩形: 圓角 3">
            <a:extLst>
              <a:ext uri="{FF2B5EF4-FFF2-40B4-BE49-F238E27FC236}">
                <a16:creationId xmlns:a16="http://schemas.microsoft.com/office/drawing/2014/main" id="{506FB13D-C501-4BC6-9469-E9D2BBB42F1C}"/>
              </a:ext>
            </a:extLst>
          </p:cNvPr>
          <p:cNvSpPr>
            <a:spLocks noGrp="1"/>
          </p:cNvSpPr>
          <p:nvPr/>
        </p:nvSpPr>
        <p:spPr>
          <a:xfrm>
            <a:off x="6153150" y="1352550"/>
            <a:ext cx="4762500" cy="2857500"/>
          </a:xfrm>
          <a:prstGeom prst="roundRect">
            <a:avLst>
              <a:gd name="adj" fmla="val 4667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EDF907D2-F798-4B47-A6E9-D56E73D5DE58}"/>
              </a:ext>
            </a:extLst>
          </p:cNvPr>
          <p:cNvSpPr>
            <a:spLocks noGrp="1"/>
          </p:cNvSpPr>
          <p:nvPr/>
        </p:nvSpPr>
        <p:spPr>
          <a:xfrm>
            <a:off x="990600" y="1676400"/>
            <a:ext cx="409575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8EB22E2-A831-49FC-8913-828F1C5AE08E}"/>
              </a:ext>
            </a:extLst>
          </p:cNvPr>
          <p:cNvSpPr>
            <a:spLocks noGrp="1"/>
          </p:cNvSpPr>
          <p:nvPr/>
        </p:nvSpPr>
        <p:spPr>
          <a:xfrm>
            <a:off x="1219200" y="18669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容器可以刪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E689558-52F4-47D5-AF58-96CFEC32C69A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638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容器天生適合重建、替換、用完就丟。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B8107481-98F6-42BD-A120-3785261CA7C3}"/>
              </a:ext>
            </a:extLst>
          </p:cNvPr>
          <p:cNvSpPr>
            <a:spLocks noGrp="1"/>
          </p:cNvSpPr>
          <p:nvPr/>
        </p:nvSpPr>
        <p:spPr>
          <a:xfrm>
            <a:off x="990600" y="3276600"/>
            <a:ext cx="409575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664FE83-C46A-404C-B4BB-6355FCD9560A}"/>
              </a:ext>
            </a:extLst>
          </p:cNvPr>
          <p:cNvSpPr>
            <a:spLocks noGrp="1"/>
          </p:cNvSpPr>
          <p:nvPr/>
        </p:nvSpPr>
        <p:spPr>
          <a:xfrm>
            <a:off x="1219200" y="34671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資料不能丟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968B530-4226-421E-AF5C-F4FF86B6700D}"/>
              </a:ext>
            </a:extLst>
          </p:cNvPr>
          <p:cNvSpPr>
            <a:spLocks noGrp="1"/>
          </p:cNvSpPr>
          <p:nvPr/>
        </p:nvSpPr>
        <p:spPr>
          <a:xfrm>
            <a:off x="1219200" y="3886200"/>
            <a:ext cx="3638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網頁檔、設定檔、資料庫資料，都不應該只放在 container 內部。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E6F80D6-06AA-46DD-A84C-7107CF5BB85D}"/>
              </a:ext>
            </a:extLst>
          </p:cNvPr>
          <p:cNvSpPr>
            <a:spLocks noGrp="1"/>
          </p:cNvSpPr>
          <p:nvPr/>
        </p:nvSpPr>
        <p:spPr>
          <a:xfrm>
            <a:off x="1504950" y="5334000"/>
            <a:ext cx="9182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接下來全程用 nginx 示範：先同步本機資料夾，再進到 Docker 管理的 volume。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A3C07F7-B5FC-42DA-AA0F-FD2713D3454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B7088CD-15C4-4D7D-9A77-5918ADA8C3C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66C4C73-1DAE-4DA3-A2FF-4417C3D15DD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1823791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829268AC-9A4B-41D6-BECD-C67A3D63117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EXAMPLES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50001E-9520-47DF-9FE4-D3D94335844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兩個範例：Mounted Volume vs Named Volume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6114BB2-CCEA-47E0-A6ED-1958E2FDC07E}"/>
              </a:ext>
            </a:extLst>
          </p:cNvPr>
          <p:cNvSpPr>
            <a:spLocks noGrp="1"/>
          </p:cNvSpPr>
          <p:nvPr/>
        </p:nvSpPr>
        <p:spPr>
          <a:xfrm>
            <a:off x="876300" y="1581150"/>
            <a:ext cx="4762500" cy="3352800"/>
          </a:xfrm>
          <a:prstGeom prst="roundRect">
            <a:avLst>
              <a:gd name="adj" fmla="val 340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A885270-E119-4274-814A-A09A34975B5C}"/>
              </a:ext>
            </a:extLst>
          </p:cNvPr>
          <p:cNvSpPr>
            <a:spLocks noGrp="1"/>
          </p:cNvSpPr>
          <p:nvPr/>
        </p:nvSpPr>
        <p:spPr>
          <a:xfrm>
            <a:off x="1181100" y="19050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Mounted Volume（Bind Mount）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FDA0EF2C-0CB8-4EBA-B770-D925C3339AB8}"/>
              </a:ext>
            </a:extLst>
          </p:cNvPr>
          <p:cNvSpPr>
            <a:spLocks noGrp="1"/>
          </p:cNvSpPr>
          <p:nvPr/>
        </p:nvSpPr>
        <p:spPr>
          <a:xfrm>
            <a:off x="1295400" y="2533650"/>
            <a:ext cx="3924300" cy="781050"/>
          </a:xfrm>
          <a:prstGeom prst="roundRect">
            <a:avLst>
              <a:gd name="adj" fmla="val 1219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86665B4E-3E17-42C8-ACCA-F0BCD13FF74E}"/>
              </a:ext>
            </a:extLst>
          </p:cNvPr>
          <p:cNvSpPr>
            <a:spLocks noGrp="1"/>
          </p:cNvSpPr>
          <p:nvPr/>
        </p:nvSpPr>
        <p:spPr>
          <a:xfrm>
            <a:off x="1466850" y="2695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1EAB393E-A9BB-497E-9334-5D27ED0CDA8F}"/>
              </a:ext>
            </a:extLst>
          </p:cNvPr>
          <p:cNvSpPr>
            <a:spLocks noGrp="1"/>
          </p:cNvSpPr>
          <p:nvPr/>
        </p:nvSpPr>
        <p:spPr>
          <a:xfrm>
            <a:off x="1638300" y="2695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9E9BF29C-4F0B-406D-9133-64F0B501C39F}"/>
              </a:ext>
            </a:extLst>
          </p:cNvPr>
          <p:cNvSpPr>
            <a:spLocks noGrp="1"/>
          </p:cNvSpPr>
          <p:nvPr/>
        </p:nvSpPr>
        <p:spPr>
          <a:xfrm>
            <a:off x="1809750" y="2695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9C75C2F-84D8-43E8-8CEC-F55D8E39A054}"/>
              </a:ext>
            </a:extLst>
          </p:cNvPr>
          <p:cNvSpPr>
            <a:spLocks noGrp="1"/>
          </p:cNvSpPr>
          <p:nvPr/>
        </p:nvSpPr>
        <p:spPr>
          <a:xfrm>
            <a:off x="1504950" y="2952750"/>
            <a:ext cx="3505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413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主機路徑:/usr/share/nginx/html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D6F8ED4-1C11-442A-B990-6A8863F18AF9}"/>
              </a:ext>
            </a:extLst>
          </p:cNvPr>
          <p:cNvSpPr>
            <a:spLocks noGrp="1"/>
          </p:cNvSpPr>
          <p:nvPr/>
        </p:nvSpPr>
        <p:spPr>
          <a:xfrm>
            <a:off x="1276350" y="3657600"/>
            <a:ext cx="3810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自己指定主機路徑；改 index.html 後重新整理就變。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2BBCA85-DB07-4DC3-B0A4-7495FF97E653}"/>
              </a:ext>
            </a:extLst>
          </p:cNvPr>
          <p:cNvSpPr>
            <a:spLocks noGrp="1"/>
          </p:cNvSpPr>
          <p:nvPr/>
        </p:nvSpPr>
        <p:spPr>
          <a:xfrm>
            <a:off x="6553200" y="1581150"/>
            <a:ext cx="4762500" cy="3352800"/>
          </a:xfrm>
          <a:prstGeom prst="roundRect">
            <a:avLst>
              <a:gd name="adj" fmla="val 3409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8613494-D469-43BF-B521-48AC218C43CA}"/>
              </a:ext>
            </a:extLst>
          </p:cNvPr>
          <p:cNvSpPr>
            <a:spLocks noGrp="1"/>
          </p:cNvSpPr>
          <p:nvPr/>
        </p:nvSpPr>
        <p:spPr>
          <a:xfrm>
            <a:off x="6858000" y="19050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943" lnSpcReduction="1000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Named Volume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2C6EE2D5-CB69-40ED-8096-B293366921BF}"/>
              </a:ext>
            </a:extLst>
          </p:cNvPr>
          <p:cNvSpPr>
            <a:spLocks noGrp="1"/>
          </p:cNvSpPr>
          <p:nvPr/>
        </p:nvSpPr>
        <p:spPr>
          <a:xfrm>
            <a:off x="6972300" y="2533650"/>
            <a:ext cx="3924300" cy="781050"/>
          </a:xfrm>
          <a:prstGeom prst="roundRect">
            <a:avLst>
              <a:gd name="adj" fmla="val 1219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F067D187-5746-496A-ACB9-E76BEB5610E6}"/>
              </a:ext>
            </a:extLst>
          </p:cNvPr>
          <p:cNvSpPr>
            <a:spLocks noGrp="1"/>
          </p:cNvSpPr>
          <p:nvPr/>
        </p:nvSpPr>
        <p:spPr>
          <a:xfrm>
            <a:off x="7143750" y="2695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73BE202C-6A6E-4E0C-B796-FE606F0CC4BF}"/>
              </a:ext>
            </a:extLst>
          </p:cNvPr>
          <p:cNvSpPr>
            <a:spLocks noGrp="1"/>
          </p:cNvSpPr>
          <p:nvPr/>
        </p:nvSpPr>
        <p:spPr>
          <a:xfrm>
            <a:off x="7315200" y="2695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8170033D-4D72-448F-9DCA-669680ADB56A}"/>
              </a:ext>
            </a:extLst>
          </p:cNvPr>
          <p:cNvSpPr>
            <a:spLocks noGrp="1"/>
          </p:cNvSpPr>
          <p:nvPr/>
        </p:nvSpPr>
        <p:spPr>
          <a:xfrm>
            <a:off x="7486650" y="2695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19AB6B0-A934-408C-A974-69FB34C1B414}"/>
              </a:ext>
            </a:extLst>
          </p:cNvPr>
          <p:cNvSpPr>
            <a:spLocks noGrp="1"/>
          </p:cNvSpPr>
          <p:nvPr/>
        </p:nvSpPr>
        <p:spPr>
          <a:xfrm>
            <a:off x="7181850" y="2952750"/>
            <a:ext cx="3505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413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nginx-html:/</a:t>
            </a:r>
            <a:r>
              <a:rPr sz="16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usr</a:t>
            </a: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/share/nginx/html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D1E9158-76CD-49D8-AED6-0CD936DB9367}"/>
              </a:ext>
            </a:extLst>
          </p:cNvPr>
          <p:cNvSpPr>
            <a:spLocks noGrp="1"/>
          </p:cNvSpPr>
          <p:nvPr/>
        </p:nvSpPr>
        <p:spPr>
          <a:xfrm>
            <a:off x="6953250" y="3657600"/>
            <a:ext cx="3810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999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管理資料位置；刪掉 container 後資料仍在。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719426F-CC7E-48B7-ADF2-56049DF0106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76120E6-A423-4D6B-87B0-252637E0C9C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166BC8-6DDB-4E7B-9921-A6F7C04DE66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431294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6C1570E-A905-4F6F-AFCF-B2C9A4CEA20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STEP 0 / BASELINE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BD43A35-7B4A-4F05-A0A2-06766202DA0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先看沒有 Volume 時，修改會消失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EB4FE24-34E7-4D8E-90F9-18FC65B9D509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4381500" cy="2476500"/>
          </a:xfrm>
          <a:prstGeom prst="roundRect">
            <a:avLst>
              <a:gd name="adj" fmla="val 461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D21E977-DF98-4D05-AB73-D57938A81225}"/>
              </a:ext>
            </a:extLst>
          </p:cNvPr>
          <p:cNvSpPr>
            <a:spLocks noGrp="1"/>
          </p:cNvSpPr>
          <p:nvPr/>
        </p:nvSpPr>
        <p:spPr>
          <a:xfrm>
            <a:off x="127635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1. container 內改檔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B6672BF-6E24-4D52-B314-FF30D738BBB5}"/>
              </a:ext>
            </a:extLst>
          </p:cNvPr>
          <p:cNvSpPr>
            <a:spLocks noGrp="1"/>
          </p:cNvSpPr>
          <p:nvPr/>
        </p:nvSpPr>
        <p:spPr>
          <a:xfrm>
            <a:off x="1276350" y="2571750"/>
            <a:ext cx="39243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exec -it nginx-life </a:t>
            </a:r>
            <a:r>
              <a:rPr lang="en-US" sz="165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bash</a:t>
            </a:r>
            <a:endParaRPr sz="1650" b="0" dirty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cd /</a:t>
            </a:r>
            <a:r>
              <a:rPr sz="16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usr</a:t>
            </a:r>
            <a:r>
              <a:rPr sz="16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/share/nginx/html</a:t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echo '&lt;h1&gt;No volume&lt;/h1&gt;' &gt; index.html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0DD3E445-B7CD-4B06-9726-63CF48CE0471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38150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4C72F1D-BF87-43D9-AC1C-1A3FD5FB465E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2. 刪掉重建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024C873-CAAB-4D71-9A8D-7BAB208E352C}"/>
              </a:ext>
            </a:extLst>
          </p:cNvPr>
          <p:cNvSpPr>
            <a:spLocks noGrp="1"/>
          </p:cNvSpPr>
          <p:nvPr/>
        </p:nvSpPr>
        <p:spPr>
          <a:xfrm>
            <a:off x="6991350" y="2571750"/>
            <a:ext cx="39243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rm -f nginx-life</a:t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run -d --name nginx-life -p 9090:80 nginx</a:t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頁面回到預設歡迎頁。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3CCBB83-68CE-4AD1-9B06-EBD67CCB4941}"/>
              </a:ext>
            </a:extLst>
          </p:cNvPr>
          <p:cNvSpPr>
            <a:spLocks noGrp="1"/>
          </p:cNvSpPr>
          <p:nvPr/>
        </p:nvSpPr>
        <p:spPr>
          <a:xfrm>
            <a:off x="1809750" y="514350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結論：container 內修改不是保存資料的方式，接著用 Volume 解決。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4CB4F13-98B4-4CF3-8AA5-E2DDB93EDE6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0F5B65-0FDE-4280-BB73-4673B0E1186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EAEE011-4184-4EDF-9A5E-776956C1636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1865277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F4D6CEAA-13FE-46AF-9D01-97B329D6B0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STEP 1 / HOST FOLDER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4F9E318-79B0-4A17-98BC-8EE508735B6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建立本機網站資料夾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D9E8C46F-9C0C-4F9A-ACAE-BCB36F147AEC}"/>
              </a:ext>
            </a:extLst>
          </p:cNvPr>
          <p:cNvSpPr>
            <a:spLocks noGrp="1"/>
          </p:cNvSpPr>
          <p:nvPr/>
        </p:nvSpPr>
        <p:spPr>
          <a:xfrm>
            <a:off x="857250" y="1447800"/>
            <a:ext cx="4762500" cy="3467100"/>
          </a:xfrm>
          <a:prstGeom prst="roundRect">
            <a:avLst>
              <a:gd name="adj" fmla="val 274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9ADBB957-33CA-4E8F-B722-B805C02D122F}"/>
              </a:ext>
            </a:extLst>
          </p:cNvPr>
          <p:cNvSpPr>
            <a:spLocks noGrp="1"/>
          </p:cNvSpPr>
          <p:nvPr/>
        </p:nvSpPr>
        <p:spPr>
          <a:xfrm>
            <a:off x="10287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6BCF941-E727-4F13-B0D4-727BD2095AF1}"/>
              </a:ext>
            </a:extLst>
          </p:cNvPr>
          <p:cNvSpPr>
            <a:spLocks noGrp="1"/>
          </p:cNvSpPr>
          <p:nvPr/>
        </p:nvSpPr>
        <p:spPr>
          <a:xfrm>
            <a:off x="12001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61347A3-8DEE-466F-9A8B-BE4F06870AEB}"/>
              </a:ext>
            </a:extLst>
          </p:cNvPr>
          <p:cNvSpPr>
            <a:spLocks noGrp="1"/>
          </p:cNvSpPr>
          <p:nvPr/>
        </p:nvSpPr>
        <p:spPr>
          <a:xfrm>
            <a:off x="13716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6A68EB4-8103-4DA1-85B7-3BCE661874C4}"/>
              </a:ext>
            </a:extLst>
          </p:cNvPr>
          <p:cNvSpPr>
            <a:spLocks noGrp="1"/>
          </p:cNvSpPr>
          <p:nvPr/>
        </p:nvSpPr>
        <p:spPr>
          <a:xfrm>
            <a:off x="1066800" y="1866900"/>
            <a:ext cx="4343400" cy="2914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mkdir C:\docker-lab\nginx-site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notepad C:\docker-lab\nginx-site\index.html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DDC86745-C703-4C54-A686-7038B20B4DCA}"/>
              </a:ext>
            </a:extLst>
          </p:cNvPr>
          <p:cNvSpPr>
            <a:spLocks noGrp="1"/>
          </p:cNvSpPr>
          <p:nvPr/>
        </p:nvSpPr>
        <p:spPr>
          <a:xfrm>
            <a:off x="6667500" y="14668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AD4DB3B-1B31-4A6F-887B-2F90BC1B725C}"/>
              </a:ext>
            </a:extLst>
          </p:cNvPr>
          <p:cNvSpPr>
            <a:spLocks noGrp="1"/>
          </p:cNvSpPr>
          <p:nvPr/>
        </p:nvSpPr>
        <p:spPr>
          <a:xfrm>
            <a:off x="6877050" y="16002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mkdir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636ECA2-1B0C-4199-9422-7B9E826CCA8B}"/>
              </a:ext>
            </a:extLst>
          </p:cNvPr>
          <p:cNvSpPr>
            <a:spLocks noGrp="1"/>
          </p:cNvSpPr>
          <p:nvPr/>
        </p:nvSpPr>
        <p:spPr>
          <a:xfrm>
            <a:off x="7848600" y="15906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建立資料夾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7D0E1FDD-161C-48DE-8F81-BFBD63B9D512}"/>
              </a:ext>
            </a:extLst>
          </p:cNvPr>
          <p:cNvSpPr>
            <a:spLocks noGrp="1"/>
          </p:cNvSpPr>
          <p:nvPr/>
        </p:nvSpPr>
        <p:spPr>
          <a:xfrm>
            <a:off x="6667500" y="21907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FC82D15-9E32-4F8C-8044-5172EF32ACAE}"/>
              </a:ext>
            </a:extLst>
          </p:cNvPr>
          <p:cNvSpPr>
            <a:spLocks noGrp="1"/>
          </p:cNvSpPr>
          <p:nvPr/>
        </p:nvSpPr>
        <p:spPr>
          <a:xfrm>
            <a:off x="6877050" y="23241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index.html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B82F332-3B31-4BDB-8F03-F9D1E8D388EE}"/>
              </a:ext>
            </a:extLst>
          </p:cNvPr>
          <p:cNvSpPr>
            <a:spLocks noGrp="1"/>
          </p:cNvSpPr>
          <p:nvPr/>
        </p:nvSpPr>
        <p:spPr>
          <a:xfrm>
            <a:off x="7848600" y="23145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放首頁 HTML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5D4E90E2-00CC-49BE-9D87-D294BEA9C3DC}"/>
              </a:ext>
            </a:extLst>
          </p:cNvPr>
          <p:cNvSpPr>
            <a:spLocks noGrp="1"/>
          </p:cNvSpPr>
          <p:nvPr/>
        </p:nvSpPr>
        <p:spPr>
          <a:xfrm>
            <a:off x="6667500" y="29146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CECA2B0-27F9-4666-8CEC-E4C35BA1D669}"/>
              </a:ext>
            </a:extLst>
          </p:cNvPr>
          <p:cNvSpPr>
            <a:spLocks noGrp="1"/>
          </p:cNvSpPr>
          <p:nvPr/>
        </p:nvSpPr>
        <p:spPr>
          <a:xfrm>
            <a:off x="6877050" y="30480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主機路徑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8BC79F2-C7F8-4A33-ABF1-93E6F0297B01}"/>
              </a:ext>
            </a:extLst>
          </p:cNvPr>
          <p:cNvSpPr>
            <a:spLocks noGrp="1"/>
          </p:cNvSpPr>
          <p:nvPr/>
        </p:nvSpPr>
        <p:spPr>
          <a:xfrm>
            <a:off x="7848600" y="30384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C:\docker-lab\nginx-site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121B2593-5467-48AC-A69A-C45DBE9E0CA5}"/>
              </a:ext>
            </a:extLst>
          </p:cNvPr>
          <p:cNvSpPr>
            <a:spLocks noGrp="1"/>
          </p:cNvSpPr>
          <p:nvPr/>
        </p:nvSpPr>
        <p:spPr>
          <a:xfrm>
            <a:off x="6667500" y="36385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822B2CB-EF0E-44E4-B5B8-90D1945A62F4}"/>
              </a:ext>
            </a:extLst>
          </p:cNvPr>
          <p:cNvSpPr>
            <a:spLocks noGrp="1"/>
          </p:cNvSpPr>
          <p:nvPr/>
        </p:nvSpPr>
        <p:spPr>
          <a:xfrm>
            <a:off x="6877050" y="37719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下一步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EAB3953-14EF-4190-B851-C043808B80A2}"/>
              </a:ext>
            </a:extLst>
          </p:cNvPr>
          <p:cNvSpPr>
            <a:spLocks noGrp="1"/>
          </p:cNvSpPr>
          <p:nvPr/>
        </p:nvSpPr>
        <p:spPr>
          <a:xfrm>
            <a:off x="7848600" y="37623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掛進 nginx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DD4B8CB7-FDBF-4CE1-9CA8-E2252DA01788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B654A56-F597-49E1-859E-1CFB00B939BD}"/>
              </a:ext>
            </a:extLst>
          </p:cNvPr>
          <p:cNvSpPr>
            <a:spLocks noGrp="1"/>
          </p:cNvSpPr>
          <p:nvPr/>
        </p:nvSpPr>
        <p:spPr>
          <a:xfrm>
            <a:off x="6877050" y="44958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先確認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4199914-80E4-42D6-8081-A36560F14049}"/>
              </a:ext>
            </a:extLst>
          </p:cNvPr>
          <p:cNvSpPr>
            <a:spLocks noGrp="1"/>
          </p:cNvSpPr>
          <p:nvPr/>
        </p:nvSpPr>
        <p:spPr>
          <a:xfrm>
            <a:off x="7848600" y="44862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主機上真的有檔案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294137C-540B-4515-A787-783D0998871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0F94CD4-67BF-4C6D-82AB-D571AF30AFF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724C108-4AB8-40B0-A764-EA0AE2EB7A4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788760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FC0D8F44-CB63-4649-B26B-8BEB48828B7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STEP 2 / MOUNTED VOLUME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3FE9034-3667-4485-9FF4-E2C28CC54AC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Mounted Volume（Bind Mount）範例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D1A9C81-A29E-4B56-9498-5896952054FF}"/>
              </a:ext>
            </a:extLst>
          </p:cNvPr>
          <p:cNvSpPr>
            <a:spLocks noGrp="1"/>
          </p:cNvSpPr>
          <p:nvPr/>
        </p:nvSpPr>
        <p:spPr>
          <a:xfrm>
            <a:off x="781050" y="1409700"/>
            <a:ext cx="7239000" cy="4095750"/>
          </a:xfrm>
          <a:prstGeom prst="roundRect">
            <a:avLst>
              <a:gd name="adj" fmla="val 232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1CA2812E-A20A-4138-8B70-EC65E8AE9AF7}"/>
              </a:ext>
            </a:extLst>
          </p:cNvPr>
          <p:cNvSpPr>
            <a:spLocks noGrp="1"/>
          </p:cNvSpPr>
          <p:nvPr/>
        </p:nvSpPr>
        <p:spPr>
          <a:xfrm>
            <a:off x="952500" y="157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9B233235-6A59-4521-8BB4-FE01C7E8D398}"/>
              </a:ext>
            </a:extLst>
          </p:cNvPr>
          <p:cNvSpPr>
            <a:spLocks noGrp="1"/>
          </p:cNvSpPr>
          <p:nvPr/>
        </p:nvSpPr>
        <p:spPr>
          <a:xfrm>
            <a:off x="1123950" y="157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98642376-17AE-465B-AE13-71764AE01E8A}"/>
              </a:ext>
            </a:extLst>
          </p:cNvPr>
          <p:cNvSpPr>
            <a:spLocks noGrp="1"/>
          </p:cNvSpPr>
          <p:nvPr/>
        </p:nvSpPr>
        <p:spPr>
          <a:xfrm>
            <a:off x="1295400" y="157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81AB181-CF37-489D-8E2C-80B234AC1E64}"/>
              </a:ext>
            </a:extLst>
          </p:cNvPr>
          <p:cNvSpPr>
            <a:spLocks noGrp="1"/>
          </p:cNvSpPr>
          <p:nvPr/>
        </p:nvSpPr>
        <p:spPr>
          <a:xfrm>
            <a:off x="990600" y="1828800"/>
            <a:ext cx="6819900" cy="3543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nginx-bind -p 8080:80 \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"C:\docker-lab\nginx-site:/usr/share/nginx/html" nginx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E8D5F5CF-B872-4D4C-AE67-A0208AB391F8}"/>
              </a:ext>
            </a:extLst>
          </p:cNvPr>
          <p:cNvSpPr>
            <a:spLocks noGrp="1"/>
          </p:cNvSpPr>
          <p:nvPr/>
        </p:nvSpPr>
        <p:spPr>
          <a:xfrm>
            <a:off x="8572500" y="1752600"/>
            <a:ext cx="2667000" cy="125730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ED5D20D-B8E4-471C-AECD-EF1E20AD986B}"/>
              </a:ext>
            </a:extLst>
          </p:cNvPr>
          <p:cNvSpPr>
            <a:spLocks noGrp="1"/>
          </p:cNvSpPr>
          <p:nvPr/>
        </p:nvSpPr>
        <p:spPr>
          <a:xfrm>
            <a:off x="8801100" y="19431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3B77B4-0C69-4537-A5B5-58B86E1E45D1}"/>
              </a:ext>
            </a:extLst>
          </p:cNvPr>
          <p:cNvSpPr>
            <a:spLocks noGrp="1"/>
          </p:cNvSpPr>
          <p:nvPr/>
        </p:nvSpPr>
        <p:spPr>
          <a:xfrm>
            <a:off x="8801100" y="2362200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http://localhost:8080 看到本機 index.html。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20BCB907-3DD8-43A1-9417-5608E7FED772}"/>
              </a:ext>
            </a:extLst>
          </p:cNvPr>
          <p:cNvSpPr>
            <a:spLocks noGrp="1"/>
          </p:cNvSpPr>
          <p:nvPr/>
        </p:nvSpPr>
        <p:spPr>
          <a:xfrm>
            <a:off x="8572500" y="3581400"/>
            <a:ext cx="2667000" cy="125730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6FA40FE-1793-467F-A135-F532AD744A1E}"/>
              </a:ext>
            </a:extLst>
          </p:cNvPr>
          <p:cNvSpPr>
            <a:spLocks noGrp="1"/>
          </p:cNvSpPr>
          <p:nvPr/>
        </p:nvSpPr>
        <p:spPr>
          <a:xfrm>
            <a:off x="8801100" y="37719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左右怎麼讀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C03B265-CEED-4FB6-B340-25B038FD926A}"/>
              </a:ext>
            </a:extLst>
          </p:cNvPr>
          <p:cNvSpPr>
            <a:spLocks noGrp="1"/>
          </p:cNvSpPr>
          <p:nvPr/>
        </p:nvSpPr>
        <p:spPr>
          <a:xfrm>
            <a:off x="8801100" y="4191000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左邊是你指定的主機路徑；右邊是 nginx 網頁目錄。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D7C67E3-62A1-4EDE-A3F3-DD0B9B5DBA8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CCE5A85-EE09-40A7-BF39-256241625DB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7E4F8F2-26C3-4B26-BAFA-8336877AF79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418492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14C0BAB9-5DA1-4013-AFE6-DC8531A3B4D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STEP 3 / EDIT HOST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168563F-FA23-4866-955E-97EA5A6AD5F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改本機檔案，瀏覽器直接變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04F07FCC-0AFD-4244-81D7-8CDCB71F1B50}"/>
              </a:ext>
            </a:extLst>
          </p:cNvPr>
          <p:cNvSpPr>
            <a:spLocks noGrp="1"/>
          </p:cNvSpPr>
          <p:nvPr/>
        </p:nvSpPr>
        <p:spPr>
          <a:xfrm>
            <a:off x="1066800" y="1657350"/>
            <a:ext cx="100584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10F3D906-DA1A-4870-98D8-5CD2A538D14F}"/>
              </a:ext>
            </a:extLst>
          </p:cNvPr>
          <p:cNvSpPr>
            <a:spLocks noGrp="1"/>
          </p:cNvSpPr>
          <p:nvPr/>
        </p:nvSpPr>
        <p:spPr>
          <a:xfrm>
            <a:off x="1238250" y="1819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98C95964-BD3B-4310-8E28-6D25696E5FA2}"/>
              </a:ext>
            </a:extLst>
          </p:cNvPr>
          <p:cNvSpPr>
            <a:spLocks noGrp="1"/>
          </p:cNvSpPr>
          <p:nvPr/>
        </p:nvSpPr>
        <p:spPr>
          <a:xfrm>
            <a:off x="1409700" y="1819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B5748FEC-3C20-471C-8B98-05FED1E90154}"/>
              </a:ext>
            </a:extLst>
          </p:cNvPr>
          <p:cNvSpPr>
            <a:spLocks noGrp="1"/>
          </p:cNvSpPr>
          <p:nvPr/>
        </p:nvSpPr>
        <p:spPr>
          <a:xfrm>
            <a:off x="1581150" y="1819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666D246-F6EA-4B78-987D-8C7AC90970FC}"/>
              </a:ext>
            </a:extLst>
          </p:cNvPr>
          <p:cNvSpPr>
            <a:spLocks noGrp="1"/>
          </p:cNvSpPr>
          <p:nvPr/>
        </p:nvSpPr>
        <p:spPr>
          <a:xfrm>
            <a:off x="1276350" y="2076450"/>
            <a:ext cx="9639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 lnSpcReduction="20000"/>
          </a:bodyPr>
          <a:lstStyle/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notepad C:\docker-lab\nginx-site\index.html</a:t>
            </a:r>
          </a:p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修改後重新整理 localhost:8080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3471F0A-008D-47ED-99E9-F7107CBC5642}"/>
              </a:ext>
            </a:extLst>
          </p:cNvPr>
          <p:cNvSpPr>
            <a:spLocks noGrp="1"/>
          </p:cNvSpPr>
          <p:nvPr/>
        </p:nvSpPr>
        <p:spPr>
          <a:xfrm>
            <a:off x="1714500" y="3390900"/>
            <a:ext cx="3714750" cy="1447800"/>
          </a:xfrm>
          <a:prstGeom prst="roundRect">
            <a:avLst>
              <a:gd name="adj" fmla="val 789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D3CBFF4-7FBF-437E-B537-6FE6CDE9B742}"/>
              </a:ext>
            </a:extLst>
          </p:cNvPr>
          <p:cNvSpPr>
            <a:spLocks noGrp="1"/>
          </p:cNvSpPr>
          <p:nvPr/>
        </p:nvSpPr>
        <p:spPr>
          <a:xfrm>
            <a:off x="1943100" y="35814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841" lnSpcReduction="10000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不用 restart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7EFE118-17E7-4ED8-AE7A-F9FDAAC9948B}"/>
              </a:ext>
            </a:extLst>
          </p:cNvPr>
          <p:cNvSpPr>
            <a:spLocks noGrp="1"/>
          </p:cNvSpPr>
          <p:nvPr/>
        </p:nvSpPr>
        <p:spPr>
          <a:xfrm>
            <a:off x="1943100" y="4095750"/>
            <a:ext cx="32575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 每次請求會讀最新靜態檔。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D3FC156-D5BA-45EE-BC7A-81C253C38437}"/>
              </a:ext>
            </a:extLst>
          </p:cNvPr>
          <p:cNvSpPr>
            <a:spLocks noGrp="1"/>
          </p:cNvSpPr>
          <p:nvPr/>
        </p:nvSpPr>
        <p:spPr>
          <a:xfrm>
            <a:off x="6762750" y="3390900"/>
            <a:ext cx="371475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F913451-59AA-41B9-AF8F-C8C781F601B9}"/>
              </a:ext>
            </a:extLst>
          </p:cNvPr>
          <p:cNvSpPr>
            <a:spLocks noGrp="1"/>
          </p:cNvSpPr>
          <p:nvPr/>
        </p:nvSpPr>
        <p:spPr>
          <a:xfrm>
            <a:off x="6991350" y="35814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不用 build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5AB360-F38E-44FC-A1B8-F1226E674CD8}"/>
              </a:ext>
            </a:extLst>
          </p:cNvPr>
          <p:cNvSpPr>
            <a:spLocks noGrp="1"/>
          </p:cNvSpPr>
          <p:nvPr/>
        </p:nvSpPr>
        <p:spPr>
          <a:xfrm>
            <a:off x="6991350" y="4057650"/>
            <a:ext cx="3257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因為改的是主機檔案，不是 image。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CDA1231-8858-45F6-AD2F-0F488E8C232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9E83DCB-0E8E-4B4B-944A-1A2CE596299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52F8620-48F4-4865-8172-10AEE8437F8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14146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3797B32F-0239-44A7-9F06-BD73E3BBC6A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STEP 4 / VERIFY INSIDE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DECF7D-824F-40E4-B9FB-57EF393648E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nginx container 確認掛載結果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456AF28E-96ED-4C68-A4A5-B49133A241D6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6667500" cy="2476500"/>
          </a:xfrm>
          <a:prstGeom prst="roundRect">
            <a:avLst>
              <a:gd name="adj" fmla="val 384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014ECBCB-FB39-4ED6-AEA1-1DD199FAF6D0}"/>
              </a:ext>
            </a:extLst>
          </p:cNvPr>
          <p:cNvSpPr>
            <a:spLocks noGrp="1"/>
          </p:cNvSpPr>
          <p:nvPr/>
        </p:nvSpPr>
        <p:spPr>
          <a:xfrm>
            <a:off x="9906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F88FD85D-CCB2-4DF9-828F-AD8BDEE69CA1}"/>
              </a:ext>
            </a:extLst>
          </p:cNvPr>
          <p:cNvSpPr>
            <a:spLocks noGrp="1"/>
          </p:cNvSpPr>
          <p:nvPr/>
        </p:nvSpPr>
        <p:spPr>
          <a:xfrm>
            <a:off x="11620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CE21DD35-3206-4D2C-B029-2D029A61B04B}"/>
              </a:ext>
            </a:extLst>
          </p:cNvPr>
          <p:cNvSpPr>
            <a:spLocks noGrp="1"/>
          </p:cNvSpPr>
          <p:nvPr/>
        </p:nvSpPr>
        <p:spPr>
          <a:xfrm>
            <a:off x="13335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82571EC-4278-4719-860B-FD7ECEA746B4}"/>
              </a:ext>
            </a:extLst>
          </p:cNvPr>
          <p:cNvSpPr>
            <a:spLocks noGrp="1"/>
          </p:cNvSpPr>
          <p:nvPr/>
        </p:nvSpPr>
        <p:spPr>
          <a:xfrm>
            <a:off x="1028700" y="1981200"/>
            <a:ext cx="6248400" cy="1924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nginx-bind </a:t>
            </a:r>
            <a:r>
              <a:rPr lang="en-US"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bash</a:t>
            </a:r>
            <a:endParaRPr sz="16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</a:t>
            </a:r>
            <a:r>
              <a:rPr sz="16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usr</a:t>
            </a: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/share/nginx/html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260D3C70-AD91-4783-8045-6EA01A755945}"/>
              </a:ext>
            </a:extLst>
          </p:cNvPr>
          <p:cNvSpPr>
            <a:spLocks noGrp="1"/>
          </p:cNvSpPr>
          <p:nvPr/>
        </p:nvSpPr>
        <p:spPr>
          <a:xfrm>
            <a:off x="8001000" y="179070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168AEF-CA31-471F-ACA3-AFFEBBF1E898}"/>
              </a:ext>
            </a:extLst>
          </p:cNvPr>
          <p:cNvSpPr>
            <a:spLocks noGrp="1"/>
          </p:cNvSpPr>
          <p:nvPr/>
        </p:nvSpPr>
        <p:spPr>
          <a:xfrm>
            <a:off x="8229600" y="19812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預期結果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57D4027-6F78-49F6-A6B6-8348F054A43E}"/>
              </a:ext>
            </a:extLst>
          </p:cNvPr>
          <p:cNvSpPr>
            <a:spLocks noGrp="1"/>
          </p:cNvSpPr>
          <p:nvPr/>
        </p:nvSpPr>
        <p:spPr>
          <a:xfrm>
            <a:off x="8229600" y="2457450"/>
            <a:ext cx="24003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81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看到的內容，會和本機 index.html 一樣。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F85BD95-1DC1-4865-BE30-61D1B973B6A2}"/>
              </a:ext>
            </a:extLst>
          </p:cNvPr>
          <p:cNvSpPr>
            <a:spLocks noGrp="1"/>
          </p:cNvSpPr>
          <p:nvPr/>
        </p:nvSpPr>
        <p:spPr>
          <a:xfrm>
            <a:off x="1485900" y="5067300"/>
            <a:ext cx="9220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這一步讓學生看到：container 路徑其實指向主機資料夾。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B188988-033B-4B31-A51C-265A640815F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1B97747-5072-407F-88D8-6183989E46F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D3BA32A-6069-45B9-8457-9234D4F4805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0307995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1BC55781-741D-4296-B4B9-E9AABCA224E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BIND MOUNT MODEL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E9F25F0-F8A4-4889-8C91-73776599E73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-v 看成一條資料通道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4832BCCC-B8F0-4892-8B5C-1910A1A5923E}"/>
              </a:ext>
            </a:extLst>
          </p:cNvPr>
          <p:cNvSpPr>
            <a:spLocks noGrp="1"/>
          </p:cNvSpPr>
          <p:nvPr/>
        </p:nvSpPr>
        <p:spPr>
          <a:xfrm>
            <a:off x="7239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D52F3AD-6C84-4C2E-AE01-4AF310DBA222}"/>
              </a:ext>
            </a:extLst>
          </p:cNvPr>
          <p:cNvSpPr>
            <a:spLocks noGrp="1"/>
          </p:cNvSpPr>
          <p:nvPr/>
        </p:nvSpPr>
        <p:spPr>
          <a:xfrm>
            <a:off x="9525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598FB13-F48A-4C3B-A08D-374176192A87}"/>
              </a:ext>
            </a:extLst>
          </p:cNvPr>
          <p:cNvSpPr>
            <a:spLocks noGrp="1"/>
          </p:cNvSpPr>
          <p:nvPr/>
        </p:nvSpPr>
        <p:spPr>
          <a:xfrm>
            <a:off x="13525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主機路徑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AD36253-6659-46F1-A522-2220D92CBB0F}"/>
              </a:ext>
            </a:extLst>
          </p:cNvPr>
          <p:cNvSpPr>
            <a:spLocks noGrp="1"/>
          </p:cNvSpPr>
          <p:nvPr/>
        </p:nvSpPr>
        <p:spPr>
          <a:xfrm>
            <a:off x="9715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C:\docker-lab\nginx-site</a:t>
            </a:r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E5E97BEF-8F9B-40F7-9D54-09ED8D5996D8}"/>
              </a:ext>
            </a:extLst>
          </p:cNvPr>
          <p:cNvSpPr>
            <a:spLocks noGrp="1"/>
          </p:cNvSpPr>
          <p:nvPr/>
        </p:nvSpPr>
        <p:spPr>
          <a:xfrm>
            <a:off x="31051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A622FFA-AB83-4CDD-A03F-5E72DDECCAF3}"/>
              </a:ext>
            </a:extLst>
          </p:cNvPr>
          <p:cNvSpPr>
            <a:spLocks noGrp="1"/>
          </p:cNvSpPr>
          <p:nvPr/>
        </p:nvSpPr>
        <p:spPr>
          <a:xfrm>
            <a:off x="35052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FCF6562-51D6-4CA4-A43E-AFAE472B2F35}"/>
              </a:ext>
            </a:extLst>
          </p:cNvPr>
          <p:cNvSpPr>
            <a:spLocks noGrp="1"/>
          </p:cNvSpPr>
          <p:nvPr/>
        </p:nvSpPr>
        <p:spPr>
          <a:xfrm>
            <a:off x="37338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42DF4B6-4A70-46B9-B9FE-910DCF9E1F66}"/>
              </a:ext>
            </a:extLst>
          </p:cNvPr>
          <p:cNvSpPr>
            <a:spLocks noGrp="1"/>
          </p:cNvSpPr>
          <p:nvPr/>
        </p:nvSpPr>
        <p:spPr>
          <a:xfrm>
            <a:off x="41338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容器路徑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2B87DD6-3D58-41CF-9BBC-804DC8D37168}"/>
              </a:ext>
            </a:extLst>
          </p:cNvPr>
          <p:cNvSpPr>
            <a:spLocks noGrp="1"/>
          </p:cNvSpPr>
          <p:nvPr/>
        </p:nvSpPr>
        <p:spPr>
          <a:xfrm>
            <a:off x="37528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/usr/share/nginx/html</a:t>
            </a:r>
          </a:p>
        </p:txBody>
      </p:sp>
      <p:sp>
        <p:nvSpPr>
          <p:cNvPr id="12" name="箭號: 向右 11">
            <a:extLst>
              <a:ext uri="{FF2B5EF4-FFF2-40B4-BE49-F238E27FC236}">
                <a16:creationId xmlns:a16="http://schemas.microsoft.com/office/drawing/2014/main" id="{E6CB3918-D3B2-4499-B5FE-B7EB50A4E417}"/>
              </a:ext>
            </a:extLst>
          </p:cNvPr>
          <p:cNvSpPr>
            <a:spLocks noGrp="1"/>
          </p:cNvSpPr>
          <p:nvPr/>
        </p:nvSpPr>
        <p:spPr>
          <a:xfrm>
            <a:off x="58864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D6B41B87-C960-44B6-87F2-1F06D836E0EB}"/>
              </a:ext>
            </a:extLst>
          </p:cNvPr>
          <p:cNvSpPr>
            <a:spLocks noGrp="1"/>
          </p:cNvSpPr>
          <p:nvPr/>
        </p:nvSpPr>
        <p:spPr>
          <a:xfrm>
            <a:off x="62865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DA1BF6E-5F74-4237-8BD3-C2AB40E8E8FB}"/>
              </a:ext>
            </a:extLst>
          </p:cNvPr>
          <p:cNvSpPr>
            <a:spLocks noGrp="1"/>
          </p:cNvSpPr>
          <p:nvPr/>
        </p:nvSpPr>
        <p:spPr>
          <a:xfrm>
            <a:off x="65151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CD2B238-BB89-4D4A-8B08-2B09A8939A3C}"/>
              </a:ext>
            </a:extLst>
          </p:cNvPr>
          <p:cNvSpPr>
            <a:spLocks noGrp="1"/>
          </p:cNvSpPr>
          <p:nvPr/>
        </p:nvSpPr>
        <p:spPr>
          <a:xfrm>
            <a:off x="69151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冒號連接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3E76BD4-ED0B-469A-AFE7-5C942BC9B52A}"/>
              </a:ext>
            </a:extLst>
          </p:cNvPr>
          <p:cNvSpPr>
            <a:spLocks noGrp="1"/>
          </p:cNvSpPr>
          <p:nvPr/>
        </p:nvSpPr>
        <p:spPr>
          <a:xfrm>
            <a:off x="65341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主機:容器</a:t>
            </a:r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2E817B2F-DB22-462C-B17B-41CFABE72E8B}"/>
              </a:ext>
            </a:extLst>
          </p:cNvPr>
          <p:cNvSpPr>
            <a:spLocks noGrp="1"/>
          </p:cNvSpPr>
          <p:nvPr/>
        </p:nvSpPr>
        <p:spPr>
          <a:xfrm>
            <a:off x="86677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59A999A8-3500-4A10-BD16-8A738D25CB2D}"/>
              </a:ext>
            </a:extLst>
          </p:cNvPr>
          <p:cNvSpPr>
            <a:spLocks noGrp="1"/>
          </p:cNvSpPr>
          <p:nvPr/>
        </p:nvSpPr>
        <p:spPr>
          <a:xfrm>
            <a:off x="90678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CD07EFF-C561-48AF-B906-59C16FC0478D}"/>
              </a:ext>
            </a:extLst>
          </p:cNvPr>
          <p:cNvSpPr>
            <a:spLocks noGrp="1"/>
          </p:cNvSpPr>
          <p:nvPr/>
        </p:nvSpPr>
        <p:spPr>
          <a:xfrm>
            <a:off x="92964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00582C1-3637-4532-BE87-8176BF7175A5}"/>
              </a:ext>
            </a:extLst>
          </p:cNvPr>
          <p:cNvSpPr>
            <a:spLocks noGrp="1"/>
          </p:cNvSpPr>
          <p:nvPr/>
        </p:nvSpPr>
        <p:spPr>
          <a:xfrm>
            <a:off x="96964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434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即時同步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39A3F0F-8ED1-46D0-BD5F-29FC145B856A}"/>
              </a:ext>
            </a:extLst>
          </p:cNvPr>
          <p:cNvSpPr>
            <a:spLocks noGrp="1"/>
          </p:cNvSpPr>
          <p:nvPr/>
        </p:nvSpPr>
        <p:spPr>
          <a:xfrm>
            <a:off x="93154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改任何一邊，另一邊看得到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BABF57EF-2972-437D-98AD-96E0A96DFFE8}"/>
              </a:ext>
            </a:extLst>
          </p:cNvPr>
          <p:cNvSpPr>
            <a:spLocks noGrp="1"/>
          </p:cNvSpPr>
          <p:nvPr/>
        </p:nvSpPr>
        <p:spPr>
          <a:xfrm>
            <a:off x="1428750" y="4495800"/>
            <a:ext cx="9334500" cy="1066800"/>
          </a:xfrm>
          <a:prstGeom prst="roundRect">
            <a:avLst>
              <a:gd name="adj" fmla="val 892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4B2EFCB5-5655-4F1F-9767-D46528AEDF35}"/>
              </a:ext>
            </a:extLst>
          </p:cNvPr>
          <p:cNvSpPr>
            <a:spLocks noGrp="1"/>
          </p:cNvSpPr>
          <p:nvPr/>
        </p:nvSpPr>
        <p:spPr>
          <a:xfrm>
            <a:off x="1600200" y="4657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EAD28DA7-930B-4D28-9EDD-9EF049782F1D}"/>
              </a:ext>
            </a:extLst>
          </p:cNvPr>
          <p:cNvSpPr>
            <a:spLocks noGrp="1"/>
          </p:cNvSpPr>
          <p:nvPr/>
        </p:nvSpPr>
        <p:spPr>
          <a:xfrm>
            <a:off x="1771650" y="4657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2E18F97E-F68C-451A-9FAD-47C11485A912}"/>
              </a:ext>
            </a:extLst>
          </p:cNvPr>
          <p:cNvSpPr>
            <a:spLocks noGrp="1"/>
          </p:cNvSpPr>
          <p:nvPr/>
        </p:nvSpPr>
        <p:spPr>
          <a:xfrm>
            <a:off x="1943100" y="4657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89F6EF5-EE1E-4829-811B-BC5A75A2899C}"/>
              </a:ext>
            </a:extLst>
          </p:cNvPr>
          <p:cNvSpPr>
            <a:spLocks noGrp="1"/>
          </p:cNvSpPr>
          <p:nvPr/>
        </p:nvSpPr>
        <p:spPr>
          <a:xfrm>
            <a:off x="1638300" y="4914900"/>
            <a:ext cx="8915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"C:\docker-lab\nginx-site:/usr/share/nginx/html"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8528292-8C2D-4F7D-99C7-447773AB506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7B8D1CF-67E6-4610-944A-E24B235F2E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20A753B-DD95-4D98-BD42-833DF0A038D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9302398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760A7850-C1C9-499C-AFFB-4FF4FB41B55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WRITE BACK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CBA6AB4-8616-4193-8996-818E4ABA26F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反過來：container 裡新增檔案，主機也看得到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FCF6336-2605-4BDC-8DA3-6DD0BA9BF23C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4000500" cy="1428750"/>
          </a:xfrm>
          <a:prstGeom prst="roundRect">
            <a:avLst>
              <a:gd name="adj" fmla="val 66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FA3118F9-C91D-41AC-B728-74D279C9289D}"/>
              </a:ext>
            </a:extLst>
          </p:cNvPr>
          <p:cNvSpPr>
            <a:spLocks noGrp="1"/>
          </p:cNvSpPr>
          <p:nvPr/>
        </p:nvSpPr>
        <p:spPr>
          <a:xfrm>
            <a:off x="9525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3BA9E7AB-7EA7-47D0-98C5-CE14F2F8A17B}"/>
              </a:ext>
            </a:extLst>
          </p:cNvPr>
          <p:cNvSpPr>
            <a:spLocks noGrp="1"/>
          </p:cNvSpPr>
          <p:nvPr/>
        </p:nvSpPr>
        <p:spPr>
          <a:xfrm>
            <a:off x="11239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B3816F38-C1DC-4CE5-8CC9-00D5AA763AA9}"/>
              </a:ext>
            </a:extLst>
          </p:cNvPr>
          <p:cNvSpPr>
            <a:spLocks noGrp="1"/>
          </p:cNvSpPr>
          <p:nvPr/>
        </p:nvSpPr>
        <p:spPr>
          <a:xfrm>
            <a:off x="12954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E0F3E1-2498-44E3-8836-7CA10D6DA16B}"/>
              </a:ext>
            </a:extLst>
          </p:cNvPr>
          <p:cNvSpPr>
            <a:spLocks noGrp="1"/>
          </p:cNvSpPr>
          <p:nvPr/>
        </p:nvSpPr>
        <p:spPr>
          <a:xfrm>
            <a:off x="990600" y="2019300"/>
            <a:ext cx="35814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C:\docker-lab\nginx-site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index.html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test.html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6BCEF44A-58B3-4650-82C9-2BAF1BDCAF18}"/>
              </a:ext>
            </a:extLst>
          </p:cNvPr>
          <p:cNvSpPr>
            <a:spLocks noGrp="1"/>
          </p:cNvSpPr>
          <p:nvPr/>
        </p:nvSpPr>
        <p:spPr>
          <a:xfrm>
            <a:off x="5143500" y="1428750"/>
            <a:ext cx="5905500" cy="3219450"/>
          </a:xfrm>
          <a:prstGeom prst="roundRect">
            <a:avLst>
              <a:gd name="adj" fmla="val 295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626A4787-558A-41B4-829B-CF1C45CA6662}"/>
              </a:ext>
            </a:extLst>
          </p:cNvPr>
          <p:cNvSpPr>
            <a:spLocks noGrp="1"/>
          </p:cNvSpPr>
          <p:nvPr/>
        </p:nvSpPr>
        <p:spPr>
          <a:xfrm>
            <a:off x="53149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3D979B0F-F068-4012-904B-D6F1DAC42050}"/>
              </a:ext>
            </a:extLst>
          </p:cNvPr>
          <p:cNvSpPr>
            <a:spLocks noGrp="1"/>
          </p:cNvSpPr>
          <p:nvPr/>
        </p:nvSpPr>
        <p:spPr>
          <a:xfrm>
            <a:off x="54864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ABC34195-8FA4-4743-BE5D-1498D9EA2BE3}"/>
              </a:ext>
            </a:extLst>
          </p:cNvPr>
          <p:cNvSpPr>
            <a:spLocks noGrp="1"/>
          </p:cNvSpPr>
          <p:nvPr/>
        </p:nvSpPr>
        <p:spPr>
          <a:xfrm>
            <a:off x="56578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4FDD04C-CA99-4D43-A6A9-7F7D27D6B64A}"/>
              </a:ext>
            </a:extLst>
          </p:cNvPr>
          <p:cNvSpPr>
            <a:spLocks noGrp="1"/>
          </p:cNvSpPr>
          <p:nvPr/>
        </p:nvSpPr>
        <p:spPr>
          <a:xfrm>
            <a:off x="5353050" y="1847850"/>
            <a:ext cx="5486400" cy="2667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nginx-bind 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echo '&lt;h1&gt;Created in container&lt;/h1&gt;' &gt; test.html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28213415-2C7A-4019-84E9-ACB253EC4F54}"/>
              </a:ext>
            </a:extLst>
          </p:cNvPr>
          <p:cNvSpPr>
            <a:spLocks noGrp="1"/>
          </p:cNvSpPr>
          <p:nvPr/>
        </p:nvSpPr>
        <p:spPr>
          <a:xfrm>
            <a:off x="781050" y="3657600"/>
            <a:ext cx="4000500" cy="971550"/>
          </a:xfrm>
          <a:prstGeom prst="roundRect">
            <a:avLst>
              <a:gd name="adj" fmla="val 1176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1F2639A-FEE7-4B4D-9AC0-4B29D9CB5330}"/>
              </a:ext>
            </a:extLst>
          </p:cNvPr>
          <p:cNvSpPr>
            <a:spLocks noGrp="1"/>
          </p:cNvSpPr>
          <p:nvPr/>
        </p:nvSpPr>
        <p:spPr>
          <a:xfrm>
            <a:off x="1066800" y="394335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瀏覽器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47DB6DB-FF24-472E-B75B-B9CAD81344F7}"/>
              </a:ext>
            </a:extLst>
          </p:cNvPr>
          <p:cNvSpPr>
            <a:spLocks noGrp="1"/>
          </p:cNvSpPr>
          <p:nvPr/>
        </p:nvSpPr>
        <p:spPr>
          <a:xfrm>
            <a:off x="1066800" y="43053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8080/test.html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F0FB93B-4F4A-4F65-99F3-EE6E0FF5398A}"/>
              </a:ext>
            </a:extLst>
          </p:cNvPr>
          <p:cNvSpPr>
            <a:spLocks noGrp="1"/>
          </p:cNvSpPr>
          <p:nvPr/>
        </p:nvSpPr>
        <p:spPr>
          <a:xfrm>
            <a:off x="1581150" y="5334000"/>
            <a:ext cx="9029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在主機資料夾也會看到 test.html。這就是 bind mount 的雙向同步。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94B0EBE-6DB8-463F-AEFB-6FA2773836E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F78251E-983C-404B-B32B-8598222199D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63BB544-440A-451B-8774-38D2A22DD2F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5249133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1D588C0D-1086-463D-8F48-9C3ECEE3F40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READ-ONLY BIND MOUNT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CC6C7D4-8148-4CF6-8347-2FC835B7BC6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:ro 保護主機檔案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1DBF1A9-4982-4B65-A21E-3273732E21D8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10629900" cy="1562100"/>
          </a:xfrm>
          <a:prstGeom prst="roundRect">
            <a:avLst>
              <a:gd name="adj" fmla="val 609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C7C36A42-7F49-485E-AF9B-9B38F076FBC3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024A3DA-9BDA-4103-9E2F-42BD708CAE6F}"/>
              </a:ext>
            </a:extLst>
          </p:cNvPr>
          <p:cNvSpPr>
            <a:spLocks noGrp="1"/>
          </p:cNvSpPr>
          <p:nvPr/>
        </p:nvSpPr>
        <p:spPr>
          <a:xfrm>
            <a:off x="11239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63B49023-1DA8-4AB8-B7D0-129288686EA7}"/>
              </a:ext>
            </a:extLst>
          </p:cNvPr>
          <p:cNvSpPr>
            <a:spLocks noGrp="1"/>
          </p:cNvSpPr>
          <p:nvPr/>
        </p:nvSpPr>
        <p:spPr>
          <a:xfrm>
            <a:off x="12954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7E90E5D-F702-4C59-91B6-E2D6121634BC}"/>
              </a:ext>
            </a:extLst>
          </p:cNvPr>
          <p:cNvSpPr>
            <a:spLocks noGrp="1"/>
          </p:cNvSpPr>
          <p:nvPr/>
        </p:nvSpPr>
        <p:spPr>
          <a:xfrm>
            <a:off x="990600" y="2114550"/>
            <a:ext cx="102108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nginx-bind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</a:t>
            </a:r>
            <a:r>
              <a:rPr sz="18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-p 808</a:t>
            </a:r>
            <a:r>
              <a:rPr lang="en-US"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:80 \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"C:\docker-lab\nginx-site:/usr/share/nginx/html:ro" nginx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DCCCC195-9004-409F-9481-9BB9B2135FC3}"/>
              </a:ext>
            </a:extLst>
          </p:cNvPr>
          <p:cNvSpPr>
            <a:spLocks noGrp="1"/>
          </p:cNvSpPr>
          <p:nvPr/>
        </p:nvSpPr>
        <p:spPr>
          <a:xfrm>
            <a:off x="6667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2F2B44A-B494-4449-8FC9-265BEC437C1C}"/>
              </a:ext>
            </a:extLst>
          </p:cNvPr>
          <p:cNvSpPr>
            <a:spLocks noGrp="1"/>
          </p:cNvSpPr>
          <p:nvPr/>
        </p:nvSpPr>
        <p:spPr>
          <a:xfrm>
            <a:off x="8191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:ro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56CBD1B-58DB-41D0-9EF3-9D28D2F39162}"/>
              </a:ext>
            </a:extLst>
          </p:cNvPr>
          <p:cNvSpPr>
            <a:spLocks noGrp="1"/>
          </p:cNvSpPr>
          <p:nvPr/>
        </p:nvSpPr>
        <p:spPr>
          <a:xfrm>
            <a:off x="8191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read-only，只能讀。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9C82F5E-8472-4EFD-ABC8-50EFFB8E6C77}"/>
              </a:ext>
            </a:extLst>
          </p:cNvPr>
          <p:cNvSpPr>
            <a:spLocks noGrp="1"/>
          </p:cNvSpPr>
          <p:nvPr/>
        </p:nvSpPr>
        <p:spPr>
          <a:xfrm>
            <a:off x="29146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F490EA1-A619-41A4-BA45-04DD0828D72A}"/>
              </a:ext>
            </a:extLst>
          </p:cNvPr>
          <p:cNvSpPr>
            <a:spLocks noGrp="1"/>
          </p:cNvSpPr>
          <p:nvPr/>
        </p:nvSpPr>
        <p:spPr>
          <a:xfrm>
            <a:off x="30670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8081:80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DF406FA-6C81-4E3E-AAC1-78F19B263498}"/>
              </a:ext>
            </a:extLst>
          </p:cNvPr>
          <p:cNvSpPr>
            <a:spLocks noGrp="1"/>
          </p:cNvSpPr>
          <p:nvPr/>
        </p:nvSpPr>
        <p:spPr>
          <a:xfrm>
            <a:off x="30670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避免和 8080 衝突。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FD132BF9-85B0-47E7-A257-3B5A4A2C1172}"/>
              </a:ext>
            </a:extLst>
          </p:cNvPr>
          <p:cNvSpPr>
            <a:spLocks noGrp="1"/>
          </p:cNvSpPr>
          <p:nvPr/>
        </p:nvSpPr>
        <p:spPr>
          <a:xfrm>
            <a:off x="51625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713E350-6306-4E93-ACEA-58E8EEAD0310}"/>
              </a:ext>
            </a:extLst>
          </p:cNvPr>
          <p:cNvSpPr>
            <a:spLocks noGrp="1"/>
          </p:cNvSpPr>
          <p:nvPr/>
        </p:nvSpPr>
        <p:spPr>
          <a:xfrm>
            <a:off x="53149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-v ...:ro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51E60B3-17DA-4815-969C-17E0AD093565}"/>
              </a:ext>
            </a:extLst>
          </p:cNvPr>
          <p:cNvSpPr>
            <a:spLocks noGrp="1"/>
          </p:cNvSpPr>
          <p:nvPr/>
        </p:nvSpPr>
        <p:spPr>
          <a:xfrm>
            <a:off x="53149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主機資料夾仍是來源。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C4EBFC63-96B2-4185-8B33-E9388C5381FF}"/>
              </a:ext>
            </a:extLst>
          </p:cNvPr>
          <p:cNvSpPr>
            <a:spLocks noGrp="1"/>
          </p:cNvSpPr>
          <p:nvPr/>
        </p:nvSpPr>
        <p:spPr>
          <a:xfrm>
            <a:off x="74104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6F70A03-D530-4279-8E81-B3CF8A509A56}"/>
              </a:ext>
            </a:extLst>
          </p:cNvPr>
          <p:cNvSpPr>
            <a:spLocks noGrp="1"/>
          </p:cNvSpPr>
          <p:nvPr/>
        </p:nvSpPr>
        <p:spPr>
          <a:xfrm>
            <a:off x="75628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nginx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8686C07-541A-4824-8C8D-155D6E8CEC8E}"/>
              </a:ext>
            </a:extLst>
          </p:cNvPr>
          <p:cNvSpPr>
            <a:spLocks noGrp="1"/>
          </p:cNvSpPr>
          <p:nvPr/>
        </p:nvSpPr>
        <p:spPr>
          <a:xfrm>
            <a:off x="75628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仍然只用 nginx。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92452A3E-CD81-4672-A76F-516191DDB81E}"/>
              </a:ext>
            </a:extLst>
          </p:cNvPr>
          <p:cNvSpPr>
            <a:spLocks noGrp="1"/>
          </p:cNvSpPr>
          <p:nvPr/>
        </p:nvSpPr>
        <p:spPr>
          <a:xfrm>
            <a:off x="96583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3F2E603-AE1F-469A-A237-5488AE139752}"/>
              </a:ext>
            </a:extLst>
          </p:cNvPr>
          <p:cNvSpPr>
            <a:spLocks noGrp="1"/>
          </p:cNvSpPr>
          <p:nvPr/>
        </p:nvSpPr>
        <p:spPr>
          <a:xfrm>
            <a:off x="98107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測試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C6E512E-5A04-413D-8F34-A63D33E5BEC7}"/>
              </a:ext>
            </a:extLst>
          </p:cNvPr>
          <p:cNvSpPr>
            <a:spLocks noGrp="1"/>
          </p:cNvSpPr>
          <p:nvPr/>
        </p:nvSpPr>
        <p:spPr>
          <a:xfrm>
            <a:off x="98107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進容器寫檔會失敗。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8285902-20C3-425A-BEA9-A97FB654B15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B3B7729-D227-49DB-904A-B7E2AEF2202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0E835CD-1CEA-4EA8-91E6-05EA51A8DE2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711179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0B5A18FF-F467-4E52-A552-3AB58D92204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 EXAMPLE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F315210-846F-4758-9E12-0F743F42BF2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Named Volume 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範例：資料交給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Docker 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管理</a:t>
            </a:r>
            <a:endParaRPr sz="2850" b="1" dirty="0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51F89C4-80EB-4BF6-BFBC-56737C6BFB6B}"/>
              </a:ext>
            </a:extLst>
          </p:cNvPr>
          <p:cNvSpPr>
            <a:spLocks noGrp="1"/>
          </p:cNvSpPr>
          <p:nvPr/>
        </p:nvSpPr>
        <p:spPr>
          <a:xfrm>
            <a:off x="990599" y="1714499"/>
            <a:ext cx="5307169" cy="1543855"/>
          </a:xfrm>
          <a:prstGeom prst="roundRect">
            <a:avLst>
              <a:gd name="adj" fmla="val 793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6588DAD-77DC-4BBF-83D2-4F1DCD63210B}"/>
              </a:ext>
            </a:extLst>
          </p:cNvPr>
          <p:cNvSpPr>
            <a:spLocks noGrp="1"/>
          </p:cNvSpPr>
          <p:nvPr/>
        </p:nvSpPr>
        <p:spPr>
          <a:xfrm>
            <a:off x="1162050" y="1876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8FAE7C0D-44AF-445E-8CF9-7EA1EC1BCD0F}"/>
              </a:ext>
            </a:extLst>
          </p:cNvPr>
          <p:cNvSpPr>
            <a:spLocks noGrp="1"/>
          </p:cNvSpPr>
          <p:nvPr/>
        </p:nvSpPr>
        <p:spPr>
          <a:xfrm>
            <a:off x="1333500" y="1876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2836792-E9E1-4D63-98C7-4DE22D065B20}"/>
              </a:ext>
            </a:extLst>
          </p:cNvPr>
          <p:cNvSpPr>
            <a:spLocks noGrp="1"/>
          </p:cNvSpPr>
          <p:nvPr/>
        </p:nvSpPr>
        <p:spPr>
          <a:xfrm>
            <a:off x="1504950" y="1876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57BA536-48C6-4E69-B9DE-9FA83B670A19}"/>
              </a:ext>
            </a:extLst>
          </p:cNvPr>
          <p:cNvSpPr>
            <a:spLocks noGrp="1"/>
          </p:cNvSpPr>
          <p:nvPr/>
        </p:nvSpPr>
        <p:spPr>
          <a:xfrm>
            <a:off x="1200150" y="2133600"/>
            <a:ext cx="5097618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nginx-html</a:t>
            </a:r>
          </a:p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ls</a:t>
            </a: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6BCE6274-AE98-43A7-AB42-87E1DF771558}"/>
              </a:ext>
            </a:extLst>
          </p:cNvPr>
          <p:cNvSpPr>
            <a:spLocks noGrp="1"/>
          </p:cNvSpPr>
          <p:nvPr/>
        </p:nvSpPr>
        <p:spPr>
          <a:xfrm>
            <a:off x="6134100" y="2149699"/>
            <a:ext cx="1047750" cy="4000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7AA3EE14-706D-4DBD-8AD9-78FD3CBBBD80}"/>
              </a:ext>
            </a:extLst>
          </p:cNvPr>
          <p:cNvSpPr>
            <a:spLocks noGrp="1"/>
          </p:cNvSpPr>
          <p:nvPr/>
        </p:nvSpPr>
        <p:spPr>
          <a:xfrm>
            <a:off x="7334250" y="1581150"/>
            <a:ext cx="3371850" cy="1447800"/>
          </a:xfrm>
          <a:prstGeom prst="roundRect">
            <a:avLst>
              <a:gd name="adj" fmla="val 789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64500DD-6517-49A9-9818-A27009EA1960}"/>
              </a:ext>
            </a:extLst>
          </p:cNvPr>
          <p:cNvSpPr>
            <a:spLocks noGrp="1"/>
          </p:cNvSpPr>
          <p:nvPr/>
        </p:nvSpPr>
        <p:spPr>
          <a:xfrm>
            <a:off x="7639050" y="18859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 dirty="0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適</a:t>
            </a:r>
            <a:r>
              <a:rPr lang="zh-TW" altLang="en-US" sz="2025" b="1" dirty="0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合場</a:t>
            </a:r>
            <a:r>
              <a:rPr sz="2025" b="1" dirty="0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景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DE4F34B-6BB9-4477-A179-739C76934C6A}"/>
              </a:ext>
            </a:extLst>
          </p:cNvPr>
          <p:cNvSpPr>
            <a:spLocks noGrp="1"/>
          </p:cNvSpPr>
          <p:nvPr/>
        </p:nvSpPr>
        <p:spPr>
          <a:xfrm>
            <a:off x="7639050" y="2400300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不想綁死在主機路徑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DAC02B8-2F3C-4E74-9F9B-E1D4B5B9A244}"/>
              </a:ext>
            </a:extLst>
          </p:cNvPr>
          <p:cNvSpPr>
            <a:spLocks noGrp="1"/>
          </p:cNvSpPr>
          <p:nvPr/>
        </p:nvSpPr>
        <p:spPr>
          <a:xfrm>
            <a:off x="2038350" y="3733800"/>
            <a:ext cx="8115300" cy="933450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E9DFE3A-0ED2-465D-9070-7498E9AF0EFC}"/>
              </a:ext>
            </a:extLst>
          </p:cNvPr>
          <p:cNvSpPr>
            <a:spLocks noGrp="1"/>
          </p:cNvSpPr>
          <p:nvPr/>
        </p:nvSpPr>
        <p:spPr>
          <a:xfrm>
            <a:off x="2381250" y="401955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你只給 volume 名稱，實際位置由 Docker 管理。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F177C4-FC6E-4A02-BCAF-E397CACA2C8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79E08A9-080D-4A33-84D7-29088A5AC93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8F27D93-F356-4DAE-870D-C40318A986B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311843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44A16C19-D850-40F2-B465-2C0C03149528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1F28011-60F7-4C9A-92BF-56D933D1579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範例程式碼：Named Volume 完整範例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7548DC3-B658-4372-9782-A1EB35EC5789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37CD9518-26AD-4F1F-976E-EA80E8C0EEDD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633D0A5F-B94C-4342-8BEE-C46D70A8897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101566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nginx-html</a:t>
            </a:r>
          </a:p>
          <a:p>
            <a:r>
              <a:rPr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nginx-volume -p 808</a:t>
            </a: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:80 -v nginx</a:t>
            </a: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altLang="zh-TW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\</a:t>
            </a:r>
            <a:endParaRPr lang="en-US" sz="20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-html:/</a:t>
            </a:r>
            <a:r>
              <a:rPr sz="20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usr</a:t>
            </a:r>
            <a:r>
              <a:rPr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/share/nginx/html nginx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8523055-8D20-471C-916F-9934EAB60D44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7F296DFE-1CCC-4E53-970F-49E6AE04AD7D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5079824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F8F8C8CE-A6F6-4E18-8148-2C59706E02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 PERSISTENCE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957E0A6-1985-40F5-8B03-48BC0D221B9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 container，Named Volume 仍然保留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5DD52B9-E368-4B7A-91D0-F058898C74A6}"/>
              </a:ext>
            </a:extLst>
          </p:cNvPr>
          <p:cNvSpPr>
            <a:spLocks noGrp="1"/>
          </p:cNvSpPr>
          <p:nvPr/>
        </p:nvSpPr>
        <p:spPr>
          <a:xfrm>
            <a:off x="819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A06AED9-630F-4B06-ACF3-0ADDCF191A47}"/>
              </a:ext>
            </a:extLst>
          </p:cNvPr>
          <p:cNvSpPr>
            <a:spLocks noGrp="1"/>
          </p:cNvSpPr>
          <p:nvPr/>
        </p:nvSpPr>
        <p:spPr>
          <a:xfrm>
            <a:off x="1009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466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Volume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3CBC7F7-FCED-46F1-8AF7-C6C3A14A1077}"/>
              </a:ext>
            </a:extLst>
          </p:cNvPr>
          <p:cNvSpPr>
            <a:spLocks noGrp="1"/>
          </p:cNvSpPr>
          <p:nvPr/>
        </p:nvSpPr>
        <p:spPr>
          <a:xfrm>
            <a:off x="1009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volume create nginx-html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920720C4-A6C7-4DFD-BB25-26B54EA904A9}"/>
              </a:ext>
            </a:extLst>
          </p:cNvPr>
          <p:cNvSpPr>
            <a:spLocks noGrp="1"/>
          </p:cNvSpPr>
          <p:nvPr/>
        </p:nvSpPr>
        <p:spPr>
          <a:xfrm>
            <a:off x="2990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0373C964-B841-47C9-A8F5-361615BDD92F}"/>
              </a:ext>
            </a:extLst>
          </p:cNvPr>
          <p:cNvSpPr>
            <a:spLocks noGrp="1"/>
          </p:cNvSpPr>
          <p:nvPr/>
        </p:nvSpPr>
        <p:spPr>
          <a:xfrm>
            <a:off x="3486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E0B9C5-E1FC-4684-9DD9-94D28B855E74}"/>
              </a:ext>
            </a:extLst>
          </p:cNvPr>
          <p:cNvSpPr>
            <a:spLocks noGrp="1"/>
          </p:cNvSpPr>
          <p:nvPr/>
        </p:nvSpPr>
        <p:spPr>
          <a:xfrm>
            <a:off x="3676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434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第一個 Nginx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DB0018C-920F-460E-BD73-FBDFE9AA2A18}"/>
              </a:ext>
            </a:extLst>
          </p:cNvPr>
          <p:cNvSpPr>
            <a:spLocks noGrp="1"/>
          </p:cNvSpPr>
          <p:nvPr/>
        </p:nvSpPr>
        <p:spPr>
          <a:xfrm>
            <a:off x="3676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nginx-html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67014229-8346-472F-9845-4AC6CA2D39AE}"/>
              </a:ext>
            </a:extLst>
          </p:cNvPr>
          <p:cNvSpPr>
            <a:spLocks noGrp="1"/>
          </p:cNvSpPr>
          <p:nvPr/>
        </p:nvSpPr>
        <p:spPr>
          <a:xfrm>
            <a:off x="5657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9BEA623-0B51-4903-95E7-AAF30DF0D115}"/>
              </a:ext>
            </a:extLst>
          </p:cNvPr>
          <p:cNvSpPr>
            <a:spLocks noGrp="1"/>
          </p:cNvSpPr>
          <p:nvPr/>
        </p:nvSpPr>
        <p:spPr>
          <a:xfrm>
            <a:off x="6153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105A29F-B7A3-411E-A5A2-1EAD5BAADFE8}"/>
              </a:ext>
            </a:extLst>
          </p:cNvPr>
          <p:cNvSpPr>
            <a:spLocks noGrp="1"/>
          </p:cNvSpPr>
          <p:nvPr/>
        </p:nvSpPr>
        <p:spPr>
          <a:xfrm>
            <a:off x="6343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 container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4030CF3-D7EE-4F7C-82DF-898A00AE04DB}"/>
              </a:ext>
            </a:extLst>
          </p:cNvPr>
          <p:cNvSpPr>
            <a:spLocks noGrp="1"/>
          </p:cNvSpPr>
          <p:nvPr/>
        </p:nvSpPr>
        <p:spPr>
          <a:xfrm>
            <a:off x="6343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rm -f nginx-volume</a:t>
            </a:r>
          </a:p>
        </p:txBody>
      </p:sp>
      <p:sp>
        <p:nvSpPr>
          <p:cNvPr id="14" name="箭號: 向右 13">
            <a:extLst>
              <a:ext uri="{FF2B5EF4-FFF2-40B4-BE49-F238E27FC236}">
                <a16:creationId xmlns:a16="http://schemas.microsoft.com/office/drawing/2014/main" id="{E78C6440-E8E2-4FE4-8DAA-AE54592D016D}"/>
              </a:ext>
            </a:extLst>
          </p:cNvPr>
          <p:cNvSpPr>
            <a:spLocks noGrp="1"/>
          </p:cNvSpPr>
          <p:nvPr/>
        </p:nvSpPr>
        <p:spPr>
          <a:xfrm>
            <a:off x="8324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5BCF39CE-2282-4200-A0B1-2E0E6B423601}"/>
              </a:ext>
            </a:extLst>
          </p:cNvPr>
          <p:cNvSpPr>
            <a:spLocks noGrp="1"/>
          </p:cNvSpPr>
          <p:nvPr/>
        </p:nvSpPr>
        <p:spPr>
          <a:xfrm>
            <a:off x="8820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6F7AAAC-41C8-4C0C-9E94-4C1A81F6ED97}"/>
              </a:ext>
            </a:extLst>
          </p:cNvPr>
          <p:cNvSpPr>
            <a:spLocks noGrp="1"/>
          </p:cNvSpPr>
          <p:nvPr/>
        </p:nvSpPr>
        <p:spPr>
          <a:xfrm>
            <a:off x="9010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第二個 Nginx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256836-B6EF-46FB-A913-03140300E514}"/>
              </a:ext>
            </a:extLst>
          </p:cNvPr>
          <p:cNvSpPr>
            <a:spLocks noGrp="1"/>
          </p:cNvSpPr>
          <p:nvPr/>
        </p:nvSpPr>
        <p:spPr>
          <a:xfrm>
            <a:off x="9010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掛同一個 volume，頁面還在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E90FEC40-3864-4FED-9F9B-EBF98892F22B}"/>
              </a:ext>
            </a:extLst>
          </p:cNvPr>
          <p:cNvSpPr>
            <a:spLocks noGrp="1"/>
          </p:cNvSpPr>
          <p:nvPr/>
        </p:nvSpPr>
        <p:spPr>
          <a:xfrm>
            <a:off x="2895600" y="4514850"/>
            <a:ext cx="6400800" cy="838200"/>
          </a:xfrm>
          <a:prstGeom prst="roundRect">
            <a:avLst>
              <a:gd name="adj" fmla="val 113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800EA3C0-67EF-4A8D-B5F1-5506015C60A4}"/>
              </a:ext>
            </a:extLst>
          </p:cNvPr>
          <p:cNvSpPr>
            <a:spLocks noGrp="1"/>
          </p:cNvSpPr>
          <p:nvPr/>
        </p:nvSpPr>
        <p:spPr>
          <a:xfrm>
            <a:off x="3067050" y="4676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FDC95D0D-6AA7-46DD-BF7E-DFF3055461F3}"/>
              </a:ext>
            </a:extLst>
          </p:cNvPr>
          <p:cNvSpPr>
            <a:spLocks noGrp="1"/>
          </p:cNvSpPr>
          <p:nvPr/>
        </p:nvSpPr>
        <p:spPr>
          <a:xfrm>
            <a:off x="3238500" y="4676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5B9E65A1-7446-4234-A4D9-254422BB29A4}"/>
              </a:ext>
            </a:extLst>
          </p:cNvPr>
          <p:cNvSpPr>
            <a:spLocks noGrp="1"/>
          </p:cNvSpPr>
          <p:nvPr/>
        </p:nvSpPr>
        <p:spPr>
          <a:xfrm>
            <a:off x="3409950" y="4676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3D75165-51A8-4FE7-9DA0-0EFD863BF4B1}"/>
              </a:ext>
            </a:extLst>
          </p:cNvPr>
          <p:cNvSpPr>
            <a:spLocks noGrp="1"/>
          </p:cNvSpPr>
          <p:nvPr/>
        </p:nvSpPr>
        <p:spPr>
          <a:xfrm>
            <a:off x="3105150" y="4933950"/>
            <a:ext cx="5981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154"/>
          </a:bodyPr>
          <a:lstStyle/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nginx-html:/usr/share/nginx/html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E9B8279-FB1E-4E70-BF16-0FCAE4802F3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F6684E8-B82F-4093-A076-888F3A5A811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8CBA926-E5FF-43D6-AC83-8CB7107F970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2102831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C81693EB-055B-41CD-8EB6-06BC138AD1D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P3 / Q4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78A9C38-3CBF-4188-A6CD-AA45C29E534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P3：Named Volume 持久化</a:t>
            </a:r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88C7A063-0CC1-4F3F-A4F3-51A4939D79A8}"/>
              </a:ext>
            </a:extLst>
          </p:cNvPr>
          <p:cNvSpPr>
            <a:spLocks noGrp="1"/>
          </p:cNvSpPr>
          <p:nvPr/>
        </p:nvSpPr>
        <p:spPr>
          <a:xfrm>
            <a:off x="1066800" y="158115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6FE3E26-60F4-40E7-98C7-452ADAE7242C}"/>
              </a:ext>
            </a:extLst>
          </p:cNvPr>
          <p:cNvSpPr>
            <a:spLocks noGrp="1"/>
          </p:cNvSpPr>
          <p:nvPr/>
        </p:nvSpPr>
        <p:spPr>
          <a:xfrm>
            <a:off x="1066800" y="16859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4594B3E-ADB0-4731-B7CB-340345413A8A}"/>
              </a:ext>
            </a:extLst>
          </p:cNvPr>
          <p:cNvSpPr>
            <a:spLocks noGrp="1"/>
          </p:cNvSpPr>
          <p:nvPr/>
        </p:nvSpPr>
        <p:spPr>
          <a:xfrm>
            <a:off x="1657350" y="15906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create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4767E6C-963B-49FA-A0A2-A099C5E97D84}"/>
              </a:ext>
            </a:extLst>
          </p:cNvPr>
          <p:cNvSpPr>
            <a:spLocks noGrp="1"/>
          </p:cNvSpPr>
          <p:nvPr/>
        </p:nvSpPr>
        <p:spPr>
          <a:xfrm>
            <a:off x="1657350" y="19240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volume create nginx-html</a:t>
            </a:r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D2374F5C-2EEC-45E8-A45F-00B40E9F11B6}"/>
              </a:ext>
            </a:extLst>
          </p:cNvPr>
          <p:cNvSpPr>
            <a:spLocks noGrp="1"/>
          </p:cNvSpPr>
          <p:nvPr/>
        </p:nvSpPr>
        <p:spPr>
          <a:xfrm>
            <a:off x="6438900" y="158115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5886C95-5D46-4C2F-B20B-C3A98801E438}"/>
              </a:ext>
            </a:extLst>
          </p:cNvPr>
          <p:cNvSpPr>
            <a:spLocks noGrp="1"/>
          </p:cNvSpPr>
          <p:nvPr/>
        </p:nvSpPr>
        <p:spPr>
          <a:xfrm>
            <a:off x="6438900" y="16859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6CE495D-714E-4F24-8F7E-71BE03C9B49B}"/>
              </a:ext>
            </a:extLst>
          </p:cNvPr>
          <p:cNvSpPr>
            <a:spLocks noGrp="1"/>
          </p:cNvSpPr>
          <p:nvPr/>
        </p:nvSpPr>
        <p:spPr>
          <a:xfrm>
            <a:off x="7029450" y="15906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D968CC0-B676-4D93-A8CA-1557EF129226}"/>
              </a:ext>
            </a:extLst>
          </p:cNvPr>
          <p:cNvSpPr>
            <a:spLocks noGrp="1"/>
          </p:cNvSpPr>
          <p:nvPr/>
        </p:nvSpPr>
        <p:spPr>
          <a:xfrm>
            <a:off x="7029450" y="19240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nginx-volume + 8082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DA07908A-E6A1-4B33-87D1-574905F479A1}"/>
              </a:ext>
            </a:extLst>
          </p:cNvPr>
          <p:cNvSpPr>
            <a:spLocks noGrp="1"/>
          </p:cNvSpPr>
          <p:nvPr/>
        </p:nvSpPr>
        <p:spPr>
          <a:xfrm>
            <a:off x="1066800" y="270510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1E9BB12-7E79-4963-9E47-9DDCEF925F59}"/>
              </a:ext>
            </a:extLst>
          </p:cNvPr>
          <p:cNvSpPr>
            <a:spLocks noGrp="1"/>
          </p:cNvSpPr>
          <p:nvPr/>
        </p:nvSpPr>
        <p:spPr>
          <a:xfrm>
            <a:off x="1066800" y="280987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C8E811D-DB68-46D7-8E4C-41D362D708A7}"/>
              </a:ext>
            </a:extLst>
          </p:cNvPr>
          <p:cNvSpPr>
            <a:spLocks noGrp="1"/>
          </p:cNvSpPr>
          <p:nvPr/>
        </p:nvSpPr>
        <p:spPr>
          <a:xfrm>
            <a:off x="1657350" y="27146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write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311D1C9-EAE5-4E5B-9C4F-E0668193A807}"/>
              </a:ext>
            </a:extLst>
          </p:cNvPr>
          <p:cNvSpPr>
            <a:spLocks noGrp="1"/>
          </p:cNvSpPr>
          <p:nvPr/>
        </p:nvSpPr>
        <p:spPr>
          <a:xfrm>
            <a:off x="1657350" y="30480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echo 寫入 index.html</a:t>
            </a:r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B4897915-FA40-41F1-9B36-EBAE5B132C41}"/>
              </a:ext>
            </a:extLst>
          </p:cNvPr>
          <p:cNvSpPr>
            <a:spLocks noGrp="1"/>
          </p:cNvSpPr>
          <p:nvPr/>
        </p:nvSpPr>
        <p:spPr>
          <a:xfrm>
            <a:off x="6438900" y="270510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BB90314-3EE4-4BF1-933C-FAF8B80F06D9}"/>
              </a:ext>
            </a:extLst>
          </p:cNvPr>
          <p:cNvSpPr>
            <a:spLocks noGrp="1"/>
          </p:cNvSpPr>
          <p:nvPr/>
        </p:nvSpPr>
        <p:spPr>
          <a:xfrm>
            <a:off x="6438900" y="280987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D00B2A0-F38A-4300-B2A2-765A03E2AF2D}"/>
              </a:ext>
            </a:extLst>
          </p:cNvPr>
          <p:cNvSpPr>
            <a:spLocks noGrp="1"/>
          </p:cNvSpPr>
          <p:nvPr/>
        </p:nvSpPr>
        <p:spPr>
          <a:xfrm>
            <a:off x="7029450" y="27146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rm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5ECA772-7A5D-4708-BF2D-D17D20181711}"/>
              </a:ext>
            </a:extLst>
          </p:cNvPr>
          <p:cNvSpPr>
            <a:spLocks noGrp="1"/>
          </p:cNvSpPr>
          <p:nvPr/>
        </p:nvSpPr>
        <p:spPr>
          <a:xfrm>
            <a:off x="7029450" y="30480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刪掉 container</a:t>
            </a: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179653DF-ED1A-4152-BFE4-0A949CF23E11}"/>
              </a:ext>
            </a:extLst>
          </p:cNvPr>
          <p:cNvSpPr>
            <a:spLocks noGrp="1"/>
          </p:cNvSpPr>
          <p:nvPr/>
        </p:nvSpPr>
        <p:spPr>
          <a:xfrm>
            <a:off x="1066800" y="382905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7B50B6B-E296-4ADE-9661-656745DC3218}"/>
              </a:ext>
            </a:extLst>
          </p:cNvPr>
          <p:cNvSpPr>
            <a:spLocks noGrp="1"/>
          </p:cNvSpPr>
          <p:nvPr/>
        </p:nvSpPr>
        <p:spPr>
          <a:xfrm>
            <a:off x="1066800" y="39338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A2DC5D7-7023-484D-B562-8A63C9E91F27}"/>
              </a:ext>
            </a:extLst>
          </p:cNvPr>
          <p:cNvSpPr>
            <a:spLocks noGrp="1"/>
          </p:cNvSpPr>
          <p:nvPr/>
        </p:nvSpPr>
        <p:spPr>
          <a:xfrm>
            <a:off x="1657350" y="38385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run again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9A48B75-E7B6-4166-800B-8522D6EB2C6C}"/>
              </a:ext>
            </a:extLst>
          </p:cNvPr>
          <p:cNvSpPr>
            <a:spLocks noGrp="1"/>
          </p:cNvSpPr>
          <p:nvPr/>
        </p:nvSpPr>
        <p:spPr>
          <a:xfrm>
            <a:off x="1657350" y="41719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掛同一個 volume</a:t>
            </a:r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88DB143E-916A-48DE-B73F-262EF3B7CDA5}"/>
              </a:ext>
            </a:extLst>
          </p:cNvPr>
          <p:cNvSpPr>
            <a:spLocks noGrp="1"/>
          </p:cNvSpPr>
          <p:nvPr/>
        </p:nvSpPr>
        <p:spPr>
          <a:xfrm>
            <a:off x="6438900" y="382905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24A5635-CF69-4B82-9DBB-905A92C6B385}"/>
              </a:ext>
            </a:extLst>
          </p:cNvPr>
          <p:cNvSpPr>
            <a:spLocks noGrp="1"/>
          </p:cNvSpPr>
          <p:nvPr/>
        </p:nvSpPr>
        <p:spPr>
          <a:xfrm>
            <a:off x="6438900" y="39338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C687031-574D-4630-A5A7-7ACA7EE9DBED}"/>
              </a:ext>
            </a:extLst>
          </p:cNvPr>
          <p:cNvSpPr>
            <a:spLocks noGrp="1"/>
          </p:cNvSpPr>
          <p:nvPr/>
        </p:nvSpPr>
        <p:spPr>
          <a:xfrm>
            <a:off x="7029450" y="38385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check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B062D68-16B1-48AB-AC1F-D564C707D72D}"/>
              </a:ext>
            </a:extLst>
          </p:cNvPr>
          <p:cNvSpPr>
            <a:spLocks noGrp="1"/>
          </p:cNvSpPr>
          <p:nvPr/>
        </p:nvSpPr>
        <p:spPr>
          <a:xfrm>
            <a:off x="7029450" y="41719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自訂首頁仍存在</a:t>
            </a:r>
          </a:p>
        </p:txBody>
      </p: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5E58E7C4-5825-46A6-AC19-FE289E17E5D9}"/>
              </a:ext>
            </a:extLst>
          </p:cNvPr>
          <p:cNvSpPr>
            <a:spLocks noGrp="1"/>
          </p:cNvSpPr>
          <p:nvPr/>
        </p:nvSpPr>
        <p:spPr>
          <a:xfrm>
            <a:off x="2038350" y="5219700"/>
            <a:ext cx="8115300" cy="533400"/>
          </a:xfrm>
          <a:prstGeom prst="roundRect">
            <a:avLst>
              <a:gd name="adj" fmla="val 2142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F7758C0-FEB7-48AC-9E4C-A6C2C87F2229}"/>
              </a:ext>
            </a:extLst>
          </p:cNvPr>
          <p:cNvSpPr>
            <a:spLocks noGrp="1"/>
          </p:cNvSpPr>
          <p:nvPr/>
        </p:nvSpPr>
        <p:spPr>
          <a:xfrm>
            <a:off x="2324100" y="5391150"/>
            <a:ext cx="7543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Q4 檢查：刪 container 不等於刪 volume。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A00A541-62B3-401C-948D-745F44DEAF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BA476F7-8541-4324-84AF-FF6E6595B43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3D9890E-C347-4384-8E85-59FDA7C208A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538240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2695254E-E09F-4EA9-BB40-CF1CAD90358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ADVANCED C1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32F240C-E805-4B9D-BB96-F9CCC6731F9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同一個 Named Volume 給兩個 Nginx 讀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B3B77CF-39FD-487D-A125-47C1356501FF}"/>
              </a:ext>
            </a:extLst>
          </p:cNvPr>
          <p:cNvSpPr>
            <a:spLocks noGrp="1"/>
          </p:cNvSpPr>
          <p:nvPr/>
        </p:nvSpPr>
        <p:spPr>
          <a:xfrm>
            <a:off x="742950" y="1466850"/>
            <a:ext cx="10706100" cy="2190750"/>
          </a:xfrm>
          <a:prstGeom prst="roundRect">
            <a:avLst>
              <a:gd name="adj" fmla="val 434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889C977-4167-4E02-8A3C-6E6AAE41B8FC}"/>
              </a:ext>
            </a:extLst>
          </p:cNvPr>
          <p:cNvSpPr>
            <a:spLocks noGrp="1"/>
          </p:cNvSpPr>
          <p:nvPr/>
        </p:nvSpPr>
        <p:spPr>
          <a:xfrm>
            <a:off x="91440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D676CBE4-B252-41D2-964E-AF19BA1822C0}"/>
              </a:ext>
            </a:extLst>
          </p:cNvPr>
          <p:cNvSpPr>
            <a:spLocks noGrp="1"/>
          </p:cNvSpPr>
          <p:nvPr/>
        </p:nvSpPr>
        <p:spPr>
          <a:xfrm>
            <a:off x="108585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1C21685-7B41-4D64-ACBF-F2F043E7D349}"/>
              </a:ext>
            </a:extLst>
          </p:cNvPr>
          <p:cNvSpPr>
            <a:spLocks noGrp="1"/>
          </p:cNvSpPr>
          <p:nvPr/>
        </p:nvSpPr>
        <p:spPr>
          <a:xfrm>
            <a:off x="125730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047AB6F-7C38-4964-A8E0-26A6BA20E64D}"/>
              </a:ext>
            </a:extLst>
          </p:cNvPr>
          <p:cNvSpPr>
            <a:spLocks noGrp="1"/>
          </p:cNvSpPr>
          <p:nvPr/>
        </p:nvSpPr>
        <p:spPr>
          <a:xfrm>
            <a:off x="952500" y="1885950"/>
            <a:ext cx="10287000" cy="1638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nginx-vol-a -p 8083:80 \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nginx-html:/usr/share/nginx/html:ro nginx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nginx-vol-b -p 8084:80 \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nginx-html:/usr/share/nginx/html:ro nginx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C528420-D5B6-424C-9B03-E81268A036DA}"/>
              </a:ext>
            </a:extLst>
          </p:cNvPr>
          <p:cNvSpPr>
            <a:spLocks noGrp="1"/>
          </p:cNvSpPr>
          <p:nvPr/>
        </p:nvSpPr>
        <p:spPr>
          <a:xfrm>
            <a:off x="142875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003A585-C56A-4025-8BE3-99120190EB92}"/>
              </a:ext>
            </a:extLst>
          </p:cNvPr>
          <p:cNvSpPr>
            <a:spLocks noGrp="1"/>
          </p:cNvSpPr>
          <p:nvPr/>
        </p:nvSpPr>
        <p:spPr>
          <a:xfrm>
            <a:off x="165735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名字不同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8821B33-7809-47D1-BA1F-3FB636D51B04}"/>
              </a:ext>
            </a:extLst>
          </p:cNvPr>
          <p:cNvSpPr>
            <a:spLocks noGrp="1"/>
          </p:cNvSpPr>
          <p:nvPr/>
        </p:nvSpPr>
        <p:spPr>
          <a:xfrm>
            <a:off x="165735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nginx-vol-a / nginx-vol-b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C68A5F1-9780-4476-BD5C-1C4B0C47FA85}"/>
              </a:ext>
            </a:extLst>
          </p:cNvPr>
          <p:cNvSpPr>
            <a:spLocks noGrp="1"/>
          </p:cNvSpPr>
          <p:nvPr/>
        </p:nvSpPr>
        <p:spPr>
          <a:xfrm>
            <a:off x="457200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DCDEDE-9E70-4214-A24B-B73EA47C291D}"/>
              </a:ext>
            </a:extLst>
          </p:cNvPr>
          <p:cNvSpPr>
            <a:spLocks noGrp="1"/>
          </p:cNvSpPr>
          <p:nvPr/>
        </p:nvSpPr>
        <p:spPr>
          <a:xfrm>
            <a:off x="480060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 不同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0D98CCC-AB89-4F09-BEF4-D4A650554521}"/>
              </a:ext>
            </a:extLst>
          </p:cNvPr>
          <p:cNvSpPr>
            <a:spLocks noGrp="1"/>
          </p:cNvSpPr>
          <p:nvPr/>
        </p:nvSpPr>
        <p:spPr>
          <a:xfrm>
            <a:off x="480060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8083 / 8084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9FBBBDCA-0B01-410C-AE10-64082C006E74}"/>
              </a:ext>
            </a:extLst>
          </p:cNvPr>
          <p:cNvSpPr>
            <a:spLocks noGrp="1"/>
          </p:cNvSpPr>
          <p:nvPr/>
        </p:nvSpPr>
        <p:spPr>
          <a:xfrm>
            <a:off x="771525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87BFAE7-0932-421A-A6A7-4BFD6A86193E}"/>
              </a:ext>
            </a:extLst>
          </p:cNvPr>
          <p:cNvSpPr>
            <a:spLocks noGrp="1"/>
          </p:cNvSpPr>
          <p:nvPr/>
        </p:nvSpPr>
        <p:spPr>
          <a:xfrm>
            <a:off x="794385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HTML 相同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FF05AF0-D964-4C8B-8188-C52C058CFF80}"/>
              </a:ext>
            </a:extLst>
          </p:cNvPr>
          <p:cNvSpPr>
            <a:spLocks noGrp="1"/>
          </p:cNvSpPr>
          <p:nvPr/>
        </p:nvSpPr>
        <p:spPr>
          <a:xfrm>
            <a:off x="794385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nginx-html volume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64B401E-CA35-4E81-82F0-8AE748EA6FB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4844281-B357-48EC-92D2-D7D117945F6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DDA9E49-78FB-46AA-885D-FAEBD29CEE2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7400242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7F78BF40-6796-4CD7-90AE-4D90EFFB0D8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FLASK BRIDGE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7812C7C-ADBD-4E3A-9624-A4EC1AF4571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接下來：用 Flask 練同一個 Bind Mount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A10A7ED-8399-4155-9720-6B8E7D05C4F5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305C84-2FD2-43BC-9A1F-9BCB36596B25}"/>
              </a:ext>
            </a:extLst>
          </p:cNvPr>
          <p:cNvSpPr>
            <a:spLocks noGrp="1"/>
          </p:cNvSpPr>
          <p:nvPr/>
        </p:nvSpPr>
        <p:spPr>
          <a:xfrm>
            <a:off x="1162050" y="1885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0" lnSpcReduction="1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為什麼接 Flask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1DC6A12-EFD6-4F22-AE1A-58A3FD9C9AF5}"/>
              </a:ext>
            </a:extLst>
          </p:cNvPr>
          <p:cNvSpPr>
            <a:spLocks noGrp="1"/>
          </p:cNvSpPr>
          <p:nvPr/>
        </p:nvSpPr>
        <p:spPr>
          <a:xfrm>
            <a:off x="1162050" y="22860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nginx 讓學生看懂 Volume；Flask 把同一件事用到程式碼開發。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E311E4EB-B359-49D5-BC6A-79228D2BA141}"/>
              </a:ext>
            </a:extLst>
          </p:cNvPr>
          <p:cNvSpPr>
            <a:spLocks noGrp="1"/>
          </p:cNvSpPr>
          <p:nvPr/>
        </p:nvSpPr>
        <p:spPr>
          <a:xfrm>
            <a:off x="6438900" y="16573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001D2B7-A263-4357-9C91-1EB8FE5F71B1}"/>
              </a:ext>
            </a:extLst>
          </p:cNvPr>
          <p:cNvSpPr>
            <a:spLocks noGrp="1"/>
          </p:cNvSpPr>
          <p:nvPr/>
        </p:nvSpPr>
        <p:spPr>
          <a:xfrm>
            <a:off x="6686550" y="1885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0" lnSpcReduction="1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練習目標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FC52335-D267-4BF7-B9D9-B897E3E04755}"/>
              </a:ext>
            </a:extLst>
          </p:cNvPr>
          <p:cNvSpPr>
            <a:spLocks noGrp="1"/>
          </p:cNvSpPr>
          <p:nvPr/>
        </p:nvSpPr>
        <p:spPr>
          <a:xfrm>
            <a:off x="6686550" y="22860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本機 flask-app 掛到 /app，用 python:3.11 直接跑。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20E4A1CD-15F7-4C3D-84A8-0D7CCDDB1C7D}"/>
              </a:ext>
            </a:extLst>
          </p:cNvPr>
          <p:cNvSpPr>
            <a:spLocks noGrp="1"/>
          </p:cNvSpPr>
          <p:nvPr/>
        </p:nvSpPr>
        <p:spPr>
          <a:xfrm>
            <a:off x="914400" y="37528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BB26A5B-6B5C-4A60-B999-9BBFCBD3D7A1}"/>
              </a:ext>
            </a:extLst>
          </p:cNvPr>
          <p:cNvSpPr>
            <a:spLocks noGrp="1"/>
          </p:cNvSpPr>
          <p:nvPr/>
        </p:nvSpPr>
        <p:spPr>
          <a:xfrm>
            <a:off x="1162050" y="39814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0" lnSpcReduction="1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新的參數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05949BE-DD87-45F8-AADA-A10E0D2E10F2}"/>
              </a:ext>
            </a:extLst>
          </p:cNvPr>
          <p:cNvSpPr>
            <a:spLocks noGrp="1"/>
          </p:cNvSpPr>
          <p:nvPr/>
        </p:nvSpPr>
        <p:spPr>
          <a:xfrm>
            <a:off x="1162050" y="43815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加入 -w /app，讓 container 一進去就在專案目錄。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80D576AA-C508-4B40-9098-CDAECD5A925E}"/>
              </a:ext>
            </a:extLst>
          </p:cNvPr>
          <p:cNvSpPr>
            <a:spLocks noGrp="1"/>
          </p:cNvSpPr>
          <p:nvPr/>
        </p:nvSpPr>
        <p:spPr>
          <a:xfrm>
            <a:off x="6438900" y="37528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C526543-7FD9-43E8-9E14-58CFFEAD0E9D}"/>
              </a:ext>
            </a:extLst>
          </p:cNvPr>
          <p:cNvSpPr>
            <a:spLocks noGrp="1"/>
          </p:cNvSpPr>
          <p:nvPr/>
        </p:nvSpPr>
        <p:spPr>
          <a:xfrm>
            <a:off x="6686550" y="39814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0" lnSpcReduction="1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差異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DE5EC41-2561-435E-B469-3FEB4D6C2131}"/>
              </a:ext>
            </a:extLst>
          </p:cNvPr>
          <p:cNvSpPr>
            <a:spLocks noGrp="1"/>
          </p:cNvSpPr>
          <p:nvPr/>
        </p:nvSpPr>
        <p:spPr>
          <a:xfrm>
            <a:off x="6686550" y="43815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nginx 改 HTML 重新整理；Flask 改 app.py 要重啟 process。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3B2D58F-99B1-412E-BF08-3BCB9EAFE20E}"/>
              </a:ext>
            </a:extLst>
          </p:cNvPr>
          <p:cNvSpPr>
            <a:spLocks noGrp="1"/>
          </p:cNvSpPr>
          <p:nvPr/>
        </p:nvSpPr>
        <p:spPr>
          <a:xfrm>
            <a:off x="1962150" y="5657850"/>
            <a:ext cx="8267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先不寫 Dockerfile，不重新 build；先把開發迴圈跑順。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2F22730-F7D9-4815-A876-331699A844A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F01ED0F-AA77-4FC9-8CD8-55E7F9D06CB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00865E8-A5F1-4694-BA5D-75182606BCB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9361037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FLASK STEP 1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建立 Flask 專案資料夾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專案先在主機上建立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175432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mkdir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C:\docker-lab\flask-app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notepad C:\docker-lab\flask-app\requirements.txt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notepad C:\docker-lab\flask-app\app.py</a:t>
            </a:r>
          </a:p>
          <a:p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requirements.txt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Flask 練習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FLASK CODE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app.py：最小 Flask 網頁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先做兩個 route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6933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index():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"&lt;h1&gt;Hello Flask Volume!&lt;/h1&gt;"</a:t>
            </a:r>
          </a:p>
          <a:p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@app.get("/about")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about():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"&lt;h1&gt;About&lt;/h1&gt;&lt;p&gt;Bind mount demo&lt;/p&gt;"</a:t>
            </a:r>
          </a:p>
          <a:p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app.run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Flask 練習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FLASK STEP 2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用 Python container 掛載專案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-v 仍是主機到 container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175432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--name flask-dev -p 5000:5000 ^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"C:\docker-lab\flask-app:/app" ^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-w /app python:3.11 bash</a:t>
            </a:r>
          </a:p>
          <a:p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主機路徑：C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:\docker-lab\flask-app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路徑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：/app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Flask 練習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FLASK STEP 3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安裝套件並啟動 Flask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在 container 裡執行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3083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  <a:p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browser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http://localhost:5000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http://localhost:5000/about</a:t>
            </a:r>
          </a:p>
          <a:p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app.py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必須用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host="0.0.0.0"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Flask 練習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FLASK STEP 4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修改主機 app.py，重啟 Flask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不重新 build image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86232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notepad C:\docker-lab\flask-app\app.py</a:t>
            </a:r>
          </a:p>
          <a:p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回到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Flask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終端機</a:t>
            </a:r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Ctrl + C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  <a:p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refresh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http://localhost:5000</a:t>
            </a:r>
          </a:p>
          <a:p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變的是主機檔案；container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讀同一份檔案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。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Flask 練習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nginx 與 Flask 的開發差異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同一個 Bind Mount，不同開發行為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86232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nginx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掛 HTML 到 /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usr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/share/nginx/html</a:t>
            </a:r>
          </a:p>
          <a:p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改檔後重新整理通常就變</a:t>
            </a:r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掛 Python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專案到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/app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改 app.py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後重啟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Flask process</a:t>
            </a:r>
          </a:p>
          <a:p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共同點</a:t>
            </a:r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讀到的是主機同一份檔案</a:t>
            </a:r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Flask 練習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第二堂完成檢核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說得出來，才算真的會用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20829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你要能說出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：</a:t>
            </a:r>
          </a:p>
          <a:p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 container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可以刪掉重建</a:t>
            </a:r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2. volume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讓資料留在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container 外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3. bind mount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左邊是主機，右邊是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container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4. named volume 由 Docker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管理資料位置</a:t>
            </a:r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5. Flask 用 -v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掛程式碼、用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-p 開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port、用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-w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設工作目錄</a:t>
            </a:r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完成檢核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WRAP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410</TotalTime>
  <Words>1856</Words>
  <Application>Microsoft Office PowerPoint</Application>
  <DocSecurity>0</DocSecurity>
  <PresentationFormat>寬螢幕</PresentationFormat>
  <Paragraphs>400</Paragraphs>
  <Slides>29</Slides>
  <Notes>29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sdt</cp:lastModifiedBy>
  <cp:revision>10</cp:revision>
  <dcterms:created xsi:type="dcterms:W3CDTF">2026-06-23T08:33:20Z</dcterms:created>
  <dcterms:modified xsi:type="dcterms:W3CDTF">2026-06-25T14:01:36Z</dcterms:modified>
</cp:coreProperties>
</file>