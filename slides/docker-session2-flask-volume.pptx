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3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1" r:id="rId17"/>
    <p:sldId id="284" r:id="rId18"/>
    <p:sldId id="285" r:id="rId19"/>
    <p:sldId id="286" r:id="rId20"/>
    <p:sldId id="287" r:id="rId21"/>
    <p:sldId id="288" r:id="rId22"/>
    <p:sldId id="290" r:id="rId23"/>
    <p:sldId id="291" r:id="rId24"/>
    <p:sldId id="292" r:id="rId25"/>
    <p:sldId id="293" r:id="rId26"/>
    <p:sldId id="295" r:id="rId27"/>
    <p:sldId id="296" r:id="rId28"/>
    <p:sldId id="297" r:id="rId29"/>
    <p:sldId id="298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379DB9-6435-4DD6-9E2B-C159E8D87C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9046" r="19046"/>
          <a:stretch>
            <a:fillRect/>
          </a:stretch>
        </p:blipFill>
        <p:spPr>
          <a:xfrm>
            <a:off x="4648200" y="0"/>
            <a:ext cx="75438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A70816D-0440-4D1D-A039-3742EB5F0E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4000">
                <a:srgbClr val="07111F">
                  <a:alpha val="98000"/>
                </a:srgbClr>
              </a:gs>
              <a:gs pos="64000">
                <a:srgbClr val="07111F">
                  <a:alpha val="48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9589248-AC9C-44EA-8599-BA4056BDEC2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03835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DDA3BA-8BB1-44D5-96F0-A13006474DB1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2 堂 | Hands-on Docker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D9324-C28A-40CD-B77A-403DF481BC1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7810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容器生命週期、Nginx Volume、Flask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2FC229-F4AF-45C0-BFE5-56EA4B88E474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先用 nginx 走過生命週期與 Volume，再把同一個 Bind Mount 觀念套到 Flask 開發。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8A69169-2392-4B53-BAD9-16AD2A2DB7D9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810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2D7A60-BFB1-4BE6-990B-8CDCD46BA309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今天完成：指令分開練，nginx 打底 Volume，再用 Flask 練程式碼掛載。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76DCDA-45B5-4B9F-9A39-5D78C3BC65C4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55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D2675DE-309F-429B-8B84-E48A0444CF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BD7214-6508-4CBF-928D-31F7ADFB927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A4AAC91-7A07-4920-A9D9-3FEBF96E5FF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2447484-D1D8-4D47-9473-6425962CCCA9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43B644-5F24-4C24-998D-033BE1E4849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829668-CBED-4A3F-BADA-6D6ED3980633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容器生命週期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2B6C85-3206-4C07-8E36-C83197F001A0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27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nginx 分段練 pull、images、run、ps、exec、stop、rm、rmi，並看見 container 修改會消失。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1B064E-178F-4440-AEBF-1B9FB9D43892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6BDA09-0376-404F-B4DC-791A895320D2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約 50 分鐘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47CE78D-E74C-4B0D-8AF2-58C69E288713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93786D1-7388-4AA3-98E8-AC82A2EF9F61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65A474-1AD6-40BF-841F-68DCB3D61405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F9A3F6-4E9D-4DE6-BF5E-06FD58197C6D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Nginx Volume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25D1F1-E81B-45B4-9802-1865BB79FE0F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nginx 練 Bind Mount、:ro、Named Volume，知道資料為什麼要放在容器外。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548E35C-866F-4816-9EFF-F3FF70ED0FDB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8ADD95-C0DC-4CE4-B388-C29AE134E2D6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50 分鐘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C40B72-89E4-4448-9248-883D7D11A22A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6226E2FF-10E6-4840-B410-11BE6A8245BF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1109CC-B303-4D04-AD17-B022800B4465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211192-A8DC-4490-8FC6-2E376866109C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Flask Bind Mount 練習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E19226-355A-4B07-AE24-74CE782D575A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把本機 Flask 專案掛進 Python container，練 -p、-v、-w 與開發重啟流程。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2A08800-DA70-4A74-B77B-47678BB19D77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E10457-4CBD-425A-95BA-C83562CCAA99}"/>
              </a:ext>
            </a:extLst>
          </p:cNvPr>
          <p:cNvSpPr>
            <a:spLocks noGrp="1"/>
          </p:cNvSpPr>
          <p:nvPr/>
        </p:nvSpPr>
        <p:spPr>
          <a:xfrm>
            <a:off x="82677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50 分鐘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AE81FE-93D8-471B-9BFF-A526BC743C6C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這堂課的主線：nginx 先看懂資料掛載；Flask 再練真實程式碼開發流程。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9421B4-C0C3-49FB-A438-49FAF73C769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F7E86D-626D-45E1-85B1-5B451EE122D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8D31EE-117E-4C26-A70E-8E6A1C5E960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698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689BD98-990B-417F-B175-AF4384FCE7E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1 / PULL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A615FA-DF00-4349-A999-5FF70C0CC28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Step 1：先下載 nginx image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A33C738-B90F-45FE-B0A3-898E58F4C258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1336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B28D5CD-E93F-4488-8E91-10C56CFA16BC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9D00E-5F63-42DC-AFA2-A43966F32C3D}"/>
              </a:ext>
            </a:extLst>
          </p:cNvPr>
          <p:cNvSpPr>
            <a:spLocks noGrp="1"/>
          </p:cNvSpPr>
          <p:nvPr/>
        </p:nvSpPr>
        <p:spPr>
          <a:xfrm>
            <a:off x="1104900" y="25431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F7D20C-226B-43ED-BD1E-E2A1EEE12629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pull nginx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9310E8-82E0-4B11-BB0E-FA17D2EE8B1C}"/>
              </a:ext>
            </a:extLst>
          </p:cNvPr>
          <p:cNvSpPr>
            <a:spLocks noGrp="1"/>
          </p:cNvSpPr>
          <p:nvPr/>
        </p:nvSpPr>
        <p:spPr>
          <a:xfrm>
            <a:off x="1104900" y="34861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只下載 image。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D8EC1A80-BB11-41CE-918F-0483C552159E}"/>
              </a:ext>
            </a:extLst>
          </p:cNvPr>
          <p:cNvSpPr>
            <a:spLocks noGrp="1"/>
          </p:cNvSpPr>
          <p:nvPr/>
        </p:nvSpPr>
        <p:spPr>
          <a:xfrm>
            <a:off x="3124200" y="2819400"/>
            <a:ext cx="552450" cy="28575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F1527F-143C-4C1C-92BB-AD98D68F908E}"/>
              </a:ext>
            </a:extLst>
          </p:cNvPr>
          <p:cNvSpPr>
            <a:spLocks noGrp="1"/>
          </p:cNvSpPr>
          <p:nvPr/>
        </p:nvSpPr>
        <p:spPr>
          <a:xfrm>
            <a:off x="3543300" y="2190750"/>
            <a:ext cx="2133600" cy="1638300"/>
          </a:xfrm>
          <a:prstGeom prst="roundRect">
            <a:avLst>
              <a:gd name="adj" fmla="val 697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2AAEC41-7750-44EE-8965-A60A0E947A4F}"/>
              </a:ext>
            </a:extLst>
          </p:cNvPr>
          <p:cNvSpPr>
            <a:spLocks noGrp="1"/>
          </p:cNvSpPr>
          <p:nvPr/>
        </p:nvSpPr>
        <p:spPr>
          <a:xfrm>
            <a:off x="3771900" y="2438400"/>
            <a:ext cx="419100" cy="419100"/>
          </a:xfrm>
          <a:prstGeom prst="ellipse">
            <a:avLst/>
          </a:prstGeom>
          <a:solidFill>
            <a:srgbClr val="2496ED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861EA0-5939-41F4-A36D-F404BACF4644}"/>
              </a:ext>
            </a:extLst>
          </p:cNvPr>
          <p:cNvSpPr>
            <a:spLocks noGrp="1"/>
          </p:cNvSpPr>
          <p:nvPr/>
        </p:nvSpPr>
        <p:spPr>
          <a:xfrm>
            <a:off x="3771900" y="25431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13B0F5-DBAE-4518-86BA-4FB5CEC8A184}"/>
              </a:ext>
            </a:extLst>
          </p:cNvPr>
          <p:cNvSpPr>
            <a:spLocks noGrp="1"/>
          </p:cNvSpPr>
          <p:nvPr/>
        </p:nvSpPr>
        <p:spPr>
          <a:xfrm>
            <a:off x="3771900" y="3105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5C7F05-6AF8-44F3-BF41-33F4DF784A5E}"/>
              </a:ext>
            </a:extLst>
          </p:cNvPr>
          <p:cNvSpPr>
            <a:spLocks noGrp="1"/>
          </p:cNvSpPr>
          <p:nvPr/>
        </p:nvSpPr>
        <p:spPr>
          <a:xfrm>
            <a:off x="3771900" y="34861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641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唯讀範本，還不是服務。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4BBA93B8-9FBE-476D-9CA3-9267B5464C3F}"/>
              </a:ext>
            </a:extLst>
          </p:cNvPr>
          <p:cNvSpPr>
            <a:spLocks noGrp="1"/>
          </p:cNvSpPr>
          <p:nvPr/>
        </p:nvSpPr>
        <p:spPr>
          <a:xfrm>
            <a:off x="5791200" y="2819400"/>
            <a:ext cx="552450" cy="28575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58A3125-1998-4854-8688-11FE3B200701}"/>
              </a:ext>
            </a:extLst>
          </p:cNvPr>
          <p:cNvSpPr>
            <a:spLocks noGrp="1"/>
          </p:cNvSpPr>
          <p:nvPr/>
        </p:nvSpPr>
        <p:spPr>
          <a:xfrm>
            <a:off x="6210300" y="2190750"/>
            <a:ext cx="21336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2B6C8871-4947-42B5-97C3-A4360401CB2B}"/>
              </a:ext>
            </a:extLst>
          </p:cNvPr>
          <p:cNvSpPr>
            <a:spLocks noGrp="1"/>
          </p:cNvSpPr>
          <p:nvPr/>
        </p:nvSpPr>
        <p:spPr>
          <a:xfrm>
            <a:off x="6438900" y="24384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E6073E-2081-45BB-ACDD-CBF9400AA38E}"/>
              </a:ext>
            </a:extLst>
          </p:cNvPr>
          <p:cNvSpPr>
            <a:spLocks noGrp="1"/>
          </p:cNvSpPr>
          <p:nvPr/>
        </p:nvSpPr>
        <p:spPr>
          <a:xfrm>
            <a:off x="6438900" y="25431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920220-8110-4AF8-8531-FCFA40AC4F06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images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798924-4698-47EC-B8E1-EBA5490D8CEF}"/>
              </a:ext>
            </a:extLst>
          </p:cNvPr>
          <p:cNvSpPr>
            <a:spLocks noGrp="1"/>
          </p:cNvSpPr>
          <p:nvPr/>
        </p:nvSpPr>
        <p:spPr>
          <a:xfrm>
            <a:off x="6438900" y="34861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57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下一張再確認清單。</a:t>
            </a:r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53B02B09-48A1-41EB-8FB4-42B8054E622E}"/>
              </a:ext>
            </a:extLst>
          </p:cNvPr>
          <p:cNvSpPr>
            <a:spLocks noGrp="1"/>
          </p:cNvSpPr>
          <p:nvPr/>
        </p:nvSpPr>
        <p:spPr>
          <a:xfrm>
            <a:off x="8458200" y="2819400"/>
            <a:ext cx="552450" cy="28575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06DD704-99CE-458C-8914-FE20B45DAD37}"/>
              </a:ext>
            </a:extLst>
          </p:cNvPr>
          <p:cNvSpPr>
            <a:spLocks noGrp="1"/>
          </p:cNvSpPr>
          <p:nvPr/>
        </p:nvSpPr>
        <p:spPr>
          <a:xfrm>
            <a:off x="8877300" y="2190750"/>
            <a:ext cx="21336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097208FC-F700-4CCD-B4DA-A8A9DCC6B967}"/>
              </a:ext>
            </a:extLst>
          </p:cNvPr>
          <p:cNvSpPr>
            <a:spLocks noGrp="1"/>
          </p:cNvSpPr>
          <p:nvPr/>
        </p:nvSpPr>
        <p:spPr>
          <a:xfrm>
            <a:off x="9105900" y="2438400"/>
            <a:ext cx="419100" cy="41910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A51D42-09C5-409A-BB45-1664F26AE3B1}"/>
              </a:ext>
            </a:extLst>
          </p:cNvPr>
          <p:cNvSpPr>
            <a:spLocks noGrp="1"/>
          </p:cNvSpPr>
          <p:nvPr/>
        </p:nvSpPr>
        <p:spPr>
          <a:xfrm>
            <a:off x="9105900" y="2543175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F6DCC7F-E796-436C-9CBF-AF9805B042E7}"/>
              </a:ext>
            </a:extLst>
          </p:cNvPr>
          <p:cNvSpPr>
            <a:spLocks noGrp="1"/>
          </p:cNvSpPr>
          <p:nvPr/>
        </p:nvSpPr>
        <p:spPr>
          <a:xfrm>
            <a:off x="9105900" y="3105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run / rm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623591-34AA-4E03-8EA4-508AE9E35747}"/>
              </a:ext>
            </a:extLst>
          </p:cNvPr>
          <p:cNvSpPr>
            <a:spLocks noGrp="1"/>
          </p:cNvSpPr>
          <p:nvPr/>
        </p:nvSpPr>
        <p:spPr>
          <a:xfrm>
            <a:off x="9105900" y="34861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後面再分開練。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3DC8EAF1-0D2F-4868-9819-5109DB2F0753}"/>
              </a:ext>
            </a:extLst>
          </p:cNvPr>
          <p:cNvSpPr>
            <a:spLocks noGrp="1"/>
          </p:cNvSpPr>
          <p:nvPr/>
        </p:nvSpPr>
        <p:spPr>
          <a:xfrm>
            <a:off x="2514600" y="4762500"/>
            <a:ext cx="7162800" cy="1352550"/>
          </a:xfrm>
          <a:prstGeom prst="roundRect">
            <a:avLst>
              <a:gd name="adj" fmla="val 1063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12C439FB-1CC5-4264-970E-B17DA2083ECF}"/>
              </a:ext>
            </a:extLst>
          </p:cNvPr>
          <p:cNvSpPr>
            <a:spLocks noGrp="1"/>
          </p:cNvSpPr>
          <p:nvPr/>
        </p:nvSpPr>
        <p:spPr>
          <a:xfrm>
            <a:off x="2686050" y="49244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ADFE14F-531F-47F1-A77E-26C21A9F7758}"/>
              </a:ext>
            </a:extLst>
          </p:cNvPr>
          <p:cNvSpPr>
            <a:spLocks noGrp="1"/>
          </p:cNvSpPr>
          <p:nvPr/>
        </p:nvSpPr>
        <p:spPr>
          <a:xfrm>
            <a:off x="2857500" y="49244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D75C1AE-BE24-4ADB-B848-0B3692010BB5}"/>
              </a:ext>
            </a:extLst>
          </p:cNvPr>
          <p:cNvSpPr>
            <a:spLocks noGrp="1"/>
          </p:cNvSpPr>
          <p:nvPr/>
        </p:nvSpPr>
        <p:spPr>
          <a:xfrm>
            <a:off x="3028950" y="49244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F1094D-FF8C-4571-899A-70577DD990E9}"/>
              </a:ext>
            </a:extLst>
          </p:cNvPr>
          <p:cNvSpPr>
            <a:spLocks noGrp="1"/>
          </p:cNvSpPr>
          <p:nvPr/>
        </p:nvSpPr>
        <p:spPr>
          <a:xfrm>
            <a:off x="2724150" y="5181600"/>
            <a:ext cx="6743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nginx</a:t>
            </a:r>
            <a:endParaRPr lang="en-US" sz="202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4000"/>
              </a:lnSpc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sz="2000" dirty="0">
                <a:solidFill>
                  <a:srgbClr val="E5E7EB"/>
                </a:solidFill>
                <a:latin typeface="Consolas"/>
              </a:rPr>
              <a:t>docker run -d --name nginx-life -p 9090:80 nginx</a:t>
            </a:r>
          </a:p>
          <a:p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202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6324EA9-512A-46F9-8033-3CB942121A8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3AE1AA-C622-43D6-9FE9-0AFE56BE223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AEC3346-86B6-47CE-8526-CA3D400DC38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03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37C4EE8-A14A-4045-9590-0C794140F5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6 / EDIT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BBCBCB-6654-43B1-8340-E01DB0F585C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Step 6：在 container 裡修改 index.html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6F8A3C9-BADF-4E87-83FF-94334209D051}"/>
              </a:ext>
            </a:extLst>
          </p:cNvPr>
          <p:cNvSpPr>
            <a:spLocks noGrp="1"/>
          </p:cNvSpPr>
          <p:nvPr/>
        </p:nvSpPr>
        <p:spPr>
          <a:xfrm>
            <a:off x="895350" y="1447799"/>
            <a:ext cx="10401300" cy="1752601"/>
          </a:xfrm>
          <a:prstGeom prst="roundRect">
            <a:avLst>
              <a:gd name="adj" fmla="val 84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E6EE9F6-775C-4C74-8E7A-22D5AB47F51D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09566C-53AF-4805-A829-CFEFCE5B1245}"/>
              </a:ext>
            </a:extLst>
          </p:cNvPr>
          <p:cNvSpPr>
            <a:spLocks noGrp="1"/>
          </p:cNvSpPr>
          <p:nvPr/>
        </p:nvSpPr>
        <p:spPr>
          <a:xfrm>
            <a:off x="123825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87A3786-33E8-436D-883C-379B83DAA8D5}"/>
              </a:ext>
            </a:extLst>
          </p:cNvPr>
          <p:cNvSpPr>
            <a:spLocks noGrp="1"/>
          </p:cNvSpPr>
          <p:nvPr/>
        </p:nvSpPr>
        <p:spPr>
          <a:xfrm>
            <a:off x="140970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77AA81-1C27-4359-9065-B95978EC82D2}"/>
              </a:ext>
            </a:extLst>
          </p:cNvPr>
          <p:cNvSpPr>
            <a:spLocks noGrp="1"/>
          </p:cNvSpPr>
          <p:nvPr/>
        </p:nvSpPr>
        <p:spPr>
          <a:xfrm>
            <a:off x="1104900" y="1866899"/>
            <a:ext cx="9982200" cy="1203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echo '&lt;h1&gt;Hello from container&lt;/h1&gt;' &gt; index.html</a:t>
            </a: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dirty="0"/>
              <a:t>apt-get update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dirty="0"/>
              <a:t>apt-get install -y nano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nano index.html</a:t>
            </a:r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CAE6AD2-1778-40A1-BBEC-2BAF0ED2388B}"/>
              </a:ext>
            </a:extLst>
          </p:cNvPr>
          <p:cNvSpPr>
            <a:spLocks noGrp="1"/>
          </p:cNvSpPr>
          <p:nvPr/>
        </p:nvSpPr>
        <p:spPr>
          <a:xfrm>
            <a:off x="2268023" y="3626168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66E1FBA-49EA-4D26-87B4-69EB5577D145}"/>
              </a:ext>
            </a:extLst>
          </p:cNvPr>
          <p:cNvSpPr>
            <a:spLocks noGrp="1"/>
          </p:cNvSpPr>
          <p:nvPr/>
        </p:nvSpPr>
        <p:spPr>
          <a:xfrm>
            <a:off x="4935023" y="3626168"/>
            <a:ext cx="51435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6DA8BC-2327-4221-A569-0C0C81F21864}"/>
              </a:ext>
            </a:extLst>
          </p:cNvPr>
          <p:cNvSpPr>
            <a:spLocks noGrp="1"/>
          </p:cNvSpPr>
          <p:nvPr/>
        </p:nvSpPr>
        <p:spPr>
          <a:xfrm>
            <a:off x="2458523" y="3711893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畫面會變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C142F0-130D-4E4D-9D01-D75BC8327FE0}"/>
              </a:ext>
            </a:extLst>
          </p:cNvPr>
          <p:cNvSpPr>
            <a:spLocks noGrp="1"/>
          </p:cNvSpPr>
          <p:nvPr/>
        </p:nvSpPr>
        <p:spPr>
          <a:xfrm>
            <a:off x="5125523" y="3702368"/>
            <a:ext cx="466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因為 nginx 讀到 container 內新的 index.html。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4519C0C-014D-4DB5-8B35-E708BCC934FB}"/>
              </a:ext>
            </a:extLst>
          </p:cNvPr>
          <p:cNvSpPr>
            <a:spLocks noGrp="1"/>
          </p:cNvSpPr>
          <p:nvPr/>
        </p:nvSpPr>
        <p:spPr>
          <a:xfrm>
            <a:off x="2268023" y="4102418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DFFEFE7-E2F6-4EA5-8D70-51BEF3554534}"/>
              </a:ext>
            </a:extLst>
          </p:cNvPr>
          <p:cNvSpPr>
            <a:spLocks noGrp="1"/>
          </p:cNvSpPr>
          <p:nvPr/>
        </p:nvSpPr>
        <p:spPr>
          <a:xfrm>
            <a:off x="4935023" y="4102418"/>
            <a:ext cx="5143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73104E-63D2-4F8F-A7EF-3FF357812FDC}"/>
              </a:ext>
            </a:extLst>
          </p:cNvPr>
          <p:cNvSpPr>
            <a:spLocks noGrp="1"/>
          </p:cNvSpPr>
          <p:nvPr/>
        </p:nvSpPr>
        <p:spPr>
          <a:xfrm>
            <a:off x="2458523" y="4188143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先不要刪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E9115B-5A17-472E-80E8-A46B1E497F81}"/>
              </a:ext>
            </a:extLst>
          </p:cNvPr>
          <p:cNvSpPr>
            <a:spLocks noGrp="1"/>
          </p:cNvSpPr>
          <p:nvPr/>
        </p:nvSpPr>
        <p:spPr>
          <a:xfrm>
            <a:off x="5125523" y="4178618"/>
            <a:ext cx="466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現在這個修改只存在 nginx-life 這個 container 裡。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71A10C5-9F84-46F2-B207-F094D084CE2E}"/>
              </a:ext>
            </a:extLst>
          </p:cNvPr>
          <p:cNvSpPr>
            <a:spLocks noGrp="1"/>
          </p:cNvSpPr>
          <p:nvPr/>
        </p:nvSpPr>
        <p:spPr>
          <a:xfrm>
            <a:off x="2268023" y="4578668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B6BCC8C-35FF-46F1-A758-05EC06A61C47}"/>
              </a:ext>
            </a:extLst>
          </p:cNvPr>
          <p:cNvSpPr>
            <a:spLocks noGrp="1"/>
          </p:cNvSpPr>
          <p:nvPr/>
        </p:nvSpPr>
        <p:spPr>
          <a:xfrm>
            <a:off x="4935023" y="4578668"/>
            <a:ext cx="51435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638AE-B7CC-400B-B4B1-353F59516DB1}"/>
              </a:ext>
            </a:extLst>
          </p:cNvPr>
          <p:cNvSpPr>
            <a:spLocks noGrp="1"/>
          </p:cNvSpPr>
          <p:nvPr/>
        </p:nvSpPr>
        <p:spPr>
          <a:xfrm>
            <a:off x="2458523" y="4664393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重點問題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51D6D3-93AF-4CC6-8701-E2387AADD5B9}"/>
              </a:ext>
            </a:extLst>
          </p:cNvPr>
          <p:cNvSpPr>
            <a:spLocks noGrp="1"/>
          </p:cNvSpPr>
          <p:nvPr/>
        </p:nvSpPr>
        <p:spPr>
          <a:xfrm>
            <a:off x="5125523" y="4654868"/>
            <a:ext cx="466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如果刪掉 container，再用同一個 image 重建，修改還在嗎？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127BFFD-BD18-4B94-8608-3DEC9D5BA386}"/>
              </a:ext>
            </a:extLst>
          </p:cNvPr>
          <p:cNvSpPr>
            <a:spLocks noGrp="1"/>
          </p:cNvSpPr>
          <p:nvPr/>
        </p:nvSpPr>
        <p:spPr>
          <a:xfrm>
            <a:off x="2268023" y="5054918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F503663-A2E6-4A30-AED7-F9D5FABD16B8}"/>
              </a:ext>
            </a:extLst>
          </p:cNvPr>
          <p:cNvSpPr>
            <a:spLocks noGrp="1"/>
          </p:cNvSpPr>
          <p:nvPr/>
        </p:nvSpPr>
        <p:spPr>
          <a:xfrm>
            <a:off x="4935023" y="5054918"/>
            <a:ext cx="5143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FC9448-C5FA-4EEB-8A67-555B81D5D517}"/>
              </a:ext>
            </a:extLst>
          </p:cNvPr>
          <p:cNvSpPr>
            <a:spLocks noGrp="1"/>
          </p:cNvSpPr>
          <p:nvPr/>
        </p:nvSpPr>
        <p:spPr>
          <a:xfrm>
            <a:off x="2458523" y="5140643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答案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430780-7949-4464-9AB7-FA63012AEF41}"/>
              </a:ext>
            </a:extLst>
          </p:cNvPr>
          <p:cNvSpPr>
            <a:spLocks noGrp="1"/>
          </p:cNvSpPr>
          <p:nvPr/>
        </p:nvSpPr>
        <p:spPr>
          <a:xfrm>
            <a:off x="5125523" y="5131118"/>
            <a:ext cx="466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不在。這就是等等要看到的「容器無狀態」。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BC6C2E4-8E5C-4925-866A-661B777A81FD}"/>
              </a:ext>
            </a:extLst>
          </p:cNvPr>
          <p:cNvSpPr>
            <a:spLocks noGrp="1"/>
          </p:cNvSpPr>
          <p:nvPr/>
        </p:nvSpPr>
        <p:spPr>
          <a:xfrm>
            <a:off x="2268023" y="5531168"/>
            <a:ext cx="26670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1371E11E-8021-4DFB-A66E-F9321DD060C6}"/>
              </a:ext>
            </a:extLst>
          </p:cNvPr>
          <p:cNvSpPr>
            <a:spLocks noGrp="1"/>
          </p:cNvSpPr>
          <p:nvPr/>
        </p:nvSpPr>
        <p:spPr>
          <a:xfrm>
            <a:off x="4935023" y="5531168"/>
            <a:ext cx="5143500" cy="361950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703212-1195-499C-BD4C-D4F972AEE9AB}"/>
              </a:ext>
            </a:extLst>
          </p:cNvPr>
          <p:cNvSpPr>
            <a:spLocks noGrp="1"/>
          </p:cNvSpPr>
          <p:nvPr/>
        </p:nvSpPr>
        <p:spPr>
          <a:xfrm>
            <a:off x="2458523" y="5616893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離開 shell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3F5867-0AF3-4A6C-BDF5-CA40C966BFD5}"/>
              </a:ext>
            </a:extLst>
          </p:cNvPr>
          <p:cNvSpPr>
            <a:spLocks noGrp="1"/>
          </p:cNvSpPr>
          <p:nvPr/>
        </p:nvSpPr>
        <p:spPr>
          <a:xfrm>
            <a:off x="5125523" y="5607368"/>
            <a:ext cx="466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 lnSpcReduction="10000"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A263CB-46AD-4F28-974F-7D2314BC2F1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E98947-EDC7-4DF9-8F95-BE40735B39E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170968-5D4D-4953-B5B2-07E96D9A20E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019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0093603-F5E4-4B54-B75C-708A9CEA00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CB15E9-E4EF-470B-A2A4-6EBB5A9EB0B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TW" altLang="en-US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熟練</a:t>
            </a:r>
            <a:r>
              <a:rPr lang="en-US" altLang="zh-TW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</a:t>
            </a:r>
            <a:r>
              <a:rPr lang="zh-TW" altLang="en-US" sz="285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的生命週期操作</a:t>
            </a:r>
            <a:endParaRPr sz="28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0F06F61-5946-436D-9205-FF2B880FD59A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6191250" cy="4400550"/>
          </a:xfrm>
          <a:prstGeom prst="roundRect">
            <a:avLst>
              <a:gd name="adj" fmla="val 216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F589B05-9D72-44CA-86B1-B3E7D5DD164A}"/>
              </a:ext>
            </a:extLst>
          </p:cNvPr>
          <p:cNvSpPr>
            <a:spLocks noGrp="1"/>
          </p:cNvSpPr>
          <p:nvPr/>
        </p:nvSpPr>
        <p:spPr>
          <a:xfrm>
            <a:off x="952500" y="1552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C6B2AA2-C276-4BC2-85D6-FB604AABAD83}"/>
              </a:ext>
            </a:extLst>
          </p:cNvPr>
          <p:cNvSpPr>
            <a:spLocks noGrp="1"/>
          </p:cNvSpPr>
          <p:nvPr/>
        </p:nvSpPr>
        <p:spPr>
          <a:xfrm>
            <a:off x="1123950" y="1552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7CA58AE-BC14-4423-BF0B-1178D89ACABF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5FB0C0-1EA0-4D6F-AD06-E1E135D7CF4D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5772150" cy="384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nginx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images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nginx-life -p 9090:80 nginx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3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nginx-life </a:t>
            </a:r>
            <a:r>
              <a:rPr lang="en-US" sz="13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bash</a:t>
            </a:r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/</a:t>
            </a:r>
            <a:r>
              <a:rPr sz="13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usr</a:t>
            </a: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/share/nginx/html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echo '&lt;h1&gt;Hello from container&lt;/h1&gt;' &gt; index.html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cat index.html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start </a:t>
            </a:r>
            <a:r>
              <a:rPr lang="en-US" altLang="zh-TW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nginx-life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stop </a:t>
            </a:r>
            <a:r>
              <a:rPr lang="en-US" altLang="zh-TW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nginx-life</a:t>
            </a:r>
            <a:endParaRPr lang="en-US" altLang="zh-TW" sz="13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</a:t>
            </a:r>
            <a:r>
              <a:rPr 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ocker restart </a:t>
            </a:r>
            <a:r>
              <a:rPr lang="en-US" altLang="zh-TW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nginx-life</a:t>
            </a: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nginx-life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nginx-life -p 9090:80 nginx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13AE31E-5433-41A0-8C51-53E375A8E52B}"/>
              </a:ext>
            </a:extLst>
          </p:cNvPr>
          <p:cNvSpPr>
            <a:spLocks noGrp="1"/>
          </p:cNvSpPr>
          <p:nvPr/>
        </p:nvSpPr>
        <p:spPr>
          <a:xfrm>
            <a:off x="7639050" y="1714500"/>
            <a:ext cx="3143250" cy="1409700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52E7FD-04B6-4850-B2C3-9C2B2E4F5E3B}"/>
              </a:ext>
            </a:extLst>
          </p:cNvPr>
          <p:cNvSpPr>
            <a:spLocks noGrp="1"/>
          </p:cNvSpPr>
          <p:nvPr/>
        </p:nvSpPr>
        <p:spPr>
          <a:xfrm>
            <a:off x="7867650" y="1905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每段做完都確認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36181D-67BF-4ECF-9805-219C66BF24D6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2686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14"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pull 看 image；run 看 ps；edit 看瀏覽器；recreate 看頁面是否回預設。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851020A-B2FB-4D4C-BFF9-D1936FFA7877}"/>
              </a:ext>
            </a:extLst>
          </p:cNvPr>
          <p:cNvSpPr>
            <a:spLocks noGrp="1"/>
          </p:cNvSpPr>
          <p:nvPr/>
        </p:nvSpPr>
        <p:spPr>
          <a:xfrm>
            <a:off x="7639050" y="3619500"/>
            <a:ext cx="3143250" cy="160020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9525">
            <a:solidFill>
              <a:srgbClr val="FBBF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768CED-80E6-493C-AB04-9325781CD8E5}"/>
              </a:ext>
            </a:extLst>
          </p:cNvPr>
          <p:cNvSpPr>
            <a:spLocks noGrp="1"/>
          </p:cNvSpPr>
          <p:nvPr/>
        </p:nvSpPr>
        <p:spPr>
          <a:xfrm>
            <a:off x="7867650" y="3810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Q2：為什麼改好的首頁不見？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9C4B6B-BE99-476E-BC51-B2241FA81C2F}"/>
              </a:ext>
            </a:extLst>
          </p:cNvPr>
          <p:cNvSpPr>
            <a:spLocks noGrp="1"/>
          </p:cNvSpPr>
          <p:nvPr/>
        </p:nvSpPr>
        <p:spPr>
          <a:xfrm>
            <a:off x="7867650" y="44196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因為修改在</a:t>
            </a:r>
            <a:r>
              <a:rPr sz="135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container </a:t>
            </a:r>
            <a:r>
              <a:rPr sz="135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內；container</a:t>
            </a:r>
            <a:r>
              <a:rPr sz="135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E2E8F0"/>
                </a:solidFill>
                <a:latin typeface="Aptos"/>
                <a:ea typeface="Aptos"/>
                <a:cs typeface="Aptos"/>
              </a:rPr>
              <a:t>被刪掉後，未保存到外部的檔案也一起消失</a:t>
            </a:r>
            <a:r>
              <a:rPr sz="135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1720EF-DCA6-452F-A356-913760CAE54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FE59A6-4431-4E6C-B000-D9C4824E00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50CEAD-7AEB-4EC8-B8D5-8BE3252439A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258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367CD96-92D4-4BA0-BD97-C8D7DCC45E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EPHEMERAL CONTAINERS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DBC04D-C036-4698-BE9D-3EDFF45270A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臨時測試容器請加 --rm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F3F763B-FF34-4E03-812D-BEAE2262B393}"/>
              </a:ext>
            </a:extLst>
          </p:cNvPr>
          <p:cNvSpPr>
            <a:spLocks noGrp="1"/>
          </p:cNvSpPr>
          <p:nvPr/>
        </p:nvSpPr>
        <p:spPr>
          <a:xfrm>
            <a:off x="895350" y="1695450"/>
            <a:ext cx="5962650" cy="2114550"/>
          </a:xfrm>
          <a:prstGeom prst="roundRect">
            <a:avLst>
              <a:gd name="adj" fmla="val 450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4BB17C9-3F67-494F-9590-CA7064F7E462}"/>
              </a:ext>
            </a:extLst>
          </p:cNvPr>
          <p:cNvSpPr>
            <a:spLocks noGrp="1"/>
          </p:cNvSpPr>
          <p:nvPr/>
        </p:nvSpPr>
        <p:spPr>
          <a:xfrm>
            <a:off x="106680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09105F3-BFF6-47EE-8E76-D2C6A17A73C4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185D74C-C1FA-4CD3-8F4A-BABFD8CF4931}"/>
              </a:ext>
            </a:extLst>
          </p:cNvPr>
          <p:cNvSpPr>
            <a:spLocks noGrp="1"/>
          </p:cNvSpPr>
          <p:nvPr/>
        </p:nvSpPr>
        <p:spPr>
          <a:xfrm>
            <a:off x="140970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33D64B-FDC3-4FC9-B2C7-65560702728B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55435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用完即丟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docker run -it --rm </a:t>
            </a:r>
            <a:r>
              <a:rPr lang="en-US"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bash</a:t>
            </a:r>
          </a:p>
          <a:p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沒有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rm：停止後仍留在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docker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-a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docker run -it </a:t>
            </a:r>
            <a:r>
              <a:rPr lang="en-US" altLang="zh-TW"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bash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0AAD5FC-6ACA-4C0E-8B26-D7DD54318F36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32004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4AF116-097F-4296-BB1D-CFBADD96F38F}"/>
              </a:ext>
            </a:extLst>
          </p:cNvPr>
          <p:cNvSpPr>
            <a:spLocks noGrp="1"/>
          </p:cNvSpPr>
          <p:nvPr/>
        </p:nvSpPr>
        <p:spPr>
          <a:xfrm>
            <a:off x="7753350" y="1790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沒有 --rm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10A92C-66BA-43B3-8992-27306C9CF7D7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停止後容器還在，需要手動 docker rm。適合長期跑的服務。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B512E2A-1D78-4694-B402-331BF501D11F}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3200400" cy="1333500"/>
          </a:xfrm>
          <a:prstGeom prst="roundRect">
            <a:avLst>
              <a:gd name="adj" fmla="val 8571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4C70D0-E667-4465-91E5-D5DFA4394AA4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有 --rm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309C9E-0356-44D5-944F-894E4BF355B4}"/>
              </a:ext>
            </a:extLst>
          </p:cNvPr>
          <p:cNvSpPr>
            <a:spLocks noGrp="1"/>
          </p:cNvSpPr>
          <p:nvPr/>
        </p:nvSpPr>
        <p:spPr>
          <a:xfrm>
            <a:off x="7753350" y="386715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1528"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exit 後自動刪除，不留垃圾。適合臨時測試、試指令。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6C8430-F043-4B92-AB57-092E16576CA6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養成習慣：一次性容器加 --rm，避免累積一堆 Exited 容器。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C2FFBE-F986-4A68-B8B3-B7EFC6D604F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8E175B-02B6-451A-BCF2-B0F9DABCFFA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383ED5-2725-40E0-B842-3AF38BE13E6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6653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5D1B20A-D099-4C43-98BB-73704058EF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VOLUME CONCEPT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D18C44-56C3-40A3-9406-996278ECCEF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Volume 解決資料跟著容器消失的問題</a:t>
            </a: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rcRect l="3100" r="3100"/>
          <a:stretch>
            <a:fillRect/>
          </a:stretch>
        </p:blipFill>
        <p:spPr>
          <a:xfrm>
            <a:off x="6153150" y="1352550"/>
            <a:ext cx="4762500" cy="2857500"/>
          </a:xfrm>
          <a:prstGeom prst="round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506FB13D-C501-4BC6-9469-E9D2BBB42F1C}"/>
              </a:ext>
            </a:extLst>
          </p:cNvPr>
          <p:cNvSpPr>
            <a:spLocks noGrp="1"/>
          </p:cNvSpPr>
          <p:nvPr/>
        </p:nvSpPr>
        <p:spPr>
          <a:xfrm>
            <a:off x="6153150" y="1352550"/>
            <a:ext cx="4762500" cy="2857500"/>
          </a:xfrm>
          <a:prstGeom prst="roundRect">
            <a:avLst>
              <a:gd name="adj" fmla="val 4667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DF907D2-F798-4B47-A6E9-D56E73D5DE58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095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EB22E2-A831-49FC-8913-828F1C5AE08E}"/>
              </a:ext>
            </a:extLst>
          </p:cNvPr>
          <p:cNvSpPr>
            <a:spLocks noGrp="1"/>
          </p:cNvSpPr>
          <p:nvPr/>
        </p:nvSpPr>
        <p:spPr>
          <a:xfrm>
            <a:off x="1219200" y="18669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容器可以刪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689558-52F4-47D5-AF58-96CFEC32C69A}"/>
              </a:ext>
            </a:extLst>
          </p:cNvPr>
          <p:cNvSpPr>
            <a:spLocks noGrp="1"/>
          </p:cNvSpPr>
          <p:nvPr/>
        </p:nvSpPr>
        <p:spPr>
          <a:xfrm>
            <a:off x="1219200" y="2286000"/>
            <a:ext cx="3638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容器天生適合重建、替換、用完就丟。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8107481-98F6-42BD-A120-3785261CA7C3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4095750" cy="142875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64FE83-C46A-404C-B4BB-6355FCD9560A}"/>
              </a:ext>
            </a:extLst>
          </p:cNvPr>
          <p:cNvSpPr>
            <a:spLocks noGrp="1"/>
          </p:cNvSpPr>
          <p:nvPr/>
        </p:nvSpPr>
        <p:spPr>
          <a:xfrm>
            <a:off x="1219200" y="34671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資料不能丟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68B530-4226-421E-AF5C-F4FF86B6700D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3638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網頁檔、設定檔、資料庫資料，都不應該只放在 container 內部。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6F80D6-06AA-46DD-A84C-7107CF5BB85D}"/>
              </a:ext>
            </a:extLst>
          </p:cNvPr>
          <p:cNvSpPr>
            <a:spLocks noGrp="1"/>
          </p:cNvSpPr>
          <p:nvPr/>
        </p:nvSpPr>
        <p:spPr>
          <a:xfrm>
            <a:off x="1504950" y="5334000"/>
            <a:ext cx="918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接下來全程用 nginx 示範：先同步本機資料夾，再進到 Docker 管理的 volume。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3C07F7-B5FC-42DA-AA0F-FD2713D3454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7088CD-15C4-4D7D-9A77-5918ADA8C3C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6C4C73-1DAE-4DA3-A2FF-4417C3D15DD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237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29268AC-9A4B-41D6-BECD-C67A3D63117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VOLUME EXAMPLES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50001E-9520-47DF-9FE4-D3D9433584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兩個範例：Mounted Volume vs Named Volume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6114BB2-CCEA-47E0-A6ED-1958E2FDC07E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4762500" cy="3352800"/>
          </a:xfrm>
          <a:prstGeom prst="roundRect">
            <a:avLst>
              <a:gd name="adj" fmla="val 3409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885270-E119-4274-814A-A09A34975B5C}"/>
              </a:ext>
            </a:extLst>
          </p:cNvPr>
          <p:cNvSpPr>
            <a:spLocks noGrp="1"/>
          </p:cNvSpPr>
          <p:nvPr/>
        </p:nvSpPr>
        <p:spPr>
          <a:xfrm>
            <a:off x="1181100" y="19050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ctr">
              <a:lnSpc>
                <a:spcPct val="106000"/>
              </a:lnSpc>
              <a:buNone/>
              <a:def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Mounted Volume（Bind Mount）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DA0EF2C-0CB8-4EBA-B770-D925C3339AB8}"/>
              </a:ext>
            </a:extLst>
          </p:cNvPr>
          <p:cNvSpPr>
            <a:spLocks noGrp="1"/>
          </p:cNvSpPr>
          <p:nvPr/>
        </p:nvSpPr>
        <p:spPr>
          <a:xfrm>
            <a:off x="1295400" y="2533650"/>
            <a:ext cx="3924300" cy="781050"/>
          </a:xfrm>
          <a:prstGeom prst="roundRect">
            <a:avLst>
              <a:gd name="adj" fmla="val 1219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6665B4E-3E17-42C8-ACCA-F0BCD13FF74E}"/>
              </a:ext>
            </a:extLst>
          </p:cNvPr>
          <p:cNvSpPr>
            <a:spLocks noGrp="1"/>
          </p:cNvSpPr>
          <p:nvPr/>
        </p:nvSpPr>
        <p:spPr>
          <a:xfrm>
            <a:off x="1466850" y="2695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EAB393E-A9BB-497E-9334-5D27ED0CDA8F}"/>
              </a:ext>
            </a:extLst>
          </p:cNvPr>
          <p:cNvSpPr>
            <a:spLocks noGrp="1"/>
          </p:cNvSpPr>
          <p:nvPr/>
        </p:nvSpPr>
        <p:spPr>
          <a:xfrm>
            <a:off x="1638300" y="2695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E9BF29C-4F0B-406D-9133-64F0B501C39F}"/>
              </a:ext>
            </a:extLst>
          </p:cNvPr>
          <p:cNvSpPr>
            <a:spLocks noGrp="1"/>
          </p:cNvSpPr>
          <p:nvPr/>
        </p:nvSpPr>
        <p:spPr>
          <a:xfrm>
            <a:off x="1809750" y="2695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75C2F-84D8-43E8-8CEC-F55D8E39A054}"/>
              </a:ext>
            </a:extLst>
          </p:cNvPr>
          <p:cNvSpPr>
            <a:spLocks noGrp="1"/>
          </p:cNvSpPr>
          <p:nvPr/>
        </p:nvSpPr>
        <p:spPr>
          <a:xfrm>
            <a:off x="1504950" y="295275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413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主機路徑:/usr/share/nginx/html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6F8ED4-1C11-442A-B990-6A8863F18AF9}"/>
              </a:ext>
            </a:extLst>
          </p:cNvPr>
          <p:cNvSpPr>
            <a:spLocks noGrp="1"/>
          </p:cNvSpPr>
          <p:nvPr/>
        </p:nvSpPr>
        <p:spPr>
          <a:xfrm>
            <a:off x="1276350" y="3657600"/>
            <a:ext cx="381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自己指定主機路徑；改 index.html 後重新整理就變。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2BBCA85-DB07-4DC3-B0A4-7495FF97E653}"/>
              </a:ext>
            </a:extLst>
          </p:cNvPr>
          <p:cNvSpPr>
            <a:spLocks noGrp="1"/>
          </p:cNvSpPr>
          <p:nvPr/>
        </p:nvSpPr>
        <p:spPr>
          <a:xfrm>
            <a:off x="6553200" y="1581150"/>
            <a:ext cx="4762500" cy="3352800"/>
          </a:xfrm>
          <a:prstGeom prst="roundRect">
            <a:avLst>
              <a:gd name="adj" fmla="val 3409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613494-D469-43BF-B521-48AC218C43CA}"/>
              </a:ext>
            </a:extLst>
          </p:cNvPr>
          <p:cNvSpPr>
            <a:spLocks noGrp="1"/>
          </p:cNvSpPr>
          <p:nvPr/>
        </p:nvSpPr>
        <p:spPr>
          <a:xfrm>
            <a:off x="6858000" y="19050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ctr">
              <a:lnSpc>
                <a:spcPct val="106000"/>
              </a:lnSpc>
              <a:buNone/>
              <a:def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Named Volume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C6EE2D5-CB69-40ED-8096-B293366921BF}"/>
              </a:ext>
            </a:extLst>
          </p:cNvPr>
          <p:cNvSpPr>
            <a:spLocks noGrp="1"/>
          </p:cNvSpPr>
          <p:nvPr/>
        </p:nvSpPr>
        <p:spPr>
          <a:xfrm>
            <a:off x="6972300" y="2533650"/>
            <a:ext cx="3924300" cy="781050"/>
          </a:xfrm>
          <a:prstGeom prst="roundRect">
            <a:avLst>
              <a:gd name="adj" fmla="val 1219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F067D187-5746-496A-ACB9-E76BEB5610E6}"/>
              </a:ext>
            </a:extLst>
          </p:cNvPr>
          <p:cNvSpPr>
            <a:spLocks noGrp="1"/>
          </p:cNvSpPr>
          <p:nvPr/>
        </p:nvSpPr>
        <p:spPr>
          <a:xfrm>
            <a:off x="7143750" y="2695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3BE202C-6A6E-4E0C-B796-FE606F0CC4BF}"/>
              </a:ext>
            </a:extLst>
          </p:cNvPr>
          <p:cNvSpPr>
            <a:spLocks noGrp="1"/>
          </p:cNvSpPr>
          <p:nvPr/>
        </p:nvSpPr>
        <p:spPr>
          <a:xfrm>
            <a:off x="7315200" y="2695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8170033D-4D72-448F-9DCA-669680ADB56A}"/>
              </a:ext>
            </a:extLst>
          </p:cNvPr>
          <p:cNvSpPr>
            <a:spLocks noGrp="1"/>
          </p:cNvSpPr>
          <p:nvPr/>
        </p:nvSpPr>
        <p:spPr>
          <a:xfrm>
            <a:off x="7486650" y="2695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9AB6B0-A934-408C-A974-69FB34C1B414}"/>
              </a:ext>
            </a:extLst>
          </p:cNvPr>
          <p:cNvSpPr>
            <a:spLocks noGrp="1"/>
          </p:cNvSpPr>
          <p:nvPr/>
        </p:nvSpPr>
        <p:spPr>
          <a:xfrm>
            <a:off x="7181850" y="2952750"/>
            <a:ext cx="3505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413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nginx-html:/usr/share/nginx/html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1E9158-76CD-49D8-AED6-0CD936DB9367}"/>
              </a:ext>
            </a:extLst>
          </p:cNvPr>
          <p:cNvSpPr>
            <a:spLocks noGrp="1"/>
          </p:cNvSpPr>
          <p:nvPr/>
        </p:nvSpPr>
        <p:spPr>
          <a:xfrm>
            <a:off x="6953250" y="3657600"/>
            <a:ext cx="381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999"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Docker 管理資料位置；刪掉 container 後資料仍在。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19426F-CC7E-48B7-ADF2-56049DF0106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6120E6-A423-4D6B-87B0-252637E0C9C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166BC8-6DDB-4E7B-9921-A6F7C04DE66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312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6C1570E-A905-4F6F-AFCF-B2C9A4CEA2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0 / BASELINE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D43A35-7B4A-4F05-A0A2-06766202DA0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先看沒有 Volume 時，修改會消失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EB4FE24-34E7-4D8E-90F9-18FC65B9D509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4381500" cy="2476500"/>
          </a:xfrm>
          <a:prstGeom prst="roundRect">
            <a:avLst>
              <a:gd name="adj" fmla="val 461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21E977-DF98-4D05-AB73-D57938A81225}"/>
              </a:ext>
            </a:extLst>
          </p:cNvPr>
          <p:cNvSpPr>
            <a:spLocks noGrp="1"/>
          </p:cNvSpPr>
          <p:nvPr/>
        </p:nvSpPr>
        <p:spPr>
          <a:xfrm>
            <a:off x="1276350" y="20002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1. container 內改檔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6672BF-6E24-4D52-B314-FF30D738BBB5}"/>
              </a:ext>
            </a:extLst>
          </p:cNvPr>
          <p:cNvSpPr>
            <a:spLocks noGrp="1"/>
          </p:cNvSpPr>
          <p:nvPr/>
        </p:nvSpPr>
        <p:spPr>
          <a:xfrm>
            <a:off x="1276350" y="2571750"/>
            <a:ext cx="3924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exec -it nginx-life </a:t>
            </a:r>
            <a:r>
              <a:rPr lang="en-US" sz="16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bash</a:t>
            </a:r>
            <a:endParaRPr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cd /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usr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/share/nginx/html</a:t>
            </a:r>
          </a:p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echo '&lt;h1&gt;No volume&lt;/h1&gt;' &gt; index.html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DD3E445-B7CD-4B06-9726-63CF48CE0471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381500" cy="2476500"/>
          </a:xfrm>
          <a:prstGeom prst="roundRect">
            <a:avLst>
              <a:gd name="adj" fmla="val 461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C72F1D-BF87-43D9-AC1C-1A3FD5FB465E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2. 刪掉重建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4C873-CAAB-4D71-9A8D-7BAB208E352C}"/>
              </a:ext>
            </a:extLst>
          </p:cNvPr>
          <p:cNvSpPr>
            <a:spLocks noGrp="1"/>
          </p:cNvSpPr>
          <p:nvPr/>
        </p:nvSpPr>
        <p:spPr>
          <a:xfrm>
            <a:off x="6991350" y="2571750"/>
            <a:ext cx="3924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rm -f nginx-life</a:t>
            </a:r>
          </a:p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run -d --name nginx-life -p 9090:80 nginx</a:t>
            </a:r>
          </a:p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頁面回到預設歡迎頁。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CCBB83-68CE-4AD1-9B06-EBD67CCB4941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結論：container 內修改不是保存資料的方式，接著用 Volume 解決。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CB4F13-98B4-4CF3-8AA5-E2DDB93EDE6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0F5B65-0FDE-4280-BB73-4673B0E1186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AEE011-4184-4EDF-9A5E-776956C1636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652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4D6CEAA-13FE-46AF-9D01-97B329D6B0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1 / HOST FOLDER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F9E318-79B0-4A17-98BC-8EE508735B6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建立本機網站資料夾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9E8C46F-9C0C-4F9A-ACAE-BCB36F147AEC}"/>
              </a:ext>
            </a:extLst>
          </p:cNvPr>
          <p:cNvSpPr>
            <a:spLocks noGrp="1"/>
          </p:cNvSpPr>
          <p:nvPr/>
        </p:nvSpPr>
        <p:spPr>
          <a:xfrm>
            <a:off x="857250" y="1447800"/>
            <a:ext cx="4762500" cy="3467100"/>
          </a:xfrm>
          <a:prstGeom prst="roundRect">
            <a:avLst>
              <a:gd name="adj" fmla="val 274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ADBB957-33CA-4E8F-B722-B805C02D122F}"/>
              </a:ext>
            </a:extLst>
          </p:cNvPr>
          <p:cNvSpPr>
            <a:spLocks noGrp="1"/>
          </p:cNvSpPr>
          <p:nvPr/>
        </p:nvSpPr>
        <p:spPr>
          <a:xfrm>
            <a:off x="102870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6BCF941-E727-4F13-B0D4-727BD2095AF1}"/>
              </a:ext>
            </a:extLst>
          </p:cNvPr>
          <p:cNvSpPr>
            <a:spLocks noGrp="1"/>
          </p:cNvSpPr>
          <p:nvPr/>
        </p:nvSpPr>
        <p:spPr>
          <a:xfrm>
            <a:off x="120015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61347A3-8DEE-466F-9A8B-BE4F06870AEB}"/>
              </a:ext>
            </a:extLst>
          </p:cNvPr>
          <p:cNvSpPr>
            <a:spLocks noGrp="1"/>
          </p:cNvSpPr>
          <p:nvPr/>
        </p:nvSpPr>
        <p:spPr>
          <a:xfrm>
            <a:off x="137160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A68EB4-8103-4DA1-85B7-3BCE661874C4}"/>
              </a:ext>
            </a:extLst>
          </p:cNvPr>
          <p:cNvSpPr>
            <a:spLocks noGrp="1"/>
          </p:cNvSpPr>
          <p:nvPr/>
        </p:nvSpPr>
        <p:spPr>
          <a:xfrm>
            <a:off x="1066800" y="1866900"/>
            <a:ext cx="4343400" cy="291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mkdir C:\docker-lab\nginx-site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notepad C:\docker-lab\nginx-site\index.html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DC86745-C703-4C54-A686-7038B20B4DCA}"/>
              </a:ext>
            </a:extLst>
          </p:cNvPr>
          <p:cNvSpPr>
            <a:spLocks noGrp="1"/>
          </p:cNvSpPr>
          <p:nvPr/>
        </p:nvSpPr>
        <p:spPr>
          <a:xfrm>
            <a:off x="6667500" y="1466850"/>
            <a:ext cx="3524250" cy="51435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D4DB3B-1B31-4A6F-887B-2F90BC1B725C}"/>
              </a:ext>
            </a:extLst>
          </p:cNvPr>
          <p:cNvSpPr>
            <a:spLocks noGrp="1"/>
          </p:cNvSpPr>
          <p:nvPr/>
        </p:nvSpPr>
        <p:spPr>
          <a:xfrm>
            <a:off x="6877050" y="16002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mkdir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36ECA2-1B0C-4199-9422-7B9E826CCA8B}"/>
              </a:ext>
            </a:extLst>
          </p:cNvPr>
          <p:cNvSpPr>
            <a:spLocks noGrp="1"/>
          </p:cNvSpPr>
          <p:nvPr/>
        </p:nvSpPr>
        <p:spPr>
          <a:xfrm>
            <a:off x="7848600" y="15906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建立資料夾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D0E1FDD-161C-48DE-8F81-BFBD63B9D512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3524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C82D15-9E32-4F8C-8044-5172EF32ACAE}"/>
              </a:ext>
            </a:extLst>
          </p:cNvPr>
          <p:cNvSpPr>
            <a:spLocks noGrp="1"/>
          </p:cNvSpPr>
          <p:nvPr/>
        </p:nvSpPr>
        <p:spPr>
          <a:xfrm>
            <a:off x="6877050" y="23241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index.html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82F332-3B31-4BDB-8F03-F9D1E8D388EE}"/>
              </a:ext>
            </a:extLst>
          </p:cNvPr>
          <p:cNvSpPr>
            <a:spLocks noGrp="1"/>
          </p:cNvSpPr>
          <p:nvPr/>
        </p:nvSpPr>
        <p:spPr>
          <a:xfrm>
            <a:off x="7848600" y="23145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放首頁 HTML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D4E90E2-00CC-49BE-9D87-D294BEA9C3DC}"/>
              </a:ext>
            </a:extLst>
          </p:cNvPr>
          <p:cNvSpPr>
            <a:spLocks noGrp="1"/>
          </p:cNvSpPr>
          <p:nvPr/>
        </p:nvSpPr>
        <p:spPr>
          <a:xfrm>
            <a:off x="6667500" y="2914650"/>
            <a:ext cx="3524250" cy="51435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ECA2B0-27F9-4666-8CEC-E4C35BA1D669}"/>
              </a:ext>
            </a:extLst>
          </p:cNvPr>
          <p:cNvSpPr>
            <a:spLocks noGrp="1"/>
          </p:cNvSpPr>
          <p:nvPr/>
        </p:nvSpPr>
        <p:spPr>
          <a:xfrm>
            <a:off x="6877050" y="30480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主機路徑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BC79F2-C7F8-4A33-ABF1-93E6F0297B01}"/>
              </a:ext>
            </a:extLst>
          </p:cNvPr>
          <p:cNvSpPr>
            <a:spLocks noGrp="1"/>
          </p:cNvSpPr>
          <p:nvPr/>
        </p:nvSpPr>
        <p:spPr>
          <a:xfrm>
            <a:off x="7848600" y="30384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C:\docker-lab\nginx-site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21B2593-5467-48AC-A69A-C45DBE9E0CA5}"/>
              </a:ext>
            </a:extLst>
          </p:cNvPr>
          <p:cNvSpPr>
            <a:spLocks noGrp="1"/>
          </p:cNvSpPr>
          <p:nvPr/>
        </p:nvSpPr>
        <p:spPr>
          <a:xfrm>
            <a:off x="6667500" y="3638550"/>
            <a:ext cx="3524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22B2CB-EF0E-44E4-B5B8-90D1945A62F4}"/>
              </a:ext>
            </a:extLst>
          </p:cNvPr>
          <p:cNvSpPr>
            <a:spLocks noGrp="1"/>
          </p:cNvSpPr>
          <p:nvPr/>
        </p:nvSpPr>
        <p:spPr>
          <a:xfrm>
            <a:off x="6877050" y="37719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下一步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AB3953-14EF-4190-B851-C043808B80A2}"/>
              </a:ext>
            </a:extLst>
          </p:cNvPr>
          <p:cNvSpPr>
            <a:spLocks noGrp="1"/>
          </p:cNvSpPr>
          <p:nvPr/>
        </p:nvSpPr>
        <p:spPr>
          <a:xfrm>
            <a:off x="7848600" y="37623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掛進 nginx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DD4B8CB7-FDBF-4CE1-9CA8-E2252DA01788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3524250" cy="51435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654A56-F597-49E1-859E-1CFB00B939BD}"/>
              </a:ext>
            </a:extLst>
          </p:cNvPr>
          <p:cNvSpPr>
            <a:spLocks noGrp="1"/>
          </p:cNvSpPr>
          <p:nvPr/>
        </p:nvSpPr>
        <p:spPr>
          <a:xfrm>
            <a:off x="6877050" y="44958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先確認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199914-80E4-42D6-8081-A36560F14049}"/>
              </a:ext>
            </a:extLst>
          </p:cNvPr>
          <p:cNvSpPr>
            <a:spLocks noGrp="1"/>
          </p:cNvSpPr>
          <p:nvPr/>
        </p:nvSpPr>
        <p:spPr>
          <a:xfrm>
            <a:off x="7848600" y="448627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主機上真的有檔案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94137C-540B-4515-A787-783D0998871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F94CD4-67BF-4C6D-82AB-D571AF30AFF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24C108-4AB8-40B0-A764-EA0AE2EB7A4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88760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C0D8F44-CB63-4649-B26B-8BEB48828B7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STEP 2 / MOUNTED VOLUME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FE9034-3667-4485-9FF4-E2C28CC54AC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Mounted Volume（Bind Mount）範例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D1A9C81-A29E-4B56-9498-5896952054FF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7239000" cy="4095750"/>
          </a:xfrm>
          <a:prstGeom prst="roundRect">
            <a:avLst>
              <a:gd name="adj" fmla="val 232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CA2812E-A20A-4138-8B70-EC65E8AE9AF7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B233235-6A59-4521-8BB4-FE01C7E8D398}"/>
              </a:ext>
            </a:extLst>
          </p:cNvPr>
          <p:cNvSpPr>
            <a:spLocks noGrp="1"/>
          </p:cNvSpPr>
          <p:nvPr/>
        </p:nvSpPr>
        <p:spPr>
          <a:xfrm>
            <a:off x="1123950" y="15716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8642376-17AE-465B-AE13-71764AE01E8A}"/>
              </a:ext>
            </a:extLst>
          </p:cNvPr>
          <p:cNvSpPr>
            <a:spLocks noGrp="1"/>
          </p:cNvSpPr>
          <p:nvPr/>
        </p:nvSpPr>
        <p:spPr>
          <a:xfrm>
            <a:off x="1295400" y="15716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1AB181-CF37-489D-8E2C-80B234AC1E64}"/>
              </a:ext>
            </a:extLst>
          </p:cNvPr>
          <p:cNvSpPr>
            <a:spLocks noGrp="1"/>
          </p:cNvSpPr>
          <p:nvPr/>
        </p:nvSpPr>
        <p:spPr>
          <a:xfrm>
            <a:off x="990600" y="1828800"/>
            <a:ext cx="6819900" cy="3543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nginx-bind -p 8080:80 \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"C:\docker-lab\nginx-site:/usr/share/nginx/html" nginx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8D5F5CF-B872-4D4C-AE67-A0208AB391F8}"/>
              </a:ext>
            </a:extLst>
          </p:cNvPr>
          <p:cNvSpPr>
            <a:spLocks noGrp="1"/>
          </p:cNvSpPr>
          <p:nvPr/>
        </p:nvSpPr>
        <p:spPr>
          <a:xfrm>
            <a:off x="8572500" y="1752600"/>
            <a:ext cx="2667000" cy="125730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D5D20D-B8E4-471C-AECD-EF1E20AD986B}"/>
              </a:ext>
            </a:extLst>
          </p:cNvPr>
          <p:cNvSpPr>
            <a:spLocks noGrp="1"/>
          </p:cNvSpPr>
          <p:nvPr/>
        </p:nvSpPr>
        <p:spPr>
          <a:xfrm>
            <a:off x="8801100" y="19431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3B77B4-0C69-4537-A5B5-58B86E1E45D1}"/>
              </a:ext>
            </a:extLst>
          </p:cNvPr>
          <p:cNvSpPr>
            <a:spLocks noGrp="1"/>
          </p:cNvSpPr>
          <p:nvPr/>
        </p:nvSpPr>
        <p:spPr>
          <a:xfrm>
            <a:off x="8801100" y="2362200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http://localhost:8080 看到本機 index.html。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0BCB907-3DD8-43A1-9417-5608E7FED772}"/>
              </a:ext>
            </a:extLst>
          </p:cNvPr>
          <p:cNvSpPr>
            <a:spLocks noGrp="1"/>
          </p:cNvSpPr>
          <p:nvPr/>
        </p:nvSpPr>
        <p:spPr>
          <a:xfrm>
            <a:off x="8572500" y="3581400"/>
            <a:ext cx="2667000" cy="125730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FA40FE-1793-467F-A135-F532AD744A1E}"/>
              </a:ext>
            </a:extLst>
          </p:cNvPr>
          <p:cNvSpPr>
            <a:spLocks noGrp="1"/>
          </p:cNvSpPr>
          <p:nvPr/>
        </p:nvSpPr>
        <p:spPr>
          <a:xfrm>
            <a:off x="8801100" y="37719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左右怎麼讀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03B265-CEED-4FB6-B340-25B038FD926A}"/>
              </a:ext>
            </a:extLst>
          </p:cNvPr>
          <p:cNvSpPr>
            <a:spLocks noGrp="1"/>
          </p:cNvSpPr>
          <p:nvPr/>
        </p:nvSpPr>
        <p:spPr>
          <a:xfrm>
            <a:off x="8801100" y="4191000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左邊是你指定的主機路徑；右邊是 nginx 網頁目錄。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7C67E3-62A1-4EDE-A3F3-DD0B9B5DBA8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E5A85-EE09-40A7-BF39-256241625DB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E4F8F2-26C3-4B26-BAFA-8336877AF79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41849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4C0BAB9-5DA1-4013-AFE6-DC8531A3B4D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3 / EDIT HOST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68563F-FA23-4866-955E-97EA5A6AD5F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改本機檔案，瀏覽器直接變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4F07FCC-0AFD-4244-81D7-8CDCB71F1B50}"/>
              </a:ext>
            </a:extLst>
          </p:cNvPr>
          <p:cNvSpPr>
            <a:spLocks noGrp="1"/>
          </p:cNvSpPr>
          <p:nvPr/>
        </p:nvSpPr>
        <p:spPr>
          <a:xfrm>
            <a:off x="1066800" y="1657350"/>
            <a:ext cx="10058400" cy="990600"/>
          </a:xfrm>
          <a:prstGeom prst="roundRect">
            <a:avLst>
              <a:gd name="adj" fmla="val 961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10F3D906-DA1A-4870-98D8-5CD2A538D14F}"/>
              </a:ext>
            </a:extLst>
          </p:cNvPr>
          <p:cNvSpPr>
            <a:spLocks noGrp="1"/>
          </p:cNvSpPr>
          <p:nvPr/>
        </p:nvSpPr>
        <p:spPr>
          <a:xfrm>
            <a:off x="1238250" y="18192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8C95964-BD3B-4310-8E28-6D25696E5FA2}"/>
              </a:ext>
            </a:extLst>
          </p:cNvPr>
          <p:cNvSpPr>
            <a:spLocks noGrp="1"/>
          </p:cNvSpPr>
          <p:nvPr/>
        </p:nvSpPr>
        <p:spPr>
          <a:xfrm>
            <a:off x="1409700" y="18192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5748FEC-3C20-471C-8B98-05FED1E90154}"/>
              </a:ext>
            </a:extLst>
          </p:cNvPr>
          <p:cNvSpPr>
            <a:spLocks noGrp="1"/>
          </p:cNvSpPr>
          <p:nvPr/>
        </p:nvSpPr>
        <p:spPr>
          <a:xfrm>
            <a:off x="1581150" y="18192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66D246-F6EA-4B78-987D-8C7AC90970FC}"/>
              </a:ext>
            </a:extLst>
          </p:cNvPr>
          <p:cNvSpPr>
            <a:spLocks noGrp="1"/>
          </p:cNvSpPr>
          <p:nvPr/>
        </p:nvSpPr>
        <p:spPr>
          <a:xfrm>
            <a:off x="1276350" y="2076450"/>
            <a:ext cx="9639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notepad C:\docker-lab\nginx-site\index.html</a:t>
            </a:r>
          </a:p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修改後重新整理 localhost:8080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3471F0A-008D-47ED-99E9-F7107CBC5642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3714750" cy="1447800"/>
          </a:xfrm>
          <a:prstGeom prst="roundRect">
            <a:avLst>
              <a:gd name="adj" fmla="val 789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3CBFF4-7FBF-437E-B537-6FE6CDE9B742}"/>
              </a:ext>
            </a:extLst>
          </p:cNvPr>
          <p:cNvSpPr>
            <a:spLocks noGrp="1"/>
          </p:cNvSpPr>
          <p:nvPr/>
        </p:nvSpPr>
        <p:spPr>
          <a:xfrm>
            <a:off x="1943100" y="35814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341"/>
          </a:bodyPr>
          <a:lstStyle/>
          <a:p>
            <a:pPr algn="l">
              <a:lnSpc>
                <a:spcPct val="106000"/>
              </a:lnSpc>
              <a:buNone/>
              <a:defRPr sz="28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不用 restart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EFE118-17E7-4ED8-AE7A-F9FDAAC9948B}"/>
              </a:ext>
            </a:extLst>
          </p:cNvPr>
          <p:cNvSpPr>
            <a:spLocks noGrp="1"/>
          </p:cNvSpPr>
          <p:nvPr/>
        </p:nvSpPr>
        <p:spPr>
          <a:xfrm>
            <a:off x="1943100" y="4095750"/>
            <a:ext cx="3257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 每次請求會讀最新靜態檔。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D3FC156-D5BA-45EE-BC7A-81C253C38437}"/>
              </a:ext>
            </a:extLst>
          </p:cNvPr>
          <p:cNvSpPr>
            <a:spLocks noGrp="1"/>
          </p:cNvSpPr>
          <p:nvPr/>
        </p:nvSpPr>
        <p:spPr>
          <a:xfrm>
            <a:off x="6762750" y="3390900"/>
            <a:ext cx="371475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913451-59AA-41B9-AF8F-C8C781F601B9}"/>
              </a:ext>
            </a:extLst>
          </p:cNvPr>
          <p:cNvSpPr>
            <a:spLocks noGrp="1"/>
          </p:cNvSpPr>
          <p:nvPr/>
        </p:nvSpPr>
        <p:spPr>
          <a:xfrm>
            <a:off x="6991350" y="35814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不用 build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5AB360-F38E-44FC-A1B8-F1226E674CD8}"/>
              </a:ext>
            </a:extLst>
          </p:cNvPr>
          <p:cNvSpPr>
            <a:spLocks noGrp="1"/>
          </p:cNvSpPr>
          <p:nvPr/>
        </p:nvSpPr>
        <p:spPr>
          <a:xfrm>
            <a:off x="6991350" y="4057650"/>
            <a:ext cx="3257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因為改的是主機檔案，不是 image。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DA1231-8858-45F6-AD2F-0F488E8C232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E83DCB-0E8E-4B4B-944A-1A2CE596299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2F8620-48F4-4865-8172-10AEE8437F8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4146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797B32F-0239-44A7-9F06-BD73E3BBC6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STEP 4 / VERIFY INSIDE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DECF7D-824F-40E4-B9FB-57EF393648E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nginx container 確認掛載結果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56AF28E-96ED-4C68-A4A5-B49133A241D6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6667500" cy="247650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14ECBCB-FB39-4ED6-AEA1-1DD199FAF6D0}"/>
              </a:ext>
            </a:extLst>
          </p:cNvPr>
          <p:cNvSpPr>
            <a:spLocks noGrp="1"/>
          </p:cNvSpPr>
          <p:nvPr/>
        </p:nvSpPr>
        <p:spPr>
          <a:xfrm>
            <a:off x="990600" y="17240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88FD85D-CCB2-4DF9-828F-AD8BDEE69CA1}"/>
              </a:ext>
            </a:extLst>
          </p:cNvPr>
          <p:cNvSpPr>
            <a:spLocks noGrp="1"/>
          </p:cNvSpPr>
          <p:nvPr/>
        </p:nvSpPr>
        <p:spPr>
          <a:xfrm>
            <a:off x="1162050" y="17240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E21DD35-3206-4D2C-B029-2D029A61B04B}"/>
              </a:ext>
            </a:extLst>
          </p:cNvPr>
          <p:cNvSpPr>
            <a:spLocks noGrp="1"/>
          </p:cNvSpPr>
          <p:nvPr/>
        </p:nvSpPr>
        <p:spPr>
          <a:xfrm>
            <a:off x="1333500" y="17240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2571EC-4278-4719-860B-FD7ECEA746B4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62484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nginx-bind </a:t>
            </a:r>
            <a:r>
              <a:rPr lang="en-US"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bash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/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usr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/share/nginx/html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cat index.html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60D3C70-AD91-4783-8045-6EA01A755945}"/>
              </a:ext>
            </a:extLst>
          </p:cNvPr>
          <p:cNvSpPr>
            <a:spLocks noGrp="1"/>
          </p:cNvSpPr>
          <p:nvPr/>
        </p:nvSpPr>
        <p:spPr>
          <a:xfrm>
            <a:off x="8001000" y="17907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168AEF-CA31-471F-ACA3-AFFEBBF1E898}"/>
              </a:ext>
            </a:extLst>
          </p:cNvPr>
          <p:cNvSpPr>
            <a:spLocks noGrp="1"/>
          </p:cNvSpPr>
          <p:nvPr/>
        </p:nvSpPr>
        <p:spPr>
          <a:xfrm>
            <a:off x="8229600" y="198120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預期結果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7D4027-6F78-49F6-A6B6-8348F054A43E}"/>
              </a:ext>
            </a:extLst>
          </p:cNvPr>
          <p:cNvSpPr>
            <a:spLocks noGrp="1"/>
          </p:cNvSpPr>
          <p:nvPr/>
        </p:nvSpPr>
        <p:spPr>
          <a:xfrm>
            <a:off x="8229600" y="2457450"/>
            <a:ext cx="2400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81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cat 看到的內容，會和本機 index.html 一樣。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85BD95-1DC1-4865-BE30-61D1B973B6A2}"/>
              </a:ext>
            </a:extLst>
          </p:cNvPr>
          <p:cNvSpPr>
            <a:spLocks noGrp="1"/>
          </p:cNvSpPr>
          <p:nvPr/>
        </p:nvSpPr>
        <p:spPr>
          <a:xfrm>
            <a:off x="1485900" y="5067300"/>
            <a:ext cx="922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這一步讓學生看到：container 路徑其實指向主機資料夾。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188988-033B-4B31-A51C-265A640815F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B97747-5072-407F-88D8-6183989E46F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BA32A-6069-45B9-8457-9234D4F4805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30799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1BC55781-741D-4296-B4B9-E9AABCA224E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BIND MOUNT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9F25F0-F8A4-4889-8C91-73776599E7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-v 看成一條資料通道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32BCCC-B8F0-4892-8B5C-1910A1A5923E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2286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52F3AD-6C84-4C2E-AE01-4AF310DBA222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98FB13-F48A-4C3B-A08D-374176192A87}"/>
              </a:ext>
            </a:extLst>
          </p:cNvPr>
          <p:cNvSpPr>
            <a:spLocks noGrp="1"/>
          </p:cNvSpPr>
          <p:nvPr/>
        </p:nvSpPr>
        <p:spPr>
          <a:xfrm>
            <a:off x="1352550" y="2038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主機路徑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D36253-6659-46F1-A522-2220D92CBB0F}"/>
              </a:ext>
            </a:extLst>
          </p:cNvPr>
          <p:cNvSpPr>
            <a:spLocks noGrp="1"/>
          </p:cNvSpPr>
          <p:nvPr/>
        </p:nvSpPr>
        <p:spPr>
          <a:xfrm>
            <a:off x="971550" y="2647950"/>
            <a:ext cx="1790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C:\docker-lab\nginx-site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E5E97BEF-8F9B-40F7-9D54-09ED8D5996D8}"/>
              </a:ext>
            </a:extLst>
          </p:cNvPr>
          <p:cNvSpPr>
            <a:spLocks noGrp="1"/>
          </p:cNvSpPr>
          <p:nvPr/>
        </p:nvSpPr>
        <p:spPr>
          <a:xfrm>
            <a:off x="3105150" y="2495550"/>
            <a:ext cx="4572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A622FFA-AB83-4CDD-A03F-5E72DDECCAF3}"/>
              </a:ext>
            </a:extLst>
          </p:cNvPr>
          <p:cNvSpPr>
            <a:spLocks noGrp="1"/>
          </p:cNvSpPr>
          <p:nvPr/>
        </p:nvSpPr>
        <p:spPr>
          <a:xfrm>
            <a:off x="3505200" y="1809750"/>
            <a:ext cx="2286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CF6562-51D6-4CA4-A43E-AFAE472B2F35}"/>
              </a:ext>
            </a:extLst>
          </p:cNvPr>
          <p:cNvSpPr>
            <a:spLocks noGrp="1"/>
          </p:cNvSpPr>
          <p:nvPr/>
        </p:nvSpPr>
        <p:spPr>
          <a:xfrm>
            <a:off x="3733800" y="20574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2DF4B6-4A70-46B9-B9FE-910DCF9E1F66}"/>
              </a:ext>
            </a:extLst>
          </p:cNvPr>
          <p:cNvSpPr>
            <a:spLocks noGrp="1"/>
          </p:cNvSpPr>
          <p:nvPr/>
        </p:nvSpPr>
        <p:spPr>
          <a:xfrm>
            <a:off x="4133850" y="2038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容器路徑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87DD6-3D58-41CF-9BBC-804DC8D37168}"/>
              </a:ext>
            </a:extLst>
          </p:cNvPr>
          <p:cNvSpPr>
            <a:spLocks noGrp="1"/>
          </p:cNvSpPr>
          <p:nvPr/>
        </p:nvSpPr>
        <p:spPr>
          <a:xfrm>
            <a:off x="3752850" y="2647950"/>
            <a:ext cx="1790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/usr/share/nginx/html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E6CB3918-D3B2-4499-B5FE-B7EB50A4E417}"/>
              </a:ext>
            </a:extLst>
          </p:cNvPr>
          <p:cNvSpPr>
            <a:spLocks noGrp="1"/>
          </p:cNvSpPr>
          <p:nvPr/>
        </p:nvSpPr>
        <p:spPr>
          <a:xfrm>
            <a:off x="5886450" y="2495550"/>
            <a:ext cx="4572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6B41B87-C960-44B6-87F2-1F06D836E0EB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22860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A1BF6E-5F74-4237-8BD3-C2AB40E8E8FB}"/>
              </a:ext>
            </a:extLst>
          </p:cNvPr>
          <p:cNvSpPr>
            <a:spLocks noGrp="1"/>
          </p:cNvSpPr>
          <p:nvPr/>
        </p:nvSpPr>
        <p:spPr>
          <a:xfrm>
            <a:off x="6515100" y="20574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D2B238-BB89-4D4A-8B08-2B09A8939A3C}"/>
              </a:ext>
            </a:extLst>
          </p:cNvPr>
          <p:cNvSpPr>
            <a:spLocks noGrp="1"/>
          </p:cNvSpPr>
          <p:nvPr/>
        </p:nvSpPr>
        <p:spPr>
          <a:xfrm>
            <a:off x="6915150" y="2038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冒號連接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76BD4-ED0B-469A-AFE7-5C942BC9B52A}"/>
              </a:ext>
            </a:extLst>
          </p:cNvPr>
          <p:cNvSpPr>
            <a:spLocks noGrp="1"/>
          </p:cNvSpPr>
          <p:nvPr/>
        </p:nvSpPr>
        <p:spPr>
          <a:xfrm>
            <a:off x="6534150" y="2647950"/>
            <a:ext cx="1790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主機:容器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2E817B2F-DB22-462C-B17B-41CFABE72E8B}"/>
              </a:ext>
            </a:extLst>
          </p:cNvPr>
          <p:cNvSpPr>
            <a:spLocks noGrp="1"/>
          </p:cNvSpPr>
          <p:nvPr/>
        </p:nvSpPr>
        <p:spPr>
          <a:xfrm>
            <a:off x="8667750" y="2495550"/>
            <a:ext cx="4572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9A999A8-3500-4A10-BD16-8A738D25CB2D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2286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D07EFF-C561-48AF-B906-59C16FC0478D}"/>
              </a:ext>
            </a:extLst>
          </p:cNvPr>
          <p:cNvSpPr>
            <a:spLocks noGrp="1"/>
          </p:cNvSpPr>
          <p:nvPr/>
        </p:nvSpPr>
        <p:spPr>
          <a:xfrm>
            <a:off x="9296400" y="20574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0582C1-3637-4532-BE87-8176BF7175A5}"/>
              </a:ext>
            </a:extLst>
          </p:cNvPr>
          <p:cNvSpPr>
            <a:spLocks noGrp="1"/>
          </p:cNvSpPr>
          <p:nvPr/>
        </p:nvSpPr>
        <p:spPr>
          <a:xfrm>
            <a:off x="9696450" y="2038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934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即時同步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9A3F0F-8ED1-46D0-BD5F-29FC145B856A}"/>
              </a:ext>
            </a:extLst>
          </p:cNvPr>
          <p:cNvSpPr>
            <a:spLocks noGrp="1"/>
          </p:cNvSpPr>
          <p:nvPr/>
        </p:nvSpPr>
        <p:spPr>
          <a:xfrm>
            <a:off x="9315450" y="2647950"/>
            <a:ext cx="1790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改任何一邊，另一邊看得到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ABF57EF-2972-437D-98AD-96E0A96DFFE8}"/>
              </a:ext>
            </a:extLst>
          </p:cNvPr>
          <p:cNvSpPr>
            <a:spLocks noGrp="1"/>
          </p:cNvSpPr>
          <p:nvPr/>
        </p:nvSpPr>
        <p:spPr>
          <a:xfrm>
            <a:off x="1428750" y="4495800"/>
            <a:ext cx="9334500" cy="1066800"/>
          </a:xfrm>
          <a:prstGeom prst="roundRect">
            <a:avLst>
              <a:gd name="adj" fmla="val 892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4B2EFCB5-5655-4F1F-9767-D46528AEDF35}"/>
              </a:ext>
            </a:extLst>
          </p:cNvPr>
          <p:cNvSpPr>
            <a:spLocks noGrp="1"/>
          </p:cNvSpPr>
          <p:nvPr/>
        </p:nvSpPr>
        <p:spPr>
          <a:xfrm>
            <a:off x="1600200" y="4657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AD28DA7-930B-4D28-9EDD-9EF049782F1D}"/>
              </a:ext>
            </a:extLst>
          </p:cNvPr>
          <p:cNvSpPr>
            <a:spLocks noGrp="1"/>
          </p:cNvSpPr>
          <p:nvPr/>
        </p:nvSpPr>
        <p:spPr>
          <a:xfrm>
            <a:off x="1771650" y="4657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E18F97E-F68C-451A-9FAD-47C11485A912}"/>
              </a:ext>
            </a:extLst>
          </p:cNvPr>
          <p:cNvSpPr>
            <a:spLocks noGrp="1"/>
          </p:cNvSpPr>
          <p:nvPr/>
        </p:nvSpPr>
        <p:spPr>
          <a:xfrm>
            <a:off x="1943100" y="4657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9F6EF5-EE1E-4829-811B-BC5A75A2899C}"/>
              </a:ext>
            </a:extLst>
          </p:cNvPr>
          <p:cNvSpPr>
            <a:spLocks noGrp="1"/>
          </p:cNvSpPr>
          <p:nvPr/>
        </p:nvSpPr>
        <p:spPr>
          <a:xfrm>
            <a:off x="1638300" y="4914900"/>
            <a:ext cx="891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"C:\docker-lab\nginx-site:/usr/share/nginx/html"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528292-8C2D-4F7D-99C7-447773AB506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B8D1CF-67E6-4610-944A-E24B235F2E9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0A753B-DD95-4D98-BD42-833DF0A038D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3023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60A7850-C1C9-499C-AFFB-4FF4FB41B55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WRITE BACK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BA6AB4-8616-4193-8996-818E4ABA26F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反過來：container 裡新增檔案，主機也看得到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FCF6336-2605-4BDC-8DA3-6DD0BA9BF23C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A3118F9-C91D-41AC-B728-74D279C9289D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BA9E7AB-7EA7-47D0-98C5-CE14F2F8A17B}"/>
              </a:ext>
            </a:extLst>
          </p:cNvPr>
          <p:cNvSpPr>
            <a:spLocks noGrp="1"/>
          </p:cNvSpPr>
          <p:nvPr/>
        </p:nvSpPr>
        <p:spPr>
          <a:xfrm>
            <a:off x="1123950" y="17621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3816F38-C1DC-4CE5-8CC9-00D5AA763AA9}"/>
              </a:ext>
            </a:extLst>
          </p:cNvPr>
          <p:cNvSpPr>
            <a:spLocks noGrp="1"/>
          </p:cNvSpPr>
          <p:nvPr/>
        </p:nvSpPr>
        <p:spPr>
          <a:xfrm>
            <a:off x="1295400" y="17621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E0F3E1-2498-44E3-8836-7CA10D6DA16B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3581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C:\docker-lab\nginx-site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index.html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test.html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BCEF44A-58B3-4650-82C9-2BAF1BDCAF18}"/>
              </a:ext>
            </a:extLst>
          </p:cNvPr>
          <p:cNvSpPr>
            <a:spLocks noGrp="1"/>
          </p:cNvSpPr>
          <p:nvPr/>
        </p:nvSpPr>
        <p:spPr>
          <a:xfrm>
            <a:off x="5143500" y="1428750"/>
            <a:ext cx="5905500" cy="3219450"/>
          </a:xfrm>
          <a:prstGeom prst="roundRect">
            <a:avLst>
              <a:gd name="adj" fmla="val 295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26A4787-558A-41B4-829B-CF1C45CA6662}"/>
              </a:ext>
            </a:extLst>
          </p:cNvPr>
          <p:cNvSpPr>
            <a:spLocks noGrp="1"/>
          </p:cNvSpPr>
          <p:nvPr/>
        </p:nvSpPr>
        <p:spPr>
          <a:xfrm>
            <a:off x="53149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D979B0F-F068-4012-904B-D6F1DAC42050}"/>
              </a:ext>
            </a:extLst>
          </p:cNvPr>
          <p:cNvSpPr>
            <a:spLocks noGrp="1"/>
          </p:cNvSpPr>
          <p:nvPr/>
        </p:nvSpPr>
        <p:spPr>
          <a:xfrm>
            <a:off x="54864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BC34195-8FA4-4743-BE5D-1498D9EA2BE3}"/>
              </a:ext>
            </a:extLst>
          </p:cNvPr>
          <p:cNvSpPr>
            <a:spLocks noGrp="1"/>
          </p:cNvSpPr>
          <p:nvPr/>
        </p:nvSpPr>
        <p:spPr>
          <a:xfrm>
            <a:off x="56578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FDD04C-CA99-4D43-A6A9-7F7D27D6B64A}"/>
              </a:ext>
            </a:extLst>
          </p:cNvPr>
          <p:cNvSpPr>
            <a:spLocks noGrp="1"/>
          </p:cNvSpPr>
          <p:nvPr/>
        </p:nvSpPr>
        <p:spPr>
          <a:xfrm>
            <a:off x="5353050" y="1847850"/>
            <a:ext cx="54864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nginx-bind sh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/usr/share/nginx/html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echo '&lt;h1&gt;Created in container&lt;/h1&gt;' &gt; test.html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213415-2C7A-4019-84E9-ACB253EC4F54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4000500" cy="971550"/>
          </a:xfrm>
          <a:prstGeom prst="roundRect">
            <a:avLst>
              <a:gd name="adj" fmla="val 1176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F2639A-FEE7-4B4D-9AC0-4B29D9CB5330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瀏覽器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7DB6DB-FF24-472E-B75B-B9CAD81344F7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8080/test.html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0FB93B-4F4A-4F65-99F3-EE6E0FF5398A}"/>
              </a:ext>
            </a:extLst>
          </p:cNvPr>
          <p:cNvSpPr>
            <a:spLocks noGrp="1"/>
          </p:cNvSpPr>
          <p:nvPr/>
        </p:nvSpPr>
        <p:spPr>
          <a:xfrm>
            <a:off x="1581150" y="5334000"/>
            <a:ext cx="902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在主機資料夾也會看到 test.html。這就是 bind mount 的雙向同步。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4B0EBE-6DB8-463F-AEFB-6FA2773836E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78251E-983C-404B-B32B-8598222199D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3BB544-440A-451B-8774-38D2A22DD2F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2491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D588C0D-1086-463D-8F48-9C3ECEE3F40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READ-ONLY BIND MOUNT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C6C7D4-8148-4CF6-8347-2FC835B7BC6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 :ro 保護主機檔案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1DBF1A9-4982-4B65-A21E-3273732E21D8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629900" cy="1562100"/>
          </a:xfrm>
          <a:prstGeom prst="roundRect">
            <a:avLst>
              <a:gd name="adj" fmla="val 609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7C36A42-7F49-485E-AF9B-9B38F076FBC3}"/>
              </a:ext>
            </a:extLst>
          </p:cNvPr>
          <p:cNvSpPr>
            <a:spLocks noGrp="1"/>
          </p:cNvSpPr>
          <p:nvPr/>
        </p:nvSpPr>
        <p:spPr>
          <a:xfrm>
            <a:off x="95250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024A3DA-9BDA-4103-9E2F-42BD708CAE6F}"/>
              </a:ext>
            </a:extLst>
          </p:cNvPr>
          <p:cNvSpPr>
            <a:spLocks noGrp="1"/>
          </p:cNvSpPr>
          <p:nvPr/>
        </p:nvSpPr>
        <p:spPr>
          <a:xfrm>
            <a:off x="112395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3B49023-1DA8-4AB8-B7D0-129288686EA7}"/>
              </a:ext>
            </a:extLst>
          </p:cNvPr>
          <p:cNvSpPr>
            <a:spLocks noGrp="1"/>
          </p:cNvSpPr>
          <p:nvPr/>
        </p:nvSpPr>
        <p:spPr>
          <a:xfrm>
            <a:off x="129540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E90E5D-F702-4C59-91B6-E2D6121634BC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10210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nginx-bind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</a:t>
            </a:r>
            <a:r>
              <a:rPr sz="18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-p 808</a:t>
            </a:r>
            <a:r>
              <a:rPr lang="en-US"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:80 \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"C:\docker-lab\nginx-site:/usr/share/nginx/html:ro" nginx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CCCC195-9004-409F-9481-9BB9B2135FC3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962150" cy="1162050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F2B44A-B494-4449-8FC9-265BEC437C1C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:ro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6CBD1B-58DB-41D0-9EF3-9D28D2F39162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165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read-only，只能讀。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9C82F5E-8472-4EFD-ABC8-50EFFB8E6C77}"/>
              </a:ext>
            </a:extLst>
          </p:cNvPr>
          <p:cNvSpPr>
            <a:spLocks noGrp="1"/>
          </p:cNvSpPr>
          <p:nvPr/>
        </p:nvSpPr>
        <p:spPr>
          <a:xfrm>
            <a:off x="2914650" y="3905250"/>
            <a:ext cx="1962150" cy="1162050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490EA1-A619-41A4-BA45-04DD0828D72A}"/>
              </a:ext>
            </a:extLst>
          </p:cNvPr>
          <p:cNvSpPr>
            <a:spLocks noGrp="1"/>
          </p:cNvSpPr>
          <p:nvPr/>
        </p:nvSpPr>
        <p:spPr>
          <a:xfrm>
            <a:off x="3067050" y="41148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-p 8081:80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F406FA-6C81-4E3E-AAC1-78F19B263498}"/>
              </a:ext>
            </a:extLst>
          </p:cNvPr>
          <p:cNvSpPr>
            <a:spLocks noGrp="1"/>
          </p:cNvSpPr>
          <p:nvPr/>
        </p:nvSpPr>
        <p:spPr>
          <a:xfrm>
            <a:off x="3067050" y="4495800"/>
            <a:ext cx="165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避免和 8080 衝突。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D132BF9-85B0-47E7-A257-3B5A4A2C1172}"/>
              </a:ext>
            </a:extLst>
          </p:cNvPr>
          <p:cNvSpPr>
            <a:spLocks noGrp="1"/>
          </p:cNvSpPr>
          <p:nvPr/>
        </p:nvSpPr>
        <p:spPr>
          <a:xfrm>
            <a:off x="5162550" y="3905250"/>
            <a:ext cx="1962150" cy="1162050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13E350-6306-4E93-ACEA-58E8EEAD0310}"/>
              </a:ext>
            </a:extLst>
          </p:cNvPr>
          <p:cNvSpPr>
            <a:spLocks noGrp="1"/>
          </p:cNvSpPr>
          <p:nvPr/>
        </p:nvSpPr>
        <p:spPr>
          <a:xfrm>
            <a:off x="5314950" y="41148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-v ...:ro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1E60B3-17DA-4815-969C-17E0AD093565}"/>
              </a:ext>
            </a:extLst>
          </p:cNvPr>
          <p:cNvSpPr>
            <a:spLocks noGrp="1"/>
          </p:cNvSpPr>
          <p:nvPr/>
        </p:nvSpPr>
        <p:spPr>
          <a:xfrm>
            <a:off x="5314950" y="4495800"/>
            <a:ext cx="165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主機資料夾仍是來源。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4EBFC63-96B2-4185-8B33-E9388C5381FF}"/>
              </a:ext>
            </a:extLst>
          </p:cNvPr>
          <p:cNvSpPr>
            <a:spLocks noGrp="1"/>
          </p:cNvSpPr>
          <p:nvPr/>
        </p:nvSpPr>
        <p:spPr>
          <a:xfrm>
            <a:off x="7410450" y="3905250"/>
            <a:ext cx="1962150" cy="1162050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F70A03-D530-4279-8E81-B3CF8A509A56}"/>
              </a:ext>
            </a:extLst>
          </p:cNvPr>
          <p:cNvSpPr>
            <a:spLocks noGrp="1"/>
          </p:cNvSpPr>
          <p:nvPr/>
        </p:nvSpPr>
        <p:spPr>
          <a:xfrm>
            <a:off x="7562850" y="41148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nginx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686C07-541A-4824-8C8D-155D6E8CEC8E}"/>
              </a:ext>
            </a:extLst>
          </p:cNvPr>
          <p:cNvSpPr>
            <a:spLocks noGrp="1"/>
          </p:cNvSpPr>
          <p:nvPr/>
        </p:nvSpPr>
        <p:spPr>
          <a:xfrm>
            <a:off x="7562850" y="4495800"/>
            <a:ext cx="165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仍然只用 nginx。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2452A3E-CD81-4672-A76F-516191DDB81E}"/>
              </a:ext>
            </a:extLst>
          </p:cNvPr>
          <p:cNvSpPr>
            <a:spLocks noGrp="1"/>
          </p:cNvSpPr>
          <p:nvPr/>
        </p:nvSpPr>
        <p:spPr>
          <a:xfrm>
            <a:off x="9658350" y="3905250"/>
            <a:ext cx="1962150" cy="1162050"/>
          </a:xfrm>
          <a:prstGeom prst="roundRect">
            <a:avLst>
              <a:gd name="adj" fmla="val 819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F2E603-AE1F-469A-A237-5488AE139752}"/>
              </a:ext>
            </a:extLst>
          </p:cNvPr>
          <p:cNvSpPr>
            <a:spLocks noGrp="1"/>
          </p:cNvSpPr>
          <p:nvPr/>
        </p:nvSpPr>
        <p:spPr>
          <a:xfrm>
            <a:off x="9810750" y="41148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測試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6E512E-5A04-413D-8F34-A63D33E5BEC7}"/>
              </a:ext>
            </a:extLst>
          </p:cNvPr>
          <p:cNvSpPr>
            <a:spLocks noGrp="1"/>
          </p:cNvSpPr>
          <p:nvPr/>
        </p:nvSpPr>
        <p:spPr>
          <a:xfrm>
            <a:off x="9810750" y="4495800"/>
            <a:ext cx="165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進容器寫檔會失敗。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285902-20C3-425A-BEA9-A97FB654B15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3B7729-D227-49DB-904A-B7E2AEF2202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E835CD-1CEA-4EA8-91E6-05EA51A8DE2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1117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B5A18FF-F467-4E52-A552-3AB58D92204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NAMED VOLUME EXAMPLE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315210-846F-4758-9E12-0F743F42BF2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Named Volume 範例：資料交給 Docker 管理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51F89C4-80EB-4BF6-BFBC-56737C6BFB6B}"/>
              </a:ext>
            </a:extLst>
          </p:cNvPr>
          <p:cNvSpPr>
            <a:spLocks noGrp="1"/>
          </p:cNvSpPr>
          <p:nvPr/>
        </p:nvSpPr>
        <p:spPr>
          <a:xfrm>
            <a:off x="990599" y="1714499"/>
            <a:ext cx="5307169" cy="1543855"/>
          </a:xfrm>
          <a:prstGeom prst="roundRect">
            <a:avLst>
              <a:gd name="adj" fmla="val 793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6588DAD-77DC-4BBF-83D2-4F1DCD63210B}"/>
              </a:ext>
            </a:extLst>
          </p:cNvPr>
          <p:cNvSpPr>
            <a:spLocks noGrp="1"/>
          </p:cNvSpPr>
          <p:nvPr/>
        </p:nvSpPr>
        <p:spPr>
          <a:xfrm>
            <a:off x="1162050" y="18764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FAE7C0D-44AF-445E-8CF9-7EA1EC1BCD0F}"/>
              </a:ext>
            </a:extLst>
          </p:cNvPr>
          <p:cNvSpPr>
            <a:spLocks noGrp="1"/>
          </p:cNvSpPr>
          <p:nvPr/>
        </p:nvSpPr>
        <p:spPr>
          <a:xfrm>
            <a:off x="1333500" y="18764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2836792-E9E1-4D63-98C7-4DE22D065B20}"/>
              </a:ext>
            </a:extLst>
          </p:cNvPr>
          <p:cNvSpPr>
            <a:spLocks noGrp="1"/>
          </p:cNvSpPr>
          <p:nvPr/>
        </p:nvSpPr>
        <p:spPr>
          <a:xfrm>
            <a:off x="1504950" y="18764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7BA536-48C6-4E69-B9DE-9FA83B670A19}"/>
              </a:ext>
            </a:extLst>
          </p:cNvPr>
          <p:cNvSpPr>
            <a:spLocks noGrp="1"/>
          </p:cNvSpPr>
          <p:nvPr/>
        </p:nvSpPr>
        <p:spPr>
          <a:xfrm>
            <a:off x="1200150" y="2133600"/>
            <a:ext cx="5097618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volume create nginx-html</a:t>
            </a:r>
          </a:p>
          <a:p>
            <a:pPr algn="l">
              <a:lnSpc>
                <a:spcPct val="104000"/>
              </a:lnSpc>
              <a:buNone/>
              <a:defRPr sz="20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volume ls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6BCE6274-AE98-43A7-AB42-87E1DF771558}"/>
              </a:ext>
            </a:extLst>
          </p:cNvPr>
          <p:cNvSpPr>
            <a:spLocks noGrp="1"/>
          </p:cNvSpPr>
          <p:nvPr/>
        </p:nvSpPr>
        <p:spPr>
          <a:xfrm>
            <a:off x="6134100" y="2149699"/>
            <a:ext cx="1047750" cy="4000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AA3EE14-706D-4DBD-8AD9-78FD3CBBBD80}"/>
              </a:ext>
            </a:extLst>
          </p:cNvPr>
          <p:cNvSpPr>
            <a:spLocks noGrp="1"/>
          </p:cNvSpPr>
          <p:nvPr/>
        </p:nvSpPr>
        <p:spPr>
          <a:xfrm>
            <a:off x="7334250" y="1581150"/>
            <a:ext cx="3371850" cy="1447800"/>
          </a:xfrm>
          <a:prstGeom prst="roundRect">
            <a:avLst>
              <a:gd name="adj" fmla="val 789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4500DD-6517-49A9-9818-A27009EA1960}"/>
              </a:ext>
            </a:extLst>
          </p:cNvPr>
          <p:cNvSpPr>
            <a:spLocks noGrp="1"/>
          </p:cNvSpPr>
          <p:nvPr/>
        </p:nvSpPr>
        <p:spPr>
          <a:xfrm>
            <a:off x="7639050" y="1885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dirty="0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適</a:t>
            </a:r>
            <a:r>
              <a:rPr lang="zh-TW" altLang="en-US" sz="2025" b="1" dirty="0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合場</a:t>
            </a:r>
            <a:r>
              <a:rPr sz="2025" b="1" dirty="0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E4F34B-6BB9-4477-A179-739C76934C6A}"/>
              </a:ext>
            </a:extLst>
          </p:cNvPr>
          <p:cNvSpPr>
            <a:spLocks noGrp="1"/>
          </p:cNvSpPr>
          <p:nvPr/>
        </p:nvSpPr>
        <p:spPr>
          <a:xfrm>
            <a:off x="7639050" y="24003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不想綁死在主機路徑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AC02B8-2F3C-4E74-9F9B-E1D4B5B9A244}"/>
              </a:ext>
            </a:extLst>
          </p:cNvPr>
          <p:cNvSpPr>
            <a:spLocks noGrp="1"/>
          </p:cNvSpPr>
          <p:nvPr/>
        </p:nvSpPr>
        <p:spPr>
          <a:xfrm>
            <a:off x="2038350" y="3733800"/>
            <a:ext cx="81153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9DFE3A-0ED2-465D-9070-7498E9AF0EFC}"/>
              </a:ext>
            </a:extLst>
          </p:cNvPr>
          <p:cNvSpPr>
            <a:spLocks noGrp="1"/>
          </p:cNvSpPr>
          <p:nvPr/>
        </p:nvSpPr>
        <p:spPr>
          <a:xfrm>
            <a:off x="2381250" y="40195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你只給 volume 名稱，實際位置由 Docker 管理。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F177C4-FC6E-4A02-BCAF-E397CACA2C8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9E08A9-080D-4A33-84D7-29088A5AC93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F27D93-F356-4DAE-870D-C40318A986B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31184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44A16C19-D850-40F2-B465-2C0C03149528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F28011-60F7-4C9A-92BF-56D933D1579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範例程式碼：Named Volume 完整範例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7548DC3-B658-4372-9782-A1EB35EC5789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37CD9518-26AD-4F1F-976E-EA80E8C0EEDD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633D0A5F-B94C-4342-8BEE-C46D70A8897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volume create nginx-html</a:t>
            </a:r>
          </a:p>
          <a:p>
            <a:r>
              <a:rPr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nginx-volume -p 808</a:t>
            </a: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:80 -v nginx</a:t>
            </a: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zh-TW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\</a:t>
            </a:r>
            <a:endParaRPr lang="en-US" sz="20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-html:/</a:t>
            </a:r>
            <a:r>
              <a:rPr sz="20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usr</a:t>
            </a:r>
            <a:r>
              <a:rPr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/share/nginx/html nginx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8523055-8D20-471C-916F-9934EAB60D44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7F296DFE-1CCC-4E53-970F-49E6AE04AD7D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507982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8F8C8CE-A6F6-4E18-8148-2C59706E02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NAMED VOLUME PERSISTENCE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57E0A6-1985-40F5-8B03-48BC0D221B9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刪掉 container，Named Volume 仍然保留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5DD52B9-E368-4B7A-91D0-F058898C74A6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06AED9-630F-4B06-ACF3-0ADDCF191A47}"/>
              </a:ext>
            </a:extLst>
          </p:cNvPr>
          <p:cNvSpPr>
            <a:spLocks noGrp="1"/>
          </p:cNvSpPr>
          <p:nvPr/>
        </p:nvSpPr>
        <p:spPr>
          <a:xfrm>
            <a:off x="1009650" y="22860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建立 Volume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CBC7F7-FCED-46F1-8AF7-C6C3A14A1077}"/>
              </a:ext>
            </a:extLst>
          </p:cNvPr>
          <p:cNvSpPr>
            <a:spLocks noGrp="1"/>
          </p:cNvSpPr>
          <p:nvPr/>
        </p:nvSpPr>
        <p:spPr>
          <a:xfrm>
            <a:off x="1009650" y="2838450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volume create nginx-html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920720C4-A6C7-4DFD-BB25-26B54EA904A9}"/>
              </a:ext>
            </a:extLst>
          </p:cNvPr>
          <p:cNvSpPr>
            <a:spLocks noGrp="1"/>
          </p:cNvSpPr>
          <p:nvPr/>
        </p:nvSpPr>
        <p:spPr>
          <a:xfrm>
            <a:off x="2990850" y="2647950"/>
            <a:ext cx="4953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373C964-B841-47C9-A8F5-361615BDD92F}"/>
              </a:ext>
            </a:extLst>
          </p:cNvPr>
          <p:cNvSpPr>
            <a:spLocks noGrp="1"/>
          </p:cNvSpPr>
          <p:nvPr/>
        </p:nvSpPr>
        <p:spPr>
          <a:xfrm>
            <a:off x="3486150" y="20193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E0B9C5-E1FC-4684-9DD9-94D28B855E74}"/>
              </a:ext>
            </a:extLst>
          </p:cNvPr>
          <p:cNvSpPr>
            <a:spLocks noGrp="1"/>
          </p:cNvSpPr>
          <p:nvPr/>
        </p:nvSpPr>
        <p:spPr>
          <a:xfrm>
            <a:off x="3676650" y="22860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934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第一個 Nginx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B0018C-920F-460E-BD73-FBDFE9AA2A18}"/>
              </a:ext>
            </a:extLst>
          </p:cNvPr>
          <p:cNvSpPr>
            <a:spLocks noGrp="1"/>
          </p:cNvSpPr>
          <p:nvPr/>
        </p:nvSpPr>
        <p:spPr>
          <a:xfrm>
            <a:off x="3676650" y="2838450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同一個 nginx-html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7014229-8346-472F-9845-4AC6CA2D39AE}"/>
              </a:ext>
            </a:extLst>
          </p:cNvPr>
          <p:cNvSpPr>
            <a:spLocks noGrp="1"/>
          </p:cNvSpPr>
          <p:nvPr/>
        </p:nvSpPr>
        <p:spPr>
          <a:xfrm>
            <a:off x="5657850" y="2647950"/>
            <a:ext cx="4953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9BEA623-0B51-4903-95E7-AAF30DF0D115}"/>
              </a:ext>
            </a:extLst>
          </p:cNvPr>
          <p:cNvSpPr>
            <a:spLocks noGrp="1"/>
          </p:cNvSpPr>
          <p:nvPr/>
        </p:nvSpPr>
        <p:spPr>
          <a:xfrm>
            <a:off x="6153150" y="20193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05A29F-B7A3-411E-A5A2-1EAD5BAADFE8}"/>
              </a:ext>
            </a:extLst>
          </p:cNvPr>
          <p:cNvSpPr>
            <a:spLocks noGrp="1"/>
          </p:cNvSpPr>
          <p:nvPr/>
        </p:nvSpPr>
        <p:spPr>
          <a:xfrm>
            <a:off x="6343650" y="22860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刪掉 container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030CF3-D7EE-4F7C-82DF-898A00AE04DB}"/>
              </a:ext>
            </a:extLst>
          </p:cNvPr>
          <p:cNvSpPr>
            <a:spLocks noGrp="1"/>
          </p:cNvSpPr>
          <p:nvPr/>
        </p:nvSpPr>
        <p:spPr>
          <a:xfrm>
            <a:off x="6343650" y="2838450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rm -f nginx-volume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E78C6440-E8E2-4FE4-8DAA-AE54592D016D}"/>
              </a:ext>
            </a:extLst>
          </p:cNvPr>
          <p:cNvSpPr>
            <a:spLocks noGrp="1"/>
          </p:cNvSpPr>
          <p:nvPr/>
        </p:nvSpPr>
        <p:spPr>
          <a:xfrm>
            <a:off x="8324850" y="2647950"/>
            <a:ext cx="495300" cy="2857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BCF39CE-2282-4200-A0B1-2E0E6B423601}"/>
              </a:ext>
            </a:extLst>
          </p:cNvPr>
          <p:cNvSpPr>
            <a:spLocks noGrp="1"/>
          </p:cNvSpPr>
          <p:nvPr/>
        </p:nvSpPr>
        <p:spPr>
          <a:xfrm>
            <a:off x="8820150" y="2019300"/>
            <a:ext cx="20955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F7AAAC-41C8-4C0C-9E94-4C1A81F6ED97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第二個 Nginx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256836-B6EF-46FB-A913-03140300E514}"/>
              </a:ext>
            </a:extLst>
          </p:cNvPr>
          <p:cNvSpPr>
            <a:spLocks noGrp="1"/>
          </p:cNvSpPr>
          <p:nvPr/>
        </p:nvSpPr>
        <p:spPr>
          <a:xfrm>
            <a:off x="9010650" y="2838450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掛同一個 volume，頁面還在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90FEC40-3864-4FED-9F9B-EBF98892F22B}"/>
              </a:ext>
            </a:extLst>
          </p:cNvPr>
          <p:cNvSpPr>
            <a:spLocks noGrp="1"/>
          </p:cNvSpPr>
          <p:nvPr/>
        </p:nvSpPr>
        <p:spPr>
          <a:xfrm>
            <a:off x="2895600" y="4514850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00EA3C0-67EF-4A8D-B5F1-5506015C60A4}"/>
              </a:ext>
            </a:extLst>
          </p:cNvPr>
          <p:cNvSpPr>
            <a:spLocks noGrp="1"/>
          </p:cNvSpPr>
          <p:nvPr/>
        </p:nvSpPr>
        <p:spPr>
          <a:xfrm>
            <a:off x="3067050" y="46767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DC95D0D-6AA7-46DD-BF7E-DFF3055461F3}"/>
              </a:ext>
            </a:extLst>
          </p:cNvPr>
          <p:cNvSpPr>
            <a:spLocks noGrp="1"/>
          </p:cNvSpPr>
          <p:nvPr/>
        </p:nvSpPr>
        <p:spPr>
          <a:xfrm>
            <a:off x="3238500" y="46767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5B9E65A1-7446-4234-A4D9-254422BB29A4}"/>
              </a:ext>
            </a:extLst>
          </p:cNvPr>
          <p:cNvSpPr>
            <a:spLocks noGrp="1"/>
          </p:cNvSpPr>
          <p:nvPr/>
        </p:nvSpPr>
        <p:spPr>
          <a:xfrm>
            <a:off x="3409950" y="46767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D75165-51A8-4FE7-9DA0-0EFD863BF4B1}"/>
              </a:ext>
            </a:extLst>
          </p:cNvPr>
          <p:cNvSpPr>
            <a:spLocks noGrp="1"/>
          </p:cNvSpPr>
          <p:nvPr/>
        </p:nvSpPr>
        <p:spPr>
          <a:xfrm>
            <a:off x="3105150" y="4933950"/>
            <a:ext cx="598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nginx-html:/usr/share/nginx/html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9B8279-FB1E-4E70-BF16-0FCAE4802F3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F6684E8-B82F-4093-A076-888F3A5A811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CBA926-E5FF-43D6-AC83-8CB7107F9701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10283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81693EB-055B-41CD-8EB6-06BC138AD1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P3 / Q4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8A9C38-3CBF-4188-A6CD-AA45C29E534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P3：Named Volume 持久化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88C7A063-0CC1-4F3F-A4F3-51A4939D79A8}"/>
              </a:ext>
            </a:extLst>
          </p:cNvPr>
          <p:cNvSpPr>
            <a:spLocks noGrp="1"/>
          </p:cNvSpPr>
          <p:nvPr/>
        </p:nvSpPr>
        <p:spPr>
          <a:xfrm>
            <a:off x="1066800" y="1581150"/>
            <a:ext cx="438150" cy="4381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E3E26-60F4-40E7-98C7-452ADAE7242C}"/>
              </a:ext>
            </a:extLst>
          </p:cNvPr>
          <p:cNvSpPr>
            <a:spLocks noGrp="1"/>
          </p:cNvSpPr>
          <p:nvPr/>
        </p:nvSpPr>
        <p:spPr>
          <a:xfrm>
            <a:off x="1066800" y="16859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594B3E-ADB0-4731-B7CB-340345413A8A}"/>
              </a:ext>
            </a:extLst>
          </p:cNvPr>
          <p:cNvSpPr>
            <a:spLocks noGrp="1"/>
          </p:cNvSpPr>
          <p:nvPr/>
        </p:nvSpPr>
        <p:spPr>
          <a:xfrm>
            <a:off x="1657350" y="15906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767E6C-963B-49FA-A0A2-A099C5E97D84}"/>
              </a:ext>
            </a:extLst>
          </p:cNvPr>
          <p:cNvSpPr>
            <a:spLocks noGrp="1"/>
          </p:cNvSpPr>
          <p:nvPr/>
        </p:nvSpPr>
        <p:spPr>
          <a:xfrm>
            <a:off x="1657350" y="19240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volume create nginx-html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2374F5C-2EEC-45E8-A45F-00B40E9F11B6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438150" cy="4381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886C95-5D46-4C2F-B20B-C3A98801E438}"/>
              </a:ext>
            </a:extLst>
          </p:cNvPr>
          <p:cNvSpPr>
            <a:spLocks noGrp="1"/>
          </p:cNvSpPr>
          <p:nvPr/>
        </p:nvSpPr>
        <p:spPr>
          <a:xfrm>
            <a:off x="6438900" y="16859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CE495D-714E-4F24-8F7E-71BE03C9B49B}"/>
              </a:ext>
            </a:extLst>
          </p:cNvPr>
          <p:cNvSpPr>
            <a:spLocks noGrp="1"/>
          </p:cNvSpPr>
          <p:nvPr/>
        </p:nvSpPr>
        <p:spPr>
          <a:xfrm>
            <a:off x="7029450" y="15906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68CC0-B676-4D93-A8CA-1557EF129226}"/>
              </a:ext>
            </a:extLst>
          </p:cNvPr>
          <p:cNvSpPr>
            <a:spLocks noGrp="1"/>
          </p:cNvSpPr>
          <p:nvPr/>
        </p:nvSpPr>
        <p:spPr>
          <a:xfrm>
            <a:off x="7029450" y="19240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nginx-volume + 8082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A07908A-E6A1-4B33-87D1-574905F479A1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438150" cy="4381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9BB12-7E79-4963-9E47-9DDCEF925F59}"/>
              </a:ext>
            </a:extLst>
          </p:cNvPr>
          <p:cNvSpPr>
            <a:spLocks noGrp="1"/>
          </p:cNvSpPr>
          <p:nvPr/>
        </p:nvSpPr>
        <p:spPr>
          <a:xfrm>
            <a:off x="1066800" y="28098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8E811D-DB68-46D7-8E4C-41D362D708A7}"/>
              </a:ext>
            </a:extLst>
          </p:cNvPr>
          <p:cNvSpPr>
            <a:spLocks noGrp="1"/>
          </p:cNvSpPr>
          <p:nvPr/>
        </p:nvSpPr>
        <p:spPr>
          <a:xfrm>
            <a:off x="1657350" y="2714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write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11D1C9-EAE5-4E5B-9C4F-E0668193A807}"/>
              </a:ext>
            </a:extLst>
          </p:cNvPr>
          <p:cNvSpPr>
            <a:spLocks noGrp="1"/>
          </p:cNvSpPr>
          <p:nvPr/>
        </p:nvSpPr>
        <p:spPr>
          <a:xfrm>
            <a:off x="1657350" y="304800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echo 寫入 index.html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4897915-FA40-41F1-9B36-EBAE5B132C41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438150" cy="4381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B90314-3EE4-4BF1-933C-FAF8B80F06D9}"/>
              </a:ext>
            </a:extLst>
          </p:cNvPr>
          <p:cNvSpPr>
            <a:spLocks noGrp="1"/>
          </p:cNvSpPr>
          <p:nvPr/>
        </p:nvSpPr>
        <p:spPr>
          <a:xfrm>
            <a:off x="6438900" y="28098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00B2A0-F38A-4300-B2A2-765A03E2AF2D}"/>
              </a:ext>
            </a:extLst>
          </p:cNvPr>
          <p:cNvSpPr>
            <a:spLocks noGrp="1"/>
          </p:cNvSpPr>
          <p:nvPr/>
        </p:nvSpPr>
        <p:spPr>
          <a:xfrm>
            <a:off x="7029450" y="2714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ECA772-7A5D-4708-BF2D-D17D20181711}"/>
              </a:ext>
            </a:extLst>
          </p:cNvPr>
          <p:cNvSpPr>
            <a:spLocks noGrp="1"/>
          </p:cNvSpPr>
          <p:nvPr/>
        </p:nvSpPr>
        <p:spPr>
          <a:xfrm>
            <a:off x="7029450" y="304800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刪掉 container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179653DF-ED1A-4152-BFE4-0A949CF23E11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438150" cy="4381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B50B6B-E296-4ADE-9661-656745DC3218}"/>
              </a:ext>
            </a:extLst>
          </p:cNvPr>
          <p:cNvSpPr>
            <a:spLocks noGrp="1"/>
          </p:cNvSpPr>
          <p:nvPr/>
        </p:nvSpPr>
        <p:spPr>
          <a:xfrm>
            <a:off x="1066800" y="39338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2DC5D7-7023-484D-B562-8A63C9E91F27}"/>
              </a:ext>
            </a:extLst>
          </p:cNvPr>
          <p:cNvSpPr>
            <a:spLocks noGrp="1"/>
          </p:cNvSpPr>
          <p:nvPr/>
        </p:nvSpPr>
        <p:spPr>
          <a:xfrm>
            <a:off x="1657350" y="38385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run again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A48B75-E7B6-4166-800B-8522D6EB2C6C}"/>
              </a:ext>
            </a:extLst>
          </p:cNvPr>
          <p:cNvSpPr>
            <a:spLocks noGrp="1"/>
          </p:cNvSpPr>
          <p:nvPr/>
        </p:nvSpPr>
        <p:spPr>
          <a:xfrm>
            <a:off x="1657350" y="41719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掛同一個 volume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8DB143E-916A-48DE-B73F-262EF3B7CDA5}"/>
              </a:ext>
            </a:extLst>
          </p:cNvPr>
          <p:cNvSpPr>
            <a:spLocks noGrp="1"/>
          </p:cNvSpPr>
          <p:nvPr/>
        </p:nvSpPr>
        <p:spPr>
          <a:xfrm>
            <a:off x="6438900" y="3829050"/>
            <a:ext cx="438150" cy="4381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4A5635-CF69-4B82-9DBB-905A92C6B385}"/>
              </a:ext>
            </a:extLst>
          </p:cNvPr>
          <p:cNvSpPr>
            <a:spLocks noGrp="1"/>
          </p:cNvSpPr>
          <p:nvPr/>
        </p:nvSpPr>
        <p:spPr>
          <a:xfrm>
            <a:off x="6438900" y="39338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687031-574D-4630-A5A7-7ACA7EE9DBED}"/>
              </a:ext>
            </a:extLst>
          </p:cNvPr>
          <p:cNvSpPr>
            <a:spLocks noGrp="1"/>
          </p:cNvSpPr>
          <p:nvPr/>
        </p:nvSpPr>
        <p:spPr>
          <a:xfrm>
            <a:off x="7029450" y="38385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check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062D68-16B1-48AB-AC1F-D564C707D72D}"/>
              </a:ext>
            </a:extLst>
          </p:cNvPr>
          <p:cNvSpPr>
            <a:spLocks noGrp="1"/>
          </p:cNvSpPr>
          <p:nvPr/>
        </p:nvSpPr>
        <p:spPr>
          <a:xfrm>
            <a:off x="7029450" y="41719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自訂首頁仍存在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5E58E7C4-5825-46A6-AC19-FE289E17E5D9}"/>
              </a:ext>
            </a:extLst>
          </p:cNvPr>
          <p:cNvSpPr>
            <a:spLocks noGrp="1"/>
          </p:cNvSpPr>
          <p:nvPr/>
        </p:nvSpPr>
        <p:spPr>
          <a:xfrm>
            <a:off x="2038350" y="5219700"/>
            <a:ext cx="8115300" cy="533400"/>
          </a:xfrm>
          <a:prstGeom prst="roundRect">
            <a:avLst>
              <a:gd name="adj" fmla="val 2142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7758C0-FEB7-48AC-9E4C-A6C2C87F2229}"/>
              </a:ext>
            </a:extLst>
          </p:cNvPr>
          <p:cNvSpPr>
            <a:spLocks noGrp="1"/>
          </p:cNvSpPr>
          <p:nvPr/>
        </p:nvSpPr>
        <p:spPr>
          <a:xfrm>
            <a:off x="2324100" y="5391150"/>
            <a:ext cx="7543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Q4 檢查：刪 container 不等於刪 volume。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00A541-62B3-401C-948D-745F44DEAF0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A476F7-8541-4324-84AF-FF6E6595B43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D9890E-C347-4384-8E85-59FDA7C208A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38240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695254E-E09F-4EA9-BB40-CF1CAD90358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ADVANCED C1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2F240C-E805-4B9D-BB96-F9CCC6731F9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同一個 Named Volume 給兩個 Nginx 讀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B3B77CF-39FD-487D-A125-47C1356501FF}"/>
              </a:ext>
            </a:extLst>
          </p:cNvPr>
          <p:cNvSpPr>
            <a:spLocks noGrp="1"/>
          </p:cNvSpPr>
          <p:nvPr/>
        </p:nvSpPr>
        <p:spPr>
          <a:xfrm>
            <a:off x="742950" y="1466850"/>
            <a:ext cx="10706100" cy="219075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889C977-4167-4E02-8A3C-6E6AAE41B8FC}"/>
              </a:ext>
            </a:extLst>
          </p:cNvPr>
          <p:cNvSpPr>
            <a:spLocks noGrp="1"/>
          </p:cNvSpPr>
          <p:nvPr/>
        </p:nvSpPr>
        <p:spPr>
          <a:xfrm>
            <a:off x="914400" y="16287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676CBE4-B252-41D2-964E-AF19BA1822C0}"/>
              </a:ext>
            </a:extLst>
          </p:cNvPr>
          <p:cNvSpPr>
            <a:spLocks noGrp="1"/>
          </p:cNvSpPr>
          <p:nvPr/>
        </p:nvSpPr>
        <p:spPr>
          <a:xfrm>
            <a:off x="1085850" y="16287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1C21685-7B41-4D64-ACBF-F2F043E7D349}"/>
              </a:ext>
            </a:extLst>
          </p:cNvPr>
          <p:cNvSpPr>
            <a:spLocks noGrp="1"/>
          </p:cNvSpPr>
          <p:nvPr/>
        </p:nvSpPr>
        <p:spPr>
          <a:xfrm>
            <a:off x="1257300" y="16287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47AB6F-7C38-4964-A8E0-26A6BA20E64D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10287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nginx-vol-a -p 8083:80 \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nginx-html:/usr/share/nginx/html:ro nginx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nginx-vol-b -p 8084:80 \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nginx-html:/usr/share/nginx/html:ro nginx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C528420-D5B6-424C-9B03-E81268A036DA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2476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03A585-C56A-4025-8BE3-99120190EB92}"/>
              </a:ext>
            </a:extLst>
          </p:cNvPr>
          <p:cNvSpPr>
            <a:spLocks noGrp="1"/>
          </p:cNvSpPr>
          <p:nvPr/>
        </p:nvSpPr>
        <p:spPr>
          <a:xfrm>
            <a:off x="1657350" y="44958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名字不同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821B33-7809-47D1-BA1F-3FB636D51B04}"/>
              </a:ext>
            </a:extLst>
          </p:cNvPr>
          <p:cNvSpPr>
            <a:spLocks noGrp="1"/>
          </p:cNvSpPr>
          <p:nvPr/>
        </p:nvSpPr>
        <p:spPr>
          <a:xfrm>
            <a:off x="1657350" y="48958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nginx-vol-a / nginx-vol-b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C68A5F1-9780-4476-BD5C-1C4B0C47FA85}"/>
              </a:ext>
            </a:extLst>
          </p:cNvPr>
          <p:cNvSpPr>
            <a:spLocks noGrp="1"/>
          </p:cNvSpPr>
          <p:nvPr/>
        </p:nvSpPr>
        <p:spPr>
          <a:xfrm>
            <a:off x="4572000" y="4305300"/>
            <a:ext cx="2476500" cy="1047750"/>
          </a:xfrm>
          <a:prstGeom prst="roundRect">
            <a:avLst>
              <a:gd name="adj" fmla="val 10909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DCDEDE-9E70-4214-A24B-B73EA47C291D}"/>
              </a:ext>
            </a:extLst>
          </p:cNvPr>
          <p:cNvSpPr>
            <a:spLocks noGrp="1"/>
          </p:cNvSpPr>
          <p:nvPr/>
        </p:nvSpPr>
        <p:spPr>
          <a:xfrm>
            <a:off x="4800600" y="44958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port 不同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D98CCC-AB89-4F09-BEF4-D4A650554521}"/>
              </a:ext>
            </a:extLst>
          </p:cNvPr>
          <p:cNvSpPr>
            <a:spLocks noGrp="1"/>
          </p:cNvSpPr>
          <p:nvPr/>
        </p:nvSpPr>
        <p:spPr>
          <a:xfrm>
            <a:off x="4800600" y="48958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8083 / 8084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FBBBDCA-0B01-410C-AE10-64082C006E74}"/>
              </a:ext>
            </a:extLst>
          </p:cNvPr>
          <p:cNvSpPr>
            <a:spLocks noGrp="1"/>
          </p:cNvSpPr>
          <p:nvPr/>
        </p:nvSpPr>
        <p:spPr>
          <a:xfrm>
            <a:off x="7715250" y="4305300"/>
            <a:ext cx="2476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7BFAE7-0932-421A-A6A7-4BFD6A86193E}"/>
              </a:ext>
            </a:extLst>
          </p:cNvPr>
          <p:cNvSpPr>
            <a:spLocks noGrp="1"/>
          </p:cNvSpPr>
          <p:nvPr/>
        </p:nvSpPr>
        <p:spPr>
          <a:xfrm>
            <a:off x="7943850" y="44958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HTML 相同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F05AF0-D964-4C8B-8188-C52C058CFF80}"/>
              </a:ext>
            </a:extLst>
          </p:cNvPr>
          <p:cNvSpPr>
            <a:spLocks noGrp="1"/>
          </p:cNvSpPr>
          <p:nvPr/>
        </p:nvSpPr>
        <p:spPr>
          <a:xfrm>
            <a:off x="7943850" y="48958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同一個 nginx-html volume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4B401E-CA35-4E81-82F0-8AE748EA6FB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844281-B357-48EC-92D2-D7D117945F6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DA9E49-78FB-46AA-885D-FAEBD29CEE2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40024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F78BF40-6796-4CD7-90AE-4D90EFFB0D8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FLASK BRIDGE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812C7C-ADBD-4E3A-9624-A4EC1AF4571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接下來：用 Flask 練同一個 Bind Mount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A10A7ED-8399-4155-9720-6B8E7D05C4F5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4724400" cy="14287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05C84-2FD2-43BC-9A1F-9BCB36596B25}"/>
              </a:ext>
            </a:extLst>
          </p:cNvPr>
          <p:cNvSpPr>
            <a:spLocks noGrp="1"/>
          </p:cNvSpPr>
          <p:nvPr/>
        </p:nvSpPr>
        <p:spPr>
          <a:xfrm>
            <a:off x="11620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為什麼接 Flask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C6A12-EFD6-4F22-AE1A-58A3FD9C9AF5}"/>
              </a:ext>
            </a:extLst>
          </p:cNvPr>
          <p:cNvSpPr>
            <a:spLocks noGrp="1"/>
          </p:cNvSpPr>
          <p:nvPr/>
        </p:nvSpPr>
        <p:spPr>
          <a:xfrm>
            <a:off x="1162050" y="22860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nginx 讓學生看懂 Volume；Flask 把同一件事用到程式碼開發。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11E4EB-B359-49D5-BC6A-79228D2BA141}"/>
              </a:ext>
            </a:extLst>
          </p:cNvPr>
          <p:cNvSpPr>
            <a:spLocks noGrp="1"/>
          </p:cNvSpPr>
          <p:nvPr/>
        </p:nvSpPr>
        <p:spPr>
          <a:xfrm>
            <a:off x="6438900" y="1657350"/>
            <a:ext cx="4724400" cy="14287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01D2B7-A263-4357-9C91-1EB8FE5F71B1}"/>
              </a:ext>
            </a:extLst>
          </p:cNvPr>
          <p:cNvSpPr>
            <a:spLocks noGrp="1"/>
          </p:cNvSpPr>
          <p:nvPr/>
        </p:nvSpPr>
        <p:spPr>
          <a:xfrm>
            <a:off x="66865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練習目標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C52335-D267-4BF7-B9D9-B897E3E04755}"/>
              </a:ext>
            </a:extLst>
          </p:cNvPr>
          <p:cNvSpPr>
            <a:spLocks noGrp="1"/>
          </p:cNvSpPr>
          <p:nvPr/>
        </p:nvSpPr>
        <p:spPr>
          <a:xfrm>
            <a:off x="6686550" y="22860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本機 flask-app 掛到 /app，用 python:3.11 直接跑。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0E4A1CD-15F7-4C3D-84A8-0D7CCDDB1C7D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4724400" cy="14287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B26A5B-6B5C-4A60-B999-9BBFCBD3D7A1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新的參數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5949BE-DD87-45F8-AADA-A10E0D2E10F2}"/>
              </a:ext>
            </a:extLst>
          </p:cNvPr>
          <p:cNvSpPr>
            <a:spLocks noGrp="1"/>
          </p:cNvSpPr>
          <p:nvPr/>
        </p:nvSpPr>
        <p:spPr>
          <a:xfrm>
            <a:off x="1162050" y="43815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加入 -w /app，讓 container 一進去就在專案目錄。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0D576AA-C508-4B40-9098-CDAECD5A925E}"/>
              </a:ext>
            </a:extLst>
          </p:cNvPr>
          <p:cNvSpPr>
            <a:spLocks noGrp="1"/>
          </p:cNvSpPr>
          <p:nvPr/>
        </p:nvSpPr>
        <p:spPr>
          <a:xfrm>
            <a:off x="6438900" y="3752850"/>
            <a:ext cx="4724400" cy="14287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526543-7FD9-43E8-9E14-58CFFEAD0E9D}"/>
              </a:ext>
            </a:extLst>
          </p:cNvPr>
          <p:cNvSpPr>
            <a:spLocks noGrp="1"/>
          </p:cNvSpPr>
          <p:nvPr/>
        </p:nvSpPr>
        <p:spPr>
          <a:xfrm>
            <a:off x="6686550" y="3981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差異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E5EC41-2561-435E-B469-3FEB4D6C2131}"/>
              </a:ext>
            </a:extLst>
          </p:cNvPr>
          <p:cNvSpPr>
            <a:spLocks noGrp="1"/>
          </p:cNvSpPr>
          <p:nvPr/>
        </p:nvSpPr>
        <p:spPr>
          <a:xfrm>
            <a:off x="6686550" y="43815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nginx 改 HTML 重新整理；Flask 改 app.py 要重啟 process。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B2D58F-99B1-412E-BF08-3BCB9EAFE20E}"/>
              </a:ext>
            </a:extLst>
          </p:cNvPr>
          <p:cNvSpPr>
            <a:spLocks noGrp="1"/>
          </p:cNvSpPr>
          <p:nvPr/>
        </p:nvSpPr>
        <p:spPr>
          <a:xfrm>
            <a:off x="1962150" y="5657850"/>
            <a:ext cx="826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59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先不寫 Dockerfile，不重新 build；先把開發迴圈跑順。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F22730-F7D9-4815-A876-331699A844A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01ED0F-AA77-4FC9-8CD8-55E7F9D06CB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2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0865E8-A5F1-4694-BA5D-75182606BCB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36103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STEP 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建立 Flask 專案資料夾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專案先在主機上建立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C:\docker-lab\flask-app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notepad C:\docker-lab\flask-app\requirements.txt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notepad C:\docker-lab\flask-app\app.py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requirements.txt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CODE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app.py：最小 Flask 網頁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先做兩個 route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6933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"&lt;h1&gt;Hello Flask Volume!&lt;/h1&gt;"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@app.get("/about")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about():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"&lt;h1&gt;About&lt;/h1&gt;&lt;p&gt;Bind mount demo&lt;/p&gt;"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app.run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STEP 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用 Python container 掛載專案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-v 仍是主機到 container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-it --rm --name flask-dev -p 5000:5000 ^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"C:\docker-lab\flask-app:/app" ^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-w /app python:3.11 bash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主機路徑：C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:\docker-lab\flask-app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container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路徑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：/app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STEP 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安裝套件並啟動 Flask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在 container 裡執行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python app.py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browser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http://localhost:5000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http://localhost:5000/about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app.py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必須用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host="0.0.0.0"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FLASK STEP 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修改主機 app.py，重啟 Flask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不重新 build image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notepad C:\docker-lab\flask-app\app.py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回到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Flask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終端機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Ctrl + C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python app.py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refresh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http://localhost:5000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變的是主機檔案；container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讀同一份檔案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。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nginx 與 Flask 的開發差異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同一個 Bind Mount，不同開發行為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nginx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掛 HTML 到 /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usr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/share/nginx/html</a:t>
            </a:r>
          </a:p>
          <a:p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改檔後重新整理通常就變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掛 Python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專案到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/app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改 app.py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後重啟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Flask process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共同點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container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讀到的是主機同一份檔案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Flask 練習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B9A6C0F-8E7C-486C-BD35-002748A996EE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E04F58-495B-4DEF-AB4A-F2599B6692F4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第二堂完成檢核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07E3F61-0405-45BD-9153-4EE445C64B3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2 堂 | 說得出來，才算真的會用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56A62EF-337C-4344-B086-927A91C007FB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F1C1468-F330-4B89-9E75-9AC4D5401001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2082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你要能說出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1. container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可以刪掉重建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2. volume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讓資料留在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container 外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3. bind mount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左邊是主機，右邊是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container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4. named volume 由 Docker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管理資料位置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5. Flask 用 -v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掛程式碼、用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-p 開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port、用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-w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設工作目錄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D8454F9-6901-4A54-8E40-0CEDD1A32349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2 堂 | 完成檢核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BF33DFE-EBB4-4947-9674-BCDB00F8C9DE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WRAP</a:t>
            </a:r>
          </a:p>
        </p:txBody>
      </p:sp>
    </p:spTree>
    <p:extLst>
      <p:ext uri="{BB962C8B-B14F-4D97-AF65-F5344CB8AC3E}">
        <p14:creationId xmlns:p14="http://schemas.microsoft.com/office/powerpoint/2010/main" val="4588286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1856</Words>
  <Application>Microsoft Office PowerPoint</Application>
  <DocSecurity>0</DocSecurity>
  <PresentationFormat>寬螢幕</PresentationFormat>
  <Paragraphs>400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9</cp:revision>
  <dcterms:created xsi:type="dcterms:W3CDTF">2026-06-23T08:33:20Z</dcterms:created>
  <dcterms:modified xsi:type="dcterms:W3CDTF">2026-06-25T07:03:10Z</dcterms:modified>
</cp:coreProperties>
</file>