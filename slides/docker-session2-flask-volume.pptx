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ee14e5e550594f2a" /><ns0:Relationship Type="http://schemas.openxmlformats.org/officeDocument/2006/relationships/extended-properties" Target="/docProps/app.xml" Id="Rd21e1ca10c77485d" /><ns0:Relationship Type="http://schemas.openxmlformats.org/officeDocument/2006/relationships/officeDocument" Target="/ppt/presentation.xml" Id="R4b0123c9affd42ef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5dd40132607c4e80"/>
  </p:sldMasterIdLst>
  <p:sldIdLst>
    <p:sldId xmlns:r="http://schemas.openxmlformats.org/officeDocument/2006/relationships" id="256" r:id="R5ff8653a5c80408e"/>
    <p:sldId xmlns:r="http://schemas.openxmlformats.org/officeDocument/2006/relationships" id="257" r:id="R35fef252c5b148e1"/>
    <p:sldId xmlns:r="http://schemas.openxmlformats.org/officeDocument/2006/relationships" id="258" r:id="R420bcc92db664c9a"/>
    <p:sldId xmlns:r="http://schemas.openxmlformats.org/officeDocument/2006/relationships" id="259" r:id="R27b5f5802025495e"/>
    <p:sldId xmlns:r="http://schemas.openxmlformats.org/officeDocument/2006/relationships" id="260" r:id="R238dead04a1a4a75"/>
    <p:sldId xmlns:r="http://schemas.openxmlformats.org/officeDocument/2006/relationships" id="275" r:id="R14b41ba102f0442c"/>
    <p:sldId xmlns:r="http://schemas.openxmlformats.org/officeDocument/2006/relationships" id="276" r:id="R6a6547216b0d4eea"/>
    <p:sldId xmlns:r="http://schemas.openxmlformats.org/officeDocument/2006/relationships" id="277" r:id="Rbbc11fa5b0a04635"/>
    <p:sldId xmlns:r="http://schemas.openxmlformats.org/officeDocument/2006/relationships" id="278" r:id="Ra68fe3e0b34b4e4a"/>
    <p:sldId xmlns:r="http://schemas.openxmlformats.org/officeDocument/2006/relationships" id="282" r:id="Re87491485f554d9a"/>
    <p:sldId id="286" r:id="rId1"/>
    <p:sldId xmlns:r="http://schemas.openxmlformats.org/officeDocument/2006/relationships" id="261" r:id="R7a7826068faf4937"/>
    <p:sldId id="287" r:id="rId2"/>
    <p:sldId xmlns:r="http://schemas.openxmlformats.org/officeDocument/2006/relationships" id="262" r:id="R7f1e18ea616d4d9c"/>
    <p:sldId xmlns:r="http://schemas.openxmlformats.org/officeDocument/2006/relationships" id="263" r:id="Ra5957e6bea0546d3"/>
    <p:sldId xmlns:r="http://schemas.openxmlformats.org/officeDocument/2006/relationships" id="264" r:id="Rec976999b6fc4070"/>
    <p:sldId id="288" r:id="rId3"/>
    <p:sldId xmlns:r="http://schemas.openxmlformats.org/officeDocument/2006/relationships" id="265" r:id="R14a54adb5da94918"/>
    <p:sldId xmlns:r="http://schemas.openxmlformats.org/officeDocument/2006/relationships" id="266" r:id="R316e1e92e90c4749"/>
    <p:sldId xmlns:r="http://schemas.openxmlformats.org/officeDocument/2006/relationships" id="267" r:id="R4ef877801c854a5e"/>
    <p:sldId xmlns:r="http://schemas.openxmlformats.org/officeDocument/2006/relationships" id="268" r:id="R5b422180ca0547bd"/>
    <p:sldId xmlns:r="http://schemas.openxmlformats.org/officeDocument/2006/relationships" id="269" r:id="R0be14ae451794734"/>
    <p:sldId id="289" r:id="rId4"/>
    <p:sldId xmlns:r="http://schemas.openxmlformats.org/officeDocument/2006/relationships" id="270" r:id="Rb46e153cf9cc4d4d"/>
    <p:sldId xmlns:r="http://schemas.openxmlformats.org/officeDocument/2006/relationships" id="271" r:id="R173591232d004c1d"/>
    <p:sldId xmlns:r="http://schemas.openxmlformats.org/officeDocument/2006/relationships" id="272" r:id="R2901208d8c284821"/>
    <p:sldId xmlns:r="http://schemas.openxmlformats.org/officeDocument/2006/relationships" id="273" r:id="R8a2e41cfea784955"/>
    <p:sldId xmlns:r="http://schemas.openxmlformats.org/officeDocument/2006/relationships" id="274" r:id="R0121db4d5ce9440b"/>
    <p:sldId xmlns:r="http://schemas.openxmlformats.org/officeDocument/2006/relationships" id="279" r:id="Rafe88d5fd1514212"/>
    <p:sldId xmlns:r="http://schemas.openxmlformats.org/officeDocument/2006/relationships" id="280" r:id="R1a6e9ffe9b184c3e"/>
    <p:sldId xmlns:r="http://schemas.openxmlformats.org/officeDocument/2006/relationships" id="281" r:id="R8cacac57a76f42c0"/>
    <p:sldId xmlns:r="http://schemas.openxmlformats.org/officeDocument/2006/relationships" id="283" r:id="Rf0a51c87337945ba"/>
    <p:sldId xmlns:r="http://schemas.openxmlformats.org/officeDocument/2006/relationships" id="284" r:id="R19deeb6c7c3e4dd2"/>
    <p:sldId xmlns:r="http://schemas.openxmlformats.org/officeDocument/2006/relationships" id="285" r:id="R11c2b837f19d4d5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1a3e85ae557e4424" /><ns0:Relationship Type="http://schemas.openxmlformats.org/officeDocument/2006/relationships/slideMaster" Target="/ppt/slideMasters/slideMaster1.xml" Id="R5dd40132607c4e80" /><ns0:Relationship Type="http://schemas.openxmlformats.org/officeDocument/2006/relationships/presProps" Target="/ppt/presProps.xml" Id="Rc64ed322362d497d" /><ns0:Relationship Type="http://schemas.openxmlformats.org/officeDocument/2006/relationships/tableStyles" Target="/ppt/tableStyles.xml" Id="Rccc776f3aee14834" /><ns0:Relationship Type="http://schemas.openxmlformats.org/officeDocument/2006/relationships/slide" Target="/ppt/slides/slide1.xml" Id="R5ff8653a5c80408e" /><ns0:Relationship Type="http://schemas.openxmlformats.org/officeDocument/2006/relationships/slide" Target="/ppt/slides/slide2.xml" Id="R35fef252c5b148e1" /><ns0:Relationship Type="http://schemas.openxmlformats.org/officeDocument/2006/relationships/slide" Target="/ppt/slides/slide3.xml" Id="R420bcc92db664c9a" /><ns0:Relationship Type="http://schemas.openxmlformats.org/officeDocument/2006/relationships/slide" Target="/ppt/slides/slide4.xml" Id="R27b5f5802025495e" /><ns0:Relationship Type="http://schemas.openxmlformats.org/officeDocument/2006/relationships/slide" Target="/ppt/slides/slide5.xml" Id="R238dead04a1a4a75" /><ns0:Relationship Type="http://schemas.openxmlformats.org/officeDocument/2006/relationships/slide" Target="/ppt/slides/slide6.xml" Id="R7a7826068faf4937" /><ns0:Relationship Type="http://schemas.openxmlformats.org/officeDocument/2006/relationships/slide" Target="/ppt/slides/slide7.xml" Id="R7f1e18ea616d4d9c" /><ns0:Relationship Type="http://schemas.openxmlformats.org/officeDocument/2006/relationships/slide" Target="/ppt/slides/slide8.xml" Id="Ra5957e6bea0546d3" /><ns0:Relationship Type="http://schemas.openxmlformats.org/officeDocument/2006/relationships/slide" Target="/ppt/slides/slide9.xml" Id="Rec976999b6fc4070" /><ns0:Relationship Type="http://schemas.openxmlformats.org/officeDocument/2006/relationships/slide" Target="/ppt/slides/slide10.xml" Id="R14a54adb5da94918" /><ns0:Relationship Type="http://schemas.openxmlformats.org/officeDocument/2006/relationships/slide" Target="/ppt/slides/slide11.xml" Id="R316e1e92e90c4749" /><ns0:Relationship Type="http://schemas.openxmlformats.org/officeDocument/2006/relationships/slide" Target="/ppt/slides/slide12.xml" Id="R4ef877801c854a5e" /><ns0:Relationship Type="http://schemas.openxmlformats.org/officeDocument/2006/relationships/slide" Target="/ppt/slides/slide13.xml" Id="R5b422180ca0547bd" /><ns0:Relationship Type="http://schemas.openxmlformats.org/officeDocument/2006/relationships/slide" Target="/ppt/slides/slide14.xml" Id="R0be14ae451794734" /><ns0:Relationship Type="http://schemas.openxmlformats.org/officeDocument/2006/relationships/slide" Target="/ppt/slides/slide15.xml" Id="Rb46e153cf9cc4d4d" /><ns0:Relationship Type="http://schemas.openxmlformats.org/officeDocument/2006/relationships/slide" Target="/ppt/slides/slide16.xml" Id="R173591232d004c1d" /><ns0:Relationship Type="http://schemas.openxmlformats.org/officeDocument/2006/relationships/slide" Target="/ppt/slides/slide17.xml" Id="R2901208d8c284821" /><ns0:Relationship Type="http://schemas.openxmlformats.org/officeDocument/2006/relationships/slide" Target="/ppt/slides/slide18.xml" Id="R8a2e41cfea784955" /><ns0:Relationship Type="http://schemas.openxmlformats.org/officeDocument/2006/relationships/slide" Target="/ppt/slides/slide19.xml" Id="R0121db4d5ce9440b" /><ns0:Relationship Type="http://schemas.openxmlformats.org/officeDocument/2006/relationships/slide" Target="/ppt/slides/slide20.xml" Id="R14b41ba102f0442c" /><ns0:Relationship Type="http://schemas.openxmlformats.org/officeDocument/2006/relationships/slide" Target="/ppt/slides/slide21.xml" Id="R6a6547216b0d4eea" /><ns0:Relationship Type="http://schemas.openxmlformats.org/officeDocument/2006/relationships/slide" Target="/ppt/slides/slide22.xml" Id="Rbbc11fa5b0a04635" /><ns0:Relationship Type="http://schemas.openxmlformats.org/officeDocument/2006/relationships/slide" Target="/ppt/slides/slide23.xml" Id="Ra68fe3e0b34b4e4a" /><ns0:Relationship Type="http://schemas.openxmlformats.org/officeDocument/2006/relationships/slide" Target="/ppt/slides/slide24.xml" Id="Rafe88d5fd1514212" /><ns0:Relationship Type="http://schemas.openxmlformats.org/officeDocument/2006/relationships/slide" Target="/ppt/slides/slide25.xml" Id="R1a6e9ffe9b184c3e" /><ns0:Relationship Type="http://schemas.openxmlformats.org/officeDocument/2006/relationships/slide" Target="/ppt/slides/slide26.xml" Id="R8cacac57a76f42c0" /><ns0:Relationship Type="http://schemas.openxmlformats.org/officeDocument/2006/relationships/slide" Target="/ppt/slides/slide27.xml" Id="Re87491485f554d9a" /><ns0:Relationship Type="http://schemas.openxmlformats.org/officeDocument/2006/relationships/slide" Target="/ppt/slides/slide28.xml" Id="Rf0a51c87337945ba" /><ns0:Relationship Type="http://schemas.openxmlformats.org/officeDocument/2006/relationships/slide" Target="/ppt/slides/slide29.xml" Id="R19deeb6c7c3e4dd2" /><ns0:Relationship Type="http://schemas.openxmlformats.org/officeDocument/2006/relationships/slide" Target="/ppt/slides/slide30.xml" Id="R11c2b837f19d4d5c" /><ns0:Relationship Type="http://schemas.openxmlformats.org/officeDocument/2006/relationships/slide" Target="/ppt/slides/slide31.xml" Id="rId1" /><ns0:Relationship Type="http://schemas.openxmlformats.org/officeDocument/2006/relationships/slide" Target="/ppt/slides/slide32.xml" Id="rId2" /><ns0:Relationship Type="http://schemas.openxmlformats.org/officeDocument/2006/relationships/slide" Target="/ppt/slides/slide33.xml" Id="rId3" /><ns0:Relationship Type="http://schemas.openxmlformats.org/officeDocument/2006/relationships/slide" Target="/ppt/slides/slide34.xml" Id="rId4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bfc930211c054eea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b7c26a67662440d2" /><ns0:Relationship Type="http://schemas.openxmlformats.org/officeDocument/2006/relationships/slideLayout" Target="/ppt/slideLayouts/slideLayout1.xml" Id="R3e141b31e09642d6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141b31e09642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8d10804a574f37" /><ns0:Relationship Type="http://schemas.openxmlformats.org/officeDocument/2006/relationships/image" Target="/ppt/media/image.png" Id="Rf9f1ae1a74d5427b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ee3eb28ea14ee4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9305a4eb1046af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4cee77babc949f0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4fdc7ef1dd4b4f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dea05039e14263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401f7b6a734a9a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57611d49554aee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1fd010be6045af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20516ffd9f4f22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ed9e7fd0424db8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e4d7a1ec0974af9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166a5d007f4bcb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03edc824f54adf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a60bb3f09364015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47c96e70e23431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816f60d4484215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e1a3e8c0ff4c71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5526d90f614fb2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7ed96f3e0540d6" /><ns0:Relationship Type="http://schemas.openxmlformats.org/officeDocument/2006/relationships/image" Target="/ppt/media/image2.png" Id="R282184615bf64413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83edc85eb54daf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d71d28318e46c7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b2dd2b5c3c49a7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c396205f204a22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9b288e9f984ae0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b8f070b466f455d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e0309ad34546a4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70c43a1dd04687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122544f2e04e47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75f4257739455d" /></ns0: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D2379DB9-6435-4DD6-9E2B-C159E8D87C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f9f1ae1a74d5427b"/>
          <a:srcRect l="19046" t="0" r="19046" b="0"/>
          <a:stretch>
            <a:fillRect l="0" t="0" r="0" b="0"/>
          </a:stretch>
        </p:blipFill>
        <p:spPr>
          <a:xfrm>
            <a:off x="4648200" y="0"/>
            <a:ext cx="754380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3A70816D-0440-4D1D-A039-3742EB5F0E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09589248-AC9C-44EA-8599-BA4056BDEC26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3835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7DDA3BA-8BB1-44D5-96F0-A13006474DB1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885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2 堂 | Hands-on Docker</a:t>
            </a:r>
          </a:p>
        </p:txBody>
      </p:sp>
      <p:sp>
        <p:nvSpPr>
          <p:cNvPr id="6" name="">
            <a:extLst>
              <a:ext uri="{FF2B5EF4-FFF2-40B4-BE49-F238E27FC236}">
                <ns2:creationId id="{B4CD9324-C28A-40CD-B77A-403DF481BC11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81050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Volume、Flask 容器與容器管理</a:t>
            </a:r>
          </a:p>
        </p:txBody>
      </p:sp>
      <p:sp>
        <p:nvSpPr>
          <p:cNvPr id="7" name="">
            <a:extLst>
              <a:ext uri="{FF2B5EF4-FFF2-40B4-BE49-F238E27FC236}">
                <ns2:creationId id="{6F2FC229-F4AF-45C0-BFE5-56EA4B88E474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先理解掛載，再用 Flask 練習開發容器。</a:t>
            </a:r>
          </a:p>
        </p:txBody>
      </p:sp>
      <p:sp>
        <p:nvSpPr>
          <p:cNvPr id="8" name="">
            <a:extLst>
              <a:ext uri="{FF2B5EF4-FFF2-40B4-BE49-F238E27FC236}">
                <ns2:creationId id="{58A69169-2392-4B53-BAD9-16AD2A2DB7D9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0E2D7A60-BFB1-4BE6-990B-8CDCD46BA309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今天完成：理解 Volume、跑起 Flask、熟悉 stop/start/logs/exec。</a:t>
            </a:r>
          </a:p>
        </p:txBody>
      </p:sp>
      <p:sp>
        <p:nvSpPr>
          <p:cNvPr id="10" name="">
            <a:extLst>
              <a:ext uri="{FF2B5EF4-FFF2-40B4-BE49-F238E27FC236}">
                <ns2:creationId id="{6D76DCDA-45B5-4B9F-9A39-5D78C3BC65C4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2131552555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D2675DE-309F-429B-8B84-E48A0444CF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FEBD7214-6508-4CBF-928D-31F7ADFB927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>
              <a:ext uri="{FF2B5EF4-FFF2-40B4-BE49-F238E27FC236}">
                <ns2:creationId id="{AA4AAC91-7A07-4920-A9D9-3FEBF96E5FF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2447484-D1D8-4D47-9473-6425962CCCA9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243B644-5F24-4C24-998D-033BE1E48491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35829668-CBED-4A3F-BADA-6D6ED3980633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與 Bind Mount</a:t>
            </a:r>
          </a:p>
        </p:txBody>
      </p:sp>
      <p:sp>
        <p:nvSpPr>
          <p:cNvPr id="7" name="">
            <a:extLst>
              <a:ext uri="{FF2B5EF4-FFF2-40B4-BE49-F238E27FC236}">
                <ns2:creationId id="{DC2B6C85-3206-4C07-8E36-C83197F001A0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先理解 -v、Bind Mount 與 Named Volume，再練習同步檔案。</a:t>
            </a:r>
          </a:p>
        </p:txBody>
      </p:sp>
      <p:sp>
        <p:nvSpPr>
          <p:cNvPr id="8" name="">
            <a:extLst>
              <a:ext uri="{FF2B5EF4-FFF2-40B4-BE49-F238E27FC236}">
                <ns2:creationId id="{401B064E-178F-4440-AEBF-1B9FB9D43892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556BDA09-0376-404F-B4DC-791A895320D2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>
              <a:ext uri="{FF2B5EF4-FFF2-40B4-BE49-F238E27FC236}">
                <ns2:creationId id="{647CE78D-E74C-4B0D-8AF2-58C69E288713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093786D1-7388-4AA3-98E8-AC82A2EF9F61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DC65A474-1AD6-40BF-841F-68DCB3D61405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A9F9A3F6-4E9D-4DE6-BF5E-06FD58197C6D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Web 容器</a:t>
            </a:r>
          </a:p>
        </p:txBody>
      </p:sp>
      <p:sp>
        <p:nvSpPr>
          <p:cNvPr id="14" name="">
            <a:extLst>
              <a:ext uri="{FF2B5EF4-FFF2-40B4-BE49-F238E27FC236}">
                <ns2:creationId id="{2125D1F1-E81B-45B4-9802-1865BB79FE0F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Python Image 啟動容器，掛載本機專案，跑起 Flask。</a:t>
            </a:r>
          </a:p>
        </p:txBody>
      </p:sp>
      <p:sp>
        <p:nvSpPr>
          <p:cNvPr id="15" name="">
            <a:extLst>
              <a:ext uri="{FF2B5EF4-FFF2-40B4-BE49-F238E27FC236}">
                <ns2:creationId id="{0548E35C-866F-4816-9EFF-F3FF70ED0FDB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658ADD95-C0DC-4CE4-B388-C29AE134E2D6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>
              <a:ext uri="{FF2B5EF4-FFF2-40B4-BE49-F238E27FC236}">
                <ns2:creationId id="{83C40B72-89E4-4448-9248-883D7D11A22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6226E2FF-10E6-4840-B410-11BE6A8245BF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C01109CC-B303-4D04-AD17-B022800B446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B8211192-A8DC-4490-8FC6-2E376866109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容器管理</a:t>
            </a:r>
          </a:p>
        </p:txBody>
      </p:sp>
      <p:sp>
        <p:nvSpPr>
          <p:cNvPr id="21" name="">
            <a:extLst>
              <a:ext uri="{FF2B5EF4-FFF2-40B4-BE49-F238E27FC236}">
                <ns2:creationId id="{ABE19226-355A-4B07-AE24-74CE782D575A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看狀態、停啟容器、查 log、進容器、命名與 --rm。</a:t>
            </a:r>
          </a:p>
        </p:txBody>
      </p:sp>
      <p:sp>
        <p:nvSpPr>
          <p:cNvPr id="22" name="">
            <a:extLst>
              <a:ext uri="{FF2B5EF4-FFF2-40B4-BE49-F238E27FC236}">
                <ns2:creationId id="{52A08800-DA70-4A74-B77B-47678BB19D77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B9E10457-4CBD-425A-95BA-C83562CCAA99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B2AE81FE-93D8-471B-9BFF-A526BC743C6C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這堂課的核心是：容器可以重建，但程式碼與資料要知道放在哪裡。</a:t>
            </a:r>
          </a:p>
        </p:txBody>
      </p:sp>
      <p:sp>
        <p:nvSpPr>
          <p:cNvPr id="25" name="">
            <a:extLst>
              <a:ext uri="{FF2B5EF4-FFF2-40B4-BE49-F238E27FC236}">
                <ns2:creationId id="{A69421B4-C0C3-49FB-A438-49FAF73C769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27F7E86D-626D-45E1-85B1-5B451EE122D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7" name="">
            <a:extLst>
              <a:ext uri="{FF2B5EF4-FFF2-40B4-BE49-F238E27FC236}">
                <ns2:creationId id="{F88D31EE-117E-4C26-A70E-8E6A1C5E96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1446980451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689BD98-990B-417F-B175-AF4384FCE7E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BASICS</a:t>
            </a:r>
          </a:p>
        </p:txBody>
      </p:sp>
      <p:sp>
        <p:nvSpPr>
          <p:cNvPr id="2" name="">
            <a:extLst>
              <a:ext uri="{FF2B5EF4-FFF2-40B4-BE49-F238E27FC236}">
                <ns2:creationId id="{A0A615FA-DF00-4349-A999-5FF70C0CC28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背後做了四件事</a:t>
            </a:r>
          </a:p>
        </p:txBody>
      </p:sp>
      <p:sp>
        <p:nvSpPr>
          <p:cNvPr id="3" name="">
            <a:extLst>
              <a:ext uri="{FF2B5EF4-FFF2-40B4-BE49-F238E27FC236}">
                <ns2:creationId id="{BA33C738-B90F-45FE-B0A3-898E58F4C258}"/>
              </a:ext>
            </a:extLst>
          </p:cNvPr>
          <p:cNvSpPr>
            <a:spLocks noGrp="1"/>
          </p:cNvSpPr>
          <p:nvPr/>
        </p:nvSpPr>
        <p:spPr>
          <a:xfrm>
            <a:off x="876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B28D5CD-E93F-4488-8E91-10C56CFA16BC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E99D00E-5F63-42DC-AFA2-A43966F32C3D}"/>
              </a:ext>
            </a:extLst>
          </p:cNvPr>
          <p:cNvSpPr>
            <a:spLocks noGrp="1"/>
          </p:cNvSpPr>
          <p:nvPr/>
        </p:nvSpPr>
        <p:spPr>
          <a:xfrm>
            <a:off x="1104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51F7D20C-226B-43ED-BD1E-E2A1EEE12629}"/>
              </a:ext>
            </a:extLst>
          </p:cNvPr>
          <p:cNvSpPr>
            <a:spLocks noGrp="1"/>
          </p:cNvSpPr>
          <p:nvPr/>
        </p:nvSpPr>
        <p:spPr>
          <a:xfrm>
            <a:off x="1104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檢查本機</a:t>
            </a:r>
          </a:p>
        </p:txBody>
      </p:sp>
      <p:sp>
        <p:nvSpPr>
          <p:cNvPr id="7" name="">
            <a:extLst>
              <a:ext uri="{FF2B5EF4-FFF2-40B4-BE49-F238E27FC236}">
                <ns2:creationId id="{659310E8-82E0-4B11-BB0E-FA17D2EE8B1C}"/>
              </a:ext>
            </a:extLst>
          </p:cNvPr>
          <p:cNvSpPr>
            <a:spLocks noGrp="1"/>
          </p:cNvSpPr>
          <p:nvPr/>
        </p:nvSpPr>
        <p:spPr>
          <a:xfrm>
            <a:off x="1104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找有沒有指定 Image</a:t>
            </a:r>
          </a:p>
        </p:txBody>
      </p:sp>
      <p:sp>
        <p:nvSpPr>
          <p:cNvPr id="8" name="">
            <a:extLst>
              <a:ext uri="{FF2B5EF4-FFF2-40B4-BE49-F238E27FC236}">
                <ns2:creationId id="{D8EC1A80-BB11-41CE-918F-0483C552159E}"/>
              </a:ext>
            </a:extLst>
          </p:cNvPr>
          <p:cNvSpPr>
            <a:spLocks noGrp="1"/>
          </p:cNvSpPr>
          <p:nvPr/>
        </p:nvSpPr>
        <p:spPr>
          <a:xfrm>
            <a:off x="3124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66F1527F-143C-4C1C-92BB-AD98D68F908E}"/>
              </a:ext>
            </a:extLst>
          </p:cNvPr>
          <p:cNvSpPr>
            <a:spLocks noGrp="1"/>
          </p:cNvSpPr>
          <p:nvPr/>
        </p:nvSpPr>
        <p:spPr>
          <a:xfrm>
            <a:off x="3543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92AAEC41-7750-44EE-8965-A60A0E947A4F}"/>
              </a:ext>
            </a:extLst>
          </p:cNvPr>
          <p:cNvSpPr>
            <a:spLocks noGrp="1"/>
          </p:cNvSpPr>
          <p:nvPr/>
        </p:nvSpPr>
        <p:spPr>
          <a:xfrm>
            <a:off x="3771900" y="2438400"/>
            <a:ext cx="419100" cy="41910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E861EA0-5939-41F4-A36D-F404BACF4644}"/>
              </a:ext>
            </a:extLst>
          </p:cNvPr>
          <p:cNvSpPr>
            <a:spLocks noGrp="1"/>
          </p:cNvSpPr>
          <p:nvPr/>
        </p:nvSpPr>
        <p:spPr>
          <a:xfrm>
            <a:off x="3771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>
              <a:ext uri="{FF2B5EF4-FFF2-40B4-BE49-F238E27FC236}">
                <ns2:creationId id="{5813B0F5-DBAE-4518-86BA-4FB5CEC8A184}"/>
              </a:ext>
            </a:extLst>
          </p:cNvPr>
          <p:cNvSpPr>
            <a:spLocks noGrp="1"/>
          </p:cNvSpPr>
          <p:nvPr/>
        </p:nvSpPr>
        <p:spPr>
          <a:xfrm>
            <a:off x="3771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自動下載</a:t>
            </a:r>
          </a:p>
        </p:txBody>
      </p:sp>
      <p:sp>
        <p:nvSpPr>
          <p:cNvPr id="13" name="">
            <a:extLst>
              <a:ext uri="{FF2B5EF4-FFF2-40B4-BE49-F238E27FC236}">
                <ns2:creationId id="{A35C7F05-6AF8-44F3-BF41-33F4DF784A5E}"/>
              </a:ext>
            </a:extLst>
          </p:cNvPr>
          <p:cNvSpPr>
            <a:spLocks noGrp="1"/>
          </p:cNvSpPr>
          <p:nvPr/>
        </p:nvSpPr>
        <p:spPr>
          <a:xfrm>
            <a:off x="3771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641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沒有就從 Docker Hub pull</a:t>
            </a:r>
          </a:p>
        </p:txBody>
      </p:sp>
      <p:sp>
        <p:nvSpPr>
          <p:cNvPr id="14" name="">
            <a:extLst>
              <a:ext uri="{FF2B5EF4-FFF2-40B4-BE49-F238E27FC236}">
                <ns2:creationId id="{4BBA93B8-9FBE-476D-9CA3-9267B5464C3F}"/>
              </a:ext>
            </a:extLst>
          </p:cNvPr>
          <p:cNvSpPr>
            <a:spLocks noGrp="1"/>
          </p:cNvSpPr>
          <p:nvPr/>
        </p:nvSpPr>
        <p:spPr>
          <a:xfrm>
            <a:off x="5791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858A3125-1998-4854-8688-11FE3B200701}"/>
              </a:ext>
            </a:extLst>
          </p:cNvPr>
          <p:cNvSpPr>
            <a:spLocks noGrp="1"/>
          </p:cNvSpPr>
          <p:nvPr/>
        </p:nvSpPr>
        <p:spPr>
          <a:xfrm>
            <a:off x="6210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2B6C8871-4947-42B5-97C3-A4360401CB2B}"/>
              </a:ext>
            </a:extLst>
          </p:cNvPr>
          <p:cNvSpPr>
            <a:spLocks noGrp="1"/>
          </p:cNvSpPr>
          <p:nvPr/>
        </p:nvSpPr>
        <p:spPr>
          <a:xfrm>
            <a:off x="6438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5FE6073E-2081-45BB-ACDD-CBF9400AA38E}"/>
              </a:ext>
            </a:extLst>
          </p:cNvPr>
          <p:cNvSpPr>
            <a:spLocks noGrp="1"/>
          </p:cNvSpPr>
          <p:nvPr/>
        </p:nvSpPr>
        <p:spPr>
          <a:xfrm>
            <a:off x="6438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>
              <a:ext uri="{FF2B5EF4-FFF2-40B4-BE49-F238E27FC236}">
                <ns2:creationId id="{87920220-8110-4AF8-8531-FCFA40AC4F06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建立容器</a:t>
            </a:r>
          </a:p>
        </p:txBody>
      </p:sp>
      <p:sp>
        <p:nvSpPr>
          <p:cNvPr id="19" name="">
            <a:extLst>
              <a:ext uri="{FF2B5EF4-FFF2-40B4-BE49-F238E27FC236}">
                <ns2:creationId id="{AD798924-4698-47EC-B8E1-EBA5490D8CEF}"/>
              </a:ext>
            </a:extLst>
          </p:cNvPr>
          <p:cNvSpPr>
            <a:spLocks noGrp="1"/>
          </p:cNvSpPr>
          <p:nvPr/>
        </p:nvSpPr>
        <p:spPr>
          <a:xfrm>
            <a:off x="6438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57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Image 建立新的 Container</a:t>
            </a:r>
          </a:p>
        </p:txBody>
      </p:sp>
      <p:sp>
        <p:nvSpPr>
          <p:cNvPr id="20" name="">
            <a:extLst>
              <a:ext uri="{FF2B5EF4-FFF2-40B4-BE49-F238E27FC236}">
                <ns2:creationId id="{53B02B09-48A1-41EB-8FB4-42B8054E622E}"/>
              </a:ext>
            </a:extLst>
          </p:cNvPr>
          <p:cNvSpPr>
            <a:spLocks noGrp="1"/>
          </p:cNvSpPr>
          <p:nvPr/>
        </p:nvSpPr>
        <p:spPr>
          <a:xfrm>
            <a:off x="8458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006DD704-99CE-458C-8914-FE20B45DAD37}"/>
              </a:ext>
            </a:extLst>
          </p:cNvPr>
          <p:cNvSpPr>
            <a:spLocks noGrp="1"/>
          </p:cNvSpPr>
          <p:nvPr/>
        </p:nvSpPr>
        <p:spPr>
          <a:xfrm>
            <a:off x="8877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2" name="">
            <a:extLst>
              <a:ext uri="{FF2B5EF4-FFF2-40B4-BE49-F238E27FC236}">
                <ns2:creationId id="{097208FC-F700-4CCD-B4DA-A8A9DCC6B967}"/>
              </a:ext>
            </a:extLst>
          </p:cNvPr>
          <p:cNvSpPr>
            <a:spLocks noGrp="1"/>
          </p:cNvSpPr>
          <p:nvPr/>
        </p:nvSpPr>
        <p:spPr>
          <a:xfrm>
            <a:off x="9105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C8A51D42-09C5-409A-BB45-1664F26AE3B1}"/>
              </a:ext>
            </a:extLst>
          </p:cNvPr>
          <p:cNvSpPr>
            <a:spLocks noGrp="1"/>
          </p:cNvSpPr>
          <p:nvPr/>
        </p:nvSpPr>
        <p:spPr>
          <a:xfrm>
            <a:off x="9105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>
              <a:ext uri="{FF2B5EF4-FFF2-40B4-BE49-F238E27FC236}">
                <ns2:creationId id="{AF6DCC7F-E796-436C-9CBF-AF9805B042E7}"/>
              </a:ext>
            </a:extLst>
          </p:cNvPr>
          <p:cNvSpPr>
            <a:spLocks noGrp="1"/>
          </p:cNvSpPr>
          <p:nvPr/>
        </p:nvSpPr>
        <p:spPr>
          <a:xfrm>
            <a:off x="9105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啟動容器</a:t>
            </a:r>
          </a:p>
        </p:txBody>
      </p:sp>
      <p:sp>
        <p:nvSpPr>
          <p:cNvPr id="25" name="">
            <a:extLst>
              <a:ext uri="{FF2B5EF4-FFF2-40B4-BE49-F238E27FC236}">
                <ns2:creationId id="{62623591-34AA-4E03-8EA4-508AE9E35747}"/>
              </a:ext>
            </a:extLst>
          </p:cNvPr>
          <p:cNvSpPr>
            <a:spLocks noGrp="1"/>
          </p:cNvSpPr>
          <p:nvPr/>
        </p:nvSpPr>
        <p:spPr>
          <a:xfrm>
            <a:off x="9105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執行容器內的入口指令</a:t>
            </a:r>
          </a:p>
        </p:txBody>
      </p:sp>
      <p:sp>
        <p:nvSpPr>
          <p:cNvPr id="26" name="">
            <a:extLst>
              <a:ext uri="{FF2B5EF4-FFF2-40B4-BE49-F238E27FC236}">
                <ns2:creationId id="{3DC8EAF1-0D2F-4868-9819-5109DB2F0753}"/>
              </a:ext>
            </a:extLst>
          </p:cNvPr>
          <p:cNvSpPr>
            <a:spLocks noGrp="1"/>
          </p:cNvSpPr>
          <p:nvPr/>
        </p:nvSpPr>
        <p:spPr>
          <a:xfrm>
            <a:off x="2514600" y="4762500"/>
            <a:ext cx="71628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7" name="">
            <a:extLst>
              <a:ext uri="{FF2B5EF4-FFF2-40B4-BE49-F238E27FC236}">
                <ns2:creationId id="{12C439FB-1CC5-4264-970E-B17DA2083ECF}"/>
              </a:ext>
            </a:extLst>
          </p:cNvPr>
          <p:cNvSpPr>
            <a:spLocks noGrp="1"/>
          </p:cNvSpPr>
          <p:nvPr/>
        </p:nvSpPr>
        <p:spPr>
          <a:xfrm>
            <a:off x="268605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6ADFE14F-531F-47F1-A77E-26C21A9F7758}"/>
              </a:ext>
            </a:extLst>
          </p:cNvPr>
          <p:cNvSpPr>
            <a:spLocks noGrp="1"/>
          </p:cNvSpPr>
          <p:nvPr/>
        </p:nvSpPr>
        <p:spPr>
          <a:xfrm>
            <a:off x="285750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3D75C1AE-BE24-4ADB-B848-0B3692010BB5}"/>
              </a:ext>
            </a:extLst>
          </p:cNvPr>
          <p:cNvSpPr>
            <a:spLocks noGrp="1"/>
          </p:cNvSpPr>
          <p:nvPr/>
        </p:nvSpPr>
        <p:spPr>
          <a:xfrm>
            <a:off x="302895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9AF1094D-FF8C-4571-899A-70577DD990E9}"/>
              </a:ext>
            </a:extLst>
          </p:cNvPr>
          <p:cNvSpPr>
            <a:spLocks noGrp="1"/>
          </p:cNvSpPr>
          <p:nvPr/>
        </p:nvSpPr>
        <p:spPr>
          <a:xfrm>
            <a:off x="2724150" y="5181600"/>
            <a:ext cx="6743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</p:txBody>
      </p:sp>
      <p:sp>
        <p:nvSpPr>
          <p:cNvPr id="31" name="">
            <a:extLst>
              <a:ext uri="{FF2B5EF4-FFF2-40B4-BE49-F238E27FC236}">
                <ns2:creationId id="{36324EA9-512A-46F9-8033-3CB942121A8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2" name="">
            <a:extLst>
              <a:ext uri="{FF2B5EF4-FFF2-40B4-BE49-F238E27FC236}">
                <ns2:creationId id="{C03AE1AA-C622-43D6-9FE9-0AFE56BE223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3" name="">
            <a:extLst>
              <a:ext uri="{FF2B5EF4-FFF2-40B4-BE49-F238E27FC236}">
                <ns2:creationId id="{3AEC3346-86B6-47CE-8526-CA3D400DC38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91034968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B3DE4EC-18D6-4B60-8E94-45C1BF84B56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INTERACTIVE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587F9444-38E1-4F34-AC85-FD04FAD2CC3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先用互動式 Python 容器熱身</a:t>
            </a:r>
          </a:p>
        </p:txBody>
      </p:sp>
      <p:sp>
        <p:nvSpPr>
          <p:cNvPr id="3" name="">
            <a:extLst>
              <a:ext uri="{FF2B5EF4-FFF2-40B4-BE49-F238E27FC236}">
                <ns2:creationId id="{37DD569A-9212-4F25-BA62-245957FCEB56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5810250" cy="3257550"/>
          </a:xfrm>
          <a:prstGeom prst="roundRect">
            <a:avLst>
              <a:gd name="adj" fmla="val 292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1335976-5F88-497A-952A-E311D94BD1CD}"/>
              </a:ext>
            </a:extLst>
          </p:cNvPr>
          <p:cNvSpPr>
            <a:spLocks noGrp="1"/>
          </p:cNvSpPr>
          <p:nvPr/>
        </p:nvSpPr>
        <p:spPr>
          <a:xfrm>
            <a:off x="9906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295DBC8-318A-425F-9A37-2857C5372F3B}"/>
              </a:ext>
            </a:extLst>
          </p:cNvPr>
          <p:cNvSpPr>
            <a:spLocks noGrp="1"/>
          </p:cNvSpPr>
          <p:nvPr/>
        </p:nvSpPr>
        <p:spPr>
          <a:xfrm>
            <a:off x="11620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1C7FF19-8461-4F33-B6D4-50F65A27AB89}"/>
              </a:ext>
            </a:extLst>
          </p:cNvPr>
          <p:cNvSpPr>
            <a:spLocks noGrp="1"/>
          </p:cNvSpPr>
          <p:nvPr/>
        </p:nvSpPr>
        <p:spPr>
          <a:xfrm>
            <a:off x="13335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26BC6ED-5C29-4088-93EC-212A92258B0E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5391150" cy="2705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Docker!")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sys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print(sys.version)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離開：Ctrl + D 或 exit()</a:t>
            </a:r>
          </a:p>
        </p:txBody>
      </p:sp>
      <p:sp>
        <p:nvSpPr>
          <p:cNvPr id="8" name="">
            <a:extLst>
              <a:ext uri="{FF2B5EF4-FFF2-40B4-BE49-F238E27FC236}">
                <ns2:creationId id="{70EEF3C2-59CC-4A65-8B3C-C4F0F517F5A0}"/>
              </a:ext>
            </a:extLst>
          </p:cNvPr>
          <p:cNvSpPr>
            <a:spLocks noGrp="1"/>
          </p:cNvSpPr>
          <p:nvPr/>
        </p:nvSpPr>
        <p:spPr>
          <a:xfrm>
            <a:off x="7219950" y="1695450"/>
            <a:ext cx="3333750" cy="1066800"/>
          </a:xfrm>
          <a:prstGeom prst="roundRect">
            <a:avLst>
              <a:gd name="adj" fmla="val 10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0B3B173-035C-4528-B59E-57705BBB7DF0}"/>
              </a:ext>
            </a:extLst>
          </p:cNvPr>
          <p:cNvSpPr>
            <a:spLocks noGrp="1"/>
          </p:cNvSpPr>
          <p:nvPr/>
        </p:nvSpPr>
        <p:spPr>
          <a:xfrm>
            <a:off x="7448550" y="18859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-i</a:t>
            </a:r>
          </a:p>
        </p:txBody>
      </p:sp>
      <p:sp>
        <p:nvSpPr>
          <p:cNvPr id="10" name="">
            <a:extLst>
              <a:ext uri="{FF2B5EF4-FFF2-40B4-BE49-F238E27FC236}">
                <ns2:creationId id="{799B55A5-87E7-4CE6-83A0-C63211B216CB}"/>
              </a:ext>
            </a:extLst>
          </p:cNvPr>
          <p:cNvSpPr>
            <a:spLocks noGrp="1"/>
          </p:cNvSpPr>
          <p:nvPr/>
        </p:nvSpPr>
        <p:spPr>
          <a:xfrm>
            <a:off x="7448550" y="23050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08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保持標準輸入開啟，讓你可以輸入內容。</a:t>
            </a:r>
          </a:p>
        </p:txBody>
      </p:sp>
      <p:sp>
        <p:nvSpPr>
          <p:cNvPr id="11" name="">
            <a:extLst>
              <a:ext uri="{FF2B5EF4-FFF2-40B4-BE49-F238E27FC236}">
                <ns2:creationId id="{7AD9C43F-E900-4258-B144-F7C57BBF54F4}"/>
              </a:ext>
            </a:extLst>
          </p:cNvPr>
          <p:cNvSpPr>
            <a:spLocks noGrp="1"/>
          </p:cNvSpPr>
          <p:nvPr/>
        </p:nvSpPr>
        <p:spPr>
          <a:xfrm>
            <a:off x="7219950" y="3028950"/>
            <a:ext cx="3333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3390AFD-4653-4850-B8B5-1D142994E5CB}"/>
              </a:ext>
            </a:extLst>
          </p:cNvPr>
          <p:cNvSpPr>
            <a:spLocks noGrp="1"/>
          </p:cNvSpPr>
          <p:nvPr/>
        </p:nvSpPr>
        <p:spPr>
          <a:xfrm>
            <a:off x="7448550" y="32194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-t</a:t>
            </a:r>
          </a:p>
        </p:txBody>
      </p:sp>
      <p:sp>
        <p:nvSpPr>
          <p:cNvPr id="13" name="">
            <a:extLst>
              <a:ext uri="{FF2B5EF4-FFF2-40B4-BE49-F238E27FC236}">
                <ns2:creationId id="{890BE9EC-F213-4119-8EAC-75C73ADACAF1}"/>
              </a:ext>
            </a:extLst>
          </p:cNvPr>
          <p:cNvSpPr>
            <a:spLocks noGrp="1"/>
          </p:cNvSpPr>
          <p:nvPr/>
        </p:nvSpPr>
        <p:spPr>
          <a:xfrm>
            <a:off x="7448550" y="36385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81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分配一個終端，輸出和互動看起來像正常 shell。</a:t>
            </a:r>
          </a:p>
        </p:txBody>
      </p:sp>
      <p:sp>
        <p:nvSpPr>
          <p:cNvPr id="14" name="">
            <a:extLst>
              <a:ext uri="{FF2B5EF4-FFF2-40B4-BE49-F238E27FC236}">
                <ns2:creationId id="{52E09413-7DA0-4CB3-A17B-A429B4033749}"/>
              </a:ext>
            </a:extLst>
          </p:cNvPr>
          <p:cNvSpPr>
            <a:spLocks noGrp="1"/>
          </p:cNvSpPr>
          <p:nvPr/>
        </p:nvSpPr>
        <p:spPr>
          <a:xfrm>
            <a:off x="7219950" y="4362450"/>
            <a:ext cx="333375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5FD8EACE-2BF7-4ABF-937E-DEE206F3A220}"/>
              </a:ext>
            </a:extLst>
          </p:cNvPr>
          <p:cNvSpPr>
            <a:spLocks noGrp="1"/>
          </p:cNvSpPr>
          <p:nvPr/>
        </p:nvSpPr>
        <p:spPr>
          <a:xfrm>
            <a:off x="7448550" y="45529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最後的 python</a:t>
            </a:r>
          </a:p>
        </p:txBody>
      </p:sp>
      <p:sp>
        <p:nvSpPr>
          <p:cNvPr id="16" name="">
            <a:extLst>
              <a:ext uri="{FF2B5EF4-FFF2-40B4-BE49-F238E27FC236}">
                <ns2:creationId id="{996898EB-E265-404F-8139-0F430B191A97}"/>
              </a:ext>
            </a:extLst>
          </p:cNvPr>
          <p:cNvSpPr>
            <a:spLocks noGrp="1"/>
          </p:cNvSpPr>
          <p:nvPr/>
        </p:nvSpPr>
        <p:spPr>
          <a:xfrm>
            <a:off x="7448550" y="4972050"/>
            <a:ext cx="2876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9881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進入容器後要執行的指令。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D66BFE3E-972F-47BF-B847-B0777A63811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5A55C25-B29F-4610-8A34-5EC7BF348EE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91233BB5-465D-4D2A-8C69-4AD9C9A31AC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1316477241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6A92D87-4A9D-4065-865C-4007B50E22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D658C470-C247-4F94-B182-F2DC94CECF0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1：-d 和 -it 何時使用？</a:t>
            </a:r>
          </a:p>
        </p:txBody>
      </p:sp>
      <p:sp>
        <p:nvSpPr>
          <p:cNvPr id="3" name="">
            <a:extLst>
              <a:ext uri="{FF2B5EF4-FFF2-40B4-BE49-F238E27FC236}">
                <ns2:creationId id="{E7038513-EBD5-40E4-A41D-0B8E97B3E182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4286250" cy="219075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0269E61-6D5A-4BFD-9F78-7E84F668A23A}"/>
              </a:ext>
            </a:extLst>
          </p:cNvPr>
          <p:cNvSpPr>
            <a:spLocks noGrp="1"/>
          </p:cNvSpPr>
          <p:nvPr/>
        </p:nvSpPr>
        <p:spPr>
          <a:xfrm>
            <a:off x="1371600" y="20002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-it</a:t>
            </a:r>
          </a:p>
        </p:txBody>
      </p:sp>
      <p:sp>
        <p:nvSpPr>
          <p:cNvPr id="5" name="">
            <a:extLst>
              <a:ext uri="{FF2B5EF4-FFF2-40B4-BE49-F238E27FC236}">
                <ns2:creationId id="{825B9DD4-95F3-4E63-B313-D43FF4CA7A09}"/>
              </a:ext>
            </a:extLst>
          </p:cNvPr>
          <p:cNvSpPr>
            <a:spLocks noGrp="1"/>
          </p:cNvSpPr>
          <p:nvPr/>
        </p:nvSpPr>
        <p:spPr>
          <a:xfrm>
            <a:off x="1371600" y="2590800"/>
            <a:ext cx="38290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interactive + tty。</a:t>
            </a:r>
          </a:p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適合進容器互動、測試指令、教學示範。</a:t>
            </a:r>
          </a:p>
        </p:txBody>
      </p:sp>
      <p:sp>
        <p:nvSpPr>
          <p:cNvPr id="6" name="">
            <a:extLst>
              <a:ext uri="{FF2B5EF4-FFF2-40B4-BE49-F238E27FC236}">
                <ns2:creationId id="{2E04BE87-8CE8-4146-9646-E5CAAE635D5C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286250" cy="219075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EF4FB35-FA9A-4F13-BC3A-C9491CD873CD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8" name="">
            <a:extLst>
              <a:ext uri="{FF2B5EF4-FFF2-40B4-BE49-F238E27FC236}">
                <ns2:creationId id="{49DD184E-2363-4445-8309-6339BF2B3FC0}"/>
              </a:ext>
            </a:extLst>
          </p:cNvPr>
          <p:cNvSpPr>
            <a:spLocks noGrp="1"/>
          </p:cNvSpPr>
          <p:nvPr/>
        </p:nvSpPr>
        <p:spPr>
          <a:xfrm>
            <a:off x="6991350" y="2590800"/>
            <a:ext cx="38290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detach 背景執行。</a:t>
            </a:r>
          </a:p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 Web 伺服器、資料庫等長時間服務。</a:t>
            </a:r>
          </a:p>
        </p:txBody>
      </p:sp>
      <p:sp>
        <p:nvSpPr>
          <p:cNvPr id="9" name="">
            <a:extLst>
              <a:ext uri="{FF2B5EF4-FFF2-40B4-BE49-F238E27FC236}">
                <ns2:creationId id="{0DDC1A57-651E-49D0-8A91-DBD947D7C62D}"/>
              </a:ext>
            </a:extLst>
          </p:cNvPr>
          <p:cNvSpPr>
            <a:spLocks noGrp="1"/>
          </p:cNvSpPr>
          <p:nvPr/>
        </p:nvSpPr>
        <p:spPr>
          <a:xfrm>
            <a:off x="1714500" y="5067300"/>
            <a:ext cx="876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回答目標：看到指令時能判斷它是互動測試，還是背景服務。</a:t>
            </a:r>
          </a:p>
        </p:txBody>
      </p:sp>
      <p:sp>
        <p:nvSpPr>
          <p:cNvPr id="10" name="">
            <a:extLst>
              <a:ext uri="{FF2B5EF4-FFF2-40B4-BE49-F238E27FC236}">
                <ns2:creationId id="{415D9BA8-1A3B-41C7-B55D-9970E1516BA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2C7470B-79B8-47AA-91AC-F1E00AF24A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D41BD001-3BCD-4D92-B4D0-91B371D6FAB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ns3:creationId val="1011736814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60A7850-C1C9-499C-AFFB-4FF4FB41B55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APP.PY</a:t>
            </a:r>
          </a:p>
        </p:txBody>
      </p:sp>
      <p:sp>
        <p:nvSpPr>
          <p:cNvPr id="2" name="">
            <a:extLst>
              <a:ext uri="{FF2B5EF4-FFF2-40B4-BE49-F238E27FC236}">
                <ns2:creationId id="{2CBA6AB4-8616-4193-8996-818E4ABA26F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專案主程式檔案</a:t>
            </a:r>
          </a:p>
        </p:txBody>
      </p:sp>
      <p:sp>
        <p:nvSpPr>
          <p:cNvPr id="3" name="">
            <a:extLst>
              <a:ext uri="{FF2B5EF4-FFF2-40B4-BE49-F238E27FC236}">
                <ns2:creationId id="{AFCF6336-2605-4BDC-8DA3-6DD0BA9BF23C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000500" cy="1428750"/>
          </a:xfrm>
          <a:prstGeom prst="roundRect">
            <a:avLst>
              <a:gd name="adj" fmla="val 66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A3118F9-C91D-41AC-B728-74D279C9289D}"/>
              </a:ext>
            </a:extLst>
          </p:cNvPr>
          <p:cNvSpPr>
            <a:spLocks noGrp="1"/>
          </p:cNvSpPr>
          <p:nvPr/>
        </p:nvSpPr>
        <p:spPr>
          <a:xfrm>
            <a:off x="9525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BA9E7AB-7EA7-47D0-98C5-CE14F2F8A17B}"/>
              </a:ext>
            </a:extLst>
          </p:cNvPr>
          <p:cNvSpPr>
            <a:spLocks noGrp="1"/>
          </p:cNvSpPr>
          <p:nvPr/>
        </p:nvSpPr>
        <p:spPr>
          <a:xfrm>
            <a:off x="11239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3816F38-C1DC-4CE5-8CC9-00D5AA763AA9}"/>
              </a:ext>
            </a:extLst>
          </p:cNvPr>
          <p:cNvSpPr>
            <a:spLocks noGrp="1"/>
          </p:cNvSpPr>
          <p:nvPr/>
        </p:nvSpPr>
        <p:spPr>
          <a:xfrm>
            <a:off x="12954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BE0F3E1-2498-44E3-8836-7CA10D6DA16B}"/>
              </a:ext>
            </a:extLst>
          </p:cNvPr>
          <p:cNvSpPr>
            <a:spLocks noGrp="1"/>
          </p:cNvSpPr>
          <p:nvPr/>
        </p:nvSpPr>
        <p:spPr>
          <a:xfrm>
            <a:off x="990600" y="2019300"/>
            <a:ext cx="35814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C:\docker-lab\flask-app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app.py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requirements.txt</a:t>
            </a:r>
          </a:p>
        </p:txBody>
      </p:sp>
      <p:sp>
        <p:nvSpPr>
          <p:cNvPr id="8" name="">
            <a:extLst>
              <a:ext uri="{FF2B5EF4-FFF2-40B4-BE49-F238E27FC236}">
                <ns2:creationId id="{6BCEF44A-58B3-4650-82C9-2BAF1BDCAF18}"/>
              </a:ext>
            </a:extLst>
          </p:cNvPr>
          <p:cNvSpPr>
            <a:spLocks noGrp="1"/>
          </p:cNvSpPr>
          <p:nvPr/>
        </p:nvSpPr>
        <p:spPr>
          <a:xfrm>
            <a:off x="5143500" y="1428750"/>
            <a:ext cx="5905500" cy="3219450"/>
          </a:xfrm>
          <a:prstGeom prst="roundRect">
            <a:avLst>
              <a:gd name="adj" fmla="val 295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9" name="">
            <a:extLst>
              <a:ext uri="{FF2B5EF4-FFF2-40B4-BE49-F238E27FC236}">
                <ns2:creationId id="{626A4787-558A-41B4-829B-CF1C45CA6662}"/>
              </a:ext>
            </a:extLst>
          </p:cNvPr>
          <p:cNvSpPr>
            <a:spLocks noGrp="1"/>
          </p:cNvSpPr>
          <p:nvPr/>
        </p:nvSpPr>
        <p:spPr>
          <a:xfrm>
            <a:off x="53149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3D979B0F-F068-4012-904B-D6F1DAC42050}"/>
              </a:ext>
            </a:extLst>
          </p:cNvPr>
          <p:cNvSpPr>
            <a:spLocks noGrp="1"/>
          </p:cNvSpPr>
          <p:nvPr/>
        </p:nvSpPr>
        <p:spPr>
          <a:xfrm>
            <a:off x="54864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BC34195-8FA4-4743-BE5D-1498D9EA2BE3}"/>
              </a:ext>
            </a:extLst>
          </p:cNvPr>
          <p:cNvSpPr>
            <a:spLocks noGrp="1"/>
          </p:cNvSpPr>
          <p:nvPr/>
        </p:nvSpPr>
        <p:spPr>
          <a:xfrm>
            <a:off x="56578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4FDD04C-CA99-4D43-A6A9-7F7D27D6B64A}"/>
              </a:ext>
            </a:extLst>
          </p:cNvPr>
          <p:cNvSpPr>
            <a:spLocks noGrp="1"/>
          </p:cNvSpPr>
          <p:nvPr/>
        </p:nvSpPr>
        <p:spPr>
          <a:xfrm>
            <a:off x="5353050" y="1847850"/>
            <a:ext cx="5486400" cy="2667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'&lt;h1&gt;Hello Docker!&lt;/h1&gt;'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13" name="">
            <a:extLst>
              <a:ext uri="{FF2B5EF4-FFF2-40B4-BE49-F238E27FC236}">
                <ns2:creationId id="{28213415-2C7A-4019-84E9-ACB253EC4F54}"/>
              </a:ext>
            </a:extLst>
          </p:cNvPr>
          <p:cNvSpPr>
            <a:spLocks noGrp="1"/>
          </p:cNvSpPr>
          <p:nvPr/>
        </p:nvSpPr>
        <p:spPr>
          <a:xfrm>
            <a:off x="781050" y="3657600"/>
            <a:ext cx="4000500" cy="971550"/>
          </a:xfrm>
          <a:prstGeom prst="roundRect">
            <a:avLst>
              <a:gd name="adj" fmla="val 1176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91F2639A-FEE7-4B4D-9AC0-4B29D9CB5330}"/>
              </a:ext>
            </a:extLst>
          </p:cNvPr>
          <p:cNvSpPr>
            <a:spLocks noGrp="1"/>
          </p:cNvSpPr>
          <p:nvPr/>
        </p:nvSpPr>
        <p:spPr>
          <a:xfrm>
            <a:off x="1066800" y="394335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5" name="">
            <a:extLst>
              <a:ext uri="{FF2B5EF4-FFF2-40B4-BE49-F238E27FC236}">
                <ns2:creationId id="{347DB6DB-FF24-472E-B75B-B9CAD81344F7}"/>
              </a:ext>
            </a:extLst>
          </p:cNvPr>
          <p:cNvSpPr>
            <a:spLocks noGrp="1"/>
          </p:cNvSpPr>
          <p:nvPr/>
        </p:nvSpPr>
        <p:spPr>
          <a:xfrm>
            <a:off x="1066800" y="43053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flask</a:t>
            </a:r>
          </a:p>
        </p:txBody>
      </p:sp>
      <p:sp>
        <p:nvSpPr>
          <p:cNvPr id="16" name="">
            <a:extLst>
              <a:ext uri="{FF2B5EF4-FFF2-40B4-BE49-F238E27FC236}">
                <ns2:creationId id="{AF0FB93B-4F4A-4F65-99F3-EE6E0FF5398A}"/>
              </a:ext>
            </a:extLst>
          </p:cNvPr>
          <p:cNvSpPr>
            <a:spLocks noGrp="1"/>
          </p:cNvSpPr>
          <p:nvPr/>
        </p:nvSpPr>
        <p:spPr>
          <a:xfrm>
            <a:off x="1581150" y="5334000"/>
            <a:ext cx="902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重點：把程式放在宿主機，讓容器負責提供 Python 執行環境。</a:t>
            </a:r>
          </a:p>
        </p:txBody>
      </p:sp>
      <p:sp>
        <p:nvSpPr>
          <p:cNvPr id="17" name="">
            <a:extLst>
              <a:ext uri="{FF2B5EF4-FFF2-40B4-BE49-F238E27FC236}">
                <ns2:creationId id="{894B0EBE-6DB8-463F-AEFB-6FA2773836E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4F78251E-983C-404B-B32B-8598222199D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563BB544-440A-451B-8774-38D2A22DD2F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524913370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D588C0D-1086-463D-8F48-9C3ECEE3F40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FLASK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BCC6C7D4-8148-4CF6-8347-2FC835B7BC6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把本機專案掛進 Python 容器</a:t>
            </a:r>
          </a:p>
        </p:txBody>
      </p:sp>
      <p:sp>
        <p:nvSpPr>
          <p:cNvPr id="3" name="">
            <a:extLst>
              <a:ext uri="{FF2B5EF4-FFF2-40B4-BE49-F238E27FC236}">
                <ns2:creationId id="{61DBF1A9-4982-4B65-A21E-3273732E21D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562100"/>
          </a:xfrm>
          <a:prstGeom prst="roundRect">
            <a:avLst>
              <a:gd name="adj" fmla="val 609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C7C36A42-7F49-485E-AF9B-9B38F076FBC3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024A3DA-9BDA-4103-9E2F-42BD708CAE6F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3B49023-1DA8-4AB8-B7D0-129288686EA7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D7E90E5D-F702-4C59-91B6-E2D6121634BC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-p 5000:5000 \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"C:\docker-lab\flask-app:/app" \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-w /app python:3.11 bash</a:t>
            </a:r>
          </a:p>
        </p:txBody>
      </p:sp>
      <p:sp>
        <p:nvSpPr>
          <p:cNvPr id="8" name="">
            <a:extLst>
              <a:ext uri="{FF2B5EF4-FFF2-40B4-BE49-F238E27FC236}">
                <ns2:creationId id="{DCCCC195-9004-409F-9481-9BB9B2135FC3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2F2B44A-B494-4449-8FC9-265BEC437C1C}"/>
              </a:ext>
            </a:extLst>
          </p:cNvPr>
          <p:cNvSpPr>
            <a:spLocks noGrp="1"/>
          </p:cNvSpPr>
          <p:nvPr/>
        </p:nvSpPr>
        <p:spPr>
          <a:xfrm>
            <a:off x="8191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-it --rm</a:t>
            </a:r>
          </a:p>
        </p:txBody>
      </p:sp>
      <p:sp>
        <p:nvSpPr>
          <p:cNvPr id="10" name="">
            <a:extLst>
              <a:ext uri="{FF2B5EF4-FFF2-40B4-BE49-F238E27FC236}">
                <ns2:creationId id="{056CBD1B-58DB-41D0-9EF3-9D28D2F39162}"/>
              </a:ext>
            </a:extLst>
          </p:cNvPr>
          <p:cNvSpPr>
            <a:spLocks noGrp="1"/>
          </p:cNvSpPr>
          <p:nvPr/>
        </p:nvSpPr>
        <p:spPr>
          <a:xfrm>
            <a:off x="8191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互動模式；exit 後自動清理</a:t>
            </a:r>
          </a:p>
        </p:txBody>
      </p:sp>
      <p:sp>
        <p:nvSpPr>
          <p:cNvPr id="11" name="">
            <a:extLst>
              <a:ext uri="{FF2B5EF4-FFF2-40B4-BE49-F238E27FC236}">
                <ns2:creationId id="{D9C82F5E-8472-4EFD-ABC8-50EFFB8E6C77}"/>
              </a:ext>
            </a:extLst>
          </p:cNvPr>
          <p:cNvSpPr>
            <a:spLocks noGrp="1"/>
          </p:cNvSpPr>
          <p:nvPr/>
        </p:nvSpPr>
        <p:spPr>
          <a:xfrm>
            <a:off x="29146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0F490EA1-A619-41A4-BA45-04DD0828D72A}"/>
              </a:ext>
            </a:extLst>
          </p:cNvPr>
          <p:cNvSpPr>
            <a:spLocks noGrp="1"/>
          </p:cNvSpPr>
          <p:nvPr/>
        </p:nvSpPr>
        <p:spPr>
          <a:xfrm>
            <a:off x="30670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5000:5000</a:t>
            </a:r>
          </a:p>
        </p:txBody>
      </p:sp>
      <p:sp>
        <p:nvSpPr>
          <p:cNvPr id="13" name="">
            <a:extLst>
              <a:ext uri="{FF2B5EF4-FFF2-40B4-BE49-F238E27FC236}">
                <ns2:creationId id="{1DF406FA-6C81-4E3E-AAC1-78F19B263498}"/>
              </a:ext>
            </a:extLst>
          </p:cNvPr>
          <p:cNvSpPr>
            <a:spLocks noGrp="1"/>
          </p:cNvSpPr>
          <p:nvPr/>
        </p:nvSpPr>
        <p:spPr>
          <a:xfrm>
            <a:off x="30670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5000 對到容器 5000</a:t>
            </a:r>
          </a:p>
        </p:txBody>
      </p:sp>
      <p:sp>
        <p:nvSpPr>
          <p:cNvPr id="14" name="">
            <a:extLst>
              <a:ext uri="{FF2B5EF4-FFF2-40B4-BE49-F238E27FC236}">
                <ns2:creationId id="{FD132BF9-85B0-47E7-A257-3B5A4A2C1172}"/>
              </a:ext>
            </a:extLst>
          </p:cNvPr>
          <p:cNvSpPr>
            <a:spLocks noGrp="1"/>
          </p:cNvSpPr>
          <p:nvPr/>
        </p:nvSpPr>
        <p:spPr>
          <a:xfrm>
            <a:off x="51625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5713E350-6306-4E93-ACEA-58E8EEAD0310}"/>
              </a:ext>
            </a:extLst>
          </p:cNvPr>
          <p:cNvSpPr>
            <a:spLocks noGrp="1"/>
          </p:cNvSpPr>
          <p:nvPr/>
        </p:nvSpPr>
        <p:spPr>
          <a:xfrm>
            <a:off x="53149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-v ...:/app</a:t>
            </a:r>
          </a:p>
        </p:txBody>
      </p:sp>
      <p:sp>
        <p:nvSpPr>
          <p:cNvPr id="16" name="">
            <a:extLst>
              <a:ext uri="{FF2B5EF4-FFF2-40B4-BE49-F238E27FC236}">
                <ns2:creationId id="{C51E60B3-17DA-4815-969C-17E0AD093565}"/>
              </a:ext>
            </a:extLst>
          </p:cNvPr>
          <p:cNvSpPr>
            <a:spLocks noGrp="1"/>
          </p:cNvSpPr>
          <p:nvPr/>
        </p:nvSpPr>
        <p:spPr>
          <a:xfrm>
            <a:off x="53149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把本機專案掛到容器 /app</a:t>
            </a:r>
          </a:p>
        </p:txBody>
      </p:sp>
      <p:sp>
        <p:nvSpPr>
          <p:cNvPr id="17" name="">
            <a:extLst>
              <a:ext uri="{FF2B5EF4-FFF2-40B4-BE49-F238E27FC236}">
                <ns2:creationId id="{C4EBFC63-96B2-4185-8B33-E9388C5381FF}"/>
              </a:ext>
            </a:extLst>
          </p:cNvPr>
          <p:cNvSpPr>
            <a:spLocks noGrp="1"/>
          </p:cNvSpPr>
          <p:nvPr/>
        </p:nvSpPr>
        <p:spPr>
          <a:xfrm>
            <a:off x="74104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E6F70A03-D530-4279-8E81-B3CF8A509A56}"/>
              </a:ext>
            </a:extLst>
          </p:cNvPr>
          <p:cNvSpPr>
            <a:spLocks noGrp="1"/>
          </p:cNvSpPr>
          <p:nvPr/>
        </p:nvSpPr>
        <p:spPr>
          <a:xfrm>
            <a:off x="75628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-w /app</a:t>
            </a:r>
          </a:p>
        </p:txBody>
      </p:sp>
      <p:sp>
        <p:nvSpPr>
          <p:cNvPr id="19" name="">
            <a:extLst>
              <a:ext uri="{FF2B5EF4-FFF2-40B4-BE49-F238E27FC236}">
                <ns2:creationId id="{D8686C07-541A-4824-8C8D-155D6E8CEC8E}"/>
              </a:ext>
            </a:extLst>
          </p:cNvPr>
          <p:cNvSpPr>
            <a:spLocks noGrp="1"/>
          </p:cNvSpPr>
          <p:nvPr/>
        </p:nvSpPr>
        <p:spPr>
          <a:xfrm>
            <a:off x="75628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工作目錄直接切到 /app</a:t>
            </a:r>
          </a:p>
        </p:txBody>
      </p:sp>
      <p:sp>
        <p:nvSpPr>
          <p:cNvPr id="20" name="">
            <a:extLst>
              <a:ext uri="{FF2B5EF4-FFF2-40B4-BE49-F238E27FC236}">
                <ns2:creationId id="{92452A3E-CD81-4672-A76F-516191DDB81E}"/>
              </a:ext>
            </a:extLst>
          </p:cNvPr>
          <p:cNvSpPr>
            <a:spLocks noGrp="1"/>
          </p:cNvSpPr>
          <p:nvPr/>
        </p:nvSpPr>
        <p:spPr>
          <a:xfrm>
            <a:off x="96583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E3F2E603-AE1F-469A-A237-5488AE139752}"/>
              </a:ext>
            </a:extLst>
          </p:cNvPr>
          <p:cNvSpPr>
            <a:spLocks noGrp="1"/>
          </p:cNvSpPr>
          <p:nvPr/>
        </p:nvSpPr>
        <p:spPr>
          <a:xfrm>
            <a:off x="98107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python:3.11 bash</a:t>
            </a:r>
          </a:p>
        </p:txBody>
      </p:sp>
      <p:sp>
        <p:nvSpPr>
          <p:cNvPr id="22" name="">
            <a:extLst>
              <a:ext uri="{FF2B5EF4-FFF2-40B4-BE49-F238E27FC236}">
                <ns2:creationId id="{0C6E512E-5A04-413D-8F34-A63D33E5BEC7}"/>
              </a:ext>
            </a:extLst>
          </p:cNvPr>
          <p:cNvSpPr>
            <a:spLocks noGrp="1"/>
          </p:cNvSpPr>
          <p:nvPr/>
        </p:nvSpPr>
        <p:spPr>
          <a:xfrm>
            <a:off x="98107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Python Image 啟動 shell</a:t>
            </a:r>
          </a:p>
        </p:txBody>
      </p:sp>
      <p:sp>
        <p:nvSpPr>
          <p:cNvPr id="23" name="">
            <a:extLst>
              <a:ext uri="{FF2B5EF4-FFF2-40B4-BE49-F238E27FC236}">
                <ns2:creationId id="{78285902-20C3-425A-BEA9-A97FB654B15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CB3B7729-D227-49DB-904A-B7E2AEF2202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00E835CD-1CEA-4EA8-91E6-05EA51A8DE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1711179149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E1A6F2B-5DF3-499F-B6B1-3FE21B40A46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PARAMETER BREAKDOWN</a:t>
            </a:r>
          </a:p>
        </p:txBody>
      </p:sp>
      <p:sp>
        <p:nvSpPr>
          <p:cNvPr id="2" name="">
            <a:extLst>
              <a:ext uri="{FF2B5EF4-FFF2-40B4-BE49-F238E27FC236}">
                <ns2:creationId id="{643D33F3-85FA-4A14-B906-79BA7F01894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這條指令建立了三條通道</a:t>
            </a:r>
          </a:p>
        </p:txBody>
      </p:sp>
      <p:sp>
        <p:nvSpPr>
          <p:cNvPr id="3" name="">
            <a:extLst>
              <a:ext uri="{FF2B5EF4-FFF2-40B4-BE49-F238E27FC236}">
                <ns2:creationId id="{D803FFAE-0EDC-4EE8-AAB2-509952F11E80}"/>
              </a:ext>
            </a:extLst>
          </p:cNvPr>
          <p:cNvSpPr>
            <a:spLocks noGrp="1"/>
          </p:cNvSpPr>
          <p:nvPr/>
        </p:nvSpPr>
        <p:spPr>
          <a:xfrm>
            <a:off x="8763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F84D93E-532C-48B0-98DC-37E7637EDFA4}"/>
              </a:ext>
            </a:extLst>
          </p:cNvPr>
          <p:cNvSpPr>
            <a:spLocks noGrp="1"/>
          </p:cNvSpPr>
          <p:nvPr/>
        </p:nvSpPr>
        <p:spPr>
          <a:xfrm>
            <a:off x="11430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</a:t>
            </a:r>
          </a:p>
        </p:txBody>
      </p:sp>
      <p:sp>
        <p:nvSpPr>
          <p:cNvPr id="5" name="">
            <a:extLst>
              <a:ext uri="{FF2B5EF4-FFF2-40B4-BE49-F238E27FC236}">
                <ns2:creationId id="{E3C3D481-2BD1-477D-AF4D-3CA21CB185DE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localhost:5000</a:t>
            </a:r>
          </a:p>
        </p:txBody>
      </p:sp>
      <p:sp>
        <p:nvSpPr>
          <p:cNvPr id="6" name="">
            <a:extLst>
              <a:ext uri="{FF2B5EF4-FFF2-40B4-BE49-F238E27FC236}">
                <ns2:creationId id="{1379E4A2-0A60-4C46-B1DF-3C80C6510331}"/>
              </a:ext>
            </a:extLst>
          </p:cNvPr>
          <p:cNvSpPr>
            <a:spLocks noGrp="1"/>
          </p:cNvSpPr>
          <p:nvPr/>
        </p:nvSpPr>
        <p:spPr>
          <a:xfrm>
            <a:off x="11811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容器內 Flask 的 5000 port 對外開到主機 5000。</a:t>
            </a:r>
          </a:p>
        </p:txBody>
      </p:sp>
      <p:sp>
        <p:nvSpPr>
          <p:cNvPr id="7" name="">
            <a:extLst>
              <a:ext uri="{FF2B5EF4-FFF2-40B4-BE49-F238E27FC236}">
                <ns2:creationId id="{281783D0-2BC5-4864-B3FF-282D228A9AD7}"/>
              </a:ext>
            </a:extLst>
          </p:cNvPr>
          <p:cNvSpPr>
            <a:spLocks noGrp="1"/>
          </p:cNvSpPr>
          <p:nvPr/>
        </p:nvSpPr>
        <p:spPr>
          <a:xfrm>
            <a:off x="44196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AC249F31-0157-45BF-961F-6A987A098E58}"/>
              </a:ext>
            </a:extLst>
          </p:cNvPr>
          <p:cNvSpPr>
            <a:spLocks noGrp="1"/>
          </p:cNvSpPr>
          <p:nvPr/>
        </p:nvSpPr>
        <p:spPr>
          <a:xfrm>
            <a:off x="46863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Files</a:t>
            </a:r>
          </a:p>
        </p:txBody>
      </p:sp>
      <p:sp>
        <p:nvSpPr>
          <p:cNvPr id="9" name="">
            <a:extLst>
              <a:ext uri="{FF2B5EF4-FFF2-40B4-BE49-F238E27FC236}">
                <ns2:creationId id="{8E472F8C-A85B-462C-9355-F77088568C4F}"/>
              </a:ext>
            </a:extLst>
          </p:cNvPr>
          <p:cNvSpPr>
            <a:spLocks noGrp="1"/>
          </p:cNvSpPr>
          <p:nvPr/>
        </p:nvSpPr>
        <p:spPr>
          <a:xfrm>
            <a:off x="46863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C:\docker-lab\flask-app -&gt; /app</a:t>
            </a:r>
          </a:p>
        </p:txBody>
      </p:sp>
      <p:sp>
        <p:nvSpPr>
          <p:cNvPr id="10" name="">
            <a:extLst>
              <a:ext uri="{FF2B5EF4-FFF2-40B4-BE49-F238E27FC236}">
                <ns2:creationId id="{2ABE435D-C3ED-475F-9E63-0A1BCC3E8168}"/>
              </a:ext>
            </a:extLst>
          </p:cNvPr>
          <p:cNvSpPr>
            <a:spLocks noGrp="1"/>
          </p:cNvSpPr>
          <p:nvPr/>
        </p:nvSpPr>
        <p:spPr>
          <a:xfrm>
            <a:off x="47244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容器看到的 /app，就是你本機的專案資料夾。</a:t>
            </a:r>
          </a:p>
        </p:txBody>
      </p:sp>
      <p:sp>
        <p:nvSpPr>
          <p:cNvPr id="11" name="">
            <a:extLst>
              <a:ext uri="{FF2B5EF4-FFF2-40B4-BE49-F238E27FC236}">
                <ns2:creationId id="{8DD70575-31DB-478D-B57E-22F4681D4926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9D3C7805-5D90-4BED-AE2E-39FF0CDEC94D}"/>
              </a:ext>
            </a:extLst>
          </p:cNvPr>
          <p:cNvSpPr>
            <a:spLocks noGrp="1"/>
          </p:cNvSpPr>
          <p:nvPr/>
        </p:nvSpPr>
        <p:spPr>
          <a:xfrm>
            <a:off x="82296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3" name="">
            <a:extLst>
              <a:ext uri="{FF2B5EF4-FFF2-40B4-BE49-F238E27FC236}">
                <ns2:creationId id="{7A5E0974-E9AC-4C87-8EBA-0CA9FF45F9B7}"/>
              </a:ext>
            </a:extLst>
          </p:cNvPr>
          <p:cNvSpPr>
            <a:spLocks noGrp="1"/>
          </p:cNvSpPr>
          <p:nvPr/>
        </p:nvSpPr>
        <p:spPr>
          <a:xfrm>
            <a:off x="82296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/app</a:t>
            </a:r>
          </a:p>
        </p:txBody>
      </p:sp>
      <p:sp>
        <p:nvSpPr>
          <p:cNvPr id="14" name="">
            <a:extLst>
              <a:ext uri="{FF2B5EF4-FFF2-40B4-BE49-F238E27FC236}">
                <ns2:creationId id="{F8173565-D9BB-42E9-AADC-FCB0FEFA3B0B}"/>
              </a:ext>
            </a:extLst>
          </p:cNvPr>
          <p:cNvSpPr>
            <a:spLocks noGrp="1"/>
          </p:cNvSpPr>
          <p:nvPr/>
        </p:nvSpPr>
        <p:spPr>
          <a:xfrm>
            <a:off x="82677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進入容器後直接在專案目錄操作，不用每次 cd。</a:t>
            </a:r>
          </a:p>
        </p:txBody>
      </p:sp>
      <p:sp>
        <p:nvSpPr>
          <p:cNvPr id="15" name="">
            <a:extLst>
              <a:ext uri="{FF2B5EF4-FFF2-40B4-BE49-F238E27FC236}">
                <ns2:creationId id="{635610E8-61FE-45BA-80AC-BCC0F7B886B3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讀 Docker 指令時，先抓住「主機:容器」與「本機路徑:容器路徑」。</a:t>
            </a:r>
          </a:p>
        </p:txBody>
      </p:sp>
      <p:sp>
        <p:nvSpPr>
          <p:cNvPr id="16" name="">
            <a:extLst>
              <a:ext uri="{FF2B5EF4-FFF2-40B4-BE49-F238E27FC236}">
                <ns2:creationId id="{B6EA8A01-4449-41BA-AF25-5450F897D9E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1485AED7-9279-4B52-8ABC-6C689B4845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>
              <a:ext uri="{FF2B5EF4-FFF2-40B4-BE49-F238E27FC236}">
                <ns2:creationId id="{CDFC553A-5950-4887-852E-77EAB1FC0D5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104551417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B5A18FF-F467-4E52-A552-3AB58D92204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RUN APP</a:t>
            </a:r>
          </a:p>
        </p:txBody>
      </p:sp>
      <p:sp>
        <p:nvSpPr>
          <p:cNvPr id="2" name="">
            <a:extLst>
              <a:ext uri="{FF2B5EF4-FFF2-40B4-BE49-F238E27FC236}">
                <ns2:creationId id="{3F315210-846F-4758-9E12-0F743F42BF2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進容器後安裝套件並啟動 Flask</a:t>
            </a:r>
          </a:p>
        </p:txBody>
      </p:sp>
      <p:sp>
        <p:nvSpPr>
          <p:cNvPr id="3" name="">
            <a:extLst>
              <a:ext uri="{FF2B5EF4-FFF2-40B4-BE49-F238E27FC236}">
                <ns2:creationId id="{751F89C4-80EB-4BF6-BFBC-56737C6BFB6B}"/>
              </a:ext>
            </a:extLst>
          </p:cNvPr>
          <p:cNvSpPr>
            <a:spLocks noGrp="1"/>
          </p:cNvSpPr>
          <p:nvPr/>
        </p:nvSpPr>
        <p:spPr>
          <a:xfrm>
            <a:off x="990600" y="1714500"/>
            <a:ext cx="4762500" cy="1200150"/>
          </a:xfrm>
          <a:prstGeom prst="roundRect">
            <a:avLst>
              <a:gd name="adj" fmla="val 793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6588DAD-77DC-4BBF-83D2-4F1DCD63210B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FAE7C0D-44AF-445E-8CF9-7EA1EC1BCD0F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2836792-E9E1-4D63-98C7-4DE22D065B20}"/>
              </a:ext>
            </a:extLst>
          </p:cNvPr>
          <p:cNvSpPr>
            <a:spLocks noGrp="1"/>
          </p:cNvSpPr>
          <p:nvPr/>
        </p:nvSpPr>
        <p:spPr>
          <a:xfrm>
            <a:off x="150495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57BA536-48C6-4E69-B9DE-9FA83B670A19}"/>
              </a:ext>
            </a:extLst>
          </p:cNvPr>
          <p:cNvSpPr>
            <a:spLocks noGrp="1"/>
          </p:cNvSpPr>
          <p:nvPr/>
        </p:nvSpPr>
        <p:spPr>
          <a:xfrm>
            <a:off x="1200150" y="2133600"/>
            <a:ext cx="4343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8" name="">
            <a:extLst>
              <a:ext uri="{FF2B5EF4-FFF2-40B4-BE49-F238E27FC236}">
                <ns2:creationId id="{6BCE6274-AE98-43A7-AB42-87E1DF771558}"/>
              </a:ext>
            </a:extLst>
          </p:cNvPr>
          <p:cNvSpPr>
            <a:spLocks noGrp="1"/>
          </p:cNvSpPr>
          <p:nvPr/>
        </p:nvSpPr>
        <p:spPr>
          <a:xfrm>
            <a:off x="6000750" y="2133600"/>
            <a:ext cx="1047750" cy="4000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7AA3EE14-706D-4DBD-8AD9-78FD3CBBBD80}"/>
              </a:ext>
            </a:extLst>
          </p:cNvPr>
          <p:cNvSpPr>
            <a:spLocks noGrp="1"/>
          </p:cNvSpPr>
          <p:nvPr/>
        </p:nvSpPr>
        <p:spPr>
          <a:xfrm>
            <a:off x="7334250" y="1581150"/>
            <a:ext cx="337185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B64500DD-6517-49A9-9818-A27009EA1960}"/>
              </a:ext>
            </a:extLst>
          </p:cNvPr>
          <p:cNvSpPr>
            <a:spLocks noGrp="1"/>
          </p:cNvSpPr>
          <p:nvPr/>
        </p:nvSpPr>
        <p:spPr>
          <a:xfrm>
            <a:off x="7639050" y="18859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瀏覽器測試</a:t>
            </a:r>
          </a:p>
        </p:txBody>
      </p:sp>
      <p:sp>
        <p:nvSpPr>
          <p:cNvPr id="11" name="">
            <a:extLst>
              <a:ext uri="{FF2B5EF4-FFF2-40B4-BE49-F238E27FC236}">
                <ns2:creationId id="{3DE4F34B-6BB9-4477-A179-739C76934C6A}"/>
              </a:ext>
            </a:extLst>
          </p:cNvPr>
          <p:cNvSpPr>
            <a:spLocks noGrp="1"/>
          </p:cNvSpPr>
          <p:nvPr/>
        </p:nvSpPr>
        <p:spPr>
          <a:xfrm>
            <a:off x="7639050" y="24003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http://localhost:5000</a:t>
            </a:r>
          </a:p>
        </p:txBody>
      </p:sp>
      <p:sp>
        <p:nvSpPr>
          <p:cNvPr id="12" name="">
            <a:extLst>
              <a:ext uri="{FF2B5EF4-FFF2-40B4-BE49-F238E27FC236}">
                <ns2:creationId id="{9DAC02B8-2F3C-4E74-9F9B-E1D4B5B9A244}"/>
              </a:ext>
            </a:extLst>
          </p:cNvPr>
          <p:cNvSpPr>
            <a:spLocks noGrp="1"/>
          </p:cNvSpPr>
          <p:nvPr/>
        </p:nvSpPr>
        <p:spPr>
          <a:xfrm>
            <a:off x="2038350" y="3733800"/>
            <a:ext cx="8115300" cy="93345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3E9DFE3A-0ED2-465D-9070-7498E9AF0EFC}"/>
              </a:ext>
            </a:extLst>
          </p:cNvPr>
          <p:cNvSpPr>
            <a:spLocks noGrp="1"/>
          </p:cNvSpPr>
          <p:nvPr/>
        </p:nvSpPr>
        <p:spPr>
          <a:xfrm>
            <a:off x="2381250" y="401955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Flask 必須監聽 host='0.0.0.0'，主機瀏覽器才連得到容器裡的服務。</a:t>
            </a:r>
          </a:p>
        </p:txBody>
      </p:sp>
      <p:sp>
        <p:nvSpPr>
          <p:cNvPr id="14" name="">
            <a:extLst>
              <a:ext uri="{FF2B5EF4-FFF2-40B4-BE49-F238E27FC236}">
                <ns2:creationId id="{11F177C4-FC6E-4A02-BCAF-E397CACA2C8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E79E08A9-080D-4A33-84D7-29088A5AC93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98F27D93-F356-4DAE-870D-C40318A986B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3:creationId val="231184347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8F8C8CE-A6F6-4E18-8148-2C59706E02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LOOP</a:t>
            </a:r>
          </a:p>
        </p:txBody>
      </p:sp>
      <p:sp>
        <p:nvSpPr>
          <p:cNvPr id="2" name="">
            <a:extLst>
              <a:ext uri="{FF2B5EF4-FFF2-40B4-BE49-F238E27FC236}">
                <ns2:creationId id="{2957E0A6-1985-40F5-8B03-48BC0D221B9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Bind Mount 讓開發迴圈變短</a:t>
            </a:r>
          </a:p>
        </p:txBody>
      </p:sp>
      <p:sp>
        <p:nvSpPr>
          <p:cNvPr id="3" name="">
            <a:extLst>
              <a:ext uri="{FF2B5EF4-FFF2-40B4-BE49-F238E27FC236}">
                <ns2:creationId id="{B5DD52B9-E368-4B7A-91D0-F058898C74A6}"/>
              </a:ext>
            </a:extLst>
          </p:cNvPr>
          <p:cNvSpPr>
            <a:spLocks noGrp="1"/>
          </p:cNvSpPr>
          <p:nvPr/>
        </p:nvSpPr>
        <p:spPr>
          <a:xfrm>
            <a:off x="819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A06AED9-630F-4B06-ACF3-0ADDCF191A47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466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修改宿主機 app.py</a:t>
            </a:r>
          </a:p>
        </p:txBody>
      </p:sp>
      <p:sp>
        <p:nvSpPr>
          <p:cNvPr id="5" name="">
            <a:extLst>
              <a:ext uri="{FF2B5EF4-FFF2-40B4-BE49-F238E27FC236}">
                <ns2:creationId id="{93CBC7F7-FCED-46F1-8AF7-C6C3A14A1077}"/>
              </a:ext>
            </a:extLst>
          </p:cNvPr>
          <p:cNvSpPr>
            <a:spLocks noGrp="1"/>
          </p:cNvSpPr>
          <p:nvPr/>
        </p:nvSpPr>
        <p:spPr>
          <a:xfrm>
            <a:off x="1009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用你熟悉的編輯器改程式碼</a:t>
            </a:r>
          </a:p>
        </p:txBody>
      </p:sp>
      <p:sp>
        <p:nvSpPr>
          <p:cNvPr id="6" name="">
            <a:extLst>
              <a:ext uri="{FF2B5EF4-FFF2-40B4-BE49-F238E27FC236}">
                <ns2:creationId id="{920720C4-A6C7-4DFD-BB25-26B54EA904A9}"/>
              </a:ext>
            </a:extLst>
          </p:cNvPr>
          <p:cNvSpPr>
            <a:spLocks noGrp="1"/>
          </p:cNvSpPr>
          <p:nvPr/>
        </p:nvSpPr>
        <p:spPr>
          <a:xfrm>
            <a:off x="2990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373C964-B841-47C9-A8F5-361615BDD92F}"/>
              </a:ext>
            </a:extLst>
          </p:cNvPr>
          <p:cNvSpPr>
            <a:spLocks noGrp="1"/>
          </p:cNvSpPr>
          <p:nvPr/>
        </p:nvSpPr>
        <p:spPr>
          <a:xfrm>
            <a:off x="3486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DEE0B9C5-E1FC-4684-9DD9-94D28B855E74}"/>
              </a:ext>
            </a:extLst>
          </p:cNvPr>
          <p:cNvSpPr>
            <a:spLocks noGrp="1"/>
          </p:cNvSpPr>
          <p:nvPr/>
        </p:nvSpPr>
        <p:spPr>
          <a:xfrm>
            <a:off x="3676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934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容器看到同一份檔案</a:t>
            </a:r>
          </a:p>
        </p:txBody>
      </p:sp>
      <p:sp>
        <p:nvSpPr>
          <p:cNvPr id="9" name="">
            <a:extLst>
              <a:ext uri="{FF2B5EF4-FFF2-40B4-BE49-F238E27FC236}">
                <ns2:creationId id="{7DB0018C-920F-460E-BD73-FBDFE9AA2A18}"/>
              </a:ext>
            </a:extLst>
          </p:cNvPr>
          <p:cNvSpPr>
            <a:spLocks noGrp="1"/>
          </p:cNvSpPr>
          <p:nvPr/>
        </p:nvSpPr>
        <p:spPr>
          <a:xfrm>
            <a:off x="3676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讓 /app 指向本機資料夾</a:t>
            </a:r>
          </a:p>
        </p:txBody>
      </p:sp>
      <p:sp>
        <p:nvSpPr>
          <p:cNvPr id="10" name="">
            <a:extLst>
              <a:ext uri="{FF2B5EF4-FFF2-40B4-BE49-F238E27FC236}">
                <ns2:creationId id="{67014229-8346-472F-9845-4AC6CA2D39AE}"/>
              </a:ext>
            </a:extLst>
          </p:cNvPr>
          <p:cNvSpPr>
            <a:spLocks noGrp="1"/>
          </p:cNvSpPr>
          <p:nvPr/>
        </p:nvSpPr>
        <p:spPr>
          <a:xfrm>
            <a:off x="5657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9BEA623-0B51-4903-95E7-AAF30DF0D115}"/>
              </a:ext>
            </a:extLst>
          </p:cNvPr>
          <p:cNvSpPr>
            <a:spLocks noGrp="1"/>
          </p:cNvSpPr>
          <p:nvPr/>
        </p:nvSpPr>
        <p:spPr>
          <a:xfrm>
            <a:off x="6153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B105A29F-B7A3-411E-A5A2-1EAD5BAADFE8}"/>
              </a:ext>
            </a:extLst>
          </p:cNvPr>
          <p:cNvSpPr>
            <a:spLocks noGrp="1"/>
          </p:cNvSpPr>
          <p:nvPr/>
        </p:nvSpPr>
        <p:spPr>
          <a:xfrm>
            <a:off x="6343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重啟 Flask</a:t>
            </a:r>
          </a:p>
        </p:txBody>
      </p:sp>
      <p:sp>
        <p:nvSpPr>
          <p:cNvPr id="13" name="">
            <a:extLst>
              <a:ext uri="{FF2B5EF4-FFF2-40B4-BE49-F238E27FC236}">
                <ns2:creationId id="{34030CF3-D7EE-4F7C-82DF-898A00AE04DB}"/>
              </a:ext>
            </a:extLst>
          </p:cNvPr>
          <p:cNvSpPr>
            <a:spLocks noGrp="1"/>
          </p:cNvSpPr>
          <p:nvPr/>
        </p:nvSpPr>
        <p:spPr>
          <a:xfrm>
            <a:off x="6343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不用重建 Image，也不用重建容器</a:t>
            </a:r>
          </a:p>
        </p:txBody>
      </p:sp>
      <p:sp>
        <p:nvSpPr>
          <p:cNvPr id="14" name="">
            <a:extLst>
              <a:ext uri="{FF2B5EF4-FFF2-40B4-BE49-F238E27FC236}">
                <ns2:creationId id="{E78C6440-E8E2-4FE4-8DAA-AE54592D016D}"/>
              </a:ext>
            </a:extLst>
          </p:cNvPr>
          <p:cNvSpPr>
            <a:spLocks noGrp="1"/>
          </p:cNvSpPr>
          <p:nvPr/>
        </p:nvSpPr>
        <p:spPr>
          <a:xfrm>
            <a:off x="8324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BCF39CE-2282-4200-A0B1-2E0E6B423601}"/>
              </a:ext>
            </a:extLst>
          </p:cNvPr>
          <p:cNvSpPr>
            <a:spLocks noGrp="1"/>
          </p:cNvSpPr>
          <p:nvPr/>
        </p:nvSpPr>
        <p:spPr>
          <a:xfrm>
            <a:off x="8820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06F7AAAC-41C8-4C0C-9E94-4C1A81F6ED97}"/>
              </a:ext>
            </a:extLst>
          </p:cNvPr>
          <p:cNvSpPr>
            <a:spLocks noGrp="1"/>
          </p:cNvSpPr>
          <p:nvPr/>
        </p:nvSpPr>
        <p:spPr>
          <a:xfrm>
            <a:off x="9010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瀏覽器重新整理</a:t>
            </a:r>
          </a:p>
        </p:txBody>
      </p:sp>
      <p:sp>
        <p:nvSpPr>
          <p:cNvPr id="17" name="">
            <a:extLst>
              <a:ext uri="{FF2B5EF4-FFF2-40B4-BE49-F238E27FC236}">
                <ns2:creationId id="{2E256836-B6EF-46FB-A913-03140300E514}"/>
              </a:ext>
            </a:extLst>
          </p:cNvPr>
          <p:cNvSpPr>
            <a:spLocks noGrp="1"/>
          </p:cNvSpPr>
          <p:nvPr/>
        </p:nvSpPr>
        <p:spPr>
          <a:xfrm>
            <a:off x="9010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看到新內容</a:t>
            </a:r>
          </a:p>
        </p:txBody>
      </p:sp>
      <p:sp>
        <p:nvSpPr>
          <p:cNvPr id="18" name="">
            <a:extLst>
              <a:ext uri="{FF2B5EF4-FFF2-40B4-BE49-F238E27FC236}">
                <ns2:creationId id="{E90FEC40-3864-4FED-9F9B-EBF98892F22B}"/>
              </a:ext>
            </a:extLst>
          </p:cNvPr>
          <p:cNvSpPr>
            <a:spLocks noGrp="1"/>
          </p:cNvSpPr>
          <p:nvPr/>
        </p:nvSpPr>
        <p:spPr>
          <a:xfrm>
            <a:off x="2895600" y="4514850"/>
            <a:ext cx="6400800" cy="838200"/>
          </a:xfrm>
          <a:prstGeom prst="roundRect">
            <a:avLst>
              <a:gd name="adj" fmla="val 113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9" name="">
            <a:extLst>
              <a:ext uri="{FF2B5EF4-FFF2-40B4-BE49-F238E27FC236}">
                <ns2:creationId id="{800EA3C0-67EF-4A8D-B5F1-5506015C60A4}"/>
              </a:ext>
            </a:extLst>
          </p:cNvPr>
          <p:cNvSpPr>
            <a:spLocks noGrp="1"/>
          </p:cNvSpPr>
          <p:nvPr/>
        </p:nvSpPr>
        <p:spPr>
          <a:xfrm>
            <a:off x="3067050" y="4676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FDC95D0D-6AA7-46DD-BF7E-DFF3055461F3}"/>
              </a:ext>
            </a:extLst>
          </p:cNvPr>
          <p:cNvSpPr>
            <a:spLocks noGrp="1"/>
          </p:cNvSpPr>
          <p:nvPr/>
        </p:nvSpPr>
        <p:spPr>
          <a:xfrm>
            <a:off x="3238500" y="4676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5B9E65A1-7446-4234-A4D9-254422BB29A4}"/>
              </a:ext>
            </a:extLst>
          </p:cNvPr>
          <p:cNvSpPr>
            <a:spLocks noGrp="1"/>
          </p:cNvSpPr>
          <p:nvPr/>
        </p:nvSpPr>
        <p:spPr>
          <a:xfrm>
            <a:off x="3409950" y="4676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43D75165-51A8-4FE7-9DA0-0EFD863BF4B1}"/>
              </a:ext>
            </a:extLst>
          </p:cNvPr>
          <p:cNvSpPr>
            <a:spLocks noGrp="1"/>
          </p:cNvSpPr>
          <p:nvPr/>
        </p:nvSpPr>
        <p:spPr>
          <a:xfrm>
            <a:off x="3105150" y="4933950"/>
            <a:ext cx="5981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"C:\docker-lab\flask-app:/app"</a:t>
            </a:r>
          </a:p>
        </p:txBody>
      </p:sp>
      <p:sp>
        <p:nvSpPr>
          <p:cNvPr id="23" name="">
            <a:extLst>
              <a:ext uri="{FF2B5EF4-FFF2-40B4-BE49-F238E27FC236}">
                <ns2:creationId id="{5E9B8279-FB1E-4E70-BF16-0FCAE4802F3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6F6684E8-B82F-4093-A076-888F3A5A811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88CBA926-E5FF-43D6-AC83-8CB7107F970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1210283143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81693EB-055B-41CD-8EB6-06BC138AD1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 / Q2</a:t>
            </a:r>
          </a:p>
        </p:txBody>
      </p:sp>
      <p:sp>
        <p:nvSpPr>
          <p:cNvPr id="2" name="">
            <a:extLst>
              <a:ext uri="{FF2B5EF4-FFF2-40B4-BE49-F238E27FC236}">
                <ns2:creationId id="{578A9C38-3CBF-4188-A6CD-AA45C29E534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P2：Flask 容器操作全流程</a:t>
            </a:r>
          </a:p>
        </p:txBody>
      </p:sp>
      <p:sp>
        <p:nvSpPr>
          <p:cNvPr id="3" name="">
            <a:extLst>
              <a:ext uri="{FF2B5EF4-FFF2-40B4-BE49-F238E27FC236}">
                <ns2:creationId id="{88C7A063-0CC1-4F3F-A4F3-51A4939D79A8}"/>
              </a:ext>
            </a:extLst>
          </p:cNvPr>
          <p:cNvSpPr>
            <a:spLocks noGrp="1"/>
          </p:cNvSpPr>
          <p:nvPr/>
        </p:nvSpPr>
        <p:spPr>
          <a:xfrm>
            <a:off x="1066800" y="158115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56FE3E26-60F4-40E7-98C7-452ADAE7242C}"/>
              </a:ext>
            </a:extLst>
          </p:cNvPr>
          <p:cNvSpPr>
            <a:spLocks noGrp="1"/>
          </p:cNvSpPr>
          <p:nvPr/>
        </p:nvSpPr>
        <p:spPr>
          <a:xfrm>
            <a:off x="1066800" y="16859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94594B3E-ADB0-4731-B7CB-340345413A8A}"/>
              </a:ext>
            </a:extLst>
          </p:cNvPr>
          <p:cNvSpPr>
            <a:spLocks noGrp="1"/>
          </p:cNvSpPr>
          <p:nvPr/>
        </p:nvSpPr>
        <p:spPr>
          <a:xfrm>
            <a:off x="1657350" y="1590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app.py</a:t>
            </a:r>
          </a:p>
        </p:txBody>
      </p:sp>
      <p:sp>
        <p:nvSpPr>
          <p:cNvPr id="6" name="">
            <a:extLst>
              <a:ext uri="{FF2B5EF4-FFF2-40B4-BE49-F238E27FC236}">
                <ns2:creationId id="{B4767E6C-963B-49FA-A0A2-A099C5E97D84}"/>
              </a:ext>
            </a:extLst>
          </p:cNvPr>
          <p:cNvSpPr>
            <a:spLocks noGrp="1"/>
          </p:cNvSpPr>
          <p:nvPr/>
        </p:nvSpPr>
        <p:spPr>
          <a:xfrm>
            <a:off x="1657350" y="19240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包含 / 和 /about 兩個路由</a:t>
            </a:r>
          </a:p>
        </p:txBody>
      </p:sp>
      <p:sp>
        <p:nvSpPr>
          <p:cNvPr id="7" name="">
            <a:extLst>
              <a:ext uri="{FF2B5EF4-FFF2-40B4-BE49-F238E27FC236}">
                <ns2:creationId id="{D2374F5C-2EEC-45E8-A45F-00B40E9F11B6}"/>
              </a:ext>
            </a:extLst>
          </p:cNvPr>
          <p:cNvSpPr>
            <a:spLocks noGrp="1"/>
          </p:cNvSpPr>
          <p:nvPr/>
        </p:nvSpPr>
        <p:spPr>
          <a:xfrm>
            <a:off x="6438900" y="158115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75886C95-5D46-4C2F-B20B-C3A98801E438}"/>
              </a:ext>
            </a:extLst>
          </p:cNvPr>
          <p:cNvSpPr>
            <a:spLocks noGrp="1"/>
          </p:cNvSpPr>
          <p:nvPr/>
        </p:nvSpPr>
        <p:spPr>
          <a:xfrm>
            <a:off x="6438900" y="16859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>
              <a:ext uri="{FF2B5EF4-FFF2-40B4-BE49-F238E27FC236}">
                <ns2:creationId id="{36CE495D-714E-4F24-8F7E-71BE03C9B49B}"/>
              </a:ext>
            </a:extLst>
          </p:cNvPr>
          <p:cNvSpPr>
            <a:spLocks noGrp="1"/>
          </p:cNvSpPr>
          <p:nvPr/>
        </p:nvSpPr>
        <p:spPr>
          <a:xfrm>
            <a:off x="7029450" y="1590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requirements.txt</a:t>
            </a:r>
          </a:p>
        </p:txBody>
      </p:sp>
      <p:sp>
        <p:nvSpPr>
          <p:cNvPr id="10" name="">
            <a:extLst>
              <a:ext uri="{FF2B5EF4-FFF2-40B4-BE49-F238E27FC236}">
                <ns2:creationId id="{FD968CC0-B676-4D93-A8CA-1557EF129226}"/>
              </a:ext>
            </a:extLst>
          </p:cNvPr>
          <p:cNvSpPr>
            <a:spLocks noGrp="1"/>
          </p:cNvSpPr>
          <p:nvPr/>
        </p:nvSpPr>
        <p:spPr>
          <a:xfrm>
            <a:off x="7029450" y="19240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內容放 flask</a:t>
            </a:r>
          </a:p>
        </p:txBody>
      </p:sp>
      <p:sp>
        <p:nvSpPr>
          <p:cNvPr id="11" name="">
            <a:extLst>
              <a:ext uri="{FF2B5EF4-FFF2-40B4-BE49-F238E27FC236}">
                <ns2:creationId id="{DA07908A-E6A1-4B33-87D1-574905F479A1}"/>
              </a:ext>
            </a:extLst>
          </p:cNvPr>
          <p:cNvSpPr>
            <a:spLocks noGrp="1"/>
          </p:cNvSpPr>
          <p:nvPr/>
        </p:nvSpPr>
        <p:spPr>
          <a:xfrm>
            <a:off x="1066800" y="270510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A1E9BB12-7E79-4963-9E47-9DDCEF925F59}"/>
              </a:ext>
            </a:extLst>
          </p:cNvPr>
          <p:cNvSpPr>
            <a:spLocks noGrp="1"/>
          </p:cNvSpPr>
          <p:nvPr/>
        </p:nvSpPr>
        <p:spPr>
          <a:xfrm>
            <a:off x="1066800" y="280987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>
              <a:ext uri="{FF2B5EF4-FFF2-40B4-BE49-F238E27FC236}">
                <ns2:creationId id="{7C8E811D-DB68-46D7-8E4C-41D362D708A7}"/>
              </a:ext>
            </a:extLst>
          </p:cNvPr>
          <p:cNvSpPr>
            <a:spLocks noGrp="1"/>
          </p:cNvSpPr>
          <p:nvPr/>
        </p:nvSpPr>
        <p:spPr>
          <a:xfrm>
            <a:off x="1657350" y="2714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-it --rm</a:t>
            </a:r>
          </a:p>
        </p:txBody>
      </p:sp>
      <p:sp>
        <p:nvSpPr>
          <p:cNvPr id="14" name="">
            <a:extLst>
              <a:ext uri="{FF2B5EF4-FFF2-40B4-BE49-F238E27FC236}">
                <ns2:creationId id="{2311D1C9-EAE5-4E5B-9C4F-E0668193A807}"/>
              </a:ext>
            </a:extLst>
          </p:cNvPr>
          <p:cNvSpPr>
            <a:spLocks noGrp="1"/>
          </p:cNvSpPr>
          <p:nvPr/>
        </p:nvSpPr>
        <p:spPr>
          <a:xfrm>
            <a:off x="1657350" y="30480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掛載專案、設定 --rm 與 -p 5000:5000</a:t>
            </a:r>
          </a:p>
        </p:txBody>
      </p:sp>
      <p:sp>
        <p:nvSpPr>
          <p:cNvPr id="15" name="">
            <a:extLst>
              <a:ext uri="{FF2B5EF4-FFF2-40B4-BE49-F238E27FC236}">
                <ns2:creationId id="{B4897915-FA40-41F1-9B36-EBAE5B132C41}"/>
              </a:ext>
            </a:extLst>
          </p:cNvPr>
          <p:cNvSpPr>
            <a:spLocks noGrp="1"/>
          </p:cNvSpPr>
          <p:nvPr/>
        </p:nvSpPr>
        <p:spPr>
          <a:xfrm>
            <a:off x="6438900" y="270510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CBB90314-3EE4-4BF1-933C-FAF8B80F06D9}"/>
              </a:ext>
            </a:extLst>
          </p:cNvPr>
          <p:cNvSpPr>
            <a:spLocks noGrp="1"/>
          </p:cNvSpPr>
          <p:nvPr/>
        </p:nvSpPr>
        <p:spPr>
          <a:xfrm>
            <a:off x="6438900" y="280987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7" name="">
            <a:extLst>
              <a:ext uri="{FF2B5EF4-FFF2-40B4-BE49-F238E27FC236}">
                <ns2:creationId id="{2D00B2A0-F38A-4300-B2A2-765A03E2AF2D}"/>
              </a:ext>
            </a:extLst>
          </p:cNvPr>
          <p:cNvSpPr>
            <a:spLocks noGrp="1"/>
          </p:cNvSpPr>
          <p:nvPr/>
        </p:nvSpPr>
        <p:spPr>
          <a:xfrm>
            <a:off x="7029450" y="2714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安裝並啟動</a:t>
            </a:r>
          </a:p>
        </p:txBody>
      </p:sp>
      <p:sp>
        <p:nvSpPr>
          <p:cNvPr id="18" name="">
            <a:extLst>
              <a:ext uri="{FF2B5EF4-FFF2-40B4-BE49-F238E27FC236}">
                <ns2:creationId id="{25ECA772-7A5D-4708-BF2D-D17D20181711}"/>
              </a:ext>
            </a:extLst>
          </p:cNvPr>
          <p:cNvSpPr>
            <a:spLocks noGrp="1"/>
          </p:cNvSpPr>
          <p:nvPr/>
        </p:nvSpPr>
        <p:spPr>
          <a:xfrm>
            <a:off x="7029450" y="30480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pip install -r requirements.txt</a:t>
            </a:r>
          </a:p>
        </p:txBody>
      </p:sp>
      <p:sp>
        <p:nvSpPr>
          <p:cNvPr id="19" name="">
            <a:extLst>
              <a:ext uri="{FF2B5EF4-FFF2-40B4-BE49-F238E27FC236}">
                <ns2:creationId id="{179653DF-ED1A-4152-BFE4-0A949CF23E11}"/>
              </a:ext>
            </a:extLst>
          </p:cNvPr>
          <p:cNvSpPr>
            <a:spLocks noGrp="1"/>
          </p:cNvSpPr>
          <p:nvPr/>
        </p:nvSpPr>
        <p:spPr>
          <a:xfrm>
            <a:off x="1066800" y="382905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D7B50B6B-E296-4ADE-9661-656745DC3218}"/>
              </a:ext>
            </a:extLst>
          </p:cNvPr>
          <p:cNvSpPr>
            <a:spLocks noGrp="1"/>
          </p:cNvSpPr>
          <p:nvPr/>
        </p:nvSpPr>
        <p:spPr>
          <a:xfrm>
            <a:off x="1066800" y="39338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>
              <a:ext uri="{FF2B5EF4-FFF2-40B4-BE49-F238E27FC236}">
                <ns2:creationId id="{BA2DC5D7-7023-484D-B562-8A63C9E91F27}"/>
              </a:ext>
            </a:extLst>
          </p:cNvPr>
          <p:cNvSpPr>
            <a:spLocks noGrp="1"/>
          </p:cNvSpPr>
          <p:nvPr/>
        </p:nvSpPr>
        <p:spPr>
          <a:xfrm>
            <a:off x="1657350" y="3838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22" name="">
            <a:extLst>
              <a:ext uri="{FF2B5EF4-FFF2-40B4-BE49-F238E27FC236}">
                <ns2:creationId id="{C9A48B75-E7B6-4166-800B-8522D6EB2C6C}"/>
              </a:ext>
            </a:extLst>
          </p:cNvPr>
          <p:cNvSpPr>
            <a:spLocks noGrp="1"/>
          </p:cNvSpPr>
          <p:nvPr/>
        </p:nvSpPr>
        <p:spPr>
          <a:xfrm>
            <a:off x="1657350" y="41719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看得到頁面</a:t>
            </a:r>
          </a:p>
        </p:txBody>
      </p:sp>
      <p:sp>
        <p:nvSpPr>
          <p:cNvPr id="23" name="">
            <a:extLst>
              <a:ext uri="{FF2B5EF4-FFF2-40B4-BE49-F238E27FC236}">
                <ns2:creationId id="{88DB143E-916A-48DE-B73F-262EF3B7CDA5}"/>
              </a:ext>
            </a:extLst>
          </p:cNvPr>
          <p:cNvSpPr>
            <a:spLocks noGrp="1"/>
          </p:cNvSpPr>
          <p:nvPr/>
        </p:nvSpPr>
        <p:spPr>
          <a:xfrm>
            <a:off x="6438900" y="382905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024A5635-CF69-4B82-9DBB-905A92C6B385}"/>
              </a:ext>
            </a:extLst>
          </p:cNvPr>
          <p:cNvSpPr>
            <a:spLocks noGrp="1"/>
          </p:cNvSpPr>
          <p:nvPr/>
        </p:nvSpPr>
        <p:spPr>
          <a:xfrm>
            <a:off x="6438900" y="39338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5" name="">
            <a:extLst>
              <a:ext uri="{FF2B5EF4-FFF2-40B4-BE49-F238E27FC236}">
                <ns2:creationId id="{CC687031-574D-4630-A5A7-7ACA7EE9DBED}"/>
              </a:ext>
            </a:extLst>
          </p:cNvPr>
          <p:cNvSpPr>
            <a:spLocks noGrp="1"/>
          </p:cNvSpPr>
          <p:nvPr/>
        </p:nvSpPr>
        <p:spPr>
          <a:xfrm>
            <a:off x="7029450" y="3838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修改程式</a:t>
            </a:r>
          </a:p>
        </p:txBody>
      </p:sp>
      <p:sp>
        <p:nvSpPr>
          <p:cNvPr id="26" name="">
            <a:extLst>
              <a:ext uri="{FF2B5EF4-FFF2-40B4-BE49-F238E27FC236}">
                <ns2:creationId id="{EB062D68-16B1-48AB-AC1F-D564C707D72D}"/>
              </a:ext>
            </a:extLst>
          </p:cNvPr>
          <p:cNvSpPr>
            <a:spLocks noGrp="1"/>
          </p:cNvSpPr>
          <p:nvPr/>
        </p:nvSpPr>
        <p:spPr>
          <a:xfrm>
            <a:off x="7029450" y="41719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重啟 Flask 後確認變更</a:t>
            </a:r>
          </a:p>
        </p:txBody>
      </p:sp>
      <p:sp>
        <p:nvSpPr>
          <p:cNvPr id="27" name="">
            <a:extLst>
              <a:ext uri="{FF2B5EF4-FFF2-40B4-BE49-F238E27FC236}">
                <ns2:creationId id="{5E58E7C4-5825-46A6-AC19-FE289E17E5D9}"/>
              </a:ext>
            </a:extLst>
          </p:cNvPr>
          <p:cNvSpPr>
            <a:spLocks noGrp="1"/>
          </p:cNvSpPr>
          <p:nvPr/>
        </p:nvSpPr>
        <p:spPr>
          <a:xfrm>
            <a:off x="2038350" y="5219700"/>
            <a:ext cx="8115300" cy="533400"/>
          </a:xfrm>
          <a:prstGeom prst="roundRect">
            <a:avLst>
              <a:gd name="adj" fmla="val 2142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8" name="">
            <a:extLst>
              <a:ext uri="{FF2B5EF4-FFF2-40B4-BE49-F238E27FC236}">
                <ns2:creationId id="{FF7758C0-FEB7-48AC-9E4C-A6C2C87F2229}"/>
              </a:ext>
            </a:extLst>
          </p:cNvPr>
          <p:cNvSpPr>
            <a:spLocks noGrp="1"/>
          </p:cNvSpPr>
          <p:nvPr/>
        </p:nvSpPr>
        <p:spPr>
          <a:xfrm>
            <a:off x="2324100" y="5391150"/>
            <a:ext cx="7543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Q2 檢查：-p 5000:5000 的左邊是主機 port，右邊是容器 port。</a:t>
            </a:r>
          </a:p>
        </p:txBody>
      </p:sp>
      <p:sp>
        <p:nvSpPr>
          <p:cNvPr id="29" name="">
            <a:extLst>
              <a:ext uri="{FF2B5EF4-FFF2-40B4-BE49-F238E27FC236}">
                <ns2:creationId id="{7A00A541-62B3-401C-948D-745F44DEAF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1BA476F7-8541-4324-84AF-FF6E6595B43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1" name="">
            <a:extLst>
              <a:ext uri="{FF2B5EF4-FFF2-40B4-BE49-F238E27FC236}">
                <ns2:creationId id="{63D9890E-C347-4384-8E85-59FDA7C208A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538240203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5AE7410-DEBE-4D76-9B8A-37F0380A625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STATUS</a:t>
            </a:r>
          </a:p>
        </p:txBody>
      </p:sp>
      <p:sp>
        <p:nvSpPr>
          <p:cNvPr id="2" name="">
            <a:extLst>
              <a:ext uri="{FF2B5EF4-FFF2-40B4-BE49-F238E27FC236}">
                <ns2:creationId id="{785F8BC8-20EC-48D4-B34E-BFBEC4E10EC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和 docker ps -a 差在哪裡</a:t>
            </a:r>
          </a:p>
        </p:txBody>
      </p:sp>
      <p:sp>
        <p:nvSpPr>
          <p:cNvPr id="3" name="">
            <a:extLst>
              <a:ext uri="{FF2B5EF4-FFF2-40B4-BE49-F238E27FC236}">
                <ns2:creationId id="{7B6B2BD3-161F-466A-86F8-7474759C139D}"/>
              </a:ext>
            </a:extLst>
          </p:cNvPr>
          <p:cNvSpPr>
            <a:spLocks noGrp="1"/>
          </p:cNvSpPr>
          <p:nvPr/>
        </p:nvSpPr>
        <p:spPr>
          <a:xfrm>
            <a:off x="13906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4A0D1E3-5912-4C19-BBC6-D69EDAA0D7C1}"/>
              </a:ext>
            </a:extLst>
          </p:cNvPr>
          <p:cNvSpPr>
            <a:spLocks noGrp="1"/>
          </p:cNvSpPr>
          <p:nvPr/>
        </p:nvSpPr>
        <p:spPr>
          <a:xfrm>
            <a:off x="16192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l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ps</a:t>
            </a:r>
          </a:p>
        </p:txBody>
      </p:sp>
      <p:sp>
        <p:nvSpPr>
          <p:cNvPr id="5" name="">
            <a:extLst>
              <a:ext uri="{FF2B5EF4-FFF2-40B4-BE49-F238E27FC236}">
                <ns2:creationId id="{EF3D91B3-17FC-4777-8D67-FCCA30EDF099}"/>
              </a:ext>
            </a:extLst>
          </p:cNvPr>
          <p:cNvSpPr>
            <a:spLocks noGrp="1"/>
          </p:cNvSpPr>
          <p:nvPr/>
        </p:nvSpPr>
        <p:spPr>
          <a:xfrm>
            <a:off x="1619250" y="2628900"/>
            <a:ext cx="36385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只看正在執行中的容器。適合確認服務現在是不是 Up。</a:t>
            </a:r>
          </a:p>
        </p:txBody>
      </p:sp>
      <p:sp>
        <p:nvSpPr>
          <p:cNvPr id="6" name="">
            <a:extLst>
              <a:ext uri="{FF2B5EF4-FFF2-40B4-BE49-F238E27FC236}">
                <ns2:creationId id="{A52A5940-05DF-4B1B-9E7E-799A10107741}"/>
              </a:ext>
            </a:extLst>
          </p:cNvPr>
          <p:cNvSpPr>
            <a:spLocks noGrp="1"/>
          </p:cNvSpPr>
          <p:nvPr/>
        </p:nvSpPr>
        <p:spPr>
          <a:xfrm>
            <a:off x="67056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82D7816-B1AF-4397-9D5C-987E437185EC}"/>
              </a:ext>
            </a:extLst>
          </p:cNvPr>
          <p:cNvSpPr>
            <a:spLocks noGrp="1"/>
          </p:cNvSpPr>
          <p:nvPr/>
        </p:nvSpPr>
        <p:spPr>
          <a:xfrm>
            <a:off x="69342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l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ps -a</a:t>
            </a:r>
          </a:p>
        </p:txBody>
      </p:sp>
      <p:sp>
        <p:nvSpPr>
          <p:cNvPr id="8" name="">
            <a:extLst>
              <a:ext uri="{FF2B5EF4-FFF2-40B4-BE49-F238E27FC236}">
                <ns2:creationId id="{802D1112-343E-4B8F-ABB5-39B713B51929}"/>
              </a:ext>
            </a:extLst>
          </p:cNvPr>
          <p:cNvSpPr>
            <a:spLocks noGrp="1"/>
          </p:cNvSpPr>
          <p:nvPr/>
        </p:nvSpPr>
        <p:spPr>
          <a:xfrm>
            <a:off x="6934200" y="2628900"/>
            <a:ext cx="36385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查看所有容器，包含已停止、Exited、之前忘記清掉的容器。</a:t>
            </a:r>
          </a:p>
        </p:txBody>
      </p:sp>
      <p:sp>
        <p:nvSpPr>
          <p:cNvPr id="9" name="">
            <a:extLst>
              <a:ext uri="{FF2B5EF4-FFF2-40B4-BE49-F238E27FC236}">
                <ns2:creationId id="{91924A5D-73B9-4FBD-A38A-D27EBB389F7C}"/>
              </a:ext>
            </a:extLst>
          </p:cNvPr>
          <p:cNvSpPr>
            <a:spLocks noGrp="1"/>
          </p:cNvSpPr>
          <p:nvPr/>
        </p:nvSpPr>
        <p:spPr>
          <a:xfrm>
            <a:off x="1524000" y="4762500"/>
            <a:ext cx="914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排查時先問：容器存在嗎？正在跑嗎？port 有映射嗎？</a:t>
            </a:r>
          </a:p>
        </p:txBody>
      </p:sp>
      <p:sp>
        <p:nvSpPr>
          <p:cNvPr id="10" name="">
            <a:extLst>
              <a:ext uri="{FF2B5EF4-FFF2-40B4-BE49-F238E27FC236}">
                <ns2:creationId id="{ACB20680-8CA2-488A-9369-F09CD709B91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94F61F4-5BB0-4A1D-BE56-1E22227F1F7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27624D41-77D8-4E16-9848-4D69EA23802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1837874954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37C4EE8-A14A-4045-9590-0C794140F56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READING STATUS</a:t>
            </a:r>
          </a:p>
        </p:txBody>
      </p:sp>
      <p:sp>
        <p:nvSpPr>
          <p:cNvPr id="2" name="">
            <a:extLst>
              <a:ext uri="{FF2B5EF4-FFF2-40B4-BE49-F238E27FC236}">
                <ns2:creationId id="{D0BBCBCB-6654-43B1-8340-E01DB0F585C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輸出要看這幾欄</a:t>
            </a:r>
          </a:p>
        </p:txBody>
      </p:sp>
      <p:sp>
        <p:nvSpPr>
          <p:cNvPr id="3" name="">
            <a:extLst>
              <a:ext uri="{FF2B5EF4-FFF2-40B4-BE49-F238E27FC236}">
                <ns2:creationId id="{16F8A3C9-BADF-4E87-83FF-94334209D051}"/>
              </a:ext>
            </a:extLst>
          </p:cNvPr>
          <p:cNvSpPr>
            <a:spLocks noGrp="1"/>
          </p:cNvSpPr>
          <p:nvPr/>
        </p:nvSpPr>
        <p:spPr>
          <a:xfrm>
            <a:off x="895350" y="1447800"/>
            <a:ext cx="10401300" cy="1123950"/>
          </a:xfrm>
          <a:prstGeom prst="roundRect">
            <a:avLst>
              <a:gd name="adj" fmla="val 84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E6EE9F6-775C-4C74-8E7A-22D5AB47F51D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009566C-53AF-4805-A829-CFEFCE5B1245}"/>
              </a:ext>
            </a:extLst>
          </p:cNvPr>
          <p:cNvSpPr>
            <a:spLocks noGrp="1"/>
          </p:cNvSpPr>
          <p:nvPr/>
        </p:nvSpPr>
        <p:spPr>
          <a:xfrm>
            <a:off x="12382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87A3786-33E8-436D-883C-379B83DAA8D5}"/>
              </a:ext>
            </a:extLst>
          </p:cNvPr>
          <p:cNvSpPr>
            <a:spLocks noGrp="1"/>
          </p:cNvSpPr>
          <p:nvPr/>
        </p:nvSpPr>
        <p:spPr>
          <a:xfrm>
            <a:off x="14097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277AA81-1C27-4359-9065-B95978EC82D2}"/>
              </a:ext>
            </a:extLst>
          </p:cNvPr>
          <p:cNvSpPr>
            <a:spLocks noGrp="1"/>
          </p:cNvSpPr>
          <p:nvPr/>
        </p:nvSpPr>
        <p:spPr>
          <a:xfrm>
            <a:off x="1104900" y="1866900"/>
            <a:ext cx="9982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ID   IMAGE   STATUS        PORTS                  NAMES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9f89a41aca7d   nginx   Up 5 seconds  0.0.0.0:9090-&gt;80/tcp   nginx-life</a:t>
            </a:r>
          </a:p>
        </p:txBody>
      </p:sp>
      <p:sp>
        <p:nvSpPr>
          <p:cNvPr id="8" name="">
            <a:extLst>
              <a:ext uri="{FF2B5EF4-FFF2-40B4-BE49-F238E27FC236}">
                <ns2:creationId id="{5CAE6AD2-1778-40A1-BBEC-2BAF0ED2388B}"/>
              </a:ext>
            </a:extLst>
          </p:cNvPr>
          <p:cNvSpPr>
            <a:spLocks noGrp="1"/>
          </p:cNvSpPr>
          <p:nvPr/>
        </p:nvSpPr>
        <p:spPr>
          <a:xfrm>
            <a:off x="2190750" y="29908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366E1FBA-49EA-4D26-87B4-69EB5577D145}"/>
              </a:ext>
            </a:extLst>
          </p:cNvPr>
          <p:cNvSpPr>
            <a:spLocks noGrp="1"/>
          </p:cNvSpPr>
          <p:nvPr/>
        </p:nvSpPr>
        <p:spPr>
          <a:xfrm>
            <a:off x="4857750" y="29908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FA6DA8BC-2327-4221-A569-0C0C81F21864}"/>
              </a:ext>
            </a:extLst>
          </p:cNvPr>
          <p:cNvSpPr>
            <a:spLocks noGrp="1"/>
          </p:cNvSpPr>
          <p:nvPr/>
        </p:nvSpPr>
        <p:spPr>
          <a:xfrm>
            <a:off x="2381250" y="30765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CONTAINER ID</a:t>
            </a:r>
          </a:p>
        </p:txBody>
      </p:sp>
      <p:sp>
        <p:nvSpPr>
          <p:cNvPr id="11" name="">
            <a:extLst>
              <a:ext uri="{FF2B5EF4-FFF2-40B4-BE49-F238E27FC236}">
                <ns2:creationId id="{05C142F0-130D-4E4D-9D01-D75BC8327FE0}"/>
              </a:ext>
            </a:extLst>
          </p:cNvPr>
          <p:cNvSpPr>
            <a:spLocks noGrp="1"/>
          </p:cNvSpPr>
          <p:nvPr/>
        </p:nvSpPr>
        <p:spPr>
          <a:xfrm>
            <a:off x="5048250" y="30670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容器唯一識別碼</a:t>
            </a:r>
          </a:p>
        </p:txBody>
      </p:sp>
      <p:sp>
        <p:nvSpPr>
          <p:cNvPr id="12" name="">
            <a:extLst>
              <a:ext uri="{FF2B5EF4-FFF2-40B4-BE49-F238E27FC236}">
                <ns2:creationId id="{04519C0C-014D-4DB5-8B35-E708BCC934FB}"/>
              </a:ext>
            </a:extLst>
          </p:cNvPr>
          <p:cNvSpPr>
            <a:spLocks noGrp="1"/>
          </p:cNvSpPr>
          <p:nvPr/>
        </p:nvSpPr>
        <p:spPr>
          <a:xfrm>
            <a:off x="2190750" y="346710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FDFFEFE7-E2F6-4EA5-8D70-51BEF3554534}"/>
              </a:ext>
            </a:extLst>
          </p:cNvPr>
          <p:cNvSpPr>
            <a:spLocks noGrp="1"/>
          </p:cNvSpPr>
          <p:nvPr/>
        </p:nvSpPr>
        <p:spPr>
          <a:xfrm>
            <a:off x="4857750" y="346710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EF73104E-63D2-4F8F-A7EF-3FF357812FDC}"/>
              </a:ext>
            </a:extLst>
          </p:cNvPr>
          <p:cNvSpPr>
            <a:spLocks noGrp="1"/>
          </p:cNvSpPr>
          <p:nvPr/>
        </p:nvSpPr>
        <p:spPr>
          <a:xfrm>
            <a:off x="2381250" y="355282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</a:t>
            </a:r>
          </a:p>
        </p:txBody>
      </p:sp>
      <p:sp>
        <p:nvSpPr>
          <p:cNvPr id="15" name="">
            <a:extLst>
              <a:ext uri="{FF2B5EF4-FFF2-40B4-BE49-F238E27FC236}">
                <ns2:creationId id="{DEE9115B-5A17-472E-80E8-A46B1E497F81}"/>
              </a:ext>
            </a:extLst>
          </p:cNvPr>
          <p:cNvSpPr>
            <a:spLocks noGrp="1"/>
          </p:cNvSpPr>
          <p:nvPr/>
        </p:nvSpPr>
        <p:spPr>
          <a:xfrm>
            <a:off x="5048250" y="354330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建立容器所用的 Image</a:t>
            </a:r>
          </a:p>
        </p:txBody>
      </p:sp>
      <p:sp>
        <p:nvSpPr>
          <p:cNvPr id="16" name="">
            <a:extLst>
              <a:ext uri="{FF2B5EF4-FFF2-40B4-BE49-F238E27FC236}">
                <ns2:creationId id="{171A10C5-9F84-46F2-B207-F094D084CE2E}"/>
              </a:ext>
            </a:extLst>
          </p:cNvPr>
          <p:cNvSpPr>
            <a:spLocks noGrp="1"/>
          </p:cNvSpPr>
          <p:nvPr/>
        </p:nvSpPr>
        <p:spPr>
          <a:xfrm>
            <a:off x="2190750" y="39433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BB6BCC8C-35FF-46F1-A758-05EC06A61C47}"/>
              </a:ext>
            </a:extLst>
          </p:cNvPr>
          <p:cNvSpPr>
            <a:spLocks noGrp="1"/>
          </p:cNvSpPr>
          <p:nvPr/>
        </p:nvSpPr>
        <p:spPr>
          <a:xfrm>
            <a:off x="4857750" y="39433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DBF638AE-B7CC-400B-B4B1-353F59516DB1}"/>
              </a:ext>
            </a:extLst>
          </p:cNvPr>
          <p:cNvSpPr>
            <a:spLocks noGrp="1"/>
          </p:cNvSpPr>
          <p:nvPr/>
        </p:nvSpPr>
        <p:spPr>
          <a:xfrm>
            <a:off x="2381250" y="40290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STATUS</a:t>
            </a:r>
          </a:p>
        </p:txBody>
      </p:sp>
      <p:sp>
        <p:nvSpPr>
          <p:cNvPr id="19" name="">
            <a:extLst>
              <a:ext uri="{FF2B5EF4-FFF2-40B4-BE49-F238E27FC236}">
                <ns2:creationId id="{0251D6D3-93AF-4CC6-8701-E2387AADD5B9}"/>
              </a:ext>
            </a:extLst>
          </p:cNvPr>
          <p:cNvSpPr>
            <a:spLocks noGrp="1"/>
          </p:cNvSpPr>
          <p:nvPr/>
        </p:nvSpPr>
        <p:spPr>
          <a:xfrm>
            <a:off x="5048250" y="40195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Up、Exited、Restarting 等目前狀態</a:t>
            </a:r>
          </a:p>
        </p:txBody>
      </p:sp>
      <p:sp>
        <p:nvSpPr>
          <p:cNvPr id="20" name="">
            <a:extLst>
              <a:ext uri="{FF2B5EF4-FFF2-40B4-BE49-F238E27FC236}">
                <ns2:creationId id="{0127BFFD-BD18-4B94-8608-3DEC9D5BA386}"/>
              </a:ext>
            </a:extLst>
          </p:cNvPr>
          <p:cNvSpPr>
            <a:spLocks noGrp="1"/>
          </p:cNvSpPr>
          <p:nvPr/>
        </p:nvSpPr>
        <p:spPr>
          <a:xfrm>
            <a:off x="2190750" y="441960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9F503663-A2E6-4A30-AED7-F9D5FABD16B8}"/>
              </a:ext>
            </a:extLst>
          </p:cNvPr>
          <p:cNvSpPr>
            <a:spLocks noGrp="1"/>
          </p:cNvSpPr>
          <p:nvPr/>
        </p:nvSpPr>
        <p:spPr>
          <a:xfrm>
            <a:off x="4857750" y="441960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ABFC9448-C5FA-4EEB-8A67-555B81D5D517}"/>
              </a:ext>
            </a:extLst>
          </p:cNvPr>
          <p:cNvSpPr>
            <a:spLocks noGrp="1"/>
          </p:cNvSpPr>
          <p:nvPr/>
        </p:nvSpPr>
        <p:spPr>
          <a:xfrm>
            <a:off x="2381250" y="450532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PORTS</a:t>
            </a:r>
          </a:p>
        </p:txBody>
      </p:sp>
      <p:sp>
        <p:nvSpPr>
          <p:cNvPr id="23" name="">
            <a:extLst>
              <a:ext uri="{FF2B5EF4-FFF2-40B4-BE49-F238E27FC236}">
                <ns2:creationId id="{86430780-7949-4464-9AB7-FA63012AEF41}"/>
              </a:ext>
            </a:extLst>
          </p:cNvPr>
          <p:cNvSpPr>
            <a:spLocks noGrp="1"/>
          </p:cNvSpPr>
          <p:nvPr/>
        </p:nvSpPr>
        <p:spPr>
          <a:xfrm>
            <a:off x="5048250" y="449580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 port 對到容器 port</a:t>
            </a:r>
          </a:p>
        </p:txBody>
      </p:sp>
      <p:sp>
        <p:nvSpPr>
          <p:cNvPr id="24" name="">
            <a:extLst>
              <a:ext uri="{FF2B5EF4-FFF2-40B4-BE49-F238E27FC236}">
                <ns2:creationId id="{EBC6C2E4-8E5C-4925-866A-661B777A81FD}"/>
              </a:ext>
            </a:extLst>
          </p:cNvPr>
          <p:cNvSpPr>
            <a:spLocks noGrp="1"/>
          </p:cNvSpPr>
          <p:nvPr/>
        </p:nvSpPr>
        <p:spPr>
          <a:xfrm>
            <a:off x="2190750" y="48958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1371E11E-8021-4DFB-A66E-F9321DD060C6}"/>
              </a:ext>
            </a:extLst>
          </p:cNvPr>
          <p:cNvSpPr>
            <a:spLocks noGrp="1"/>
          </p:cNvSpPr>
          <p:nvPr/>
        </p:nvSpPr>
        <p:spPr>
          <a:xfrm>
            <a:off x="4857750" y="48958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1A703212-1195-499C-BD4C-D4F972AEE9AB}"/>
              </a:ext>
            </a:extLst>
          </p:cNvPr>
          <p:cNvSpPr>
            <a:spLocks noGrp="1"/>
          </p:cNvSpPr>
          <p:nvPr/>
        </p:nvSpPr>
        <p:spPr>
          <a:xfrm>
            <a:off x="2381250" y="49815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NAMES</a:t>
            </a:r>
          </a:p>
        </p:txBody>
      </p:sp>
      <p:sp>
        <p:nvSpPr>
          <p:cNvPr id="27" name="">
            <a:extLst>
              <a:ext uri="{FF2B5EF4-FFF2-40B4-BE49-F238E27FC236}">
                <ns2:creationId id="{153F5867-0AF3-4A6C-BDF5-CA40C966BFD5}"/>
              </a:ext>
            </a:extLst>
          </p:cNvPr>
          <p:cNvSpPr>
            <a:spLocks noGrp="1"/>
          </p:cNvSpPr>
          <p:nvPr/>
        </p:nvSpPr>
        <p:spPr>
          <a:xfrm>
            <a:off x="5048250" y="49720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人類好記的容器名稱</a:t>
            </a:r>
          </a:p>
        </p:txBody>
      </p:sp>
      <p:sp>
        <p:nvSpPr>
          <p:cNvPr id="28" name="">
            <a:extLst>
              <a:ext uri="{FF2B5EF4-FFF2-40B4-BE49-F238E27FC236}">
                <ns2:creationId id="{D6A263CB-46AD-4F28-974F-7D2314BC2F1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45E98947-EDC7-4DF9-8F95-BE40735B39E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0" name="">
            <a:extLst>
              <a:ext uri="{FF2B5EF4-FFF2-40B4-BE49-F238E27FC236}">
                <ns2:creationId id="{4E170968-5D4D-4953-B5B2-07E96D9A20E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ns3:creationId val="770191808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0B9B4F4-27C0-4EC9-97BE-BE83D815B96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LIFECYCLE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7DAE1461-9C1C-4449-8B6A-2334923FE82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stop、start、restart 的使用時機</a:t>
            </a:r>
          </a:p>
        </p:txBody>
      </p:sp>
      <p:sp>
        <p:nvSpPr>
          <p:cNvPr id="3" name="">
            <a:extLst>
              <a:ext uri="{FF2B5EF4-FFF2-40B4-BE49-F238E27FC236}">
                <ns2:creationId id="{32FE1CD3-360C-402C-A990-6A915EC858C4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5048250" cy="1695450"/>
          </a:xfrm>
          <a:prstGeom prst="roundRect">
            <a:avLst>
              <a:gd name="adj" fmla="val 561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87AF28E-5D16-4583-A0AF-5CE60C815A2C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FDC2004-2113-4C93-819C-E04C2D91DCDE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D8E8E72-8302-49CE-9843-F8E9577F5EC7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BE0CA11-2A6F-4C2E-8100-ADC63A5DCA85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46291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8" name="">
            <a:extLst>
              <a:ext uri="{FF2B5EF4-FFF2-40B4-BE49-F238E27FC236}">
                <ns2:creationId id="{D125991D-7120-4EB5-84F3-1E3F9310FFFE}"/>
              </a:ext>
            </a:extLst>
          </p:cNvPr>
          <p:cNvSpPr>
            <a:spLocks noGrp="1"/>
          </p:cNvSpPr>
          <p:nvPr/>
        </p:nvSpPr>
        <p:spPr>
          <a:xfrm>
            <a:off x="6667500" y="156210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0F1D211-DADE-466F-A27D-9CE88DFD86A5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</a:t>
            </a:r>
          </a:p>
        </p:txBody>
      </p:sp>
      <p:sp>
        <p:nvSpPr>
          <p:cNvPr id="10" name="">
            <a:extLst>
              <a:ext uri="{FF2B5EF4-FFF2-40B4-BE49-F238E27FC236}">
                <ns2:creationId id="{F14C3164-8112-4DD8-91FF-86DDE502E040}"/>
              </a:ext>
            </a:extLst>
          </p:cNvPr>
          <p:cNvSpPr>
            <a:spLocks noGrp="1"/>
          </p:cNvSpPr>
          <p:nvPr/>
        </p:nvSpPr>
        <p:spPr>
          <a:xfrm>
            <a:off x="6896100" y="207645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讓正在執行的容器停止。</a:t>
            </a:r>
          </a:p>
        </p:txBody>
      </p:sp>
      <p:sp>
        <p:nvSpPr>
          <p:cNvPr id="11" name="">
            <a:extLst>
              <a:ext uri="{FF2B5EF4-FFF2-40B4-BE49-F238E27FC236}">
                <ns2:creationId id="{AD1314FF-F618-440F-9D2B-DA8558105144}"/>
              </a:ext>
            </a:extLst>
          </p:cNvPr>
          <p:cNvSpPr>
            <a:spLocks noGrp="1"/>
          </p:cNvSpPr>
          <p:nvPr/>
        </p:nvSpPr>
        <p:spPr>
          <a:xfrm>
            <a:off x="6667500" y="280035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2AEFD774-52FE-44F4-9B50-062DFE00C291}"/>
              </a:ext>
            </a:extLst>
          </p:cNvPr>
          <p:cNvSpPr>
            <a:spLocks noGrp="1"/>
          </p:cNvSpPr>
          <p:nvPr/>
        </p:nvSpPr>
        <p:spPr>
          <a:xfrm>
            <a:off x="6896100" y="299085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start</a:t>
            </a:r>
          </a:p>
        </p:txBody>
      </p:sp>
      <p:sp>
        <p:nvSpPr>
          <p:cNvPr id="13" name="">
            <a:extLst>
              <a:ext uri="{FF2B5EF4-FFF2-40B4-BE49-F238E27FC236}">
                <ns2:creationId id="{26464C91-7E50-4646-B335-0E4F8D7217A8}"/>
              </a:ext>
            </a:extLst>
          </p:cNvPr>
          <p:cNvSpPr>
            <a:spLocks noGrp="1"/>
          </p:cNvSpPr>
          <p:nvPr/>
        </p:nvSpPr>
        <p:spPr>
          <a:xfrm>
            <a:off x="6896100" y="331470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25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啟動已停止的容器；對執行中的容器不會有明顯效果。</a:t>
            </a:r>
          </a:p>
        </p:txBody>
      </p:sp>
      <p:sp>
        <p:nvSpPr>
          <p:cNvPr id="14" name="">
            <a:extLst>
              <a:ext uri="{FF2B5EF4-FFF2-40B4-BE49-F238E27FC236}">
                <ns2:creationId id="{C51A49C1-487F-4DAA-995F-07502B101824}"/>
              </a:ext>
            </a:extLst>
          </p:cNvPr>
          <p:cNvSpPr>
            <a:spLocks noGrp="1"/>
          </p:cNvSpPr>
          <p:nvPr/>
        </p:nvSpPr>
        <p:spPr>
          <a:xfrm>
            <a:off x="6667500" y="403860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1524767E-624C-4D0A-B2A6-1ED376A72C41}"/>
              </a:ext>
            </a:extLst>
          </p:cNvPr>
          <p:cNvSpPr>
            <a:spLocks noGrp="1"/>
          </p:cNvSpPr>
          <p:nvPr/>
        </p:nvSpPr>
        <p:spPr>
          <a:xfrm>
            <a:off x="6896100" y="422910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restart</a:t>
            </a:r>
          </a:p>
        </p:txBody>
      </p:sp>
      <p:sp>
        <p:nvSpPr>
          <p:cNvPr id="16" name="">
            <a:extLst>
              <a:ext uri="{FF2B5EF4-FFF2-40B4-BE49-F238E27FC236}">
                <ns2:creationId id="{B65F827C-A15B-40CF-ABFF-E2F053791929}"/>
              </a:ext>
            </a:extLst>
          </p:cNvPr>
          <p:cNvSpPr>
            <a:spLocks noGrp="1"/>
          </p:cNvSpPr>
          <p:nvPr/>
        </p:nvSpPr>
        <p:spPr>
          <a:xfrm>
            <a:off x="6896100" y="455295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2221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不管目前狀態如何，重新啟動一次；常用於服務維護或設定變更。</a:t>
            </a:r>
          </a:p>
        </p:txBody>
      </p:sp>
      <p:sp>
        <p:nvSpPr>
          <p:cNvPr id="17" name="">
            <a:extLst>
              <a:ext uri="{FF2B5EF4-FFF2-40B4-BE49-F238E27FC236}">
                <ns2:creationId id="{39336911-B2F4-4DD8-9E91-57B209EF395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B05CC87C-15D4-4184-B7B1-7081564A07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14DD12BB-5096-40A4-8AB1-2F148401DE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3:creationId val="1134985991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909B44C-3B07-4812-B0CF-138142E8AFA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REMOVE CONTAINERS</a:t>
            </a:r>
          </a:p>
        </p:txBody>
      </p:sp>
      <p:sp>
        <p:nvSpPr>
          <p:cNvPr id="2" name="">
            <a:extLst>
              <a:ext uri="{FF2B5EF4-FFF2-40B4-BE49-F238E27FC236}">
                <ns2:creationId id="{8F75583E-A045-42FC-A173-02E49CA5906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刪除容器前先理解 rm 和 rm -f</a:t>
            </a:r>
          </a:p>
        </p:txBody>
      </p:sp>
      <p:sp>
        <p:nvSpPr>
          <p:cNvPr id="3" name="">
            <a:extLst>
              <a:ext uri="{FF2B5EF4-FFF2-40B4-BE49-F238E27FC236}">
                <ns2:creationId id="{2D15FD44-BCC2-40F8-9946-A26CC0CFBAAA}"/>
              </a:ext>
            </a:extLst>
          </p:cNvPr>
          <p:cNvSpPr>
            <a:spLocks noGrp="1"/>
          </p:cNvSpPr>
          <p:nvPr/>
        </p:nvSpPr>
        <p:spPr>
          <a:xfrm>
            <a:off x="1009650" y="1752600"/>
            <a:ext cx="4419600" cy="20955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079D200-21EF-4FD6-A9F5-F332929FA6D2}"/>
              </a:ext>
            </a:extLst>
          </p:cNvPr>
          <p:cNvSpPr>
            <a:spLocks noGrp="1"/>
          </p:cNvSpPr>
          <p:nvPr/>
        </p:nvSpPr>
        <p:spPr>
          <a:xfrm>
            <a:off x="1238250" y="19431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rm</a:t>
            </a:r>
          </a:p>
        </p:txBody>
      </p:sp>
      <p:sp>
        <p:nvSpPr>
          <p:cNvPr id="5" name="">
            <a:extLst>
              <a:ext uri="{FF2B5EF4-FFF2-40B4-BE49-F238E27FC236}">
                <ns2:creationId id="{373D4562-D978-46FD-BD17-95BAF8AE3F03}"/>
              </a:ext>
            </a:extLst>
          </p:cNvPr>
          <p:cNvSpPr>
            <a:spLocks noGrp="1"/>
          </p:cNvSpPr>
          <p:nvPr/>
        </p:nvSpPr>
        <p:spPr>
          <a:xfrm>
            <a:off x="1238250" y="2495550"/>
            <a:ext cx="3962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刪除已停止的容器。Docker 預設要求先 stop，避免程式正在寫資料時被直接移除。</a:t>
            </a:r>
          </a:p>
        </p:txBody>
      </p:sp>
      <p:sp>
        <p:nvSpPr>
          <p:cNvPr id="6" name="">
            <a:extLst>
              <a:ext uri="{FF2B5EF4-FFF2-40B4-BE49-F238E27FC236}">
                <ns2:creationId id="{B2A0E98B-D20E-497C-BA10-3B6231D80198}"/>
              </a:ext>
            </a:extLst>
          </p:cNvPr>
          <p:cNvSpPr>
            <a:spLocks noGrp="1"/>
          </p:cNvSpPr>
          <p:nvPr/>
        </p:nvSpPr>
        <p:spPr>
          <a:xfrm>
            <a:off x="6762750" y="1752600"/>
            <a:ext cx="4419600" cy="2095500"/>
          </a:xfrm>
          <a:prstGeom prst="roundRect">
            <a:avLst>
              <a:gd name="adj" fmla="val 5455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A2129BE9-E3C6-4FF3-ADD7-C2E810696590}"/>
              </a:ext>
            </a:extLst>
          </p:cNvPr>
          <p:cNvSpPr>
            <a:spLocks noGrp="1"/>
          </p:cNvSpPr>
          <p:nvPr/>
        </p:nvSpPr>
        <p:spPr>
          <a:xfrm>
            <a:off x="6991350" y="19431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rm -f</a:t>
            </a:r>
          </a:p>
        </p:txBody>
      </p:sp>
      <p:sp>
        <p:nvSpPr>
          <p:cNvPr id="8" name="">
            <a:extLst>
              <a:ext uri="{FF2B5EF4-FFF2-40B4-BE49-F238E27FC236}">
                <ns2:creationId id="{229F8C74-43B6-402E-A757-17940868C2C7}"/>
              </a:ext>
            </a:extLst>
          </p:cNvPr>
          <p:cNvSpPr>
            <a:spLocks noGrp="1"/>
          </p:cNvSpPr>
          <p:nvPr/>
        </p:nvSpPr>
        <p:spPr>
          <a:xfrm>
            <a:off x="6991350" y="2495550"/>
            <a:ext cx="3962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強制刪除，不管容器是否執行中。開發環境方便，正式環境要謹慎。</a:t>
            </a:r>
          </a:p>
        </p:txBody>
      </p:sp>
      <p:sp>
        <p:nvSpPr>
          <p:cNvPr id="9" name="">
            <a:extLst>
              <a:ext uri="{FF2B5EF4-FFF2-40B4-BE49-F238E27FC236}">
                <ns2:creationId id="{43A76BAA-321B-4D4E-B575-180B512273AE}"/>
              </a:ext>
            </a:extLst>
          </p:cNvPr>
          <p:cNvSpPr>
            <a:spLocks noGrp="1"/>
          </p:cNvSpPr>
          <p:nvPr/>
        </p:nvSpPr>
        <p:spPr>
          <a:xfrm>
            <a:off x="2705100" y="4591050"/>
            <a:ext cx="6781800" cy="1009650"/>
          </a:xfrm>
          <a:prstGeom prst="roundRect">
            <a:avLst>
              <a:gd name="adj" fmla="val 943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EAC3BE42-13A5-42C2-B6E8-7BFE82E20A7F}"/>
              </a:ext>
            </a:extLst>
          </p:cNvPr>
          <p:cNvSpPr>
            <a:spLocks noGrp="1"/>
          </p:cNvSpPr>
          <p:nvPr/>
        </p:nvSpPr>
        <p:spPr>
          <a:xfrm>
            <a:off x="2876550" y="4752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F6DF086-7E6E-4558-9219-1E4E90494929}"/>
              </a:ext>
            </a:extLst>
          </p:cNvPr>
          <p:cNvSpPr>
            <a:spLocks noGrp="1"/>
          </p:cNvSpPr>
          <p:nvPr/>
        </p:nvSpPr>
        <p:spPr>
          <a:xfrm>
            <a:off x="3048000" y="4752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BC3F5DF6-829A-4112-87F7-CB2C88188DEC}"/>
              </a:ext>
            </a:extLst>
          </p:cNvPr>
          <p:cNvSpPr>
            <a:spLocks noGrp="1"/>
          </p:cNvSpPr>
          <p:nvPr/>
        </p:nvSpPr>
        <p:spPr>
          <a:xfrm>
            <a:off x="3219450" y="4752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2A228462-6BE8-42AE-987C-576E3AFDA6AD}"/>
              </a:ext>
            </a:extLst>
          </p:cNvPr>
          <p:cNvSpPr>
            <a:spLocks noGrp="1"/>
          </p:cNvSpPr>
          <p:nvPr/>
        </p:nvSpPr>
        <p:spPr>
          <a:xfrm>
            <a:off x="2914650" y="5010150"/>
            <a:ext cx="6362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128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&lt;容器ID或名稱&gt;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&lt;容器ID或名稱&gt;</a:t>
            </a:r>
          </a:p>
        </p:txBody>
      </p:sp>
      <p:sp>
        <p:nvSpPr>
          <p:cNvPr id="14" name="">
            <a:extLst>
              <a:ext uri="{FF2B5EF4-FFF2-40B4-BE49-F238E27FC236}">
                <ns2:creationId id="{602010A0-B8F6-46E9-9930-85C0B4F305A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404B364-1C78-442A-9753-3F09A35628C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A04A79F3-8363-4BC8-8FA3-86BC24D528D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783231105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0093603-F5E4-4B54-B75C-708A9CEA00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Q4</a:t>
            </a:r>
          </a:p>
        </p:txBody>
      </p:sp>
      <p:sp>
        <p:nvSpPr>
          <p:cNvPr id="2" name="">
            <a:extLst>
              <a:ext uri="{FF2B5EF4-FFF2-40B4-BE49-F238E27FC236}">
                <ns2:creationId id="{A4CB15E9-E4EF-470B-A2A4-6EBB5A9EB0B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P3：容器生命週期完整跑一輪</a:t>
            </a:r>
          </a:p>
        </p:txBody>
      </p:sp>
      <p:sp>
        <p:nvSpPr>
          <p:cNvPr id="3" name="">
            <a:extLst>
              <a:ext uri="{FF2B5EF4-FFF2-40B4-BE49-F238E27FC236}">
                <ns2:creationId id="{C0F06F61-5946-436D-9205-FF2B880FD59A}"/>
              </a:ext>
            </a:extLst>
          </p:cNvPr>
          <p:cNvSpPr>
            <a:spLocks noGrp="1"/>
          </p:cNvSpPr>
          <p:nvPr/>
        </p:nvSpPr>
        <p:spPr>
          <a:xfrm>
            <a:off x="781050" y="1390650"/>
            <a:ext cx="6191250" cy="4400550"/>
          </a:xfrm>
          <a:prstGeom prst="roundRect">
            <a:avLst>
              <a:gd name="adj" fmla="val 21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F589B05-9D72-44CA-86B1-B3E7D5DD164A}"/>
              </a:ext>
            </a:extLst>
          </p:cNvPr>
          <p:cNvSpPr>
            <a:spLocks noGrp="1"/>
          </p:cNvSpPr>
          <p:nvPr/>
        </p:nvSpPr>
        <p:spPr>
          <a:xfrm>
            <a:off x="95250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C6B2AA2-C276-4BC2-85D6-FB604AABAD83}"/>
              </a:ext>
            </a:extLst>
          </p:cNvPr>
          <p:cNvSpPr>
            <a:spLocks noGrp="1"/>
          </p:cNvSpPr>
          <p:nvPr/>
        </p:nvSpPr>
        <p:spPr>
          <a:xfrm>
            <a:off x="112395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7CA58AE-BC14-4423-BF0B-1178D89ACABF}"/>
              </a:ext>
            </a:extLst>
          </p:cNvPr>
          <p:cNvSpPr>
            <a:spLocks noGrp="1"/>
          </p:cNvSpPr>
          <p:nvPr/>
        </p:nvSpPr>
        <p:spPr>
          <a:xfrm>
            <a:off x="129540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45FB0C0-1EA0-4D6F-AD06-E1E135D7CF4D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5772150" cy="384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-p 9090:80 nginx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</p:txBody>
      </p:sp>
      <p:sp>
        <p:nvSpPr>
          <p:cNvPr id="8" name="">
            <a:extLst>
              <a:ext uri="{FF2B5EF4-FFF2-40B4-BE49-F238E27FC236}">
                <ns2:creationId id="{913AE31E-5433-41A0-8C51-53E375A8E52B}"/>
              </a:ext>
            </a:extLst>
          </p:cNvPr>
          <p:cNvSpPr>
            <a:spLocks noGrp="1"/>
          </p:cNvSpPr>
          <p:nvPr/>
        </p:nvSpPr>
        <p:spPr>
          <a:xfrm>
            <a:off x="7639050" y="1714500"/>
            <a:ext cx="3143250" cy="1409700"/>
          </a:xfrm>
          <a:prstGeom prst="roundRect">
            <a:avLst>
              <a:gd name="adj" fmla="val 810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652E7FD-04B6-4850-B2C3-9C2B2E4F5E3B}"/>
              </a:ext>
            </a:extLst>
          </p:cNvPr>
          <p:cNvSpPr>
            <a:spLocks noGrp="1"/>
          </p:cNvSpPr>
          <p:nvPr/>
        </p:nvSpPr>
        <p:spPr>
          <a:xfrm>
            <a:off x="7867650" y="19050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每一步都要看狀態</a:t>
            </a:r>
          </a:p>
        </p:txBody>
      </p:sp>
      <p:sp>
        <p:nvSpPr>
          <p:cNvPr id="10" name="">
            <a:extLst>
              <a:ext uri="{FF2B5EF4-FFF2-40B4-BE49-F238E27FC236}">
                <ns2:creationId id="{9D36181D-67BF-4ECF-9805-219C66BF24D6}"/>
              </a:ext>
            </a:extLst>
          </p:cNvPr>
          <p:cNvSpPr>
            <a:spLocks noGrp="1"/>
          </p:cNvSpPr>
          <p:nvPr/>
        </p:nvSpPr>
        <p:spPr>
          <a:xfrm>
            <a:off x="7867650" y="2324100"/>
            <a:ext cx="26860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14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Up、Exited、STATUS 時間重置，都是這題要觀察的重點。</a:t>
            </a:r>
          </a:p>
        </p:txBody>
      </p:sp>
      <p:sp>
        <p:nvSpPr>
          <p:cNvPr id="11" name="">
            <a:extLst>
              <a:ext uri="{FF2B5EF4-FFF2-40B4-BE49-F238E27FC236}">
                <ns2:creationId id="{B851020A-B2FB-4D4C-BFF9-D1936FFA7877}"/>
              </a:ext>
            </a:extLst>
          </p:cNvPr>
          <p:cNvSpPr>
            <a:spLocks noGrp="1"/>
          </p:cNvSpPr>
          <p:nvPr/>
        </p:nvSpPr>
        <p:spPr>
          <a:xfrm>
            <a:off x="7639050" y="3619500"/>
            <a:ext cx="3143250" cy="1600200"/>
          </a:xfrm>
          <a:prstGeom prst="roundRect">
            <a:avLst>
              <a:gd name="adj" fmla="val 7143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EB768CED-80E6-493C-AB04-9325781CD8E5}"/>
              </a:ext>
            </a:extLst>
          </p:cNvPr>
          <p:cNvSpPr>
            <a:spLocks noGrp="1"/>
          </p:cNvSpPr>
          <p:nvPr/>
        </p:nvSpPr>
        <p:spPr>
          <a:xfrm>
            <a:off x="7867650" y="38100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Q4：為什麼先 stop？</a:t>
            </a:r>
          </a:p>
        </p:txBody>
      </p:sp>
      <p:sp>
        <p:nvSpPr>
          <p:cNvPr id="13" name="">
            <a:extLst>
              <a:ext uri="{FF2B5EF4-FFF2-40B4-BE49-F238E27FC236}">
                <ns2:creationId id="{B69C4B6B-BE99-476E-BC51-B2241FA81C2F}"/>
              </a:ext>
            </a:extLst>
          </p:cNvPr>
          <p:cNvSpPr>
            <a:spLocks noGrp="1"/>
          </p:cNvSpPr>
          <p:nvPr/>
        </p:nvSpPr>
        <p:spPr>
          <a:xfrm>
            <a:off x="7867650" y="4229100"/>
            <a:ext cx="2686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執行中的容器可能正在處理資料。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rm -f 是強制刪除，開發方便但正式環境要小心。</a:t>
            </a:r>
          </a:p>
        </p:txBody>
      </p:sp>
      <p:sp>
        <p:nvSpPr>
          <p:cNvPr id="14" name="">
            <a:extLst>
              <a:ext uri="{FF2B5EF4-FFF2-40B4-BE49-F238E27FC236}">
                <ns2:creationId id="{351720EF-DCA6-452F-A356-913760CAE54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91FE59A6-4431-4E6C-B000-D9C4824E0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3D50CEAD-7AEB-4EC8-B8D5-8BE3252439A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472585483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1672B32-46AA-4571-8743-717CEE5AEB0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DEBUG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E12B6E18-47D7-44AC-8674-5930EACBA98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logs 看輸出，exec 進去看現場</a:t>
            </a:r>
          </a:p>
        </p:txBody>
      </p:sp>
      <p:sp>
        <p:nvSpPr>
          <p:cNvPr id="3" name="">
            <a:extLst>
              <a:ext uri="{FF2B5EF4-FFF2-40B4-BE49-F238E27FC236}">
                <ns2:creationId id="{9DBF52FB-5B49-40AC-BE7D-73BB80906B14}"/>
              </a:ext>
            </a:extLst>
          </p:cNvPr>
          <p:cNvSpPr>
            <a:spLocks noGrp="1"/>
          </p:cNvSpPr>
          <p:nvPr/>
        </p:nvSpPr>
        <p:spPr>
          <a:xfrm>
            <a:off x="781050" y="1562100"/>
            <a:ext cx="5143500" cy="1676400"/>
          </a:xfrm>
          <a:prstGeom prst="roundRect">
            <a:avLst>
              <a:gd name="adj" fmla="val 568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6D8EE08-AC2D-4FB6-ADFD-4A19BB9F024C}"/>
              </a:ext>
            </a:extLst>
          </p:cNvPr>
          <p:cNvSpPr>
            <a:spLocks noGrp="1"/>
          </p:cNvSpPr>
          <p:nvPr/>
        </p:nvSpPr>
        <p:spPr>
          <a:xfrm>
            <a:off x="9525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5424EA9-BEA0-40FB-8B78-D0FB8E5A99DE}"/>
              </a:ext>
            </a:extLst>
          </p:cNvPr>
          <p:cNvSpPr>
            <a:spLocks noGrp="1"/>
          </p:cNvSpPr>
          <p:nvPr/>
        </p:nvSpPr>
        <p:spPr>
          <a:xfrm>
            <a:off x="11239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CB61401-0E0E-4BCD-B131-4BC6E8F05128}"/>
              </a:ext>
            </a:extLst>
          </p:cNvPr>
          <p:cNvSpPr>
            <a:spLocks noGrp="1"/>
          </p:cNvSpPr>
          <p:nvPr/>
        </p:nvSpPr>
        <p:spPr>
          <a:xfrm>
            <a:off x="12954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B2D3A61-B3EB-4361-A922-8587F6079323}"/>
              </a:ext>
            </a:extLst>
          </p:cNvPr>
          <p:cNvSpPr>
            <a:spLocks noGrp="1"/>
          </p:cNvSpPr>
          <p:nvPr/>
        </p:nvSpPr>
        <p:spPr>
          <a:xfrm>
            <a:off x="990600" y="1981200"/>
            <a:ext cx="47244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&lt;容器ID或名稱&gt;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&lt;容器ID或名稱&gt; bash</a:t>
            </a:r>
          </a:p>
        </p:txBody>
      </p:sp>
      <p:sp>
        <p:nvSpPr>
          <p:cNvPr id="8" name="">
            <a:extLst>
              <a:ext uri="{FF2B5EF4-FFF2-40B4-BE49-F238E27FC236}">
                <ns2:creationId id="{80A5D9C3-EE95-4D0C-9440-E848A9B9DF52}"/>
              </a:ext>
            </a:extLst>
          </p:cNvPr>
          <p:cNvSpPr>
            <a:spLocks noGrp="1"/>
          </p:cNvSpPr>
          <p:nvPr/>
        </p:nvSpPr>
        <p:spPr>
          <a:xfrm>
            <a:off x="6686550" y="146685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2D76393-8B0A-4B79-A9A9-DD2641BD06EC}"/>
              </a:ext>
            </a:extLst>
          </p:cNvPr>
          <p:cNvSpPr>
            <a:spLocks noGrp="1"/>
          </p:cNvSpPr>
          <p:nvPr/>
        </p:nvSpPr>
        <p:spPr>
          <a:xfrm>
            <a:off x="6915150" y="16573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Debug 除錯</a:t>
            </a:r>
          </a:p>
        </p:txBody>
      </p:sp>
      <p:sp>
        <p:nvSpPr>
          <p:cNvPr id="10" name="">
            <a:extLst>
              <a:ext uri="{FF2B5EF4-FFF2-40B4-BE49-F238E27FC236}">
                <ns2:creationId id="{1B78F46D-68AA-4DAB-AD15-7B47C10A3614}"/>
              </a:ext>
            </a:extLst>
          </p:cNvPr>
          <p:cNvSpPr>
            <a:spLocks noGrp="1"/>
          </p:cNvSpPr>
          <p:nvPr/>
        </p:nvSpPr>
        <p:spPr>
          <a:xfrm>
            <a:off x="6915150" y="198120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進去看 log 檔、設定檔或程序狀態。</a:t>
            </a:r>
          </a:p>
        </p:txBody>
      </p:sp>
      <p:sp>
        <p:nvSpPr>
          <p:cNvPr id="11" name="">
            <a:extLst>
              <a:ext uri="{FF2B5EF4-FFF2-40B4-BE49-F238E27FC236}">
                <ns2:creationId id="{AAFA8193-578D-4339-AE64-81F89C114964}"/>
              </a:ext>
            </a:extLst>
          </p:cNvPr>
          <p:cNvSpPr>
            <a:spLocks noGrp="1"/>
          </p:cNvSpPr>
          <p:nvPr/>
        </p:nvSpPr>
        <p:spPr>
          <a:xfrm>
            <a:off x="9105900" y="146685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8531EC4-8624-49BB-BA5D-F67A893A512F}"/>
              </a:ext>
            </a:extLst>
          </p:cNvPr>
          <p:cNvSpPr>
            <a:spLocks noGrp="1"/>
          </p:cNvSpPr>
          <p:nvPr/>
        </p:nvSpPr>
        <p:spPr>
          <a:xfrm>
            <a:off x="9334500" y="16573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確認部署結果</a:t>
            </a:r>
          </a:p>
        </p:txBody>
      </p:sp>
      <p:sp>
        <p:nvSpPr>
          <p:cNvPr id="13" name="">
            <a:extLst>
              <a:ext uri="{FF2B5EF4-FFF2-40B4-BE49-F238E27FC236}">
                <ns2:creationId id="{EC3B0FE3-F878-463B-A7EF-150483A9A3FA}"/>
              </a:ext>
            </a:extLst>
          </p:cNvPr>
          <p:cNvSpPr>
            <a:spLocks noGrp="1"/>
          </p:cNvSpPr>
          <p:nvPr/>
        </p:nvSpPr>
        <p:spPr>
          <a:xfrm>
            <a:off x="9334500" y="198120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檢查檔案是否複製、套件是否安裝。</a:t>
            </a:r>
          </a:p>
        </p:txBody>
      </p:sp>
      <p:sp>
        <p:nvSpPr>
          <p:cNvPr id="14" name="">
            <a:extLst>
              <a:ext uri="{FF2B5EF4-FFF2-40B4-BE49-F238E27FC236}">
                <ns2:creationId id="{D0B958E3-A10F-4058-B79F-540EB6D9EF54}"/>
              </a:ext>
            </a:extLst>
          </p:cNvPr>
          <p:cNvSpPr>
            <a:spLocks noGrp="1"/>
          </p:cNvSpPr>
          <p:nvPr/>
        </p:nvSpPr>
        <p:spPr>
          <a:xfrm>
            <a:off x="6686550" y="320040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A7A28062-8788-49A7-B0B3-B33A32F8E7A9}"/>
              </a:ext>
            </a:extLst>
          </p:cNvPr>
          <p:cNvSpPr>
            <a:spLocks noGrp="1"/>
          </p:cNvSpPr>
          <p:nvPr/>
        </p:nvSpPr>
        <p:spPr>
          <a:xfrm>
            <a:off x="6915150" y="339090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操作資料庫</a:t>
            </a:r>
          </a:p>
        </p:txBody>
      </p:sp>
      <p:sp>
        <p:nvSpPr>
          <p:cNvPr id="16" name="">
            <a:extLst>
              <a:ext uri="{FF2B5EF4-FFF2-40B4-BE49-F238E27FC236}">
                <ns2:creationId id="{3CC1904E-1ECE-460E-86AA-46891FC81012}"/>
              </a:ext>
            </a:extLst>
          </p:cNvPr>
          <p:cNvSpPr>
            <a:spLocks noGrp="1"/>
          </p:cNvSpPr>
          <p:nvPr/>
        </p:nvSpPr>
        <p:spPr>
          <a:xfrm>
            <a:off x="6915150" y="371475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 MySQL 容器下 SQL 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AC7D1B83-2A39-4256-B820-0D9680E6F0A5}"/>
              </a:ext>
            </a:extLst>
          </p:cNvPr>
          <p:cNvSpPr>
            <a:spLocks noGrp="1"/>
          </p:cNvSpPr>
          <p:nvPr/>
        </p:nvSpPr>
        <p:spPr>
          <a:xfrm>
            <a:off x="9105900" y="320040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6D871A05-854E-42D5-9881-6582E6EA4958}"/>
              </a:ext>
            </a:extLst>
          </p:cNvPr>
          <p:cNvSpPr>
            <a:spLocks noGrp="1"/>
          </p:cNvSpPr>
          <p:nvPr/>
        </p:nvSpPr>
        <p:spPr>
          <a:xfrm>
            <a:off x="9334500" y="339090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</a:t>
            </a:r>
          </a:p>
        </p:txBody>
      </p:sp>
      <p:sp>
        <p:nvSpPr>
          <p:cNvPr id="19" name="">
            <a:extLst>
              <a:ext uri="{FF2B5EF4-FFF2-40B4-BE49-F238E27FC236}">
                <ns2:creationId id="{1E0D501D-7329-497C-98B6-0ACFE86DC54D}"/>
              </a:ext>
            </a:extLst>
          </p:cNvPr>
          <p:cNvSpPr>
            <a:spLocks noGrp="1"/>
          </p:cNvSpPr>
          <p:nvPr/>
        </p:nvSpPr>
        <p:spPr>
          <a:xfrm>
            <a:off x="9334500" y="371475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在容器裡跑一個指令驗證想法。</a:t>
            </a:r>
          </a:p>
        </p:txBody>
      </p:sp>
      <p:sp>
        <p:nvSpPr>
          <p:cNvPr id="20" name="">
            <a:extLst>
              <a:ext uri="{FF2B5EF4-FFF2-40B4-BE49-F238E27FC236}">
                <ns2:creationId id="{D7E33E2F-43B3-4A80-A763-8A1694D4E431}"/>
              </a:ext>
            </a:extLst>
          </p:cNvPr>
          <p:cNvSpPr>
            <a:spLocks noGrp="1"/>
          </p:cNvSpPr>
          <p:nvPr/>
        </p:nvSpPr>
        <p:spPr>
          <a:xfrm>
            <a:off x="1123950" y="4114800"/>
            <a:ext cx="4800600" cy="819150"/>
          </a:xfrm>
          <a:prstGeom prst="roundRect">
            <a:avLst>
              <a:gd name="adj" fmla="val 11628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479E3471-9D46-4EAD-AD6D-BD0CCD59AF55}"/>
              </a:ext>
            </a:extLst>
          </p:cNvPr>
          <p:cNvSpPr>
            <a:spLocks noGrp="1"/>
          </p:cNvSpPr>
          <p:nvPr/>
        </p:nvSpPr>
        <p:spPr>
          <a:xfrm>
            <a:off x="1409700" y="4362450"/>
            <a:ext cx="422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869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有些 Image 沒有 bash，改用 sh。Nginx、Alpine 常見。</a:t>
            </a:r>
          </a:p>
        </p:txBody>
      </p:sp>
      <p:sp>
        <p:nvSpPr>
          <p:cNvPr id="22" name="">
            <a:extLst>
              <a:ext uri="{FF2B5EF4-FFF2-40B4-BE49-F238E27FC236}">
                <ns2:creationId id="{FF8545A4-C9D5-4B4C-91F3-EF597AE7839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4FD3AAA7-1DE0-4614-85D0-C0B8841D2DD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4" name="">
            <a:extLst>
              <a:ext uri="{FF2B5EF4-FFF2-40B4-BE49-F238E27FC236}">
                <ns2:creationId id="{2AD19B82-D1C6-4652-BB47-C890AA9323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1053234939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14638D5-EF53-4221-9246-8FBDC114E5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NAMED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6A6E39B7-1C8D-46E7-B845-FD5B495C48F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命名容器，讓後續操作更穩定</a:t>
            </a:r>
          </a:p>
        </p:txBody>
      </p:sp>
      <p:sp>
        <p:nvSpPr>
          <p:cNvPr id="3" name="">
            <a:extLst>
              <a:ext uri="{FF2B5EF4-FFF2-40B4-BE49-F238E27FC236}">
                <ns2:creationId id="{5F0A230C-1445-40A2-A92A-C745F3E13032}"/>
              </a:ext>
            </a:extLst>
          </p:cNvPr>
          <p:cNvSpPr>
            <a:spLocks noGrp="1"/>
          </p:cNvSpPr>
          <p:nvPr/>
        </p:nvSpPr>
        <p:spPr>
          <a:xfrm>
            <a:off x="781050" y="1619250"/>
            <a:ext cx="1062990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4497BCF-AD16-41F6-AF58-BE1DFB3DDC48}"/>
              </a:ext>
            </a:extLst>
          </p:cNvPr>
          <p:cNvSpPr>
            <a:spLocks noGrp="1"/>
          </p:cNvSpPr>
          <p:nvPr/>
        </p:nvSpPr>
        <p:spPr>
          <a:xfrm>
            <a:off x="9525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1E0669C-9481-4B12-95C2-D333F38BC379}"/>
              </a:ext>
            </a:extLst>
          </p:cNvPr>
          <p:cNvSpPr>
            <a:spLocks noGrp="1"/>
          </p:cNvSpPr>
          <p:nvPr/>
        </p:nvSpPr>
        <p:spPr>
          <a:xfrm>
            <a:off x="11239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586EF66D-0C2F-4039-BEF0-65EC2126998F}"/>
              </a:ext>
            </a:extLst>
          </p:cNvPr>
          <p:cNvSpPr>
            <a:spLocks noGrp="1"/>
          </p:cNvSpPr>
          <p:nvPr/>
        </p:nvSpPr>
        <p:spPr>
          <a:xfrm>
            <a:off x="12954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27447EA-EB41-4D1A-9858-E8A76CC55422}"/>
              </a:ext>
            </a:extLst>
          </p:cNvPr>
          <p:cNvSpPr>
            <a:spLocks noGrp="1"/>
          </p:cNvSpPr>
          <p:nvPr/>
        </p:nvSpPr>
        <p:spPr>
          <a:xfrm>
            <a:off x="990600" y="2038350"/>
            <a:ext cx="102108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9090:80 nginx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nginx 是 image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nginx-life 是容器名稱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8" name="">
            <a:extLst>
              <a:ext uri="{FF2B5EF4-FFF2-40B4-BE49-F238E27FC236}">
                <ns2:creationId id="{CAAEB568-4DF9-4AE3-960C-F34DA95F3089}"/>
              </a:ext>
            </a:extLst>
          </p:cNvPr>
          <p:cNvSpPr>
            <a:spLocks noGrp="1"/>
          </p:cNvSpPr>
          <p:nvPr/>
        </p:nvSpPr>
        <p:spPr>
          <a:xfrm>
            <a:off x="1619250" y="4591050"/>
            <a:ext cx="342900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55BFE04-5E4D-4F20-AEE4-41BD5CC2A455}"/>
              </a:ext>
            </a:extLst>
          </p:cNvPr>
          <p:cNvSpPr>
            <a:spLocks noGrp="1"/>
          </p:cNvSpPr>
          <p:nvPr/>
        </p:nvSpPr>
        <p:spPr>
          <a:xfrm>
            <a:off x="1847850" y="478155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10" name="">
            <a:extLst>
              <a:ext uri="{FF2B5EF4-FFF2-40B4-BE49-F238E27FC236}">
                <ns2:creationId id="{2CCED479-FE37-4AD2-94C3-69FDCDDCE361}"/>
              </a:ext>
            </a:extLst>
          </p:cNvPr>
          <p:cNvSpPr>
            <a:spLocks noGrp="1"/>
          </p:cNvSpPr>
          <p:nvPr/>
        </p:nvSpPr>
        <p:spPr>
          <a:xfrm>
            <a:off x="1847850" y="5124450"/>
            <a:ext cx="2971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背景執行，適合長時間跑的 Web 服務。</a:t>
            </a:r>
          </a:p>
        </p:txBody>
      </p:sp>
      <p:sp>
        <p:nvSpPr>
          <p:cNvPr id="11" name="">
            <a:extLst>
              <a:ext uri="{FF2B5EF4-FFF2-40B4-BE49-F238E27FC236}">
                <ns2:creationId id="{4FB23658-9315-403D-9B50-6B624BE1D253}"/>
              </a:ext>
            </a:extLst>
          </p:cNvPr>
          <p:cNvSpPr>
            <a:spLocks noGrp="1"/>
          </p:cNvSpPr>
          <p:nvPr/>
        </p:nvSpPr>
        <p:spPr>
          <a:xfrm>
            <a:off x="7143750" y="4591050"/>
            <a:ext cx="342900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D422E98-3AD1-4AB1-A513-D4E8CC0A2515}"/>
              </a:ext>
            </a:extLst>
          </p:cNvPr>
          <p:cNvSpPr>
            <a:spLocks noGrp="1"/>
          </p:cNvSpPr>
          <p:nvPr/>
        </p:nvSpPr>
        <p:spPr>
          <a:xfrm>
            <a:off x="7372350" y="478155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--name nginx-life</a:t>
            </a:r>
          </a:p>
        </p:txBody>
      </p:sp>
      <p:sp>
        <p:nvSpPr>
          <p:cNvPr id="13" name="">
            <a:extLst>
              <a:ext uri="{FF2B5EF4-FFF2-40B4-BE49-F238E27FC236}">
                <ns2:creationId id="{D34CF738-48D9-45B9-9F4F-86CBC4B6B7C5}"/>
              </a:ext>
            </a:extLst>
          </p:cNvPr>
          <p:cNvSpPr>
            <a:spLocks noGrp="1"/>
          </p:cNvSpPr>
          <p:nvPr/>
        </p:nvSpPr>
        <p:spPr>
          <a:xfrm>
            <a:off x="7372350" y="5124450"/>
            <a:ext cx="2971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103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後續可以用名字 stop、start、restart、rm，不必記容器 ID。</a:t>
            </a:r>
          </a:p>
        </p:txBody>
      </p:sp>
      <p:sp>
        <p:nvSpPr>
          <p:cNvPr id="14" name="">
            <a:extLst>
              <a:ext uri="{FF2B5EF4-FFF2-40B4-BE49-F238E27FC236}">
                <ns2:creationId id="{E073C9AF-0F5D-4F9D-ADAA-996A0C692A4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9C1A7FD-E479-4E44-9F51-87617EE1B51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8536AC7D-A5BE-44C6-97E9-47169A86864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1424887163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367CD96-92D4-4BA0-BD97-C8D7DCC45E2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EPHEMERAL CONTAINERS</a:t>
            </a:r>
          </a:p>
        </p:txBody>
      </p:sp>
      <p:sp>
        <p:nvSpPr>
          <p:cNvPr id="2" name="">
            <a:extLst>
              <a:ext uri="{FF2B5EF4-FFF2-40B4-BE49-F238E27FC236}">
                <ns2:creationId id="{53DBC04D-C036-4698-BE9D-3EDFF45270A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臨時測試容器請加 --rm</a:t>
            </a:r>
          </a:p>
        </p:txBody>
      </p:sp>
      <p:sp>
        <p:nvSpPr>
          <p:cNvPr id="3" name="">
            <a:extLst>
              <a:ext uri="{FF2B5EF4-FFF2-40B4-BE49-F238E27FC236}">
                <ns2:creationId id="{EF3F763B-FF34-4E03-812D-BEAE2262B393}"/>
              </a:ext>
            </a:extLst>
          </p:cNvPr>
          <p:cNvSpPr>
            <a:spLocks noGrp="1"/>
          </p:cNvSpPr>
          <p:nvPr/>
        </p:nvSpPr>
        <p:spPr>
          <a:xfrm>
            <a:off x="895350" y="1695450"/>
            <a:ext cx="5962650" cy="2114550"/>
          </a:xfrm>
          <a:prstGeom prst="roundRect">
            <a:avLst>
              <a:gd name="adj" fmla="val 450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4BB17C9-3F67-494F-9590-CA7064F7E462}"/>
              </a:ext>
            </a:extLst>
          </p:cNvPr>
          <p:cNvSpPr>
            <a:spLocks noGrp="1"/>
          </p:cNvSpPr>
          <p:nvPr/>
        </p:nvSpPr>
        <p:spPr>
          <a:xfrm>
            <a:off x="10668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09105F3-BFF6-47EE-8E76-D2C6A17A73C4}"/>
              </a:ext>
            </a:extLst>
          </p:cNvPr>
          <p:cNvSpPr>
            <a:spLocks noGrp="1"/>
          </p:cNvSpPr>
          <p:nvPr/>
        </p:nvSpPr>
        <p:spPr>
          <a:xfrm>
            <a:off x="12382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D185D74C-C1FA-4CD3-8F4A-BABFD8CF4931}"/>
              </a:ext>
            </a:extLst>
          </p:cNvPr>
          <p:cNvSpPr>
            <a:spLocks noGrp="1"/>
          </p:cNvSpPr>
          <p:nvPr/>
        </p:nvSpPr>
        <p:spPr>
          <a:xfrm>
            <a:off x="14097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333D64B-FDC3-4FC9-B2C7-65560702728B}"/>
              </a:ext>
            </a:extLst>
          </p:cNvPr>
          <p:cNvSpPr>
            <a:spLocks noGrp="1"/>
          </p:cNvSpPr>
          <p:nvPr/>
        </p:nvSpPr>
        <p:spPr>
          <a:xfrm>
            <a:off x="1104900" y="2114550"/>
            <a:ext cx="55435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用完即丟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--rm ubuntu bash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沒有 --rm：停止後仍留在 docker ps -a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ubuntu bash</a:t>
            </a:r>
          </a:p>
        </p:txBody>
      </p:sp>
      <p:sp>
        <p:nvSpPr>
          <p:cNvPr id="8" name="">
            <a:extLst>
              <a:ext uri="{FF2B5EF4-FFF2-40B4-BE49-F238E27FC236}">
                <ns2:creationId id="{F0AAD5FC-6ACA-4C0E-8B26-D7DD54318F36}"/>
              </a:ext>
            </a:extLst>
          </p:cNvPr>
          <p:cNvSpPr>
            <a:spLocks noGrp="1"/>
          </p:cNvSpPr>
          <p:nvPr/>
        </p:nvSpPr>
        <p:spPr>
          <a:xfrm>
            <a:off x="7524750" y="1600200"/>
            <a:ext cx="3200400" cy="13335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2D4AF116-097F-4296-BB1D-CFBADD96F38F}"/>
              </a:ext>
            </a:extLst>
          </p:cNvPr>
          <p:cNvSpPr>
            <a:spLocks noGrp="1"/>
          </p:cNvSpPr>
          <p:nvPr/>
        </p:nvSpPr>
        <p:spPr>
          <a:xfrm>
            <a:off x="7753350" y="1790700"/>
            <a:ext cx="2743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--rm</a:t>
            </a:r>
          </a:p>
        </p:txBody>
      </p:sp>
      <p:sp>
        <p:nvSpPr>
          <p:cNvPr id="10" name="">
            <a:extLst>
              <a:ext uri="{FF2B5EF4-FFF2-40B4-BE49-F238E27FC236}">
                <ns2:creationId id="{3710A92C-66BA-43B3-8992-27306C9CF7D7}"/>
              </a:ext>
            </a:extLst>
          </p:cNvPr>
          <p:cNvSpPr>
            <a:spLocks noGrp="1"/>
          </p:cNvSpPr>
          <p:nvPr/>
        </p:nvSpPr>
        <p:spPr>
          <a:xfrm>
            <a:off x="7753350" y="220980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停止後容器還在，需要手動 docker rm。適合長期跑的服務。</a:t>
            </a:r>
          </a:p>
        </p:txBody>
      </p:sp>
      <p:sp>
        <p:nvSpPr>
          <p:cNvPr id="11" name="">
            <a:extLst>
              <a:ext uri="{FF2B5EF4-FFF2-40B4-BE49-F238E27FC236}">
                <ns2:creationId id="{2B512E2A-1D78-4694-B402-331BF501D11F}"/>
              </a:ext>
            </a:extLst>
          </p:cNvPr>
          <p:cNvSpPr>
            <a:spLocks noGrp="1"/>
          </p:cNvSpPr>
          <p:nvPr/>
        </p:nvSpPr>
        <p:spPr>
          <a:xfrm>
            <a:off x="7524750" y="3257550"/>
            <a:ext cx="3200400" cy="1333500"/>
          </a:xfrm>
          <a:prstGeom prst="roundRect">
            <a:avLst>
              <a:gd name="adj" fmla="val 857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74C70D0-E667-4465-91E5-D5DFA4394AA4}"/>
              </a:ext>
            </a:extLst>
          </p:cNvPr>
          <p:cNvSpPr>
            <a:spLocks noGrp="1"/>
          </p:cNvSpPr>
          <p:nvPr/>
        </p:nvSpPr>
        <p:spPr>
          <a:xfrm>
            <a:off x="7753350" y="3448050"/>
            <a:ext cx="2743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--rm</a:t>
            </a:r>
          </a:p>
        </p:txBody>
      </p:sp>
      <p:sp>
        <p:nvSpPr>
          <p:cNvPr id="13" name="">
            <a:extLst>
              <a:ext uri="{FF2B5EF4-FFF2-40B4-BE49-F238E27FC236}">
                <ns2:creationId id="{3E309C9E-0356-44D5-944F-894E4BF355B4}"/>
              </a:ext>
            </a:extLst>
          </p:cNvPr>
          <p:cNvSpPr>
            <a:spLocks noGrp="1"/>
          </p:cNvSpPr>
          <p:nvPr/>
        </p:nvSpPr>
        <p:spPr>
          <a:xfrm>
            <a:off x="7753350" y="386715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1528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exit 後自動刪除，不留垃圾。適合臨時測試、試指令。</a:t>
            </a:r>
          </a:p>
        </p:txBody>
      </p:sp>
      <p:sp>
        <p:nvSpPr>
          <p:cNvPr id="14" name="">
            <a:extLst>
              <a:ext uri="{FF2B5EF4-FFF2-40B4-BE49-F238E27FC236}">
                <ns2:creationId id="{E56C8430-F043-4B92-AB57-092E16576CA6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914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養成習慣：一次性容器加 --rm，避免累積一堆 Exited 容器。</a:t>
            </a:r>
          </a:p>
        </p:txBody>
      </p:sp>
      <p:sp>
        <p:nvSpPr>
          <p:cNvPr id="15" name="">
            <a:extLst>
              <a:ext uri="{FF2B5EF4-FFF2-40B4-BE49-F238E27FC236}">
                <ns2:creationId id="{B6C2FFBE-F986-4A68-B8B3-B7EFC6D604F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798E175B-02B6-451A-BCF2-B0F9DABCFF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7" name="">
            <a:extLst>
              <a:ext uri="{FF2B5EF4-FFF2-40B4-BE49-F238E27FC236}">
                <ns2:creationId id="{B9383ED5-2725-40E0-B842-3AF38BE13E6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3:creationId val="1466653049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5D1B20A-D099-4C43-98BB-73704058EFE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CONCEPT</a:t>
            </a:r>
          </a:p>
        </p:txBody>
      </p:sp>
      <p:sp>
        <p:nvSpPr>
          <p:cNvPr id="2" name="">
            <a:extLst>
              <a:ext uri="{FF2B5EF4-FFF2-40B4-BE49-F238E27FC236}">
                <ns2:creationId id="{AAD18C44-56C3-40A3-9406-996278ECCEF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解決資料跟著容器消失的問題</a:t>
            </a:r>
          </a:p>
        </p:txBody>
      </p:sp>
      <p:pic>
        <p:nvPicPr>
          <p:cNvPr id="18" name=""/>
          <p:cNvPicPr>
            <a:picLocks noChangeAspect="1"/>
          </p:cNvPicPr>
          <p:nvPr/>
        </p:nvPicPr>
        <p:blipFill>
          <a:blip r:embed="R282184615bf64413"/>
          <a:srcRect l="3100" t="0" r="3100" b="0"/>
          <a:stretch>
            <a:fillRect l="0" t="0" r="0" b="0"/>
          </a:stretch>
        </p:blipFill>
        <p:spPr>
          <a:xfrm>
            <a:off x="6153150" y="1352550"/>
            <a:ext cx="4762500" cy="285750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506FB13D-C501-4BC6-9469-E9D2BBB42F1C}"/>
              </a:ext>
            </a:extLst>
          </p:cNvPr>
          <p:cNvSpPr>
            <a:spLocks noGrp="1"/>
          </p:cNvSpPr>
          <p:nvPr/>
        </p:nvSpPr>
        <p:spPr>
          <a:xfrm>
            <a:off x="6153150" y="1352550"/>
            <a:ext cx="4762500" cy="2857500"/>
          </a:xfrm>
          <a:prstGeom prst="roundRect">
            <a:avLst>
              <a:gd name="adj" fmla="val 4667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EDF907D2-F798-4B47-A6E9-D56E73D5DE58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09575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98EB22E2-A831-49FC-8913-828F1C5AE08E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容器可以刪</a:t>
            </a:r>
          </a:p>
        </p:txBody>
      </p:sp>
      <p:sp>
        <p:nvSpPr>
          <p:cNvPr id="7" name="">
            <a:extLst>
              <a:ext uri="{FF2B5EF4-FFF2-40B4-BE49-F238E27FC236}">
                <ns2:creationId id="{4E689558-52F4-47D5-AF58-96CFEC32C69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638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容器天生適合重建、替換、用完就丟。</a:t>
            </a:r>
          </a:p>
        </p:txBody>
      </p:sp>
      <p:sp>
        <p:nvSpPr>
          <p:cNvPr id="8" name="">
            <a:extLst>
              <a:ext uri="{FF2B5EF4-FFF2-40B4-BE49-F238E27FC236}">
                <ns2:creationId id="{B8107481-98F6-42BD-A120-3785261CA7C3}"/>
              </a:ext>
            </a:extLst>
          </p:cNvPr>
          <p:cNvSpPr>
            <a:spLocks noGrp="1"/>
          </p:cNvSpPr>
          <p:nvPr/>
        </p:nvSpPr>
        <p:spPr>
          <a:xfrm>
            <a:off x="990600" y="3276600"/>
            <a:ext cx="4095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664FE83-C46A-404C-B4BB-6355FCD9560A}"/>
              </a:ext>
            </a:extLst>
          </p:cNvPr>
          <p:cNvSpPr>
            <a:spLocks noGrp="1"/>
          </p:cNvSpPr>
          <p:nvPr/>
        </p:nvSpPr>
        <p:spPr>
          <a:xfrm>
            <a:off x="1219200" y="34671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資料不能丟</a:t>
            </a:r>
          </a:p>
        </p:txBody>
      </p:sp>
      <p:sp>
        <p:nvSpPr>
          <p:cNvPr id="10" name="">
            <a:extLst>
              <a:ext uri="{FF2B5EF4-FFF2-40B4-BE49-F238E27FC236}">
                <ns2:creationId id="{6968B530-4226-421E-AF5C-F4FF86B6700D}"/>
              </a:ext>
            </a:extLst>
          </p:cNvPr>
          <p:cNvSpPr>
            <a:spLocks noGrp="1"/>
          </p:cNvSpPr>
          <p:nvPr/>
        </p:nvSpPr>
        <p:spPr>
          <a:xfrm>
            <a:off x="1219200" y="3886200"/>
            <a:ext cx="3638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資料庫、上傳檔、開發中的程式碼，都不應該只放在容器內部。</a:t>
            </a:r>
          </a:p>
        </p:txBody>
      </p:sp>
      <p:sp>
        <p:nvSpPr>
          <p:cNvPr id="11" name="">
            <a:extLst>
              <a:ext uri="{FF2B5EF4-FFF2-40B4-BE49-F238E27FC236}">
                <ns2:creationId id="{AE6F80D6-06AA-46DD-A84C-7107CF5BB85D}"/>
              </a:ext>
            </a:extLst>
          </p:cNvPr>
          <p:cNvSpPr>
            <a:spLocks noGrp="1"/>
          </p:cNvSpPr>
          <p:nvPr/>
        </p:nvSpPr>
        <p:spPr>
          <a:xfrm>
            <a:off x="1504950" y="5334000"/>
            <a:ext cx="9182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Volume 把資料放在容器外面，容器刪掉後資料仍然可以保留。</a:t>
            </a:r>
          </a:p>
        </p:txBody>
      </p:sp>
      <p:sp>
        <p:nvSpPr>
          <p:cNvPr id="12" name="">
            <a:extLst>
              <a:ext uri="{FF2B5EF4-FFF2-40B4-BE49-F238E27FC236}">
                <ns2:creationId id="{BA3C07F7-B5FC-42DA-AA0F-FD2713D3454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BB7088CD-15C4-4D7D-9A77-5918ADA8C3C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>
              <a:ext uri="{FF2B5EF4-FFF2-40B4-BE49-F238E27FC236}">
                <ns2:creationId id="{D66C4C73-1DAE-4DA3-A2FF-4417C3D15DD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ns4:creationId val="1182379147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29268AC-9A4B-41D6-BECD-C67A3D63117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MOUNT TYPES</a:t>
            </a:r>
          </a:p>
        </p:txBody>
      </p:sp>
      <p:sp>
        <p:nvSpPr>
          <p:cNvPr id="2" name="">
            <a:extLst>
              <a:ext uri="{FF2B5EF4-FFF2-40B4-BE49-F238E27FC236}">
                <ns2:creationId id="{9250001E-9520-47DF-9FE4-D3D94335844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兩種掛載方式：Bind Mount 與 Named Volume</a:t>
            </a:r>
          </a:p>
        </p:txBody>
      </p:sp>
      <p:sp>
        <p:nvSpPr>
          <p:cNvPr id="3" name="">
            <a:extLst>
              <a:ext uri="{FF2B5EF4-FFF2-40B4-BE49-F238E27FC236}">
                <ns2:creationId id="{C6114BB2-CCEA-47E0-A6ED-1958E2FDC07E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4762500" cy="3352800"/>
          </a:xfrm>
          <a:prstGeom prst="roundRect">
            <a:avLst>
              <a:gd name="adj" fmla="val 340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A885270-E119-4274-814A-A09A34975B5C}"/>
              </a:ext>
            </a:extLst>
          </p:cNvPr>
          <p:cNvSpPr>
            <a:spLocks noGrp="1"/>
          </p:cNvSpPr>
          <p:nvPr/>
        </p:nvSpPr>
        <p:spPr>
          <a:xfrm>
            <a:off x="1181100" y="1905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Bind Mount</a:t>
            </a:r>
          </a:p>
        </p:txBody>
      </p:sp>
      <p:sp>
        <p:nvSpPr>
          <p:cNvPr id="5" name="">
            <a:extLst>
              <a:ext uri="{FF2B5EF4-FFF2-40B4-BE49-F238E27FC236}">
                <ns2:creationId id="{FDA0EF2C-0CB8-4EBA-B770-D925C3339AB8}"/>
              </a:ext>
            </a:extLst>
          </p:cNvPr>
          <p:cNvSpPr>
            <a:spLocks noGrp="1"/>
          </p:cNvSpPr>
          <p:nvPr/>
        </p:nvSpPr>
        <p:spPr>
          <a:xfrm>
            <a:off x="1295400" y="2533650"/>
            <a:ext cx="3924300" cy="781050"/>
          </a:xfrm>
          <a:prstGeom prst="roundRect">
            <a:avLst>
              <a:gd name="adj" fmla="val 1219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6" name="">
            <a:extLst>
              <a:ext uri="{FF2B5EF4-FFF2-40B4-BE49-F238E27FC236}">
                <ns2:creationId id="{86665B4E-3E17-42C8-ACCA-F0BCD13FF74E}"/>
              </a:ext>
            </a:extLst>
          </p:cNvPr>
          <p:cNvSpPr>
            <a:spLocks noGrp="1"/>
          </p:cNvSpPr>
          <p:nvPr/>
        </p:nvSpPr>
        <p:spPr>
          <a:xfrm>
            <a:off x="1466850" y="2695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EAB393E-A9BB-497E-9334-5D27ED0CDA8F}"/>
              </a:ext>
            </a:extLst>
          </p:cNvPr>
          <p:cNvSpPr>
            <a:spLocks noGrp="1"/>
          </p:cNvSpPr>
          <p:nvPr/>
        </p:nvSpPr>
        <p:spPr>
          <a:xfrm>
            <a:off x="1638300" y="2695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9E9BF29C-4F0B-406D-9133-64F0B501C39F}"/>
              </a:ext>
            </a:extLst>
          </p:cNvPr>
          <p:cNvSpPr>
            <a:spLocks noGrp="1"/>
          </p:cNvSpPr>
          <p:nvPr/>
        </p:nvSpPr>
        <p:spPr>
          <a:xfrm>
            <a:off x="1809750" y="2695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59C75C2F-84D8-43E8-8CEC-F55D8E39A054}"/>
              </a:ext>
            </a:extLst>
          </p:cNvPr>
          <p:cNvSpPr>
            <a:spLocks noGrp="1"/>
          </p:cNvSpPr>
          <p:nvPr/>
        </p:nvSpPr>
        <p:spPr>
          <a:xfrm>
            <a:off x="1504950" y="2952750"/>
            <a:ext cx="350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1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"C:\my-project:/app"</a:t>
            </a:r>
          </a:p>
        </p:txBody>
      </p:sp>
      <p:sp>
        <p:nvSpPr>
          <p:cNvPr id="10" name="">
            <a:extLst>
              <a:ext uri="{FF2B5EF4-FFF2-40B4-BE49-F238E27FC236}">
                <ns2:creationId id="{FD6F8ED4-1C11-442A-B990-6A8863F18AF9}"/>
              </a:ext>
            </a:extLst>
          </p:cNvPr>
          <p:cNvSpPr>
            <a:spLocks noGrp="1"/>
          </p:cNvSpPr>
          <p:nvPr/>
        </p:nvSpPr>
        <p:spPr>
          <a:xfrm>
            <a:off x="1276350" y="365760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主機和容器看到同一份檔案。適合開發時同步程式碼。</a:t>
            </a:r>
          </a:p>
        </p:txBody>
      </p:sp>
      <p:sp>
        <p:nvSpPr>
          <p:cNvPr id="11" name="">
            <a:extLst>
              <a:ext uri="{FF2B5EF4-FFF2-40B4-BE49-F238E27FC236}">
                <ns2:creationId id="{D2BBCA85-DB07-4DC3-B0A4-7495FF97E653}"/>
              </a:ext>
            </a:extLst>
          </p:cNvPr>
          <p:cNvSpPr>
            <a:spLocks noGrp="1"/>
          </p:cNvSpPr>
          <p:nvPr/>
        </p:nvSpPr>
        <p:spPr>
          <a:xfrm>
            <a:off x="6553200" y="1581150"/>
            <a:ext cx="4762500" cy="3352800"/>
          </a:xfrm>
          <a:prstGeom prst="roundRect">
            <a:avLst>
              <a:gd name="adj" fmla="val 340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8613494-D469-43BF-B521-48AC218C43CA}"/>
              </a:ext>
            </a:extLst>
          </p:cNvPr>
          <p:cNvSpPr>
            <a:spLocks noGrp="1"/>
          </p:cNvSpPr>
          <p:nvPr/>
        </p:nvSpPr>
        <p:spPr>
          <a:xfrm>
            <a:off x="6858000" y="1905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Named Volume</a:t>
            </a:r>
          </a:p>
        </p:txBody>
      </p:sp>
      <p:sp>
        <p:nvSpPr>
          <p:cNvPr id="13" name="">
            <a:extLst>
              <a:ext uri="{FF2B5EF4-FFF2-40B4-BE49-F238E27FC236}">
                <ns2:creationId id="{2C6EE2D5-CB69-40ED-8096-B293366921BF}"/>
              </a:ext>
            </a:extLst>
          </p:cNvPr>
          <p:cNvSpPr>
            <a:spLocks noGrp="1"/>
          </p:cNvSpPr>
          <p:nvPr/>
        </p:nvSpPr>
        <p:spPr>
          <a:xfrm>
            <a:off x="6972300" y="2533650"/>
            <a:ext cx="3924300" cy="781050"/>
          </a:xfrm>
          <a:prstGeom prst="roundRect">
            <a:avLst>
              <a:gd name="adj" fmla="val 1219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4" name="">
            <a:extLst>
              <a:ext uri="{FF2B5EF4-FFF2-40B4-BE49-F238E27FC236}">
                <ns2:creationId id="{F067D187-5746-496A-ACB9-E76BEB5610E6}"/>
              </a:ext>
            </a:extLst>
          </p:cNvPr>
          <p:cNvSpPr>
            <a:spLocks noGrp="1"/>
          </p:cNvSpPr>
          <p:nvPr/>
        </p:nvSpPr>
        <p:spPr>
          <a:xfrm>
            <a:off x="7143750" y="2695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73BE202C-6A6E-4E0C-B796-FE606F0CC4BF}"/>
              </a:ext>
            </a:extLst>
          </p:cNvPr>
          <p:cNvSpPr>
            <a:spLocks noGrp="1"/>
          </p:cNvSpPr>
          <p:nvPr/>
        </p:nvSpPr>
        <p:spPr>
          <a:xfrm>
            <a:off x="7315200" y="2695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8170033D-4D72-448F-9DCA-669680ADB56A}"/>
              </a:ext>
            </a:extLst>
          </p:cNvPr>
          <p:cNvSpPr>
            <a:spLocks noGrp="1"/>
          </p:cNvSpPr>
          <p:nvPr/>
        </p:nvSpPr>
        <p:spPr>
          <a:xfrm>
            <a:off x="7486650" y="2695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919AB6B0-A934-408C-A974-69FB34C1B414}"/>
              </a:ext>
            </a:extLst>
          </p:cNvPr>
          <p:cNvSpPr>
            <a:spLocks noGrp="1"/>
          </p:cNvSpPr>
          <p:nvPr/>
        </p:nvSpPr>
        <p:spPr>
          <a:xfrm>
            <a:off x="7181850" y="2952750"/>
            <a:ext cx="350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1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my-data:/var/lib/mysql</a:t>
            </a:r>
          </a:p>
        </p:txBody>
      </p:sp>
      <p:sp>
        <p:nvSpPr>
          <p:cNvPr id="18" name="">
            <a:extLst>
              <a:ext uri="{FF2B5EF4-FFF2-40B4-BE49-F238E27FC236}">
                <ns2:creationId id="{0D1E9158-76CD-49D8-AED6-0CD936DB9367}"/>
              </a:ext>
            </a:extLst>
          </p:cNvPr>
          <p:cNvSpPr>
            <a:spLocks noGrp="1"/>
          </p:cNvSpPr>
          <p:nvPr/>
        </p:nvSpPr>
        <p:spPr>
          <a:xfrm>
            <a:off x="6953250" y="365760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999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管理資料存放位置。適合資料庫等需要持久化的資料。</a:t>
            </a:r>
          </a:p>
        </p:txBody>
      </p:sp>
      <p:sp>
        <p:nvSpPr>
          <p:cNvPr id="19" name="">
            <a:extLst>
              <a:ext uri="{FF2B5EF4-FFF2-40B4-BE49-F238E27FC236}">
                <ns2:creationId id="{F719426F-CC7E-48B7-ADF2-56049DF0106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476120E6-A423-4D6B-87B0-252637E0C9C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1" name="">
            <a:extLst>
              <a:ext uri="{FF2B5EF4-FFF2-40B4-BE49-F238E27FC236}">
                <ns2:creationId id="{AB166BC8-6DDB-4E7B-9921-A6F7C04DE66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243129406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6C1570E-A905-4F6F-AFCF-B2C9A4CEA20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">
            <a:extLst>
              <a:ext uri="{FF2B5EF4-FFF2-40B4-BE49-F238E27FC236}">
                <ns2:creationId id="{3BD43A35-7B4A-4F05-A0A2-06766202DA0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概念快問 2：該用哪種掛載？</a:t>
            </a:r>
          </a:p>
        </p:txBody>
      </p:sp>
      <p:sp>
        <p:nvSpPr>
          <p:cNvPr id="3" name="">
            <a:extLst>
              <a:ext uri="{FF2B5EF4-FFF2-40B4-BE49-F238E27FC236}">
                <ns2:creationId id="{6EB4FE24-34E7-4D8E-90F9-18FC65B9D509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476500"/>
          </a:xfrm>
          <a:prstGeom prst="roundRect">
            <a:avLst>
              <a:gd name="adj" fmla="val 461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D21E977-DF98-4D05-AB73-D57938A81225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開發時同步程式碼</a:t>
            </a:r>
          </a:p>
        </p:txBody>
      </p:sp>
      <p:sp>
        <p:nvSpPr>
          <p:cNvPr id="5" name="">
            <a:extLst>
              <a:ext uri="{FF2B5EF4-FFF2-40B4-BE49-F238E27FC236}">
                <ns2:creationId id="{2B6672BF-6E24-4D52-B314-FF30D738BBB5}"/>
              </a:ext>
            </a:extLst>
          </p:cNvPr>
          <p:cNvSpPr>
            <a:spLocks noGrp="1"/>
          </p:cNvSpPr>
          <p:nvPr/>
        </p:nvSpPr>
        <p:spPr>
          <a:xfrm>
            <a:off x="1276350" y="2571750"/>
            <a:ext cx="39243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Bind Mount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"C:\project:/app"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主機和容器共用同一份檔案。</a:t>
            </a:r>
          </a:p>
        </p:txBody>
      </p:sp>
      <p:sp>
        <p:nvSpPr>
          <p:cNvPr id="6" name="">
            <a:extLst>
              <a:ext uri="{FF2B5EF4-FFF2-40B4-BE49-F238E27FC236}">
                <ns2:creationId id="{0DD3E445-B7CD-4B06-9726-63CF48CE0471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4C72F1D-BF87-43D9-AC1C-1A3FD5FB465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資料庫資料持久化</a:t>
            </a:r>
          </a:p>
        </p:txBody>
      </p:sp>
      <p:sp>
        <p:nvSpPr>
          <p:cNvPr id="8" name="">
            <a:extLst>
              <a:ext uri="{FF2B5EF4-FFF2-40B4-BE49-F238E27FC236}">
                <ns2:creationId id="{2024C873-CAAB-4D71-9A8D-7BAB208E352C}"/>
              </a:ext>
            </a:extLst>
          </p:cNvPr>
          <p:cNvSpPr>
            <a:spLocks noGrp="1"/>
          </p:cNvSpPr>
          <p:nvPr/>
        </p:nvSpPr>
        <p:spPr>
          <a:xfrm>
            <a:off x="6991350" y="2571750"/>
            <a:ext cx="39243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Named Volume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my-data:/var/lib/mysql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由 Docker 管理資料位置。</a:t>
            </a:r>
          </a:p>
        </p:txBody>
      </p:sp>
      <p:sp>
        <p:nvSpPr>
          <p:cNvPr id="9" name="">
            <a:extLst>
              <a:ext uri="{FF2B5EF4-FFF2-40B4-BE49-F238E27FC236}">
                <ns2:creationId id="{D3CCBB83-68CE-4AD1-9B06-EBD67CCB4941}"/>
              </a:ext>
            </a:extLst>
          </p:cNvPr>
          <p:cNvSpPr>
            <a:spLocks noGrp="1"/>
          </p:cNvSpPr>
          <p:nvPr/>
        </p:nvSpPr>
        <p:spPr>
          <a:xfrm>
            <a:off x="1809750" y="51435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回答目標：看到場景就能選出 Bind Mount 或 Named Volume。</a:t>
            </a:r>
          </a:p>
        </p:txBody>
      </p:sp>
      <p:sp>
        <p:nvSpPr>
          <p:cNvPr id="10" name="">
            <a:extLst>
              <a:ext uri="{FF2B5EF4-FFF2-40B4-BE49-F238E27FC236}">
                <ns2:creationId id="{C4CB4F13-98B4-4CF3-8AA5-E2DDB93EDE6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B0F5B65-0FDE-4280-BB73-4673B0E1186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2EAEE011-4184-4EDF-9A5E-776956C1636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1186527772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4D6CEAA-13FE-46AF-9D01-97B329D6B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F4F9E318-79B0-4A17-98BC-8EE508735B6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管理指令</a:t>
            </a:r>
          </a:p>
        </p:txBody>
      </p:sp>
      <p:sp>
        <p:nvSpPr>
          <p:cNvPr id="3" name="">
            <a:extLst>
              <a:ext uri="{FF2B5EF4-FFF2-40B4-BE49-F238E27FC236}">
                <ns2:creationId id="{D9E8C46F-9C0C-4F9A-ACAE-BCB36F147AEC}"/>
              </a:ext>
            </a:extLst>
          </p:cNvPr>
          <p:cNvSpPr>
            <a:spLocks noGrp="1"/>
          </p:cNvSpPr>
          <p:nvPr/>
        </p:nvSpPr>
        <p:spPr>
          <a:xfrm>
            <a:off x="857250" y="1447800"/>
            <a:ext cx="4762500" cy="3467100"/>
          </a:xfrm>
          <a:prstGeom prst="roundRect">
            <a:avLst>
              <a:gd name="adj" fmla="val 274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9ADBB957-33CA-4E8F-B722-B805C02D122F}"/>
              </a:ext>
            </a:extLst>
          </p:cNvPr>
          <p:cNvSpPr>
            <a:spLocks noGrp="1"/>
          </p:cNvSpPr>
          <p:nvPr/>
        </p:nvSpPr>
        <p:spPr>
          <a:xfrm>
            <a:off x="10287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6BCF941-E727-4F13-B0D4-727BD2095AF1}"/>
              </a:ext>
            </a:extLst>
          </p:cNvPr>
          <p:cNvSpPr>
            <a:spLocks noGrp="1"/>
          </p:cNvSpPr>
          <p:nvPr/>
        </p:nvSpPr>
        <p:spPr>
          <a:xfrm>
            <a:off x="12001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61347A3-8DEE-466F-9A8B-BE4F06870AEB}"/>
              </a:ext>
            </a:extLst>
          </p:cNvPr>
          <p:cNvSpPr>
            <a:spLocks noGrp="1"/>
          </p:cNvSpPr>
          <p:nvPr/>
        </p:nvSpPr>
        <p:spPr>
          <a:xfrm>
            <a:off x="13716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6A68EB4-8103-4DA1-85B7-3BCE661874C4}"/>
              </a:ext>
            </a:extLst>
          </p:cNvPr>
          <p:cNvSpPr>
            <a:spLocks noGrp="1"/>
          </p:cNvSpPr>
          <p:nvPr/>
        </p:nvSpPr>
        <p:spPr>
          <a:xfrm>
            <a:off x="1066800" y="1866900"/>
            <a:ext cx="4343400" cy="2914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ls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inspect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8" name="">
            <a:extLst>
              <a:ext uri="{FF2B5EF4-FFF2-40B4-BE49-F238E27FC236}">
                <ns2:creationId id="{DDC86745-C703-4C54-A686-7038B20B4DCA}"/>
              </a:ext>
            </a:extLst>
          </p:cNvPr>
          <p:cNvSpPr>
            <a:spLocks noGrp="1"/>
          </p:cNvSpPr>
          <p:nvPr/>
        </p:nvSpPr>
        <p:spPr>
          <a:xfrm>
            <a:off x="6667500" y="14668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AD4DB3B-1B31-4A6F-887B-2F90BC1B725C}"/>
              </a:ext>
            </a:extLst>
          </p:cNvPr>
          <p:cNvSpPr>
            <a:spLocks noGrp="1"/>
          </p:cNvSpPr>
          <p:nvPr/>
        </p:nvSpPr>
        <p:spPr>
          <a:xfrm>
            <a:off x="6877050" y="16002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ls</a:t>
            </a:r>
          </a:p>
        </p:txBody>
      </p:sp>
      <p:sp>
        <p:nvSpPr>
          <p:cNvPr id="10" name="">
            <a:extLst>
              <a:ext uri="{FF2B5EF4-FFF2-40B4-BE49-F238E27FC236}">
                <ns2:creationId id="{1636ECA2-1B0C-4199-9422-7B9E826CCA8B}"/>
              </a:ext>
            </a:extLst>
          </p:cNvPr>
          <p:cNvSpPr>
            <a:spLocks noGrp="1"/>
          </p:cNvSpPr>
          <p:nvPr/>
        </p:nvSpPr>
        <p:spPr>
          <a:xfrm>
            <a:off x="7848600" y="15906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 Volume</a:t>
            </a:r>
          </a:p>
        </p:txBody>
      </p:sp>
      <p:sp>
        <p:nvSpPr>
          <p:cNvPr id="11" name="">
            <a:extLst>
              <a:ext uri="{FF2B5EF4-FFF2-40B4-BE49-F238E27FC236}">
                <ns2:creationId id="{7D0E1FDD-161C-48DE-8F81-BFBD63B9D512}"/>
              </a:ext>
            </a:extLst>
          </p:cNvPr>
          <p:cNvSpPr>
            <a:spLocks noGrp="1"/>
          </p:cNvSpPr>
          <p:nvPr/>
        </p:nvSpPr>
        <p:spPr>
          <a:xfrm>
            <a:off x="6667500" y="21907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7FC82D15-9E32-4F8C-8044-5172EF32ACAE}"/>
              </a:ext>
            </a:extLst>
          </p:cNvPr>
          <p:cNvSpPr>
            <a:spLocks noGrp="1"/>
          </p:cNvSpPr>
          <p:nvPr/>
        </p:nvSpPr>
        <p:spPr>
          <a:xfrm>
            <a:off x="6877050" y="23241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13" name="">
            <a:extLst>
              <a:ext uri="{FF2B5EF4-FFF2-40B4-BE49-F238E27FC236}">
                <ns2:creationId id="{0B82F332-3B31-4BDB-8F03-F9D1E8D388EE}"/>
              </a:ext>
            </a:extLst>
          </p:cNvPr>
          <p:cNvSpPr>
            <a:spLocks noGrp="1"/>
          </p:cNvSpPr>
          <p:nvPr/>
        </p:nvSpPr>
        <p:spPr>
          <a:xfrm>
            <a:off x="7848600" y="23145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建立一個 Volume</a:t>
            </a:r>
          </a:p>
        </p:txBody>
      </p:sp>
      <p:sp>
        <p:nvSpPr>
          <p:cNvPr id="14" name="">
            <a:extLst>
              <a:ext uri="{FF2B5EF4-FFF2-40B4-BE49-F238E27FC236}">
                <ns2:creationId id="{5D4E90E2-00CC-49BE-9D87-D294BEA9C3DC}"/>
              </a:ext>
            </a:extLst>
          </p:cNvPr>
          <p:cNvSpPr>
            <a:spLocks noGrp="1"/>
          </p:cNvSpPr>
          <p:nvPr/>
        </p:nvSpPr>
        <p:spPr>
          <a:xfrm>
            <a:off x="6667500" y="29146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BCECA2B0-27F9-4666-8CEC-E4C35BA1D669}"/>
              </a:ext>
            </a:extLst>
          </p:cNvPr>
          <p:cNvSpPr>
            <a:spLocks noGrp="1"/>
          </p:cNvSpPr>
          <p:nvPr/>
        </p:nvSpPr>
        <p:spPr>
          <a:xfrm>
            <a:off x="6877050" y="30480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inspect</a:t>
            </a:r>
          </a:p>
        </p:txBody>
      </p:sp>
      <p:sp>
        <p:nvSpPr>
          <p:cNvPr id="16" name="">
            <a:extLst>
              <a:ext uri="{FF2B5EF4-FFF2-40B4-BE49-F238E27FC236}">
                <ns2:creationId id="{C8BC79F2-C7F8-4A33-ABF1-93E6F0297B01}"/>
              </a:ext>
            </a:extLst>
          </p:cNvPr>
          <p:cNvSpPr>
            <a:spLocks noGrp="1"/>
          </p:cNvSpPr>
          <p:nvPr/>
        </p:nvSpPr>
        <p:spPr>
          <a:xfrm>
            <a:off x="7848600" y="30384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查看詳細資訊與掛載位置</a:t>
            </a:r>
          </a:p>
        </p:txBody>
      </p:sp>
      <p:sp>
        <p:nvSpPr>
          <p:cNvPr id="17" name="">
            <a:extLst>
              <a:ext uri="{FF2B5EF4-FFF2-40B4-BE49-F238E27FC236}">
                <ns2:creationId id="{121B2593-5467-48AC-A69A-C45DBE9E0CA5}"/>
              </a:ext>
            </a:extLst>
          </p:cNvPr>
          <p:cNvSpPr>
            <a:spLocks noGrp="1"/>
          </p:cNvSpPr>
          <p:nvPr/>
        </p:nvSpPr>
        <p:spPr>
          <a:xfrm>
            <a:off x="6667500" y="36385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E822B2CB-EF0E-44E4-B5B8-90D1945A62F4}"/>
              </a:ext>
            </a:extLst>
          </p:cNvPr>
          <p:cNvSpPr>
            <a:spLocks noGrp="1"/>
          </p:cNvSpPr>
          <p:nvPr/>
        </p:nvSpPr>
        <p:spPr>
          <a:xfrm>
            <a:off x="6877050" y="37719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rm</a:t>
            </a:r>
          </a:p>
        </p:txBody>
      </p:sp>
      <p:sp>
        <p:nvSpPr>
          <p:cNvPr id="19" name="">
            <a:extLst>
              <a:ext uri="{FF2B5EF4-FFF2-40B4-BE49-F238E27FC236}">
                <ns2:creationId id="{CEAB3953-14EF-4190-B851-C043808B80A2}"/>
              </a:ext>
            </a:extLst>
          </p:cNvPr>
          <p:cNvSpPr>
            <a:spLocks noGrp="1"/>
          </p:cNvSpPr>
          <p:nvPr/>
        </p:nvSpPr>
        <p:spPr>
          <a:xfrm>
            <a:off x="7848600" y="37623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刪除指定 Volume</a:t>
            </a:r>
          </a:p>
        </p:txBody>
      </p:sp>
      <p:sp>
        <p:nvSpPr>
          <p:cNvPr id="20" name="">
            <a:extLst>
              <a:ext uri="{FF2B5EF4-FFF2-40B4-BE49-F238E27FC236}">
                <ns2:creationId id="{DD4B8CB7-FDBF-4CE1-9CA8-E2252DA01788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6B654A56-F597-49E1-859E-1CFB00B939BD}"/>
              </a:ext>
            </a:extLst>
          </p:cNvPr>
          <p:cNvSpPr>
            <a:spLocks noGrp="1"/>
          </p:cNvSpPr>
          <p:nvPr/>
        </p:nvSpPr>
        <p:spPr>
          <a:xfrm>
            <a:off x="6877050" y="44958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prune</a:t>
            </a:r>
          </a:p>
        </p:txBody>
      </p:sp>
      <p:sp>
        <p:nvSpPr>
          <p:cNvPr id="22" name="">
            <a:extLst>
              <a:ext uri="{FF2B5EF4-FFF2-40B4-BE49-F238E27FC236}">
                <ns2:creationId id="{54199914-80E4-42D6-8081-A36560F14049}"/>
              </a:ext>
            </a:extLst>
          </p:cNvPr>
          <p:cNvSpPr>
            <a:spLocks noGrp="1"/>
          </p:cNvSpPr>
          <p:nvPr/>
        </p:nvSpPr>
        <p:spPr>
          <a:xfrm>
            <a:off x="7848600" y="44862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刪除所有沒在使用的 Volume</a:t>
            </a:r>
          </a:p>
        </p:txBody>
      </p:sp>
      <p:sp>
        <p:nvSpPr>
          <p:cNvPr id="23" name="">
            <a:extLst>
              <a:ext uri="{FF2B5EF4-FFF2-40B4-BE49-F238E27FC236}">
                <ns2:creationId id="{8294137C-540B-4515-A787-783D0998871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00F94CD4-67BF-4C6D-82AB-D571AF30AFF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1724C108-4AB8-40B0-A764-EA0AE2EB7A4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788760271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C0D8F44-CB63-4649-B26B-8BEB48828B7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>
              <a:ext uri="{FF2B5EF4-FFF2-40B4-BE49-F238E27FC236}">
                <ns2:creationId id="{23FE9034-3667-4485-9FF4-E2C28CC54AC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P4：Named Volume 持久化驗證</a:t>
            </a:r>
          </a:p>
        </p:txBody>
      </p:sp>
      <p:sp>
        <p:nvSpPr>
          <p:cNvPr id="3" name="">
            <a:extLst>
              <a:ext uri="{FF2B5EF4-FFF2-40B4-BE49-F238E27FC236}">
                <ns2:creationId id="{CD1A9C81-A29E-4B56-9498-5896952054FF}"/>
              </a:ext>
            </a:extLst>
          </p:cNvPr>
          <p:cNvSpPr>
            <a:spLocks noGrp="1"/>
          </p:cNvSpPr>
          <p:nvPr/>
        </p:nvSpPr>
        <p:spPr>
          <a:xfrm>
            <a:off x="781050" y="1409700"/>
            <a:ext cx="7239000" cy="4095750"/>
          </a:xfrm>
          <a:prstGeom prst="roundRect">
            <a:avLst>
              <a:gd name="adj" fmla="val 23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CA2812E-A20A-4138-8B70-EC65E8AE9AF7}"/>
              </a:ext>
            </a:extLst>
          </p:cNvPr>
          <p:cNvSpPr>
            <a:spLocks noGrp="1"/>
          </p:cNvSpPr>
          <p:nvPr/>
        </p:nvSpPr>
        <p:spPr>
          <a:xfrm>
            <a:off x="95250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B233235-6A59-4521-8BB4-FE01C7E8D398}"/>
              </a:ext>
            </a:extLst>
          </p:cNvPr>
          <p:cNvSpPr>
            <a:spLocks noGrp="1"/>
          </p:cNvSpPr>
          <p:nvPr/>
        </p:nvSpPr>
        <p:spPr>
          <a:xfrm>
            <a:off x="112395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8642376-17AE-465B-AE13-71764AE01E8A}"/>
              </a:ext>
            </a:extLst>
          </p:cNvPr>
          <p:cNvSpPr>
            <a:spLocks noGrp="1"/>
          </p:cNvSpPr>
          <p:nvPr/>
        </p:nvSpPr>
        <p:spPr>
          <a:xfrm>
            <a:off x="129540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81AB181-CF37-489D-8E2C-80B234AC1E64}"/>
              </a:ext>
            </a:extLst>
          </p:cNvPr>
          <p:cNvSpPr>
            <a:spLocks noGrp="1"/>
          </p:cNvSpPr>
          <p:nvPr/>
        </p:nvSpPr>
        <p:spPr>
          <a:xfrm>
            <a:off x="990600" y="1828800"/>
            <a:ext cx="6819900" cy="3543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test-data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內：echo "hello volume" &gt; /data/test.txt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內：cat /data/test.txt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test-data</a:t>
            </a:r>
          </a:p>
        </p:txBody>
      </p:sp>
      <p:sp>
        <p:nvSpPr>
          <p:cNvPr id="8" name="">
            <a:extLst>
              <a:ext uri="{FF2B5EF4-FFF2-40B4-BE49-F238E27FC236}">
                <ns2:creationId id="{E8D5F5CF-B872-4D4C-AE67-A0208AB391F8}"/>
              </a:ext>
            </a:extLst>
          </p:cNvPr>
          <p:cNvSpPr>
            <a:spLocks noGrp="1"/>
          </p:cNvSpPr>
          <p:nvPr/>
        </p:nvSpPr>
        <p:spPr>
          <a:xfrm>
            <a:off x="8572500" y="1752600"/>
            <a:ext cx="2667000" cy="12573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ED5D20D-B8E4-471C-AECD-EF1E20AD986B}"/>
              </a:ext>
            </a:extLst>
          </p:cNvPr>
          <p:cNvSpPr>
            <a:spLocks noGrp="1"/>
          </p:cNvSpPr>
          <p:nvPr/>
        </p:nvSpPr>
        <p:spPr>
          <a:xfrm>
            <a:off x="8801100" y="19431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>
              <a:ext uri="{FF2B5EF4-FFF2-40B4-BE49-F238E27FC236}">
                <ns2:creationId id="{9D3B77B4-0C69-4537-A5B5-58B86E1E45D1}"/>
              </a:ext>
            </a:extLst>
          </p:cNvPr>
          <p:cNvSpPr>
            <a:spLocks noGrp="1"/>
          </p:cNvSpPr>
          <p:nvPr/>
        </p:nvSpPr>
        <p:spPr>
          <a:xfrm>
            <a:off x="8801100" y="2362200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第二個新容器仍能讀到 /data/test.txt。</a:t>
            </a:r>
          </a:p>
        </p:txBody>
      </p:sp>
      <p:sp>
        <p:nvSpPr>
          <p:cNvPr id="11" name="">
            <a:extLst>
              <a:ext uri="{FF2B5EF4-FFF2-40B4-BE49-F238E27FC236}">
                <ns2:creationId id="{20BCB907-3DD8-43A1-9417-5608E7FED772}"/>
              </a:ext>
            </a:extLst>
          </p:cNvPr>
          <p:cNvSpPr>
            <a:spLocks noGrp="1"/>
          </p:cNvSpPr>
          <p:nvPr/>
        </p:nvSpPr>
        <p:spPr>
          <a:xfrm>
            <a:off x="8572500" y="3581400"/>
            <a:ext cx="2667000" cy="12573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16FA40FE-1793-467F-A135-F532AD744A1E}"/>
              </a:ext>
            </a:extLst>
          </p:cNvPr>
          <p:cNvSpPr>
            <a:spLocks noGrp="1"/>
          </p:cNvSpPr>
          <p:nvPr/>
        </p:nvSpPr>
        <p:spPr>
          <a:xfrm>
            <a:off x="8801100" y="37719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觀念</a:t>
            </a:r>
          </a:p>
        </p:txBody>
      </p:sp>
      <p:sp>
        <p:nvSpPr>
          <p:cNvPr id="13" name="">
            <a:extLst>
              <a:ext uri="{FF2B5EF4-FFF2-40B4-BE49-F238E27FC236}">
                <ns2:creationId id="{BC03B265-CEED-4FB6-B340-25B038FD926A}"/>
              </a:ext>
            </a:extLst>
          </p:cNvPr>
          <p:cNvSpPr>
            <a:spLocks noGrp="1"/>
          </p:cNvSpPr>
          <p:nvPr/>
        </p:nvSpPr>
        <p:spPr>
          <a:xfrm>
            <a:off x="8801100" y="4191000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 --rm 刪掉了，但 Named Volume 還在。</a:t>
            </a:r>
          </a:p>
        </p:txBody>
      </p:sp>
      <p:sp>
        <p:nvSpPr>
          <p:cNvPr id="14" name="">
            <a:extLst>
              <a:ext uri="{FF2B5EF4-FFF2-40B4-BE49-F238E27FC236}">
                <ns2:creationId id="{8D7C67E3-62A1-4EDE-A3F3-DD0B9B5DBA8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CCE5A85-EE09-40A7-BF39-256241625D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17E4F8F2-26C3-4B26-BAFA-8336877AF79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241849295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4C0BAB9-5DA1-4013-AFE6-DC8531A3B4D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READ-ONLY MOUNT</a:t>
            </a:r>
          </a:p>
        </p:txBody>
      </p:sp>
      <p:sp>
        <p:nvSpPr>
          <p:cNvPr id="2" name="">
            <a:extLst>
              <a:ext uri="{FF2B5EF4-FFF2-40B4-BE49-F238E27FC236}">
                <ns2:creationId id="{F168563F-FA23-4866-955E-97EA5A6AD5F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唯讀掛載避免容器改到設定檔</a:t>
            </a:r>
          </a:p>
        </p:txBody>
      </p:sp>
      <p:sp>
        <p:nvSpPr>
          <p:cNvPr id="3" name="">
            <a:extLst>
              <a:ext uri="{FF2B5EF4-FFF2-40B4-BE49-F238E27FC236}">
                <ns2:creationId id="{04F07FCC-0AFD-4244-81D7-8CDCB71F1B50}"/>
              </a:ext>
            </a:extLst>
          </p:cNvPr>
          <p:cNvSpPr>
            <a:spLocks noGrp="1"/>
          </p:cNvSpPr>
          <p:nvPr/>
        </p:nvSpPr>
        <p:spPr>
          <a:xfrm>
            <a:off x="1066800" y="1657350"/>
            <a:ext cx="100584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0F3D906-DA1A-4870-98D8-5CD2A538D14F}"/>
              </a:ext>
            </a:extLst>
          </p:cNvPr>
          <p:cNvSpPr>
            <a:spLocks noGrp="1"/>
          </p:cNvSpPr>
          <p:nvPr/>
        </p:nvSpPr>
        <p:spPr>
          <a:xfrm>
            <a:off x="1238250" y="1819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8C95964-BD3B-4310-8E28-6D25696E5FA2}"/>
              </a:ext>
            </a:extLst>
          </p:cNvPr>
          <p:cNvSpPr>
            <a:spLocks noGrp="1"/>
          </p:cNvSpPr>
          <p:nvPr/>
        </p:nvSpPr>
        <p:spPr>
          <a:xfrm>
            <a:off x="1409700" y="1819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5748FEC-3C20-471C-8B98-05FED1E90154}"/>
              </a:ext>
            </a:extLst>
          </p:cNvPr>
          <p:cNvSpPr>
            <a:spLocks noGrp="1"/>
          </p:cNvSpPr>
          <p:nvPr/>
        </p:nvSpPr>
        <p:spPr>
          <a:xfrm>
            <a:off x="1581150" y="1819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666D246-F6EA-4B78-987D-8C7AC90970FC}"/>
              </a:ext>
            </a:extLst>
          </p:cNvPr>
          <p:cNvSpPr>
            <a:spLocks noGrp="1"/>
          </p:cNvSpPr>
          <p:nvPr/>
        </p:nvSpPr>
        <p:spPr>
          <a:xfrm>
            <a:off x="1276350" y="2076450"/>
            <a:ext cx="9639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-v "C:\my-config:/app/config:ro" my-image</a:t>
            </a:r>
          </a:p>
        </p:txBody>
      </p:sp>
      <p:sp>
        <p:nvSpPr>
          <p:cNvPr id="8" name="">
            <a:extLst>
              <a:ext uri="{FF2B5EF4-FFF2-40B4-BE49-F238E27FC236}">
                <ns2:creationId id="{93471F0A-008D-47ED-99E9-F7107CBC5642}"/>
              </a:ext>
            </a:extLst>
          </p:cNvPr>
          <p:cNvSpPr>
            <a:spLocks noGrp="1"/>
          </p:cNvSpPr>
          <p:nvPr/>
        </p:nvSpPr>
        <p:spPr>
          <a:xfrm>
            <a:off x="1714500" y="3390900"/>
            <a:ext cx="3714750" cy="1447800"/>
          </a:xfrm>
          <a:prstGeom prst="roundRect">
            <a:avLst>
              <a:gd name="adj" fmla="val 789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D3CBFF4-7FBF-437E-B537-6FE6CDE9B742}"/>
              </a:ext>
            </a:extLst>
          </p:cNvPr>
          <p:cNvSpPr>
            <a:spLocks noGrp="1"/>
          </p:cNvSpPr>
          <p:nvPr/>
        </p:nvSpPr>
        <p:spPr>
          <a:xfrm>
            <a:off x="1943100" y="35814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:ro</a:t>
            </a:r>
          </a:p>
        </p:txBody>
      </p:sp>
      <p:sp>
        <p:nvSpPr>
          <p:cNvPr id="10" name="">
            <a:extLst>
              <a:ext uri="{FF2B5EF4-FFF2-40B4-BE49-F238E27FC236}">
                <ns2:creationId id="{57EFE118-17E7-4ED8-AE7A-F9FDAAC9948B}"/>
              </a:ext>
            </a:extLst>
          </p:cNvPr>
          <p:cNvSpPr>
            <a:spLocks noGrp="1"/>
          </p:cNvSpPr>
          <p:nvPr/>
        </p:nvSpPr>
        <p:spPr>
          <a:xfrm>
            <a:off x="1943100" y="4095750"/>
            <a:ext cx="3257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read-only。容器只能讀取，不能修改掛載進來的檔案。</a:t>
            </a:r>
          </a:p>
        </p:txBody>
      </p:sp>
      <p:sp>
        <p:nvSpPr>
          <p:cNvPr id="11" name="">
            <a:extLst>
              <a:ext uri="{FF2B5EF4-FFF2-40B4-BE49-F238E27FC236}">
                <ns2:creationId id="{DD3FC156-D5BA-45EE-BC7A-81C253C38437}"/>
              </a:ext>
            </a:extLst>
          </p:cNvPr>
          <p:cNvSpPr>
            <a:spLocks noGrp="1"/>
          </p:cNvSpPr>
          <p:nvPr/>
        </p:nvSpPr>
        <p:spPr>
          <a:xfrm>
            <a:off x="6762750" y="3390900"/>
            <a:ext cx="37147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F913451-59AA-41B9-AF8F-C8C781F601B9}"/>
              </a:ext>
            </a:extLst>
          </p:cNvPr>
          <p:cNvSpPr>
            <a:spLocks noGrp="1"/>
          </p:cNvSpPr>
          <p:nvPr/>
        </p:nvSpPr>
        <p:spPr>
          <a:xfrm>
            <a:off x="6991350" y="35814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適合場景</a:t>
            </a:r>
          </a:p>
        </p:txBody>
      </p:sp>
      <p:sp>
        <p:nvSpPr>
          <p:cNvPr id="13" name="">
            <a:extLst>
              <a:ext uri="{FF2B5EF4-FFF2-40B4-BE49-F238E27FC236}">
                <ns2:creationId id="{AC5AB360-F38E-44FC-A1B8-F1226E674CD8}"/>
              </a:ext>
            </a:extLst>
          </p:cNvPr>
          <p:cNvSpPr>
            <a:spLocks noGrp="1"/>
          </p:cNvSpPr>
          <p:nvPr/>
        </p:nvSpPr>
        <p:spPr>
          <a:xfrm>
            <a:off x="6991350" y="4057650"/>
            <a:ext cx="3257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掛載設定檔、憑證、只讀資料集，避免程式意外覆寫宿主機檔案。</a:t>
            </a:r>
          </a:p>
        </p:txBody>
      </p:sp>
      <p:sp>
        <p:nvSpPr>
          <p:cNvPr id="14" name="">
            <a:extLst>
              <a:ext uri="{FF2B5EF4-FFF2-40B4-BE49-F238E27FC236}">
                <ns2:creationId id="{BCDA1231-8858-45F6-AD2F-0F488E8C23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9E83DCB-0E8E-4B4B-944A-1A2CE596299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D52F8620-48F4-4865-8172-10AEE8437F8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114146639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797B32F-0239-44A7-9F06-BD73E3BBC6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C1</a:t>
            </a:r>
          </a:p>
        </p:txBody>
      </p:sp>
      <p:sp>
        <p:nvSpPr>
          <p:cNvPr id="2" name="">
            <a:extLst>
              <a:ext uri="{FF2B5EF4-FFF2-40B4-BE49-F238E27FC236}">
                <ns2:creationId id="{0DDECF7D-824F-40E4-B9FB-57EF393648E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C1：唯讀設定檔掛載</a:t>
            </a:r>
          </a:p>
        </p:txBody>
      </p:sp>
      <p:sp>
        <p:nvSpPr>
          <p:cNvPr id="3" name="">
            <a:extLst>
              <a:ext uri="{FF2B5EF4-FFF2-40B4-BE49-F238E27FC236}">
                <ns2:creationId id="{456AF28E-96ED-4C68-A4A5-B49133A241D6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6667500" cy="2476500"/>
          </a:xfrm>
          <a:prstGeom prst="roundRect">
            <a:avLst>
              <a:gd name="adj" fmla="val 384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14ECBCB-FB39-4ED6-AEA1-1DD199FAF6D0}"/>
              </a:ext>
            </a:extLst>
          </p:cNvPr>
          <p:cNvSpPr>
            <a:spLocks noGrp="1"/>
          </p:cNvSpPr>
          <p:nvPr/>
        </p:nvSpPr>
        <p:spPr>
          <a:xfrm>
            <a:off x="9906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88FD85D-CCB2-4DF9-828F-AD8BDEE69CA1}"/>
              </a:ext>
            </a:extLst>
          </p:cNvPr>
          <p:cNvSpPr>
            <a:spLocks noGrp="1"/>
          </p:cNvSpPr>
          <p:nvPr/>
        </p:nvSpPr>
        <p:spPr>
          <a:xfrm>
            <a:off x="11620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CE21DD35-3206-4D2C-B029-2D029A61B04B}"/>
              </a:ext>
            </a:extLst>
          </p:cNvPr>
          <p:cNvSpPr>
            <a:spLocks noGrp="1"/>
          </p:cNvSpPr>
          <p:nvPr/>
        </p:nvSpPr>
        <p:spPr>
          <a:xfrm>
            <a:off x="13335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82571EC-4278-4719-860B-FD7ECEA746B4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6248400" cy="1924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\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"${PWD}\config:/config:ro" alpine 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/config/app.conf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"debug=true" &gt;&gt; /config/app.conf</a:t>
            </a:r>
          </a:p>
        </p:txBody>
      </p:sp>
      <p:sp>
        <p:nvSpPr>
          <p:cNvPr id="8" name="">
            <a:extLst>
              <a:ext uri="{FF2B5EF4-FFF2-40B4-BE49-F238E27FC236}">
                <ns2:creationId id="{260D3C70-AD91-4783-8045-6EA01A755945}"/>
              </a:ext>
            </a:extLst>
          </p:cNvPr>
          <p:cNvSpPr>
            <a:spLocks noGrp="1"/>
          </p:cNvSpPr>
          <p:nvPr/>
        </p:nvSpPr>
        <p:spPr>
          <a:xfrm>
            <a:off x="8001000" y="179070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1168AEF-CA31-471F-ACA3-AFFEBBF1E898}"/>
              </a:ext>
            </a:extLst>
          </p:cNvPr>
          <p:cNvSpPr>
            <a:spLocks noGrp="1"/>
          </p:cNvSpPr>
          <p:nvPr/>
        </p:nvSpPr>
        <p:spPr>
          <a:xfrm>
            <a:off x="8229600" y="19812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預期結果</a:t>
            </a:r>
          </a:p>
        </p:txBody>
      </p:sp>
      <p:sp>
        <p:nvSpPr>
          <p:cNvPr id="10" name="">
            <a:extLst>
              <a:ext uri="{FF2B5EF4-FFF2-40B4-BE49-F238E27FC236}">
                <ns2:creationId id="{457D4027-6F78-49F6-A6B6-8348F054A43E}"/>
              </a:ext>
            </a:extLst>
          </p:cNvPr>
          <p:cNvSpPr>
            <a:spLocks noGrp="1"/>
          </p:cNvSpPr>
          <p:nvPr/>
        </p:nvSpPr>
        <p:spPr>
          <a:xfrm>
            <a:off x="8229600" y="2457450"/>
            <a:ext cx="24003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81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可以讀檔。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寫入會失敗，因為 :ro 是 read-only。</a:t>
            </a:r>
          </a:p>
        </p:txBody>
      </p:sp>
      <p:sp>
        <p:nvSpPr>
          <p:cNvPr id="11" name="">
            <a:extLst>
              <a:ext uri="{FF2B5EF4-FFF2-40B4-BE49-F238E27FC236}">
                <ns2:creationId id="{AF85BD95-1DC1-4865-BE30-61D1B973B6A2}"/>
              </a:ext>
            </a:extLst>
          </p:cNvPr>
          <p:cNvSpPr>
            <a:spLocks noGrp="1"/>
          </p:cNvSpPr>
          <p:nvPr/>
        </p:nvSpPr>
        <p:spPr>
          <a:xfrm>
            <a:off x="1485900" y="50673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適合搭配講義附錄的唯讀掛載指令操作。</a:t>
            </a:r>
          </a:p>
        </p:txBody>
      </p:sp>
      <p:sp>
        <p:nvSpPr>
          <p:cNvPr id="12" name="">
            <a:extLst>
              <a:ext uri="{FF2B5EF4-FFF2-40B4-BE49-F238E27FC236}">
                <ns2:creationId id="{1B188988-033B-4B31-A51C-265A640815F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81B97747-5072-407F-88D8-6183989E46F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>
              <a:ext uri="{FF2B5EF4-FFF2-40B4-BE49-F238E27FC236}">
                <ns2:creationId id="{1D3BA32A-6069-45B9-8457-9234D4F4805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2030799586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BC55781-741D-4296-B4B9-E9AABCA224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SYNC LAB</a:t>
            </a:r>
          </a:p>
        </p:txBody>
      </p:sp>
      <p:sp>
        <p:nvSpPr>
          <p:cNvPr id="2" name="">
            <a:extLst>
              <a:ext uri="{FF2B5EF4-FFF2-40B4-BE49-F238E27FC236}">
                <ns2:creationId id="{9E9F25F0-F8A4-4889-8C91-73776599E7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實作：Nginx + Bind Mount 同步網頁</a:t>
            </a:r>
          </a:p>
        </p:txBody>
      </p:sp>
      <p:sp>
        <p:nvSpPr>
          <p:cNvPr id="3" name="">
            <a:extLst>
              <a:ext uri="{FF2B5EF4-FFF2-40B4-BE49-F238E27FC236}">
                <ns2:creationId id="{4832BCCC-B8F0-4892-8B5C-1910A1A5923E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D52F3AD-6C84-4C2E-AE01-4AF310DBA222}"/>
              </a:ext>
            </a:extLst>
          </p:cNvPr>
          <p:cNvSpPr>
            <a:spLocks noGrp="1"/>
          </p:cNvSpPr>
          <p:nvPr/>
        </p:nvSpPr>
        <p:spPr>
          <a:xfrm>
            <a:off x="9525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C598FB13-F48A-4C3B-A08D-374176192A87}"/>
              </a:ext>
            </a:extLst>
          </p:cNvPr>
          <p:cNvSpPr>
            <a:spLocks noGrp="1"/>
          </p:cNvSpPr>
          <p:nvPr/>
        </p:nvSpPr>
        <p:spPr>
          <a:xfrm>
            <a:off x="13525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建立資料夾</a:t>
            </a:r>
          </a:p>
        </p:txBody>
      </p:sp>
      <p:sp>
        <p:nvSpPr>
          <p:cNvPr id="6" name="">
            <a:extLst>
              <a:ext uri="{FF2B5EF4-FFF2-40B4-BE49-F238E27FC236}">
                <ns2:creationId id="{7AD36253-6659-46F1-A522-2220D92CBB0F}"/>
              </a:ext>
            </a:extLst>
          </p:cNvPr>
          <p:cNvSpPr>
            <a:spLocks noGrp="1"/>
          </p:cNvSpPr>
          <p:nvPr/>
        </p:nvSpPr>
        <p:spPr>
          <a:xfrm>
            <a:off x="9715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</p:txBody>
      </p:sp>
      <p:sp>
        <p:nvSpPr>
          <p:cNvPr id="7" name="">
            <a:extLst>
              <a:ext uri="{FF2B5EF4-FFF2-40B4-BE49-F238E27FC236}">
                <ns2:creationId id="{E5E97BEF-8F9B-40F7-9D54-09ED8D5996D8}"/>
              </a:ext>
            </a:extLst>
          </p:cNvPr>
          <p:cNvSpPr>
            <a:spLocks noGrp="1"/>
          </p:cNvSpPr>
          <p:nvPr/>
        </p:nvSpPr>
        <p:spPr>
          <a:xfrm>
            <a:off x="31051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8A622FFA-AB83-4CDD-A03F-5E72DDECCAF3}"/>
              </a:ext>
            </a:extLst>
          </p:cNvPr>
          <p:cNvSpPr>
            <a:spLocks noGrp="1"/>
          </p:cNvSpPr>
          <p:nvPr/>
        </p:nvSpPr>
        <p:spPr>
          <a:xfrm>
            <a:off x="35052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FCF6562-51D6-4CA4-A43E-AFAE472B2F35}"/>
              </a:ext>
            </a:extLst>
          </p:cNvPr>
          <p:cNvSpPr>
            <a:spLocks noGrp="1"/>
          </p:cNvSpPr>
          <p:nvPr/>
        </p:nvSpPr>
        <p:spPr>
          <a:xfrm>
            <a:off x="37338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B42DF4B6-4A70-46B9-B9FE-910DCF9E1F66}"/>
              </a:ext>
            </a:extLst>
          </p:cNvPr>
          <p:cNvSpPr>
            <a:spLocks noGrp="1"/>
          </p:cNvSpPr>
          <p:nvPr/>
        </p:nvSpPr>
        <p:spPr>
          <a:xfrm>
            <a:off x="41338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放 index.html</a:t>
            </a:r>
          </a:p>
        </p:txBody>
      </p:sp>
      <p:sp>
        <p:nvSpPr>
          <p:cNvPr id="11" name="">
            <a:extLst>
              <a:ext uri="{FF2B5EF4-FFF2-40B4-BE49-F238E27FC236}">
                <ns2:creationId id="{C2B87DD6-3D58-41CF-9BBC-804DC8D37168}"/>
              </a:ext>
            </a:extLst>
          </p:cNvPr>
          <p:cNvSpPr>
            <a:spLocks noGrp="1"/>
          </p:cNvSpPr>
          <p:nvPr/>
        </p:nvSpPr>
        <p:spPr>
          <a:xfrm>
            <a:off x="37528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寫入 Hello Volume 內容</a:t>
            </a:r>
          </a:p>
        </p:txBody>
      </p:sp>
      <p:sp>
        <p:nvSpPr>
          <p:cNvPr id="12" name="">
            <a:extLst>
              <a:ext uri="{FF2B5EF4-FFF2-40B4-BE49-F238E27FC236}">
                <ns2:creationId id="{E6CB3918-D3B2-4499-B5FE-B7EB50A4E417}"/>
              </a:ext>
            </a:extLst>
          </p:cNvPr>
          <p:cNvSpPr>
            <a:spLocks noGrp="1"/>
          </p:cNvSpPr>
          <p:nvPr/>
        </p:nvSpPr>
        <p:spPr>
          <a:xfrm>
            <a:off x="58864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D6B41B87-C960-44B6-87F2-1F06D836E0EB}"/>
              </a:ext>
            </a:extLst>
          </p:cNvPr>
          <p:cNvSpPr>
            <a:spLocks noGrp="1"/>
          </p:cNvSpPr>
          <p:nvPr/>
        </p:nvSpPr>
        <p:spPr>
          <a:xfrm>
            <a:off x="62865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1DA1BF6E-5F74-4237-8BD3-C2AB40E8E8FB}"/>
              </a:ext>
            </a:extLst>
          </p:cNvPr>
          <p:cNvSpPr>
            <a:spLocks noGrp="1"/>
          </p:cNvSpPr>
          <p:nvPr/>
        </p:nvSpPr>
        <p:spPr>
          <a:xfrm>
            <a:off x="65151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>
              <a:ext uri="{FF2B5EF4-FFF2-40B4-BE49-F238E27FC236}">
                <ns2:creationId id="{7CD2B238-BB89-4D4A-8B08-2B09A8939A3C}"/>
              </a:ext>
            </a:extLst>
          </p:cNvPr>
          <p:cNvSpPr>
            <a:spLocks noGrp="1"/>
          </p:cNvSpPr>
          <p:nvPr/>
        </p:nvSpPr>
        <p:spPr>
          <a:xfrm>
            <a:off x="69151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Nginx</a:t>
            </a:r>
          </a:p>
        </p:txBody>
      </p:sp>
      <p:sp>
        <p:nvSpPr>
          <p:cNvPr id="16" name="">
            <a:extLst>
              <a:ext uri="{FF2B5EF4-FFF2-40B4-BE49-F238E27FC236}">
                <ns2:creationId id="{B3E76BD4-ED0B-469A-AFE7-5C942BC9B52A}"/>
              </a:ext>
            </a:extLst>
          </p:cNvPr>
          <p:cNvSpPr>
            <a:spLocks noGrp="1"/>
          </p:cNvSpPr>
          <p:nvPr/>
        </p:nvSpPr>
        <p:spPr>
          <a:xfrm>
            <a:off x="65341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-v "...:/usr/share/nginx/html"</a:t>
            </a:r>
          </a:p>
        </p:txBody>
      </p:sp>
      <p:sp>
        <p:nvSpPr>
          <p:cNvPr id="17" name="">
            <a:extLst>
              <a:ext uri="{FF2B5EF4-FFF2-40B4-BE49-F238E27FC236}">
                <ns2:creationId id="{2E817B2F-DB22-462C-B17B-41CFABE72E8B}"/>
              </a:ext>
            </a:extLst>
          </p:cNvPr>
          <p:cNvSpPr>
            <a:spLocks noGrp="1"/>
          </p:cNvSpPr>
          <p:nvPr/>
        </p:nvSpPr>
        <p:spPr>
          <a:xfrm>
            <a:off x="86677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9A999A8-3500-4A10-BD16-8A738D25CB2D}"/>
              </a:ext>
            </a:extLst>
          </p:cNvPr>
          <p:cNvSpPr>
            <a:spLocks noGrp="1"/>
          </p:cNvSpPr>
          <p:nvPr/>
        </p:nvSpPr>
        <p:spPr>
          <a:xfrm>
            <a:off x="90678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8CD07EFF-C561-48AF-B906-59C16FC0478D}"/>
              </a:ext>
            </a:extLst>
          </p:cNvPr>
          <p:cNvSpPr>
            <a:spLocks noGrp="1"/>
          </p:cNvSpPr>
          <p:nvPr/>
        </p:nvSpPr>
        <p:spPr>
          <a:xfrm>
            <a:off x="92964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>
              <a:ext uri="{FF2B5EF4-FFF2-40B4-BE49-F238E27FC236}">
                <ns2:creationId id="{F00582C1-3637-4532-BE87-8176BF7175A5}"/>
              </a:ext>
            </a:extLst>
          </p:cNvPr>
          <p:cNvSpPr>
            <a:spLocks noGrp="1"/>
          </p:cNvSpPr>
          <p:nvPr/>
        </p:nvSpPr>
        <p:spPr>
          <a:xfrm>
            <a:off x="96964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934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修改宿主機檔案</a:t>
            </a:r>
          </a:p>
        </p:txBody>
      </p:sp>
      <p:sp>
        <p:nvSpPr>
          <p:cNvPr id="21" name="">
            <a:extLst>
              <a:ext uri="{FF2B5EF4-FFF2-40B4-BE49-F238E27FC236}">
                <ns2:creationId id="{239A3F0F-8ED1-46D0-BD5F-29FC145B856A}"/>
              </a:ext>
            </a:extLst>
          </p:cNvPr>
          <p:cNvSpPr>
            <a:spLocks noGrp="1"/>
          </p:cNvSpPr>
          <p:nvPr/>
        </p:nvSpPr>
        <p:spPr>
          <a:xfrm>
            <a:off x="93154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瀏覽器 F5 馬上看到變更</a:t>
            </a:r>
          </a:p>
        </p:txBody>
      </p:sp>
      <p:sp>
        <p:nvSpPr>
          <p:cNvPr id="22" name="">
            <a:extLst>
              <a:ext uri="{FF2B5EF4-FFF2-40B4-BE49-F238E27FC236}">
                <ns2:creationId id="{BABF57EF-2972-437D-98AD-96E0A96DFFE8}"/>
              </a:ext>
            </a:extLst>
          </p:cNvPr>
          <p:cNvSpPr>
            <a:spLocks noGrp="1"/>
          </p:cNvSpPr>
          <p:nvPr/>
        </p:nvSpPr>
        <p:spPr>
          <a:xfrm>
            <a:off x="1428750" y="4495800"/>
            <a:ext cx="93345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3" name="">
            <a:extLst>
              <a:ext uri="{FF2B5EF4-FFF2-40B4-BE49-F238E27FC236}">
                <ns2:creationId id="{4B2EFCB5-5655-4F1F-9767-D46528AEDF35}"/>
              </a:ext>
            </a:extLst>
          </p:cNvPr>
          <p:cNvSpPr>
            <a:spLocks noGrp="1"/>
          </p:cNvSpPr>
          <p:nvPr/>
        </p:nvSpPr>
        <p:spPr>
          <a:xfrm>
            <a:off x="1600200" y="4657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EAD28DA7-930B-4D28-9EDD-9EF049782F1D}"/>
              </a:ext>
            </a:extLst>
          </p:cNvPr>
          <p:cNvSpPr>
            <a:spLocks noGrp="1"/>
          </p:cNvSpPr>
          <p:nvPr/>
        </p:nvSpPr>
        <p:spPr>
          <a:xfrm>
            <a:off x="1771650" y="4657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2E18F97E-F68C-451A-9FAD-47C11485A912}"/>
              </a:ext>
            </a:extLst>
          </p:cNvPr>
          <p:cNvSpPr>
            <a:spLocks noGrp="1"/>
          </p:cNvSpPr>
          <p:nvPr/>
        </p:nvSpPr>
        <p:spPr>
          <a:xfrm>
            <a:off x="1943100" y="4657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89F6EF5-EE1E-4829-811B-BC5A75A2899C}"/>
              </a:ext>
            </a:extLst>
          </p:cNvPr>
          <p:cNvSpPr>
            <a:spLocks noGrp="1"/>
          </p:cNvSpPr>
          <p:nvPr/>
        </p:nvSpPr>
        <p:spPr>
          <a:xfrm>
            <a:off x="1638300" y="4914900"/>
            <a:ext cx="8915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volume-demo -p 8080:80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"C:\docker-lab\volume-test:/usr/share/nginx/html" nginx</a:t>
            </a:r>
          </a:p>
        </p:txBody>
      </p:sp>
      <p:sp>
        <p:nvSpPr>
          <p:cNvPr id="27" name="">
            <a:extLst>
              <a:ext uri="{FF2B5EF4-FFF2-40B4-BE49-F238E27FC236}">
                <ns2:creationId id="{58528292-8C2D-4F7D-99C7-447773AB506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F7B8D1CF-67E6-4610-944A-E24B235F2E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9" name="">
            <a:extLst>
              <a:ext uri="{FF2B5EF4-FFF2-40B4-BE49-F238E27FC236}">
                <ns2:creationId id="{F20A753B-DD95-4D98-BD42-833DF0A03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930239888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695254E-E09F-4EA9-BB40-CF1CAD90358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C2</a:t>
            </a:r>
          </a:p>
        </p:txBody>
      </p:sp>
      <p:sp>
        <p:nvSpPr>
          <p:cNvPr id="2" name="">
            <a:extLst>
              <a:ext uri="{FF2B5EF4-FFF2-40B4-BE49-F238E27FC236}">
                <ns2:creationId id="{932F240C-E805-4B9D-BB96-F9CCC6731F9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C2：同時跑兩個 Nginx</a:t>
            </a:r>
          </a:p>
        </p:txBody>
      </p:sp>
      <p:sp>
        <p:nvSpPr>
          <p:cNvPr id="3" name="">
            <a:extLst>
              <a:ext uri="{FF2B5EF4-FFF2-40B4-BE49-F238E27FC236}">
                <ns2:creationId id="{8B3B77CF-39FD-487D-A125-47C1356501FF}"/>
              </a:ext>
            </a:extLst>
          </p:cNvPr>
          <p:cNvSpPr>
            <a:spLocks noGrp="1"/>
          </p:cNvSpPr>
          <p:nvPr/>
        </p:nvSpPr>
        <p:spPr>
          <a:xfrm>
            <a:off x="742950" y="1466850"/>
            <a:ext cx="10706100" cy="2190750"/>
          </a:xfrm>
          <a:prstGeom prst="roundRect">
            <a:avLst>
              <a:gd name="adj" fmla="val 434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8889C977-4167-4E02-8A3C-6E6AAE41B8FC}"/>
              </a:ext>
            </a:extLst>
          </p:cNvPr>
          <p:cNvSpPr>
            <a:spLocks noGrp="1"/>
          </p:cNvSpPr>
          <p:nvPr/>
        </p:nvSpPr>
        <p:spPr>
          <a:xfrm>
            <a:off x="91440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676CBE4-B252-41D2-964E-AF19BA1822C0}"/>
              </a:ext>
            </a:extLst>
          </p:cNvPr>
          <p:cNvSpPr>
            <a:spLocks noGrp="1"/>
          </p:cNvSpPr>
          <p:nvPr/>
        </p:nvSpPr>
        <p:spPr>
          <a:xfrm>
            <a:off x="108585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1C21685-7B41-4D64-ACBF-F2F043E7D349}"/>
              </a:ext>
            </a:extLst>
          </p:cNvPr>
          <p:cNvSpPr>
            <a:spLocks noGrp="1"/>
          </p:cNvSpPr>
          <p:nvPr/>
        </p:nvSpPr>
        <p:spPr>
          <a:xfrm>
            <a:off x="125730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047AB6F-7C38-4964-A8E0-26A6BA20E64D}"/>
              </a:ext>
            </a:extLst>
          </p:cNvPr>
          <p:cNvSpPr>
            <a:spLocks noGrp="1"/>
          </p:cNvSpPr>
          <p:nvPr/>
        </p:nvSpPr>
        <p:spPr>
          <a:xfrm>
            <a:off x="952500" y="1885950"/>
            <a:ext cx="1028700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nginx-a -p 8082:80 \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"${PWD}\site-a:/usr/share/nginx/html:ro"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 -p 8083:80 \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"${PWD}\site-b:/usr/share/nginx/html:ro" nginx</a:t>
            </a:r>
          </a:p>
        </p:txBody>
      </p:sp>
      <p:sp>
        <p:nvSpPr>
          <p:cNvPr id="8" name="">
            <a:extLst>
              <a:ext uri="{FF2B5EF4-FFF2-40B4-BE49-F238E27FC236}">
                <ns2:creationId id="{9C528420-D5B6-424C-9B03-E81268A036DA}"/>
              </a:ext>
            </a:extLst>
          </p:cNvPr>
          <p:cNvSpPr>
            <a:spLocks noGrp="1"/>
          </p:cNvSpPr>
          <p:nvPr/>
        </p:nvSpPr>
        <p:spPr>
          <a:xfrm>
            <a:off x="142875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003A585-C56A-4025-8BE3-99120190EB92}"/>
              </a:ext>
            </a:extLst>
          </p:cNvPr>
          <p:cNvSpPr>
            <a:spLocks noGrp="1"/>
          </p:cNvSpPr>
          <p:nvPr/>
        </p:nvSpPr>
        <p:spPr>
          <a:xfrm>
            <a:off x="165735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名字不同</a:t>
            </a:r>
          </a:p>
        </p:txBody>
      </p:sp>
      <p:sp>
        <p:nvSpPr>
          <p:cNvPr id="10" name="">
            <a:extLst>
              <a:ext uri="{FF2B5EF4-FFF2-40B4-BE49-F238E27FC236}">
                <ns2:creationId id="{28821B33-7809-47D1-BA1F-3FB636D51B04}"/>
              </a:ext>
            </a:extLst>
          </p:cNvPr>
          <p:cNvSpPr>
            <a:spLocks noGrp="1"/>
          </p:cNvSpPr>
          <p:nvPr/>
        </p:nvSpPr>
        <p:spPr>
          <a:xfrm>
            <a:off x="165735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nginx-a / nginx-b</a:t>
            </a:r>
          </a:p>
        </p:txBody>
      </p:sp>
      <p:sp>
        <p:nvSpPr>
          <p:cNvPr id="11" name="">
            <a:extLst>
              <a:ext uri="{FF2B5EF4-FFF2-40B4-BE49-F238E27FC236}">
                <ns2:creationId id="{6C68A5F1-9780-4476-BD5C-1C4B0C47FA85}"/>
              </a:ext>
            </a:extLst>
          </p:cNvPr>
          <p:cNvSpPr>
            <a:spLocks noGrp="1"/>
          </p:cNvSpPr>
          <p:nvPr/>
        </p:nvSpPr>
        <p:spPr>
          <a:xfrm>
            <a:off x="457200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80DCDEDE-9E70-4214-A24B-B73EA47C291D}"/>
              </a:ext>
            </a:extLst>
          </p:cNvPr>
          <p:cNvSpPr>
            <a:spLocks noGrp="1"/>
          </p:cNvSpPr>
          <p:nvPr/>
        </p:nvSpPr>
        <p:spPr>
          <a:xfrm>
            <a:off x="480060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 不同</a:t>
            </a:r>
          </a:p>
        </p:txBody>
      </p:sp>
      <p:sp>
        <p:nvSpPr>
          <p:cNvPr id="13" name="">
            <a:extLst>
              <a:ext uri="{FF2B5EF4-FFF2-40B4-BE49-F238E27FC236}">
                <ns2:creationId id="{20D98CCC-AB89-4F09-BEF4-D4A650554521}"/>
              </a:ext>
            </a:extLst>
          </p:cNvPr>
          <p:cNvSpPr>
            <a:spLocks noGrp="1"/>
          </p:cNvSpPr>
          <p:nvPr/>
        </p:nvSpPr>
        <p:spPr>
          <a:xfrm>
            <a:off x="480060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8082 / 8083</a:t>
            </a:r>
          </a:p>
        </p:txBody>
      </p:sp>
      <p:sp>
        <p:nvSpPr>
          <p:cNvPr id="14" name="">
            <a:extLst>
              <a:ext uri="{FF2B5EF4-FFF2-40B4-BE49-F238E27FC236}">
                <ns2:creationId id="{9FBBBDCA-0B01-410C-AE10-64082C006E74}"/>
              </a:ext>
            </a:extLst>
          </p:cNvPr>
          <p:cNvSpPr>
            <a:spLocks noGrp="1"/>
          </p:cNvSpPr>
          <p:nvPr/>
        </p:nvSpPr>
        <p:spPr>
          <a:xfrm>
            <a:off x="771525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F87BFAE7-0932-421A-A6A7-4BFD6A86193E}"/>
              </a:ext>
            </a:extLst>
          </p:cNvPr>
          <p:cNvSpPr>
            <a:spLocks noGrp="1"/>
          </p:cNvSpPr>
          <p:nvPr/>
        </p:nvSpPr>
        <p:spPr>
          <a:xfrm>
            <a:off x="794385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HTML 不同</a:t>
            </a:r>
          </a:p>
        </p:txBody>
      </p:sp>
      <p:sp>
        <p:nvSpPr>
          <p:cNvPr id="16" name="">
            <a:extLst>
              <a:ext uri="{FF2B5EF4-FFF2-40B4-BE49-F238E27FC236}">
                <ns2:creationId id="{DFF05AF0-D964-4C8B-8188-C52C058CFF80}"/>
              </a:ext>
            </a:extLst>
          </p:cNvPr>
          <p:cNvSpPr>
            <a:spLocks noGrp="1"/>
          </p:cNvSpPr>
          <p:nvPr/>
        </p:nvSpPr>
        <p:spPr>
          <a:xfrm>
            <a:off x="794385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site-a / site-b</a:t>
            </a:r>
          </a:p>
        </p:txBody>
      </p:sp>
      <p:sp>
        <p:nvSpPr>
          <p:cNvPr id="17" name="">
            <a:extLst>
              <a:ext uri="{FF2B5EF4-FFF2-40B4-BE49-F238E27FC236}">
                <ns2:creationId id="{364B401E-CA35-4E81-82F0-8AE748EA6FB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04844281-B357-48EC-92D2-D7D117945F6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4DDA9E49-78FB-46AA-885D-FAEBD29CEE2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ns3:creationId val="740024260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FBD2731-9E78-4CAF-A00C-F20EC03CD3A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FIXES AND CLEANUP</a:t>
            </a:r>
          </a:p>
        </p:txBody>
      </p:sp>
      <p:sp>
        <p:nvSpPr>
          <p:cNvPr id="2" name="">
            <a:extLst>
              <a:ext uri="{FF2B5EF4-FFF2-40B4-BE49-F238E27FC236}">
                <ns2:creationId id="{04884108-C976-43A8-AFF9-28674862D2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常見卡關點與清理</a:t>
            </a:r>
          </a:p>
        </p:txBody>
      </p:sp>
      <p:sp>
        <p:nvSpPr>
          <p:cNvPr id="3" name="">
            <a:extLst>
              <a:ext uri="{FF2B5EF4-FFF2-40B4-BE49-F238E27FC236}">
                <ns2:creationId id="{7B65FA4C-F602-420F-8A40-391DA8770C4F}"/>
              </a:ext>
            </a:extLst>
          </p:cNvPr>
          <p:cNvSpPr>
            <a:spLocks noGrp="1"/>
          </p:cNvSpPr>
          <p:nvPr/>
        </p:nvSpPr>
        <p:spPr>
          <a:xfrm>
            <a:off x="1066800" y="160020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2844F29-3C07-44DE-9035-5AEE38D149AD}"/>
              </a:ext>
            </a:extLst>
          </p:cNvPr>
          <p:cNvSpPr>
            <a:spLocks noGrp="1"/>
          </p:cNvSpPr>
          <p:nvPr/>
        </p:nvSpPr>
        <p:spPr>
          <a:xfrm>
            <a:off x="1295400" y="17907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port 被佔用</a:t>
            </a:r>
          </a:p>
        </p:txBody>
      </p:sp>
      <p:sp>
        <p:nvSpPr>
          <p:cNvPr id="5" name="">
            <a:extLst>
              <a:ext uri="{FF2B5EF4-FFF2-40B4-BE49-F238E27FC236}">
                <ns2:creationId id="{19E69864-A748-465B-8893-3DC0B5E58727}"/>
              </a:ext>
            </a:extLst>
          </p:cNvPr>
          <p:cNvSpPr>
            <a:spLocks noGrp="1"/>
          </p:cNvSpPr>
          <p:nvPr/>
        </p:nvSpPr>
        <p:spPr>
          <a:xfrm>
            <a:off x="1295400" y="219075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換 port 或先關掉佔用 5000/8080 的程式。</a:t>
            </a:r>
          </a:p>
        </p:txBody>
      </p:sp>
      <p:sp>
        <p:nvSpPr>
          <p:cNvPr id="6" name="">
            <a:extLst>
              <a:ext uri="{FF2B5EF4-FFF2-40B4-BE49-F238E27FC236}">
                <ns2:creationId id="{DB25FEB0-BB55-4138-B531-0155D2455EC1}"/>
              </a:ext>
            </a:extLst>
          </p:cNvPr>
          <p:cNvSpPr>
            <a:spLocks noGrp="1"/>
          </p:cNvSpPr>
          <p:nvPr/>
        </p:nvSpPr>
        <p:spPr>
          <a:xfrm>
            <a:off x="6572250" y="160020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22C9C121-710D-4CA6-BE68-E4A5CB3A342C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路徑掛載失敗</a:t>
            </a:r>
          </a:p>
        </p:txBody>
      </p:sp>
      <p:sp>
        <p:nvSpPr>
          <p:cNvPr id="8" name="">
            <a:extLst>
              <a:ext uri="{FF2B5EF4-FFF2-40B4-BE49-F238E27FC236}">
                <ns2:creationId id="{84F6AF86-4255-4CFD-9ACD-4C5BEB44C7F9}"/>
              </a:ext>
            </a:extLst>
          </p:cNvPr>
          <p:cNvSpPr>
            <a:spLocks noGrp="1"/>
          </p:cNvSpPr>
          <p:nvPr/>
        </p:nvSpPr>
        <p:spPr>
          <a:xfrm>
            <a:off x="6800850" y="219075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Windows 路徑用雙引號，確認資料夾真的存在。</a:t>
            </a:r>
          </a:p>
        </p:txBody>
      </p:sp>
      <p:sp>
        <p:nvSpPr>
          <p:cNvPr id="9" name="">
            <a:extLst>
              <a:ext uri="{FF2B5EF4-FFF2-40B4-BE49-F238E27FC236}">
                <ns2:creationId id="{60198838-1214-4FFA-A28E-24740C3E6847}"/>
              </a:ext>
            </a:extLst>
          </p:cNvPr>
          <p:cNvSpPr>
            <a:spLocks noGrp="1"/>
          </p:cNvSpPr>
          <p:nvPr/>
        </p:nvSpPr>
        <p:spPr>
          <a:xfrm>
            <a:off x="1066800" y="337185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0FB6F612-852D-4A70-9E59-3CD7319BE55B}"/>
              </a:ext>
            </a:extLst>
          </p:cNvPr>
          <p:cNvSpPr>
            <a:spLocks noGrp="1"/>
          </p:cNvSpPr>
          <p:nvPr/>
        </p:nvSpPr>
        <p:spPr>
          <a:xfrm>
            <a:off x="1295400" y="35623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bash 不存在</a:t>
            </a:r>
          </a:p>
        </p:txBody>
      </p:sp>
      <p:sp>
        <p:nvSpPr>
          <p:cNvPr id="11" name="">
            <a:extLst>
              <a:ext uri="{FF2B5EF4-FFF2-40B4-BE49-F238E27FC236}">
                <ns2:creationId id="{D3038C91-3FF5-482F-8E0E-FEF5EB8EA503}"/>
              </a:ext>
            </a:extLst>
          </p:cNvPr>
          <p:cNvSpPr>
            <a:spLocks noGrp="1"/>
          </p:cNvSpPr>
          <p:nvPr/>
        </p:nvSpPr>
        <p:spPr>
          <a:xfrm>
            <a:off x="1295400" y="396240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改用 sh，尤其是 nginx、alpine 這類精簡 Image。</a:t>
            </a:r>
          </a:p>
        </p:txBody>
      </p:sp>
      <p:sp>
        <p:nvSpPr>
          <p:cNvPr id="12" name="">
            <a:extLst>
              <a:ext uri="{FF2B5EF4-FFF2-40B4-BE49-F238E27FC236}">
                <ns2:creationId id="{507E31D6-7128-4905-A2F8-606F276FE377}"/>
              </a:ext>
            </a:extLst>
          </p:cNvPr>
          <p:cNvSpPr>
            <a:spLocks noGrp="1"/>
          </p:cNvSpPr>
          <p:nvPr/>
        </p:nvSpPr>
        <p:spPr>
          <a:xfrm>
            <a:off x="6572250" y="337185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AB6B8BC2-82D6-49A3-AB15-B721D59DCE72}"/>
              </a:ext>
            </a:extLst>
          </p:cNvPr>
          <p:cNvSpPr>
            <a:spLocks noGrp="1"/>
          </p:cNvSpPr>
          <p:nvPr/>
        </p:nvSpPr>
        <p:spPr>
          <a:xfrm>
            <a:off x="6800850" y="35623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容器名稱重複</a:t>
            </a:r>
          </a:p>
        </p:txBody>
      </p:sp>
      <p:sp>
        <p:nvSpPr>
          <p:cNvPr id="14" name="">
            <a:extLst>
              <a:ext uri="{FF2B5EF4-FFF2-40B4-BE49-F238E27FC236}">
                <ns2:creationId id="{E7A59FE4-F696-4576-A93E-9D72126C5753}"/>
              </a:ext>
            </a:extLst>
          </p:cNvPr>
          <p:cNvSpPr>
            <a:spLocks noGrp="1"/>
          </p:cNvSpPr>
          <p:nvPr/>
        </p:nvSpPr>
        <p:spPr>
          <a:xfrm>
            <a:off x="6800850" y="396240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 docker rm -f 舊容器，或改用新名稱。</a:t>
            </a:r>
          </a:p>
        </p:txBody>
      </p:sp>
      <p:sp>
        <p:nvSpPr>
          <p:cNvPr id="15" name="">
            <a:extLst>
              <a:ext uri="{FF2B5EF4-FFF2-40B4-BE49-F238E27FC236}">
                <ns2:creationId id="{613E40F4-38F0-4F4E-96D4-2C9A943762F2}"/>
              </a:ext>
            </a:extLst>
          </p:cNvPr>
          <p:cNvSpPr>
            <a:spLocks noGrp="1"/>
          </p:cNvSpPr>
          <p:nvPr/>
        </p:nvSpPr>
        <p:spPr>
          <a:xfrm>
            <a:off x="3086100" y="5219700"/>
            <a:ext cx="6019800" cy="876300"/>
          </a:xfrm>
          <a:prstGeom prst="roundRect">
            <a:avLst>
              <a:gd name="adj" fmla="val 1087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6" name="">
            <a:extLst>
              <a:ext uri="{FF2B5EF4-FFF2-40B4-BE49-F238E27FC236}">
                <ns2:creationId id="{00B49D2A-D044-403E-8045-37A980AA190B}"/>
              </a:ext>
            </a:extLst>
          </p:cNvPr>
          <p:cNvSpPr>
            <a:spLocks noGrp="1"/>
          </p:cNvSpPr>
          <p:nvPr/>
        </p:nvSpPr>
        <p:spPr>
          <a:xfrm>
            <a:off x="3257550" y="538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770BDE5C-D5AB-40DC-8FE0-6D5AD888F1E4}"/>
              </a:ext>
            </a:extLst>
          </p:cNvPr>
          <p:cNvSpPr>
            <a:spLocks noGrp="1"/>
          </p:cNvSpPr>
          <p:nvPr/>
        </p:nvSpPr>
        <p:spPr>
          <a:xfrm>
            <a:off x="3429000" y="538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A7FA8A66-E918-4FB8-B0D4-A67CBE694A98}"/>
              </a:ext>
            </a:extLst>
          </p:cNvPr>
          <p:cNvSpPr>
            <a:spLocks noGrp="1"/>
          </p:cNvSpPr>
          <p:nvPr/>
        </p:nvSpPr>
        <p:spPr>
          <a:xfrm>
            <a:off x="3600450" y="538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AB632C26-4F6C-4B82-BE3B-EB23E53E85CE}"/>
              </a:ext>
            </a:extLst>
          </p:cNvPr>
          <p:cNvSpPr>
            <a:spLocks noGrp="1"/>
          </p:cNvSpPr>
          <p:nvPr/>
        </p:nvSpPr>
        <p:spPr>
          <a:xfrm>
            <a:off x="3295650" y="5638800"/>
            <a:ext cx="560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814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 volume-demo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20" name="">
            <a:extLst>
              <a:ext uri="{FF2B5EF4-FFF2-40B4-BE49-F238E27FC236}">
                <ns2:creationId id="{A603046A-D758-48B8-9598-00E1D4BFC93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2C895B39-C879-4C2E-A135-0D48490C082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2" name="">
            <a:extLst>
              <a:ext uri="{FF2B5EF4-FFF2-40B4-BE49-F238E27FC236}">
                <ns2:creationId id="{F842378E-7AC4-40B2-9088-947A3F28D35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2094701774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F78BF40-6796-4CD7-90AE-4D90EFFB0D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PRACTICE WRAP-UP</a:t>
            </a:r>
          </a:p>
        </p:txBody>
      </p:sp>
      <p:sp>
        <p:nvSpPr>
          <p:cNvPr id="2" name="">
            <a:extLst>
              <a:ext uri="{FF2B5EF4-FFF2-40B4-BE49-F238E27FC236}">
                <ns2:creationId id="{37812C7C-ADBD-4E3A-9624-A4EC1AF4571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完成檢核：第二堂你要能交付什麼</a:t>
            </a:r>
          </a:p>
        </p:txBody>
      </p:sp>
      <p:sp>
        <p:nvSpPr>
          <p:cNvPr id="3" name="">
            <a:extLst>
              <a:ext uri="{FF2B5EF4-FFF2-40B4-BE49-F238E27FC236}">
                <ns2:creationId id="{AA10A7ED-8399-4155-9720-6B8E7D05C4F5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44305C84-2FD2-43BC-9A1F-9BCB36596B25}"/>
              </a:ext>
            </a:extLst>
          </p:cNvPr>
          <p:cNvSpPr>
            <a:spLocks noGrp="1"/>
          </p:cNvSpPr>
          <p:nvPr/>
        </p:nvSpPr>
        <p:spPr>
          <a:xfrm>
            <a:off x="1162050" y="1885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>
              <a:ext uri="{FF2B5EF4-FFF2-40B4-BE49-F238E27FC236}">
                <ns2:creationId id="{21DC6A12-EFD6-4F22-AE1A-58A3FD9C9AF5}"/>
              </a:ext>
            </a:extLst>
          </p:cNvPr>
          <p:cNvSpPr>
            <a:spLocks noGrp="1"/>
          </p:cNvSpPr>
          <p:nvPr/>
        </p:nvSpPr>
        <p:spPr>
          <a:xfrm>
            <a:off x="1162050" y="2286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能先分辨 Bind Mount 與 Named Volume，再用 -v 掛載檔案。</a:t>
            </a:r>
          </a:p>
        </p:txBody>
      </p:sp>
      <p:sp>
        <p:nvSpPr>
          <p:cNvPr id="6" name="">
            <a:extLst>
              <a:ext uri="{FF2B5EF4-FFF2-40B4-BE49-F238E27FC236}">
                <ns2:creationId id="{E311E4EB-B359-49D5-BC6A-79228D2BA141}"/>
              </a:ext>
            </a:extLst>
          </p:cNvPr>
          <p:cNvSpPr>
            <a:spLocks noGrp="1"/>
          </p:cNvSpPr>
          <p:nvPr/>
        </p:nvSpPr>
        <p:spPr>
          <a:xfrm>
            <a:off x="6438900" y="16573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6001D2B7-A263-4357-9C91-1EB8FE5F71B1}"/>
              </a:ext>
            </a:extLst>
          </p:cNvPr>
          <p:cNvSpPr>
            <a:spLocks noGrp="1"/>
          </p:cNvSpPr>
          <p:nvPr/>
        </p:nvSpPr>
        <p:spPr>
          <a:xfrm>
            <a:off x="6686550" y="1885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生命週期</a:t>
            </a:r>
          </a:p>
        </p:txBody>
      </p:sp>
      <p:sp>
        <p:nvSpPr>
          <p:cNvPr id="8" name="">
            <a:extLst>
              <a:ext uri="{FF2B5EF4-FFF2-40B4-BE49-F238E27FC236}">
                <ns2:creationId id="{5FC52335-D267-4BF7-B9D9-B897E3E04755}"/>
              </a:ext>
            </a:extLst>
          </p:cNvPr>
          <p:cNvSpPr>
            <a:spLocks noGrp="1"/>
          </p:cNvSpPr>
          <p:nvPr/>
        </p:nvSpPr>
        <p:spPr>
          <a:xfrm>
            <a:off x="6686550" y="2286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ps / logs / exec / stop / start / restart / rm 排查容器。</a:t>
            </a:r>
          </a:p>
        </p:txBody>
      </p:sp>
      <p:sp>
        <p:nvSpPr>
          <p:cNvPr id="9" name="">
            <a:extLst>
              <a:ext uri="{FF2B5EF4-FFF2-40B4-BE49-F238E27FC236}">
                <ns2:creationId id="{20E4A1CD-15F7-4C3D-84A8-0D7CCDDB1C7D}"/>
              </a:ext>
            </a:extLst>
          </p:cNvPr>
          <p:cNvSpPr>
            <a:spLocks noGrp="1"/>
          </p:cNvSpPr>
          <p:nvPr/>
        </p:nvSpPr>
        <p:spPr>
          <a:xfrm>
            <a:off x="914400" y="37528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7BB26A5B-6B5C-4A60-B999-9BBFCBD3D7A1}"/>
              </a:ext>
            </a:extLst>
          </p:cNvPr>
          <p:cNvSpPr>
            <a:spLocks noGrp="1"/>
          </p:cNvSpPr>
          <p:nvPr/>
        </p:nvSpPr>
        <p:spPr>
          <a:xfrm>
            <a:off x="1162050" y="39814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Volume</a:t>
            </a:r>
          </a:p>
        </p:txBody>
      </p:sp>
      <p:sp>
        <p:nvSpPr>
          <p:cNvPr id="11" name="">
            <a:extLst>
              <a:ext uri="{FF2B5EF4-FFF2-40B4-BE49-F238E27FC236}">
                <ns2:creationId id="{005949BE-DD87-45F8-AADA-A10E0D2E10F2}"/>
              </a:ext>
            </a:extLst>
          </p:cNvPr>
          <p:cNvSpPr>
            <a:spLocks noGrp="1"/>
          </p:cNvSpPr>
          <p:nvPr/>
        </p:nvSpPr>
        <p:spPr>
          <a:xfrm>
            <a:off x="1162050" y="43815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Python 容器跑起本機 Flask 專案，並說明 -p 和 -v。</a:t>
            </a:r>
          </a:p>
        </p:txBody>
      </p:sp>
      <p:sp>
        <p:nvSpPr>
          <p:cNvPr id="12" name="">
            <a:extLst>
              <a:ext uri="{FF2B5EF4-FFF2-40B4-BE49-F238E27FC236}">
                <ns2:creationId id="{80D576AA-C508-4B40-9098-CDAECD5A925E}"/>
              </a:ext>
            </a:extLst>
          </p:cNvPr>
          <p:cNvSpPr>
            <a:spLocks noGrp="1"/>
          </p:cNvSpPr>
          <p:nvPr/>
        </p:nvSpPr>
        <p:spPr>
          <a:xfrm>
            <a:off x="6438900" y="37528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FC526543-7FD9-43E8-9E14-58CFFEAD0E9D}"/>
              </a:ext>
            </a:extLst>
          </p:cNvPr>
          <p:cNvSpPr>
            <a:spLocks noGrp="1"/>
          </p:cNvSpPr>
          <p:nvPr/>
        </p:nvSpPr>
        <p:spPr>
          <a:xfrm>
            <a:off x="6686550" y="39814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挑戰</a:t>
            </a:r>
          </a:p>
        </p:txBody>
      </p:sp>
      <p:sp>
        <p:nvSpPr>
          <p:cNvPr id="14" name="">
            <a:extLst>
              <a:ext uri="{FF2B5EF4-FFF2-40B4-BE49-F238E27FC236}">
                <ns2:creationId id="{7DE5EC41-2561-435E-B469-3FEB4D6C2131}"/>
              </a:ext>
            </a:extLst>
          </p:cNvPr>
          <p:cNvSpPr>
            <a:spLocks noGrp="1"/>
          </p:cNvSpPr>
          <p:nvPr/>
        </p:nvSpPr>
        <p:spPr>
          <a:xfrm>
            <a:off x="6686550" y="43815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能完成 :ro 唯讀掛載與兩個 Nginx 同時運行。</a:t>
            </a:r>
          </a:p>
        </p:txBody>
      </p:sp>
      <p:sp>
        <p:nvSpPr>
          <p:cNvPr id="15" name="">
            <a:extLst>
              <a:ext uri="{FF2B5EF4-FFF2-40B4-BE49-F238E27FC236}">
                <ns2:creationId id="{E3B2D58F-99B1-412E-BF08-3BCB9EAFE20E}"/>
              </a:ext>
            </a:extLst>
          </p:cNvPr>
          <p:cNvSpPr>
            <a:spLocks noGrp="1"/>
          </p:cNvSpPr>
          <p:nvPr/>
        </p:nvSpPr>
        <p:spPr>
          <a:xfrm>
            <a:off x="1962150" y="5657850"/>
            <a:ext cx="8267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下一堂：MySQL、Docker Compose 與多容器管理。</a:t>
            </a:r>
          </a:p>
        </p:txBody>
      </p:sp>
      <p:sp>
        <p:nvSpPr>
          <p:cNvPr id="16" name="">
            <a:extLst>
              <a:ext uri="{FF2B5EF4-FFF2-40B4-BE49-F238E27FC236}">
                <ns2:creationId id="{F2F22730-F7D9-4815-A876-331699A844A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EF01ED0F-AA77-4FC9-8CD8-55E7F9D06CB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>
              <a:ext uri="{FF2B5EF4-FFF2-40B4-BE49-F238E27FC236}">
                <ns2:creationId id="{200865E8-A5F1-4694-BA5D-75182606BCB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1936103750"/>
      </p:ext>
    </p:extLst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Bind Mount + Nginx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範例程式碼：Bind Mount + Nginx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C:\docker-lab\volume-test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建立 index.html 後啟動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volume-demo -p 8080:80 -v "C:\docker-lab\volume-test:/usr/share/nginx/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html"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volume-demo sh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/usr/share/nginx/html/index.html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app.py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app.py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'&lt;h1&gt;Hello Docker!&lt;/h1&gt;&lt;p&gt;This is running inside a container.&lt;/p&gt;'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@app.route('/about')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about():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'&lt;h1&gt;About&lt;/h1&gt;&lt;p&gt;This is a Flask app running in Docker.&lt;/p&gt;'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requirements.txt 與啟動容器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範例程式碼：requirements.txt 與啟動容器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 Python 容器並掛載專案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-p 5000:5000 -v "C:\docker-lab\flask-app:/app" -w /app python:3.11 bash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容器生命週期常用指令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範例程式碼：容器生命週期常用指令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啟動已停止的容器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重新啟動容器（等於 stop + start）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2026-06-19T07:49:01.8950000Z</dcterms:created>
  <dcterms:modified xsi:type="dcterms:W3CDTF">2026-06-19T07:49:01.8950000Z</dcterms:modified>
</coreProperties>
</file>