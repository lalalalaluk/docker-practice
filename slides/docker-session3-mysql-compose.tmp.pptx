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>
  <p:sldMasterIdLst>
    <p:sldMasterId id="2147483648" r:id="rId1"/>
  </p:sldMasterIdLst>
  <p:notesMasterIdLst>
    <p:notesMasterId r:id="rId6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76" r:id="rId21"/>
    <p:sldId id="277" r:id="rId2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  <p:sldId id="301" r:id="rId46"/>
    <p:sldId id="302" r:id="rId47"/>
    <p:sldId id="303" r:id="rId48"/>
    <p:sldId id="304" r:id="rId49"/>
    <p:sldId id="305" r:id="rId50"/>
    <p:sldId id="306" r:id="rId51"/>
    <p:sldId id="307" r:id="rId52"/>
    <p:sldId id="308" r:id="rId53"/>
    <p:sldId id="309" r:id="rId54"/>
    <p:sldId id="310" r:id="rId55"/>
    <p:sldId id="311" r:id="rId56"/>
    <p:sldId id="312" r:id="rId57"/>
    <p:sldId id="313" r:id="rId58"/>
    <p:sldId id="314" r:id="rId59"/>
    <p:sldId id="315" r:id="rId60"/>
    <p:sldId id="316" r:id="rId61"/>
    <p:sldId id="317" r:id="rId62"/>
    <p:sldId id="318" r:id="rId63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4" d="100"/>
          <a:sy n="74" d="100"/>
        </p:scale>
        <p:origin x="144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79BAF8CC-A11E-4B41-A4AC-BEAF420C087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7111F"/>
              </a:gs>
              <a:gs pos="52000">
                <a:srgbClr val="123E68"/>
              </a:gs>
              <a:gs pos="100000">
                <a:srgbClr val="2496ED"/>
              </a:gs>
            </a:gsLst>
            <a:lin ang="8100000"/>
          </a:gradFill>
          <a:ln w="0">
            <a:noFill/>
            <a:prstDash val="solid"/>
          </a:ln>
        </p:spPr>
      </p:sp>
      <p:pic>
        <p:nvPicPr>
          <p:cNvPr id="13" name="圖片 12"/>
          <p:cNvPicPr>
            <a:picLocks noChangeAspect="1"/>
          </p:cNvPicPr>
          <p:nvPr/>
        </p:nvPicPr>
        <p:blipFill>
          <a:blip r:embed="rId3"/>
          <a:srcRect l="18968" r="18968"/>
          <a:stretch>
            <a:fillRect/>
          </a:stretch>
        </p:blipFill>
        <p:spPr>
          <a:xfrm>
            <a:off x="4629150" y="0"/>
            <a:ext cx="7562850" cy="6858000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01D6F607-9DF1-4376-A659-533EE507A49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7111F"/>
              </a:gs>
              <a:gs pos="35000">
                <a:srgbClr val="07111F">
                  <a:alpha val="98000"/>
                </a:srgbClr>
              </a:gs>
              <a:gs pos="64000">
                <a:srgbClr val="07111F">
                  <a:alpha val="48000"/>
                </a:srgbClr>
              </a:gs>
              <a:gs pos="100000">
                <a:srgbClr val="07111F">
                  <a:alpha val="6000"/>
                </a:srgbClr>
              </a:gs>
            </a:gsLst>
            <a:lin ang="5400000"/>
          </a:gradFill>
          <a:ln w="0">
            <a:noFill/>
            <a:prstDash val="solid"/>
          </a:ln>
        </p:spPr>
      </p:sp>
      <p:sp>
        <p:nvSpPr>
          <p:cNvPr id="4" name="矩形: 圓角 3">
            <a:extLst>
              <a:ext uri="{FF2B5EF4-FFF2-40B4-BE49-F238E27FC236}">
                <a16:creationId xmlns:a16="http://schemas.microsoft.com/office/drawing/2014/main" id="{BF6BF591-D149-46FE-8B21-8F613E69C0F4}"/>
              </a:ext>
            </a:extLst>
          </p:cNvPr>
          <p:cNvSpPr>
            <a:spLocks noGrp="1"/>
          </p:cNvSpPr>
          <p:nvPr/>
        </p:nvSpPr>
        <p:spPr>
          <a:xfrm>
            <a:off x="685800" y="666750"/>
            <a:ext cx="2133600" cy="323850"/>
          </a:xfrm>
          <a:prstGeom prst="roundRect">
            <a:avLst>
              <a:gd name="adj" fmla="val 50000"/>
            </a:avLst>
          </a:prstGeom>
          <a:solidFill>
            <a:srgbClr val="E8F3FF"/>
          </a:solidFill>
          <a:ln w="9525">
            <a:solidFill>
              <a:srgbClr val="B7DCFF"/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68E6193-FA12-4F3C-BCAD-9B7316512F76}"/>
              </a:ext>
            </a:extLst>
          </p:cNvPr>
          <p:cNvSpPr>
            <a:spLocks noGrp="1"/>
          </p:cNvSpPr>
          <p:nvPr/>
        </p:nvSpPr>
        <p:spPr>
          <a:xfrm>
            <a:off x="762000" y="714375"/>
            <a:ext cx="19812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6000"/>
              </a:lnSpc>
              <a:buNone/>
              <a:defRPr sz="1050" b="1">
                <a:solidFill>
                  <a:srgbClr val="0B5CA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B5CAD"/>
                </a:solidFill>
                <a:latin typeface="Aptos"/>
                <a:ea typeface="Aptos"/>
                <a:cs typeface="Aptos"/>
              </a:rPr>
              <a:t>第 3 堂 | Multi-container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EB42F13-0BF4-4EE2-A7FB-4D0BF71C70EE}"/>
              </a:ext>
            </a:extLst>
          </p:cNvPr>
          <p:cNvSpPr>
            <a:spLocks noGrp="1"/>
          </p:cNvSpPr>
          <p:nvPr/>
        </p:nvSpPr>
        <p:spPr>
          <a:xfrm>
            <a:off x="685800" y="1409700"/>
            <a:ext cx="8096250" cy="1447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2000"/>
              </a:lnSpc>
              <a:buNone/>
              <a:defRPr sz="40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40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MySQL、Docker Compose 與多容器管理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BB0E5B7-E26C-4A7E-BF4F-DEFF9866631F}"/>
              </a:ext>
            </a:extLst>
          </p:cNvPr>
          <p:cNvSpPr>
            <a:spLocks noGrp="1"/>
          </p:cNvSpPr>
          <p:nvPr/>
        </p:nvSpPr>
        <p:spPr>
          <a:xfrm>
            <a:off x="723900" y="3143250"/>
            <a:ext cx="6667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1800" b="0">
                <a:solidFill>
                  <a:srgbClr val="DCEBFF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DCEBFF"/>
                </a:solidFill>
                <a:latin typeface="Aptos"/>
                <a:ea typeface="Aptos"/>
                <a:cs typeface="Aptos"/>
              </a:rPr>
              <a:t>從單一容器，進入資料庫與多服務開發環境。</a:t>
            </a:r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01EDCAFA-44E6-4D62-BF3B-52B489AA847A}"/>
              </a:ext>
            </a:extLst>
          </p:cNvPr>
          <p:cNvSpPr>
            <a:spLocks noGrp="1"/>
          </p:cNvSpPr>
          <p:nvPr/>
        </p:nvSpPr>
        <p:spPr>
          <a:xfrm>
            <a:off x="685800" y="4171950"/>
            <a:ext cx="7810500" cy="1066800"/>
          </a:xfrm>
          <a:prstGeom prst="roundRect">
            <a:avLst>
              <a:gd name="adj" fmla="val 12500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4000"/>
              </a:srgbClr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3FA5798-34B6-4643-8689-3D47C6F7750E}"/>
              </a:ext>
            </a:extLst>
          </p:cNvPr>
          <p:cNvSpPr>
            <a:spLocks noGrp="1"/>
          </p:cNvSpPr>
          <p:nvPr/>
        </p:nvSpPr>
        <p:spPr>
          <a:xfrm>
            <a:off x="990600" y="4457700"/>
            <a:ext cx="7239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7980"/>
          </a:bodyPr>
          <a:lstStyle/>
          <a:p>
            <a:pPr algn="l">
              <a:lnSpc>
                <a:spcPct val="105000"/>
              </a:lnSpc>
              <a:buNone/>
              <a:defRPr sz="17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今天完成：跑起 MySQL、保存資料、用 compose.yaml 一次管理多個服務。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3E8AD43-5323-4B3C-8FD3-4195D2E2589F}"/>
              </a:ext>
            </a:extLst>
          </p:cNvPr>
          <p:cNvSpPr>
            <a:spLocks noGrp="1"/>
          </p:cNvSpPr>
          <p:nvPr/>
        </p:nvSpPr>
        <p:spPr>
          <a:xfrm>
            <a:off x="9620250" y="6000750"/>
            <a:ext cx="1619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106000"/>
              </a:lnSpc>
              <a:buNone/>
              <a:defRPr sz="1050" b="0">
                <a:solidFill>
                  <a:srgbClr val="DCEBFF"/>
                </a:solidFill>
                <a:latin typeface="Aptos"/>
                <a:ea typeface="Aptos"/>
                <a:cs typeface="Aptos"/>
              </a:defRPr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409269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>
            <a:extLst>
              <a:ext uri="{FF2B5EF4-FFF2-40B4-BE49-F238E27FC236}">
                <a16:creationId xmlns:a16="http://schemas.microsoft.com/office/drawing/2014/main" id="{B34F06D7-789F-4A23-A029-BC561ACDBD71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619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900" b="1">
                <a:solidFill>
                  <a:srgbClr val="0B5CA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5CAD"/>
                </a:solidFill>
                <a:latin typeface="Aptos"/>
                <a:ea typeface="Aptos"/>
                <a:cs typeface="Aptos"/>
              </a:rPr>
              <a:t>LEARNING MAP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26BA731-CCCA-4AD1-B7A2-04A2F07EFB0A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9906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28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三小時課程節奏</a:t>
            </a: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937B5D27-67B3-41F4-94C7-3456D934EC58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3238500" cy="314325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4" name="橢圓 3">
            <a:extLst>
              <a:ext uri="{FF2B5EF4-FFF2-40B4-BE49-F238E27FC236}">
                <a16:creationId xmlns:a16="http://schemas.microsoft.com/office/drawing/2014/main" id="{203D4BE2-AD85-49AA-A1FB-BC499C3DE621}"/>
              </a:ext>
            </a:extLst>
          </p:cNvPr>
          <p:cNvSpPr>
            <a:spLocks noGrp="1"/>
          </p:cNvSpPr>
          <p:nvPr/>
        </p:nvSpPr>
        <p:spPr>
          <a:xfrm>
            <a:off x="838200" y="1943100"/>
            <a:ext cx="514350" cy="514350"/>
          </a:xfrm>
          <a:prstGeom prst="ellipse">
            <a:avLst/>
          </a:prstGeom>
          <a:solidFill>
            <a:srgbClr val="FFF6DD"/>
          </a:solidFill>
          <a:ln w="9525">
            <a:solidFill>
              <a:srgbClr val="B45309"/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146FB1B-B3E2-437B-ACF7-3CE54206F277}"/>
              </a:ext>
            </a:extLst>
          </p:cNvPr>
          <p:cNvSpPr>
            <a:spLocks noGrp="1"/>
          </p:cNvSpPr>
          <p:nvPr/>
        </p:nvSpPr>
        <p:spPr>
          <a:xfrm>
            <a:off x="838200" y="2057400"/>
            <a:ext cx="514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5707"/>
          </a:bodyPr>
          <a:lstStyle/>
          <a:p>
            <a:pPr algn="ctr">
              <a:lnSpc>
                <a:spcPct val="106000"/>
              </a:lnSpc>
              <a:buNone/>
              <a:defRPr sz="1725" b="1">
                <a:solidFill>
                  <a:srgbClr val="B45309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B45309"/>
                </a:solidFill>
                <a:latin typeface="Aptos Display"/>
                <a:ea typeface="Aptos Display"/>
                <a:cs typeface="Aptos Display"/>
              </a:rPr>
              <a:t>1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4475FFC-9791-42B4-A123-156FB2346B25}"/>
              </a:ext>
            </a:extLst>
          </p:cNvPr>
          <p:cNvSpPr>
            <a:spLocks noGrp="1"/>
          </p:cNvSpPr>
          <p:nvPr/>
        </p:nvSpPr>
        <p:spPr>
          <a:xfrm>
            <a:off x="838200" y="2724150"/>
            <a:ext cx="27432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2025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MySQL 容器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816264B-EAFE-42A2-846E-A2BFDEB6F73F}"/>
              </a:ext>
            </a:extLst>
          </p:cNvPr>
          <p:cNvSpPr>
            <a:spLocks noGrp="1"/>
          </p:cNvSpPr>
          <p:nvPr/>
        </p:nvSpPr>
        <p:spPr>
          <a:xfrm>
            <a:off x="838200" y="3219450"/>
            <a:ext cx="27432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查 Docker Hub 參數，啟動 MySQL，連線並做 CRUD。</a:t>
            </a:r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524BE0D8-0ECB-494C-82F3-8BB6AF520F33}"/>
              </a:ext>
            </a:extLst>
          </p:cNvPr>
          <p:cNvSpPr>
            <a:spLocks noGrp="1"/>
          </p:cNvSpPr>
          <p:nvPr/>
        </p:nvSpPr>
        <p:spPr>
          <a:xfrm>
            <a:off x="838200" y="4305300"/>
            <a:ext cx="1162050" cy="285750"/>
          </a:xfrm>
          <a:prstGeom prst="roundRect">
            <a:avLst>
              <a:gd name="adj" fmla="val 50000"/>
            </a:avLst>
          </a:prstGeom>
          <a:solidFill>
            <a:srgbClr val="FFF6DD"/>
          </a:solidFill>
          <a:ln w="9525">
            <a:solidFill>
              <a:srgbClr val="B45309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483B011-082D-40BD-B526-8734582BD5E3}"/>
              </a:ext>
            </a:extLst>
          </p:cNvPr>
          <p:cNvSpPr>
            <a:spLocks noGrp="1"/>
          </p:cNvSpPr>
          <p:nvPr/>
        </p:nvSpPr>
        <p:spPr>
          <a:xfrm>
            <a:off x="914400" y="4352925"/>
            <a:ext cx="10096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6000"/>
              </a:lnSpc>
              <a:buNone/>
              <a:defRPr sz="975" b="1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45309"/>
                </a:solidFill>
                <a:latin typeface="Aptos"/>
                <a:ea typeface="Aptos"/>
                <a:cs typeface="Aptos"/>
              </a:rPr>
              <a:t>約 1 小時</a:t>
            </a:r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6EAD48E5-36B9-4081-A402-865CD45C06D1}"/>
              </a:ext>
            </a:extLst>
          </p:cNvPr>
          <p:cNvSpPr>
            <a:spLocks noGrp="1"/>
          </p:cNvSpPr>
          <p:nvPr/>
        </p:nvSpPr>
        <p:spPr>
          <a:xfrm>
            <a:off x="4286250" y="1695450"/>
            <a:ext cx="3238500" cy="314325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1" name="橢圓 10">
            <a:extLst>
              <a:ext uri="{FF2B5EF4-FFF2-40B4-BE49-F238E27FC236}">
                <a16:creationId xmlns:a16="http://schemas.microsoft.com/office/drawing/2014/main" id="{3E879886-7B99-414F-8401-4E55F8EC216E}"/>
              </a:ext>
            </a:extLst>
          </p:cNvPr>
          <p:cNvSpPr>
            <a:spLocks noGrp="1"/>
          </p:cNvSpPr>
          <p:nvPr/>
        </p:nvSpPr>
        <p:spPr>
          <a:xfrm>
            <a:off x="4514850" y="1943100"/>
            <a:ext cx="514350" cy="514350"/>
          </a:xfrm>
          <a:prstGeom prst="ellipse">
            <a:avLst/>
          </a:prstGeom>
          <a:solidFill>
            <a:srgbClr val="EEF2FF"/>
          </a:solidFill>
          <a:ln w="9525">
            <a:solidFill>
              <a:srgbClr val="4F46E5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FA5ABFF-337F-4C58-9212-BDD3955F7C99}"/>
              </a:ext>
            </a:extLst>
          </p:cNvPr>
          <p:cNvSpPr>
            <a:spLocks noGrp="1"/>
          </p:cNvSpPr>
          <p:nvPr/>
        </p:nvSpPr>
        <p:spPr>
          <a:xfrm>
            <a:off x="4514850" y="2057400"/>
            <a:ext cx="514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5707"/>
          </a:bodyPr>
          <a:lstStyle/>
          <a:p>
            <a:pPr algn="ctr">
              <a:lnSpc>
                <a:spcPct val="106000"/>
              </a:lnSpc>
              <a:buNone/>
              <a:defRPr sz="1725" b="1">
                <a:solidFill>
                  <a:srgbClr val="4F46E5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4F46E5"/>
                </a:solidFill>
                <a:latin typeface="Aptos Display"/>
                <a:ea typeface="Aptos Display"/>
                <a:cs typeface="Aptos Display"/>
              </a:rPr>
              <a:t>2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2417B24-338C-482C-8986-39EFF8CA1EEC}"/>
              </a:ext>
            </a:extLst>
          </p:cNvPr>
          <p:cNvSpPr>
            <a:spLocks noGrp="1"/>
          </p:cNvSpPr>
          <p:nvPr/>
        </p:nvSpPr>
        <p:spPr>
          <a:xfrm>
            <a:off x="4514850" y="2724150"/>
            <a:ext cx="27432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2025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Docker Compose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FDE4EEB-E7F3-4884-9518-A32B57389E7E}"/>
              </a:ext>
            </a:extLst>
          </p:cNvPr>
          <p:cNvSpPr>
            <a:spLocks noGrp="1"/>
          </p:cNvSpPr>
          <p:nvPr/>
        </p:nvSpPr>
        <p:spPr>
          <a:xfrm>
            <a:off x="4514850" y="3219450"/>
            <a:ext cx="27432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把多個容器設定寫進 compose.yaml，一鍵啟動。</a:t>
            </a:r>
          </a:p>
        </p:txBody>
      </p:sp>
      <p:sp>
        <p:nvSpPr>
          <p:cNvPr id="15" name="矩形: 圓角 14">
            <a:extLst>
              <a:ext uri="{FF2B5EF4-FFF2-40B4-BE49-F238E27FC236}">
                <a16:creationId xmlns:a16="http://schemas.microsoft.com/office/drawing/2014/main" id="{2CA3A8DB-1510-418D-BEDA-F0C25D639689}"/>
              </a:ext>
            </a:extLst>
          </p:cNvPr>
          <p:cNvSpPr>
            <a:spLocks noGrp="1"/>
          </p:cNvSpPr>
          <p:nvPr/>
        </p:nvSpPr>
        <p:spPr>
          <a:xfrm>
            <a:off x="4514850" y="4305300"/>
            <a:ext cx="1162050" cy="285750"/>
          </a:xfrm>
          <a:prstGeom prst="roundRect">
            <a:avLst>
              <a:gd name="adj" fmla="val 50000"/>
            </a:avLst>
          </a:prstGeom>
          <a:solidFill>
            <a:srgbClr val="EEF2FF"/>
          </a:solidFill>
          <a:ln w="9525">
            <a:solidFill>
              <a:srgbClr val="4F46E5"/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89B3C8F-028A-498A-A201-AB7D834105E3}"/>
              </a:ext>
            </a:extLst>
          </p:cNvPr>
          <p:cNvSpPr>
            <a:spLocks noGrp="1"/>
          </p:cNvSpPr>
          <p:nvPr/>
        </p:nvSpPr>
        <p:spPr>
          <a:xfrm>
            <a:off x="4591050" y="4352925"/>
            <a:ext cx="10096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6000"/>
              </a:lnSpc>
              <a:buNone/>
              <a:defRPr sz="975" b="1">
                <a:solidFill>
                  <a:srgbClr val="4F46E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F46E5"/>
                </a:solidFill>
                <a:latin typeface="Aptos"/>
                <a:ea typeface="Aptos"/>
                <a:cs typeface="Aptos"/>
              </a:rPr>
              <a:t>約 1 小時</a:t>
            </a:r>
          </a:p>
        </p:txBody>
      </p:sp>
      <p:sp>
        <p:nvSpPr>
          <p:cNvPr id="17" name="矩形: 圓角 16">
            <a:extLst>
              <a:ext uri="{FF2B5EF4-FFF2-40B4-BE49-F238E27FC236}">
                <a16:creationId xmlns:a16="http://schemas.microsoft.com/office/drawing/2014/main" id="{ABC9131E-883D-4CF5-81D7-1BAB8DAFA2AA}"/>
              </a:ext>
            </a:extLst>
          </p:cNvPr>
          <p:cNvSpPr>
            <a:spLocks noGrp="1"/>
          </p:cNvSpPr>
          <p:nvPr/>
        </p:nvSpPr>
        <p:spPr>
          <a:xfrm>
            <a:off x="7962900" y="1695450"/>
            <a:ext cx="3238500" cy="314325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8" name="橢圓 17">
            <a:extLst>
              <a:ext uri="{FF2B5EF4-FFF2-40B4-BE49-F238E27FC236}">
                <a16:creationId xmlns:a16="http://schemas.microsoft.com/office/drawing/2014/main" id="{DAA681F4-6485-4BFA-8180-1E7D191CE9A7}"/>
              </a:ext>
            </a:extLst>
          </p:cNvPr>
          <p:cNvSpPr>
            <a:spLocks noGrp="1"/>
          </p:cNvSpPr>
          <p:nvPr/>
        </p:nvSpPr>
        <p:spPr>
          <a:xfrm>
            <a:off x="8191500" y="1943100"/>
            <a:ext cx="514350" cy="514350"/>
          </a:xfrm>
          <a:prstGeom prst="ellipse">
            <a:avLst/>
          </a:prstGeom>
          <a:solidFill>
            <a:srgbClr val="E7F8F2"/>
          </a:solidFill>
          <a:ln w="9525">
            <a:solidFill>
              <a:srgbClr val="047857"/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F855E961-F165-4A28-9E1F-D339150AA8BF}"/>
              </a:ext>
            </a:extLst>
          </p:cNvPr>
          <p:cNvSpPr>
            <a:spLocks noGrp="1"/>
          </p:cNvSpPr>
          <p:nvPr/>
        </p:nvSpPr>
        <p:spPr>
          <a:xfrm>
            <a:off x="8191500" y="2057400"/>
            <a:ext cx="514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5707"/>
          </a:bodyPr>
          <a:lstStyle/>
          <a:p>
            <a:pPr algn="ctr">
              <a:lnSpc>
                <a:spcPct val="106000"/>
              </a:lnSpc>
              <a:buNone/>
              <a:defRPr sz="1725" b="1">
                <a:solidFill>
                  <a:srgbClr val="047857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047857"/>
                </a:solidFill>
                <a:latin typeface="Aptos Display"/>
                <a:ea typeface="Aptos Display"/>
                <a:cs typeface="Aptos Display"/>
              </a:rPr>
              <a:t>3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76B858FA-C719-4BD0-BCBA-052994314DDC}"/>
              </a:ext>
            </a:extLst>
          </p:cNvPr>
          <p:cNvSpPr>
            <a:spLocks noGrp="1"/>
          </p:cNvSpPr>
          <p:nvPr/>
        </p:nvSpPr>
        <p:spPr>
          <a:xfrm>
            <a:off x="8191500" y="2724150"/>
            <a:ext cx="27432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2025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多容器實戰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EE275480-66EE-42F5-ACEA-11973F23E7A4}"/>
              </a:ext>
            </a:extLst>
          </p:cNvPr>
          <p:cNvSpPr>
            <a:spLocks noGrp="1"/>
          </p:cNvSpPr>
          <p:nvPr/>
        </p:nvSpPr>
        <p:spPr>
          <a:xfrm>
            <a:off x="8191500" y="3219450"/>
            <a:ext cx="27432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6000"/>
              </a:lnSpc>
              <a:buNone/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Nginx + Flask + MySQL、多版本 MySQL、Docker Hub 探索與清理。</a:t>
            </a:r>
          </a:p>
        </p:txBody>
      </p:sp>
      <p:sp>
        <p:nvSpPr>
          <p:cNvPr id="22" name="矩形: 圓角 21">
            <a:extLst>
              <a:ext uri="{FF2B5EF4-FFF2-40B4-BE49-F238E27FC236}">
                <a16:creationId xmlns:a16="http://schemas.microsoft.com/office/drawing/2014/main" id="{4E560534-4529-4484-8FAD-68CB6BDDB12C}"/>
              </a:ext>
            </a:extLst>
          </p:cNvPr>
          <p:cNvSpPr>
            <a:spLocks noGrp="1"/>
          </p:cNvSpPr>
          <p:nvPr/>
        </p:nvSpPr>
        <p:spPr>
          <a:xfrm>
            <a:off x="8191500" y="4305300"/>
            <a:ext cx="1162050" cy="285750"/>
          </a:xfrm>
          <a:prstGeom prst="roundRect">
            <a:avLst>
              <a:gd name="adj" fmla="val 50000"/>
            </a:avLst>
          </a:prstGeom>
          <a:solidFill>
            <a:srgbClr val="E7F8F2"/>
          </a:solidFill>
          <a:ln w="9525">
            <a:solidFill>
              <a:srgbClr val="047857"/>
            </a:solidFill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5528E40B-8166-48BF-8F2C-667C64348C46}"/>
              </a:ext>
            </a:extLst>
          </p:cNvPr>
          <p:cNvSpPr>
            <a:spLocks noGrp="1"/>
          </p:cNvSpPr>
          <p:nvPr/>
        </p:nvSpPr>
        <p:spPr>
          <a:xfrm>
            <a:off x="8267700" y="4352925"/>
            <a:ext cx="10096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6000"/>
              </a:lnSpc>
              <a:buNone/>
              <a:defRPr sz="975" b="1">
                <a:solidFill>
                  <a:srgbClr val="04785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47857"/>
                </a:solidFill>
                <a:latin typeface="Aptos"/>
                <a:ea typeface="Aptos"/>
                <a:cs typeface="Aptos"/>
              </a:rPr>
              <a:t>約 1 小時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D109D5A4-3BB7-40F1-8F85-40E7A8853EE4}"/>
              </a:ext>
            </a:extLst>
          </p:cNvPr>
          <p:cNvSpPr>
            <a:spLocks noGrp="1"/>
          </p:cNvSpPr>
          <p:nvPr/>
        </p:nvSpPr>
        <p:spPr>
          <a:xfrm>
            <a:off x="876300" y="533400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6000"/>
              </a:lnSpc>
              <a:buNone/>
              <a:defRPr sz="165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這堂課的核心是：服務變多時，不要靠記憶管理長指令，要靠設定檔管理環境。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5E7DC6F5-2ECA-4F81-A444-561AFCF28CB5}"/>
              </a:ext>
            </a:extLst>
          </p:cNvPr>
          <p:cNvSpPr>
            <a:spLocks noGrp="1"/>
          </p:cNvSpPr>
          <p:nvPr/>
        </p:nvSpPr>
        <p:spPr>
          <a:xfrm>
            <a:off x="609600" y="6305550"/>
            <a:ext cx="9906000" cy="13335"/>
          </a:xfrm>
          <a:prstGeom prst="rect">
            <a:avLst/>
          </a:prstGeom>
          <a:solidFill>
            <a:srgbClr val="D9E2EC"/>
          </a:solidFill>
          <a:ln w="0">
            <a:noFill/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7926A291-E480-4889-90BB-EF37789E292D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2762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Docker 基礎教學 | 第 3 堂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E2976B8E-2450-4EDC-92BA-7DBD4F9FD313}"/>
              </a:ext>
            </a:extLst>
          </p:cNvPr>
          <p:cNvSpPr>
            <a:spLocks noGrp="1"/>
          </p:cNvSpPr>
          <p:nvPr/>
        </p:nvSpPr>
        <p:spPr>
          <a:xfrm>
            <a:off x="11010900" y="6381750"/>
            <a:ext cx="571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106000"/>
              </a:lnSpc>
              <a:buNone/>
              <a:defRPr sz="9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4524604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>
            <a:extLst>
              <a:ext uri="{FF2B5EF4-FFF2-40B4-BE49-F238E27FC236}">
                <a16:creationId xmlns:a16="http://schemas.microsoft.com/office/drawing/2014/main" id="{F661F470-52D5-47B4-A0F8-71DB8F90508D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619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900" b="1">
                <a:solidFill>
                  <a:srgbClr val="0B5CA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5CAD"/>
                </a:solidFill>
                <a:latin typeface="Aptos"/>
                <a:ea typeface="Aptos"/>
                <a:cs typeface="Aptos"/>
              </a:rPr>
              <a:t>MYSQL IN DEVELOPMENT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4EC5C02-AD6D-4658-AD29-D60488B1FB9A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9906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28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開發環境很適合用 Docker 跑資料庫</a:t>
            </a: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84091940-2C1B-4AE7-A64C-1EB19223E9A3}"/>
              </a:ext>
            </a:extLst>
          </p:cNvPr>
          <p:cNvSpPr>
            <a:spLocks noGrp="1"/>
          </p:cNvSpPr>
          <p:nvPr/>
        </p:nvSpPr>
        <p:spPr>
          <a:xfrm>
            <a:off x="857250" y="1695450"/>
            <a:ext cx="4400550" cy="219075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8814CE1-9013-479D-9BF9-64A3BF4630AB}"/>
              </a:ext>
            </a:extLst>
          </p:cNvPr>
          <p:cNvSpPr>
            <a:spLocks noGrp="1"/>
          </p:cNvSpPr>
          <p:nvPr/>
        </p:nvSpPr>
        <p:spPr>
          <a:xfrm>
            <a:off x="1085850" y="1885950"/>
            <a:ext cx="3943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2171"/>
          </a:bodyPr>
          <a:lstStyle/>
          <a:p>
            <a:pPr algn="l">
              <a:lnSpc>
                <a:spcPct val="106000"/>
              </a:lnSpc>
              <a:buNone/>
              <a:defRPr sz="2175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傳統安裝 MySQL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331935A-DE10-4807-8E85-422712FB9CDE}"/>
              </a:ext>
            </a:extLst>
          </p:cNvPr>
          <p:cNvSpPr>
            <a:spLocks noGrp="1"/>
          </p:cNvSpPr>
          <p:nvPr/>
        </p:nvSpPr>
        <p:spPr>
          <a:xfrm>
            <a:off x="1085850" y="2476500"/>
            <a:ext cx="3943350" cy="1219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16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下載安裝程式、設定服務、調整密碼與路徑；要移除時還可能留下殘留檔。</a:t>
            </a:r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A6DF5EE0-3A95-466A-9E83-F9358242F704}"/>
              </a:ext>
            </a:extLst>
          </p:cNvPr>
          <p:cNvSpPr>
            <a:spLocks noGrp="1"/>
          </p:cNvSpPr>
          <p:nvPr/>
        </p:nvSpPr>
        <p:spPr>
          <a:xfrm>
            <a:off x="6934200" y="1695450"/>
            <a:ext cx="4400550" cy="2190750"/>
          </a:xfrm>
          <a:prstGeom prst="roundRect">
            <a:avLst>
              <a:gd name="adj" fmla="val 5217"/>
            </a:avLst>
          </a:prstGeom>
          <a:solidFill>
            <a:srgbClr val="FFF6DD"/>
          </a:solidFill>
          <a:ln w="9525">
            <a:solidFill>
              <a:srgbClr val="F59E0B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6FEF763-6D5F-4BB8-ACF6-BF32B2D6A1E6}"/>
              </a:ext>
            </a:extLst>
          </p:cNvPr>
          <p:cNvSpPr>
            <a:spLocks noGrp="1"/>
          </p:cNvSpPr>
          <p:nvPr/>
        </p:nvSpPr>
        <p:spPr>
          <a:xfrm>
            <a:off x="7162800" y="1885950"/>
            <a:ext cx="3943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2171"/>
          </a:bodyPr>
          <a:lstStyle/>
          <a:p>
            <a:pPr algn="l">
              <a:lnSpc>
                <a:spcPct val="106000"/>
              </a:lnSpc>
              <a:buNone/>
              <a:defRPr sz="2175" b="1">
                <a:solidFill>
                  <a:srgbClr val="B45309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B45309"/>
                </a:solidFill>
                <a:latin typeface="Aptos Display"/>
                <a:ea typeface="Aptos Display"/>
                <a:cs typeface="Aptos Display"/>
              </a:rPr>
              <a:t>Docker 跑 MySQL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A9D43EB-D9A5-433A-BC39-A29447D3408D}"/>
              </a:ext>
            </a:extLst>
          </p:cNvPr>
          <p:cNvSpPr>
            <a:spLocks noGrp="1"/>
          </p:cNvSpPr>
          <p:nvPr/>
        </p:nvSpPr>
        <p:spPr>
          <a:xfrm>
            <a:off x="7162800" y="2476500"/>
            <a:ext cx="3943350" cy="1219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16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一行指令啟動；不想要了刪容器。還能同時跑不同版本。</a:t>
            </a:r>
          </a:p>
        </p:txBody>
      </p:sp>
      <p:sp>
        <p:nvSpPr>
          <p:cNvPr id="9" name="箭號: 向右 8">
            <a:extLst>
              <a:ext uri="{FF2B5EF4-FFF2-40B4-BE49-F238E27FC236}">
                <a16:creationId xmlns:a16="http://schemas.microsoft.com/office/drawing/2014/main" id="{D24478BA-BE2A-4C1C-A4F2-FD9431C2F88B}"/>
              </a:ext>
            </a:extLst>
          </p:cNvPr>
          <p:cNvSpPr>
            <a:spLocks noGrp="1"/>
          </p:cNvSpPr>
          <p:nvPr/>
        </p:nvSpPr>
        <p:spPr>
          <a:xfrm>
            <a:off x="5619750" y="2552700"/>
            <a:ext cx="952500" cy="438150"/>
          </a:xfrm>
          <a:prstGeom prst="rightArrow">
            <a:avLst/>
          </a:prstGeom>
          <a:solidFill>
            <a:srgbClr val="2496ED"/>
          </a:solidFill>
          <a:ln w="0">
            <a:solidFill>
              <a:srgbClr val="2496ED"/>
            </a:solidFill>
            <a:prstDash val="solid"/>
          </a:ln>
        </p:spPr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3FC2DC52-71F4-4081-ABB2-05F591534EA5}"/>
              </a:ext>
            </a:extLst>
          </p:cNvPr>
          <p:cNvSpPr>
            <a:spLocks noGrp="1"/>
          </p:cNvSpPr>
          <p:nvPr/>
        </p:nvSpPr>
        <p:spPr>
          <a:xfrm>
            <a:off x="1562100" y="4514850"/>
            <a:ext cx="9067800" cy="723900"/>
          </a:xfrm>
          <a:prstGeom prst="roundRect">
            <a:avLst>
              <a:gd name="adj" fmla="val 15789"/>
            </a:avLst>
          </a:prstGeom>
          <a:solidFill>
            <a:srgbClr val="FFE4E6"/>
          </a:solidFill>
          <a:ln w="9525">
            <a:solidFill>
              <a:srgbClr val="E11D48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9CF5F81-A704-4C03-B2B9-0871D6AA6E0A}"/>
              </a:ext>
            </a:extLst>
          </p:cNvPr>
          <p:cNvSpPr>
            <a:spLocks noGrp="1"/>
          </p:cNvSpPr>
          <p:nvPr/>
        </p:nvSpPr>
        <p:spPr>
          <a:xfrm>
            <a:off x="1924050" y="4762500"/>
            <a:ext cx="83439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7335"/>
          </a:bodyPr>
          <a:lstStyle/>
          <a:p>
            <a:pPr algn="ctr">
              <a:lnSpc>
                <a:spcPct val="106000"/>
              </a:lnSpc>
              <a:buNone/>
              <a:defRPr sz="1575" b="1">
                <a:solidFill>
                  <a:srgbClr val="E11D48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E11D48"/>
                </a:solidFill>
                <a:latin typeface="Aptos"/>
                <a:ea typeface="Aptos"/>
                <a:cs typeface="Aptos"/>
              </a:rPr>
              <a:t>正式環境資料不能丟，通常用雲端託管資料庫；Docker DB 在本課程定位是開發與測試。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F77BBD4-338D-44E6-AFDE-CB0B8E49C7B1}"/>
              </a:ext>
            </a:extLst>
          </p:cNvPr>
          <p:cNvSpPr>
            <a:spLocks noGrp="1"/>
          </p:cNvSpPr>
          <p:nvPr/>
        </p:nvSpPr>
        <p:spPr>
          <a:xfrm>
            <a:off x="609600" y="6305550"/>
            <a:ext cx="9906000" cy="13335"/>
          </a:xfrm>
          <a:prstGeom prst="rect">
            <a:avLst/>
          </a:prstGeom>
          <a:solidFill>
            <a:srgbClr val="D9E2EC"/>
          </a:solidFill>
          <a:ln w="0">
            <a:noFill/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62EA0ED-24BB-46A4-86DD-DBCCD17E99F4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2762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Docker 基礎教學 | 第 3 堂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2314DC5-687E-4145-8E4A-5B15E9582559}"/>
              </a:ext>
            </a:extLst>
          </p:cNvPr>
          <p:cNvSpPr>
            <a:spLocks noGrp="1"/>
          </p:cNvSpPr>
          <p:nvPr/>
        </p:nvSpPr>
        <p:spPr>
          <a:xfrm>
            <a:off x="11010900" y="6381750"/>
            <a:ext cx="571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106000"/>
              </a:lnSpc>
              <a:buNone/>
              <a:defRPr sz="9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152413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>
            <a:extLst>
              <a:ext uri="{FF2B5EF4-FFF2-40B4-BE49-F238E27FC236}">
                <a16:creationId xmlns:a16="http://schemas.microsoft.com/office/drawing/2014/main" id="{7B3AE2D9-D253-4EB7-AF7C-586680AE0D8B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619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900" b="1">
                <a:solidFill>
                  <a:srgbClr val="A5B4F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5B4FC"/>
                </a:solidFill>
                <a:latin typeface="Aptos"/>
                <a:ea typeface="Aptos"/>
                <a:cs typeface="Aptos"/>
              </a:rPr>
              <a:t>EXERCISE Q1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B651BB0-2584-4C31-A8E6-CC8E2FB21ADD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10668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概念快問 1：Docker DB 用在哪裡？</a:t>
            </a: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B44A525E-7A98-40A1-BE02-C5AE31A48E99}"/>
              </a:ext>
            </a:extLst>
          </p:cNvPr>
          <p:cNvSpPr>
            <a:spLocks noGrp="1"/>
          </p:cNvSpPr>
          <p:nvPr/>
        </p:nvSpPr>
        <p:spPr>
          <a:xfrm>
            <a:off x="838200" y="1524000"/>
            <a:ext cx="10401300" cy="1123950"/>
          </a:xfrm>
          <a:prstGeom prst="roundRect">
            <a:avLst>
              <a:gd name="adj" fmla="val 11864"/>
            </a:avLst>
          </a:prstGeom>
          <a:solidFill>
            <a:srgbClr val="111827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A5325A4-5B1C-4139-8461-9607B6F0C0D5}"/>
              </a:ext>
            </a:extLst>
          </p:cNvPr>
          <p:cNvSpPr>
            <a:spLocks noGrp="1"/>
          </p:cNvSpPr>
          <p:nvPr/>
        </p:nvSpPr>
        <p:spPr>
          <a:xfrm>
            <a:off x="1181100" y="1847850"/>
            <a:ext cx="9715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6000"/>
              </a:lnSpc>
              <a:buNone/>
              <a:defRPr sz="21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為什麼開發環境適合用 Docker 跑資料庫，但生產環境不建議？</a:t>
            </a:r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692501A8-BEFA-4658-89EA-5A0654CBE64B}"/>
              </a:ext>
            </a:extLst>
          </p:cNvPr>
          <p:cNvSpPr>
            <a:spLocks noGrp="1"/>
          </p:cNvSpPr>
          <p:nvPr/>
        </p:nvSpPr>
        <p:spPr>
          <a:xfrm>
            <a:off x="1143000" y="3276600"/>
            <a:ext cx="4286250" cy="1695450"/>
          </a:xfrm>
          <a:prstGeom prst="roundRect">
            <a:avLst>
              <a:gd name="adj" fmla="val 6742"/>
            </a:avLst>
          </a:prstGeom>
          <a:solidFill>
            <a:srgbClr val="111827"/>
          </a:solidFill>
          <a:ln w="9525">
            <a:solidFill>
              <a:srgbClr val="00A97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7BC604B-3C04-43B9-B812-DE8C33F55DCB}"/>
              </a:ext>
            </a:extLst>
          </p:cNvPr>
          <p:cNvSpPr>
            <a:spLocks noGrp="1"/>
          </p:cNvSpPr>
          <p:nvPr/>
        </p:nvSpPr>
        <p:spPr>
          <a:xfrm>
            <a:off x="1371600" y="3467100"/>
            <a:ext cx="38290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2171"/>
          </a:bodyPr>
          <a:lstStyle/>
          <a:p>
            <a:pPr algn="ctr">
              <a:lnSpc>
                <a:spcPct val="106000"/>
              </a:lnSpc>
              <a:buNone/>
              <a:defRPr sz="2175" b="1">
                <a:solidFill>
                  <a:srgbClr val="86EFAC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86EFAC"/>
                </a:solidFill>
                <a:latin typeface="Aptos Display"/>
                <a:ea typeface="Aptos Display"/>
                <a:cs typeface="Aptos Display"/>
              </a:rPr>
              <a:t>開發環境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5CB3D47-F564-4A70-8D97-FEC02AF5A0B7}"/>
              </a:ext>
            </a:extLst>
          </p:cNvPr>
          <p:cNvSpPr>
            <a:spLocks noGrp="1"/>
          </p:cNvSpPr>
          <p:nvPr/>
        </p:nvSpPr>
        <p:spPr>
          <a:xfrm>
            <a:off x="1371600" y="3981450"/>
            <a:ext cx="382905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6000"/>
              </a:lnSpc>
              <a:buNone/>
              <a:defRPr sz="1650" b="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E2E8F0"/>
                </a:solidFill>
                <a:latin typeface="Aptos"/>
                <a:ea typeface="Aptos"/>
                <a:cs typeface="Aptos"/>
              </a:rPr>
              <a:t>測試資料</a:t>
            </a:r>
          </a:p>
          <a:p>
            <a:pPr algn="ctr">
              <a:lnSpc>
                <a:spcPct val="106000"/>
              </a:lnSpc>
              <a:buNone/>
              <a:defRPr sz="1650" b="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E2E8F0"/>
                </a:solidFill>
                <a:latin typeface="Aptos"/>
                <a:ea typeface="Aptos"/>
                <a:cs typeface="Aptos"/>
              </a:rPr>
              <a:t>一行指令啟動</a:t>
            </a:r>
          </a:p>
          <a:p>
            <a:pPr algn="ctr">
              <a:lnSpc>
                <a:spcPct val="106000"/>
              </a:lnSpc>
              <a:buNone/>
              <a:defRPr sz="1650" b="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E2E8F0"/>
                </a:solidFill>
                <a:latin typeface="Aptos"/>
                <a:ea typeface="Aptos"/>
                <a:cs typeface="Aptos"/>
              </a:rPr>
              <a:t>刪掉重來成本低</a:t>
            </a:r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13670618-97F3-4A9E-8C51-0F1F526F4BB5}"/>
              </a:ext>
            </a:extLst>
          </p:cNvPr>
          <p:cNvSpPr>
            <a:spLocks noGrp="1"/>
          </p:cNvSpPr>
          <p:nvPr/>
        </p:nvSpPr>
        <p:spPr>
          <a:xfrm>
            <a:off x="6762750" y="3276600"/>
            <a:ext cx="4286250" cy="1695450"/>
          </a:xfrm>
          <a:prstGeom prst="roundRect">
            <a:avLst>
              <a:gd name="adj" fmla="val 6742"/>
            </a:avLst>
          </a:prstGeom>
          <a:solidFill>
            <a:srgbClr val="111827"/>
          </a:solidFill>
          <a:ln w="9525">
            <a:solidFill>
              <a:srgbClr val="E11D48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57B5A74-5E85-48AA-B54B-233981BB73D7}"/>
              </a:ext>
            </a:extLst>
          </p:cNvPr>
          <p:cNvSpPr>
            <a:spLocks noGrp="1"/>
          </p:cNvSpPr>
          <p:nvPr/>
        </p:nvSpPr>
        <p:spPr>
          <a:xfrm>
            <a:off x="6991350" y="3467100"/>
            <a:ext cx="38290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2171"/>
          </a:bodyPr>
          <a:lstStyle/>
          <a:p>
            <a:pPr algn="ctr">
              <a:lnSpc>
                <a:spcPct val="106000"/>
              </a:lnSpc>
              <a:buNone/>
              <a:defRPr sz="2175" b="1">
                <a:solidFill>
                  <a:srgbClr val="FDA4AF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FDA4AF"/>
                </a:solidFill>
                <a:latin typeface="Aptos Display"/>
                <a:ea typeface="Aptos Display"/>
                <a:cs typeface="Aptos Display"/>
              </a:rPr>
              <a:t>生產環境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46EACF8-ECB4-41D2-9D9B-02A8D21EE1D4}"/>
              </a:ext>
            </a:extLst>
          </p:cNvPr>
          <p:cNvSpPr>
            <a:spLocks noGrp="1"/>
          </p:cNvSpPr>
          <p:nvPr/>
        </p:nvSpPr>
        <p:spPr>
          <a:xfrm>
            <a:off x="6991350" y="3981450"/>
            <a:ext cx="382905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6000"/>
              </a:lnSpc>
              <a:buNone/>
              <a:defRPr sz="1650" b="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E2E8F0"/>
                </a:solidFill>
                <a:latin typeface="Aptos"/>
                <a:ea typeface="Aptos"/>
                <a:cs typeface="Aptos"/>
              </a:rPr>
              <a:t>真實資料不能丟</a:t>
            </a:r>
          </a:p>
          <a:p>
            <a:pPr algn="ctr">
              <a:lnSpc>
                <a:spcPct val="106000"/>
              </a:lnSpc>
              <a:buNone/>
              <a:defRPr sz="1650" b="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E2E8F0"/>
                </a:solidFill>
                <a:latin typeface="Aptos"/>
                <a:ea typeface="Aptos"/>
                <a:cs typeface="Aptos"/>
              </a:rPr>
              <a:t>需要穩定 I/O、備份、複製</a:t>
            </a:r>
          </a:p>
          <a:p>
            <a:pPr algn="ctr">
              <a:lnSpc>
                <a:spcPct val="106000"/>
              </a:lnSpc>
              <a:buNone/>
              <a:defRPr sz="1650" b="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E2E8F0"/>
                </a:solidFill>
                <a:latin typeface="Aptos"/>
                <a:ea typeface="Aptos"/>
                <a:cs typeface="Aptos"/>
              </a:rPr>
              <a:t>通常用託管資料庫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864F3DB-B669-49FC-A0C9-F04464E6CA8E}"/>
              </a:ext>
            </a:extLst>
          </p:cNvPr>
          <p:cNvSpPr>
            <a:spLocks noGrp="1"/>
          </p:cNvSpPr>
          <p:nvPr/>
        </p:nvSpPr>
        <p:spPr>
          <a:xfrm>
            <a:off x="1524000" y="5600700"/>
            <a:ext cx="9144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6000"/>
              </a:lnSpc>
              <a:buNone/>
              <a:defRPr sz="1650" b="1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E2E8F0"/>
                </a:solidFill>
                <a:latin typeface="Aptos"/>
                <a:ea typeface="Aptos"/>
                <a:cs typeface="Aptos"/>
              </a:rPr>
              <a:t>先自己回答，再用兩邊關鍵字檢查是否講到資料風險與環境定位。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A9E339E-18E2-4F26-A0CD-93F9BC8B8B0C}"/>
              </a:ext>
            </a:extLst>
          </p:cNvPr>
          <p:cNvSpPr>
            <a:spLocks noGrp="1"/>
          </p:cNvSpPr>
          <p:nvPr/>
        </p:nvSpPr>
        <p:spPr>
          <a:xfrm>
            <a:off x="609600" y="6305550"/>
            <a:ext cx="9906000" cy="13335"/>
          </a:xfrm>
          <a:prstGeom prst="rect">
            <a:avLst/>
          </a:prstGeom>
          <a:solidFill>
            <a:srgbClr val="334155"/>
          </a:solidFill>
          <a:ln w="0">
            <a:noFill/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D781AC4-CBCD-4CA6-920B-80DA6892F843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2762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82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Docker 基礎教學 | 第 3 堂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AB2AA9C0-2D67-4852-BAF1-C5EE4DB638BD}"/>
              </a:ext>
            </a:extLst>
          </p:cNvPr>
          <p:cNvSpPr>
            <a:spLocks noGrp="1"/>
          </p:cNvSpPr>
          <p:nvPr/>
        </p:nvSpPr>
        <p:spPr>
          <a:xfrm>
            <a:off x="11010900" y="6381750"/>
            <a:ext cx="571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106000"/>
              </a:lnSpc>
              <a:buNone/>
              <a:defRPr sz="900" b="1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BD5E1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7399896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289460A0-199F-4930-AAB8-47D8B4BC02CF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619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900" b="1">
                <a:solidFill>
                  <a:srgbClr val="0B5CA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5CAD"/>
                </a:solidFill>
                <a:latin typeface="Aptos"/>
                <a:ea typeface="Aptos"/>
                <a:cs typeface="Aptos"/>
              </a:rPr>
              <a:t>DOCKER HUB DOCS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124CFCF-184E-4FF4-B65B-D8A55BD7A4CA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9906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28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使用新 Image 前先看 Docker Hub</a:t>
            </a: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63ABA597-693A-4B3A-99CE-3EF4B05970B6}"/>
              </a:ext>
            </a:extLst>
          </p:cNvPr>
          <p:cNvSpPr>
            <a:spLocks noGrp="1"/>
          </p:cNvSpPr>
          <p:nvPr/>
        </p:nvSpPr>
        <p:spPr>
          <a:xfrm>
            <a:off x="1047750" y="2000250"/>
            <a:ext cx="2857500" cy="180975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B87CC3C-8E83-4816-86DD-079C2454C9C6}"/>
              </a:ext>
            </a:extLst>
          </p:cNvPr>
          <p:cNvSpPr>
            <a:spLocks noGrp="1"/>
          </p:cNvSpPr>
          <p:nvPr/>
        </p:nvSpPr>
        <p:spPr>
          <a:xfrm>
            <a:off x="1276350" y="2343150"/>
            <a:ext cx="24003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5038"/>
          </a:bodyPr>
          <a:lstStyle/>
          <a:p>
            <a:pPr algn="ctr">
              <a:lnSpc>
                <a:spcPct val="106000"/>
              </a:lnSpc>
              <a:buNone/>
              <a:defRPr sz="1875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How to use this image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FED857E-9AE4-4CCD-B703-5E511770F9D2}"/>
              </a:ext>
            </a:extLst>
          </p:cNvPr>
          <p:cNvSpPr>
            <a:spLocks noGrp="1"/>
          </p:cNvSpPr>
          <p:nvPr/>
        </p:nvSpPr>
        <p:spPr>
          <a:xfrm>
            <a:off x="1333500" y="3143250"/>
            <a:ext cx="2286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6000"/>
              </a:lnSpc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啟動容器的範例指令</a:t>
            </a:r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480E90FC-B3EE-4DAC-A55B-4098DEF64F57}"/>
              </a:ext>
            </a:extLst>
          </p:cNvPr>
          <p:cNvSpPr>
            <a:spLocks noGrp="1"/>
          </p:cNvSpPr>
          <p:nvPr/>
        </p:nvSpPr>
        <p:spPr>
          <a:xfrm>
            <a:off x="4476750" y="2000250"/>
            <a:ext cx="2857500" cy="1809750"/>
          </a:xfrm>
          <a:prstGeom prst="roundRect">
            <a:avLst>
              <a:gd name="adj" fmla="val 6316"/>
            </a:avLst>
          </a:prstGeom>
          <a:solidFill>
            <a:srgbClr val="E8F3FF"/>
          </a:solidFill>
          <a:ln w="9525">
            <a:solidFill>
              <a:srgbClr val="B7DCF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00BDA71-1A9D-4100-B665-426D49B95256}"/>
              </a:ext>
            </a:extLst>
          </p:cNvPr>
          <p:cNvSpPr>
            <a:spLocks noGrp="1"/>
          </p:cNvSpPr>
          <p:nvPr/>
        </p:nvSpPr>
        <p:spPr>
          <a:xfrm>
            <a:off x="4705350" y="2343150"/>
            <a:ext cx="24003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4670"/>
          </a:bodyPr>
          <a:lstStyle/>
          <a:p>
            <a:pPr algn="ctr">
              <a:lnSpc>
                <a:spcPct val="106000"/>
              </a:lnSpc>
              <a:buNone/>
              <a:defRPr sz="1875" b="1">
                <a:solidFill>
                  <a:srgbClr val="0B5CAD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0B5CAD"/>
                </a:solidFill>
                <a:latin typeface="Aptos Display"/>
                <a:ea typeface="Aptos Display"/>
                <a:cs typeface="Aptos Display"/>
              </a:rPr>
              <a:t>Environment Variables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1CF4E08-07C7-465A-884B-CDC93EA75640}"/>
              </a:ext>
            </a:extLst>
          </p:cNvPr>
          <p:cNvSpPr>
            <a:spLocks noGrp="1"/>
          </p:cNvSpPr>
          <p:nvPr/>
        </p:nvSpPr>
        <p:spPr>
          <a:xfrm>
            <a:off x="4762500" y="3143250"/>
            <a:ext cx="2286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6000"/>
              </a:lnSpc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-e 可以設定哪些值</a:t>
            </a:r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EB62470E-CE14-4B78-85DC-1DA68985FA80}"/>
              </a:ext>
            </a:extLst>
          </p:cNvPr>
          <p:cNvSpPr>
            <a:spLocks noGrp="1"/>
          </p:cNvSpPr>
          <p:nvPr/>
        </p:nvSpPr>
        <p:spPr>
          <a:xfrm>
            <a:off x="7905750" y="2000250"/>
            <a:ext cx="2857500" cy="180975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6BF1204-3A73-43A7-9747-D69CD340CB9F}"/>
              </a:ext>
            </a:extLst>
          </p:cNvPr>
          <p:cNvSpPr>
            <a:spLocks noGrp="1"/>
          </p:cNvSpPr>
          <p:nvPr/>
        </p:nvSpPr>
        <p:spPr>
          <a:xfrm>
            <a:off x="8134350" y="2343150"/>
            <a:ext cx="24003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6000"/>
              </a:lnSpc>
              <a:buNone/>
              <a:defRPr sz="1875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Where to Store Data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BD69BC2-FC5A-46BD-B1D0-6F2A4732C08F}"/>
              </a:ext>
            </a:extLst>
          </p:cNvPr>
          <p:cNvSpPr>
            <a:spLocks noGrp="1"/>
          </p:cNvSpPr>
          <p:nvPr/>
        </p:nvSpPr>
        <p:spPr>
          <a:xfrm>
            <a:off x="8191500" y="3143250"/>
            <a:ext cx="2286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6000"/>
              </a:lnSpc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資料在容器裡存在哪個路徑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0310ED4-0600-46AF-927B-81F26DA9F9DA}"/>
              </a:ext>
            </a:extLst>
          </p:cNvPr>
          <p:cNvSpPr>
            <a:spLocks noGrp="1"/>
          </p:cNvSpPr>
          <p:nvPr/>
        </p:nvSpPr>
        <p:spPr>
          <a:xfrm>
            <a:off x="1809750" y="4762500"/>
            <a:ext cx="8572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6759"/>
          </a:bodyPr>
          <a:lstStyle/>
          <a:p>
            <a:pPr algn="ctr">
              <a:lnSpc>
                <a:spcPct val="106000"/>
              </a:lnSpc>
              <a:buNone/>
              <a:defRPr sz="19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對 MySQL 來說，重點就是環境變數與 /var/lib/mysql。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462723E-C6A7-4575-957E-E78980D85E0C}"/>
              </a:ext>
            </a:extLst>
          </p:cNvPr>
          <p:cNvSpPr>
            <a:spLocks noGrp="1"/>
          </p:cNvSpPr>
          <p:nvPr/>
        </p:nvSpPr>
        <p:spPr>
          <a:xfrm>
            <a:off x="609600" y="6305550"/>
            <a:ext cx="9906000" cy="13335"/>
          </a:xfrm>
          <a:prstGeom prst="rect">
            <a:avLst/>
          </a:prstGeom>
          <a:solidFill>
            <a:srgbClr val="D9E2EC"/>
          </a:solidFill>
          <a:ln w="0">
            <a:noFill/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E4D4D877-E8B2-4E34-B4A6-A55853A9FB78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2762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Docker 基礎教學 | 第 3 堂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59796056-1102-4E10-BABC-6B5BA468B6CF}"/>
              </a:ext>
            </a:extLst>
          </p:cNvPr>
          <p:cNvSpPr>
            <a:spLocks noGrp="1"/>
          </p:cNvSpPr>
          <p:nvPr/>
        </p:nvSpPr>
        <p:spPr>
          <a:xfrm>
            <a:off x="11010900" y="6381750"/>
            <a:ext cx="571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106000"/>
              </a:lnSpc>
              <a:buNone/>
              <a:defRPr sz="9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2536987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矩形 41">
            <a:extLst>
              <a:ext uri="{FF2B5EF4-FFF2-40B4-BE49-F238E27FC236}">
                <a16:creationId xmlns:a16="http://schemas.microsoft.com/office/drawing/2014/main" id="{EE0EF49B-E437-46A9-A0F0-7CF85A3CBDC0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619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900" b="1">
                <a:solidFill>
                  <a:srgbClr val="0B5CA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5CAD"/>
                </a:solidFill>
                <a:latin typeface="Aptos"/>
                <a:ea typeface="Aptos"/>
                <a:cs typeface="Aptos"/>
              </a:rPr>
              <a:t>ENVIRONMENT VARIABLES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31F0EA4-0812-4E4B-AB89-6133ACDC3B18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9906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28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MySQL 常用環境變數</a:t>
            </a: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F988FEDC-777C-4222-B034-360E6FBD1DB2}"/>
              </a:ext>
            </a:extLst>
          </p:cNvPr>
          <p:cNvSpPr>
            <a:spLocks noGrp="1"/>
          </p:cNvSpPr>
          <p:nvPr/>
        </p:nvSpPr>
        <p:spPr>
          <a:xfrm>
            <a:off x="1562100" y="1524000"/>
            <a:ext cx="4095750" cy="419100"/>
          </a:xfrm>
          <a:prstGeom prst="roundRect">
            <a:avLst>
              <a:gd name="adj" fmla="val 18182"/>
            </a:avLst>
          </a:prstGeom>
          <a:solidFill>
            <a:srgbClr val="FFF6DD"/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4" name="矩形: 圓角 3">
            <a:extLst>
              <a:ext uri="{FF2B5EF4-FFF2-40B4-BE49-F238E27FC236}">
                <a16:creationId xmlns:a16="http://schemas.microsoft.com/office/drawing/2014/main" id="{F2189196-1918-49F9-A8C3-D59BAFAF7FFE}"/>
              </a:ext>
            </a:extLst>
          </p:cNvPr>
          <p:cNvSpPr>
            <a:spLocks noGrp="1"/>
          </p:cNvSpPr>
          <p:nvPr/>
        </p:nvSpPr>
        <p:spPr>
          <a:xfrm>
            <a:off x="5657850" y="1524000"/>
            <a:ext cx="3143250" cy="419100"/>
          </a:xfrm>
          <a:prstGeom prst="roundRect">
            <a:avLst>
              <a:gd name="adj" fmla="val 18182"/>
            </a:avLst>
          </a:prstGeom>
          <a:solidFill>
            <a:srgbClr val="FFF6DD"/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D6C5A698-8D0D-463A-89FA-F8D9FDCDB71F}"/>
              </a:ext>
            </a:extLst>
          </p:cNvPr>
          <p:cNvSpPr>
            <a:spLocks noGrp="1"/>
          </p:cNvSpPr>
          <p:nvPr/>
        </p:nvSpPr>
        <p:spPr>
          <a:xfrm>
            <a:off x="8801100" y="1524000"/>
            <a:ext cx="1428750" cy="419100"/>
          </a:xfrm>
          <a:prstGeom prst="roundRect">
            <a:avLst>
              <a:gd name="adj" fmla="val 18182"/>
            </a:avLst>
          </a:prstGeom>
          <a:solidFill>
            <a:srgbClr val="FFF6DD"/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DAA3271-1ECA-44A3-9319-3C5085DA70CB}"/>
              </a:ext>
            </a:extLst>
          </p:cNvPr>
          <p:cNvSpPr>
            <a:spLocks noGrp="1"/>
          </p:cNvSpPr>
          <p:nvPr/>
        </p:nvSpPr>
        <p:spPr>
          <a:xfrm>
            <a:off x="1752600" y="1638300"/>
            <a:ext cx="3714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88443"/>
          </a:bodyPr>
          <a:lstStyle/>
          <a:p>
            <a:pPr algn="l">
              <a:lnSpc>
                <a:spcPct val="106000"/>
              </a:lnSpc>
              <a:buNone/>
              <a:defRPr sz="1200" b="1">
                <a:solidFill>
                  <a:srgbClr val="B45309"/>
                </a:solidFill>
                <a:latin typeface="Consolas"/>
                <a:ea typeface="Consolas"/>
                <a:cs typeface="Consolas"/>
              </a:defRPr>
            </a:pPr>
            <a:r>
              <a:rPr sz="1200" b="1">
                <a:solidFill>
                  <a:srgbClr val="B45309"/>
                </a:solidFill>
                <a:latin typeface="Consolas"/>
                <a:ea typeface="Consolas"/>
                <a:cs typeface="Consolas"/>
              </a:rPr>
              <a:t>MYSQL_ROOT_PASSWORD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751F44C-7338-48DC-82C6-3B8EAAB8848D}"/>
              </a:ext>
            </a:extLst>
          </p:cNvPr>
          <p:cNvSpPr>
            <a:spLocks noGrp="1"/>
          </p:cNvSpPr>
          <p:nvPr/>
        </p:nvSpPr>
        <p:spPr>
          <a:xfrm>
            <a:off x="5848350" y="1628775"/>
            <a:ext cx="2762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2490"/>
          </a:bodyPr>
          <a:lstStyle/>
          <a:p>
            <a:pPr algn="l">
              <a:lnSpc>
                <a:spcPct val="106000"/>
              </a:lnSpc>
              <a:buNone/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root 密碼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5C4453C-31BF-4E57-9B1E-4C4859ECC7DA}"/>
              </a:ext>
            </a:extLst>
          </p:cNvPr>
          <p:cNvSpPr>
            <a:spLocks noGrp="1"/>
          </p:cNvSpPr>
          <p:nvPr/>
        </p:nvSpPr>
        <p:spPr>
          <a:xfrm>
            <a:off x="8991600" y="1628775"/>
            <a:ext cx="1047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2490"/>
          </a:bodyPr>
          <a:lstStyle/>
          <a:p>
            <a:pPr algn="ctr">
              <a:lnSpc>
                <a:spcPct val="106000"/>
              </a:lnSpc>
              <a:buNone/>
              <a:defRPr sz="1275" b="1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B45309"/>
                </a:solidFill>
                <a:latin typeface="Aptos"/>
                <a:ea typeface="Aptos"/>
                <a:cs typeface="Aptos"/>
              </a:rPr>
              <a:t>必填</a:t>
            </a:r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04842FE6-F71A-442E-967F-3F5D06DCA29D}"/>
              </a:ext>
            </a:extLst>
          </p:cNvPr>
          <p:cNvSpPr>
            <a:spLocks noGrp="1"/>
          </p:cNvSpPr>
          <p:nvPr/>
        </p:nvSpPr>
        <p:spPr>
          <a:xfrm>
            <a:off x="1562100" y="2076450"/>
            <a:ext cx="4095750" cy="41910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DCD15D61-6B2A-4599-94FF-CB0AFF8AF9FC}"/>
              </a:ext>
            </a:extLst>
          </p:cNvPr>
          <p:cNvSpPr>
            <a:spLocks noGrp="1"/>
          </p:cNvSpPr>
          <p:nvPr/>
        </p:nvSpPr>
        <p:spPr>
          <a:xfrm>
            <a:off x="5657850" y="2076450"/>
            <a:ext cx="3143250" cy="41910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A5DFAA5E-9E29-4DCE-807E-06840EB14FAA}"/>
              </a:ext>
            </a:extLst>
          </p:cNvPr>
          <p:cNvSpPr>
            <a:spLocks noGrp="1"/>
          </p:cNvSpPr>
          <p:nvPr/>
        </p:nvSpPr>
        <p:spPr>
          <a:xfrm>
            <a:off x="8801100" y="2076450"/>
            <a:ext cx="1428750" cy="41910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B0F7B5E-3AE5-4EC0-BFC5-50E5632187C3}"/>
              </a:ext>
            </a:extLst>
          </p:cNvPr>
          <p:cNvSpPr>
            <a:spLocks noGrp="1"/>
          </p:cNvSpPr>
          <p:nvPr/>
        </p:nvSpPr>
        <p:spPr>
          <a:xfrm>
            <a:off x="1752600" y="2190750"/>
            <a:ext cx="3714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88443"/>
          </a:bodyPr>
          <a:lstStyle/>
          <a:p>
            <a:pPr algn="l">
              <a:lnSpc>
                <a:spcPct val="106000"/>
              </a:lnSpc>
              <a:buNone/>
              <a:defRPr sz="1200" b="1">
                <a:solidFill>
                  <a:srgbClr val="0B5CAD"/>
                </a:solidFill>
                <a:latin typeface="Consolas"/>
                <a:ea typeface="Consolas"/>
                <a:cs typeface="Consolas"/>
              </a:defRPr>
            </a:pPr>
            <a:r>
              <a:rPr sz="1200" b="1">
                <a:solidFill>
                  <a:srgbClr val="0B5CAD"/>
                </a:solidFill>
                <a:latin typeface="Consolas"/>
                <a:ea typeface="Consolas"/>
                <a:cs typeface="Consolas"/>
              </a:rPr>
              <a:t>MYSQL_DATABASE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5EDF8813-81A0-428D-A321-5D038D9549DE}"/>
              </a:ext>
            </a:extLst>
          </p:cNvPr>
          <p:cNvSpPr>
            <a:spLocks noGrp="1"/>
          </p:cNvSpPr>
          <p:nvPr/>
        </p:nvSpPr>
        <p:spPr>
          <a:xfrm>
            <a:off x="5848350" y="2181225"/>
            <a:ext cx="2762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2490"/>
          </a:bodyPr>
          <a:lstStyle/>
          <a:p>
            <a:pPr algn="l">
              <a:lnSpc>
                <a:spcPct val="106000"/>
              </a:lnSpc>
              <a:buNone/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自動建立資料庫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B4FA632-2550-4502-8C95-AC728C1CFC3B}"/>
              </a:ext>
            </a:extLst>
          </p:cNvPr>
          <p:cNvSpPr>
            <a:spLocks noGrp="1"/>
          </p:cNvSpPr>
          <p:nvPr/>
        </p:nvSpPr>
        <p:spPr>
          <a:xfrm>
            <a:off x="8991600" y="2181225"/>
            <a:ext cx="1047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2490"/>
          </a:bodyPr>
          <a:lstStyle/>
          <a:p>
            <a:pPr algn="ctr">
              <a:lnSpc>
                <a:spcPct val="106000"/>
              </a:lnSpc>
              <a:buNone/>
              <a:defRPr sz="12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選填</a:t>
            </a:r>
          </a:p>
        </p:txBody>
      </p:sp>
      <p:sp>
        <p:nvSpPr>
          <p:cNvPr id="15" name="矩形: 圓角 14">
            <a:extLst>
              <a:ext uri="{FF2B5EF4-FFF2-40B4-BE49-F238E27FC236}">
                <a16:creationId xmlns:a16="http://schemas.microsoft.com/office/drawing/2014/main" id="{16F687DA-D056-4CC3-972D-B5CE88B7B03F}"/>
              </a:ext>
            </a:extLst>
          </p:cNvPr>
          <p:cNvSpPr>
            <a:spLocks noGrp="1"/>
          </p:cNvSpPr>
          <p:nvPr/>
        </p:nvSpPr>
        <p:spPr>
          <a:xfrm>
            <a:off x="1562100" y="2628900"/>
            <a:ext cx="4095750" cy="419100"/>
          </a:xfrm>
          <a:prstGeom prst="roundRect">
            <a:avLst>
              <a:gd name="adj" fmla="val 18182"/>
            </a:avLst>
          </a:prstGeom>
          <a:solidFill>
            <a:srgbClr val="F1F5F9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16" name="矩形: 圓角 15">
            <a:extLst>
              <a:ext uri="{FF2B5EF4-FFF2-40B4-BE49-F238E27FC236}">
                <a16:creationId xmlns:a16="http://schemas.microsoft.com/office/drawing/2014/main" id="{4A7545DA-4058-4DDF-A733-FF07788E9FFA}"/>
              </a:ext>
            </a:extLst>
          </p:cNvPr>
          <p:cNvSpPr>
            <a:spLocks noGrp="1"/>
          </p:cNvSpPr>
          <p:nvPr/>
        </p:nvSpPr>
        <p:spPr>
          <a:xfrm>
            <a:off x="5657850" y="2628900"/>
            <a:ext cx="3143250" cy="419100"/>
          </a:xfrm>
          <a:prstGeom prst="roundRect">
            <a:avLst>
              <a:gd name="adj" fmla="val 18182"/>
            </a:avLst>
          </a:prstGeom>
          <a:solidFill>
            <a:srgbClr val="F1F5F9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17" name="矩形: 圓角 16">
            <a:extLst>
              <a:ext uri="{FF2B5EF4-FFF2-40B4-BE49-F238E27FC236}">
                <a16:creationId xmlns:a16="http://schemas.microsoft.com/office/drawing/2014/main" id="{5E893052-6940-4AA3-AF20-4EDC5A86DEB8}"/>
              </a:ext>
            </a:extLst>
          </p:cNvPr>
          <p:cNvSpPr>
            <a:spLocks noGrp="1"/>
          </p:cNvSpPr>
          <p:nvPr/>
        </p:nvSpPr>
        <p:spPr>
          <a:xfrm>
            <a:off x="8801100" y="2628900"/>
            <a:ext cx="1428750" cy="419100"/>
          </a:xfrm>
          <a:prstGeom prst="roundRect">
            <a:avLst>
              <a:gd name="adj" fmla="val 18182"/>
            </a:avLst>
          </a:prstGeom>
          <a:solidFill>
            <a:srgbClr val="F1F5F9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2310A63B-E375-40E3-B23E-D077DD647C4A}"/>
              </a:ext>
            </a:extLst>
          </p:cNvPr>
          <p:cNvSpPr>
            <a:spLocks noGrp="1"/>
          </p:cNvSpPr>
          <p:nvPr/>
        </p:nvSpPr>
        <p:spPr>
          <a:xfrm>
            <a:off x="1752600" y="2743200"/>
            <a:ext cx="3714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88443"/>
          </a:bodyPr>
          <a:lstStyle/>
          <a:p>
            <a:pPr algn="l">
              <a:lnSpc>
                <a:spcPct val="106000"/>
              </a:lnSpc>
              <a:buNone/>
              <a:defRPr sz="1200" b="1">
                <a:solidFill>
                  <a:srgbClr val="0B5CAD"/>
                </a:solidFill>
                <a:latin typeface="Consolas"/>
                <a:ea typeface="Consolas"/>
                <a:cs typeface="Consolas"/>
              </a:defRPr>
            </a:pPr>
            <a:r>
              <a:rPr sz="1200" b="1">
                <a:solidFill>
                  <a:srgbClr val="0B5CAD"/>
                </a:solidFill>
                <a:latin typeface="Consolas"/>
                <a:ea typeface="Consolas"/>
                <a:cs typeface="Consolas"/>
              </a:rPr>
              <a:t>MYSQL_USER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9E146B13-452F-46B2-995B-5153E614D26C}"/>
              </a:ext>
            </a:extLst>
          </p:cNvPr>
          <p:cNvSpPr>
            <a:spLocks noGrp="1"/>
          </p:cNvSpPr>
          <p:nvPr/>
        </p:nvSpPr>
        <p:spPr>
          <a:xfrm>
            <a:off x="5848350" y="2733675"/>
            <a:ext cx="2762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2490"/>
          </a:bodyPr>
          <a:lstStyle/>
          <a:p>
            <a:pPr algn="l">
              <a:lnSpc>
                <a:spcPct val="106000"/>
              </a:lnSpc>
              <a:buNone/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自動建立使用者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D47FF874-F5D3-4972-A755-706B6D424FBE}"/>
              </a:ext>
            </a:extLst>
          </p:cNvPr>
          <p:cNvSpPr>
            <a:spLocks noGrp="1"/>
          </p:cNvSpPr>
          <p:nvPr/>
        </p:nvSpPr>
        <p:spPr>
          <a:xfrm>
            <a:off x="8991600" y="2733675"/>
            <a:ext cx="1047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2490"/>
          </a:bodyPr>
          <a:lstStyle/>
          <a:p>
            <a:pPr algn="ctr">
              <a:lnSpc>
                <a:spcPct val="106000"/>
              </a:lnSpc>
              <a:buNone/>
              <a:defRPr sz="12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選填</a:t>
            </a:r>
          </a:p>
        </p:txBody>
      </p:sp>
      <p:sp>
        <p:nvSpPr>
          <p:cNvPr id="21" name="矩形: 圓角 20">
            <a:extLst>
              <a:ext uri="{FF2B5EF4-FFF2-40B4-BE49-F238E27FC236}">
                <a16:creationId xmlns:a16="http://schemas.microsoft.com/office/drawing/2014/main" id="{00AD65B9-4768-43C0-8D8F-78164553B8F2}"/>
              </a:ext>
            </a:extLst>
          </p:cNvPr>
          <p:cNvSpPr>
            <a:spLocks noGrp="1"/>
          </p:cNvSpPr>
          <p:nvPr/>
        </p:nvSpPr>
        <p:spPr>
          <a:xfrm>
            <a:off x="1562100" y="3181350"/>
            <a:ext cx="4095750" cy="41910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22" name="矩形: 圓角 21">
            <a:extLst>
              <a:ext uri="{FF2B5EF4-FFF2-40B4-BE49-F238E27FC236}">
                <a16:creationId xmlns:a16="http://schemas.microsoft.com/office/drawing/2014/main" id="{33508DFF-D0F1-412E-B16C-923BED0BCFA4}"/>
              </a:ext>
            </a:extLst>
          </p:cNvPr>
          <p:cNvSpPr>
            <a:spLocks noGrp="1"/>
          </p:cNvSpPr>
          <p:nvPr/>
        </p:nvSpPr>
        <p:spPr>
          <a:xfrm>
            <a:off x="5657850" y="3181350"/>
            <a:ext cx="3143250" cy="41910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23" name="矩形: 圓角 22">
            <a:extLst>
              <a:ext uri="{FF2B5EF4-FFF2-40B4-BE49-F238E27FC236}">
                <a16:creationId xmlns:a16="http://schemas.microsoft.com/office/drawing/2014/main" id="{9438A0B8-23B1-4287-BEA7-E88AE7F446FC}"/>
              </a:ext>
            </a:extLst>
          </p:cNvPr>
          <p:cNvSpPr>
            <a:spLocks noGrp="1"/>
          </p:cNvSpPr>
          <p:nvPr/>
        </p:nvSpPr>
        <p:spPr>
          <a:xfrm>
            <a:off x="8801100" y="3181350"/>
            <a:ext cx="1428750" cy="41910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E615A0B4-2BC9-4469-BE77-B582E13720CE}"/>
              </a:ext>
            </a:extLst>
          </p:cNvPr>
          <p:cNvSpPr>
            <a:spLocks noGrp="1"/>
          </p:cNvSpPr>
          <p:nvPr/>
        </p:nvSpPr>
        <p:spPr>
          <a:xfrm>
            <a:off x="1752600" y="3295650"/>
            <a:ext cx="3714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88443"/>
          </a:bodyPr>
          <a:lstStyle/>
          <a:p>
            <a:pPr algn="l">
              <a:lnSpc>
                <a:spcPct val="106000"/>
              </a:lnSpc>
              <a:buNone/>
              <a:defRPr sz="1200" b="1">
                <a:solidFill>
                  <a:srgbClr val="0B5CAD"/>
                </a:solidFill>
                <a:latin typeface="Consolas"/>
                <a:ea typeface="Consolas"/>
                <a:cs typeface="Consolas"/>
              </a:defRPr>
            </a:pPr>
            <a:r>
              <a:rPr sz="1200" b="1">
                <a:solidFill>
                  <a:srgbClr val="0B5CAD"/>
                </a:solidFill>
                <a:latin typeface="Consolas"/>
                <a:ea typeface="Consolas"/>
                <a:cs typeface="Consolas"/>
              </a:rPr>
              <a:t>MYSQL_PASSWORD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4F37F8E9-2A2B-46E8-B542-8DBAD5143260}"/>
              </a:ext>
            </a:extLst>
          </p:cNvPr>
          <p:cNvSpPr>
            <a:spLocks noGrp="1"/>
          </p:cNvSpPr>
          <p:nvPr/>
        </p:nvSpPr>
        <p:spPr>
          <a:xfrm>
            <a:off x="5848350" y="3286125"/>
            <a:ext cx="2762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2490"/>
          </a:bodyPr>
          <a:lstStyle/>
          <a:p>
            <a:pPr algn="l">
              <a:lnSpc>
                <a:spcPct val="106000"/>
              </a:lnSpc>
              <a:buNone/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使用者密碼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DA973264-0E5E-4A95-9FD8-E98972F9F04F}"/>
              </a:ext>
            </a:extLst>
          </p:cNvPr>
          <p:cNvSpPr>
            <a:spLocks noGrp="1"/>
          </p:cNvSpPr>
          <p:nvPr/>
        </p:nvSpPr>
        <p:spPr>
          <a:xfrm>
            <a:off x="8991600" y="3286125"/>
            <a:ext cx="1047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2490"/>
          </a:bodyPr>
          <a:lstStyle/>
          <a:p>
            <a:pPr algn="ctr">
              <a:lnSpc>
                <a:spcPct val="106000"/>
              </a:lnSpc>
              <a:buNone/>
              <a:defRPr sz="12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選填</a:t>
            </a:r>
          </a:p>
        </p:txBody>
      </p:sp>
      <p:sp>
        <p:nvSpPr>
          <p:cNvPr id="27" name="矩形: 圓角 26">
            <a:extLst>
              <a:ext uri="{FF2B5EF4-FFF2-40B4-BE49-F238E27FC236}">
                <a16:creationId xmlns:a16="http://schemas.microsoft.com/office/drawing/2014/main" id="{1F6E0EB7-A3C6-45BE-ADA1-03CA305FA3C4}"/>
              </a:ext>
            </a:extLst>
          </p:cNvPr>
          <p:cNvSpPr>
            <a:spLocks noGrp="1"/>
          </p:cNvSpPr>
          <p:nvPr/>
        </p:nvSpPr>
        <p:spPr>
          <a:xfrm>
            <a:off x="1562100" y="3733800"/>
            <a:ext cx="4095750" cy="419100"/>
          </a:xfrm>
          <a:prstGeom prst="roundRect">
            <a:avLst>
              <a:gd name="adj" fmla="val 18182"/>
            </a:avLst>
          </a:prstGeom>
          <a:solidFill>
            <a:srgbClr val="F1F5F9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28" name="矩形: 圓角 27">
            <a:extLst>
              <a:ext uri="{FF2B5EF4-FFF2-40B4-BE49-F238E27FC236}">
                <a16:creationId xmlns:a16="http://schemas.microsoft.com/office/drawing/2014/main" id="{33A5D580-6C27-41BA-974A-D07DCA24DAAC}"/>
              </a:ext>
            </a:extLst>
          </p:cNvPr>
          <p:cNvSpPr>
            <a:spLocks noGrp="1"/>
          </p:cNvSpPr>
          <p:nvPr/>
        </p:nvSpPr>
        <p:spPr>
          <a:xfrm>
            <a:off x="5657850" y="3733800"/>
            <a:ext cx="3143250" cy="419100"/>
          </a:xfrm>
          <a:prstGeom prst="roundRect">
            <a:avLst>
              <a:gd name="adj" fmla="val 18182"/>
            </a:avLst>
          </a:prstGeom>
          <a:solidFill>
            <a:srgbClr val="F1F5F9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29" name="矩形: 圓角 28">
            <a:extLst>
              <a:ext uri="{FF2B5EF4-FFF2-40B4-BE49-F238E27FC236}">
                <a16:creationId xmlns:a16="http://schemas.microsoft.com/office/drawing/2014/main" id="{ED52BE24-6056-48E7-BC7E-2244662DA91E}"/>
              </a:ext>
            </a:extLst>
          </p:cNvPr>
          <p:cNvSpPr>
            <a:spLocks noGrp="1"/>
          </p:cNvSpPr>
          <p:nvPr/>
        </p:nvSpPr>
        <p:spPr>
          <a:xfrm>
            <a:off x="8801100" y="3733800"/>
            <a:ext cx="1428750" cy="419100"/>
          </a:xfrm>
          <a:prstGeom prst="roundRect">
            <a:avLst>
              <a:gd name="adj" fmla="val 18182"/>
            </a:avLst>
          </a:prstGeom>
          <a:solidFill>
            <a:srgbClr val="F1F5F9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B6A3BB7F-405A-48FB-BE58-C16D284B41DC}"/>
              </a:ext>
            </a:extLst>
          </p:cNvPr>
          <p:cNvSpPr>
            <a:spLocks noGrp="1"/>
          </p:cNvSpPr>
          <p:nvPr/>
        </p:nvSpPr>
        <p:spPr>
          <a:xfrm>
            <a:off x="1752600" y="3848100"/>
            <a:ext cx="3714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88443"/>
          </a:bodyPr>
          <a:lstStyle/>
          <a:p>
            <a:pPr algn="l">
              <a:lnSpc>
                <a:spcPct val="106000"/>
              </a:lnSpc>
              <a:buNone/>
              <a:defRPr sz="1200" b="1">
                <a:solidFill>
                  <a:srgbClr val="0B5CAD"/>
                </a:solidFill>
                <a:latin typeface="Consolas"/>
                <a:ea typeface="Consolas"/>
                <a:cs typeface="Consolas"/>
              </a:defRPr>
            </a:pPr>
            <a:r>
              <a:rPr sz="1200" b="1">
                <a:solidFill>
                  <a:srgbClr val="0B5CAD"/>
                </a:solidFill>
                <a:latin typeface="Consolas"/>
                <a:ea typeface="Consolas"/>
                <a:cs typeface="Consolas"/>
              </a:rPr>
              <a:t>MYSQL_ALLOW_EMPTY_PASSWORD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D0A636F2-1222-4175-BBB1-65C519E5D274}"/>
              </a:ext>
            </a:extLst>
          </p:cNvPr>
          <p:cNvSpPr>
            <a:spLocks noGrp="1"/>
          </p:cNvSpPr>
          <p:nvPr/>
        </p:nvSpPr>
        <p:spPr>
          <a:xfrm>
            <a:off x="5848350" y="3838575"/>
            <a:ext cx="2762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2490"/>
          </a:bodyPr>
          <a:lstStyle/>
          <a:p>
            <a:pPr algn="l">
              <a:lnSpc>
                <a:spcPct val="106000"/>
              </a:lnSpc>
              <a:buNone/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允許空密碼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C3B41401-7107-4026-9F8E-F7446029F069}"/>
              </a:ext>
            </a:extLst>
          </p:cNvPr>
          <p:cNvSpPr>
            <a:spLocks noGrp="1"/>
          </p:cNvSpPr>
          <p:nvPr/>
        </p:nvSpPr>
        <p:spPr>
          <a:xfrm>
            <a:off x="8991600" y="3838575"/>
            <a:ext cx="1047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2490"/>
          </a:bodyPr>
          <a:lstStyle/>
          <a:p>
            <a:pPr algn="ctr">
              <a:lnSpc>
                <a:spcPct val="106000"/>
              </a:lnSpc>
              <a:buNone/>
              <a:defRPr sz="12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選填</a:t>
            </a:r>
          </a:p>
        </p:txBody>
      </p:sp>
      <p:sp>
        <p:nvSpPr>
          <p:cNvPr id="33" name="矩形: 圓角 32">
            <a:extLst>
              <a:ext uri="{FF2B5EF4-FFF2-40B4-BE49-F238E27FC236}">
                <a16:creationId xmlns:a16="http://schemas.microsoft.com/office/drawing/2014/main" id="{091B4535-808F-49C3-9E19-6DF0944065AD}"/>
              </a:ext>
            </a:extLst>
          </p:cNvPr>
          <p:cNvSpPr>
            <a:spLocks noGrp="1"/>
          </p:cNvSpPr>
          <p:nvPr/>
        </p:nvSpPr>
        <p:spPr>
          <a:xfrm>
            <a:off x="1562100" y="4286250"/>
            <a:ext cx="4095750" cy="41910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34" name="矩形: 圓角 33">
            <a:extLst>
              <a:ext uri="{FF2B5EF4-FFF2-40B4-BE49-F238E27FC236}">
                <a16:creationId xmlns:a16="http://schemas.microsoft.com/office/drawing/2014/main" id="{4511A939-D836-456B-AAB2-5C6F832F5D14}"/>
              </a:ext>
            </a:extLst>
          </p:cNvPr>
          <p:cNvSpPr>
            <a:spLocks noGrp="1"/>
          </p:cNvSpPr>
          <p:nvPr/>
        </p:nvSpPr>
        <p:spPr>
          <a:xfrm>
            <a:off x="5657850" y="4286250"/>
            <a:ext cx="3143250" cy="41910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35" name="矩形: 圓角 34">
            <a:extLst>
              <a:ext uri="{FF2B5EF4-FFF2-40B4-BE49-F238E27FC236}">
                <a16:creationId xmlns:a16="http://schemas.microsoft.com/office/drawing/2014/main" id="{4EB5889D-4B6F-4D13-A1C4-A7598DA35F3A}"/>
              </a:ext>
            </a:extLst>
          </p:cNvPr>
          <p:cNvSpPr>
            <a:spLocks noGrp="1"/>
          </p:cNvSpPr>
          <p:nvPr/>
        </p:nvSpPr>
        <p:spPr>
          <a:xfrm>
            <a:off x="8801100" y="4286250"/>
            <a:ext cx="1428750" cy="41910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7973A6F7-7192-45C3-A365-BC1BB8A877A9}"/>
              </a:ext>
            </a:extLst>
          </p:cNvPr>
          <p:cNvSpPr>
            <a:spLocks noGrp="1"/>
          </p:cNvSpPr>
          <p:nvPr/>
        </p:nvSpPr>
        <p:spPr>
          <a:xfrm>
            <a:off x="1752600" y="4400550"/>
            <a:ext cx="3714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88443"/>
          </a:bodyPr>
          <a:lstStyle/>
          <a:p>
            <a:pPr algn="l">
              <a:lnSpc>
                <a:spcPct val="106000"/>
              </a:lnSpc>
              <a:buNone/>
              <a:defRPr sz="1200" b="1">
                <a:solidFill>
                  <a:srgbClr val="0B5CAD"/>
                </a:solidFill>
                <a:latin typeface="Consolas"/>
                <a:ea typeface="Consolas"/>
                <a:cs typeface="Consolas"/>
              </a:defRPr>
            </a:pPr>
            <a:r>
              <a:rPr sz="1200" b="1">
                <a:solidFill>
                  <a:srgbClr val="0B5CAD"/>
                </a:solidFill>
                <a:latin typeface="Consolas"/>
                <a:ea typeface="Consolas"/>
                <a:cs typeface="Consolas"/>
              </a:rPr>
              <a:t>MYSQL_RANDOM_ROOT_PASSWORD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2962FD61-EE30-4C9C-BC0D-CAE6960F49DE}"/>
              </a:ext>
            </a:extLst>
          </p:cNvPr>
          <p:cNvSpPr>
            <a:spLocks noGrp="1"/>
          </p:cNvSpPr>
          <p:nvPr/>
        </p:nvSpPr>
        <p:spPr>
          <a:xfrm>
            <a:off x="5848350" y="4391025"/>
            <a:ext cx="2762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2490"/>
          </a:bodyPr>
          <a:lstStyle/>
          <a:p>
            <a:pPr algn="l">
              <a:lnSpc>
                <a:spcPct val="106000"/>
              </a:lnSpc>
              <a:buNone/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自動產生 root 密碼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80A49232-3A53-4B6A-B35A-CF12C3752CAB}"/>
              </a:ext>
            </a:extLst>
          </p:cNvPr>
          <p:cNvSpPr>
            <a:spLocks noGrp="1"/>
          </p:cNvSpPr>
          <p:nvPr/>
        </p:nvSpPr>
        <p:spPr>
          <a:xfrm>
            <a:off x="8991600" y="4391025"/>
            <a:ext cx="1047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2490"/>
          </a:bodyPr>
          <a:lstStyle/>
          <a:p>
            <a:pPr algn="ctr">
              <a:lnSpc>
                <a:spcPct val="106000"/>
              </a:lnSpc>
              <a:buNone/>
              <a:defRPr sz="12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選填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A25379F7-17F1-40A2-B1B3-4DC41B6EF14D}"/>
              </a:ext>
            </a:extLst>
          </p:cNvPr>
          <p:cNvSpPr>
            <a:spLocks noGrp="1"/>
          </p:cNvSpPr>
          <p:nvPr/>
        </p:nvSpPr>
        <p:spPr>
          <a:xfrm>
            <a:off x="609600" y="6305550"/>
            <a:ext cx="9906000" cy="13335"/>
          </a:xfrm>
          <a:prstGeom prst="rect">
            <a:avLst/>
          </a:prstGeom>
          <a:solidFill>
            <a:srgbClr val="D9E2EC"/>
          </a:solidFill>
          <a:ln w="0">
            <a:noFill/>
            <a:prstDash val="solid"/>
          </a:ln>
        </p:spPr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EE4C3C3D-05A3-4B80-BF25-1B99071EFFF5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2762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Docker 基礎教學 | 第 3 堂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73BAF342-7E29-4F1E-8166-CC9CB89669FF}"/>
              </a:ext>
            </a:extLst>
          </p:cNvPr>
          <p:cNvSpPr>
            <a:spLocks noGrp="1"/>
          </p:cNvSpPr>
          <p:nvPr/>
        </p:nvSpPr>
        <p:spPr>
          <a:xfrm>
            <a:off x="11010900" y="6381750"/>
            <a:ext cx="571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106000"/>
              </a:lnSpc>
              <a:buNone/>
              <a:defRPr sz="9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466807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 25">
            <a:extLst>
              <a:ext uri="{FF2B5EF4-FFF2-40B4-BE49-F238E27FC236}">
                <a16:creationId xmlns:a16="http://schemas.microsoft.com/office/drawing/2014/main" id="{AFF8A8F4-1514-4E72-90CF-2945D35D64D6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619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900" b="1">
                <a:solidFill>
                  <a:srgbClr val="A5B4F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5B4FC"/>
                </a:solidFill>
                <a:latin typeface="Aptos"/>
                <a:ea typeface="Aptos"/>
                <a:cs typeface="Aptos"/>
              </a:rPr>
              <a:t>RUN MYSQL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E6C3A99-47E3-457A-A3CE-EE8653E87633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9906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用 docker run 啟動 MySQL 8.0</a:t>
            </a: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23FCD383-2FE0-4135-B7A6-9403415C62D2}"/>
              </a:ext>
            </a:extLst>
          </p:cNvPr>
          <p:cNvSpPr>
            <a:spLocks noGrp="1"/>
          </p:cNvSpPr>
          <p:nvPr/>
        </p:nvSpPr>
        <p:spPr>
          <a:xfrm>
            <a:off x="781050" y="1447800"/>
            <a:ext cx="6572250" cy="3695700"/>
          </a:xfrm>
          <a:prstGeom prst="roundRect">
            <a:avLst>
              <a:gd name="adj" fmla="val 2577"/>
            </a:avLst>
          </a:prstGeom>
          <a:solidFill>
            <a:srgbClr val="0B1220"/>
          </a:solidFill>
          <a:ln w="9525">
            <a:solidFill>
              <a:srgbClr val="1E293B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sp>
        <p:nvSpPr>
          <p:cNvPr id="4" name="橢圓 3">
            <a:extLst>
              <a:ext uri="{FF2B5EF4-FFF2-40B4-BE49-F238E27FC236}">
                <a16:creationId xmlns:a16="http://schemas.microsoft.com/office/drawing/2014/main" id="{71CE8D52-E14C-4525-A048-0E170ABEDD6F}"/>
              </a:ext>
            </a:extLst>
          </p:cNvPr>
          <p:cNvSpPr>
            <a:spLocks noGrp="1"/>
          </p:cNvSpPr>
          <p:nvPr/>
        </p:nvSpPr>
        <p:spPr>
          <a:xfrm>
            <a:off x="952500" y="1609725"/>
            <a:ext cx="95250" cy="95250"/>
          </a:xfrm>
          <a:prstGeom prst="ellipse">
            <a:avLst/>
          </a:prstGeom>
          <a:solidFill>
            <a:srgbClr val="FB7185"/>
          </a:solidFill>
          <a:ln w="0">
            <a:noFill/>
            <a:prstDash val="solid"/>
          </a:ln>
        </p:spPr>
      </p:sp>
      <p:sp>
        <p:nvSpPr>
          <p:cNvPr id="5" name="橢圓 4">
            <a:extLst>
              <a:ext uri="{FF2B5EF4-FFF2-40B4-BE49-F238E27FC236}">
                <a16:creationId xmlns:a16="http://schemas.microsoft.com/office/drawing/2014/main" id="{D9F32203-D5CE-4EF3-AC27-BE905EAF0E2B}"/>
              </a:ext>
            </a:extLst>
          </p:cNvPr>
          <p:cNvSpPr>
            <a:spLocks noGrp="1"/>
          </p:cNvSpPr>
          <p:nvPr/>
        </p:nvSpPr>
        <p:spPr>
          <a:xfrm>
            <a:off x="1123950" y="1609725"/>
            <a:ext cx="95250" cy="95250"/>
          </a:xfrm>
          <a:prstGeom prst="ellipse">
            <a:avLst/>
          </a:prstGeom>
          <a:solidFill>
            <a:srgbClr val="FBBF24"/>
          </a:solidFill>
          <a:ln w="0">
            <a:noFill/>
            <a:prstDash val="solid"/>
          </a:ln>
        </p:spPr>
      </p:sp>
      <p:sp>
        <p:nvSpPr>
          <p:cNvPr id="6" name="橢圓 5">
            <a:extLst>
              <a:ext uri="{FF2B5EF4-FFF2-40B4-BE49-F238E27FC236}">
                <a16:creationId xmlns:a16="http://schemas.microsoft.com/office/drawing/2014/main" id="{706F1F48-1A56-4B1F-8D7B-1FE758758164}"/>
              </a:ext>
            </a:extLst>
          </p:cNvPr>
          <p:cNvSpPr>
            <a:spLocks noGrp="1"/>
          </p:cNvSpPr>
          <p:nvPr/>
        </p:nvSpPr>
        <p:spPr>
          <a:xfrm>
            <a:off x="1295400" y="1609725"/>
            <a:ext cx="95250" cy="95250"/>
          </a:xfrm>
          <a:prstGeom prst="ellipse">
            <a:avLst/>
          </a:prstGeom>
          <a:solidFill>
            <a:srgbClr val="34D399"/>
          </a:solidFill>
          <a:ln w="0">
            <a:noFill/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B52AFDB-4983-48A8-A74B-236B69D5A9A4}"/>
              </a:ext>
            </a:extLst>
          </p:cNvPr>
          <p:cNvSpPr>
            <a:spLocks noGrp="1"/>
          </p:cNvSpPr>
          <p:nvPr/>
        </p:nvSpPr>
        <p:spPr>
          <a:xfrm>
            <a:off x="990600" y="1866900"/>
            <a:ext cx="6153150" cy="3143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4000"/>
              </a:lnSpc>
              <a:buNone/>
              <a:defRPr sz="1575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b="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docker run -d \</a:t>
            </a:r>
          </a:p>
          <a:p>
            <a:pPr algn="l">
              <a:lnSpc>
                <a:spcPct val="104000"/>
              </a:lnSpc>
              <a:buNone/>
              <a:defRPr sz="1575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b="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--name my-</a:t>
            </a:r>
            <a:r>
              <a:rPr b="0" dirty="0" err="1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mysql</a:t>
            </a:r>
            <a:r>
              <a:rPr b="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\</a:t>
            </a:r>
          </a:p>
          <a:p>
            <a:pPr algn="l">
              <a:lnSpc>
                <a:spcPct val="104000"/>
              </a:lnSpc>
              <a:buNone/>
              <a:defRPr sz="1575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b="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-e MYSQL_ROOT_PASSWORD=secret-pw \</a:t>
            </a:r>
          </a:p>
          <a:p>
            <a:pPr algn="l">
              <a:lnSpc>
                <a:spcPct val="104000"/>
              </a:lnSpc>
              <a:buNone/>
              <a:defRPr sz="1575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b="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-e MYSQL_DATABASE=</a:t>
            </a:r>
            <a:r>
              <a:rPr b="0" dirty="0" err="1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testdb</a:t>
            </a:r>
            <a:r>
              <a:rPr b="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\</a:t>
            </a:r>
          </a:p>
          <a:p>
            <a:pPr algn="l">
              <a:lnSpc>
                <a:spcPct val="104000"/>
              </a:lnSpc>
              <a:buNone/>
              <a:defRPr sz="1575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b="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-e MYSQL_USER=</a:t>
            </a:r>
            <a:r>
              <a:rPr b="0" dirty="0" err="1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testuser</a:t>
            </a:r>
            <a:r>
              <a:rPr b="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\</a:t>
            </a:r>
          </a:p>
          <a:p>
            <a:pPr algn="l">
              <a:lnSpc>
                <a:spcPct val="104000"/>
              </a:lnSpc>
              <a:buNone/>
              <a:defRPr sz="1575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b="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-e MYSQL_PASSWORD=</a:t>
            </a:r>
            <a:r>
              <a:rPr b="0" dirty="0" err="1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testpass</a:t>
            </a:r>
            <a:r>
              <a:rPr b="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\</a:t>
            </a:r>
          </a:p>
          <a:p>
            <a:pPr algn="l">
              <a:lnSpc>
                <a:spcPct val="104000"/>
              </a:lnSpc>
              <a:buNone/>
              <a:defRPr sz="1575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b="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-p 3306:3306 \</a:t>
            </a:r>
          </a:p>
          <a:p>
            <a:pPr algn="l">
              <a:lnSpc>
                <a:spcPct val="104000"/>
              </a:lnSpc>
              <a:buNone/>
              <a:defRPr sz="1575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b="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</a:t>
            </a:r>
            <a:r>
              <a:rPr b="0" dirty="0" err="1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mysql</a:t>
            </a:r>
            <a:endParaRPr b="0" dirty="0">
              <a:solidFill>
                <a:srgbClr val="E5E7EB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47F20F67-91C7-441E-B30A-FB090138361C}"/>
              </a:ext>
            </a:extLst>
          </p:cNvPr>
          <p:cNvSpPr>
            <a:spLocks noGrp="1"/>
          </p:cNvSpPr>
          <p:nvPr/>
        </p:nvSpPr>
        <p:spPr>
          <a:xfrm>
            <a:off x="7962900" y="1428750"/>
            <a:ext cx="3009900" cy="609600"/>
          </a:xfrm>
          <a:prstGeom prst="roundRect">
            <a:avLst>
              <a:gd name="adj" fmla="val 15625"/>
            </a:avLst>
          </a:prstGeom>
          <a:solidFill>
            <a:srgbClr val="111827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F2179F8-7F54-4C55-A0F5-BE8087625705}"/>
              </a:ext>
            </a:extLst>
          </p:cNvPr>
          <p:cNvSpPr>
            <a:spLocks noGrp="1"/>
          </p:cNvSpPr>
          <p:nvPr/>
        </p:nvSpPr>
        <p:spPr>
          <a:xfrm>
            <a:off x="8210550" y="1562100"/>
            <a:ext cx="1295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1029"/>
          </a:bodyPr>
          <a:lstStyle/>
          <a:p>
            <a:pPr algn="l">
              <a:lnSpc>
                <a:spcPct val="106000"/>
              </a:lnSpc>
              <a:buNone/>
              <a:defRPr sz="1425" b="1">
                <a:solidFill>
                  <a:srgbClr val="93C5FD"/>
                </a:solidFill>
                <a:latin typeface="Consolas"/>
                <a:ea typeface="Consolas"/>
                <a:cs typeface="Consolas"/>
              </a:defRPr>
            </a:pPr>
            <a:r>
              <a:rPr sz="1425" b="1">
                <a:solidFill>
                  <a:srgbClr val="93C5FD"/>
                </a:solidFill>
                <a:latin typeface="Consolas"/>
                <a:ea typeface="Consolas"/>
                <a:cs typeface="Consolas"/>
              </a:rPr>
              <a:t>-d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5C4516F-0388-4D21-854D-56603D1B3126}"/>
              </a:ext>
            </a:extLst>
          </p:cNvPr>
          <p:cNvSpPr>
            <a:spLocks noGrp="1"/>
          </p:cNvSpPr>
          <p:nvPr/>
        </p:nvSpPr>
        <p:spPr>
          <a:xfrm>
            <a:off x="9620250" y="1571625"/>
            <a:ext cx="1047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8270"/>
          </a:bodyPr>
          <a:lstStyle/>
          <a:p>
            <a:pPr algn="r">
              <a:lnSpc>
                <a:spcPct val="106000"/>
              </a:lnSpc>
              <a:buNone/>
              <a:defRPr sz="1200" b="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E2E8F0"/>
                </a:solidFill>
                <a:latin typeface="Aptos"/>
                <a:ea typeface="Aptos"/>
                <a:cs typeface="Aptos"/>
              </a:rPr>
              <a:t>背景執行</a:t>
            </a:r>
          </a:p>
        </p:txBody>
      </p: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D92255E2-F8BF-4687-9431-F80ABAE8E85E}"/>
              </a:ext>
            </a:extLst>
          </p:cNvPr>
          <p:cNvSpPr>
            <a:spLocks noGrp="1"/>
          </p:cNvSpPr>
          <p:nvPr/>
        </p:nvSpPr>
        <p:spPr>
          <a:xfrm>
            <a:off x="7962900" y="2152650"/>
            <a:ext cx="3009900" cy="609600"/>
          </a:xfrm>
          <a:prstGeom prst="roundRect">
            <a:avLst>
              <a:gd name="adj" fmla="val 15625"/>
            </a:avLst>
          </a:prstGeom>
          <a:solidFill>
            <a:srgbClr val="111827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1C35427-A345-4897-9360-40A769FEEA9D}"/>
              </a:ext>
            </a:extLst>
          </p:cNvPr>
          <p:cNvSpPr>
            <a:spLocks noGrp="1"/>
          </p:cNvSpPr>
          <p:nvPr/>
        </p:nvSpPr>
        <p:spPr>
          <a:xfrm>
            <a:off x="8210550" y="2286000"/>
            <a:ext cx="1295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1029"/>
          </a:bodyPr>
          <a:lstStyle/>
          <a:p>
            <a:pPr algn="l">
              <a:lnSpc>
                <a:spcPct val="106000"/>
              </a:lnSpc>
              <a:buNone/>
              <a:defRPr sz="1425" b="1">
                <a:solidFill>
                  <a:srgbClr val="93C5FD"/>
                </a:solidFill>
                <a:latin typeface="Consolas"/>
                <a:ea typeface="Consolas"/>
                <a:cs typeface="Consolas"/>
              </a:defRPr>
            </a:pPr>
            <a:r>
              <a:rPr sz="1425" b="1">
                <a:solidFill>
                  <a:srgbClr val="93C5FD"/>
                </a:solidFill>
                <a:latin typeface="Consolas"/>
                <a:ea typeface="Consolas"/>
                <a:cs typeface="Consolas"/>
              </a:rPr>
              <a:t>--name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0AC5AF2-7042-4EAD-A936-806CA4460A0C}"/>
              </a:ext>
            </a:extLst>
          </p:cNvPr>
          <p:cNvSpPr>
            <a:spLocks noGrp="1"/>
          </p:cNvSpPr>
          <p:nvPr/>
        </p:nvSpPr>
        <p:spPr>
          <a:xfrm>
            <a:off x="9620250" y="2295525"/>
            <a:ext cx="1047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8270"/>
          </a:bodyPr>
          <a:lstStyle/>
          <a:p>
            <a:pPr algn="r">
              <a:lnSpc>
                <a:spcPct val="106000"/>
              </a:lnSpc>
              <a:buNone/>
              <a:defRPr sz="1200" b="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E2E8F0"/>
                </a:solidFill>
                <a:latin typeface="Aptos"/>
                <a:ea typeface="Aptos"/>
                <a:cs typeface="Aptos"/>
              </a:rPr>
              <a:t>容器名稱</a:t>
            </a:r>
          </a:p>
        </p:txBody>
      </p:sp>
      <p:sp>
        <p:nvSpPr>
          <p:cNvPr id="14" name="矩形: 圓角 13">
            <a:extLst>
              <a:ext uri="{FF2B5EF4-FFF2-40B4-BE49-F238E27FC236}">
                <a16:creationId xmlns:a16="http://schemas.microsoft.com/office/drawing/2014/main" id="{8F7EB88E-BAD6-4B17-95C8-B490BAF10A88}"/>
              </a:ext>
            </a:extLst>
          </p:cNvPr>
          <p:cNvSpPr>
            <a:spLocks noGrp="1"/>
          </p:cNvSpPr>
          <p:nvPr/>
        </p:nvSpPr>
        <p:spPr>
          <a:xfrm>
            <a:off x="7962900" y="2876550"/>
            <a:ext cx="3009900" cy="609600"/>
          </a:xfrm>
          <a:prstGeom prst="roundRect">
            <a:avLst>
              <a:gd name="adj" fmla="val 15625"/>
            </a:avLst>
          </a:prstGeom>
          <a:solidFill>
            <a:srgbClr val="111827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07352390-DD59-4090-99BD-5E8A1C2C88E5}"/>
              </a:ext>
            </a:extLst>
          </p:cNvPr>
          <p:cNvSpPr>
            <a:spLocks noGrp="1"/>
          </p:cNvSpPr>
          <p:nvPr/>
        </p:nvSpPr>
        <p:spPr>
          <a:xfrm>
            <a:off x="8210550" y="3009900"/>
            <a:ext cx="1295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1029"/>
          </a:bodyPr>
          <a:lstStyle/>
          <a:p>
            <a:pPr algn="l">
              <a:lnSpc>
                <a:spcPct val="106000"/>
              </a:lnSpc>
              <a:buNone/>
              <a:defRPr sz="1425" b="1">
                <a:solidFill>
                  <a:srgbClr val="93C5FD"/>
                </a:solidFill>
                <a:latin typeface="Consolas"/>
                <a:ea typeface="Consolas"/>
                <a:cs typeface="Consolas"/>
              </a:defRPr>
            </a:pPr>
            <a:r>
              <a:rPr sz="1425" b="1">
                <a:solidFill>
                  <a:srgbClr val="93C5FD"/>
                </a:solidFill>
                <a:latin typeface="Consolas"/>
                <a:ea typeface="Consolas"/>
                <a:cs typeface="Consolas"/>
              </a:rPr>
              <a:t>-e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A3D4EDFA-FDA4-46D3-8008-76F4B06EEB59}"/>
              </a:ext>
            </a:extLst>
          </p:cNvPr>
          <p:cNvSpPr>
            <a:spLocks noGrp="1"/>
          </p:cNvSpPr>
          <p:nvPr/>
        </p:nvSpPr>
        <p:spPr>
          <a:xfrm>
            <a:off x="9620250" y="3019425"/>
            <a:ext cx="1047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8270"/>
          </a:bodyPr>
          <a:lstStyle/>
          <a:p>
            <a:pPr algn="r">
              <a:lnSpc>
                <a:spcPct val="106000"/>
              </a:lnSpc>
              <a:buNone/>
              <a:defRPr sz="1200" b="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E2E8F0"/>
                </a:solidFill>
                <a:latin typeface="Aptos"/>
                <a:ea typeface="Aptos"/>
                <a:cs typeface="Aptos"/>
              </a:rPr>
              <a:t>環境變數</a:t>
            </a:r>
          </a:p>
        </p:txBody>
      </p:sp>
      <p:sp>
        <p:nvSpPr>
          <p:cNvPr id="17" name="矩形: 圓角 16">
            <a:extLst>
              <a:ext uri="{FF2B5EF4-FFF2-40B4-BE49-F238E27FC236}">
                <a16:creationId xmlns:a16="http://schemas.microsoft.com/office/drawing/2014/main" id="{9035CB95-4D60-4CF9-BFB8-D91F552BE0C4}"/>
              </a:ext>
            </a:extLst>
          </p:cNvPr>
          <p:cNvSpPr>
            <a:spLocks noGrp="1"/>
          </p:cNvSpPr>
          <p:nvPr/>
        </p:nvSpPr>
        <p:spPr>
          <a:xfrm>
            <a:off x="7962900" y="3600450"/>
            <a:ext cx="3009900" cy="609600"/>
          </a:xfrm>
          <a:prstGeom prst="roundRect">
            <a:avLst>
              <a:gd name="adj" fmla="val 15625"/>
            </a:avLst>
          </a:prstGeom>
          <a:solidFill>
            <a:srgbClr val="111827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7BFA1ED1-2DB9-44CE-961E-8507159726C1}"/>
              </a:ext>
            </a:extLst>
          </p:cNvPr>
          <p:cNvSpPr>
            <a:spLocks noGrp="1"/>
          </p:cNvSpPr>
          <p:nvPr/>
        </p:nvSpPr>
        <p:spPr>
          <a:xfrm>
            <a:off x="8210550" y="3733800"/>
            <a:ext cx="1295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1029"/>
          </a:bodyPr>
          <a:lstStyle/>
          <a:p>
            <a:pPr algn="l">
              <a:lnSpc>
                <a:spcPct val="106000"/>
              </a:lnSpc>
              <a:buNone/>
              <a:defRPr sz="1425" b="1">
                <a:solidFill>
                  <a:srgbClr val="93C5FD"/>
                </a:solidFill>
                <a:latin typeface="Consolas"/>
                <a:ea typeface="Consolas"/>
                <a:cs typeface="Consolas"/>
              </a:defRPr>
            </a:pPr>
            <a:r>
              <a:rPr sz="1425" b="1">
                <a:solidFill>
                  <a:srgbClr val="93C5FD"/>
                </a:solidFill>
                <a:latin typeface="Consolas"/>
                <a:ea typeface="Consolas"/>
                <a:cs typeface="Consolas"/>
              </a:rPr>
              <a:t>-p 3306:3306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AA3EF6C4-FB51-466F-9BC8-DAACE1542454}"/>
              </a:ext>
            </a:extLst>
          </p:cNvPr>
          <p:cNvSpPr>
            <a:spLocks noGrp="1"/>
          </p:cNvSpPr>
          <p:nvPr/>
        </p:nvSpPr>
        <p:spPr>
          <a:xfrm>
            <a:off x="9620250" y="3743325"/>
            <a:ext cx="1047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0309"/>
          </a:bodyPr>
          <a:lstStyle/>
          <a:p>
            <a:pPr algn="r">
              <a:lnSpc>
                <a:spcPct val="106000"/>
              </a:lnSpc>
              <a:buNone/>
              <a:defRPr sz="1200" b="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E2E8F0"/>
                </a:solidFill>
                <a:latin typeface="Aptos"/>
                <a:ea typeface="Aptos"/>
                <a:cs typeface="Aptos"/>
              </a:rPr>
              <a:t>MySQL 端口映射</a:t>
            </a:r>
          </a:p>
        </p:txBody>
      </p:sp>
      <p:sp>
        <p:nvSpPr>
          <p:cNvPr id="20" name="矩形: 圓角 19">
            <a:extLst>
              <a:ext uri="{FF2B5EF4-FFF2-40B4-BE49-F238E27FC236}">
                <a16:creationId xmlns:a16="http://schemas.microsoft.com/office/drawing/2014/main" id="{E9EE353F-F999-465C-9589-9A9D22848708}"/>
              </a:ext>
            </a:extLst>
          </p:cNvPr>
          <p:cNvSpPr>
            <a:spLocks noGrp="1"/>
          </p:cNvSpPr>
          <p:nvPr/>
        </p:nvSpPr>
        <p:spPr>
          <a:xfrm>
            <a:off x="7962900" y="4324350"/>
            <a:ext cx="3009900" cy="609600"/>
          </a:xfrm>
          <a:prstGeom prst="roundRect">
            <a:avLst>
              <a:gd name="adj" fmla="val 15625"/>
            </a:avLst>
          </a:prstGeom>
          <a:solidFill>
            <a:srgbClr val="111827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DCB25A2B-5299-43AE-A188-1172E9BDBAAF}"/>
              </a:ext>
            </a:extLst>
          </p:cNvPr>
          <p:cNvSpPr>
            <a:spLocks noGrp="1"/>
          </p:cNvSpPr>
          <p:nvPr/>
        </p:nvSpPr>
        <p:spPr>
          <a:xfrm>
            <a:off x="8210550" y="4457700"/>
            <a:ext cx="1295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1029"/>
          </a:bodyPr>
          <a:lstStyle/>
          <a:p>
            <a:pPr algn="l">
              <a:lnSpc>
                <a:spcPct val="106000"/>
              </a:lnSpc>
              <a:buNone/>
              <a:defRPr sz="1425" b="1">
                <a:solidFill>
                  <a:srgbClr val="93C5FD"/>
                </a:solidFill>
                <a:latin typeface="Consolas"/>
                <a:ea typeface="Consolas"/>
                <a:cs typeface="Consolas"/>
              </a:defRPr>
            </a:pPr>
            <a:r>
              <a:rPr sz="1425" b="1">
                <a:solidFill>
                  <a:srgbClr val="93C5FD"/>
                </a:solidFill>
                <a:latin typeface="Consolas"/>
                <a:ea typeface="Consolas"/>
                <a:cs typeface="Consolas"/>
              </a:rPr>
              <a:t>mysql:8.0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42AF038A-570E-4448-B0BF-D23BE415CFD6}"/>
              </a:ext>
            </a:extLst>
          </p:cNvPr>
          <p:cNvSpPr>
            <a:spLocks noGrp="1"/>
          </p:cNvSpPr>
          <p:nvPr/>
        </p:nvSpPr>
        <p:spPr>
          <a:xfrm>
            <a:off x="9620250" y="4467225"/>
            <a:ext cx="1047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8270"/>
          </a:bodyPr>
          <a:lstStyle/>
          <a:p>
            <a:pPr algn="r">
              <a:lnSpc>
                <a:spcPct val="106000"/>
              </a:lnSpc>
              <a:buNone/>
              <a:defRPr sz="1200" b="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E2E8F0"/>
                </a:solidFill>
                <a:latin typeface="Aptos"/>
                <a:ea typeface="Aptos"/>
                <a:cs typeface="Aptos"/>
              </a:rPr>
              <a:t>指定版本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67F68B69-6ECD-46B8-853F-0A239668F333}"/>
              </a:ext>
            </a:extLst>
          </p:cNvPr>
          <p:cNvSpPr>
            <a:spLocks noGrp="1"/>
          </p:cNvSpPr>
          <p:nvPr/>
        </p:nvSpPr>
        <p:spPr>
          <a:xfrm>
            <a:off x="609600" y="6305550"/>
            <a:ext cx="9906000" cy="13335"/>
          </a:xfrm>
          <a:prstGeom prst="rect">
            <a:avLst/>
          </a:prstGeom>
          <a:solidFill>
            <a:srgbClr val="334155"/>
          </a:solidFill>
          <a:ln w="0">
            <a:noFill/>
            <a:prstDash val="solid"/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1CAD7D01-B3AD-4FC9-AB43-58231B0C559F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2762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82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Docker 基礎教學 | 第 3 堂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4D9B9BDD-453F-4AA7-8666-489CD9C59AF0}"/>
              </a:ext>
            </a:extLst>
          </p:cNvPr>
          <p:cNvSpPr>
            <a:spLocks noGrp="1"/>
          </p:cNvSpPr>
          <p:nvPr/>
        </p:nvSpPr>
        <p:spPr>
          <a:xfrm>
            <a:off x="11010900" y="6381750"/>
            <a:ext cx="571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106000"/>
              </a:lnSpc>
              <a:buNone/>
              <a:defRPr sz="900" b="1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BD5E1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4365722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449CF4FA-2A7E-4243-8A20-7F300658EF8D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619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900" b="1">
                <a:solidFill>
                  <a:srgbClr val="0B5CA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5CAD"/>
                </a:solidFill>
                <a:latin typeface="Aptos"/>
                <a:ea typeface="Aptos"/>
                <a:cs typeface="Aptos"/>
              </a:rPr>
              <a:t>CONNECT MYSQL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B93D531-26B7-4CFC-994D-71F57D620CAC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9906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28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看到 ready for connections 才算啟動完成</a:t>
            </a: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E6715AA3-56F5-47AF-A0DE-4EF48F2A43EF}"/>
              </a:ext>
            </a:extLst>
          </p:cNvPr>
          <p:cNvSpPr>
            <a:spLocks noGrp="1"/>
          </p:cNvSpPr>
          <p:nvPr/>
        </p:nvSpPr>
        <p:spPr>
          <a:xfrm>
            <a:off x="819150" y="1619250"/>
            <a:ext cx="5334000" cy="2038350"/>
          </a:xfrm>
          <a:prstGeom prst="roundRect">
            <a:avLst>
              <a:gd name="adj" fmla="val 4673"/>
            </a:avLst>
          </a:prstGeom>
          <a:solidFill>
            <a:srgbClr val="0B1220"/>
          </a:solidFill>
          <a:ln w="9525">
            <a:solidFill>
              <a:srgbClr val="1E293B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sp>
        <p:nvSpPr>
          <p:cNvPr id="4" name="橢圓 3">
            <a:extLst>
              <a:ext uri="{FF2B5EF4-FFF2-40B4-BE49-F238E27FC236}">
                <a16:creationId xmlns:a16="http://schemas.microsoft.com/office/drawing/2014/main" id="{00D42916-F547-4261-B023-396D15DC32EF}"/>
              </a:ext>
            </a:extLst>
          </p:cNvPr>
          <p:cNvSpPr>
            <a:spLocks noGrp="1"/>
          </p:cNvSpPr>
          <p:nvPr/>
        </p:nvSpPr>
        <p:spPr>
          <a:xfrm>
            <a:off x="990600" y="1781175"/>
            <a:ext cx="95250" cy="95250"/>
          </a:xfrm>
          <a:prstGeom prst="ellipse">
            <a:avLst/>
          </a:prstGeom>
          <a:solidFill>
            <a:srgbClr val="FB7185"/>
          </a:solidFill>
          <a:ln w="0">
            <a:noFill/>
            <a:prstDash val="solid"/>
          </a:ln>
        </p:spPr>
      </p:sp>
      <p:sp>
        <p:nvSpPr>
          <p:cNvPr id="5" name="橢圓 4">
            <a:extLst>
              <a:ext uri="{FF2B5EF4-FFF2-40B4-BE49-F238E27FC236}">
                <a16:creationId xmlns:a16="http://schemas.microsoft.com/office/drawing/2014/main" id="{6BFCA455-E91E-4575-BFA2-C98F66D1C652}"/>
              </a:ext>
            </a:extLst>
          </p:cNvPr>
          <p:cNvSpPr>
            <a:spLocks noGrp="1"/>
          </p:cNvSpPr>
          <p:nvPr/>
        </p:nvSpPr>
        <p:spPr>
          <a:xfrm>
            <a:off x="1162050" y="1781175"/>
            <a:ext cx="95250" cy="95250"/>
          </a:xfrm>
          <a:prstGeom prst="ellipse">
            <a:avLst/>
          </a:prstGeom>
          <a:solidFill>
            <a:srgbClr val="FBBF24"/>
          </a:solidFill>
          <a:ln w="0">
            <a:noFill/>
            <a:prstDash val="solid"/>
          </a:ln>
        </p:spPr>
      </p:sp>
      <p:sp>
        <p:nvSpPr>
          <p:cNvPr id="6" name="橢圓 5">
            <a:extLst>
              <a:ext uri="{FF2B5EF4-FFF2-40B4-BE49-F238E27FC236}">
                <a16:creationId xmlns:a16="http://schemas.microsoft.com/office/drawing/2014/main" id="{7EA45D13-1DEB-4259-8E61-0D6716128BCF}"/>
              </a:ext>
            </a:extLst>
          </p:cNvPr>
          <p:cNvSpPr>
            <a:spLocks noGrp="1"/>
          </p:cNvSpPr>
          <p:nvPr/>
        </p:nvSpPr>
        <p:spPr>
          <a:xfrm>
            <a:off x="1333500" y="1781175"/>
            <a:ext cx="95250" cy="95250"/>
          </a:xfrm>
          <a:prstGeom prst="ellipse">
            <a:avLst/>
          </a:prstGeom>
          <a:solidFill>
            <a:srgbClr val="34D399"/>
          </a:solidFill>
          <a:ln w="0">
            <a:noFill/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E056925-41F3-4198-A73C-E1DFE558A6CC}"/>
              </a:ext>
            </a:extLst>
          </p:cNvPr>
          <p:cNvSpPr>
            <a:spLocks noGrp="1"/>
          </p:cNvSpPr>
          <p:nvPr/>
        </p:nvSpPr>
        <p:spPr>
          <a:xfrm>
            <a:off x="1028700" y="2038350"/>
            <a:ext cx="4914900" cy="1485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4000"/>
              </a:lnSpc>
              <a:buNone/>
              <a:defRPr sz="165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650" b="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docker </a:t>
            </a:r>
            <a:r>
              <a:rPr sz="1650" b="0" dirty="0" err="1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ps</a:t>
            </a:r>
            <a:endParaRPr sz="1650" b="0" dirty="0">
              <a:solidFill>
                <a:srgbClr val="E5E7EB"/>
              </a:solidFill>
              <a:latin typeface="Consolas"/>
              <a:ea typeface="Consolas"/>
              <a:cs typeface="Consolas"/>
            </a:endParaRPr>
          </a:p>
          <a:p>
            <a:pPr algn="l">
              <a:lnSpc>
                <a:spcPct val="104000"/>
              </a:lnSpc>
              <a:buNone/>
              <a:defRPr sz="165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650" b="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docker logs my-</a:t>
            </a:r>
            <a:r>
              <a:rPr sz="1650" b="0" dirty="0" err="1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mysql</a:t>
            </a:r>
            <a:endParaRPr sz="1650" b="0" dirty="0">
              <a:solidFill>
                <a:srgbClr val="E5E7EB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BB943CF9-78D9-453A-B6A4-7DE7636A730E}"/>
              </a:ext>
            </a:extLst>
          </p:cNvPr>
          <p:cNvSpPr>
            <a:spLocks noGrp="1"/>
          </p:cNvSpPr>
          <p:nvPr/>
        </p:nvSpPr>
        <p:spPr>
          <a:xfrm>
            <a:off x="6953250" y="1676400"/>
            <a:ext cx="3714750" cy="1638300"/>
          </a:xfrm>
          <a:prstGeom prst="roundRect">
            <a:avLst>
              <a:gd name="adj" fmla="val 6977"/>
            </a:avLst>
          </a:prstGeom>
          <a:solidFill>
            <a:srgbClr val="FFF6DD"/>
          </a:solidFill>
          <a:ln w="9525">
            <a:solidFill>
              <a:srgbClr val="F59E0B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711AEA2-9C77-47D4-90A0-7F74E0829C30}"/>
              </a:ext>
            </a:extLst>
          </p:cNvPr>
          <p:cNvSpPr>
            <a:spLocks noGrp="1"/>
          </p:cNvSpPr>
          <p:nvPr/>
        </p:nvSpPr>
        <p:spPr>
          <a:xfrm>
            <a:off x="7181850" y="1866900"/>
            <a:ext cx="32575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1875" b="1">
                <a:solidFill>
                  <a:srgbClr val="B45309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B45309"/>
                </a:solidFill>
                <a:latin typeface="Aptos Display"/>
                <a:ea typeface="Aptos Display"/>
                <a:cs typeface="Aptos Display"/>
              </a:rPr>
              <a:t>容器 Up 不等於服務可用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846D89F-351B-4051-B0E8-A9CEF9B8CDD2}"/>
              </a:ext>
            </a:extLst>
          </p:cNvPr>
          <p:cNvSpPr>
            <a:spLocks noGrp="1"/>
          </p:cNvSpPr>
          <p:nvPr/>
        </p:nvSpPr>
        <p:spPr>
          <a:xfrm>
            <a:off x="7181850" y="2286000"/>
            <a:ext cx="325755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MySQL 容器啟動後還需要初始化資料目錄。logs 看到 ready for connections 再連線。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6B6DF65-5547-467A-A93D-90483702FF07}"/>
              </a:ext>
            </a:extLst>
          </p:cNvPr>
          <p:cNvSpPr>
            <a:spLocks noGrp="1"/>
          </p:cNvSpPr>
          <p:nvPr/>
        </p:nvSpPr>
        <p:spPr>
          <a:xfrm>
            <a:off x="609600" y="6305550"/>
            <a:ext cx="9906000" cy="13335"/>
          </a:xfrm>
          <a:prstGeom prst="rect">
            <a:avLst/>
          </a:prstGeom>
          <a:solidFill>
            <a:srgbClr val="D9E2EC"/>
          </a:solidFill>
          <a:ln w="0">
            <a:noFill/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551A1BC-477C-4DE6-902C-98D296EF4155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2762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Docker 基礎教學 | 第 3 堂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94B5C6F9-447F-45E4-A611-F765BC6072D2}"/>
              </a:ext>
            </a:extLst>
          </p:cNvPr>
          <p:cNvSpPr>
            <a:spLocks noGrp="1"/>
          </p:cNvSpPr>
          <p:nvPr/>
        </p:nvSpPr>
        <p:spPr>
          <a:xfrm>
            <a:off x="11010900" y="6381750"/>
            <a:ext cx="571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106000"/>
              </a:lnSpc>
              <a:buNone/>
              <a:defRPr sz="9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2273571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矩形 29">
            <a:extLst>
              <a:ext uri="{FF2B5EF4-FFF2-40B4-BE49-F238E27FC236}">
                <a16:creationId xmlns:a16="http://schemas.microsoft.com/office/drawing/2014/main" id="{FE34096B-C4FB-41CC-8440-9C10237C8253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619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900" b="1">
                <a:solidFill>
                  <a:srgbClr val="0B5CA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5CAD"/>
                </a:solidFill>
                <a:latin typeface="Aptos"/>
                <a:ea typeface="Aptos"/>
                <a:cs typeface="Aptos"/>
              </a:rPr>
              <a:t>SQL PRACTICE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4777D2B-14CD-4676-8C43-8D68D7B1C5A0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9906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28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進 MySQL 後做一輪基本 CRUD</a:t>
            </a: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58C41BDD-741B-42A9-806C-BF8C6A87D59C}"/>
              </a:ext>
            </a:extLst>
          </p:cNvPr>
          <p:cNvSpPr>
            <a:spLocks noGrp="1"/>
          </p:cNvSpPr>
          <p:nvPr/>
        </p:nvSpPr>
        <p:spPr>
          <a:xfrm>
            <a:off x="838200" y="1981200"/>
            <a:ext cx="1714500" cy="14287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6FB262F-443D-40A6-87C9-48A9A0A13321}"/>
              </a:ext>
            </a:extLst>
          </p:cNvPr>
          <p:cNvSpPr>
            <a:spLocks noGrp="1"/>
          </p:cNvSpPr>
          <p:nvPr/>
        </p:nvSpPr>
        <p:spPr>
          <a:xfrm>
            <a:off x="1009650" y="2286000"/>
            <a:ext cx="1371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6000"/>
              </a:lnSpc>
              <a:buNone/>
              <a:defRPr sz="1650" b="1">
                <a:solidFill>
                  <a:srgbClr val="0B1220"/>
                </a:solidFill>
                <a:latin typeface="Consolas"/>
                <a:ea typeface="Consolas"/>
                <a:cs typeface="Consolas"/>
              </a:defRPr>
            </a:pPr>
            <a:r>
              <a:rPr sz="1650" b="1">
                <a:solidFill>
                  <a:srgbClr val="0B1220"/>
                </a:solidFill>
                <a:latin typeface="Consolas"/>
                <a:ea typeface="Consolas"/>
                <a:cs typeface="Consolas"/>
              </a:rPr>
              <a:t>CREATE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4026AA2-8790-4A1F-853F-CC948088E2A5}"/>
              </a:ext>
            </a:extLst>
          </p:cNvPr>
          <p:cNvSpPr>
            <a:spLocks noGrp="1"/>
          </p:cNvSpPr>
          <p:nvPr/>
        </p:nvSpPr>
        <p:spPr>
          <a:xfrm>
            <a:off x="1009650" y="2819400"/>
            <a:ext cx="13716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8953"/>
          </a:bodyPr>
          <a:lstStyle/>
          <a:p>
            <a:pPr algn="ctr">
              <a:lnSpc>
                <a:spcPct val="106000"/>
              </a:lnSpc>
              <a:buNone/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建立 Product 資料表</a:t>
            </a:r>
          </a:p>
        </p:txBody>
      </p:sp>
      <p:sp>
        <p:nvSpPr>
          <p:cNvPr id="6" name="箭號: 向右 5">
            <a:extLst>
              <a:ext uri="{FF2B5EF4-FFF2-40B4-BE49-F238E27FC236}">
                <a16:creationId xmlns:a16="http://schemas.microsoft.com/office/drawing/2014/main" id="{38851C87-5D0F-48EF-8490-184F7E422EA1}"/>
              </a:ext>
            </a:extLst>
          </p:cNvPr>
          <p:cNvSpPr>
            <a:spLocks noGrp="1"/>
          </p:cNvSpPr>
          <p:nvPr/>
        </p:nvSpPr>
        <p:spPr>
          <a:xfrm>
            <a:off x="2628900" y="2514600"/>
            <a:ext cx="419100" cy="266700"/>
          </a:xfrm>
          <a:prstGeom prst="rightArrow">
            <a:avLst/>
          </a:prstGeom>
          <a:solidFill>
            <a:srgbClr val="94A3B8"/>
          </a:solidFill>
          <a:ln w="0">
            <a:solidFill>
              <a:srgbClr val="94A3B8"/>
            </a:solidFill>
            <a:prstDash val="solid"/>
          </a:ln>
        </p:spPr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256C6031-1198-4B7B-9CDE-783626367429}"/>
              </a:ext>
            </a:extLst>
          </p:cNvPr>
          <p:cNvSpPr>
            <a:spLocks noGrp="1"/>
          </p:cNvSpPr>
          <p:nvPr/>
        </p:nvSpPr>
        <p:spPr>
          <a:xfrm>
            <a:off x="2990850" y="1981200"/>
            <a:ext cx="1714500" cy="14287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0CE3649-C83F-45D1-94A0-46A72AC5FF4A}"/>
              </a:ext>
            </a:extLst>
          </p:cNvPr>
          <p:cNvSpPr>
            <a:spLocks noGrp="1"/>
          </p:cNvSpPr>
          <p:nvPr/>
        </p:nvSpPr>
        <p:spPr>
          <a:xfrm>
            <a:off x="3162300" y="2286000"/>
            <a:ext cx="1371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6000"/>
              </a:lnSpc>
              <a:buNone/>
              <a:defRPr sz="1650" b="1">
                <a:solidFill>
                  <a:srgbClr val="0B1220"/>
                </a:solidFill>
                <a:latin typeface="Consolas"/>
                <a:ea typeface="Consolas"/>
                <a:cs typeface="Consolas"/>
              </a:defRPr>
            </a:pPr>
            <a:r>
              <a:rPr sz="1650" b="1">
                <a:solidFill>
                  <a:srgbClr val="0B1220"/>
                </a:solidFill>
                <a:latin typeface="Consolas"/>
                <a:ea typeface="Consolas"/>
                <a:cs typeface="Consolas"/>
              </a:rPr>
              <a:t>INSERT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D8F08E9-5B6D-40E0-9525-E62A1BF83C2E}"/>
              </a:ext>
            </a:extLst>
          </p:cNvPr>
          <p:cNvSpPr>
            <a:spLocks noGrp="1"/>
          </p:cNvSpPr>
          <p:nvPr/>
        </p:nvSpPr>
        <p:spPr>
          <a:xfrm>
            <a:off x="3162300" y="2819400"/>
            <a:ext cx="13716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6000"/>
              </a:lnSpc>
              <a:buNone/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新增測試產品</a:t>
            </a:r>
          </a:p>
        </p:txBody>
      </p:sp>
      <p:sp>
        <p:nvSpPr>
          <p:cNvPr id="10" name="箭號: 向右 9">
            <a:extLst>
              <a:ext uri="{FF2B5EF4-FFF2-40B4-BE49-F238E27FC236}">
                <a16:creationId xmlns:a16="http://schemas.microsoft.com/office/drawing/2014/main" id="{93239328-2012-49D2-9044-295D69487222}"/>
              </a:ext>
            </a:extLst>
          </p:cNvPr>
          <p:cNvSpPr>
            <a:spLocks noGrp="1"/>
          </p:cNvSpPr>
          <p:nvPr/>
        </p:nvSpPr>
        <p:spPr>
          <a:xfrm>
            <a:off x="4781550" y="2514600"/>
            <a:ext cx="419100" cy="266700"/>
          </a:xfrm>
          <a:prstGeom prst="rightArrow">
            <a:avLst/>
          </a:prstGeom>
          <a:solidFill>
            <a:srgbClr val="94A3B8"/>
          </a:solidFill>
          <a:ln w="0">
            <a:solidFill>
              <a:srgbClr val="94A3B8"/>
            </a:solidFill>
            <a:prstDash val="solid"/>
          </a:ln>
        </p:spPr>
      </p: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13966DD7-0E34-4DFA-B8B6-EEEEBB6992E3}"/>
              </a:ext>
            </a:extLst>
          </p:cNvPr>
          <p:cNvSpPr>
            <a:spLocks noGrp="1"/>
          </p:cNvSpPr>
          <p:nvPr/>
        </p:nvSpPr>
        <p:spPr>
          <a:xfrm>
            <a:off x="5143500" y="1981200"/>
            <a:ext cx="1714500" cy="1428750"/>
          </a:xfrm>
          <a:prstGeom prst="roundRect">
            <a:avLst>
              <a:gd name="adj" fmla="val 8000"/>
            </a:avLst>
          </a:prstGeom>
          <a:solidFill>
            <a:srgbClr val="E8F3FF"/>
          </a:solidFill>
          <a:ln w="9525">
            <a:solidFill>
              <a:srgbClr val="B7DCF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7252DFC-36F7-4302-AE99-9970B264FE84}"/>
              </a:ext>
            </a:extLst>
          </p:cNvPr>
          <p:cNvSpPr>
            <a:spLocks noGrp="1"/>
          </p:cNvSpPr>
          <p:nvPr/>
        </p:nvSpPr>
        <p:spPr>
          <a:xfrm>
            <a:off x="5314950" y="2286000"/>
            <a:ext cx="1371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6000"/>
              </a:lnSpc>
              <a:buNone/>
              <a:defRPr sz="1650" b="1">
                <a:solidFill>
                  <a:srgbClr val="0B5CAD"/>
                </a:solidFill>
                <a:latin typeface="Consolas"/>
                <a:ea typeface="Consolas"/>
                <a:cs typeface="Consolas"/>
              </a:defRPr>
            </a:pPr>
            <a:r>
              <a:rPr sz="1650" b="1">
                <a:solidFill>
                  <a:srgbClr val="0B5CAD"/>
                </a:solidFill>
                <a:latin typeface="Consolas"/>
                <a:ea typeface="Consolas"/>
                <a:cs typeface="Consolas"/>
              </a:rPr>
              <a:t>SELECT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5C3FBC1-7C95-4E59-85C2-6E247ABF4DE6}"/>
              </a:ext>
            </a:extLst>
          </p:cNvPr>
          <p:cNvSpPr>
            <a:spLocks noGrp="1"/>
          </p:cNvSpPr>
          <p:nvPr/>
        </p:nvSpPr>
        <p:spPr>
          <a:xfrm>
            <a:off x="5314950" y="2819400"/>
            <a:ext cx="13716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6000"/>
              </a:lnSpc>
              <a:buNone/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查詢庫存與總價值</a:t>
            </a:r>
          </a:p>
        </p:txBody>
      </p:sp>
      <p:sp>
        <p:nvSpPr>
          <p:cNvPr id="14" name="箭號: 向右 13">
            <a:extLst>
              <a:ext uri="{FF2B5EF4-FFF2-40B4-BE49-F238E27FC236}">
                <a16:creationId xmlns:a16="http://schemas.microsoft.com/office/drawing/2014/main" id="{CF73BACC-859D-4FB6-818A-3A325A2A157D}"/>
              </a:ext>
            </a:extLst>
          </p:cNvPr>
          <p:cNvSpPr>
            <a:spLocks noGrp="1"/>
          </p:cNvSpPr>
          <p:nvPr/>
        </p:nvSpPr>
        <p:spPr>
          <a:xfrm>
            <a:off x="6934200" y="2514600"/>
            <a:ext cx="419100" cy="266700"/>
          </a:xfrm>
          <a:prstGeom prst="rightArrow">
            <a:avLst/>
          </a:prstGeom>
          <a:solidFill>
            <a:srgbClr val="94A3B8"/>
          </a:solidFill>
          <a:ln w="0">
            <a:solidFill>
              <a:srgbClr val="94A3B8"/>
            </a:solidFill>
            <a:prstDash val="solid"/>
          </a:ln>
        </p:spPr>
      </p:sp>
      <p:sp>
        <p:nvSpPr>
          <p:cNvPr id="15" name="矩形: 圓角 14">
            <a:extLst>
              <a:ext uri="{FF2B5EF4-FFF2-40B4-BE49-F238E27FC236}">
                <a16:creationId xmlns:a16="http://schemas.microsoft.com/office/drawing/2014/main" id="{0FA93CF9-613C-473E-BA2C-B0F460407A22}"/>
              </a:ext>
            </a:extLst>
          </p:cNvPr>
          <p:cNvSpPr>
            <a:spLocks noGrp="1"/>
          </p:cNvSpPr>
          <p:nvPr/>
        </p:nvSpPr>
        <p:spPr>
          <a:xfrm>
            <a:off x="7296150" y="1981200"/>
            <a:ext cx="1714500" cy="14287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DFD407DD-2C9F-4767-A4FF-9B4046A3E89F}"/>
              </a:ext>
            </a:extLst>
          </p:cNvPr>
          <p:cNvSpPr>
            <a:spLocks noGrp="1"/>
          </p:cNvSpPr>
          <p:nvPr/>
        </p:nvSpPr>
        <p:spPr>
          <a:xfrm>
            <a:off x="7467600" y="2286000"/>
            <a:ext cx="1371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6000"/>
              </a:lnSpc>
              <a:buNone/>
              <a:defRPr sz="1650" b="1">
                <a:solidFill>
                  <a:srgbClr val="0B1220"/>
                </a:solidFill>
                <a:latin typeface="Consolas"/>
                <a:ea typeface="Consolas"/>
                <a:cs typeface="Consolas"/>
              </a:defRPr>
            </a:pPr>
            <a:r>
              <a:rPr sz="1650" b="1">
                <a:solidFill>
                  <a:srgbClr val="0B1220"/>
                </a:solidFill>
                <a:latin typeface="Consolas"/>
                <a:ea typeface="Consolas"/>
                <a:cs typeface="Consolas"/>
              </a:rPr>
              <a:t>UPDATE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CBD848E-B382-406B-9252-734814738852}"/>
              </a:ext>
            </a:extLst>
          </p:cNvPr>
          <p:cNvSpPr>
            <a:spLocks noGrp="1"/>
          </p:cNvSpPr>
          <p:nvPr/>
        </p:nvSpPr>
        <p:spPr>
          <a:xfrm>
            <a:off x="7467600" y="2819400"/>
            <a:ext cx="13716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6000"/>
              </a:lnSpc>
              <a:buNone/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更新藍牙耳機價格</a:t>
            </a:r>
          </a:p>
        </p:txBody>
      </p:sp>
      <p:sp>
        <p:nvSpPr>
          <p:cNvPr id="18" name="箭號: 向右 17">
            <a:extLst>
              <a:ext uri="{FF2B5EF4-FFF2-40B4-BE49-F238E27FC236}">
                <a16:creationId xmlns:a16="http://schemas.microsoft.com/office/drawing/2014/main" id="{6CFCD01C-A9DD-44CE-A612-DDEC53D9AC3E}"/>
              </a:ext>
            </a:extLst>
          </p:cNvPr>
          <p:cNvSpPr>
            <a:spLocks noGrp="1"/>
          </p:cNvSpPr>
          <p:nvPr/>
        </p:nvSpPr>
        <p:spPr>
          <a:xfrm>
            <a:off x="9086850" y="2514600"/>
            <a:ext cx="419100" cy="266700"/>
          </a:xfrm>
          <a:prstGeom prst="rightArrow">
            <a:avLst/>
          </a:prstGeom>
          <a:solidFill>
            <a:srgbClr val="94A3B8"/>
          </a:solidFill>
          <a:ln w="0">
            <a:solidFill>
              <a:srgbClr val="94A3B8"/>
            </a:solidFill>
            <a:prstDash val="solid"/>
          </a:ln>
        </p:spPr>
      </p:sp>
      <p:sp>
        <p:nvSpPr>
          <p:cNvPr id="19" name="矩形: 圓角 18">
            <a:extLst>
              <a:ext uri="{FF2B5EF4-FFF2-40B4-BE49-F238E27FC236}">
                <a16:creationId xmlns:a16="http://schemas.microsoft.com/office/drawing/2014/main" id="{2F021A65-B4F1-4FBC-B4CD-D83A316E9BC9}"/>
              </a:ext>
            </a:extLst>
          </p:cNvPr>
          <p:cNvSpPr>
            <a:spLocks noGrp="1"/>
          </p:cNvSpPr>
          <p:nvPr/>
        </p:nvSpPr>
        <p:spPr>
          <a:xfrm>
            <a:off x="9448800" y="1981200"/>
            <a:ext cx="1714500" cy="14287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66AA1FC8-4292-416C-81CE-059253B176D9}"/>
              </a:ext>
            </a:extLst>
          </p:cNvPr>
          <p:cNvSpPr>
            <a:spLocks noGrp="1"/>
          </p:cNvSpPr>
          <p:nvPr/>
        </p:nvSpPr>
        <p:spPr>
          <a:xfrm>
            <a:off x="9620250" y="2286000"/>
            <a:ext cx="1371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6000"/>
              </a:lnSpc>
              <a:buNone/>
              <a:defRPr sz="1650" b="1">
                <a:solidFill>
                  <a:srgbClr val="0B1220"/>
                </a:solidFill>
                <a:latin typeface="Consolas"/>
                <a:ea typeface="Consolas"/>
                <a:cs typeface="Consolas"/>
              </a:defRPr>
            </a:pPr>
            <a:r>
              <a:rPr sz="1650" b="1">
                <a:solidFill>
                  <a:srgbClr val="0B1220"/>
                </a:solidFill>
                <a:latin typeface="Consolas"/>
                <a:ea typeface="Consolas"/>
                <a:cs typeface="Consolas"/>
              </a:rPr>
              <a:t>DELETE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E40FB012-61DA-4B84-8B04-6281DC2767CE}"/>
              </a:ext>
            </a:extLst>
          </p:cNvPr>
          <p:cNvSpPr>
            <a:spLocks noGrp="1"/>
          </p:cNvSpPr>
          <p:nvPr/>
        </p:nvSpPr>
        <p:spPr>
          <a:xfrm>
            <a:off x="9620250" y="2819400"/>
            <a:ext cx="13716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6000"/>
              </a:lnSpc>
              <a:buNone/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刪除 USB-C 線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2AB0F0C1-746C-4353-AE94-7FE7C17F1B2A}"/>
              </a:ext>
            </a:extLst>
          </p:cNvPr>
          <p:cNvSpPr>
            <a:spLocks noGrp="1"/>
          </p:cNvSpPr>
          <p:nvPr/>
        </p:nvSpPr>
        <p:spPr>
          <a:xfrm>
            <a:off x="609600" y="6305550"/>
            <a:ext cx="9906000" cy="13335"/>
          </a:xfrm>
          <a:prstGeom prst="rect">
            <a:avLst/>
          </a:prstGeom>
          <a:solidFill>
            <a:srgbClr val="D9E2EC"/>
          </a:solidFill>
          <a:ln w="0">
            <a:noFill/>
            <a:prstDash val="solid"/>
          </a:ln>
        </p:spPr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9E024B11-6E93-4210-96B9-0863EAB823D1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2762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Docker 基礎教學 | 第 3 堂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0B2BFD82-8392-4524-AAD2-A8BE7DB16838}"/>
              </a:ext>
            </a:extLst>
          </p:cNvPr>
          <p:cNvSpPr>
            <a:spLocks noGrp="1"/>
          </p:cNvSpPr>
          <p:nvPr/>
        </p:nvSpPr>
        <p:spPr>
          <a:xfrm>
            <a:off x="11010900" y="6381750"/>
            <a:ext cx="571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106000"/>
              </a:lnSpc>
              <a:buNone/>
              <a:defRPr sz="9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2282920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ppendixLabel">
            <a:extLst>
              <a:ext uri="{FF2B5EF4-FFF2-40B4-BE49-F238E27FC236}">
                <a16:creationId xmlns:a16="http://schemas.microsoft.com/office/drawing/2014/main" id="{E06751EF-DCCA-42CF-BA7B-86B1385703BC}"/>
              </a:ext>
            </a:extLst>
          </p:cNvPr>
          <p:cNvSpPr>
            <a:spLocks noGrp="1"/>
          </p:cNvSpPr>
          <p:nvPr/>
        </p:nvSpPr>
        <p:spPr>
          <a:xfrm>
            <a:off x="609600" y="420000"/>
            <a:ext cx="2600000" cy="26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93C5FD"/>
                </a:solidFill>
                <a:latin typeface="Aptos"/>
                <a:ea typeface="Aptos"/>
                <a:cs typeface="Aptos"/>
              </a:rPr>
              <a:t>CODE EXAMPLE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9880F540-D81A-4F7D-8181-5B8B3FCA398E}"/>
              </a:ext>
            </a:extLst>
          </p:cNvPr>
          <p:cNvSpPr>
            <a:spLocks noGrp="1"/>
          </p:cNvSpPr>
          <p:nvPr/>
        </p:nvSpPr>
        <p:spPr>
          <a:xfrm>
            <a:off x="609600" y="710000"/>
            <a:ext cx="10600000" cy="56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範例程式碼：Product 資料表</a:t>
            </a:r>
          </a:p>
        </p:txBody>
      </p:sp>
      <p:sp>
        <p:nvSpPr>
          <p:cNvPr id="4" name="Subtitle">
            <a:extLst>
              <a:ext uri="{FF2B5EF4-FFF2-40B4-BE49-F238E27FC236}">
                <a16:creationId xmlns:a16="http://schemas.microsoft.com/office/drawing/2014/main" id="{60E8D265-93AB-4F07-8456-38E7940659BC}"/>
              </a:ext>
            </a:extLst>
          </p:cNvPr>
          <p:cNvSpPr>
            <a:spLocks noGrp="1"/>
          </p:cNvSpPr>
          <p:nvPr/>
        </p:nvSpPr>
        <p:spPr>
          <a:xfrm>
            <a:off x="609600" y="126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1250">
                <a:solidFill>
                  <a:srgbClr val="CBD5E1"/>
                </a:solidFill>
                <a:latin typeface="Aptos"/>
                <a:ea typeface="Aptos"/>
                <a:cs typeface="Aptos"/>
              </a:rPr>
              <a:t>第 3 堂 | 可直接照做的完整範例</a:t>
            </a:r>
          </a:p>
        </p:txBody>
      </p:sp>
      <p:sp>
        <p:nvSpPr>
          <p:cNvPr id="5" name="CodeBackground">
            <a:extLst>
              <a:ext uri="{FF2B5EF4-FFF2-40B4-BE49-F238E27FC236}">
                <a16:creationId xmlns:a16="http://schemas.microsoft.com/office/drawing/2014/main" id="{4AA93120-A65C-4EEB-8427-1A546BC4AFE3}"/>
              </a:ext>
            </a:extLst>
          </p:cNvPr>
          <p:cNvSpPr>
            <a:spLocks noGrp="1"/>
          </p:cNvSpPr>
          <p:nvPr/>
        </p:nvSpPr>
        <p:spPr>
          <a:xfrm>
            <a:off x="609600" y="1680000"/>
            <a:ext cx="10972800" cy="4370000"/>
          </a:xfrm>
          <a:prstGeom prst="roundRect">
            <a:avLst/>
          </a:prstGeom>
          <a:solidFill>
            <a:srgbClr val="111827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6" name="Code">
            <a:extLst>
              <a:ext uri="{FF2B5EF4-FFF2-40B4-BE49-F238E27FC236}">
                <a16:creationId xmlns:a16="http://schemas.microsoft.com/office/drawing/2014/main" id="{820A73A0-D35E-4A71-94B4-3B5AD47E1AC2}"/>
              </a:ext>
            </a:extLst>
          </p:cNvPr>
          <p:cNvSpPr>
            <a:spLocks noGrp="1"/>
          </p:cNvSpPr>
          <p:nvPr/>
        </p:nvSpPr>
        <p:spPr>
          <a:xfrm>
            <a:off x="810000" y="1870000"/>
            <a:ext cx="10550000" cy="203132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CREATE TABLE Product (</a:t>
            </a:r>
          </a:p>
          <a:p>
            <a:r>
              <a:rPr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Id INT NOT NULL AUTO_INCREMENT PRIMARY KEY COMMENT '</a:t>
            </a:r>
            <a:r>
              <a:rPr dirty="0" err="1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產品編號</a:t>
            </a:r>
            <a:r>
              <a:rPr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',</a:t>
            </a:r>
          </a:p>
          <a:p>
            <a:r>
              <a:rPr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Name VARCHAR(100) NOT NULL COMMENT '</a:t>
            </a:r>
            <a:r>
              <a:rPr dirty="0" err="1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產品名稱</a:t>
            </a:r>
            <a:r>
              <a:rPr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',</a:t>
            </a:r>
          </a:p>
          <a:p>
            <a:r>
              <a:rPr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Price DECIMAL(10,2) NOT NULL DEFAULT 0.00 COMMENT '</a:t>
            </a:r>
            <a:r>
              <a:rPr dirty="0" err="1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售價</a:t>
            </a:r>
            <a:r>
              <a:rPr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',</a:t>
            </a:r>
          </a:p>
          <a:p>
            <a:r>
              <a:rPr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Stock INT NOT NULL DEFAULT 0 COMMENT '</a:t>
            </a:r>
            <a:r>
              <a:rPr dirty="0" err="1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庫存數量</a:t>
            </a:r>
            <a:r>
              <a:rPr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',</a:t>
            </a:r>
          </a:p>
          <a:p>
            <a:r>
              <a:rPr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dirty="0" err="1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CreatedAt</a:t>
            </a:r>
            <a:r>
              <a:rPr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TIMESTAMP NOT NULL DEFAULT CURRENT_TIMESTAMP COMMENT '</a:t>
            </a:r>
            <a:r>
              <a:rPr dirty="0" err="1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建立時間</a:t>
            </a:r>
            <a:r>
              <a:rPr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'</a:t>
            </a:r>
          </a:p>
          <a:p>
            <a:r>
              <a:rPr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) ENGINE=</a:t>
            </a:r>
            <a:r>
              <a:rPr dirty="0" err="1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InnoDB</a:t>
            </a:r>
            <a:r>
              <a:rPr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DEFAULT CHARSET=utf8mb4 COMMENT='</a:t>
            </a:r>
            <a:r>
              <a:rPr dirty="0" err="1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產品資料表</a:t>
            </a:r>
            <a:r>
              <a:rPr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';</a:t>
            </a:r>
          </a:p>
        </p:txBody>
      </p:sp>
      <p:sp>
        <p:nvSpPr>
          <p:cNvPr id="7" name="Footer">
            <a:extLst>
              <a:ext uri="{FF2B5EF4-FFF2-40B4-BE49-F238E27FC236}">
                <a16:creationId xmlns:a16="http://schemas.microsoft.com/office/drawing/2014/main" id="{CB743D44-211E-4EE6-9BF6-D87752AA9EB8}"/>
              </a:ext>
            </a:extLst>
          </p:cNvPr>
          <p:cNvSpPr>
            <a:spLocks noGrp="1"/>
          </p:cNvSpPr>
          <p:nvPr/>
        </p:nvSpPr>
        <p:spPr>
          <a:xfrm>
            <a:off x="609600" y="6330000"/>
            <a:ext cx="7800000" cy="24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Aptos"/>
                <a:ea typeface="Aptos"/>
                <a:cs typeface="Aptos"/>
              </a:rPr>
              <a:t>Docker 基礎教學 | 第 3 堂 | 範例程式碼</a:t>
            </a:r>
          </a:p>
        </p:txBody>
      </p:sp>
      <p:sp>
        <p:nvSpPr>
          <p:cNvPr id="8" name="Page">
            <a:extLst>
              <a:ext uri="{FF2B5EF4-FFF2-40B4-BE49-F238E27FC236}">
                <a16:creationId xmlns:a16="http://schemas.microsoft.com/office/drawing/2014/main" id="{99F6D0C5-8BF4-470B-A1CB-1DAB9150BA96}"/>
              </a:ext>
            </a:extLst>
          </p:cNvPr>
          <p:cNvSpPr>
            <a:spLocks noGrp="1"/>
          </p:cNvSpPr>
          <p:nvPr/>
        </p:nvSpPr>
        <p:spPr>
          <a:xfrm>
            <a:off x="10850000" y="6330000"/>
            <a:ext cx="650000" cy="24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Aptos"/>
                <a:ea typeface="Aptos"/>
                <a:cs typeface="Aptos"/>
              </a:rPr>
              <a:t>CODE</a:t>
            </a:r>
          </a:p>
        </p:txBody>
      </p:sp>
    </p:spTree>
    <p:extLst>
      <p:ext uri="{BB962C8B-B14F-4D97-AF65-F5344CB8AC3E}">
        <p14:creationId xmlns:p14="http://schemas.microsoft.com/office/powerpoint/2010/main" val="16131581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ppendixLabel">
            <a:extLst>
              <a:ext uri="{FF2B5EF4-FFF2-40B4-BE49-F238E27FC236}">
                <a16:creationId xmlns:a16="http://schemas.microsoft.com/office/drawing/2014/main" id="{C5A432CF-8E88-4E7E-8D3B-C98215E5CE92}"/>
              </a:ext>
            </a:extLst>
          </p:cNvPr>
          <p:cNvSpPr>
            <a:spLocks noGrp="1"/>
          </p:cNvSpPr>
          <p:nvPr/>
        </p:nvSpPr>
        <p:spPr>
          <a:xfrm>
            <a:off x="609600" y="420000"/>
            <a:ext cx="2600000" cy="26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93C5FD"/>
                </a:solidFill>
                <a:latin typeface="Aptos"/>
                <a:ea typeface="Aptos"/>
                <a:cs typeface="Aptos"/>
              </a:rPr>
              <a:t>CODE EXAMPLE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2F29CD34-D96F-47B2-8DE2-7D05C2D8A1D3}"/>
              </a:ext>
            </a:extLst>
          </p:cNvPr>
          <p:cNvSpPr>
            <a:spLocks noGrp="1"/>
          </p:cNvSpPr>
          <p:nvPr/>
        </p:nvSpPr>
        <p:spPr>
          <a:xfrm>
            <a:off x="609600" y="710000"/>
            <a:ext cx="10600000" cy="56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範例程式碼：新增與查詢資料</a:t>
            </a:r>
          </a:p>
        </p:txBody>
      </p:sp>
      <p:sp>
        <p:nvSpPr>
          <p:cNvPr id="4" name="Subtitle">
            <a:extLst>
              <a:ext uri="{FF2B5EF4-FFF2-40B4-BE49-F238E27FC236}">
                <a16:creationId xmlns:a16="http://schemas.microsoft.com/office/drawing/2014/main" id="{94768CD1-6AAD-4A82-BC33-20D827C8F79B}"/>
              </a:ext>
            </a:extLst>
          </p:cNvPr>
          <p:cNvSpPr>
            <a:spLocks noGrp="1"/>
          </p:cNvSpPr>
          <p:nvPr/>
        </p:nvSpPr>
        <p:spPr>
          <a:xfrm>
            <a:off x="609600" y="126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1250">
                <a:solidFill>
                  <a:srgbClr val="CBD5E1"/>
                </a:solidFill>
                <a:latin typeface="Aptos"/>
                <a:ea typeface="Aptos"/>
                <a:cs typeface="Aptos"/>
              </a:rPr>
              <a:t>第 3 堂 | 可直接照做的完整範例</a:t>
            </a:r>
          </a:p>
        </p:txBody>
      </p:sp>
      <p:sp>
        <p:nvSpPr>
          <p:cNvPr id="5" name="CodeBackground">
            <a:extLst>
              <a:ext uri="{FF2B5EF4-FFF2-40B4-BE49-F238E27FC236}">
                <a16:creationId xmlns:a16="http://schemas.microsoft.com/office/drawing/2014/main" id="{95FE38F7-8033-46DF-BD53-16DF629BB377}"/>
              </a:ext>
            </a:extLst>
          </p:cNvPr>
          <p:cNvSpPr>
            <a:spLocks noGrp="1"/>
          </p:cNvSpPr>
          <p:nvPr/>
        </p:nvSpPr>
        <p:spPr>
          <a:xfrm>
            <a:off x="609600" y="1680000"/>
            <a:ext cx="10972800" cy="4370000"/>
          </a:xfrm>
          <a:prstGeom prst="roundRect">
            <a:avLst/>
          </a:prstGeom>
          <a:solidFill>
            <a:srgbClr val="111827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6" name="Code">
            <a:extLst>
              <a:ext uri="{FF2B5EF4-FFF2-40B4-BE49-F238E27FC236}">
                <a16:creationId xmlns:a16="http://schemas.microsoft.com/office/drawing/2014/main" id="{9B5E2494-4D7F-46FA-860E-79A7EB7B8F72}"/>
              </a:ext>
            </a:extLst>
          </p:cNvPr>
          <p:cNvSpPr>
            <a:spLocks noGrp="1"/>
          </p:cNvSpPr>
          <p:nvPr/>
        </p:nvSpPr>
        <p:spPr>
          <a:xfrm>
            <a:off x="810000" y="1870000"/>
            <a:ext cx="10550000" cy="2585323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INSERT INTO Product (Name, Price, Stock) VALUES</a:t>
            </a:r>
          </a:p>
          <a:p>
            <a:r>
              <a:rPr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('</a:t>
            </a:r>
            <a:r>
              <a:rPr dirty="0" err="1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藍牙耳機</a:t>
            </a:r>
            <a:r>
              <a:rPr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', 1290.00, 50),</a:t>
            </a:r>
          </a:p>
          <a:p>
            <a:r>
              <a:rPr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('USB-C 線', 299.00, 150),</a:t>
            </a:r>
          </a:p>
          <a:p>
            <a:r>
              <a:rPr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('</a:t>
            </a:r>
            <a:r>
              <a:rPr dirty="0" err="1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機械鍵盤</a:t>
            </a:r>
            <a:r>
              <a:rPr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', 2490.00, 30);</a:t>
            </a:r>
          </a:p>
          <a:p>
            <a:r>
              <a:rPr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r>
              <a:rPr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SELECT * FROM Product;</a:t>
            </a:r>
          </a:p>
          <a:p>
            <a:r>
              <a:rPr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SELECT Name, Price FROM Product WHERE Price &gt; 1000;</a:t>
            </a:r>
          </a:p>
          <a:p>
            <a:r>
              <a:rPr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UPDATE Product SET Price = 1190.00 WHERE Name = '</a:t>
            </a:r>
            <a:r>
              <a:rPr dirty="0" err="1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藍牙耳機</a:t>
            </a:r>
            <a:r>
              <a:rPr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';</a:t>
            </a:r>
          </a:p>
          <a:p>
            <a:r>
              <a:rPr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DELETE FROM Product WHERE Name = 'USB-C 線';</a:t>
            </a:r>
          </a:p>
        </p:txBody>
      </p:sp>
      <p:sp>
        <p:nvSpPr>
          <p:cNvPr id="7" name="Footer">
            <a:extLst>
              <a:ext uri="{FF2B5EF4-FFF2-40B4-BE49-F238E27FC236}">
                <a16:creationId xmlns:a16="http://schemas.microsoft.com/office/drawing/2014/main" id="{5B9C80AC-914B-46A0-8DC5-B2F5011C781C}"/>
              </a:ext>
            </a:extLst>
          </p:cNvPr>
          <p:cNvSpPr>
            <a:spLocks noGrp="1"/>
          </p:cNvSpPr>
          <p:nvPr/>
        </p:nvSpPr>
        <p:spPr>
          <a:xfrm>
            <a:off x="609600" y="6330000"/>
            <a:ext cx="7800000" cy="24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Aptos"/>
                <a:ea typeface="Aptos"/>
                <a:cs typeface="Aptos"/>
              </a:rPr>
              <a:t>Docker 基礎教學 | 第 3 堂 | 範例程式碼</a:t>
            </a:r>
          </a:p>
        </p:txBody>
      </p:sp>
      <p:sp>
        <p:nvSpPr>
          <p:cNvPr id="8" name="Page">
            <a:extLst>
              <a:ext uri="{FF2B5EF4-FFF2-40B4-BE49-F238E27FC236}">
                <a16:creationId xmlns:a16="http://schemas.microsoft.com/office/drawing/2014/main" id="{4D0CC169-F2D5-4C3B-8FE4-58F17E0CE783}"/>
              </a:ext>
            </a:extLst>
          </p:cNvPr>
          <p:cNvSpPr>
            <a:spLocks noGrp="1"/>
          </p:cNvSpPr>
          <p:nvPr/>
        </p:nvSpPr>
        <p:spPr>
          <a:xfrm>
            <a:off x="10850000" y="6330000"/>
            <a:ext cx="650000" cy="24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Aptos"/>
                <a:ea typeface="Aptos"/>
                <a:cs typeface="Aptos"/>
              </a:rPr>
              <a:t>CODE</a:t>
            </a:r>
          </a:p>
        </p:txBody>
      </p:sp>
    </p:spTree>
    <p:extLst>
      <p:ext uri="{BB962C8B-B14F-4D97-AF65-F5344CB8AC3E}">
        <p14:creationId xmlns:p14="http://schemas.microsoft.com/office/powerpoint/2010/main" val="7668701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21">
            <a:extLst>
              <a:ext uri="{FF2B5EF4-FFF2-40B4-BE49-F238E27FC236}">
                <a16:creationId xmlns:a16="http://schemas.microsoft.com/office/drawing/2014/main" id="{AF0CFFB7-8352-4D09-9AFA-6A3D05FB4466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619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900" b="1">
                <a:solidFill>
                  <a:srgbClr val="0B5CA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5CAD"/>
                </a:solidFill>
                <a:latin typeface="Aptos"/>
                <a:ea typeface="Aptos"/>
                <a:cs typeface="Aptos"/>
              </a:rPr>
              <a:t>PERSISTENCE PROBLEM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2DF85A9-103C-4E60-8C7C-F397A683C33E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9906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28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刪掉容器後，資料也會消失</a:t>
            </a: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6925C180-401A-4B8F-A4C6-6187793A9EE2}"/>
              </a:ext>
            </a:extLst>
          </p:cNvPr>
          <p:cNvSpPr>
            <a:spLocks noGrp="1"/>
          </p:cNvSpPr>
          <p:nvPr/>
        </p:nvSpPr>
        <p:spPr>
          <a:xfrm>
            <a:off x="914400" y="1809750"/>
            <a:ext cx="2952750" cy="1905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BC9BEDA-F6AC-4E5D-8C29-9F9101477257}"/>
              </a:ext>
            </a:extLst>
          </p:cNvPr>
          <p:cNvSpPr>
            <a:spLocks noGrp="1"/>
          </p:cNvSpPr>
          <p:nvPr/>
        </p:nvSpPr>
        <p:spPr>
          <a:xfrm>
            <a:off x="1181100" y="2133600"/>
            <a:ext cx="238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88050"/>
          </a:bodyPr>
          <a:lstStyle/>
          <a:p>
            <a:pPr algn="ctr">
              <a:lnSpc>
                <a:spcPct val="106000"/>
              </a:lnSpc>
              <a:buNone/>
              <a:defRPr sz="1875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1. 新增資料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E33EFFE-8C56-4359-B383-F24E7296B063}"/>
              </a:ext>
            </a:extLst>
          </p:cNvPr>
          <p:cNvSpPr>
            <a:spLocks noGrp="1"/>
          </p:cNvSpPr>
          <p:nvPr/>
        </p:nvSpPr>
        <p:spPr>
          <a:xfrm>
            <a:off x="1181100" y="2781300"/>
            <a:ext cx="2381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85763"/>
          </a:bodyPr>
          <a:lstStyle/>
          <a:p>
            <a:pPr algn="ctr">
              <a:lnSpc>
                <a:spcPct val="106000"/>
              </a:lnSpc>
              <a:buNone/>
              <a:defRPr sz="16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Product table</a:t>
            </a:r>
          </a:p>
          <a:p>
            <a:pPr algn="ctr">
              <a:lnSpc>
                <a:spcPct val="106000"/>
              </a:lnSpc>
              <a:buNone/>
              <a:defRPr sz="16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測試資料</a:t>
            </a:r>
          </a:p>
        </p:txBody>
      </p:sp>
      <p:sp>
        <p:nvSpPr>
          <p:cNvPr id="6" name="箭號: 向右 5">
            <a:extLst>
              <a:ext uri="{FF2B5EF4-FFF2-40B4-BE49-F238E27FC236}">
                <a16:creationId xmlns:a16="http://schemas.microsoft.com/office/drawing/2014/main" id="{E39BFC8A-C3A0-4219-BAA1-54290255E1D7}"/>
              </a:ext>
            </a:extLst>
          </p:cNvPr>
          <p:cNvSpPr>
            <a:spLocks noGrp="1"/>
          </p:cNvSpPr>
          <p:nvPr/>
        </p:nvSpPr>
        <p:spPr>
          <a:xfrm>
            <a:off x="4095750" y="2609850"/>
            <a:ext cx="762000" cy="361950"/>
          </a:xfrm>
          <a:prstGeom prst="rightArrow">
            <a:avLst/>
          </a:prstGeom>
          <a:solidFill>
            <a:srgbClr val="2496ED"/>
          </a:solidFill>
          <a:ln w="0">
            <a:solidFill>
              <a:srgbClr val="2496ED"/>
            </a:solidFill>
            <a:prstDash val="solid"/>
          </a:ln>
        </p:spPr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69A6D434-FCFD-4D0D-A798-C43D28DEBF3D}"/>
              </a:ext>
            </a:extLst>
          </p:cNvPr>
          <p:cNvSpPr>
            <a:spLocks noGrp="1"/>
          </p:cNvSpPr>
          <p:nvPr/>
        </p:nvSpPr>
        <p:spPr>
          <a:xfrm>
            <a:off x="5067300" y="1809750"/>
            <a:ext cx="2952750" cy="1905000"/>
          </a:xfrm>
          <a:prstGeom prst="roundRect">
            <a:avLst>
              <a:gd name="adj" fmla="val 6000"/>
            </a:avLst>
          </a:prstGeom>
          <a:solidFill>
            <a:srgbClr val="FFE4E6"/>
          </a:solidFill>
          <a:ln w="9525">
            <a:solidFill>
              <a:srgbClr val="E11D48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BE75B83-FB2D-4038-B124-AD3D06866662}"/>
              </a:ext>
            </a:extLst>
          </p:cNvPr>
          <p:cNvSpPr>
            <a:spLocks noGrp="1"/>
          </p:cNvSpPr>
          <p:nvPr/>
        </p:nvSpPr>
        <p:spPr>
          <a:xfrm>
            <a:off x="5334000" y="2133600"/>
            <a:ext cx="238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88050"/>
          </a:bodyPr>
          <a:lstStyle/>
          <a:p>
            <a:pPr algn="ctr">
              <a:lnSpc>
                <a:spcPct val="106000"/>
              </a:lnSpc>
              <a:buNone/>
              <a:defRPr sz="1875" b="1">
                <a:solidFill>
                  <a:srgbClr val="E11D48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E11D48"/>
                </a:solidFill>
                <a:latin typeface="Aptos Display"/>
                <a:ea typeface="Aptos Display"/>
                <a:cs typeface="Aptos Display"/>
              </a:rPr>
              <a:t>2. docker rm -f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E639866-ED0C-456B-9786-F67C823D1A11}"/>
              </a:ext>
            </a:extLst>
          </p:cNvPr>
          <p:cNvSpPr>
            <a:spLocks noGrp="1"/>
          </p:cNvSpPr>
          <p:nvPr/>
        </p:nvSpPr>
        <p:spPr>
          <a:xfrm>
            <a:off x="5334000" y="2895600"/>
            <a:ext cx="238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6000"/>
              </a:lnSpc>
              <a:buNone/>
              <a:defRPr sz="1650" b="0">
                <a:solidFill>
                  <a:srgbClr val="E11D48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E11D48"/>
                </a:solidFill>
                <a:latin typeface="Aptos"/>
                <a:ea typeface="Aptos"/>
                <a:cs typeface="Aptos"/>
              </a:rPr>
              <a:t>刪除容器</a:t>
            </a:r>
          </a:p>
        </p:txBody>
      </p:sp>
      <p:sp>
        <p:nvSpPr>
          <p:cNvPr id="10" name="箭號: 向右 9">
            <a:extLst>
              <a:ext uri="{FF2B5EF4-FFF2-40B4-BE49-F238E27FC236}">
                <a16:creationId xmlns:a16="http://schemas.microsoft.com/office/drawing/2014/main" id="{E9079F0E-56AF-4859-9184-1CEAEEFC3FBA}"/>
              </a:ext>
            </a:extLst>
          </p:cNvPr>
          <p:cNvSpPr>
            <a:spLocks noGrp="1"/>
          </p:cNvSpPr>
          <p:nvPr/>
        </p:nvSpPr>
        <p:spPr>
          <a:xfrm>
            <a:off x="8248650" y="2609850"/>
            <a:ext cx="762000" cy="361950"/>
          </a:xfrm>
          <a:prstGeom prst="rightArrow">
            <a:avLst/>
          </a:prstGeom>
          <a:solidFill>
            <a:srgbClr val="2496ED"/>
          </a:solidFill>
          <a:ln w="0">
            <a:solidFill>
              <a:srgbClr val="2496ED"/>
            </a:solidFill>
            <a:prstDash val="solid"/>
          </a:ln>
        </p:spPr>
      </p: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A93F2FF7-7763-42F2-9FEC-3545287BBF4C}"/>
              </a:ext>
            </a:extLst>
          </p:cNvPr>
          <p:cNvSpPr>
            <a:spLocks noGrp="1"/>
          </p:cNvSpPr>
          <p:nvPr/>
        </p:nvSpPr>
        <p:spPr>
          <a:xfrm>
            <a:off x="9220200" y="1809750"/>
            <a:ext cx="2095500" cy="1905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43969AB-CE7F-4C6D-932C-DACC0DA57C8A}"/>
              </a:ext>
            </a:extLst>
          </p:cNvPr>
          <p:cNvSpPr>
            <a:spLocks noGrp="1"/>
          </p:cNvSpPr>
          <p:nvPr/>
        </p:nvSpPr>
        <p:spPr>
          <a:xfrm>
            <a:off x="9448800" y="2133600"/>
            <a:ext cx="1638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1719"/>
          </a:bodyPr>
          <a:lstStyle/>
          <a:p>
            <a:pPr algn="ctr">
              <a:lnSpc>
                <a:spcPct val="106000"/>
              </a:lnSpc>
              <a:buNone/>
              <a:defRPr sz="180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3. 重建容器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7FE1746-EBD8-484E-9042-6CB14AEA441F}"/>
              </a:ext>
            </a:extLst>
          </p:cNvPr>
          <p:cNvSpPr>
            <a:spLocks noGrp="1"/>
          </p:cNvSpPr>
          <p:nvPr/>
        </p:nvSpPr>
        <p:spPr>
          <a:xfrm>
            <a:off x="9448800" y="2895600"/>
            <a:ext cx="1638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6000"/>
              </a:lnSpc>
              <a:buNone/>
              <a:defRPr sz="1575" b="1">
                <a:solidFill>
                  <a:srgbClr val="E11D48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E11D48"/>
                </a:solidFill>
                <a:latin typeface="Aptos"/>
                <a:ea typeface="Aptos"/>
                <a:cs typeface="Aptos"/>
              </a:rPr>
              <a:t>testdb 不見了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31EA4F3E-C91D-40AA-AC31-1326E9C693D4}"/>
              </a:ext>
            </a:extLst>
          </p:cNvPr>
          <p:cNvSpPr>
            <a:spLocks noGrp="1"/>
          </p:cNvSpPr>
          <p:nvPr/>
        </p:nvSpPr>
        <p:spPr>
          <a:xfrm>
            <a:off x="1924050" y="5181600"/>
            <a:ext cx="83439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69144"/>
          </a:bodyPr>
          <a:lstStyle/>
          <a:p>
            <a:pPr algn="l">
              <a:lnSpc>
                <a:spcPct val="104000"/>
              </a:lnSpc>
              <a:buNone/>
              <a:defRPr sz="135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docker rm -f my-mysql</a:t>
            </a:r>
          </a:p>
          <a:p>
            <a:endParaRPr sz="1350" b="0">
              <a:solidFill>
                <a:srgbClr val="E5E7EB"/>
              </a:solidFill>
              <a:latin typeface="Consolas"/>
              <a:ea typeface="Consolas"/>
              <a:cs typeface="Consolas"/>
            </a:endParaRPr>
          </a:p>
          <a:p>
            <a:pPr algn="l">
              <a:lnSpc>
                <a:spcPct val="104000"/>
              </a:lnSpc>
              <a:buNone/>
              <a:defRPr sz="135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docker run -d --name my-mysql -e MYSQL_ROOT_PASSWORD=my-secret-pw -p 3306:3306 mysql:8.0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8853B47A-D6F7-4905-9B1E-87D7155C5199}"/>
              </a:ext>
            </a:extLst>
          </p:cNvPr>
          <p:cNvSpPr>
            <a:spLocks noGrp="1"/>
          </p:cNvSpPr>
          <p:nvPr/>
        </p:nvSpPr>
        <p:spPr>
          <a:xfrm>
            <a:off x="609600" y="6305550"/>
            <a:ext cx="9906000" cy="13335"/>
          </a:xfrm>
          <a:prstGeom prst="rect">
            <a:avLst/>
          </a:prstGeom>
          <a:solidFill>
            <a:srgbClr val="D9E2EC"/>
          </a:solidFill>
          <a:ln w="0">
            <a:noFill/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2D644B8D-58E4-40AA-AD13-356BFE7D16A8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2762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Docker 基礎教學 | 第 3 堂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53FDF1B3-A819-4870-8ACE-953F1F189158}"/>
              </a:ext>
            </a:extLst>
          </p:cNvPr>
          <p:cNvSpPr>
            <a:spLocks noGrp="1"/>
          </p:cNvSpPr>
          <p:nvPr/>
        </p:nvSpPr>
        <p:spPr>
          <a:xfrm>
            <a:off x="11010900" y="6381750"/>
            <a:ext cx="571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106000"/>
              </a:lnSpc>
              <a:buNone/>
              <a:defRPr sz="9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7114951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2A106E4F-DF8D-4573-A3EB-2A1731808EDD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619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900" b="1">
                <a:solidFill>
                  <a:srgbClr val="0B5CA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5CAD"/>
                </a:solidFill>
                <a:latin typeface="Aptos"/>
                <a:ea typeface="Aptos"/>
                <a:cs typeface="Aptos"/>
              </a:rPr>
              <a:t>NAMED VOLUME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642FC30-9ADE-4AAA-A3DE-66CF25987AA0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9906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28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用 named volume 保存 MySQL 資料</a:t>
            </a: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573F75CC-6642-4615-8E7A-23E3715C3C23}"/>
              </a:ext>
            </a:extLst>
          </p:cNvPr>
          <p:cNvSpPr>
            <a:spLocks noGrp="1"/>
          </p:cNvSpPr>
          <p:nvPr/>
        </p:nvSpPr>
        <p:spPr>
          <a:xfrm>
            <a:off x="819150" y="1485900"/>
            <a:ext cx="6191250" cy="3276600"/>
          </a:xfrm>
          <a:prstGeom prst="roundRect">
            <a:avLst>
              <a:gd name="adj" fmla="val 2907"/>
            </a:avLst>
          </a:prstGeom>
          <a:solidFill>
            <a:srgbClr val="0B1220"/>
          </a:solidFill>
          <a:ln w="9525">
            <a:solidFill>
              <a:srgbClr val="1E293B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sp>
        <p:nvSpPr>
          <p:cNvPr id="4" name="橢圓 3">
            <a:extLst>
              <a:ext uri="{FF2B5EF4-FFF2-40B4-BE49-F238E27FC236}">
                <a16:creationId xmlns:a16="http://schemas.microsoft.com/office/drawing/2014/main" id="{ED91823E-8A28-4229-8C0B-16FFA153F036}"/>
              </a:ext>
            </a:extLst>
          </p:cNvPr>
          <p:cNvSpPr>
            <a:spLocks noGrp="1"/>
          </p:cNvSpPr>
          <p:nvPr/>
        </p:nvSpPr>
        <p:spPr>
          <a:xfrm>
            <a:off x="990600" y="1647825"/>
            <a:ext cx="95250" cy="95250"/>
          </a:xfrm>
          <a:prstGeom prst="ellipse">
            <a:avLst/>
          </a:prstGeom>
          <a:solidFill>
            <a:srgbClr val="FB7185"/>
          </a:solidFill>
          <a:ln w="0">
            <a:noFill/>
            <a:prstDash val="solid"/>
          </a:ln>
        </p:spPr>
      </p:sp>
      <p:sp>
        <p:nvSpPr>
          <p:cNvPr id="5" name="橢圓 4">
            <a:extLst>
              <a:ext uri="{FF2B5EF4-FFF2-40B4-BE49-F238E27FC236}">
                <a16:creationId xmlns:a16="http://schemas.microsoft.com/office/drawing/2014/main" id="{EB06F2E8-8900-4222-B48F-94E903958F66}"/>
              </a:ext>
            </a:extLst>
          </p:cNvPr>
          <p:cNvSpPr>
            <a:spLocks noGrp="1"/>
          </p:cNvSpPr>
          <p:nvPr/>
        </p:nvSpPr>
        <p:spPr>
          <a:xfrm>
            <a:off x="1162050" y="1647825"/>
            <a:ext cx="95250" cy="95250"/>
          </a:xfrm>
          <a:prstGeom prst="ellipse">
            <a:avLst/>
          </a:prstGeom>
          <a:solidFill>
            <a:srgbClr val="FBBF24"/>
          </a:solidFill>
          <a:ln w="0">
            <a:noFill/>
            <a:prstDash val="solid"/>
          </a:ln>
        </p:spPr>
      </p:sp>
      <p:sp>
        <p:nvSpPr>
          <p:cNvPr id="6" name="橢圓 5">
            <a:extLst>
              <a:ext uri="{FF2B5EF4-FFF2-40B4-BE49-F238E27FC236}">
                <a16:creationId xmlns:a16="http://schemas.microsoft.com/office/drawing/2014/main" id="{1DFA2A87-CCCA-42FA-B2E3-0BE3EF90919D}"/>
              </a:ext>
            </a:extLst>
          </p:cNvPr>
          <p:cNvSpPr>
            <a:spLocks noGrp="1"/>
          </p:cNvSpPr>
          <p:nvPr/>
        </p:nvSpPr>
        <p:spPr>
          <a:xfrm>
            <a:off x="1333500" y="1647825"/>
            <a:ext cx="95250" cy="95250"/>
          </a:xfrm>
          <a:prstGeom prst="ellipse">
            <a:avLst/>
          </a:prstGeom>
          <a:solidFill>
            <a:srgbClr val="34D399"/>
          </a:solidFill>
          <a:ln w="0">
            <a:noFill/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66B40C1-1587-404D-9E4D-9EE5A28D7EE3}"/>
              </a:ext>
            </a:extLst>
          </p:cNvPr>
          <p:cNvSpPr>
            <a:spLocks noGrp="1"/>
          </p:cNvSpPr>
          <p:nvPr/>
        </p:nvSpPr>
        <p:spPr>
          <a:xfrm>
            <a:off x="1028700" y="1905000"/>
            <a:ext cx="5772150" cy="2724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4000"/>
              </a:lnSpc>
              <a:buNone/>
              <a:defRPr sz="1575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lang="en-US" altLang="zh-TW" b="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docker run -d \</a:t>
            </a:r>
          </a:p>
          <a:p>
            <a:pPr algn="l">
              <a:lnSpc>
                <a:spcPct val="104000"/>
              </a:lnSpc>
              <a:buNone/>
              <a:defRPr sz="1575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lang="en-US" altLang="zh-TW" b="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--name my-</a:t>
            </a:r>
            <a:r>
              <a:rPr lang="en-US" altLang="zh-TW" b="0" dirty="0" err="1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mysql</a:t>
            </a:r>
            <a:r>
              <a:rPr lang="en-US" altLang="zh-TW" b="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\</a:t>
            </a:r>
          </a:p>
          <a:p>
            <a:pPr algn="l">
              <a:lnSpc>
                <a:spcPct val="104000"/>
              </a:lnSpc>
              <a:buNone/>
              <a:defRPr sz="1575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lang="en-US" altLang="zh-TW" b="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-e MYSQL_ROOT_PASSWORD=secret-pw \</a:t>
            </a:r>
          </a:p>
          <a:p>
            <a:pPr algn="l">
              <a:lnSpc>
                <a:spcPct val="104000"/>
              </a:lnSpc>
              <a:buNone/>
              <a:defRPr sz="1575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lang="en-US" altLang="zh-TW" b="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-e MYSQL_DATABASE=</a:t>
            </a:r>
            <a:r>
              <a:rPr lang="en-US" altLang="zh-TW" b="0" dirty="0" err="1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testdb</a:t>
            </a:r>
            <a:r>
              <a:rPr lang="en-US" altLang="zh-TW" b="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\</a:t>
            </a:r>
          </a:p>
          <a:p>
            <a:pPr algn="l">
              <a:lnSpc>
                <a:spcPct val="104000"/>
              </a:lnSpc>
              <a:buNone/>
              <a:defRPr sz="1575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lang="en-US" altLang="zh-TW" b="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-e MYSQL_USER=</a:t>
            </a:r>
            <a:r>
              <a:rPr lang="en-US" altLang="zh-TW" b="0" dirty="0" err="1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testuser</a:t>
            </a:r>
            <a:r>
              <a:rPr lang="en-US" altLang="zh-TW" b="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\</a:t>
            </a:r>
          </a:p>
          <a:p>
            <a:pPr algn="l">
              <a:lnSpc>
                <a:spcPct val="104000"/>
              </a:lnSpc>
              <a:buNone/>
              <a:defRPr sz="1575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lang="en-US" altLang="zh-TW" b="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-e MYSQL_PASSWORD=</a:t>
            </a:r>
            <a:r>
              <a:rPr lang="en-US" altLang="zh-TW" b="0" dirty="0" err="1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testpass</a:t>
            </a:r>
            <a:r>
              <a:rPr lang="en-US" altLang="zh-TW" b="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\</a:t>
            </a:r>
          </a:p>
          <a:p>
            <a:pPr algn="l">
              <a:lnSpc>
                <a:spcPct val="104000"/>
              </a:lnSpc>
              <a:buNone/>
              <a:defRPr sz="1575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lang="en-US" altLang="zh-TW" b="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-p 3306:3306 \</a:t>
            </a:r>
          </a:p>
          <a:p>
            <a:pPr algn="l">
              <a:lnSpc>
                <a:spcPct val="104000"/>
              </a:lnSpc>
              <a:buNone/>
              <a:defRPr sz="1575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lang="en-US" sz="1575" b="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575" b="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-v </a:t>
            </a:r>
            <a:r>
              <a:rPr sz="1575" b="0" dirty="0" err="1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mysql</a:t>
            </a:r>
            <a:r>
              <a:rPr sz="1575" b="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-data:/var/lib/</a:t>
            </a:r>
            <a:r>
              <a:rPr sz="1575" b="0" dirty="0" err="1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mysql</a:t>
            </a:r>
            <a:r>
              <a:rPr sz="1575" b="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\</a:t>
            </a:r>
          </a:p>
          <a:p>
            <a:pPr algn="l">
              <a:lnSpc>
                <a:spcPct val="104000"/>
              </a:lnSpc>
              <a:buNone/>
              <a:defRPr sz="1575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575" b="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575" b="0" dirty="0" err="1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mysql</a:t>
            </a:r>
            <a:endParaRPr sz="1575" b="0" dirty="0">
              <a:solidFill>
                <a:srgbClr val="E5E7EB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F1DAB92B-4CEB-45E5-920D-F1060998B89D}"/>
              </a:ext>
            </a:extLst>
          </p:cNvPr>
          <p:cNvSpPr>
            <a:spLocks noGrp="1"/>
          </p:cNvSpPr>
          <p:nvPr/>
        </p:nvSpPr>
        <p:spPr>
          <a:xfrm>
            <a:off x="7677150" y="1790700"/>
            <a:ext cx="3143250" cy="1333500"/>
          </a:xfrm>
          <a:prstGeom prst="roundRect">
            <a:avLst>
              <a:gd name="adj" fmla="val 8571"/>
            </a:avLst>
          </a:prstGeom>
          <a:solidFill>
            <a:srgbClr val="FFF6DD"/>
          </a:solidFill>
          <a:ln w="9525">
            <a:solidFill>
              <a:srgbClr val="F59E0B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3E53D5A-EC1B-40E7-B7D2-2D4834235289}"/>
              </a:ext>
            </a:extLst>
          </p:cNvPr>
          <p:cNvSpPr>
            <a:spLocks noGrp="1"/>
          </p:cNvSpPr>
          <p:nvPr/>
        </p:nvSpPr>
        <p:spPr>
          <a:xfrm>
            <a:off x="7905750" y="1981200"/>
            <a:ext cx="26860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89098"/>
          </a:bodyPr>
          <a:lstStyle/>
          <a:p>
            <a:pPr algn="l">
              <a:lnSpc>
                <a:spcPct val="106000"/>
              </a:lnSpc>
              <a:buNone/>
              <a:defRPr sz="2250" b="1">
                <a:solidFill>
                  <a:srgbClr val="B45309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B45309"/>
                </a:solidFill>
                <a:latin typeface="Aptos Display"/>
                <a:ea typeface="Aptos Display"/>
                <a:cs typeface="Aptos Display"/>
              </a:rPr>
              <a:t>mysql-data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7620312-44B5-4177-923F-F7CEEF159F8E}"/>
              </a:ext>
            </a:extLst>
          </p:cNvPr>
          <p:cNvSpPr>
            <a:spLocks noGrp="1"/>
          </p:cNvSpPr>
          <p:nvPr/>
        </p:nvSpPr>
        <p:spPr>
          <a:xfrm>
            <a:off x="7905750" y="2476500"/>
            <a:ext cx="26860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70671"/>
          </a:bodyPr>
          <a:lstStyle/>
          <a:p>
            <a:pPr algn="l">
              <a:lnSpc>
                <a:spcPct val="106000"/>
              </a:lnSpc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Docker 管理的資料卷名稱。容器刪掉後，資料卷還在。</a:t>
            </a:r>
          </a:p>
        </p:txBody>
      </p: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D0980C9C-5B21-480A-8929-FFF09EBA40B7}"/>
              </a:ext>
            </a:extLst>
          </p:cNvPr>
          <p:cNvSpPr>
            <a:spLocks noGrp="1"/>
          </p:cNvSpPr>
          <p:nvPr/>
        </p:nvSpPr>
        <p:spPr>
          <a:xfrm>
            <a:off x="7677150" y="3543300"/>
            <a:ext cx="3143250" cy="1143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1E62DE2-338E-4051-9BC6-297B66AB9C1E}"/>
              </a:ext>
            </a:extLst>
          </p:cNvPr>
          <p:cNvSpPr>
            <a:spLocks noGrp="1"/>
          </p:cNvSpPr>
          <p:nvPr/>
        </p:nvSpPr>
        <p:spPr>
          <a:xfrm>
            <a:off x="7905750" y="3733800"/>
            <a:ext cx="26860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19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/var/lib/mysql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F8DA2EF-DDA8-410B-87A1-64B057300597}"/>
              </a:ext>
            </a:extLst>
          </p:cNvPr>
          <p:cNvSpPr>
            <a:spLocks noGrp="1"/>
          </p:cNvSpPr>
          <p:nvPr/>
        </p:nvSpPr>
        <p:spPr>
          <a:xfrm>
            <a:off x="7905750" y="4152900"/>
            <a:ext cx="26860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87666"/>
          </a:bodyPr>
          <a:lstStyle/>
          <a:p>
            <a:pPr algn="l">
              <a:lnSpc>
                <a:spcPct val="106000"/>
              </a:lnSpc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MySQL 官方 Image 的資料存放路徑。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95ED1D3-6E25-45CB-A8DC-C34F81377F61}"/>
              </a:ext>
            </a:extLst>
          </p:cNvPr>
          <p:cNvSpPr>
            <a:spLocks noGrp="1"/>
          </p:cNvSpPr>
          <p:nvPr/>
        </p:nvSpPr>
        <p:spPr>
          <a:xfrm>
            <a:off x="1752600" y="5429250"/>
            <a:ext cx="86868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6000"/>
              </a:lnSpc>
              <a:buNone/>
              <a:defRPr sz="165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加入資料 -&gt; 刪容器 -&gt; 重建容器並掛同一個 Volume -&gt; 資料仍在。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C7B5049-9EFB-43B3-884B-55340C81B72A}"/>
              </a:ext>
            </a:extLst>
          </p:cNvPr>
          <p:cNvSpPr>
            <a:spLocks noGrp="1"/>
          </p:cNvSpPr>
          <p:nvPr/>
        </p:nvSpPr>
        <p:spPr>
          <a:xfrm>
            <a:off x="609600" y="6305550"/>
            <a:ext cx="9906000" cy="13335"/>
          </a:xfrm>
          <a:prstGeom prst="rect">
            <a:avLst/>
          </a:prstGeom>
          <a:solidFill>
            <a:srgbClr val="D9E2EC"/>
          </a:solidFill>
          <a:ln w="0">
            <a:noFill/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019F29F0-B460-4855-96EB-1609915667CA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2762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Docker 基礎教學 | 第 3 堂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964D4847-81BF-435C-8362-75111BC1C0BE}"/>
              </a:ext>
            </a:extLst>
          </p:cNvPr>
          <p:cNvSpPr>
            <a:spLocks noGrp="1"/>
          </p:cNvSpPr>
          <p:nvPr/>
        </p:nvSpPr>
        <p:spPr>
          <a:xfrm>
            <a:off x="11010900" y="6381750"/>
            <a:ext cx="571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106000"/>
              </a:lnSpc>
              <a:buNone/>
              <a:defRPr sz="9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6538050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矩形 40">
            <a:extLst>
              <a:ext uri="{FF2B5EF4-FFF2-40B4-BE49-F238E27FC236}">
                <a16:creationId xmlns:a16="http://schemas.microsoft.com/office/drawing/2014/main" id="{20079566-3754-461D-A30E-2C7C90F09A71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619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900" b="1">
                <a:solidFill>
                  <a:srgbClr val="0B5CA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5CAD"/>
                </a:solidFill>
                <a:latin typeface="Aptos"/>
                <a:ea typeface="Aptos"/>
                <a:cs typeface="Aptos"/>
              </a:rPr>
              <a:t>EXERCISE P1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74BAC72-8877-45C3-AB81-D69192B3D602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9906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28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實作題 P1：MySQL 完整操作</a:t>
            </a: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77AFB05B-F83D-40F0-86DC-42EDC7D3D110}"/>
              </a:ext>
            </a:extLst>
          </p:cNvPr>
          <p:cNvSpPr>
            <a:spLocks noGrp="1"/>
          </p:cNvSpPr>
          <p:nvPr/>
        </p:nvSpPr>
        <p:spPr>
          <a:xfrm>
            <a:off x="800100" y="1428750"/>
            <a:ext cx="10591800" cy="4057650"/>
          </a:xfrm>
          <a:prstGeom prst="roundRect">
            <a:avLst>
              <a:gd name="adj" fmla="val 3286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4" name="橢圓 3">
            <a:extLst>
              <a:ext uri="{FF2B5EF4-FFF2-40B4-BE49-F238E27FC236}">
                <a16:creationId xmlns:a16="http://schemas.microsoft.com/office/drawing/2014/main" id="{21113890-0C09-4378-8783-A255FC360CEF}"/>
              </a:ext>
            </a:extLst>
          </p:cNvPr>
          <p:cNvSpPr>
            <a:spLocks noGrp="1"/>
          </p:cNvSpPr>
          <p:nvPr/>
        </p:nvSpPr>
        <p:spPr>
          <a:xfrm>
            <a:off x="1200150" y="1790700"/>
            <a:ext cx="400050" cy="400050"/>
          </a:xfrm>
          <a:prstGeom prst="ellipse">
            <a:avLst/>
          </a:prstGeom>
          <a:solidFill>
            <a:srgbClr val="E8F3FF"/>
          </a:solidFill>
          <a:ln w="9525">
            <a:solidFill>
              <a:srgbClr val="B7DCFF"/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0223C18-E590-415B-8943-BA70F2B0C572}"/>
              </a:ext>
            </a:extLst>
          </p:cNvPr>
          <p:cNvSpPr>
            <a:spLocks noGrp="1"/>
          </p:cNvSpPr>
          <p:nvPr/>
        </p:nvSpPr>
        <p:spPr>
          <a:xfrm>
            <a:off x="1200150" y="1866900"/>
            <a:ext cx="4000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87351"/>
          </a:bodyPr>
          <a:lstStyle/>
          <a:p>
            <a:pPr algn="ctr">
              <a:lnSpc>
                <a:spcPct val="106000"/>
              </a:lnSpc>
              <a:buNone/>
              <a:defRPr sz="1350" b="1">
                <a:solidFill>
                  <a:srgbClr val="0B5CAD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0B5CAD"/>
                </a:solidFill>
                <a:latin typeface="Aptos Display"/>
                <a:ea typeface="Aptos Display"/>
                <a:cs typeface="Aptos Display"/>
              </a:rPr>
              <a:t>1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745E241-BA11-4A81-B144-48E35B90DE3D}"/>
              </a:ext>
            </a:extLst>
          </p:cNvPr>
          <p:cNvSpPr>
            <a:spLocks noGrp="1"/>
          </p:cNvSpPr>
          <p:nvPr/>
        </p:nvSpPr>
        <p:spPr>
          <a:xfrm>
            <a:off x="1752600" y="1752600"/>
            <a:ext cx="3714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85763"/>
          </a:bodyPr>
          <a:lstStyle/>
          <a:p>
            <a:pPr algn="l">
              <a:lnSpc>
                <a:spcPct val="106000"/>
              </a:lnSpc>
              <a:buNone/>
              <a:defRPr sz="16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啟動 MySQL 8.0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6DFBD62-6123-45B1-BACB-58513A6E3243}"/>
              </a:ext>
            </a:extLst>
          </p:cNvPr>
          <p:cNvSpPr>
            <a:spLocks noGrp="1"/>
          </p:cNvSpPr>
          <p:nvPr/>
        </p:nvSpPr>
        <p:spPr>
          <a:xfrm>
            <a:off x="1752600" y="2057400"/>
            <a:ext cx="3714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設定 root 密碼與自動建立資料庫</a:t>
            </a:r>
          </a:p>
        </p:txBody>
      </p:sp>
      <p:sp>
        <p:nvSpPr>
          <p:cNvPr id="8" name="橢圓 7">
            <a:extLst>
              <a:ext uri="{FF2B5EF4-FFF2-40B4-BE49-F238E27FC236}">
                <a16:creationId xmlns:a16="http://schemas.microsoft.com/office/drawing/2014/main" id="{487FAD17-AEB2-43FC-BBEF-CFF08404D37D}"/>
              </a:ext>
            </a:extLst>
          </p:cNvPr>
          <p:cNvSpPr>
            <a:spLocks noGrp="1"/>
          </p:cNvSpPr>
          <p:nvPr/>
        </p:nvSpPr>
        <p:spPr>
          <a:xfrm>
            <a:off x="6343650" y="1790700"/>
            <a:ext cx="400050" cy="400050"/>
          </a:xfrm>
          <a:prstGeom prst="ellipse">
            <a:avLst/>
          </a:prstGeom>
          <a:solidFill>
            <a:srgbClr val="E8F3FF"/>
          </a:solidFill>
          <a:ln w="9525">
            <a:solidFill>
              <a:srgbClr val="B7DCFF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CE951F0-C9CB-48CD-8567-4F0F242449A4}"/>
              </a:ext>
            </a:extLst>
          </p:cNvPr>
          <p:cNvSpPr>
            <a:spLocks noGrp="1"/>
          </p:cNvSpPr>
          <p:nvPr/>
        </p:nvSpPr>
        <p:spPr>
          <a:xfrm>
            <a:off x="6343650" y="1866900"/>
            <a:ext cx="4000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87351"/>
          </a:bodyPr>
          <a:lstStyle/>
          <a:p>
            <a:pPr algn="ctr">
              <a:lnSpc>
                <a:spcPct val="106000"/>
              </a:lnSpc>
              <a:buNone/>
              <a:defRPr sz="1350" b="1">
                <a:solidFill>
                  <a:srgbClr val="0B5CAD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0B5CAD"/>
                </a:solidFill>
                <a:latin typeface="Aptos Display"/>
                <a:ea typeface="Aptos Display"/>
                <a:cs typeface="Aptos Display"/>
              </a:rPr>
              <a:t>2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2A24156-0AAB-4C18-AA8C-CDF7530BF844}"/>
              </a:ext>
            </a:extLst>
          </p:cNvPr>
          <p:cNvSpPr>
            <a:spLocks noGrp="1"/>
          </p:cNvSpPr>
          <p:nvPr/>
        </p:nvSpPr>
        <p:spPr>
          <a:xfrm>
            <a:off x="6896100" y="1752600"/>
            <a:ext cx="3714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85763"/>
          </a:bodyPr>
          <a:lstStyle/>
          <a:p>
            <a:pPr algn="l">
              <a:lnSpc>
                <a:spcPct val="106000"/>
              </a:lnSpc>
              <a:buNone/>
              <a:defRPr sz="16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進入 MySQL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3DEE5AD-7735-40BF-8EE1-C7187A0526B4}"/>
              </a:ext>
            </a:extLst>
          </p:cNvPr>
          <p:cNvSpPr>
            <a:spLocks noGrp="1"/>
          </p:cNvSpPr>
          <p:nvPr/>
        </p:nvSpPr>
        <p:spPr>
          <a:xfrm>
            <a:off x="6896100" y="2057400"/>
            <a:ext cx="3714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用 docker exec 登入</a:t>
            </a:r>
          </a:p>
        </p:txBody>
      </p:sp>
      <p:sp>
        <p:nvSpPr>
          <p:cNvPr id="12" name="橢圓 11">
            <a:extLst>
              <a:ext uri="{FF2B5EF4-FFF2-40B4-BE49-F238E27FC236}">
                <a16:creationId xmlns:a16="http://schemas.microsoft.com/office/drawing/2014/main" id="{181EC0B5-6A6D-45FE-AEDD-F1D7E400C3BA}"/>
              </a:ext>
            </a:extLst>
          </p:cNvPr>
          <p:cNvSpPr>
            <a:spLocks noGrp="1"/>
          </p:cNvSpPr>
          <p:nvPr/>
        </p:nvSpPr>
        <p:spPr>
          <a:xfrm>
            <a:off x="1200150" y="2628900"/>
            <a:ext cx="400050" cy="400050"/>
          </a:xfrm>
          <a:prstGeom prst="ellipse">
            <a:avLst/>
          </a:prstGeom>
          <a:solidFill>
            <a:srgbClr val="E8F3FF"/>
          </a:solidFill>
          <a:ln w="9525">
            <a:solidFill>
              <a:srgbClr val="B7DCFF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6BCA00F-F4C7-4494-B48F-C9F484E4FA7A}"/>
              </a:ext>
            </a:extLst>
          </p:cNvPr>
          <p:cNvSpPr>
            <a:spLocks noGrp="1"/>
          </p:cNvSpPr>
          <p:nvPr/>
        </p:nvSpPr>
        <p:spPr>
          <a:xfrm>
            <a:off x="1200150" y="2705100"/>
            <a:ext cx="4000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87351"/>
          </a:bodyPr>
          <a:lstStyle/>
          <a:p>
            <a:pPr algn="ctr">
              <a:lnSpc>
                <a:spcPct val="106000"/>
              </a:lnSpc>
              <a:buNone/>
              <a:defRPr sz="1350" b="1">
                <a:solidFill>
                  <a:srgbClr val="0B5CAD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0B5CAD"/>
                </a:solidFill>
                <a:latin typeface="Aptos Display"/>
                <a:ea typeface="Aptos Display"/>
                <a:cs typeface="Aptos Display"/>
              </a:rPr>
              <a:t>3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9EBD65C-61BC-492B-8982-526E52B6E5EE}"/>
              </a:ext>
            </a:extLst>
          </p:cNvPr>
          <p:cNvSpPr>
            <a:spLocks noGrp="1"/>
          </p:cNvSpPr>
          <p:nvPr/>
        </p:nvSpPr>
        <p:spPr>
          <a:xfrm>
            <a:off x="1752600" y="2590800"/>
            <a:ext cx="3714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85763"/>
          </a:bodyPr>
          <a:lstStyle/>
          <a:p>
            <a:pPr algn="l">
              <a:lnSpc>
                <a:spcPct val="106000"/>
              </a:lnSpc>
              <a:buNone/>
              <a:defRPr sz="16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建 employees 表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17AB12F7-8E79-4FDE-88CE-0ABADD3C521E}"/>
              </a:ext>
            </a:extLst>
          </p:cNvPr>
          <p:cNvSpPr>
            <a:spLocks noGrp="1"/>
          </p:cNvSpPr>
          <p:nvPr/>
        </p:nvSpPr>
        <p:spPr>
          <a:xfrm>
            <a:off x="1752600" y="2895600"/>
            <a:ext cx="3714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id、name、department、salary</a:t>
            </a:r>
          </a:p>
        </p:txBody>
      </p:sp>
      <p:sp>
        <p:nvSpPr>
          <p:cNvPr id="16" name="橢圓 15">
            <a:extLst>
              <a:ext uri="{FF2B5EF4-FFF2-40B4-BE49-F238E27FC236}">
                <a16:creationId xmlns:a16="http://schemas.microsoft.com/office/drawing/2014/main" id="{9F43F5AA-990D-4EB1-95A1-4F815FEF3D49}"/>
              </a:ext>
            </a:extLst>
          </p:cNvPr>
          <p:cNvSpPr>
            <a:spLocks noGrp="1"/>
          </p:cNvSpPr>
          <p:nvPr/>
        </p:nvSpPr>
        <p:spPr>
          <a:xfrm>
            <a:off x="6343650" y="2628900"/>
            <a:ext cx="400050" cy="400050"/>
          </a:xfrm>
          <a:prstGeom prst="ellipse">
            <a:avLst/>
          </a:prstGeom>
          <a:solidFill>
            <a:srgbClr val="E8F3FF"/>
          </a:solidFill>
          <a:ln w="9525">
            <a:solidFill>
              <a:srgbClr val="B7DCFF"/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B9D2C90B-7A81-4C09-B06D-1374C6FEA039}"/>
              </a:ext>
            </a:extLst>
          </p:cNvPr>
          <p:cNvSpPr>
            <a:spLocks noGrp="1"/>
          </p:cNvSpPr>
          <p:nvPr/>
        </p:nvSpPr>
        <p:spPr>
          <a:xfrm>
            <a:off x="6343650" y="2705100"/>
            <a:ext cx="4000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87351"/>
          </a:bodyPr>
          <a:lstStyle/>
          <a:p>
            <a:pPr algn="ctr">
              <a:lnSpc>
                <a:spcPct val="106000"/>
              </a:lnSpc>
              <a:buNone/>
              <a:defRPr sz="1350" b="1">
                <a:solidFill>
                  <a:srgbClr val="0B5CAD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0B5CAD"/>
                </a:solidFill>
                <a:latin typeface="Aptos Display"/>
                <a:ea typeface="Aptos Display"/>
                <a:cs typeface="Aptos Display"/>
              </a:rPr>
              <a:t>4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47CA0FD5-D64D-41FB-8505-E4306D8E5D3D}"/>
              </a:ext>
            </a:extLst>
          </p:cNvPr>
          <p:cNvSpPr>
            <a:spLocks noGrp="1"/>
          </p:cNvSpPr>
          <p:nvPr/>
        </p:nvSpPr>
        <p:spPr>
          <a:xfrm>
            <a:off x="6896100" y="2590800"/>
            <a:ext cx="3714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85763"/>
          </a:bodyPr>
          <a:lstStyle/>
          <a:p>
            <a:pPr algn="l">
              <a:lnSpc>
                <a:spcPct val="106000"/>
              </a:lnSpc>
              <a:buNone/>
              <a:defRPr sz="16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插入 3 筆資料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EFC260E8-ECF9-43C5-BA6F-470ADE3722AD}"/>
              </a:ext>
            </a:extLst>
          </p:cNvPr>
          <p:cNvSpPr>
            <a:spLocks noGrp="1"/>
          </p:cNvSpPr>
          <p:nvPr/>
        </p:nvSpPr>
        <p:spPr>
          <a:xfrm>
            <a:off x="6896100" y="2895600"/>
            <a:ext cx="3714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至少三個不同員工</a:t>
            </a:r>
          </a:p>
        </p:txBody>
      </p:sp>
      <p:sp>
        <p:nvSpPr>
          <p:cNvPr id="20" name="橢圓 19">
            <a:extLst>
              <a:ext uri="{FF2B5EF4-FFF2-40B4-BE49-F238E27FC236}">
                <a16:creationId xmlns:a16="http://schemas.microsoft.com/office/drawing/2014/main" id="{FEFEF19A-8CFA-4457-99E2-1D4049BB8C56}"/>
              </a:ext>
            </a:extLst>
          </p:cNvPr>
          <p:cNvSpPr>
            <a:spLocks noGrp="1"/>
          </p:cNvSpPr>
          <p:nvPr/>
        </p:nvSpPr>
        <p:spPr>
          <a:xfrm>
            <a:off x="1200150" y="3467100"/>
            <a:ext cx="400050" cy="400050"/>
          </a:xfrm>
          <a:prstGeom prst="ellipse">
            <a:avLst/>
          </a:prstGeom>
          <a:solidFill>
            <a:srgbClr val="E7F8F2"/>
          </a:solidFill>
          <a:ln w="9525">
            <a:solidFill>
              <a:srgbClr val="00A97F"/>
            </a:solidFill>
            <a:prstDash val="solid"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AB7F6DB0-2228-4A53-9415-760F8F898083}"/>
              </a:ext>
            </a:extLst>
          </p:cNvPr>
          <p:cNvSpPr>
            <a:spLocks noGrp="1"/>
          </p:cNvSpPr>
          <p:nvPr/>
        </p:nvSpPr>
        <p:spPr>
          <a:xfrm>
            <a:off x="1200150" y="3543300"/>
            <a:ext cx="4000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87351"/>
          </a:bodyPr>
          <a:lstStyle/>
          <a:p>
            <a:pPr algn="ctr">
              <a:lnSpc>
                <a:spcPct val="106000"/>
              </a:lnSpc>
              <a:buNone/>
              <a:defRPr sz="1350" b="1">
                <a:solidFill>
                  <a:srgbClr val="047857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047857"/>
                </a:solidFill>
                <a:latin typeface="Aptos Display"/>
                <a:ea typeface="Aptos Display"/>
                <a:cs typeface="Aptos Display"/>
              </a:rPr>
              <a:t>5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DD4A1B8A-F4E6-4ABB-B915-BE668B53ABBB}"/>
              </a:ext>
            </a:extLst>
          </p:cNvPr>
          <p:cNvSpPr>
            <a:spLocks noGrp="1"/>
          </p:cNvSpPr>
          <p:nvPr/>
        </p:nvSpPr>
        <p:spPr>
          <a:xfrm>
            <a:off x="1752600" y="3429000"/>
            <a:ext cx="3714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85763"/>
          </a:bodyPr>
          <a:lstStyle/>
          <a:p>
            <a:pPr algn="l">
              <a:lnSpc>
                <a:spcPct val="106000"/>
              </a:lnSpc>
              <a:buNone/>
              <a:defRPr sz="16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查詢薪水 &gt; 50000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AA1A6E7C-A5BB-44F4-98D7-C2736E2FFA62}"/>
              </a:ext>
            </a:extLst>
          </p:cNvPr>
          <p:cNvSpPr>
            <a:spLocks noGrp="1"/>
          </p:cNvSpPr>
          <p:nvPr/>
        </p:nvSpPr>
        <p:spPr>
          <a:xfrm>
            <a:off x="1752600" y="3733800"/>
            <a:ext cx="3714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確認 SELECT 條件查詢</a:t>
            </a:r>
          </a:p>
        </p:txBody>
      </p:sp>
      <p:sp>
        <p:nvSpPr>
          <p:cNvPr id="24" name="橢圓 23">
            <a:extLst>
              <a:ext uri="{FF2B5EF4-FFF2-40B4-BE49-F238E27FC236}">
                <a16:creationId xmlns:a16="http://schemas.microsoft.com/office/drawing/2014/main" id="{B4276F9E-DC46-4314-B07E-63A43914F265}"/>
              </a:ext>
            </a:extLst>
          </p:cNvPr>
          <p:cNvSpPr>
            <a:spLocks noGrp="1"/>
          </p:cNvSpPr>
          <p:nvPr/>
        </p:nvSpPr>
        <p:spPr>
          <a:xfrm>
            <a:off x="6343650" y="3467100"/>
            <a:ext cx="400050" cy="400050"/>
          </a:xfrm>
          <a:prstGeom prst="ellipse">
            <a:avLst/>
          </a:prstGeom>
          <a:solidFill>
            <a:srgbClr val="E7F8F2"/>
          </a:solidFill>
          <a:ln w="9525">
            <a:solidFill>
              <a:srgbClr val="00A97F"/>
            </a:solidFill>
            <a:prstDash val="solid"/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343F465F-B143-48F7-A5AE-3543027CA155}"/>
              </a:ext>
            </a:extLst>
          </p:cNvPr>
          <p:cNvSpPr>
            <a:spLocks noGrp="1"/>
          </p:cNvSpPr>
          <p:nvPr/>
        </p:nvSpPr>
        <p:spPr>
          <a:xfrm>
            <a:off x="6343650" y="3543300"/>
            <a:ext cx="4000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87351"/>
          </a:bodyPr>
          <a:lstStyle/>
          <a:p>
            <a:pPr algn="ctr">
              <a:lnSpc>
                <a:spcPct val="106000"/>
              </a:lnSpc>
              <a:buNone/>
              <a:defRPr sz="1350" b="1">
                <a:solidFill>
                  <a:srgbClr val="047857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047857"/>
                </a:solidFill>
                <a:latin typeface="Aptos Display"/>
                <a:ea typeface="Aptos Display"/>
                <a:cs typeface="Aptos Display"/>
              </a:rPr>
              <a:t>6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9EA5D21F-A062-445E-A73B-89D86D9DDC36}"/>
              </a:ext>
            </a:extLst>
          </p:cNvPr>
          <p:cNvSpPr>
            <a:spLocks noGrp="1"/>
          </p:cNvSpPr>
          <p:nvPr/>
        </p:nvSpPr>
        <p:spPr>
          <a:xfrm>
            <a:off x="6896100" y="3429000"/>
            <a:ext cx="3714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85763"/>
          </a:bodyPr>
          <a:lstStyle/>
          <a:p>
            <a:pPr algn="l">
              <a:lnSpc>
                <a:spcPct val="106000"/>
              </a:lnSpc>
              <a:buNone/>
              <a:defRPr sz="16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更新部門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FAE7C31C-A414-4044-91C7-34B7904CD36D}"/>
              </a:ext>
            </a:extLst>
          </p:cNvPr>
          <p:cNvSpPr>
            <a:spLocks noGrp="1"/>
          </p:cNvSpPr>
          <p:nvPr/>
        </p:nvSpPr>
        <p:spPr>
          <a:xfrm>
            <a:off x="6896100" y="3733800"/>
            <a:ext cx="3714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UPDATE 某位員工資料</a:t>
            </a:r>
          </a:p>
        </p:txBody>
      </p:sp>
      <p:sp>
        <p:nvSpPr>
          <p:cNvPr id="28" name="橢圓 27">
            <a:extLst>
              <a:ext uri="{FF2B5EF4-FFF2-40B4-BE49-F238E27FC236}">
                <a16:creationId xmlns:a16="http://schemas.microsoft.com/office/drawing/2014/main" id="{9EC4C87F-5D74-4DA1-9AF9-FEC3493F7054}"/>
              </a:ext>
            </a:extLst>
          </p:cNvPr>
          <p:cNvSpPr>
            <a:spLocks noGrp="1"/>
          </p:cNvSpPr>
          <p:nvPr/>
        </p:nvSpPr>
        <p:spPr>
          <a:xfrm>
            <a:off x="1200150" y="4305300"/>
            <a:ext cx="400050" cy="400050"/>
          </a:xfrm>
          <a:prstGeom prst="ellipse">
            <a:avLst/>
          </a:prstGeom>
          <a:solidFill>
            <a:srgbClr val="E7F8F2"/>
          </a:solidFill>
          <a:ln w="9525">
            <a:solidFill>
              <a:srgbClr val="00A97F"/>
            </a:solidFill>
            <a:prstDash val="solid"/>
          </a:ln>
        </p:spPr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06CA2F54-4B42-488C-A937-3AA66520FCEC}"/>
              </a:ext>
            </a:extLst>
          </p:cNvPr>
          <p:cNvSpPr>
            <a:spLocks noGrp="1"/>
          </p:cNvSpPr>
          <p:nvPr/>
        </p:nvSpPr>
        <p:spPr>
          <a:xfrm>
            <a:off x="1200150" y="4381500"/>
            <a:ext cx="4000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87351"/>
          </a:bodyPr>
          <a:lstStyle/>
          <a:p>
            <a:pPr algn="ctr">
              <a:lnSpc>
                <a:spcPct val="106000"/>
              </a:lnSpc>
              <a:buNone/>
              <a:defRPr sz="1350" b="1">
                <a:solidFill>
                  <a:srgbClr val="047857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047857"/>
                </a:solidFill>
                <a:latin typeface="Aptos Display"/>
                <a:ea typeface="Aptos Display"/>
                <a:cs typeface="Aptos Display"/>
              </a:rPr>
              <a:t>7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11EF067-AADC-44FF-9FE6-0C8D47CD41CE}"/>
              </a:ext>
            </a:extLst>
          </p:cNvPr>
          <p:cNvSpPr>
            <a:spLocks noGrp="1"/>
          </p:cNvSpPr>
          <p:nvPr/>
        </p:nvSpPr>
        <p:spPr>
          <a:xfrm>
            <a:off x="1752600" y="4267200"/>
            <a:ext cx="3714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85763"/>
          </a:bodyPr>
          <a:lstStyle/>
          <a:p>
            <a:pPr algn="l">
              <a:lnSpc>
                <a:spcPct val="106000"/>
              </a:lnSpc>
              <a:buNone/>
              <a:defRPr sz="16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刪除一筆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46806693-6079-4F3D-A670-FAECD19A4CD7}"/>
              </a:ext>
            </a:extLst>
          </p:cNvPr>
          <p:cNvSpPr>
            <a:spLocks noGrp="1"/>
          </p:cNvSpPr>
          <p:nvPr/>
        </p:nvSpPr>
        <p:spPr>
          <a:xfrm>
            <a:off x="1752600" y="4572000"/>
            <a:ext cx="3714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DELETE 後再次 SELECT</a:t>
            </a:r>
          </a:p>
        </p:txBody>
      </p:sp>
      <p:sp>
        <p:nvSpPr>
          <p:cNvPr id="32" name="橢圓 31">
            <a:extLst>
              <a:ext uri="{FF2B5EF4-FFF2-40B4-BE49-F238E27FC236}">
                <a16:creationId xmlns:a16="http://schemas.microsoft.com/office/drawing/2014/main" id="{28207302-B9FA-4AD5-A593-B491C7089E05}"/>
              </a:ext>
            </a:extLst>
          </p:cNvPr>
          <p:cNvSpPr>
            <a:spLocks noGrp="1"/>
          </p:cNvSpPr>
          <p:nvPr/>
        </p:nvSpPr>
        <p:spPr>
          <a:xfrm>
            <a:off x="6343650" y="4305300"/>
            <a:ext cx="400050" cy="400050"/>
          </a:xfrm>
          <a:prstGeom prst="ellipse">
            <a:avLst/>
          </a:prstGeom>
          <a:solidFill>
            <a:srgbClr val="E7F8F2"/>
          </a:solidFill>
          <a:ln w="9525">
            <a:solidFill>
              <a:srgbClr val="00A97F"/>
            </a:solidFill>
            <a:prstDash val="solid"/>
          </a:ln>
        </p:spPr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BFAFCDA7-D9B8-4899-ABD3-9E86502231E5}"/>
              </a:ext>
            </a:extLst>
          </p:cNvPr>
          <p:cNvSpPr>
            <a:spLocks noGrp="1"/>
          </p:cNvSpPr>
          <p:nvPr/>
        </p:nvSpPr>
        <p:spPr>
          <a:xfrm>
            <a:off x="6343650" y="4381500"/>
            <a:ext cx="4000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87351"/>
          </a:bodyPr>
          <a:lstStyle/>
          <a:p>
            <a:pPr algn="ctr">
              <a:lnSpc>
                <a:spcPct val="106000"/>
              </a:lnSpc>
              <a:buNone/>
              <a:defRPr sz="1350" b="1">
                <a:solidFill>
                  <a:srgbClr val="047857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047857"/>
                </a:solidFill>
                <a:latin typeface="Aptos Display"/>
                <a:ea typeface="Aptos Display"/>
                <a:cs typeface="Aptos Display"/>
              </a:rPr>
              <a:t>8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75AF1ADB-A31B-4C1A-8A78-FBD0CC2CDF87}"/>
              </a:ext>
            </a:extLst>
          </p:cNvPr>
          <p:cNvSpPr>
            <a:spLocks noGrp="1"/>
          </p:cNvSpPr>
          <p:nvPr/>
        </p:nvSpPr>
        <p:spPr>
          <a:xfrm>
            <a:off x="6896100" y="4267200"/>
            <a:ext cx="3714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85763"/>
          </a:bodyPr>
          <a:lstStyle/>
          <a:p>
            <a:pPr algn="l">
              <a:lnSpc>
                <a:spcPct val="106000"/>
              </a:lnSpc>
              <a:buNone/>
              <a:defRPr sz="16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離開並清理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B485E20F-4844-4946-A8B7-10DB3531F3C3}"/>
              </a:ext>
            </a:extLst>
          </p:cNvPr>
          <p:cNvSpPr>
            <a:spLocks noGrp="1"/>
          </p:cNvSpPr>
          <p:nvPr/>
        </p:nvSpPr>
        <p:spPr>
          <a:xfrm>
            <a:off x="6896100" y="4572000"/>
            <a:ext cx="3714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容器與資料依需求保留或刪除</a:t>
            </a:r>
          </a:p>
        </p:txBody>
      </p:sp>
      <p:sp>
        <p:nvSpPr>
          <p:cNvPr id="36" name="矩形: 圓角 35">
            <a:extLst>
              <a:ext uri="{FF2B5EF4-FFF2-40B4-BE49-F238E27FC236}">
                <a16:creationId xmlns:a16="http://schemas.microsoft.com/office/drawing/2014/main" id="{C7F46A8C-D085-4C5E-AF15-793675083973}"/>
              </a:ext>
            </a:extLst>
          </p:cNvPr>
          <p:cNvSpPr>
            <a:spLocks noGrp="1"/>
          </p:cNvSpPr>
          <p:nvPr/>
        </p:nvSpPr>
        <p:spPr>
          <a:xfrm>
            <a:off x="2057400" y="5753100"/>
            <a:ext cx="8077200" cy="419100"/>
          </a:xfrm>
          <a:prstGeom prst="roundRect">
            <a:avLst>
              <a:gd name="adj" fmla="val 22727"/>
            </a:avLst>
          </a:prstGeom>
          <a:solidFill>
            <a:srgbClr val="FFF6DD"/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B233CF91-F215-403B-80C7-52745BAE0230}"/>
              </a:ext>
            </a:extLst>
          </p:cNvPr>
          <p:cNvSpPr>
            <a:spLocks noGrp="1"/>
          </p:cNvSpPr>
          <p:nvPr/>
        </p:nvSpPr>
        <p:spPr>
          <a:xfrm>
            <a:off x="2343150" y="5867400"/>
            <a:ext cx="75057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82754"/>
          </a:bodyPr>
          <a:lstStyle/>
          <a:p>
            <a:pPr algn="ctr">
              <a:lnSpc>
                <a:spcPct val="106000"/>
              </a:lnSpc>
              <a:buNone/>
              <a:defRPr sz="1425" b="1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B45309"/>
                </a:solidFill>
                <a:latin typeface="Aptos"/>
                <a:ea typeface="Aptos"/>
                <a:cs typeface="Aptos"/>
              </a:rPr>
              <a:t>完成標準：能展示 employees 查詢結果，並說明資料是否需要用 Volume 保留。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A2A27C30-DB91-4A84-9644-B57B2AC900A2}"/>
              </a:ext>
            </a:extLst>
          </p:cNvPr>
          <p:cNvSpPr>
            <a:spLocks noGrp="1"/>
          </p:cNvSpPr>
          <p:nvPr/>
        </p:nvSpPr>
        <p:spPr>
          <a:xfrm>
            <a:off x="609600" y="6305550"/>
            <a:ext cx="9906000" cy="13335"/>
          </a:xfrm>
          <a:prstGeom prst="rect">
            <a:avLst/>
          </a:prstGeom>
          <a:solidFill>
            <a:srgbClr val="D9E2EC"/>
          </a:solidFill>
          <a:ln w="0">
            <a:noFill/>
            <a:prstDash val="solid"/>
          </a:ln>
        </p:spPr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5618A661-E4B1-4FB7-9548-3F2A9CB33915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2762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Docker 基礎教學 | 第 3 堂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52E90E26-693F-4D4F-BE4F-7167B5C3184E}"/>
              </a:ext>
            </a:extLst>
          </p:cNvPr>
          <p:cNvSpPr>
            <a:spLocks noGrp="1"/>
          </p:cNvSpPr>
          <p:nvPr/>
        </p:nvSpPr>
        <p:spPr>
          <a:xfrm>
            <a:off x="11010900" y="6381750"/>
            <a:ext cx="571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106000"/>
              </a:lnSpc>
              <a:buNone/>
              <a:defRPr sz="9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6816195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>
            <a:extLst>
              <a:ext uri="{FF2B5EF4-FFF2-40B4-BE49-F238E27FC236}">
                <a16:creationId xmlns:a16="http://schemas.microsoft.com/office/drawing/2014/main" id="{B1E88B00-B7A0-4A36-AE32-760966DD0652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619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900" b="1">
                <a:solidFill>
                  <a:srgbClr val="0B5CA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5CAD"/>
                </a:solidFill>
                <a:latin typeface="Aptos"/>
                <a:ea typeface="Aptos"/>
                <a:cs typeface="Aptos"/>
              </a:rPr>
              <a:t>WHY COMPOSE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4309440-396D-44C3-B705-F07F396BA285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9906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28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Compose 解決長指令和多服務管理</a:t>
            </a: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5B52611F-450B-42B0-B934-F328615E3F70}"/>
              </a:ext>
            </a:extLst>
          </p:cNvPr>
          <p:cNvSpPr>
            <a:spLocks noGrp="1"/>
          </p:cNvSpPr>
          <p:nvPr/>
        </p:nvSpPr>
        <p:spPr>
          <a:xfrm>
            <a:off x="800100" y="1695450"/>
            <a:ext cx="10591800" cy="1162050"/>
          </a:xfrm>
          <a:prstGeom prst="roundRect">
            <a:avLst>
              <a:gd name="adj" fmla="val 8197"/>
            </a:avLst>
          </a:prstGeom>
          <a:solidFill>
            <a:srgbClr val="0B1220"/>
          </a:solidFill>
          <a:ln w="9525">
            <a:solidFill>
              <a:srgbClr val="1E293B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sp>
        <p:nvSpPr>
          <p:cNvPr id="4" name="橢圓 3">
            <a:extLst>
              <a:ext uri="{FF2B5EF4-FFF2-40B4-BE49-F238E27FC236}">
                <a16:creationId xmlns:a16="http://schemas.microsoft.com/office/drawing/2014/main" id="{2E4283DA-8066-4A7D-BA8B-E3994B3B431A}"/>
              </a:ext>
            </a:extLst>
          </p:cNvPr>
          <p:cNvSpPr>
            <a:spLocks noGrp="1"/>
          </p:cNvSpPr>
          <p:nvPr/>
        </p:nvSpPr>
        <p:spPr>
          <a:xfrm>
            <a:off x="971550" y="1857375"/>
            <a:ext cx="95250" cy="95250"/>
          </a:xfrm>
          <a:prstGeom prst="ellipse">
            <a:avLst/>
          </a:prstGeom>
          <a:solidFill>
            <a:srgbClr val="FB7185"/>
          </a:solidFill>
          <a:ln w="0">
            <a:noFill/>
            <a:prstDash val="solid"/>
          </a:ln>
        </p:spPr>
      </p:sp>
      <p:sp>
        <p:nvSpPr>
          <p:cNvPr id="5" name="橢圓 4">
            <a:extLst>
              <a:ext uri="{FF2B5EF4-FFF2-40B4-BE49-F238E27FC236}">
                <a16:creationId xmlns:a16="http://schemas.microsoft.com/office/drawing/2014/main" id="{268ABD3D-88A4-4B93-839D-8305E8B012DD}"/>
              </a:ext>
            </a:extLst>
          </p:cNvPr>
          <p:cNvSpPr>
            <a:spLocks noGrp="1"/>
          </p:cNvSpPr>
          <p:nvPr/>
        </p:nvSpPr>
        <p:spPr>
          <a:xfrm>
            <a:off x="1143000" y="1857375"/>
            <a:ext cx="95250" cy="95250"/>
          </a:xfrm>
          <a:prstGeom prst="ellipse">
            <a:avLst/>
          </a:prstGeom>
          <a:solidFill>
            <a:srgbClr val="FBBF24"/>
          </a:solidFill>
          <a:ln w="0">
            <a:noFill/>
            <a:prstDash val="solid"/>
          </a:ln>
        </p:spPr>
      </p:sp>
      <p:sp>
        <p:nvSpPr>
          <p:cNvPr id="6" name="橢圓 5">
            <a:extLst>
              <a:ext uri="{FF2B5EF4-FFF2-40B4-BE49-F238E27FC236}">
                <a16:creationId xmlns:a16="http://schemas.microsoft.com/office/drawing/2014/main" id="{DF144EEF-829D-4A3A-A5B2-6C9391B3B434}"/>
              </a:ext>
            </a:extLst>
          </p:cNvPr>
          <p:cNvSpPr>
            <a:spLocks noGrp="1"/>
          </p:cNvSpPr>
          <p:nvPr/>
        </p:nvSpPr>
        <p:spPr>
          <a:xfrm>
            <a:off x="1314450" y="1857375"/>
            <a:ext cx="95250" cy="95250"/>
          </a:xfrm>
          <a:prstGeom prst="ellipse">
            <a:avLst/>
          </a:prstGeom>
          <a:solidFill>
            <a:srgbClr val="34D399"/>
          </a:solidFill>
          <a:ln w="0">
            <a:noFill/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812284D-0459-44BC-8D1C-F38B50C852DA}"/>
              </a:ext>
            </a:extLst>
          </p:cNvPr>
          <p:cNvSpPr>
            <a:spLocks noGrp="1"/>
          </p:cNvSpPr>
          <p:nvPr/>
        </p:nvSpPr>
        <p:spPr>
          <a:xfrm>
            <a:off x="1009650" y="2114550"/>
            <a:ext cx="101727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4000"/>
              </a:lnSpc>
              <a:buNone/>
              <a:defRPr sz="1275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docker run -d --name my-mysql -e MYSQL_ROOT_PASSWORD=my-secret-pw -e MYSQL_DATABASE=testdb -e MYSQL_USER=testuser -e MYSQL_PASSWORD=testpass -p 3306:3306 -v mysql-data:/var/lib/mysql mysql:8.0</a:t>
            </a:r>
          </a:p>
        </p:txBody>
      </p:sp>
      <p:sp>
        <p:nvSpPr>
          <p:cNvPr id="8" name="箭號: 向右 7">
            <a:extLst>
              <a:ext uri="{FF2B5EF4-FFF2-40B4-BE49-F238E27FC236}">
                <a16:creationId xmlns:a16="http://schemas.microsoft.com/office/drawing/2014/main" id="{1189D8FA-D4EA-490B-86B9-5E9FF8018E4E}"/>
              </a:ext>
            </a:extLst>
          </p:cNvPr>
          <p:cNvSpPr>
            <a:spLocks noGrp="1"/>
          </p:cNvSpPr>
          <p:nvPr/>
        </p:nvSpPr>
        <p:spPr>
          <a:xfrm>
            <a:off x="5619750" y="3238500"/>
            <a:ext cx="952500" cy="419100"/>
          </a:xfrm>
          <a:prstGeom prst="rightArrow">
            <a:avLst/>
          </a:prstGeom>
          <a:solidFill>
            <a:srgbClr val="4F46E5"/>
          </a:solidFill>
          <a:ln w="0">
            <a:solidFill>
              <a:srgbClr val="4F46E5"/>
            </a:solidFill>
            <a:prstDash val="solid"/>
          </a:ln>
        </p:spPr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ECEE4F12-17BB-4879-9B8F-0F76EA8B89C7}"/>
              </a:ext>
            </a:extLst>
          </p:cNvPr>
          <p:cNvSpPr>
            <a:spLocks noGrp="1"/>
          </p:cNvSpPr>
          <p:nvPr/>
        </p:nvSpPr>
        <p:spPr>
          <a:xfrm>
            <a:off x="2724150" y="4095750"/>
            <a:ext cx="6743700" cy="990600"/>
          </a:xfrm>
          <a:prstGeom prst="roundRect">
            <a:avLst>
              <a:gd name="adj" fmla="val 11538"/>
            </a:avLst>
          </a:prstGeom>
          <a:solidFill>
            <a:srgbClr val="EEF2FF"/>
          </a:solidFill>
          <a:ln w="9525">
            <a:solidFill>
              <a:srgbClr val="4F46E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050530F-DF26-4CDA-A633-9B9FB42A0944}"/>
              </a:ext>
            </a:extLst>
          </p:cNvPr>
          <p:cNvSpPr>
            <a:spLocks noGrp="1"/>
          </p:cNvSpPr>
          <p:nvPr/>
        </p:nvSpPr>
        <p:spPr>
          <a:xfrm>
            <a:off x="3086100" y="4400550"/>
            <a:ext cx="6019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87321"/>
          </a:bodyPr>
          <a:lstStyle/>
          <a:p>
            <a:pPr algn="ctr">
              <a:lnSpc>
                <a:spcPct val="106000"/>
              </a:lnSpc>
              <a:buNone/>
              <a:defRPr sz="1950" b="1">
                <a:solidFill>
                  <a:srgbClr val="4F46E5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4F46E5"/>
                </a:solidFill>
                <a:latin typeface="Aptos Display"/>
                <a:ea typeface="Aptos Display"/>
                <a:cs typeface="Aptos Display"/>
              </a:rPr>
              <a:t>設定寫進 compose.yaml（舊名 docker-compose.yml 仍可用）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C8B03E0-4072-4310-B6ED-8601342FCA79}"/>
              </a:ext>
            </a:extLst>
          </p:cNvPr>
          <p:cNvSpPr>
            <a:spLocks noGrp="1"/>
          </p:cNvSpPr>
          <p:nvPr/>
        </p:nvSpPr>
        <p:spPr>
          <a:xfrm>
            <a:off x="609600" y="6305550"/>
            <a:ext cx="9906000" cy="13335"/>
          </a:xfrm>
          <a:prstGeom prst="rect">
            <a:avLst/>
          </a:prstGeom>
          <a:solidFill>
            <a:srgbClr val="D9E2EC"/>
          </a:solidFill>
          <a:ln w="0">
            <a:noFill/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D67F5CA-F2DF-426C-B150-F8E8171FD86C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2762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Docker 基礎教學 | 第 3 堂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B2F3DC1-4933-49DF-AE6A-DFC700FDB50E}"/>
              </a:ext>
            </a:extLst>
          </p:cNvPr>
          <p:cNvSpPr>
            <a:spLocks noGrp="1"/>
          </p:cNvSpPr>
          <p:nvPr/>
        </p:nvSpPr>
        <p:spPr>
          <a:xfrm>
            <a:off x="11010900" y="6381750"/>
            <a:ext cx="571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106000"/>
              </a:lnSpc>
              <a:buNone/>
              <a:defRPr sz="9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8093156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>
            <a:extLst>
              <a:ext uri="{FF2B5EF4-FFF2-40B4-BE49-F238E27FC236}">
                <a16:creationId xmlns:a16="http://schemas.microsoft.com/office/drawing/2014/main" id="{9B1070DD-3F0F-42F9-9CE9-8F84F12638B0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619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900" b="1">
                <a:solidFill>
                  <a:srgbClr val="0B5CA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5CAD"/>
                </a:solidFill>
                <a:latin typeface="Aptos"/>
                <a:ea typeface="Aptos"/>
                <a:cs typeface="Aptos"/>
              </a:rPr>
              <a:t>YAML BASICS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AD02B34-A66B-4265-82CC-2AD8129F34E9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9906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28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YAML 是靠縮排表達層級的設定檔</a:t>
            </a: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8847C7DA-5851-433E-8EEE-6121F44DFE86}"/>
              </a:ext>
            </a:extLst>
          </p:cNvPr>
          <p:cNvSpPr>
            <a:spLocks noGrp="1"/>
          </p:cNvSpPr>
          <p:nvPr/>
        </p:nvSpPr>
        <p:spPr>
          <a:xfrm>
            <a:off x="1047750" y="1619250"/>
            <a:ext cx="4476750" cy="2381250"/>
          </a:xfrm>
          <a:prstGeom prst="roundRect">
            <a:avLst>
              <a:gd name="adj" fmla="val 4000"/>
            </a:avLst>
          </a:prstGeom>
          <a:solidFill>
            <a:srgbClr val="0B1220"/>
          </a:solidFill>
          <a:ln w="9525">
            <a:solidFill>
              <a:srgbClr val="1E293B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sp>
        <p:nvSpPr>
          <p:cNvPr id="4" name="橢圓 3">
            <a:extLst>
              <a:ext uri="{FF2B5EF4-FFF2-40B4-BE49-F238E27FC236}">
                <a16:creationId xmlns:a16="http://schemas.microsoft.com/office/drawing/2014/main" id="{AC16A646-5330-4F3A-9D60-D3CBAA6272A7}"/>
              </a:ext>
            </a:extLst>
          </p:cNvPr>
          <p:cNvSpPr>
            <a:spLocks noGrp="1"/>
          </p:cNvSpPr>
          <p:nvPr/>
        </p:nvSpPr>
        <p:spPr>
          <a:xfrm>
            <a:off x="1219200" y="1781175"/>
            <a:ext cx="95250" cy="95250"/>
          </a:xfrm>
          <a:prstGeom prst="ellipse">
            <a:avLst/>
          </a:prstGeom>
          <a:solidFill>
            <a:srgbClr val="FB7185"/>
          </a:solidFill>
          <a:ln w="0">
            <a:noFill/>
            <a:prstDash val="solid"/>
          </a:ln>
        </p:spPr>
      </p:sp>
      <p:sp>
        <p:nvSpPr>
          <p:cNvPr id="5" name="橢圓 4">
            <a:extLst>
              <a:ext uri="{FF2B5EF4-FFF2-40B4-BE49-F238E27FC236}">
                <a16:creationId xmlns:a16="http://schemas.microsoft.com/office/drawing/2014/main" id="{CB33A80C-EF8F-421D-9802-8B838DA6C756}"/>
              </a:ext>
            </a:extLst>
          </p:cNvPr>
          <p:cNvSpPr>
            <a:spLocks noGrp="1"/>
          </p:cNvSpPr>
          <p:nvPr/>
        </p:nvSpPr>
        <p:spPr>
          <a:xfrm>
            <a:off x="1390650" y="1781175"/>
            <a:ext cx="95250" cy="95250"/>
          </a:xfrm>
          <a:prstGeom prst="ellipse">
            <a:avLst/>
          </a:prstGeom>
          <a:solidFill>
            <a:srgbClr val="FBBF24"/>
          </a:solidFill>
          <a:ln w="0">
            <a:noFill/>
            <a:prstDash val="solid"/>
          </a:ln>
        </p:spPr>
      </p:sp>
      <p:sp>
        <p:nvSpPr>
          <p:cNvPr id="6" name="橢圓 5">
            <a:extLst>
              <a:ext uri="{FF2B5EF4-FFF2-40B4-BE49-F238E27FC236}">
                <a16:creationId xmlns:a16="http://schemas.microsoft.com/office/drawing/2014/main" id="{7932BBB0-DB68-4481-9FBC-92F4A9468E11}"/>
              </a:ext>
            </a:extLst>
          </p:cNvPr>
          <p:cNvSpPr>
            <a:spLocks noGrp="1"/>
          </p:cNvSpPr>
          <p:nvPr/>
        </p:nvSpPr>
        <p:spPr>
          <a:xfrm>
            <a:off x="1562100" y="1781175"/>
            <a:ext cx="95250" cy="95250"/>
          </a:xfrm>
          <a:prstGeom prst="ellipse">
            <a:avLst/>
          </a:prstGeom>
          <a:solidFill>
            <a:srgbClr val="34D399"/>
          </a:solidFill>
          <a:ln w="0">
            <a:noFill/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DEC9411-F19F-4CBE-8CB0-FF17CC7EB6E2}"/>
              </a:ext>
            </a:extLst>
          </p:cNvPr>
          <p:cNvSpPr>
            <a:spLocks noGrp="1"/>
          </p:cNvSpPr>
          <p:nvPr/>
        </p:nvSpPr>
        <p:spPr>
          <a:xfrm>
            <a:off x="1257300" y="2038350"/>
            <a:ext cx="4057650" cy="1828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5557"/>
          </a:bodyPr>
          <a:lstStyle/>
          <a:p>
            <a:pPr algn="l">
              <a:lnSpc>
                <a:spcPct val="104000"/>
              </a:lnSpc>
              <a:buNone/>
              <a:defRPr sz="1725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name: my-app</a:t>
            </a:r>
          </a:p>
          <a:p>
            <a:pPr algn="l">
              <a:lnSpc>
                <a:spcPct val="104000"/>
              </a:lnSpc>
              <a:buNone/>
              <a:defRPr sz="1725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ports:</a:t>
            </a:r>
          </a:p>
          <a:p>
            <a:pPr algn="l">
              <a:lnSpc>
                <a:spcPct val="104000"/>
              </a:lnSpc>
              <a:buNone/>
              <a:defRPr sz="1725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- "8080:80"</a:t>
            </a:r>
          </a:p>
          <a:p>
            <a:pPr algn="l">
              <a:lnSpc>
                <a:spcPct val="104000"/>
              </a:lnSpc>
              <a:buNone/>
              <a:defRPr sz="1725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- "443:443"</a:t>
            </a:r>
          </a:p>
          <a:p>
            <a:pPr algn="l">
              <a:lnSpc>
                <a:spcPct val="104000"/>
              </a:lnSpc>
              <a:buNone/>
              <a:defRPr sz="1725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environment:</a:t>
            </a:r>
          </a:p>
          <a:p>
            <a:pPr algn="l">
              <a:lnSpc>
                <a:spcPct val="104000"/>
              </a:lnSpc>
              <a:buNone/>
              <a:defRPr sz="1725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DB_HOST: mysql</a:t>
            </a:r>
          </a:p>
          <a:p>
            <a:pPr algn="l">
              <a:lnSpc>
                <a:spcPct val="104000"/>
              </a:lnSpc>
              <a:buNone/>
              <a:defRPr sz="1725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DB_PORT: 3306</a:t>
            </a:r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ABECE0B4-EA66-41B7-AF79-731B66FCAFE0}"/>
              </a:ext>
            </a:extLst>
          </p:cNvPr>
          <p:cNvSpPr>
            <a:spLocks noGrp="1"/>
          </p:cNvSpPr>
          <p:nvPr/>
        </p:nvSpPr>
        <p:spPr>
          <a:xfrm>
            <a:off x="6534150" y="1600200"/>
            <a:ext cx="2000250" cy="1047750"/>
          </a:xfrm>
          <a:prstGeom prst="roundRect">
            <a:avLst>
              <a:gd name="adj" fmla="val 10909"/>
            </a:avLst>
          </a:prstGeom>
          <a:solidFill>
            <a:srgbClr val="FFF6DD"/>
          </a:solidFill>
          <a:ln w="9525">
            <a:solidFill>
              <a:srgbClr val="F59E0B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93D61BF-C0BE-4000-97D7-82367E8877CF}"/>
              </a:ext>
            </a:extLst>
          </p:cNvPr>
          <p:cNvSpPr>
            <a:spLocks noGrp="1"/>
          </p:cNvSpPr>
          <p:nvPr/>
        </p:nvSpPr>
        <p:spPr>
          <a:xfrm>
            <a:off x="6762750" y="1790700"/>
            <a:ext cx="15430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6000"/>
              </a:lnSpc>
              <a:buNone/>
              <a:defRPr sz="1650" b="1">
                <a:solidFill>
                  <a:srgbClr val="B45309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B45309"/>
                </a:solidFill>
                <a:latin typeface="Aptos Display"/>
                <a:ea typeface="Aptos Display"/>
                <a:cs typeface="Aptos Display"/>
              </a:rPr>
              <a:t>空格縮排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5399B4C-3E14-430C-BB7D-E418EA337A24}"/>
              </a:ext>
            </a:extLst>
          </p:cNvPr>
          <p:cNvSpPr>
            <a:spLocks noGrp="1"/>
          </p:cNvSpPr>
          <p:nvPr/>
        </p:nvSpPr>
        <p:spPr>
          <a:xfrm>
            <a:off x="6762750" y="2152650"/>
            <a:ext cx="15430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6000"/>
              </a:lnSpc>
              <a:buNone/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不能用 Tab</a:t>
            </a:r>
          </a:p>
        </p:txBody>
      </p: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9869D883-7DEE-4A23-BC4E-D61E669F65E5}"/>
              </a:ext>
            </a:extLst>
          </p:cNvPr>
          <p:cNvSpPr>
            <a:spLocks noGrp="1"/>
          </p:cNvSpPr>
          <p:nvPr/>
        </p:nvSpPr>
        <p:spPr>
          <a:xfrm>
            <a:off x="8839200" y="1600200"/>
            <a:ext cx="2000250" cy="104775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74DE7BE-F83B-4198-B921-5215E41A70CD}"/>
              </a:ext>
            </a:extLst>
          </p:cNvPr>
          <p:cNvSpPr>
            <a:spLocks noGrp="1"/>
          </p:cNvSpPr>
          <p:nvPr/>
        </p:nvSpPr>
        <p:spPr>
          <a:xfrm>
            <a:off x="9067800" y="1790700"/>
            <a:ext cx="15430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6000"/>
              </a:lnSpc>
              <a:buNone/>
              <a:defRPr sz="16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key: value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155752E4-F56E-4056-A18A-70472AD9973F}"/>
              </a:ext>
            </a:extLst>
          </p:cNvPr>
          <p:cNvSpPr>
            <a:spLocks noGrp="1"/>
          </p:cNvSpPr>
          <p:nvPr/>
        </p:nvSpPr>
        <p:spPr>
          <a:xfrm>
            <a:off x="9067800" y="2152650"/>
            <a:ext cx="15430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6000"/>
              </a:lnSpc>
              <a:buNone/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冒號後面有空格</a:t>
            </a:r>
          </a:p>
        </p:txBody>
      </p:sp>
      <p:sp>
        <p:nvSpPr>
          <p:cNvPr id="14" name="矩形: 圓角 13">
            <a:extLst>
              <a:ext uri="{FF2B5EF4-FFF2-40B4-BE49-F238E27FC236}">
                <a16:creationId xmlns:a16="http://schemas.microsoft.com/office/drawing/2014/main" id="{E7DA133F-769B-4D64-B946-ED3E0D6B7C18}"/>
              </a:ext>
            </a:extLst>
          </p:cNvPr>
          <p:cNvSpPr>
            <a:spLocks noGrp="1"/>
          </p:cNvSpPr>
          <p:nvPr/>
        </p:nvSpPr>
        <p:spPr>
          <a:xfrm>
            <a:off x="6534150" y="3028950"/>
            <a:ext cx="2000250" cy="104775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0739321-2EAE-48D6-A7F4-D4D95967930E}"/>
              </a:ext>
            </a:extLst>
          </p:cNvPr>
          <p:cNvSpPr>
            <a:spLocks noGrp="1"/>
          </p:cNvSpPr>
          <p:nvPr/>
        </p:nvSpPr>
        <p:spPr>
          <a:xfrm>
            <a:off x="6762750" y="3219450"/>
            <a:ext cx="15430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6000"/>
              </a:lnSpc>
              <a:buNone/>
              <a:defRPr sz="16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- 清單項目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21BEA532-362F-4E91-A153-3F24C7E9A2F2}"/>
              </a:ext>
            </a:extLst>
          </p:cNvPr>
          <p:cNvSpPr>
            <a:spLocks noGrp="1"/>
          </p:cNvSpPr>
          <p:nvPr/>
        </p:nvSpPr>
        <p:spPr>
          <a:xfrm>
            <a:off x="6762750" y="3581400"/>
            <a:ext cx="15430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9326"/>
          </a:bodyPr>
          <a:lstStyle/>
          <a:p>
            <a:pPr algn="ctr">
              <a:lnSpc>
                <a:spcPct val="106000"/>
              </a:lnSpc>
              <a:buNone/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ports 這類通常是清單</a:t>
            </a:r>
          </a:p>
        </p:txBody>
      </p:sp>
      <p:sp>
        <p:nvSpPr>
          <p:cNvPr id="17" name="矩形: 圓角 16">
            <a:extLst>
              <a:ext uri="{FF2B5EF4-FFF2-40B4-BE49-F238E27FC236}">
                <a16:creationId xmlns:a16="http://schemas.microsoft.com/office/drawing/2014/main" id="{4A576E9E-95BF-4251-A3E7-1CABADF35AFF}"/>
              </a:ext>
            </a:extLst>
          </p:cNvPr>
          <p:cNvSpPr>
            <a:spLocks noGrp="1"/>
          </p:cNvSpPr>
          <p:nvPr/>
        </p:nvSpPr>
        <p:spPr>
          <a:xfrm>
            <a:off x="8839200" y="3028950"/>
            <a:ext cx="2000250" cy="104775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30693600-26C2-4C2E-A926-AC3EFFCB292B}"/>
              </a:ext>
            </a:extLst>
          </p:cNvPr>
          <p:cNvSpPr>
            <a:spLocks noGrp="1"/>
          </p:cNvSpPr>
          <p:nvPr/>
        </p:nvSpPr>
        <p:spPr>
          <a:xfrm>
            <a:off x="9067800" y="3219450"/>
            <a:ext cx="15430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6000"/>
              </a:lnSpc>
              <a:buNone/>
              <a:defRPr sz="16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# 註解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FDD4E869-C941-49B2-9D04-0B8C52AFD7FB}"/>
              </a:ext>
            </a:extLst>
          </p:cNvPr>
          <p:cNvSpPr>
            <a:spLocks noGrp="1"/>
          </p:cNvSpPr>
          <p:nvPr/>
        </p:nvSpPr>
        <p:spPr>
          <a:xfrm>
            <a:off x="9067800" y="3581400"/>
            <a:ext cx="15430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6000"/>
              </a:lnSpc>
              <a:buNone/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給人看的說明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EDEA6C1A-A9FA-40AE-A923-6783B5E08E50}"/>
              </a:ext>
            </a:extLst>
          </p:cNvPr>
          <p:cNvSpPr>
            <a:spLocks noGrp="1"/>
          </p:cNvSpPr>
          <p:nvPr/>
        </p:nvSpPr>
        <p:spPr>
          <a:xfrm>
            <a:off x="2286000" y="5105400"/>
            <a:ext cx="7620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5707"/>
          </a:bodyPr>
          <a:lstStyle/>
          <a:p>
            <a:pPr algn="ctr">
              <a:lnSpc>
                <a:spcPct val="106000"/>
              </a:lnSpc>
              <a:buNone/>
              <a:defRPr sz="1725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YAML 對縮排非常敏感，建議用 VS Code 編輯。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86C40828-2F2D-4D1E-88F9-B135A3D352D5}"/>
              </a:ext>
            </a:extLst>
          </p:cNvPr>
          <p:cNvSpPr>
            <a:spLocks noGrp="1"/>
          </p:cNvSpPr>
          <p:nvPr/>
        </p:nvSpPr>
        <p:spPr>
          <a:xfrm>
            <a:off x="609600" y="6305550"/>
            <a:ext cx="9906000" cy="13335"/>
          </a:xfrm>
          <a:prstGeom prst="rect">
            <a:avLst/>
          </a:prstGeom>
          <a:solidFill>
            <a:srgbClr val="D9E2EC"/>
          </a:solidFill>
          <a:ln w="0">
            <a:noFill/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2CE0992B-05D8-436F-91B1-3D262624088C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2762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Docker 基礎教學 | 第 3 堂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938DF2E9-BF8A-4F32-BD8A-85775029BCEC}"/>
              </a:ext>
            </a:extLst>
          </p:cNvPr>
          <p:cNvSpPr>
            <a:spLocks noGrp="1"/>
          </p:cNvSpPr>
          <p:nvPr/>
        </p:nvSpPr>
        <p:spPr>
          <a:xfrm>
            <a:off x="11010900" y="6381750"/>
            <a:ext cx="571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106000"/>
              </a:lnSpc>
              <a:buNone/>
              <a:defRPr sz="9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3683223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>
            <a:extLst>
              <a:ext uri="{FF2B5EF4-FFF2-40B4-BE49-F238E27FC236}">
                <a16:creationId xmlns:a16="http://schemas.microsoft.com/office/drawing/2014/main" id="{5C388A98-7B23-4AB4-BA63-DD3EDC5545FF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619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900" b="1">
                <a:solidFill>
                  <a:srgbClr val="0B5CA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5CAD"/>
                </a:solidFill>
                <a:latin typeface="Aptos"/>
                <a:ea typeface="Aptos"/>
                <a:cs typeface="Aptos"/>
              </a:rPr>
              <a:t>COMPOSE FILE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9DAE367-B8BB-47CC-A6B6-6AD651E5267E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9906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28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把 my-mysql 改寫成 Compose</a:t>
            </a: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C3F5C191-62CB-43E1-8D71-1AF0145FFEB4}"/>
              </a:ext>
            </a:extLst>
          </p:cNvPr>
          <p:cNvSpPr>
            <a:spLocks noGrp="1"/>
          </p:cNvSpPr>
          <p:nvPr/>
        </p:nvSpPr>
        <p:spPr>
          <a:xfrm>
            <a:off x="952500" y="1600200"/>
            <a:ext cx="10287000" cy="3143250"/>
          </a:xfrm>
          <a:prstGeom prst="roundRect">
            <a:avLst>
              <a:gd name="adj" fmla="val 4242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EEF3E7D-0471-43B7-9BC3-918009420245}"/>
              </a:ext>
            </a:extLst>
          </p:cNvPr>
          <p:cNvSpPr>
            <a:spLocks noGrp="1"/>
          </p:cNvSpPr>
          <p:nvPr/>
        </p:nvSpPr>
        <p:spPr>
          <a:xfrm>
            <a:off x="1428750" y="1962150"/>
            <a:ext cx="2095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89098"/>
          </a:bodyPr>
          <a:lstStyle/>
          <a:p>
            <a:pPr algn="l">
              <a:lnSpc>
                <a:spcPct val="106000"/>
              </a:lnSpc>
              <a:buNone/>
              <a:defRPr sz="2250" b="1">
                <a:solidFill>
                  <a:srgbClr val="4F46E5"/>
                </a:solidFill>
                <a:latin typeface="Consolas"/>
                <a:ea typeface="Consolas"/>
                <a:cs typeface="Consolas"/>
              </a:defRPr>
            </a:pPr>
            <a:r>
              <a:rPr sz="2250" b="1">
                <a:solidFill>
                  <a:srgbClr val="4F46E5"/>
                </a:solidFill>
                <a:latin typeface="Consolas"/>
                <a:ea typeface="Consolas"/>
                <a:cs typeface="Consolas"/>
              </a:rPr>
              <a:t>services:</a:t>
            </a:r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D74B43C0-6667-4CB0-8053-BA0804CAE4F4}"/>
              </a:ext>
            </a:extLst>
          </p:cNvPr>
          <p:cNvSpPr>
            <a:spLocks noGrp="1"/>
          </p:cNvSpPr>
          <p:nvPr/>
        </p:nvSpPr>
        <p:spPr>
          <a:xfrm>
            <a:off x="1809750" y="2667000"/>
            <a:ext cx="2571750" cy="1428750"/>
          </a:xfrm>
          <a:prstGeom prst="roundRect">
            <a:avLst>
              <a:gd name="adj" fmla="val 8000"/>
            </a:avLst>
          </a:prstGeom>
          <a:solidFill>
            <a:srgbClr val="E8F3FF"/>
          </a:solidFill>
          <a:ln w="9525">
            <a:solidFill>
              <a:srgbClr val="B7DCF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EA42540-9639-4A89-A87D-185193B9D29B}"/>
              </a:ext>
            </a:extLst>
          </p:cNvPr>
          <p:cNvSpPr>
            <a:spLocks noGrp="1"/>
          </p:cNvSpPr>
          <p:nvPr/>
        </p:nvSpPr>
        <p:spPr>
          <a:xfrm>
            <a:off x="2038350" y="2857500"/>
            <a:ext cx="21145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5463"/>
          </a:bodyPr>
          <a:lstStyle/>
          <a:p>
            <a:pPr algn="ctr">
              <a:lnSpc>
                <a:spcPct val="106000"/>
              </a:lnSpc>
              <a:buNone/>
              <a:defRPr sz="2100" b="1">
                <a:solidFill>
                  <a:srgbClr val="0B5CAD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0B5CAD"/>
                </a:solidFill>
                <a:latin typeface="Aptos Display"/>
                <a:ea typeface="Aptos Display"/>
                <a:cs typeface="Aptos Display"/>
              </a:rPr>
              <a:t>db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7AFC092-BF8A-4EF4-B659-8AAC90D18DDD}"/>
              </a:ext>
            </a:extLst>
          </p:cNvPr>
          <p:cNvSpPr>
            <a:spLocks noGrp="1"/>
          </p:cNvSpPr>
          <p:nvPr/>
        </p:nvSpPr>
        <p:spPr>
          <a:xfrm>
            <a:off x="2038350" y="3276600"/>
            <a:ext cx="21145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9981"/>
          </a:bodyPr>
          <a:lstStyle/>
          <a:p>
            <a:pPr algn="ctr">
              <a:lnSpc>
                <a:spcPct val="106000"/>
              </a:lnSpc>
              <a:buNone/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image: mysql:8.0</a:t>
            </a:r>
          </a:p>
          <a:p>
            <a:pPr algn="ctr">
              <a:lnSpc>
                <a:spcPct val="106000"/>
              </a:lnSpc>
              <a:buNone/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container_name: my-mysql</a:t>
            </a:r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147B396F-D8EB-4C6A-9353-BC29DAE8D3C5}"/>
              </a:ext>
            </a:extLst>
          </p:cNvPr>
          <p:cNvSpPr>
            <a:spLocks noGrp="1"/>
          </p:cNvSpPr>
          <p:nvPr/>
        </p:nvSpPr>
        <p:spPr>
          <a:xfrm>
            <a:off x="4819650" y="2667000"/>
            <a:ext cx="2571750" cy="1428750"/>
          </a:xfrm>
          <a:prstGeom prst="roundRect">
            <a:avLst>
              <a:gd name="adj" fmla="val 8000"/>
            </a:avLst>
          </a:prstGeom>
          <a:solidFill>
            <a:srgbClr val="FFF6DD"/>
          </a:solidFill>
          <a:ln w="9525">
            <a:solidFill>
              <a:srgbClr val="F59E0B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FC13A50-07E2-4E7B-80E5-AC8105D5A691}"/>
              </a:ext>
            </a:extLst>
          </p:cNvPr>
          <p:cNvSpPr>
            <a:spLocks noGrp="1"/>
          </p:cNvSpPr>
          <p:nvPr/>
        </p:nvSpPr>
        <p:spPr>
          <a:xfrm>
            <a:off x="5048250" y="2857500"/>
            <a:ext cx="21145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5463"/>
          </a:bodyPr>
          <a:lstStyle/>
          <a:p>
            <a:pPr algn="ctr">
              <a:lnSpc>
                <a:spcPct val="106000"/>
              </a:lnSpc>
              <a:buNone/>
              <a:defRPr sz="2100" b="1">
                <a:solidFill>
                  <a:srgbClr val="B45309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B45309"/>
                </a:solidFill>
                <a:latin typeface="Aptos Display"/>
                <a:ea typeface="Aptos Display"/>
                <a:cs typeface="Aptos Display"/>
              </a:rPr>
              <a:t>environment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A0867EA-CB03-44CF-A253-92F6D4FCE0BB}"/>
              </a:ext>
            </a:extLst>
          </p:cNvPr>
          <p:cNvSpPr>
            <a:spLocks noGrp="1"/>
          </p:cNvSpPr>
          <p:nvPr/>
        </p:nvSpPr>
        <p:spPr>
          <a:xfrm>
            <a:off x="5048250" y="3276600"/>
            <a:ext cx="21145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6000"/>
              </a:lnSpc>
              <a:buNone/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root password / db / user / pass</a:t>
            </a:r>
          </a:p>
          <a:p>
            <a:pPr algn="ctr">
              <a:lnSpc>
                <a:spcPct val="106000"/>
              </a:lnSpc>
              <a:buNone/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ports: "3306:3306"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841535A-C462-4069-BE63-90812CEE8BB7}"/>
              </a:ext>
            </a:extLst>
          </p:cNvPr>
          <p:cNvSpPr>
            <a:spLocks noGrp="1"/>
          </p:cNvSpPr>
          <p:nvPr/>
        </p:nvSpPr>
        <p:spPr>
          <a:xfrm>
            <a:off x="8001000" y="1962150"/>
            <a:ext cx="2095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89098"/>
          </a:bodyPr>
          <a:lstStyle/>
          <a:p>
            <a:pPr algn="l">
              <a:lnSpc>
                <a:spcPct val="106000"/>
              </a:lnSpc>
              <a:buNone/>
              <a:defRPr sz="2250" b="1">
                <a:solidFill>
                  <a:srgbClr val="047857"/>
                </a:solidFill>
                <a:latin typeface="Consolas"/>
                <a:ea typeface="Consolas"/>
                <a:cs typeface="Consolas"/>
              </a:defRPr>
            </a:pPr>
            <a:r>
              <a:rPr sz="2250" b="1">
                <a:solidFill>
                  <a:srgbClr val="047857"/>
                </a:solidFill>
                <a:latin typeface="Consolas"/>
                <a:ea typeface="Consolas"/>
                <a:cs typeface="Consolas"/>
              </a:rPr>
              <a:t>volumes:</a:t>
            </a:r>
          </a:p>
        </p:txBody>
      </p:sp>
      <p:sp>
        <p:nvSpPr>
          <p:cNvPr id="12" name="矩形: 圓角 11">
            <a:extLst>
              <a:ext uri="{FF2B5EF4-FFF2-40B4-BE49-F238E27FC236}">
                <a16:creationId xmlns:a16="http://schemas.microsoft.com/office/drawing/2014/main" id="{9DAB4621-40B9-4532-9708-FE15E21E2135}"/>
              </a:ext>
            </a:extLst>
          </p:cNvPr>
          <p:cNvSpPr>
            <a:spLocks noGrp="1"/>
          </p:cNvSpPr>
          <p:nvPr/>
        </p:nvSpPr>
        <p:spPr>
          <a:xfrm>
            <a:off x="8191500" y="2857500"/>
            <a:ext cx="2190750" cy="1066800"/>
          </a:xfrm>
          <a:prstGeom prst="roundRect">
            <a:avLst>
              <a:gd name="adj" fmla="val 10714"/>
            </a:avLst>
          </a:prstGeom>
          <a:solidFill>
            <a:srgbClr val="E7F8F2"/>
          </a:solidFill>
          <a:ln w="9525">
            <a:solidFill>
              <a:srgbClr val="00A97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BECA69E-9D68-4564-9851-A6B5CD5B134D}"/>
              </a:ext>
            </a:extLst>
          </p:cNvPr>
          <p:cNvSpPr>
            <a:spLocks noGrp="1"/>
          </p:cNvSpPr>
          <p:nvPr/>
        </p:nvSpPr>
        <p:spPr>
          <a:xfrm>
            <a:off x="8420100" y="3048000"/>
            <a:ext cx="17335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6000"/>
              </a:lnSpc>
              <a:buNone/>
              <a:defRPr sz="1725" b="1">
                <a:solidFill>
                  <a:srgbClr val="047857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047857"/>
                </a:solidFill>
                <a:latin typeface="Aptos Display"/>
                <a:ea typeface="Aptos Display"/>
                <a:cs typeface="Aptos Display"/>
              </a:rPr>
              <a:t>mysql-data:/var/lib/mysql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0CB66095-14BA-4199-B0B7-4636102DDDA0}"/>
              </a:ext>
            </a:extLst>
          </p:cNvPr>
          <p:cNvSpPr>
            <a:spLocks noGrp="1"/>
          </p:cNvSpPr>
          <p:nvPr/>
        </p:nvSpPr>
        <p:spPr>
          <a:xfrm>
            <a:off x="8420100" y="3467100"/>
            <a:ext cx="17335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73162"/>
          </a:bodyPr>
          <a:lstStyle/>
          <a:p>
            <a:pPr algn="ctr">
              <a:lnSpc>
                <a:spcPct val="106000"/>
              </a:lnSpc>
              <a:buNone/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資料放在 named volume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E768008-D004-4AF9-B3CD-17E3C0274888}"/>
              </a:ext>
            </a:extLst>
          </p:cNvPr>
          <p:cNvSpPr>
            <a:spLocks noGrp="1"/>
          </p:cNvSpPr>
          <p:nvPr/>
        </p:nvSpPr>
        <p:spPr>
          <a:xfrm>
            <a:off x="1809750" y="5334000"/>
            <a:ext cx="857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6000"/>
              </a:lnSpc>
              <a:buNone/>
              <a:defRPr sz="1725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先延續前面的 MySQL，不換題目，讓每一行都有 docker run 對照。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C3E99D5-E3B3-45F2-AA9E-711270902D0A}"/>
              </a:ext>
            </a:extLst>
          </p:cNvPr>
          <p:cNvSpPr>
            <a:spLocks noGrp="1"/>
          </p:cNvSpPr>
          <p:nvPr/>
        </p:nvSpPr>
        <p:spPr>
          <a:xfrm>
            <a:off x="609600" y="6305550"/>
            <a:ext cx="9906000" cy="13335"/>
          </a:xfrm>
          <a:prstGeom prst="rect">
            <a:avLst/>
          </a:prstGeom>
          <a:solidFill>
            <a:srgbClr val="D9E2EC"/>
          </a:solidFill>
          <a:ln w="0">
            <a:noFill/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091E6D7-629E-4386-870D-D100734C8FBB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2762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Docker 基礎教學 | 第 3 堂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FD3B16CA-155D-480D-AF79-256A1412F5FE}"/>
              </a:ext>
            </a:extLst>
          </p:cNvPr>
          <p:cNvSpPr>
            <a:spLocks noGrp="1"/>
          </p:cNvSpPr>
          <p:nvPr/>
        </p:nvSpPr>
        <p:spPr>
          <a:xfrm>
            <a:off x="11010900" y="6381750"/>
            <a:ext cx="571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106000"/>
              </a:lnSpc>
              <a:buNone/>
              <a:defRPr sz="9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5276526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ppendixLabel">
            <a:extLst>
              <a:ext uri="{FF2B5EF4-FFF2-40B4-BE49-F238E27FC236}">
                <a16:creationId xmlns:a16="http://schemas.microsoft.com/office/drawing/2014/main" id="{C0E8FD50-7D2B-4388-8383-C2562A33D37A}"/>
              </a:ext>
            </a:extLst>
          </p:cNvPr>
          <p:cNvSpPr>
            <a:spLocks noGrp="1"/>
          </p:cNvSpPr>
          <p:nvPr/>
        </p:nvSpPr>
        <p:spPr>
          <a:xfrm>
            <a:off x="609600" y="420000"/>
            <a:ext cx="2600000" cy="26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93C5FD"/>
                </a:solidFill>
                <a:latin typeface="Aptos"/>
                <a:ea typeface="Aptos"/>
                <a:cs typeface="Aptos"/>
              </a:rPr>
              <a:t>CODE EXAMPLE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A144A6EB-4D78-4C78-87E0-59C504159C3E}"/>
              </a:ext>
            </a:extLst>
          </p:cNvPr>
          <p:cNvSpPr>
            <a:spLocks noGrp="1"/>
          </p:cNvSpPr>
          <p:nvPr/>
        </p:nvSpPr>
        <p:spPr>
          <a:xfrm>
            <a:off x="609600" y="710000"/>
            <a:ext cx="10600000" cy="56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範例程式碼：compose.yaml（MySQL）</a:t>
            </a:r>
          </a:p>
        </p:txBody>
      </p:sp>
      <p:sp>
        <p:nvSpPr>
          <p:cNvPr id="4" name="Subtitle">
            <a:extLst>
              <a:ext uri="{FF2B5EF4-FFF2-40B4-BE49-F238E27FC236}">
                <a16:creationId xmlns:a16="http://schemas.microsoft.com/office/drawing/2014/main" id="{69487AB3-79B8-47E5-9EAE-CBC7B3B293FE}"/>
              </a:ext>
            </a:extLst>
          </p:cNvPr>
          <p:cNvSpPr>
            <a:spLocks noGrp="1"/>
          </p:cNvSpPr>
          <p:nvPr/>
        </p:nvSpPr>
        <p:spPr>
          <a:xfrm>
            <a:off x="609600" y="126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1250">
                <a:solidFill>
                  <a:srgbClr val="CBD5E1"/>
                </a:solidFill>
                <a:latin typeface="Aptos"/>
                <a:ea typeface="Aptos"/>
                <a:cs typeface="Aptos"/>
              </a:rPr>
              <a:t>第 3 堂 | 可直接照做的完整範例</a:t>
            </a:r>
          </a:p>
        </p:txBody>
      </p:sp>
      <p:sp>
        <p:nvSpPr>
          <p:cNvPr id="5" name="CodeBackground">
            <a:extLst>
              <a:ext uri="{FF2B5EF4-FFF2-40B4-BE49-F238E27FC236}">
                <a16:creationId xmlns:a16="http://schemas.microsoft.com/office/drawing/2014/main" id="{CFBC6C51-0D5A-43D4-ACE2-CD7CECEE505C}"/>
              </a:ext>
            </a:extLst>
          </p:cNvPr>
          <p:cNvSpPr>
            <a:spLocks noGrp="1"/>
          </p:cNvSpPr>
          <p:nvPr/>
        </p:nvSpPr>
        <p:spPr>
          <a:xfrm>
            <a:off x="609600" y="1680000"/>
            <a:ext cx="10972800" cy="4370000"/>
          </a:xfrm>
          <a:prstGeom prst="roundRect">
            <a:avLst/>
          </a:prstGeom>
          <a:solidFill>
            <a:srgbClr val="111827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6" name="Code">
            <a:extLst>
              <a:ext uri="{FF2B5EF4-FFF2-40B4-BE49-F238E27FC236}">
                <a16:creationId xmlns:a16="http://schemas.microsoft.com/office/drawing/2014/main" id="{85EA7E73-D8B7-4251-A481-26E9D4ECF9FC}"/>
              </a:ext>
            </a:extLst>
          </p:cNvPr>
          <p:cNvSpPr>
            <a:spLocks noGrp="1"/>
          </p:cNvSpPr>
          <p:nvPr/>
        </p:nvSpPr>
        <p:spPr>
          <a:xfrm>
            <a:off x="810000" y="1870000"/>
            <a:ext cx="10550000" cy="375487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14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services:</a:t>
            </a:r>
          </a:p>
          <a:p>
            <a:r>
              <a:rPr sz="14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dirty="0" err="1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db</a:t>
            </a:r>
            <a:r>
              <a:rPr sz="14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:</a:t>
            </a:r>
          </a:p>
          <a:p>
            <a:r>
              <a:rPr sz="14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image: </a:t>
            </a:r>
            <a:r>
              <a:rPr sz="140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mysql</a:t>
            </a:r>
            <a:endParaRPr sz="1400" dirty="0">
              <a:solidFill>
                <a:srgbClr val="E5E7EB"/>
              </a:solidFill>
              <a:latin typeface="Consolas"/>
              <a:ea typeface="Consolas"/>
              <a:cs typeface="Consolas"/>
            </a:endParaRPr>
          </a:p>
          <a:p>
            <a:r>
              <a:rPr sz="14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400" dirty="0" err="1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container_name</a:t>
            </a:r>
            <a:r>
              <a:rPr sz="14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: my-</a:t>
            </a:r>
            <a:r>
              <a:rPr sz="1400" dirty="0" err="1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mysql</a:t>
            </a:r>
            <a:endParaRPr sz="1400" dirty="0">
              <a:solidFill>
                <a:srgbClr val="E5E7EB"/>
              </a:solidFill>
              <a:latin typeface="Consolas"/>
              <a:ea typeface="Consolas"/>
              <a:cs typeface="Consolas"/>
            </a:endParaRPr>
          </a:p>
          <a:p>
            <a:r>
              <a:rPr sz="14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restart: unless-stopped</a:t>
            </a:r>
          </a:p>
          <a:p>
            <a:r>
              <a:rPr sz="14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environment:</a:t>
            </a:r>
          </a:p>
          <a:p>
            <a:r>
              <a:rPr sz="14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MYSQL_ROOT_PASSWORD: my-secret-pw</a:t>
            </a:r>
          </a:p>
          <a:p>
            <a:r>
              <a:rPr sz="14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MYSQL_DATABASE: </a:t>
            </a:r>
            <a:r>
              <a:rPr sz="1400" dirty="0" err="1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testdb</a:t>
            </a:r>
            <a:endParaRPr sz="1400" dirty="0">
              <a:solidFill>
                <a:srgbClr val="E5E7EB"/>
              </a:solidFill>
              <a:latin typeface="Consolas"/>
              <a:ea typeface="Consolas"/>
              <a:cs typeface="Consolas"/>
            </a:endParaRPr>
          </a:p>
          <a:p>
            <a:r>
              <a:rPr sz="14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MYSQL_USER: </a:t>
            </a:r>
            <a:r>
              <a:rPr sz="1400" dirty="0" err="1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testuser</a:t>
            </a:r>
            <a:endParaRPr sz="1400" dirty="0">
              <a:solidFill>
                <a:srgbClr val="E5E7EB"/>
              </a:solidFill>
              <a:latin typeface="Consolas"/>
              <a:ea typeface="Consolas"/>
              <a:cs typeface="Consolas"/>
            </a:endParaRPr>
          </a:p>
          <a:p>
            <a:r>
              <a:rPr sz="14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MYSQL_PASSWORD: </a:t>
            </a:r>
            <a:r>
              <a:rPr sz="1400" dirty="0" err="1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testpass</a:t>
            </a:r>
            <a:endParaRPr sz="1400" dirty="0">
              <a:solidFill>
                <a:srgbClr val="E5E7EB"/>
              </a:solidFill>
              <a:latin typeface="Consolas"/>
              <a:ea typeface="Consolas"/>
              <a:cs typeface="Consolas"/>
            </a:endParaRPr>
          </a:p>
          <a:p>
            <a:r>
              <a:rPr sz="14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ports:</a:t>
            </a:r>
          </a:p>
          <a:p>
            <a:r>
              <a:rPr sz="14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- "3306:3306"</a:t>
            </a:r>
          </a:p>
          <a:p>
            <a:r>
              <a:rPr sz="14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volumes:</a:t>
            </a:r>
          </a:p>
          <a:p>
            <a:r>
              <a:rPr sz="14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- </a:t>
            </a:r>
            <a:r>
              <a:rPr sz="1400" dirty="0" err="1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mysql</a:t>
            </a:r>
            <a:r>
              <a:rPr sz="14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-data:/var/lib/</a:t>
            </a:r>
            <a:r>
              <a:rPr sz="1400" dirty="0" err="1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mysql</a:t>
            </a:r>
            <a:endParaRPr sz="1400" dirty="0">
              <a:solidFill>
                <a:srgbClr val="E5E7EB"/>
              </a:solidFill>
              <a:latin typeface="Consolas"/>
              <a:ea typeface="Consolas"/>
              <a:cs typeface="Consolas"/>
            </a:endParaRPr>
          </a:p>
          <a:p>
            <a:r>
              <a:rPr sz="14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r>
              <a:rPr sz="14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volumes:</a:t>
            </a:r>
          </a:p>
          <a:p>
            <a:r>
              <a:rPr sz="14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400" dirty="0" err="1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mysql</a:t>
            </a:r>
            <a:r>
              <a:rPr sz="14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-data:</a:t>
            </a:r>
          </a:p>
        </p:txBody>
      </p:sp>
      <p:sp>
        <p:nvSpPr>
          <p:cNvPr id="7" name="Footer">
            <a:extLst>
              <a:ext uri="{FF2B5EF4-FFF2-40B4-BE49-F238E27FC236}">
                <a16:creationId xmlns:a16="http://schemas.microsoft.com/office/drawing/2014/main" id="{750F08EE-78FB-440C-90A7-DEBE07E5DE85}"/>
              </a:ext>
            </a:extLst>
          </p:cNvPr>
          <p:cNvSpPr>
            <a:spLocks noGrp="1"/>
          </p:cNvSpPr>
          <p:nvPr/>
        </p:nvSpPr>
        <p:spPr>
          <a:xfrm>
            <a:off x="609600" y="6330000"/>
            <a:ext cx="7800000" cy="24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Aptos"/>
                <a:ea typeface="Aptos"/>
                <a:cs typeface="Aptos"/>
              </a:rPr>
              <a:t>Docker 基礎教學 | 第 3 堂 | 範例程式碼</a:t>
            </a:r>
          </a:p>
        </p:txBody>
      </p:sp>
      <p:sp>
        <p:nvSpPr>
          <p:cNvPr id="8" name="Page">
            <a:extLst>
              <a:ext uri="{FF2B5EF4-FFF2-40B4-BE49-F238E27FC236}">
                <a16:creationId xmlns:a16="http://schemas.microsoft.com/office/drawing/2014/main" id="{827F1AEC-E7B4-40EB-9C91-09C7BF1E0F23}"/>
              </a:ext>
            </a:extLst>
          </p:cNvPr>
          <p:cNvSpPr>
            <a:spLocks noGrp="1"/>
          </p:cNvSpPr>
          <p:nvPr/>
        </p:nvSpPr>
        <p:spPr>
          <a:xfrm>
            <a:off x="10850000" y="6330000"/>
            <a:ext cx="650000" cy="24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Aptos"/>
                <a:ea typeface="Aptos"/>
                <a:cs typeface="Aptos"/>
              </a:rPr>
              <a:t>CODE</a:t>
            </a:r>
          </a:p>
        </p:txBody>
      </p:sp>
    </p:spTree>
    <p:extLst>
      <p:ext uri="{BB962C8B-B14F-4D97-AF65-F5344CB8AC3E}">
        <p14:creationId xmlns:p14="http://schemas.microsoft.com/office/powerpoint/2010/main" val="148251805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矩形 29">
            <a:extLst>
              <a:ext uri="{FF2B5EF4-FFF2-40B4-BE49-F238E27FC236}">
                <a16:creationId xmlns:a16="http://schemas.microsoft.com/office/drawing/2014/main" id="{E80D54E2-8513-4E99-BC9B-9E38E27A830F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619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900" b="1">
                <a:solidFill>
                  <a:srgbClr val="0B5CA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5CAD"/>
                </a:solidFill>
                <a:latin typeface="Aptos"/>
                <a:ea typeface="Aptos"/>
                <a:cs typeface="Aptos"/>
              </a:rPr>
              <a:t>COMPOSE MAPPING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209EA44-085C-470F-BAB1-D84F811D59AB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9906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28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Compose 設定對應 docker run 參數</a:t>
            </a: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ADDA5286-1B15-40E1-BD32-B92CD885B144}"/>
              </a:ext>
            </a:extLst>
          </p:cNvPr>
          <p:cNvSpPr>
            <a:spLocks noGrp="1"/>
          </p:cNvSpPr>
          <p:nvPr/>
        </p:nvSpPr>
        <p:spPr>
          <a:xfrm>
            <a:off x="1428750" y="1504950"/>
            <a:ext cx="4000500" cy="590550"/>
          </a:xfrm>
          <a:prstGeom prst="roundRect">
            <a:avLst>
              <a:gd name="adj" fmla="val 12903"/>
            </a:avLst>
          </a:prstGeom>
          <a:solidFill>
            <a:srgbClr val="F1F5F9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6A58904-72B2-4ABF-B09A-E5B23B4BE46C}"/>
              </a:ext>
            </a:extLst>
          </p:cNvPr>
          <p:cNvSpPr>
            <a:spLocks noGrp="1"/>
          </p:cNvSpPr>
          <p:nvPr/>
        </p:nvSpPr>
        <p:spPr>
          <a:xfrm>
            <a:off x="1657350" y="1676400"/>
            <a:ext cx="1809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6087"/>
          </a:bodyPr>
          <a:lstStyle/>
          <a:p>
            <a:pPr algn="l">
              <a:lnSpc>
                <a:spcPct val="106000"/>
              </a:lnSpc>
              <a:buNone/>
              <a:defRPr sz="1350" b="1">
                <a:solidFill>
                  <a:srgbClr val="4F46E5"/>
                </a:solidFill>
                <a:latin typeface="Consolas"/>
                <a:ea typeface="Consolas"/>
                <a:cs typeface="Consolas"/>
              </a:defRPr>
            </a:pPr>
            <a:r>
              <a:rPr sz="1350" b="1">
                <a:solidFill>
                  <a:srgbClr val="4F46E5"/>
                </a:solidFill>
                <a:latin typeface="Consolas"/>
                <a:ea typeface="Consolas"/>
                <a:cs typeface="Consolas"/>
              </a:rPr>
              <a:t>image: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0D1B659-FD79-406D-9731-B4B09086F3C4}"/>
              </a:ext>
            </a:extLst>
          </p:cNvPr>
          <p:cNvSpPr>
            <a:spLocks noGrp="1"/>
          </p:cNvSpPr>
          <p:nvPr/>
        </p:nvSpPr>
        <p:spPr>
          <a:xfrm>
            <a:off x="3619500" y="1676400"/>
            <a:ext cx="1524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6087"/>
          </a:bodyPr>
          <a:lstStyle/>
          <a:p>
            <a:pPr algn="r">
              <a:lnSpc>
                <a:spcPct val="106000"/>
              </a:lnSpc>
              <a:buNone/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Image 名稱</a:t>
            </a:r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25FA0DD3-1B1D-4740-8FC4-3E81F3710B3F}"/>
              </a:ext>
            </a:extLst>
          </p:cNvPr>
          <p:cNvSpPr>
            <a:spLocks noGrp="1"/>
          </p:cNvSpPr>
          <p:nvPr/>
        </p:nvSpPr>
        <p:spPr>
          <a:xfrm>
            <a:off x="6762750" y="1504950"/>
            <a:ext cx="4000500" cy="590550"/>
          </a:xfrm>
          <a:prstGeom prst="roundRect">
            <a:avLst>
              <a:gd name="adj" fmla="val 12903"/>
            </a:avLst>
          </a:prstGeom>
          <a:solidFill>
            <a:srgbClr val="F1F5F9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F1B7221-3B6D-4674-A8F6-8EC6E48B51C5}"/>
              </a:ext>
            </a:extLst>
          </p:cNvPr>
          <p:cNvSpPr>
            <a:spLocks noGrp="1"/>
          </p:cNvSpPr>
          <p:nvPr/>
        </p:nvSpPr>
        <p:spPr>
          <a:xfrm>
            <a:off x="6991350" y="1676400"/>
            <a:ext cx="1809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6087"/>
          </a:bodyPr>
          <a:lstStyle/>
          <a:p>
            <a:pPr algn="l">
              <a:lnSpc>
                <a:spcPct val="106000"/>
              </a:lnSpc>
              <a:buNone/>
              <a:defRPr sz="1350" b="1">
                <a:solidFill>
                  <a:srgbClr val="4F46E5"/>
                </a:solidFill>
                <a:latin typeface="Consolas"/>
                <a:ea typeface="Consolas"/>
                <a:cs typeface="Consolas"/>
              </a:defRPr>
            </a:pPr>
            <a:r>
              <a:rPr sz="1350" b="1">
                <a:solidFill>
                  <a:srgbClr val="4F46E5"/>
                </a:solidFill>
                <a:latin typeface="Consolas"/>
                <a:ea typeface="Consolas"/>
                <a:cs typeface="Consolas"/>
              </a:rPr>
              <a:t>container_name: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DDF0BC4-CDF0-4009-98A3-35BA8290447E}"/>
              </a:ext>
            </a:extLst>
          </p:cNvPr>
          <p:cNvSpPr>
            <a:spLocks noGrp="1"/>
          </p:cNvSpPr>
          <p:nvPr/>
        </p:nvSpPr>
        <p:spPr>
          <a:xfrm>
            <a:off x="8953500" y="1676400"/>
            <a:ext cx="1524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6087"/>
          </a:bodyPr>
          <a:lstStyle/>
          <a:p>
            <a:pPr algn="r">
              <a:lnSpc>
                <a:spcPct val="106000"/>
              </a:lnSpc>
              <a:buNone/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--name</a:t>
            </a:r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83DB6422-F040-4F4E-8F27-E3A2DA9EE480}"/>
              </a:ext>
            </a:extLst>
          </p:cNvPr>
          <p:cNvSpPr>
            <a:spLocks noGrp="1"/>
          </p:cNvSpPr>
          <p:nvPr/>
        </p:nvSpPr>
        <p:spPr>
          <a:xfrm>
            <a:off x="1428750" y="2343150"/>
            <a:ext cx="4000500" cy="59055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9C5E810-EF9C-42A7-8E19-60C1DD624DE6}"/>
              </a:ext>
            </a:extLst>
          </p:cNvPr>
          <p:cNvSpPr>
            <a:spLocks noGrp="1"/>
          </p:cNvSpPr>
          <p:nvPr/>
        </p:nvSpPr>
        <p:spPr>
          <a:xfrm>
            <a:off x="1657350" y="2514600"/>
            <a:ext cx="1809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6087"/>
          </a:bodyPr>
          <a:lstStyle/>
          <a:p>
            <a:pPr algn="l">
              <a:lnSpc>
                <a:spcPct val="106000"/>
              </a:lnSpc>
              <a:buNone/>
              <a:defRPr sz="1350" b="1">
                <a:solidFill>
                  <a:srgbClr val="4F46E5"/>
                </a:solidFill>
                <a:latin typeface="Consolas"/>
                <a:ea typeface="Consolas"/>
                <a:cs typeface="Consolas"/>
              </a:defRPr>
            </a:pPr>
            <a:r>
              <a:rPr sz="1350" b="1">
                <a:solidFill>
                  <a:srgbClr val="4F46E5"/>
                </a:solidFill>
                <a:latin typeface="Consolas"/>
                <a:ea typeface="Consolas"/>
                <a:cs typeface="Consolas"/>
              </a:rPr>
              <a:t>ports: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A289572-7F51-4C4F-B4A9-2A1A66E6F3E6}"/>
              </a:ext>
            </a:extLst>
          </p:cNvPr>
          <p:cNvSpPr>
            <a:spLocks noGrp="1"/>
          </p:cNvSpPr>
          <p:nvPr/>
        </p:nvSpPr>
        <p:spPr>
          <a:xfrm>
            <a:off x="3619500" y="2514600"/>
            <a:ext cx="1524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6087"/>
          </a:bodyPr>
          <a:lstStyle/>
          <a:p>
            <a:pPr algn="r">
              <a:lnSpc>
                <a:spcPct val="106000"/>
              </a:lnSpc>
              <a:buNone/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-p</a:t>
            </a:r>
          </a:p>
        </p:txBody>
      </p:sp>
      <p:sp>
        <p:nvSpPr>
          <p:cNvPr id="12" name="矩形: 圓角 11">
            <a:extLst>
              <a:ext uri="{FF2B5EF4-FFF2-40B4-BE49-F238E27FC236}">
                <a16:creationId xmlns:a16="http://schemas.microsoft.com/office/drawing/2014/main" id="{25CD37D1-2107-4702-B2FE-D102264E2289}"/>
              </a:ext>
            </a:extLst>
          </p:cNvPr>
          <p:cNvSpPr>
            <a:spLocks noGrp="1"/>
          </p:cNvSpPr>
          <p:nvPr/>
        </p:nvSpPr>
        <p:spPr>
          <a:xfrm>
            <a:off x="6762750" y="2343150"/>
            <a:ext cx="4000500" cy="59055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173ACEB-2458-4527-ACCC-697D32D33889}"/>
              </a:ext>
            </a:extLst>
          </p:cNvPr>
          <p:cNvSpPr>
            <a:spLocks noGrp="1"/>
          </p:cNvSpPr>
          <p:nvPr/>
        </p:nvSpPr>
        <p:spPr>
          <a:xfrm>
            <a:off x="6991350" y="2514600"/>
            <a:ext cx="1809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6087"/>
          </a:bodyPr>
          <a:lstStyle/>
          <a:p>
            <a:pPr algn="l">
              <a:lnSpc>
                <a:spcPct val="106000"/>
              </a:lnSpc>
              <a:buNone/>
              <a:defRPr sz="1350" b="1">
                <a:solidFill>
                  <a:srgbClr val="4F46E5"/>
                </a:solidFill>
                <a:latin typeface="Consolas"/>
                <a:ea typeface="Consolas"/>
                <a:cs typeface="Consolas"/>
              </a:defRPr>
            </a:pPr>
            <a:r>
              <a:rPr sz="1350" b="1">
                <a:solidFill>
                  <a:srgbClr val="4F46E5"/>
                </a:solidFill>
                <a:latin typeface="Consolas"/>
                <a:ea typeface="Consolas"/>
                <a:cs typeface="Consolas"/>
              </a:rPr>
              <a:t>volumes: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E85BFDE-CB7B-4270-B7D2-37233BE9FABF}"/>
              </a:ext>
            </a:extLst>
          </p:cNvPr>
          <p:cNvSpPr>
            <a:spLocks noGrp="1"/>
          </p:cNvSpPr>
          <p:nvPr/>
        </p:nvSpPr>
        <p:spPr>
          <a:xfrm>
            <a:off x="8953500" y="2514600"/>
            <a:ext cx="1524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6087"/>
          </a:bodyPr>
          <a:lstStyle/>
          <a:p>
            <a:pPr algn="r">
              <a:lnSpc>
                <a:spcPct val="106000"/>
              </a:lnSpc>
              <a:buNone/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-v</a:t>
            </a:r>
          </a:p>
        </p:txBody>
      </p:sp>
      <p:sp>
        <p:nvSpPr>
          <p:cNvPr id="15" name="矩形: 圓角 14">
            <a:extLst>
              <a:ext uri="{FF2B5EF4-FFF2-40B4-BE49-F238E27FC236}">
                <a16:creationId xmlns:a16="http://schemas.microsoft.com/office/drawing/2014/main" id="{2EEAEE3F-43D6-46DE-8E0A-F0CBFF929E50}"/>
              </a:ext>
            </a:extLst>
          </p:cNvPr>
          <p:cNvSpPr>
            <a:spLocks noGrp="1"/>
          </p:cNvSpPr>
          <p:nvPr/>
        </p:nvSpPr>
        <p:spPr>
          <a:xfrm>
            <a:off x="1428750" y="3181350"/>
            <a:ext cx="4000500" cy="590550"/>
          </a:xfrm>
          <a:prstGeom prst="roundRect">
            <a:avLst>
              <a:gd name="adj" fmla="val 12903"/>
            </a:avLst>
          </a:prstGeom>
          <a:solidFill>
            <a:srgbClr val="F1F5F9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BD2FF4F-63A3-4E08-96E9-A2B112160520}"/>
              </a:ext>
            </a:extLst>
          </p:cNvPr>
          <p:cNvSpPr>
            <a:spLocks noGrp="1"/>
          </p:cNvSpPr>
          <p:nvPr/>
        </p:nvSpPr>
        <p:spPr>
          <a:xfrm>
            <a:off x="1657350" y="3352800"/>
            <a:ext cx="1809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6087"/>
          </a:bodyPr>
          <a:lstStyle/>
          <a:p>
            <a:pPr algn="l">
              <a:lnSpc>
                <a:spcPct val="106000"/>
              </a:lnSpc>
              <a:buNone/>
              <a:defRPr sz="1350" b="1">
                <a:solidFill>
                  <a:srgbClr val="4F46E5"/>
                </a:solidFill>
                <a:latin typeface="Consolas"/>
                <a:ea typeface="Consolas"/>
                <a:cs typeface="Consolas"/>
              </a:defRPr>
            </a:pPr>
            <a:r>
              <a:rPr sz="1350" b="1">
                <a:solidFill>
                  <a:srgbClr val="4F46E5"/>
                </a:solidFill>
                <a:latin typeface="Consolas"/>
                <a:ea typeface="Consolas"/>
                <a:cs typeface="Consolas"/>
              </a:rPr>
              <a:t>environment: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28C03B1B-9F29-462A-9C9A-A1F44C7BC22D}"/>
              </a:ext>
            </a:extLst>
          </p:cNvPr>
          <p:cNvSpPr>
            <a:spLocks noGrp="1"/>
          </p:cNvSpPr>
          <p:nvPr/>
        </p:nvSpPr>
        <p:spPr>
          <a:xfrm>
            <a:off x="3619500" y="3352800"/>
            <a:ext cx="1524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6087"/>
          </a:bodyPr>
          <a:lstStyle/>
          <a:p>
            <a:pPr algn="r">
              <a:lnSpc>
                <a:spcPct val="106000"/>
              </a:lnSpc>
              <a:buNone/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-e</a:t>
            </a:r>
          </a:p>
        </p:txBody>
      </p:sp>
      <p:sp>
        <p:nvSpPr>
          <p:cNvPr id="18" name="矩形: 圓角 17">
            <a:extLst>
              <a:ext uri="{FF2B5EF4-FFF2-40B4-BE49-F238E27FC236}">
                <a16:creationId xmlns:a16="http://schemas.microsoft.com/office/drawing/2014/main" id="{CCA47FEC-84C2-4979-BD76-D42EEC243B77}"/>
              </a:ext>
            </a:extLst>
          </p:cNvPr>
          <p:cNvSpPr>
            <a:spLocks noGrp="1"/>
          </p:cNvSpPr>
          <p:nvPr/>
        </p:nvSpPr>
        <p:spPr>
          <a:xfrm>
            <a:off x="6762750" y="3181350"/>
            <a:ext cx="4000500" cy="590550"/>
          </a:xfrm>
          <a:prstGeom prst="roundRect">
            <a:avLst>
              <a:gd name="adj" fmla="val 12903"/>
            </a:avLst>
          </a:prstGeom>
          <a:solidFill>
            <a:srgbClr val="F1F5F9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94C61044-3E74-48B2-ABEB-3FF39B7F5ADD}"/>
              </a:ext>
            </a:extLst>
          </p:cNvPr>
          <p:cNvSpPr>
            <a:spLocks noGrp="1"/>
          </p:cNvSpPr>
          <p:nvPr/>
        </p:nvSpPr>
        <p:spPr>
          <a:xfrm>
            <a:off x="6991350" y="3352800"/>
            <a:ext cx="1809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6087"/>
          </a:bodyPr>
          <a:lstStyle/>
          <a:p>
            <a:pPr algn="l">
              <a:lnSpc>
                <a:spcPct val="106000"/>
              </a:lnSpc>
              <a:buNone/>
              <a:defRPr sz="1350" b="1">
                <a:solidFill>
                  <a:srgbClr val="4F46E5"/>
                </a:solidFill>
                <a:latin typeface="Consolas"/>
                <a:ea typeface="Consolas"/>
                <a:cs typeface="Consolas"/>
              </a:defRPr>
            </a:pPr>
            <a:r>
              <a:rPr sz="1350" b="1">
                <a:solidFill>
                  <a:srgbClr val="4F46E5"/>
                </a:solidFill>
                <a:latin typeface="Consolas"/>
                <a:ea typeface="Consolas"/>
                <a:cs typeface="Consolas"/>
              </a:rPr>
              <a:t>working_dir: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B51FF92C-B551-477E-AED9-4D0CA791D5A4}"/>
              </a:ext>
            </a:extLst>
          </p:cNvPr>
          <p:cNvSpPr>
            <a:spLocks noGrp="1"/>
          </p:cNvSpPr>
          <p:nvPr/>
        </p:nvSpPr>
        <p:spPr>
          <a:xfrm>
            <a:off x="8953500" y="3352800"/>
            <a:ext cx="1524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6087"/>
          </a:bodyPr>
          <a:lstStyle/>
          <a:p>
            <a:pPr algn="r">
              <a:lnSpc>
                <a:spcPct val="106000"/>
              </a:lnSpc>
              <a:buNone/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-w</a:t>
            </a:r>
          </a:p>
        </p:txBody>
      </p:sp>
      <p:sp>
        <p:nvSpPr>
          <p:cNvPr id="21" name="矩形: 圓角 20">
            <a:extLst>
              <a:ext uri="{FF2B5EF4-FFF2-40B4-BE49-F238E27FC236}">
                <a16:creationId xmlns:a16="http://schemas.microsoft.com/office/drawing/2014/main" id="{40BF3FF4-14FD-4A08-94DA-8575B01415E6}"/>
              </a:ext>
            </a:extLst>
          </p:cNvPr>
          <p:cNvSpPr>
            <a:spLocks noGrp="1"/>
          </p:cNvSpPr>
          <p:nvPr/>
        </p:nvSpPr>
        <p:spPr>
          <a:xfrm>
            <a:off x="1428750" y="4019550"/>
            <a:ext cx="4000500" cy="59055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932966FB-F4E3-48F5-A9DE-8883B8EF738D}"/>
              </a:ext>
            </a:extLst>
          </p:cNvPr>
          <p:cNvSpPr>
            <a:spLocks noGrp="1"/>
          </p:cNvSpPr>
          <p:nvPr/>
        </p:nvSpPr>
        <p:spPr>
          <a:xfrm>
            <a:off x="1657350" y="4191000"/>
            <a:ext cx="1809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6087"/>
          </a:bodyPr>
          <a:lstStyle/>
          <a:p>
            <a:pPr algn="l">
              <a:lnSpc>
                <a:spcPct val="106000"/>
              </a:lnSpc>
              <a:buNone/>
              <a:defRPr sz="1350" b="1">
                <a:solidFill>
                  <a:srgbClr val="4F46E5"/>
                </a:solidFill>
                <a:latin typeface="Consolas"/>
                <a:ea typeface="Consolas"/>
                <a:cs typeface="Consolas"/>
              </a:defRPr>
            </a:pPr>
            <a:r>
              <a:rPr sz="1350" b="1">
                <a:solidFill>
                  <a:srgbClr val="4F46E5"/>
                </a:solidFill>
                <a:latin typeface="Consolas"/>
                <a:ea typeface="Consolas"/>
                <a:cs typeface="Consolas"/>
              </a:rPr>
              <a:t>command: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24EB8ECC-D481-4259-B702-3E400B470EA1}"/>
              </a:ext>
            </a:extLst>
          </p:cNvPr>
          <p:cNvSpPr>
            <a:spLocks noGrp="1"/>
          </p:cNvSpPr>
          <p:nvPr/>
        </p:nvSpPr>
        <p:spPr>
          <a:xfrm>
            <a:off x="3619500" y="4191000"/>
            <a:ext cx="1524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6087"/>
          </a:bodyPr>
          <a:lstStyle/>
          <a:p>
            <a:pPr algn="r">
              <a:lnSpc>
                <a:spcPct val="106000"/>
              </a:lnSpc>
              <a:buNone/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最後面的指令</a:t>
            </a:r>
          </a:p>
        </p:txBody>
      </p:sp>
      <p:sp>
        <p:nvSpPr>
          <p:cNvPr id="24" name="矩形: 圓角 23">
            <a:extLst>
              <a:ext uri="{FF2B5EF4-FFF2-40B4-BE49-F238E27FC236}">
                <a16:creationId xmlns:a16="http://schemas.microsoft.com/office/drawing/2014/main" id="{8FF0E503-196B-46AF-BD6D-2C84064FB430}"/>
              </a:ext>
            </a:extLst>
          </p:cNvPr>
          <p:cNvSpPr>
            <a:spLocks noGrp="1"/>
          </p:cNvSpPr>
          <p:nvPr/>
        </p:nvSpPr>
        <p:spPr>
          <a:xfrm>
            <a:off x="6762750" y="4019550"/>
            <a:ext cx="4000500" cy="59055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3C3387C4-54F3-4204-A5AC-1F6F025D9CCF}"/>
              </a:ext>
            </a:extLst>
          </p:cNvPr>
          <p:cNvSpPr>
            <a:spLocks noGrp="1"/>
          </p:cNvSpPr>
          <p:nvPr/>
        </p:nvSpPr>
        <p:spPr>
          <a:xfrm>
            <a:off x="6991350" y="4191000"/>
            <a:ext cx="1809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6087"/>
          </a:bodyPr>
          <a:lstStyle/>
          <a:p>
            <a:pPr algn="l">
              <a:lnSpc>
                <a:spcPct val="106000"/>
              </a:lnSpc>
              <a:buNone/>
              <a:defRPr sz="1350" b="1">
                <a:solidFill>
                  <a:srgbClr val="4F46E5"/>
                </a:solidFill>
                <a:latin typeface="Consolas"/>
                <a:ea typeface="Consolas"/>
                <a:cs typeface="Consolas"/>
              </a:defRPr>
            </a:pPr>
            <a:r>
              <a:rPr sz="1350" b="1">
                <a:solidFill>
                  <a:srgbClr val="4F46E5"/>
                </a:solidFill>
                <a:latin typeface="Consolas"/>
                <a:ea typeface="Consolas"/>
                <a:cs typeface="Consolas"/>
              </a:rPr>
              <a:t>depends_on: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1A1CE8D3-A1A7-408E-8BB8-A4DEAF389393}"/>
              </a:ext>
            </a:extLst>
          </p:cNvPr>
          <p:cNvSpPr>
            <a:spLocks noGrp="1"/>
          </p:cNvSpPr>
          <p:nvPr/>
        </p:nvSpPr>
        <p:spPr>
          <a:xfrm>
            <a:off x="8953500" y="4191000"/>
            <a:ext cx="1524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6087"/>
          </a:bodyPr>
          <a:lstStyle/>
          <a:p>
            <a:pPr algn="r">
              <a:lnSpc>
                <a:spcPct val="106000"/>
              </a:lnSpc>
              <a:buNone/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啟動順序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B0B3DAFD-A2C0-42D5-A49C-597914D5C781}"/>
              </a:ext>
            </a:extLst>
          </p:cNvPr>
          <p:cNvSpPr>
            <a:spLocks noGrp="1"/>
          </p:cNvSpPr>
          <p:nvPr/>
        </p:nvSpPr>
        <p:spPr>
          <a:xfrm>
            <a:off x="609600" y="6305550"/>
            <a:ext cx="9906000" cy="13335"/>
          </a:xfrm>
          <a:prstGeom prst="rect">
            <a:avLst/>
          </a:prstGeom>
          <a:solidFill>
            <a:srgbClr val="D9E2EC"/>
          </a:solidFill>
          <a:ln w="0">
            <a:noFill/>
            <a:prstDash val="solid"/>
          </a:ln>
        </p:spPr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DD9CE049-EE0D-4919-88A1-F32B70E80759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2762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Docker 基礎教學 | 第 3 堂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7E2C9D97-D4EF-4BAC-A33E-128214323687}"/>
              </a:ext>
            </a:extLst>
          </p:cNvPr>
          <p:cNvSpPr>
            <a:spLocks noGrp="1"/>
          </p:cNvSpPr>
          <p:nvPr/>
        </p:nvSpPr>
        <p:spPr>
          <a:xfrm>
            <a:off x="11010900" y="6381750"/>
            <a:ext cx="571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106000"/>
              </a:lnSpc>
              <a:buNone/>
              <a:defRPr sz="9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87091869"/>
      </p:ext>
    </p:extLst>
  </p:cSld>
  <p:clrMapOvr>
    <a:masterClrMapping/>
  </p:clrMapOvr>
</p:sld>
</file>

<file path=ppt/slides/slide20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>
            <a:extLst>
              <a:ext uri="{FF2B5EF4-FFF2-40B4-BE49-F238E27FC236}">
                <ns2:creationId id="{527C3C1A-A6A3-42AF-81D2-9B5708BC3FE3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619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900" b="1">
                <a:solidFill>
                  <a:srgbClr val="0B5CA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5CAD"/>
                </a:solidFill>
                <a:latin typeface="Aptos"/>
                <a:ea typeface="Aptos"/>
                <a:cs typeface="Aptos"/>
              </a:rPr>
              <a:t>COMPOSE BEHAVIOR</a:t>
            </a:r>
          </a:p>
        </p:txBody>
      </p:sp>
      <p:sp>
        <p:nvSpPr>
          <p:cNvPr id="2" name="矩形 1">
            <a:extLst>
              <a:ext uri="{FF2B5EF4-FFF2-40B4-BE49-F238E27FC236}">
                <ns2:creationId id="{C183BB24-A86C-4685-AF49-0880B3526997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9906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28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restart 與 depends_on 只解決部分問題</a:t>
            </a:r>
          </a:p>
        </p:txBody>
      </p:sp>
      <p:sp>
        <p:nvSpPr>
          <p:cNvPr id="3" name="矩形: 圓角 2">
            <a:extLst>
              <a:ext uri="{FF2B5EF4-FFF2-40B4-BE49-F238E27FC236}">
                <ns2:creationId id="{E9F8BA7C-79C7-402E-A7EE-19E911CC2BC2}"/>
              </a:ext>
            </a:extLst>
          </p:cNvPr>
          <p:cNvSpPr>
            <a:spLocks noGrp="1"/>
          </p:cNvSpPr>
          <p:nvPr/>
        </p:nvSpPr>
        <p:spPr>
          <a:xfrm>
            <a:off x="1047750" y="1676400"/>
            <a:ext cx="4381500" cy="1924050"/>
          </a:xfrm>
          <a:prstGeom prst="roundRect">
            <a:avLst>
              <a:gd name="adj" fmla="val 5941"/>
            </a:avLst>
          </a:prstGeom>
          <a:solidFill>
            <a:srgbClr val="E7F8F2"/>
          </a:solidFill>
          <a:ln w="9525">
            <a:solidFill>
              <a:srgbClr val="00A97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4" name="矩形 3">
            <a:extLst>
              <a:ext uri="{FF2B5EF4-FFF2-40B4-BE49-F238E27FC236}">
                <ns2:creationId id="{AA2BCF9F-2206-4FAA-9B29-E3AE778D0804}"/>
              </a:ext>
            </a:extLst>
          </p:cNvPr>
          <p:cNvSpPr>
            <a:spLocks noGrp="1"/>
          </p:cNvSpPr>
          <p:nvPr/>
        </p:nvSpPr>
        <p:spPr>
          <a:xfrm>
            <a:off x="1276350" y="1866900"/>
            <a:ext cx="3924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5463"/>
          </a:bodyPr>
          <a:lstStyle/>
          <a:p>
            <a:pPr algn="l">
              <a:lnSpc>
                <a:spcPct val="106000"/>
              </a:lnSpc>
              <a:buNone/>
              <a:defRPr sz="2100" b="1">
                <a:solidFill>
                  <a:srgbClr val="047857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047857"/>
                </a:solidFill>
                <a:latin typeface="Aptos Display"/>
                <a:ea typeface="Aptos Display"/>
                <a:cs typeface="Aptos Display"/>
              </a:rPr>
              <a:t>restart: unless-stopped</a:t>
            </a:r>
          </a:p>
        </p:txBody>
      </p:sp>
      <p:sp>
        <p:nvSpPr>
          <p:cNvPr id="5" name="矩形 4">
            <a:extLst>
              <a:ext uri="{FF2B5EF4-FFF2-40B4-BE49-F238E27FC236}">
                <ns2:creationId id="{91EE671A-6BA5-4D42-842C-EBA63F582D9A}"/>
              </a:ext>
            </a:extLst>
          </p:cNvPr>
          <p:cNvSpPr>
            <a:spLocks noGrp="1"/>
          </p:cNvSpPr>
          <p:nvPr/>
        </p:nvSpPr>
        <p:spPr>
          <a:xfrm>
            <a:off x="1276350" y="2438400"/>
            <a:ext cx="3924300" cy="971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15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開發環境常用。容器非手動停止時會自動重啟；手動 stop 後維持停止。</a:t>
            </a:r>
          </a:p>
        </p:txBody>
      </p:sp>
      <p:sp>
        <p:nvSpPr>
          <p:cNvPr id="6" name="矩形: 圓角 5">
            <a:extLst>
              <a:ext uri="{FF2B5EF4-FFF2-40B4-BE49-F238E27FC236}">
                <ns2:creationId id="{9279916A-6C45-4C62-8D53-118AD52420A4}"/>
              </a:ext>
            </a:extLst>
          </p:cNvPr>
          <p:cNvSpPr>
            <a:spLocks noGrp="1"/>
          </p:cNvSpPr>
          <p:nvPr/>
        </p:nvSpPr>
        <p:spPr>
          <a:xfrm>
            <a:off x="6762750" y="1676400"/>
            <a:ext cx="4381500" cy="1924050"/>
          </a:xfrm>
          <a:prstGeom prst="roundRect">
            <a:avLst>
              <a:gd name="adj" fmla="val 5941"/>
            </a:avLst>
          </a:prstGeom>
          <a:solidFill>
            <a:srgbClr val="E8F3FF"/>
          </a:solidFill>
          <a:ln w="9525">
            <a:solidFill>
              <a:srgbClr val="B7DCF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7" name="矩形 6">
            <a:extLst>
              <a:ext uri="{FF2B5EF4-FFF2-40B4-BE49-F238E27FC236}">
                <ns2:creationId id="{29CECC99-4C68-4D57-9919-3DA5C4EF3A76}"/>
              </a:ext>
            </a:extLst>
          </p:cNvPr>
          <p:cNvSpPr>
            <a:spLocks noGrp="1"/>
          </p:cNvSpPr>
          <p:nvPr/>
        </p:nvSpPr>
        <p:spPr>
          <a:xfrm>
            <a:off x="6991350" y="1866900"/>
            <a:ext cx="3924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5463"/>
          </a:bodyPr>
          <a:lstStyle/>
          <a:p>
            <a:pPr algn="l">
              <a:lnSpc>
                <a:spcPct val="106000"/>
              </a:lnSpc>
              <a:buNone/>
              <a:defRPr sz="2100" b="1">
                <a:solidFill>
                  <a:srgbClr val="0B5CAD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0B5CAD"/>
                </a:solidFill>
                <a:latin typeface="Aptos Display"/>
                <a:ea typeface="Aptos Display"/>
                <a:cs typeface="Aptos Display"/>
              </a:rPr>
              <a:t>depends_on</a:t>
            </a:r>
          </a:p>
        </p:txBody>
      </p:sp>
      <p:sp>
        <p:nvSpPr>
          <p:cNvPr id="8" name="矩形 7">
            <a:extLst>
              <a:ext uri="{FF2B5EF4-FFF2-40B4-BE49-F238E27FC236}">
                <ns2:creationId id="{26F4CE6B-6303-4DE4-8CCB-411BB65EF604}"/>
              </a:ext>
            </a:extLst>
          </p:cNvPr>
          <p:cNvSpPr>
            <a:spLocks noGrp="1"/>
          </p:cNvSpPr>
          <p:nvPr/>
        </p:nvSpPr>
        <p:spPr>
          <a:xfrm>
            <a:off x="6991350" y="2438400"/>
            <a:ext cx="3924300" cy="971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15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控制啟動順序，例如先啟動 db 再啟動 web。</a:t>
            </a:r>
          </a:p>
        </p:txBody>
      </p:sp>
      <p:sp>
        <p:nvSpPr>
          <p:cNvPr id="9" name="矩形: 圓角 8">
            <a:extLst>
              <a:ext uri="{FF2B5EF4-FFF2-40B4-BE49-F238E27FC236}">
                <ns2:creationId id="{6D6A20E7-82D3-4F71-8DF2-FFC0575F4047}"/>
              </a:ext>
            </a:extLst>
          </p:cNvPr>
          <p:cNvSpPr>
            <a:spLocks noGrp="1"/>
          </p:cNvSpPr>
          <p:nvPr/>
        </p:nvSpPr>
        <p:spPr>
          <a:xfrm>
            <a:off x="1752600" y="4457700"/>
            <a:ext cx="8686800" cy="742950"/>
          </a:xfrm>
          <a:prstGeom prst="roundRect">
            <a:avLst>
              <a:gd name="adj" fmla="val 15385"/>
            </a:avLst>
          </a:prstGeom>
          <a:solidFill>
            <a:srgbClr val="FFF6DD"/>
          </a:solidFill>
          <a:ln w="9525">
            <a:solidFill>
              <a:srgbClr val="F59E0B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0" name="矩形 9">
            <a:extLst>
              <a:ext uri="{FF2B5EF4-FFF2-40B4-BE49-F238E27FC236}">
                <ns2:creationId id="{E969899D-555C-44BE-B17C-5BAD4B91A83A}"/>
              </a:ext>
            </a:extLst>
          </p:cNvPr>
          <p:cNvSpPr>
            <a:spLocks noGrp="1"/>
          </p:cNvSpPr>
          <p:nvPr/>
        </p:nvSpPr>
        <p:spPr>
          <a:xfrm>
            <a:off x="2095500" y="4686300"/>
            <a:ext cx="8001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6000"/>
              </a:lnSpc>
              <a:buNone/>
              <a:defRPr sz="1575" b="1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B45309"/>
                </a:solidFill>
                <a:latin typeface="Aptos"/>
                <a:ea typeface="Aptos"/>
                <a:cs typeface="Aptos"/>
              </a:rPr>
              <a:t>depends_on 只保證容器先啟動，不保證 MySQL 已經 ready；程式端仍需要重試機制。</a:t>
            </a:r>
          </a:p>
        </p:txBody>
      </p:sp>
      <p:sp>
        <p:nvSpPr>
          <p:cNvPr id="11" name="矩形 10">
            <a:extLst>
              <a:ext uri="{FF2B5EF4-FFF2-40B4-BE49-F238E27FC236}">
                <ns2:creationId id="{1D538722-87FF-42AF-85BC-17A144FF37CA}"/>
              </a:ext>
            </a:extLst>
          </p:cNvPr>
          <p:cNvSpPr>
            <a:spLocks noGrp="1"/>
          </p:cNvSpPr>
          <p:nvPr/>
        </p:nvSpPr>
        <p:spPr>
          <a:xfrm>
            <a:off x="609600" y="6305550"/>
            <a:ext cx="9906000" cy="13335"/>
          </a:xfrm>
          <a:prstGeom prst="rect">
            <a:avLst/>
          </a:prstGeom>
          <a:solidFill>
            <a:srgbClr val="D9E2EC"/>
          </a:solidFill>
          <a:ln w="0">
            <a:noFill/>
            <a:prstDash val="solid"/>
          </a:ln>
        </p:spPr>
      </p:sp>
      <p:sp>
        <p:nvSpPr>
          <p:cNvPr id="12" name="矩形 11">
            <a:extLst>
              <a:ext uri="{FF2B5EF4-FFF2-40B4-BE49-F238E27FC236}">
                <ns2:creationId id="{4E2429AE-6EA6-4F8F-A273-961BD7D19F2B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2762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Docker 基礎教學 | 第 3 堂</a:t>
            </a:r>
          </a:p>
        </p:txBody>
      </p:sp>
      <p:sp>
        <p:nvSpPr>
          <p:cNvPr id="13" name="矩形 12">
            <a:extLst>
              <a:ext uri="{FF2B5EF4-FFF2-40B4-BE49-F238E27FC236}">
                <ns2:creationId id="{6673FC2C-6001-42AD-9AE9-92F76E97AD3B}"/>
              </a:ext>
            </a:extLst>
          </p:cNvPr>
          <p:cNvSpPr>
            <a:spLocks noGrp="1"/>
          </p:cNvSpPr>
          <p:nvPr/>
        </p:nvSpPr>
        <p:spPr>
          <a:xfrm>
            <a:off x="11010900" y="6381750"/>
            <a:ext cx="571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106000"/>
              </a:lnSpc>
              <a:buNone/>
              <a:defRPr sz="9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23</a:t>
            </a:r>
          </a:p>
        </p:txBody>
      </p:sp>
    </p:spTree>
    <p:extLst>
      <p:ext uri="{BB962C8B-B14F-4D97-AF65-F5344CB8AC3E}">
        <ns3:creationId val="400558269"/>
      </p:ext>
    </p:extLst>
  </p:cSld>
  <p:clrMapOvr>
    <a:masterClrMapping/>
  </p:clrMapOvr>
</p:sld>
</file>

<file path=ppt/slides/slide21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>
            <a:extLst>
              <a:ext uri="{FF2B5EF4-FFF2-40B4-BE49-F238E27FC236}">
                <ns2:creationId id="{CBA052DC-6B9D-469B-AC4A-81779AA429D0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619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900" b="1">
                <a:solidFill>
                  <a:srgbClr val="A5B4F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5B4FC"/>
                </a:solidFill>
                <a:latin typeface="Aptos"/>
                <a:ea typeface="Aptos"/>
                <a:cs typeface="Aptos"/>
              </a:rPr>
              <a:t>EXERCISE Q2-Q3</a:t>
            </a:r>
          </a:p>
        </p:txBody>
      </p:sp>
      <p:sp>
        <p:nvSpPr>
          <p:cNvPr id="2" name="矩形 1">
            <a:extLst>
              <a:ext uri="{FF2B5EF4-FFF2-40B4-BE49-F238E27FC236}">
                <ns2:creationId id="{172F36AC-15CC-4F9E-876A-B8E8D3A7E7EE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10668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概念快問 2：Compose 行為判斷</a:t>
            </a:r>
          </a:p>
        </p:txBody>
      </p:sp>
      <p:sp>
        <p:nvSpPr>
          <p:cNvPr id="3" name="矩形: 圓角 2">
            <a:extLst>
              <a:ext uri="{FF2B5EF4-FFF2-40B4-BE49-F238E27FC236}">
                <ns2:creationId id="{C6C2D666-0DFA-497C-8E16-C9A82A29B02A}"/>
              </a:ext>
            </a:extLst>
          </p:cNvPr>
          <p:cNvSpPr>
            <a:spLocks noGrp="1"/>
          </p:cNvSpPr>
          <p:nvPr/>
        </p:nvSpPr>
        <p:spPr>
          <a:xfrm>
            <a:off x="914400" y="1657350"/>
            <a:ext cx="4762500" cy="2438400"/>
          </a:xfrm>
          <a:prstGeom prst="roundRect">
            <a:avLst>
              <a:gd name="adj" fmla="val 4688"/>
            </a:avLst>
          </a:prstGeom>
          <a:solidFill>
            <a:srgbClr val="111827"/>
          </a:solidFill>
          <a:ln w="9525">
            <a:solidFill>
              <a:srgbClr val="60A5F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4" name="矩形 3">
            <a:extLst>
              <a:ext uri="{FF2B5EF4-FFF2-40B4-BE49-F238E27FC236}">
                <ns2:creationId id="{F318F2BC-234B-4E90-A82D-FF53FC1C09CB}"/>
              </a:ext>
            </a:extLst>
          </p:cNvPr>
          <p:cNvSpPr>
            <a:spLocks noGrp="1"/>
          </p:cNvSpPr>
          <p:nvPr/>
        </p:nvSpPr>
        <p:spPr>
          <a:xfrm>
            <a:off x="1143000" y="1847850"/>
            <a:ext cx="4305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5463"/>
          </a:bodyPr>
          <a:lstStyle/>
          <a:p>
            <a:pPr algn="ctr">
              <a:lnSpc>
                <a:spcPct val="106000"/>
              </a:lnSpc>
              <a:buNone/>
              <a:defRPr sz="2100" b="1">
                <a:solidFill>
                  <a:srgbClr val="93C5FD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93C5FD"/>
                </a:solidFill>
                <a:latin typeface="Aptos Display"/>
                <a:ea typeface="Aptos Display"/>
                <a:cs typeface="Aptos Display"/>
              </a:rPr>
              <a:t>Q2：depends_on 能保證什麼？</a:t>
            </a:r>
          </a:p>
        </p:txBody>
      </p:sp>
      <p:sp>
        <p:nvSpPr>
          <p:cNvPr id="5" name="矩形 4">
            <a:extLst>
              <a:ext uri="{FF2B5EF4-FFF2-40B4-BE49-F238E27FC236}">
                <ns2:creationId id="{8AED8AD1-3535-4D7D-978F-68E857DCFF5D}"/>
              </a:ext>
            </a:extLst>
          </p:cNvPr>
          <p:cNvSpPr>
            <a:spLocks noGrp="1"/>
          </p:cNvSpPr>
          <p:nvPr/>
        </p:nvSpPr>
        <p:spPr>
          <a:xfrm>
            <a:off x="1143000" y="2533650"/>
            <a:ext cx="4305300" cy="1371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6000"/>
              </a:lnSpc>
              <a:buNone/>
              <a:defRPr sz="1725" b="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E2E8F0"/>
                </a:solidFill>
                <a:latin typeface="Aptos"/>
                <a:ea typeface="Aptos"/>
                <a:cs typeface="Aptos"/>
              </a:rPr>
              <a:t>能保證啟動順序。</a:t>
            </a:r>
          </a:p>
          <a:p>
            <a:pPr algn="ctr">
              <a:lnSpc>
                <a:spcPct val="106000"/>
              </a:lnSpc>
              <a:buNone/>
              <a:defRPr sz="1725" b="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E2E8F0"/>
                </a:solidFill>
                <a:latin typeface="Aptos"/>
                <a:ea typeface="Aptos"/>
                <a:cs typeface="Aptos"/>
              </a:rPr>
              <a:t>不能保證 MySQL 已 ready。</a:t>
            </a:r>
          </a:p>
          <a:p>
            <a:pPr algn="ctr">
              <a:lnSpc>
                <a:spcPct val="106000"/>
              </a:lnSpc>
              <a:buNone/>
              <a:defRPr sz="1725" b="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E2E8F0"/>
                </a:solidFill>
                <a:latin typeface="Aptos"/>
                <a:ea typeface="Aptos"/>
                <a:cs typeface="Aptos"/>
              </a:rPr>
              <a:t>程式端仍需要重試。</a:t>
            </a:r>
          </a:p>
        </p:txBody>
      </p:sp>
      <p:sp>
        <p:nvSpPr>
          <p:cNvPr id="6" name="矩形: 圓角 5">
            <a:extLst>
              <a:ext uri="{FF2B5EF4-FFF2-40B4-BE49-F238E27FC236}">
                <ns2:creationId id="{73F96140-6366-4E42-8DDE-2D442CC762B5}"/>
              </a:ext>
            </a:extLst>
          </p:cNvPr>
          <p:cNvSpPr>
            <a:spLocks noGrp="1"/>
          </p:cNvSpPr>
          <p:nvPr/>
        </p:nvSpPr>
        <p:spPr>
          <a:xfrm>
            <a:off x="6515100" y="1657350"/>
            <a:ext cx="4762500" cy="2438400"/>
          </a:xfrm>
          <a:prstGeom prst="roundRect">
            <a:avLst>
              <a:gd name="adj" fmla="val 4688"/>
            </a:avLst>
          </a:prstGeom>
          <a:solidFill>
            <a:srgbClr val="111827"/>
          </a:solidFill>
          <a:ln w="9525">
            <a:solidFill>
              <a:srgbClr val="34D39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7" name="矩形 6">
            <a:extLst>
              <a:ext uri="{FF2B5EF4-FFF2-40B4-BE49-F238E27FC236}">
                <ns2:creationId id="{4344DF0B-E080-40ED-8985-2FC6A29DC549}"/>
              </a:ext>
            </a:extLst>
          </p:cNvPr>
          <p:cNvSpPr>
            <a:spLocks noGrp="1"/>
          </p:cNvSpPr>
          <p:nvPr/>
        </p:nvSpPr>
        <p:spPr>
          <a:xfrm>
            <a:off x="6743700" y="1847850"/>
            <a:ext cx="4305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5463"/>
          </a:bodyPr>
          <a:lstStyle/>
          <a:p>
            <a:pPr algn="ctr">
              <a:lnSpc>
                <a:spcPct val="106000"/>
              </a:lnSpc>
              <a:buNone/>
              <a:defRPr sz="2100" b="1">
                <a:solidFill>
                  <a:srgbClr val="86EFAC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86EFAC"/>
                </a:solidFill>
                <a:latin typeface="Aptos Display"/>
                <a:ea typeface="Aptos Display"/>
                <a:cs typeface="Aptos Display"/>
              </a:rPr>
              <a:t>Q3：unless-stopped vs always</a:t>
            </a:r>
          </a:p>
        </p:txBody>
      </p:sp>
      <p:sp>
        <p:nvSpPr>
          <p:cNvPr id="8" name="矩形 7">
            <a:extLst>
              <a:ext uri="{FF2B5EF4-FFF2-40B4-BE49-F238E27FC236}">
                <ns2:creationId id="{6003955D-CEA8-4942-B656-861BEB8CC53B}"/>
              </a:ext>
            </a:extLst>
          </p:cNvPr>
          <p:cNvSpPr>
            <a:spLocks noGrp="1"/>
          </p:cNvSpPr>
          <p:nvPr/>
        </p:nvSpPr>
        <p:spPr>
          <a:xfrm>
            <a:off x="6743700" y="2533650"/>
            <a:ext cx="4305300" cy="1371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6000"/>
              </a:lnSpc>
              <a:buNone/>
              <a:defRPr sz="1575" b="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E2E8F0"/>
                </a:solidFill>
                <a:latin typeface="Aptos"/>
                <a:ea typeface="Aptos"/>
                <a:cs typeface="Aptos"/>
              </a:rPr>
              <a:t>always：停止就自動重啟。</a:t>
            </a:r>
          </a:p>
          <a:p>
            <a:pPr algn="ctr">
              <a:lnSpc>
                <a:spcPct val="106000"/>
              </a:lnSpc>
              <a:buNone/>
              <a:defRPr sz="1575" b="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E2E8F0"/>
                </a:solidFill>
                <a:latin typeface="Aptos"/>
                <a:ea typeface="Aptos"/>
                <a:cs typeface="Aptos"/>
              </a:rPr>
              <a:t>unless-stopped：除非手動 stop，否則自動重啟。</a:t>
            </a:r>
          </a:p>
          <a:p>
            <a:pPr algn="ctr">
              <a:lnSpc>
                <a:spcPct val="106000"/>
              </a:lnSpc>
              <a:buNone/>
              <a:defRPr sz="1575" b="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E2E8F0"/>
                </a:solidFill>
                <a:latin typeface="Aptos"/>
                <a:ea typeface="Aptos"/>
                <a:cs typeface="Aptos"/>
              </a:rPr>
              <a:t>差別在手動停止後的行為。</a:t>
            </a:r>
          </a:p>
        </p:txBody>
      </p:sp>
      <p:sp>
        <p:nvSpPr>
          <p:cNvPr id="9" name="矩形: 圓角 8">
            <a:extLst>
              <a:ext uri="{FF2B5EF4-FFF2-40B4-BE49-F238E27FC236}">
                <ns2:creationId id="{A79C5880-2105-4375-871F-D4578A56F490}"/>
              </a:ext>
            </a:extLst>
          </p:cNvPr>
          <p:cNvSpPr>
            <a:spLocks noGrp="1"/>
          </p:cNvSpPr>
          <p:nvPr/>
        </p:nvSpPr>
        <p:spPr>
          <a:xfrm>
            <a:off x="1752600" y="4819650"/>
            <a:ext cx="8686800" cy="628650"/>
          </a:xfrm>
          <a:prstGeom prst="roundRect">
            <a:avLst>
              <a:gd name="adj" fmla="val 18182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ns2:creationId id="{18813ACF-DF7B-46CB-BE6F-B416CB61F0F6}"/>
              </a:ext>
            </a:extLst>
          </p:cNvPr>
          <p:cNvSpPr>
            <a:spLocks noGrp="1"/>
          </p:cNvSpPr>
          <p:nvPr/>
        </p:nvSpPr>
        <p:spPr>
          <a:xfrm>
            <a:off x="2095500" y="5029200"/>
            <a:ext cx="800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89847"/>
          </a:bodyPr>
          <a:lstStyle/>
          <a:p>
            <a:pPr algn="ctr">
              <a:lnSpc>
                <a:spcPct val="106000"/>
              </a:lnSpc>
              <a:buNone/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討論方式：先讓學生口頭回答，再打開 logs 或重啟容器驗證。</a:t>
            </a:r>
          </a:p>
        </p:txBody>
      </p:sp>
      <p:sp>
        <p:nvSpPr>
          <p:cNvPr id="11" name="矩形 10">
            <a:extLst>
              <a:ext uri="{FF2B5EF4-FFF2-40B4-BE49-F238E27FC236}">
                <ns2:creationId id="{B0B7B25E-0772-4A2E-BE0E-7B1B0E1065C1}"/>
              </a:ext>
            </a:extLst>
          </p:cNvPr>
          <p:cNvSpPr>
            <a:spLocks noGrp="1"/>
          </p:cNvSpPr>
          <p:nvPr/>
        </p:nvSpPr>
        <p:spPr>
          <a:xfrm>
            <a:off x="609600" y="6305550"/>
            <a:ext cx="9906000" cy="13335"/>
          </a:xfrm>
          <a:prstGeom prst="rect">
            <a:avLst/>
          </a:prstGeom>
          <a:solidFill>
            <a:srgbClr val="334155"/>
          </a:solidFill>
          <a:ln w="0">
            <a:noFill/>
            <a:prstDash val="solid"/>
          </a:ln>
        </p:spPr>
      </p:sp>
      <p:sp>
        <p:nvSpPr>
          <p:cNvPr id="12" name="矩形 11">
            <a:extLst>
              <a:ext uri="{FF2B5EF4-FFF2-40B4-BE49-F238E27FC236}">
                <ns2:creationId id="{1A76779E-2C33-4DCA-A28B-273365E36E68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2762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82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Docker 基礎教學 | 第 3 堂</a:t>
            </a:r>
          </a:p>
        </p:txBody>
      </p:sp>
      <p:sp>
        <p:nvSpPr>
          <p:cNvPr id="13" name="矩形 12">
            <a:extLst>
              <a:ext uri="{FF2B5EF4-FFF2-40B4-BE49-F238E27FC236}">
                <ns2:creationId id="{80D774C0-A783-4326-9A07-F6D0CE116415}"/>
              </a:ext>
            </a:extLst>
          </p:cNvPr>
          <p:cNvSpPr>
            <a:spLocks noGrp="1"/>
          </p:cNvSpPr>
          <p:nvPr/>
        </p:nvSpPr>
        <p:spPr>
          <a:xfrm>
            <a:off x="11010900" y="6381750"/>
            <a:ext cx="571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106000"/>
              </a:lnSpc>
              <a:buNone/>
              <a:defRPr sz="900" b="1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BD5E1"/>
                </a:solidFill>
                <a:latin typeface="Aptos"/>
                <a:ea typeface="Aptos"/>
                <a:cs typeface="Aptos"/>
              </a:rPr>
              <a:t>24</a:t>
            </a:r>
          </a:p>
        </p:txBody>
      </p:sp>
    </p:spTree>
    <p:extLst>
      <p:ext uri="{BB962C8B-B14F-4D97-AF65-F5344CB8AC3E}">
        <ns3:creationId val="228251198"/>
      </p:ext>
    </p:extLst>
  </p:cSld>
  <p:clrMapOvr>
    <a:masterClrMapping/>
  </p:clrMapOvr>
</p:sld>
</file>

<file path=ppt/slides/slide22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ns2:creationId id="{733ED3AE-1CA0-48D7-B672-DD405F283087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619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900" b="1">
                <a:solidFill>
                  <a:srgbClr val="0B5CA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5CAD"/>
                </a:solidFill>
                <a:latin typeface="Aptos"/>
                <a:ea typeface="Aptos"/>
                <a:cs typeface="Aptos"/>
              </a:rPr>
              <a:t>COMPOSE ORCHESTRATION</a:t>
            </a:r>
          </a:p>
        </p:txBody>
      </p:sp>
      <p:sp>
        <p:nvSpPr>
          <p:cNvPr id="2" name="矩形 1">
            <a:extLst>
              <a:ext uri="{FF2B5EF4-FFF2-40B4-BE49-F238E27FC236}">
                <ns2:creationId id="{0D7A76F2-BEDE-49A4-ABA3-46F067CFE3CF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9906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28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一個 Compose 檔案協調多個服務</a:t>
            </a:r>
          </a:p>
        </p:txBody>
      </p:sp>
      <p:pic>
        <p:nvPicPr>
          <p:cNvPr id="18" name="圖片 17"/>
          <p:cNvPicPr>
            <a:picLocks noChangeAspect="1"/>
          </p:cNvPicPr>
          <p:nvPr/>
        </p:nvPicPr>
        <p:blipFill>
          <a:blip r:embed="rId3"/>
          <a:srcRect l="5014" r="5014"/>
          <a:stretch>
            <a:fillRect/>
          </a:stretch>
        </p:blipFill>
        <p:spPr>
          <a:xfrm>
            <a:off x="6572250" y="1447800"/>
            <a:ext cx="4476750" cy="2800350"/>
          </a:xfrm>
          <a:prstGeom prst="roundRect">
            <a:avLst/>
          </a:prstGeom>
        </p:spPr>
      </p:pic>
      <p:sp>
        <p:nvSpPr>
          <p:cNvPr id="4" name="矩形: 圓角 3">
            <a:extLst>
              <a:ext uri="{FF2B5EF4-FFF2-40B4-BE49-F238E27FC236}">
                <ns2:creationId id="{DE2DF5BC-1AF6-49D4-A41C-64505F24E8AD}"/>
              </a:ext>
            </a:extLst>
          </p:cNvPr>
          <p:cNvSpPr>
            <a:spLocks noGrp="1"/>
          </p:cNvSpPr>
          <p:nvPr/>
        </p:nvSpPr>
        <p:spPr>
          <a:xfrm>
            <a:off x="6572250" y="1447800"/>
            <a:ext cx="4476750" cy="2800350"/>
          </a:xfrm>
          <a:prstGeom prst="roundRect">
            <a:avLst>
              <a:gd name="adj" fmla="val 4762"/>
            </a:avLst>
          </a:prstGeom>
          <a:solidFill>
            <a:srgbClr val="000000">
              <a:alpha val="0"/>
            </a:srgbClr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5" name="矩形: 圓角 4">
            <a:extLst>
              <a:ext uri="{FF2B5EF4-FFF2-40B4-BE49-F238E27FC236}">
                <ns2:creationId id="{2199AD43-F1E9-4DAB-A91F-5D148A1D82CA}"/>
              </a:ext>
            </a:extLst>
          </p:cNvPr>
          <p:cNvSpPr>
            <a:spLocks noGrp="1"/>
          </p:cNvSpPr>
          <p:nvPr/>
        </p:nvSpPr>
        <p:spPr>
          <a:xfrm>
            <a:off x="990600" y="1676400"/>
            <a:ext cx="4381500" cy="1428750"/>
          </a:xfrm>
          <a:prstGeom prst="roundRect">
            <a:avLst>
              <a:gd name="adj" fmla="val 8000"/>
            </a:avLst>
          </a:prstGeom>
          <a:solidFill>
            <a:srgbClr val="E8F3FF"/>
          </a:solidFill>
          <a:ln w="9525">
            <a:solidFill>
              <a:srgbClr val="B7DCF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6" name="矩形 5">
            <a:extLst>
              <a:ext uri="{FF2B5EF4-FFF2-40B4-BE49-F238E27FC236}">
                <ns2:creationId id="{3392CBFA-9F5B-472C-8DC3-593D81AA9841}"/>
              </a:ext>
            </a:extLst>
          </p:cNvPr>
          <p:cNvSpPr>
            <a:spLocks noGrp="1"/>
          </p:cNvSpPr>
          <p:nvPr/>
        </p:nvSpPr>
        <p:spPr>
          <a:xfrm>
            <a:off x="1219200" y="1866900"/>
            <a:ext cx="3924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8998"/>
          </a:bodyPr>
          <a:lstStyle/>
          <a:p>
            <a:pPr algn="l">
              <a:lnSpc>
                <a:spcPct val="106000"/>
              </a:lnSpc>
              <a:buNone/>
              <a:defRPr sz="2025" b="1">
                <a:solidFill>
                  <a:srgbClr val="0B5CAD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0B5CAD"/>
                </a:solidFill>
                <a:latin typeface="Aptos Display"/>
                <a:ea typeface="Aptos Display"/>
                <a:cs typeface="Aptos Display"/>
              </a:rPr>
              <a:t>自動建立網路</a:t>
            </a:r>
          </a:p>
        </p:txBody>
      </p:sp>
      <p:sp>
        <p:nvSpPr>
          <p:cNvPr id="7" name="矩形 6">
            <a:extLst>
              <a:ext uri="{FF2B5EF4-FFF2-40B4-BE49-F238E27FC236}">
                <ns2:creationId id="{4CBDFA72-1172-4005-9A01-1941E25A6F0A}"/>
              </a:ext>
            </a:extLst>
          </p:cNvPr>
          <p:cNvSpPr>
            <a:spLocks noGrp="1"/>
          </p:cNvSpPr>
          <p:nvPr/>
        </p:nvSpPr>
        <p:spPr>
          <a:xfrm>
            <a:off x="1219200" y="2286000"/>
            <a:ext cx="39243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6000"/>
              </a:lnSpc>
              <a:buNone/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同一份 compose 裡的服務可以用服務名稱互相連線，例如 app 連 db。</a:t>
            </a:r>
          </a:p>
        </p:txBody>
      </p:sp>
      <p:sp>
        <p:nvSpPr>
          <p:cNvPr id="8" name="矩形: 圓角 7">
            <a:extLst>
              <a:ext uri="{FF2B5EF4-FFF2-40B4-BE49-F238E27FC236}">
                <ns2:creationId id="{AE938B29-FF9E-4D81-B9E4-BB0123DEF706}"/>
              </a:ext>
            </a:extLst>
          </p:cNvPr>
          <p:cNvSpPr>
            <a:spLocks noGrp="1"/>
          </p:cNvSpPr>
          <p:nvPr/>
        </p:nvSpPr>
        <p:spPr>
          <a:xfrm>
            <a:off x="990600" y="3486150"/>
            <a:ext cx="4381500" cy="14287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9" name="矩形 8">
            <a:extLst>
              <a:ext uri="{FF2B5EF4-FFF2-40B4-BE49-F238E27FC236}">
                <ns2:creationId id="{11A32E6C-25B0-47B4-A7ED-2C3B63B8126E}"/>
              </a:ext>
            </a:extLst>
          </p:cNvPr>
          <p:cNvSpPr>
            <a:spLocks noGrp="1"/>
          </p:cNvSpPr>
          <p:nvPr/>
        </p:nvSpPr>
        <p:spPr>
          <a:xfrm>
            <a:off x="1219200" y="3676650"/>
            <a:ext cx="3924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8998"/>
          </a:bodyPr>
          <a:lstStyle/>
          <a:p>
            <a:pPr algn="l">
              <a:lnSpc>
                <a:spcPct val="106000"/>
              </a:lnSpc>
              <a:buNone/>
              <a:defRPr sz="2025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project name</a:t>
            </a:r>
          </a:p>
        </p:txBody>
      </p:sp>
      <p:sp>
        <p:nvSpPr>
          <p:cNvPr id="10" name="矩形 9">
            <a:extLst>
              <a:ext uri="{FF2B5EF4-FFF2-40B4-BE49-F238E27FC236}">
                <ns2:creationId id="{051A7E63-C4E6-4693-B544-8A08876225F4}"/>
              </a:ext>
            </a:extLst>
          </p:cNvPr>
          <p:cNvSpPr>
            <a:spLocks noGrp="1"/>
          </p:cNvSpPr>
          <p:nvPr/>
        </p:nvSpPr>
        <p:spPr>
          <a:xfrm>
            <a:off x="1219200" y="4095750"/>
            <a:ext cx="39243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86478"/>
          </a:bodyPr>
          <a:lstStyle/>
          <a:p>
            <a:pPr algn="l">
              <a:lnSpc>
                <a:spcPct val="106000"/>
              </a:lnSpc>
              <a:buNone/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資料夾名稱會變成預設 project name，用來管理同一組 container、network、volume。</a:t>
            </a:r>
          </a:p>
        </p:txBody>
      </p:sp>
      <p:sp>
        <p:nvSpPr>
          <p:cNvPr id="11" name="矩形 10">
            <a:extLst>
              <a:ext uri="{FF2B5EF4-FFF2-40B4-BE49-F238E27FC236}">
                <ns2:creationId id="{40411338-2654-41CC-9FF8-69F14E261BFA}"/>
              </a:ext>
            </a:extLst>
          </p:cNvPr>
          <p:cNvSpPr>
            <a:spLocks noGrp="1"/>
          </p:cNvSpPr>
          <p:nvPr/>
        </p:nvSpPr>
        <p:spPr>
          <a:xfrm>
            <a:off x="1905000" y="5429250"/>
            <a:ext cx="8382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5707"/>
          </a:bodyPr>
          <a:lstStyle/>
          <a:p>
            <a:pPr algn="ctr">
              <a:lnSpc>
                <a:spcPct val="106000"/>
              </a:lnSpc>
              <a:buNone/>
              <a:defRPr sz="1725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先記住：service name 給容器互連；project name 管整組 Compose 環境。</a:t>
            </a:r>
          </a:p>
        </p:txBody>
      </p:sp>
      <p:sp>
        <p:nvSpPr>
          <p:cNvPr id="12" name="矩形 11">
            <a:extLst>
              <a:ext uri="{FF2B5EF4-FFF2-40B4-BE49-F238E27FC236}">
                <ns2:creationId id="{03D8D9F4-E682-472D-A758-E77A180C5F5A}"/>
              </a:ext>
            </a:extLst>
          </p:cNvPr>
          <p:cNvSpPr>
            <a:spLocks noGrp="1"/>
          </p:cNvSpPr>
          <p:nvPr/>
        </p:nvSpPr>
        <p:spPr>
          <a:xfrm>
            <a:off x="609600" y="6305550"/>
            <a:ext cx="9906000" cy="13335"/>
          </a:xfrm>
          <a:prstGeom prst="rect">
            <a:avLst/>
          </a:prstGeom>
          <a:solidFill>
            <a:srgbClr val="D9E2EC"/>
          </a:solidFill>
          <a:ln w="0">
            <a:noFill/>
            <a:prstDash val="solid"/>
          </a:ln>
        </p:spPr>
      </p:sp>
      <p:sp>
        <p:nvSpPr>
          <p:cNvPr id="13" name="矩形 12">
            <a:extLst>
              <a:ext uri="{FF2B5EF4-FFF2-40B4-BE49-F238E27FC236}">
                <ns2:creationId id="{AB543241-4B2C-4679-A8AE-7FE52D0CA299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2762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Docker 基礎教學 | 第 3 堂</a:t>
            </a:r>
          </a:p>
        </p:txBody>
      </p:sp>
      <p:sp>
        <p:nvSpPr>
          <p:cNvPr id="14" name="矩形 13">
            <a:extLst>
              <a:ext uri="{FF2B5EF4-FFF2-40B4-BE49-F238E27FC236}">
                <ns2:creationId id="{9BA390C1-9377-4ED5-9581-FB17733E7C02}"/>
              </a:ext>
            </a:extLst>
          </p:cNvPr>
          <p:cNvSpPr>
            <a:spLocks noGrp="1"/>
          </p:cNvSpPr>
          <p:nvPr/>
        </p:nvSpPr>
        <p:spPr>
          <a:xfrm>
            <a:off x="11010900" y="6381750"/>
            <a:ext cx="571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106000"/>
              </a:lnSpc>
              <a:buNone/>
              <a:defRPr sz="9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</p:spTree>
    <p:extLst>
      <p:ext uri="{BB962C8B-B14F-4D97-AF65-F5344CB8AC3E}">
        <ns4:creationId val="39547184"/>
      </p:ext>
    </p:extLst>
  </p:cSld>
  <p:clrMapOvr>
    <a:masterClrMapping/>
  </p:clrMapOvr>
</p:sld>
</file>

<file path=ppt/slides/slide23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 25">
            <a:extLst>
              <a:ext uri="{FF2B5EF4-FFF2-40B4-BE49-F238E27FC236}">
                <ns2:creationId id="{4EA10F21-2DF7-4C2C-99AA-C8E411D4A8E3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619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900" b="1">
                <a:solidFill>
                  <a:srgbClr val="A5B4F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5B4FC"/>
                </a:solidFill>
                <a:latin typeface="Aptos"/>
                <a:ea typeface="Aptos"/>
                <a:cs typeface="Aptos"/>
              </a:rPr>
              <a:t>COMPOSE COMMANDS</a:t>
            </a:r>
          </a:p>
        </p:txBody>
      </p:sp>
      <p:sp>
        <p:nvSpPr>
          <p:cNvPr id="2" name="矩形 1">
            <a:extLst>
              <a:ext uri="{FF2B5EF4-FFF2-40B4-BE49-F238E27FC236}">
                <ns2:creationId id="{89B1630E-8AD7-4CEB-9AD7-79545F99651A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9906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Compose 日常指令</a:t>
            </a:r>
          </a:p>
        </p:txBody>
      </p:sp>
      <p:sp>
        <p:nvSpPr>
          <p:cNvPr id="3" name="矩形: 圓角 2">
            <a:extLst>
              <a:ext uri="{FF2B5EF4-FFF2-40B4-BE49-F238E27FC236}">
                <ns2:creationId id="{4C5D75E3-7F27-408C-A56F-B17876D27C29}"/>
              </a:ext>
            </a:extLst>
          </p:cNvPr>
          <p:cNvSpPr>
            <a:spLocks noGrp="1"/>
          </p:cNvSpPr>
          <p:nvPr/>
        </p:nvSpPr>
        <p:spPr>
          <a:xfrm>
            <a:off x="876300" y="1428750"/>
            <a:ext cx="5143500" cy="3829050"/>
          </a:xfrm>
          <a:prstGeom prst="roundRect">
            <a:avLst>
              <a:gd name="adj" fmla="val 2488"/>
            </a:avLst>
          </a:prstGeom>
          <a:solidFill>
            <a:srgbClr val="0B1220"/>
          </a:solidFill>
          <a:ln w="9525">
            <a:solidFill>
              <a:srgbClr val="1E293B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sp>
        <p:nvSpPr>
          <p:cNvPr id="4" name="橢圓 3">
            <a:extLst>
              <a:ext uri="{FF2B5EF4-FFF2-40B4-BE49-F238E27FC236}">
                <ns2:creationId id="{FEE69C07-D11F-41CB-A8C7-1B3A56BE03FD}"/>
              </a:ext>
            </a:extLst>
          </p:cNvPr>
          <p:cNvSpPr>
            <a:spLocks noGrp="1"/>
          </p:cNvSpPr>
          <p:nvPr/>
        </p:nvSpPr>
        <p:spPr>
          <a:xfrm>
            <a:off x="1047750" y="1590675"/>
            <a:ext cx="95250" cy="95250"/>
          </a:xfrm>
          <a:prstGeom prst="ellipse">
            <a:avLst/>
          </a:prstGeom>
          <a:solidFill>
            <a:srgbClr val="FB7185"/>
          </a:solidFill>
          <a:ln w="0">
            <a:noFill/>
            <a:prstDash val="solid"/>
          </a:ln>
        </p:spPr>
      </p:sp>
      <p:sp>
        <p:nvSpPr>
          <p:cNvPr id="5" name="橢圓 4">
            <a:extLst>
              <a:ext uri="{FF2B5EF4-FFF2-40B4-BE49-F238E27FC236}">
                <ns2:creationId id="{7E542999-9D18-4F49-9730-578564D6740B}"/>
              </a:ext>
            </a:extLst>
          </p:cNvPr>
          <p:cNvSpPr>
            <a:spLocks noGrp="1"/>
          </p:cNvSpPr>
          <p:nvPr/>
        </p:nvSpPr>
        <p:spPr>
          <a:xfrm>
            <a:off x="1219200" y="1590675"/>
            <a:ext cx="95250" cy="95250"/>
          </a:xfrm>
          <a:prstGeom prst="ellipse">
            <a:avLst/>
          </a:prstGeom>
          <a:solidFill>
            <a:srgbClr val="FBBF24"/>
          </a:solidFill>
          <a:ln w="0">
            <a:noFill/>
            <a:prstDash val="solid"/>
          </a:ln>
        </p:spPr>
      </p:sp>
      <p:sp>
        <p:nvSpPr>
          <p:cNvPr id="6" name="橢圓 5">
            <a:extLst>
              <a:ext uri="{FF2B5EF4-FFF2-40B4-BE49-F238E27FC236}">
                <ns2:creationId id="{28A553D8-9900-470E-80A4-9BED3F9F1E6D}"/>
              </a:ext>
            </a:extLst>
          </p:cNvPr>
          <p:cNvSpPr>
            <a:spLocks noGrp="1"/>
          </p:cNvSpPr>
          <p:nvPr/>
        </p:nvSpPr>
        <p:spPr>
          <a:xfrm>
            <a:off x="1390650" y="1590675"/>
            <a:ext cx="95250" cy="95250"/>
          </a:xfrm>
          <a:prstGeom prst="ellipse">
            <a:avLst/>
          </a:prstGeom>
          <a:solidFill>
            <a:srgbClr val="34D399"/>
          </a:solidFill>
          <a:ln w="0">
            <a:noFill/>
            <a:prstDash val="solid"/>
          </a:ln>
        </p:spPr>
      </p:sp>
      <p:sp>
        <p:nvSpPr>
          <p:cNvPr id="7" name="矩形 6">
            <a:extLst>
              <a:ext uri="{FF2B5EF4-FFF2-40B4-BE49-F238E27FC236}">
                <ns2:creationId id="{AA9F3665-9D2F-475E-8B29-9CA9276980AE}"/>
              </a:ext>
            </a:extLst>
          </p:cNvPr>
          <p:cNvSpPr>
            <a:spLocks noGrp="1"/>
          </p:cNvSpPr>
          <p:nvPr/>
        </p:nvSpPr>
        <p:spPr>
          <a:xfrm>
            <a:off x="1085850" y="1847850"/>
            <a:ext cx="4724400" cy="3276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84175"/>
          </a:bodyPr>
          <a:lstStyle/>
          <a:p>
            <a:pPr algn="l">
              <a:lnSpc>
                <a:spcPct val="104000"/>
              </a:lnSpc>
              <a:buNone/>
              <a:defRPr sz="1575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cd ~/docker-lab/mysql-compose</a:t>
            </a:r>
          </a:p>
          <a:p>
            <a:endParaRPr sz="1575" b="0">
              <a:solidFill>
                <a:srgbClr val="E5E7EB"/>
              </a:solidFill>
              <a:latin typeface="Consolas"/>
              <a:ea typeface="Consolas"/>
              <a:cs typeface="Consolas"/>
            </a:endParaRPr>
          </a:p>
          <a:p>
            <a:pPr algn="l">
              <a:lnSpc>
                <a:spcPct val="104000"/>
              </a:lnSpc>
              <a:buNone/>
              <a:defRPr sz="1575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docker compose config</a:t>
            </a:r>
          </a:p>
          <a:p>
            <a:endParaRPr sz="1575" b="0">
              <a:solidFill>
                <a:srgbClr val="E5E7EB"/>
              </a:solidFill>
              <a:latin typeface="Consolas"/>
              <a:ea typeface="Consolas"/>
              <a:cs typeface="Consolas"/>
            </a:endParaRPr>
          </a:p>
          <a:p>
            <a:pPr algn="l">
              <a:lnSpc>
                <a:spcPct val="104000"/>
              </a:lnSpc>
              <a:buNone/>
              <a:defRPr sz="1575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docker compose up -d</a:t>
            </a:r>
          </a:p>
          <a:p>
            <a:endParaRPr sz="1575" b="0">
              <a:solidFill>
                <a:srgbClr val="E5E7EB"/>
              </a:solidFill>
              <a:latin typeface="Consolas"/>
              <a:ea typeface="Consolas"/>
              <a:cs typeface="Consolas"/>
            </a:endParaRPr>
          </a:p>
          <a:p>
            <a:pPr algn="l">
              <a:lnSpc>
                <a:spcPct val="104000"/>
              </a:lnSpc>
              <a:buNone/>
              <a:defRPr sz="1575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docker compose ps</a:t>
            </a:r>
          </a:p>
          <a:p>
            <a:endParaRPr sz="1575" b="0">
              <a:solidFill>
                <a:srgbClr val="E5E7EB"/>
              </a:solidFill>
              <a:latin typeface="Consolas"/>
              <a:ea typeface="Consolas"/>
              <a:cs typeface="Consolas"/>
            </a:endParaRPr>
          </a:p>
          <a:p>
            <a:pPr algn="l">
              <a:lnSpc>
                <a:spcPct val="104000"/>
              </a:lnSpc>
              <a:buNone/>
              <a:defRPr sz="1575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docker compose logs</a:t>
            </a:r>
          </a:p>
          <a:p>
            <a:endParaRPr sz="1575" b="0">
              <a:solidFill>
                <a:srgbClr val="E5E7EB"/>
              </a:solidFill>
              <a:latin typeface="Consolas"/>
              <a:ea typeface="Consolas"/>
              <a:cs typeface="Consolas"/>
            </a:endParaRPr>
          </a:p>
          <a:p>
            <a:pPr algn="l">
              <a:lnSpc>
                <a:spcPct val="104000"/>
              </a:lnSpc>
              <a:buNone/>
              <a:defRPr sz="1575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docker compose logs -f</a:t>
            </a:r>
          </a:p>
          <a:p>
            <a:endParaRPr sz="1575" b="0">
              <a:solidFill>
                <a:srgbClr val="E5E7EB"/>
              </a:solidFill>
              <a:latin typeface="Consolas"/>
              <a:ea typeface="Consolas"/>
              <a:cs typeface="Consolas"/>
            </a:endParaRPr>
          </a:p>
          <a:p>
            <a:pPr algn="l">
              <a:lnSpc>
                <a:spcPct val="104000"/>
              </a:lnSpc>
              <a:buNone/>
              <a:defRPr sz="1575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docker compose down</a:t>
            </a:r>
          </a:p>
          <a:p>
            <a:pPr algn="l">
              <a:lnSpc>
                <a:spcPct val="104000"/>
              </a:lnSpc>
              <a:buNone/>
              <a:defRPr sz="1575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endParaRPr sz="1575" b="0">
              <a:solidFill>
                <a:srgbClr val="E5E7EB"/>
              </a:solidFill>
              <a:latin typeface="Consolas"/>
              <a:ea typeface="Consolas"/>
              <a:cs typeface="Consolas"/>
            </a:endParaRPr>
          </a:p>
          <a:p>
            <a:pPr algn="l">
              <a:lnSpc>
                <a:spcPct val="104000"/>
              </a:lnSpc>
              <a:buNone/>
              <a:defRPr sz="1575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docker compose down -v</a:t>
            </a:r>
          </a:p>
        </p:txBody>
      </p:sp>
      <p:sp>
        <p:nvSpPr>
          <p:cNvPr id="8" name="矩形: 圓角 7">
            <a:extLst>
              <a:ext uri="{FF2B5EF4-FFF2-40B4-BE49-F238E27FC236}">
                <ns2:creationId id="{DC894CA9-16C8-421B-886B-76042BBE3F82}"/>
              </a:ext>
            </a:extLst>
          </p:cNvPr>
          <p:cNvSpPr>
            <a:spLocks noGrp="1"/>
          </p:cNvSpPr>
          <p:nvPr/>
        </p:nvSpPr>
        <p:spPr>
          <a:xfrm>
            <a:off x="6991350" y="1428750"/>
            <a:ext cx="4000500" cy="552450"/>
          </a:xfrm>
          <a:prstGeom prst="roundRect">
            <a:avLst>
              <a:gd name="adj" fmla="val 17241"/>
            </a:avLst>
          </a:prstGeom>
          <a:solidFill>
            <a:srgbClr val="111827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ns2:creationId id="{782ED0D7-60CD-4B58-9048-4AF1D3C5A819}"/>
              </a:ext>
            </a:extLst>
          </p:cNvPr>
          <p:cNvSpPr>
            <a:spLocks noGrp="1"/>
          </p:cNvSpPr>
          <p:nvPr/>
        </p:nvSpPr>
        <p:spPr>
          <a:xfrm>
            <a:off x="7219950" y="1590675"/>
            <a:ext cx="1066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4340"/>
          </a:bodyPr>
          <a:lstStyle/>
          <a:p>
            <a:pPr algn="l">
              <a:lnSpc>
                <a:spcPct val="106000"/>
              </a:lnSpc>
              <a:buNone/>
              <a:defRPr sz="1500" b="1">
                <a:solidFill>
                  <a:srgbClr val="A5B4FC"/>
                </a:solidFill>
                <a:latin typeface="Consolas"/>
                <a:ea typeface="Consolas"/>
                <a:cs typeface="Consolas"/>
              </a:defRPr>
            </a:pPr>
            <a:r>
              <a:rPr sz="1500" b="1">
                <a:solidFill>
                  <a:srgbClr val="A5B4FC"/>
                </a:solidFill>
                <a:latin typeface="Consolas"/>
                <a:ea typeface="Consolas"/>
                <a:cs typeface="Consolas"/>
              </a:rPr>
              <a:t>up -d</a:t>
            </a:r>
          </a:p>
        </p:txBody>
      </p:sp>
      <p:sp>
        <p:nvSpPr>
          <p:cNvPr id="10" name="矩形 9">
            <a:extLst>
              <a:ext uri="{FF2B5EF4-FFF2-40B4-BE49-F238E27FC236}">
                <ns2:creationId id="{544F3587-6A76-4FC7-8D5B-E1AB11968195}"/>
              </a:ext>
            </a:extLst>
          </p:cNvPr>
          <p:cNvSpPr>
            <a:spLocks noGrp="1"/>
          </p:cNvSpPr>
          <p:nvPr/>
        </p:nvSpPr>
        <p:spPr>
          <a:xfrm>
            <a:off x="8458200" y="1600200"/>
            <a:ext cx="22098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106000"/>
              </a:lnSpc>
              <a:buNone/>
              <a:defRPr sz="1200" b="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E2E8F0"/>
                </a:solidFill>
                <a:latin typeface="Aptos"/>
                <a:ea typeface="Aptos"/>
                <a:cs typeface="Aptos"/>
              </a:rPr>
              <a:t>背景啟動所有服務</a:t>
            </a:r>
          </a:p>
        </p:txBody>
      </p:sp>
      <p:sp>
        <p:nvSpPr>
          <p:cNvPr id="11" name="矩形: 圓角 10">
            <a:extLst>
              <a:ext uri="{FF2B5EF4-FFF2-40B4-BE49-F238E27FC236}">
                <ns2:creationId id="{EB00EA28-4D25-45EF-89D9-BA682D695598}"/>
              </a:ext>
            </a:extLst>
          </p:cNvPr>
          <p:cNvSpPr>
            <a:spLocks noGrp="1"/>
          </p:cNvSpPr>
          <p:nvPr/>
        </p:nvSpPr>
        <p:spPr>
          <a:xfrm>
            <a:off x="6991350" y="2171700"/>
            <a:ext cx="4000500" cy="552450"/>
          </a:xfrm>
          <a:prstGeom prst="roundRect">
            <a:avLst>
              <a:gd name="adj" fmla="val 17241"/>
            </a:avLst>
          </a:prstGeom>
          <a:solidFill>
            <a:srgbClr val="111827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ns2:creationId id="{F1D975E7-91E0-4B33-AB0E-D3E39CC4551F}"/>
              </a:ext>
            </a:extLst>
          </p:cNvPr>
          <p:cNvSpPr>
            <a:spLocks noGrp="1"/>
          </p:cNvSpPr>
          <p:nvPr/>
        </p:nvSpPr>
        <p:spPr>
          <a:xfrm>
            <a:off x="7219950" y="2333625"/>
            <a:ext cx="1066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4340"/>
          </a:bodyPr>
          <a:lstStyle/>
          <a:p>
            <a:pPr algn="l">
              <a:lnSpc>
                <a:spcPct val="106000"/>
              </a:lnSpc>
              <a:buNone/>
              <a:defRPr sz="1500" b="1">
                <a:solidFill>
                  <a:srgbClr val="A5B4FC"/>
                </a:solidFill>
                <a:latin typeface="Consolas"/>
                <a:ea typeface="Consolas"/>
                <a:cs typeface="Consolas"/>
              </a:defRPr>
            </a:pPr>
            <a:r>
              <a:rPr sz="1500" b="1">
                <a:solidFill>
                  <a:srgbClr val="A5B4FC"/>
                </a:solidFill>
                <a:latin typeface="Consolas"/>
                <a:ea typeface="Consolas"/>
                <a:cs typeface="Consolas"/>
              </a:rPr>
              <a:t>ps</a:t>
            </a:r>
          </a:p>
        </p:txBody>
      </p:sp>
      <p:sp>
        <p:nvSpPr>
          <p:cNvPr id="13" name="矩形 12">
            <a:extLst>
              <a:ext uri="{FF2B5EF4-FFF2-40B4-BE49-F238E27FC236}">
                <ns2:creationId id="{6E366F8F-2EBF-4469-AF62-54220F2F1D5A}"/>
              </a:ext>
            </a:extLst>
          </p:cNvPr>
          <p:cNvSpPr>
            <a:spLocks noGrp="1"/>
          </p:cNvSpPr>
          <p:nvPr/>
        </p:nvSpPr>
        <p:spPr>
          <a:xfrm>
            <a:off x="8458200" y="2343150"/>
            <a:ext cx="22098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106000"/>
              </a:lnSpc>
              <a:buNone/>
              <a:defRPr sz="1200" b="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E2E8F0"/>
                </a:solidFill>
                <a:latin typeface="Aptos"/>
                <a:ea typeface="Aptos"/>
                <a:cs typeface="Aptos"/>
              </a:rPr>
              <a:t>查看服務狀態</a:t>
            </a:r>
          </a:p>
        </p:txBody>
      </p:sp>
      <p:sp>
        <p:nvSpPr>
          <p:cNvPr id="14" name="矩形: 圓角 13">
            <a:extLst>
              <a:ext uri="{FF2B5EF4-FFF2-40B4-BE49-F238E27FC236}">
                <ns2:creationId id="{6EAF919B-DDD8-41F0-8C67-5CF550451F97}"/>
              </a:ext>
            </a:extLst>
          </p:cNvPr>
          <p:cNvSpPr>
            <a:spLocks noGrp="1"/>
          </p:cNvSpPr>
          <p:nvPr/>
        </p:nvSpPr>
        <p:spPr>
          <a:xfrm>
            <a:off x="6991350" y="2914650"/>
            <a:ext cx="4000500" cy="552450"/>
          </a:xfrm>
          <a:prstGeom prst="roundRect">
            <a:avLst>
              <a:gd name="adj" fmla="val 17241"/>
            </a:avLst>
          </a:prstGeom>
          <a:solidFill>
            <a:srgbClr val="111827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ns2:creationId id="{11F562FE-482C-49D0-8BD1-D4534579FDDF}"/>
              </a:ext>
            </a:extLst>
          </p:cNvPr>
          <p:cNvSpPr>
            <a:spLocks noGrp="1"/>
          </p:cNvSpPr>
          <p:nvPr/>
        </p:nvSpPr>
        <p:spPr>
          <a:xfrm>
            <a:off x="7219950" y="3076575"/>
            <a:ext cx="1066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4340"/>
          </a:bodyPr>
          <a:lstStyle/>
          <a:p>
            <a:pPr algn="l">
              <a:lnSpc>
                <a:spcPct val="106000"/>
              </a:lnSpc>
              <a:buNone/>
              <a:defRPr sz="1500" b="1">
                <a:solidFill>
                  <a:srgbClr val="A5B4FC"/>
                </a:solidFill>
                <a:latin typeface="Consolas"/>
                <a:ea typeface="Consolas"/>
                <a:cs typeface="Consolas"/>
              </a:defRPr>
            </a:pPr>
            <a:r>
              <a:rPr sz="1500" b="1">
                <a:solidFill>
                  <a:srgbClr val="A5B4FC"/>
                </a:solidFill>
                <a:latin typeface="Consolas"/>
                <a:ea typeface="Consolas"/>
                <a:cs typeface="Consolas"/>
              </a:rPr>
              <a:t>logs -f</a:t>
            </a:r>
          </a:p>
        </p:txBody>
      </p:sp>
      <p:sp>
        <p:nvSpPr>
          <p:cNvPr id="16" name="矩形 15">
            <a:extLst>
              <a:ext uri="{FF2B5EF4-FFF2-40B4-BE49-F238E27FC236}">
                <ns2:creationId id="{B0B69731-D922-4375-8079-693FF55BC868}"/>
              </a:ext>
            </a:extLst>
          </p:cNvPr>
          <p:cNvSpPr>
            <a:spLocks noGrp="1"/>
          </p:cNvSpPr>
          <p:nvPr/>
        </p:nvSpPr>
        <p:spPr>
          <a:xfrm>
            <a:off x="8458200" y="3086100"/>
            <a:ext cx="22098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106000"/>
              </a:lnSpc>
              <a:buNone/>
              <a:defRPr sz="1200" b="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E2E8F0"/>
                </a:solidFill>
                <a:latin typeface="Aptos"/>
                <a:ea typeface="Aptos"/>
                <a:cs typeface="Aptos"/>
              </a:rPr>
              <a:t>即時追蹤 log</a:t>
            </a:r>
          </a:p>
        </p:txBody>
      </p:sp>
      <p:sp>
        <p:nvSpPr>
          <p:cNvPr id="17" name="矩形: 圓角 16">
            <a:extLst>
              <a:ext uri="{FF2B5EF4-FFF2-40B4-BE49-F238E27FC236}">
                <ns2:creationId id="{04C47C1B-A54D-4819-A6CE-D7FDCF77FACB}"/>
              </a:ext>
            </a:extLst>
          </p:cNvPr>
          <p:cNvSpPr>
            <a:spLocks noGrp="1"/>
          </p:cNvSpPr>
          <p:nvPr/>
        </p:nvSpPr>
        <p:spPr>
          <a:xfrm>
            <a:off x="6991350" y="3657600"/>
            <a:ext cx="4000500" cy="552450"/>
          </a:xfrm>
          <a:prstGeom prst="roundRect">
            <a:avLst>
              <a:gd name="adj" fmla="val 17241"/>
            </a:avLst>
          </a:prstGeom>
          <a:solidFill>
            <a:srgbClr val="111827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ns2:creationId id="{37038A22-D999-4DF3-870C-4DD1A0CD95FA}"/>
              </a:ext>
            </a:extLst>
          </p:cNvPr>
          <p:cNvSpPr>
            <a:spLocks noGrp="1"/>
          </p:cNvSpPr>
          <p:nvPr/>
        </p:nvSpPr>
        <p:spPr>
          <a:xfrm>
            <a:off x="7219950" y="3819525"/>
            <a:ext cx="1066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4340"/>
          </a:bodyPr>
          <a:lstStyle/>
          <a:p>
            <a:pPr algn="l">
              <a:lnSpc>
                <a:spcPct val="106000"/>
              </a:lnSpc>
              <a:buNone/>
              <a:defRPr sz="1500" b="1">
                <a:solidFill>
                  <a:srgbClr val="A5B4FC"/>
                </a:solidFill>
                <a:latin typeface="Consolas"/>
                <a:ea typeface="Consolas"/>
                <a:cs typeface="Consolas"/>
              </a:defRPr>
            </a:pPr>
            <a:r>
              <a:rPr sz="1500" b="1">
                <a:solidFill>
                  <a:srgbClr val="A5B4FC"/>
                </a:solidFill>
                <a:latin typeface="Consolas"/>
                <a:ea typeface="Consolas"/>
                <a:cs typeface="Consolas"/>
              </a:rPr>
              <a:t>down</a:t>
            </a:r>
          </a:p>
        </p:txBody>
      </p:sp>
      <p:sp>
        <p:nvSpPr>
          <p:cNvPr id="19" name="矩形 18">
            <a:extLst>
              <a:ext uri="{FF2B5EF4-FFF2-40B4-BE49-F238E27FC236}">
                <ns2:creationId id="{82CBA7B0-A1C3-4DB5-A89F-0D4DB12598AD}"/>
              </a:ext>
            </a:extLst>
          </p:cNvPr>
          <p:cNvSpPr>
            <a:spLocks noGrp="1"/>
          </p:cNvSpPr>
          <p:nvPr/>
        </p:nvSpPr>
        <p:spPr>
          <a:xfrm>
            <a:off x="8458200" y="3829050"/>
            <a:ext cx="22098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106000"/>
              </a:lnSpc>
              <a:buNone/>
              <a:defRPr sz="1200" b="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E2E8F0"/>
                </a:solidFill>
                <a:latin typeface="Aptos"/>
                <a:ea typeface="Aptos"/>
                <a:cs typeface="Aptos"/>
              </a:rPr>
              <a:t>停止並刪除容器</a:t>
            </a:r>
          </a:p>
        </p:txBody>
      </p:sp>
      <p:sp>
        <p:nvSpPr>
          <p:cNvPr id="20" name="矩形: 圓角 19">
            <a:extLst>
              <a:ext uri="{FF2B5EF4-FFF2-40B4-BE49-F238E27FC236}">
                <ns2:creationId id="{6BF69F2D-400C-40E7-A125-AA0C50168D09}"/>
              </a:ext>
            </a:extLst>
          </p:cNvPr>
          <p:cNvSpPr>
            <a:spLocks noGrp="1"/>
          </p:cNvSpPr>
          <p:nvPr/>
        </p:nvSpPr>
        <p:spPr>
          <a:xfrm>
            <a:off x="6991350" y="4400550"/>
            <a:ext cx="4000500" cy="552450"/>
          </a:xfrm>
          <a:prstGeom prst="roundRect">
            <a:avLst>
              <a:gd name="adj" fmla="val 17241"/>
            </a:avLst>
          </a:prstGeom>
          <a:solidFill>
            <a:srgbClr val="111827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21" name="矩形 20">
            <a:extLst>
              <a:ext uri="{FF2B5EF4-FFF2-40B4-BE49-F238E27FC236}">
                <ns2:creationId id="{43BEA021-5069-4937-91EF-1F78F821F7F5}"/>
              </a:ext>
            </a:extLst>
          </p:cNvPr>
          <p:cNvSpPr>
            <a:spLocks noGrp="1"/>
          </p:cNvSpPr>
          <p:nvPr/>
        </p:nvSpPr>
        <p:spPr>
          <a:xfrm>
            <a:off x="7219950" y="4562475"/>
            <a:ext cx="1066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4340"/>
          </a:bodyPr>
          <a:lstStyle/>
          <a:p>
            <a:pPr algn="l">
              <a:lnSpc>
                <a:spcPct val="106000"/>
              </a:lnSpc>
              <a:buNone/>
              <a:defRPr sz="1500" b="1">
                <a:solidFill>
                  <a:srgbClr val="A5B4FC"/>
                </a:solidFill>
                <a:latin typeface="Consolas"/>
                <a:ea typeface="Consolas"/>
                <a:cs typeface="Consolas"/>
              </a:defRPr>
            </a:pPr>
            <a:r>
              <a:rPr sz="1500" b="1">
                <a:solidFill>
                  <a:srgbClr val="A5B4FC"/>
                </a:solidFill>
                <a:latin typeface="Consolas"/>
                <a:ea typeface="Consolas"/>
                <a:cs typeface="Consolas"/>
              </a:rPr>
              <a:t>down -v</a:t>
            </a:r>
          </a:p>
        </p:txBody>
      </p:sp>
      <p:sp>
        <p:nvSpPr>
          <p:cNvPr id="22" name="矩形 21">
            <a:extLst>
              <a:ext uri="{FF2B5EF4-FFF2-40B4-BE49-F238E27FC236}">
                <ns2:creationId id="{A4D6EE55-50D0-48B4-A4EB-15C929DBDB80}"/>
              </a:ext>
            </a:extLst>
          </p:cNvPr>
          <p:cNvSpPr>
            <a:spLocks noGrp="1"/>
          </p:cNvSpPr>
          <p:nvPr/>
        </p:nvSpPr>
        <p:spPr>
          <a:xfrm>
            <a:off x="8458200" y="4572000"/>
            <a:ext cx="22098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106000"/>
              </a:lnSpc>
              <a:buNone/>
              <a:defRPr sz="1200" b="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E2E8F0"/>
                </a:solidFill>
                <a:latin typeface="Aptos"/>
                <a:ea typeface="Aptos"/>
                <a:cs typeface="Aptos"/>
              </a:rPr>
              <a:t>連 Volume 一起刪除</a:t>
            </a:r>
          </a:p>
        </p:txBody>
      </p:sp>
      <p:sp>
        <p:nvSpPr>
          <p:cNvPr id="23" name="矩形 22">
            <a:extLst>
              <a:ext uri="{FF2B5EF4-FFF2-40B4-BE49-F238E27FC236}">
                <ns2:creationId id="{00BF0452-A79C-4757-B451-8F7B08093E04}"/>
              </a:ext>
            </a:extLst>
          </p:cNvPr>
          <p:cNvSpPr>
            <a:spLocks noGrp="1"/>
          </p:cNvSpPr>
          <p:nvPr/>
        </p:nvSpPr>
        <p:spPr>
          <a:xfrm>
            <a:off x="609600" y="6305550"/>
            <a:ext cx="9906000" cy="13335"/>
          </a:xfrm>
          <a:prstGeom prst="rect">
            <a:avLst/>
          </a:prstGeom>
          <a:solidFill>
            <a:srgbClr val="334155"/>
          </a:solidFill>
          <a:ln w="0">
            <a:noFill/>
            <a:prstDash val="solid"/>
          </a:ln>
        </p:spPr>
      </p:sp>
      <p:sp>
        <p:nvSpPr>
          <p:cNvPr id="24" name="矩形 23">
            <a:extLst>
              <a:ext uri="{FF2B5EF4-FFF2-40B4-BE49-F238E27FC236}">
                <ns2:creationId id="{45DF2EB9-139B-4C86-9B52-9FC854A780BA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2762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82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Docker 基礎教學 | 第 3 堂</a:t>
            </a:r>
          </a:p>
        </p:txBody>
      </p:sp>
      <p:sp>
        <p:nvSpPr>
          <p:cNvPr id="25" name="矩形 24">
            <a:extLst>
              <a:ext uri="{FF2B5EF4-FFF2-40B4-BE49-F238E27FC236}">
                <ns2:creationId id="{EE9F3A51-4BAF-40F6-A319-E1287BEDB87F}"/>
              </a:ext>
            </a:extLst>
          </p:cNvPr>
          <p:cNvSpPr>
            <a:spLocks noGrp="1"/>
          </p:cNvSpPr>
          <p:nvPr/>
        </p:nvSpPr>
        <p:spPr>
          <a:xfrm>
            <a:off x="11010900" y="6381750"/>
            <a:ext cx="571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106000"/>
              </a:lnSpc>
              <a:buNone/>
              <a:defRPr sz="900" b="1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BD5E1"/>
                </a:solidFill>
                <a:latin typeface="Aptos"/>
                <a:ea typeface="Aptos"/>
                <a:cs typeface="Aptos"/>
              </a:rPr>
              <a:t>18</a:t>
            </a:r>
          </a:p>
        </p:txBody>
      </p:sp>
    </p:spTree>
    <p:extLst>
      <p:ext uri="{BB962C8B-B14F-4D97-AF65-F5344CB8AC3E}">
        <ns3:creationId val="1186245266"/>
      </p:ext>
    </p:extLst>
  </p:cSld>
  <p:clrMapOvr>
    <a:masterClrMapping/>
  </p:clrMapOvr>
</p:sld>
</file>

<file path=ppt/slides/slide24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ns2:creationId id="{C5AF08A8-1CA5-415F-A56A-91254978F321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619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900" b="1">
                <a:solidFill>
                  <a:srgbClr val="0B5CA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5CAD"/>
                </a:solidFill>
                <a:latin typeface="Aptos"/>
                <a:ea typeface="Aptos"/>
                <a:cs typeface="Aptos"/>
              </a:rPr>
              <a:t>COMPOSE BENEFITS</a:t>
            </a:r>
          </a:p>
        </p:txBody>
      </p:sp>
      <p:sp>
        <p:nvSpPr>
          <p:cNvPr id="2" name="矩形 1">
            <a:extLst>
              <a:ext uri="{FF2B5EF4-FFF2-40B4-BE49-F238E27FC236}">
                <ns2:creationId id="{273CB3F6-CFAD-4065-9DC6-1EDF088022C9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9906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28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Docker Compose 的四個好處</a:t>
            </a:r>
          </a:p>
        </p:txBody>
      </p:sp>
      <p:sp>
        <p:nvSpPr>
          <p:cNvPr id="3" name="矩形: 圓角 2">
            <a:extLst>
              <a:ext uri="{FF2B5EF4-FFF2-40B4-BE49-F238E27FC236}">
                <ns2:creationId id="{BA63FB9B-70C2-49D4-9B43-27D1C0682BEB}"/>
              </a:ext>
            </a:extLst>
          </p:cNvPr>
          <p:cNvSpPr>
            <a:spLocks noGrp="1"/>
          </p:cNvSpPr>
          <p:nvPr/>
        </p:nvSpPr>
        <p:spPr>
          <a:xfrm>
            <a:off x="1428750" y="1676400"/>
            <a:ext cx="4000500" cy="1352550"/>
          </a:xfrm>
          <a:prstGeom prst="roundRect">
            <a:avLst>
              <a:gd name="adj" fmla="val 8451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4" name="矩形 3">
            <a:extLst>
              <a:ext uri="{FF2B5EF4-FFF2-40B4-BE49-F238E27FC236}">
                <ns2:creationId id="{18C4018D-EB74-4957-B32D-B265FCC114A8}"/>
              </a:ext>
            </a:extLst>
          </p:cNvPr>
          <p:cNvSpPr>
            <a:spLocks noGrp="1"/>
          </p:cNvSpPr>
          <p:nvPr/>
        </p:nvSpPr>
        <p:spPr>
          <a:xfrm>
            <a:off x="1657350" y="1866900"/>
            <a:ext cx="3543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5463"/>
          </a:bodyPr>
          <a:lstStyle/>
          <a:p>
            <a:pPr algn="ctr">
              <a:lnSpc>
                <a:spcPct val="106000"/>
              </a:lnSpc>
              <a:buNone/>
              <a:defRPr sz="210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一個檔案</a:t>
            </a:r>
          </a:p>
        </p:txBody>
      </p:sp>
      <p:sp>
        <p:nvSpPr>
          <p:cNvPr id="5" name="矩形 4">
            <a:extLst>
              <a:ext uri="{FF2B5EF4-FFF2-40B4-BE49-F238E27FC236}">
                <ns2:creationId id="{4806772B-D1C1-4DCF-AC38-DE56F2BCBA7D}"/>
              </a:ext>
            </a:extLst>
          </p:cNvPr>
          <p:cNvSpPr>
            <a:spLocks noGrp="1"/>
          </p:cNvSpPr>
          <p:nvPr/>
        </p:nvSpPr>
        <p:spPr>
          <a:xfrm>
            <a:off x="1657350" y="2400300"/>
            <a:ext cx="35433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6000"/>
              </a:lnSpc>
              <a:buNone/>
              <a:defRPr sz="15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不用記一堆長指令</a:t>
            </a:r>
          </a:p>
        </p:txBody>
      </p:sp>
      <p:sp>
        <p:nvSpPr>
          <p:cNvPr id="6" name="矩形: 圓角 5">
            <a:extLst>
              <a:ext uri="{FF2B5EF4-FFF2-40B4-BE49-F238E27FC236}">
                <ns2:creationId id="{6DF1DF70-32B8-4747-976A-0A15F688364A}"/>
              </a:ext>
            </a:extLst>
          </p:cNvPr>
          <p:cNvSpPr>
            <a:spLocks noGrp="1"/>
          </p:cNvSpPr>
          <p:nvPr/>
        </p:nvSpPr>
        <p:spPr>
          <a:xfrm>
            <a:off x="6762750" y="1676400"/>
            <a:ext cx="4000500" cy="1352550"/>
          </a:xfrm>
          <a:prstGeom prst="roundRect">
            <a:avLst>
              <a:gd name="adj" fmla="val 8451"/>
            </a:avLst>
          </a:prstGeom>
          <a:solidFill>
            <a:srgbClr val="EEF2FF"/>
          </a:solidFill>
          <a:ln w="9525">
            <a:solidFill>
              <a:srgbClr val="4F46E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7" name="矩形 6">
            <a:extLst>
              <a:ext uri="{FF2B5EF4-FFF2-40B4-BE49-F238E27FC236}">
                <ns2:creationId id="{0651E87B-B6C9-445E-BAE4-3C853CDF4ADC}"/>
              </a:ext>
            </a:extLst>
          </p:cNvPr>
          <p:cNvSpPr>
            <a:spLocks noGrp="1"/>
          </p:cNvSpPr>
          <p:nvPr/>
        </p:nvSpPr>
        <p:spPr>
          <a:xfrm>
            <a:off x="6991350" y="1866900"/>
            <a:ext cx="3543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5463"/>
          </a:bodyPr>
          <a:lstStyle/>
          <a:p>
            <a:pPr algn="ctr">
              <a:lnSpc>
                <a:spcPct val="106000"/>
              </a:lnSpc>
              <a:buNone/>
              <a:defRPr sz="2100" b="1">
                <a:solidFill>
                  <a:srgbClr val="4F46E5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4F46E5"/>
                </a:solidFill>
                <a:latin typeface="Aptos Display"/>
                <a:ea typeface="Aptos Display"/>
                <a:cs typeface="Aptos Display"/>
              </a:rPr>
              <a:t>可重複</a:t>
            </a:r>
          </a:p>
        </p:txBody>
      </p:sp>
      <p:sp>
        <p:nvSpPr>
          <p:cNvPr id="8" name="矩形 7">
            <a:extLst>
              <a:ext uri="{FF2B5EF4-FFF2-40B4-BE49-F238E27FC236}">
                <ns2:creationId id="{624E2F70-CAC7-4E18-AF5E-EA7499764026}"/>
              </a:ext>
            </a:extLst>
          </p:cNvPr>
          <p:cNvSpPr>
            <a:spLocks noGrp="1"/>
          </p:cNvSpPr>
          <p:nvPr/>
        </p:nvSpPr>
        <p:spPr>
          <a:xfrm>
            <a:off x="6991350" y="2400300"/>
            <a:ext cx="35433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6000"/>
              </a:lnSpc>
              <a:buNone/>
              <a:defRPr sz="15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compose.yaml 可以 commit 進 Git</a:t>
            </a:r>
          </a:p>
        </p:txBody>
      </p:sp>
      <p:sp>
        <p:nvSpPr>
          <p:cNvPr id="9" name="矩形: 圓角 8">
            <a:extLst>
              <a:ext uri="{FF2B5EF4-FFF2-40B4-BE49-F238E27FC236}">
                <ns2:creationId id="{314290D8-9C07-4E80-8711-9DB37C90CB52}"/>
              </a:ext>
            </a:extLst>
          </p:cNvPr>
          <p:cNvSpPr>
            <a:spLocks noGrp="1"/>
          </p:cNvSpPr>
          <p:nvPr/>
        </p:nvSpPr>
        <p:spPr>
          <a:xfrm>
            <a:off x="1428750" y="3714750"/>
            <a:ext cx="4000500" cy="1352550"/>
          </a:xfrm>
          <a:prstGeom prst="roundRect">
            <a:avLst>
              <a:gd name="adj" fmla="val 8451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0" name="矩形 9">
            <a:extLst>
              <a:ext uri="{FF2B5EF4-FFF2-40B4-BE49-F238E27FC236}">
                <ns2:creationId id="{C520EF29-FBC8-4DBA-B1F6-66072797E1A0}"/>
              </a:ext>
            </a:extLst>
          </p:cNvPr>
          <p:cNvSpPr>
            <a:spLocks noGrp="1"/>
          </p:cNvSpPr>
          <p:nvPr/>
        </p:nvSpPr>
        <p:spPr>
          <a:xfrm>
            <a:off x="1657350" y="3905250"/>
            <a:ext cx="3543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5463"/>
          </a:bodyPr>
          <a:lstStyle/>
          <a:p>
            <a:pPr algn="ctr">
              <a:lnSpc>
                <a:spcPct val="106000"/>
              </a:lnSpc>
              <a:buNone/>
              <a:defRPr sz="210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自動網路（先會用）</a:t>
            </a:r>
          </a:p>
        </p:txBody>
      </p:sp>
      <p:sp>
        <p:nvSpPr>
          <p:cNvPr id="11" name="矩形 10">
            <a:extLst>
              <a:ext uri="{FF2B5EF4-FFF2-40B4-BE49-F238E27FC236}">
                <ns2:creationId id="{ADB70660-CA94-4E2B-B79E-FEB9B1BD445D}"/>
              </a:ext>
            </a:extLst>
          </p:cNvPr>
          <p:cNvSpPr>
            <a:spLocks noGrp="1"/>
          </p:cNvSpPr>
          <p:nvPr/>
        </p:nvSpPr>
        <p:spPr>
          <a:xfrm>
            <a:off x="1657350" y="4438650"/>
            <a:ext cx="35433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6000"/>
              </a:lnSpc>
              <a:buNone/>
              <a:defRPr sz="15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服務可用名稱互相連線</a:t>
            </a:r>
          </a:p>
        </p:txBody>
      </p:sp>
      <p:sp>
        <p:nvSpPr>
          <p:cNvPr id="12" name="矩形: 圓角 11">
            <a:extLst>
              <a:ext uri="{FF2B5EF4-FFF2-40B4-BE49-F238E27FC236}">
                <ns2:creationId id="{15A5A794-4FF4-4B82-B827-20EA4181353E}"/>
              </a:ext>
            </a:extLst>
          </p:cNvPr>
          <p:cNvSpPr>
            <a:spLocks noGrp="1"/>
          </p:cNvSpPr>
          <p:nvPr/>
        </p:nvSpPr>
        <p:spPr>
          <a:xfrm>
            <a:off x="6762750" y="3714750"/>
            <a:ext cx="4000500" cy="1352550"/>
          </a:xfrm>
          <a:prstGeom prst="roundRect">
            <a:avLst>
              <a:gd name="adj" fmla="val 8451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3" name="矩形 12">
            <a:extLst>
              <a:ext uri="{FF2B5EF4-FFF2-40B4-BE49-F238E27FC236}">
                <ns2:creationId id="{C9663F9F-A415-40EB-BD39-80D50BB9CFEC}"/>
              </a:ext>
            </a:extLst>
          </p:cNvPr>
          <p:cNvSpPr>
            <a:spLocks noGrp="1"/>
          </p:cNvSpPr>
          <p:nvPr/>
        </p:nvSpPr>
        <p:spPr>
          <a:xfrm>
            <a:off x="6991350" y="3905250"/>
            <a:ext cx="3543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5463"/>
          </a:bodyPr>
          <a:lstStyle/>
          <a:p>
            <a:pPr algn="ctr">
              <a:lnSpc>
                <a:spcPct val="106000"/>
              </a:lnSpc>
              <a:buNone/>
              <a:defRPr sz="210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一鍵控制</a:t>
            </a:r>
          </a:p>
        </p:txBody>
      </p:sp>
      <p:sp>
        <p:nvSpPr>
          <p:cNvPr id="14" name="矩形 13">
            <a:extLst>
              <a:ext uri="{FF2B5EF4-FFF2-40B4-BE49-F238E27FC236}">
                <ns2:creationId id="{DE3CB7EC-09A0-4E14-BC57-0C089A76E5D2}"/>
              </a:ext>
            </a:extLst>
          </p:cNvPr>
          <p:cNvSpPr>
            <a:spLocks noGrp="1"/>
          </p:cNvSpPr>
          <p:nvPr/>
        </p:nvSpPr>
        <p:spPr>
          <a:xfrm>
            <a:off x="6991350" y="4438650"/>
            <a:ext cx="35433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6000"/>
              </a:lnSpc>
              <a:buNone/>
              <a:defRPr sz="15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up / down 管理整組環境</a:t>
            </a:r>
          </a:p>
        </p:txBody>
      </p:sp>
      <p:sp>
        <p:nvSpPr>
          <p:cNvPr id="15" name="矩形 14">
            <a:extLst>
              <a:ext uri="{FF2B5EF4-FFF2-40B4-BE49-F238E27FC236}">
                <ns2:creationId id="{6731CBF9-3694-4C40-A431-FD18D7D10B12}"/>
              </a:ext>
            </a:extLst>
          </p:cNvPr>
          <p:cNvSpPr>
            <a:spLocks noGrp="1"/>
          </p:cNvSpPr>
          <p:nvPr/>
        </p:nvSpPr>
        <p:spPr>
          <a:xfrm>
            <a:off x="609600" y="6305550"/>
            <a:ext cx="9906000" cy="13335"/>
          </a:xfrm>
          <a:prstGeom prst="rect">
            <a:avLst/>
          </a:prstGeom>
          <a:solidFill>
            <a:srgbClr val="D9E2EC"/>
          </a:solidFill>
          <a:ln w="0">
            <a:noFill/>
            <a:prstDash val="solid"/>
          </a:ln>
        </p:spPr>
      </p:sp>
      <p:sp>
        <p:nvSpPr>
          <p:cNvPr id="16" name="矩形 15">
            <a:extLst>
              <a:ext uri="{FF2B5EF4-FFF2-40B4-BE49-F238E27FC236}">
                <ns2:creationId id="{146D5C91-A181-4190-B136-30D8EEB4FA51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2762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Docker 基礎教學 | 第 3 堂</a:t>
            </a:r>
          </a:p>
        </p:txBody>
      </p:sp>
      <p:sp>
        <p:nvSpPr>
          <p:cNvPr id="17" name="矩形 16">
            <a:extLst>
              <a:ext uri="{FF2B5EF4-FFF2-40B4-BE49-F238E27FC236}">
                <ns2:creationId id="{A4087516-30F8-415E-B8F1-C8AD5AB47535}"/>
              </a:ext>
            </a:extLst>
          </p:cNvPr>
          <p:cNvSpPr>
            <a:spLocks noGrp="1"/>
          </p:cNvSpPr>
          <p:nvPr/>
        </p:nvSpPr>
        <p:spPr>
          <a:xfrm>
            <a:off x="11010900" y="6381750"/>
            <a:ext cx="571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106000"/>
              </a:lnSpc>
              <a:buNone/>
              <a:defRPr sz="9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19</a:t>
            </a:r>
          </a:p>
        </p:txBody>
      </p:sp>
    </p:spTree>
    <p:extLst>
      <p:ext uri="{BB962C8B-B14F-4D97-AF65-F5344CB8AC3E}">
        <ns3:creationId val="1746081113"/>
      </p:ext>
    </p:extLst>
  </p:cSld>
  <p:clrMapOvr>
    <a:masterClrMapping/>
  </p:clrMapOvr>
</p:sld>
</file>

<file path=ppt/slides/slide25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>
            <a:extLst>
              <a:ext uri="{FF2B5EF4-FFF2-40B4-BE49-F238E27FC236}">
                <ns2:creationId id="{C66E06E0-BEB0-4178-A369-7BB6FDEDD16B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619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900" b="1">
                <a:solidFill>
                  <a:srgbClr val="0B5CA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5CAD"/>
                </a:solidFill>
                <a:latin typeface="Aptos"/>
                <a:ea typeface="Aptos"/>
                <a:cs typeface="Aptos"/>
              </a:rPr>
              <a:t>EXERCISE P2</a:t>
            </a:r>
          </a:p>
        </p:txBody>
      </p:sp>
      <p:sp>
        <p:nvSpPr>
          <p:cNvPr id="2" name="矩形 1">
            <a:extLst>
              <a:ext uri="{FF2B5EF4-FFF2-40B4-BE49-F238E27FC236}">
                <ns2:creationId id="{8B73B865-6C6A-499C-8CBF-2639E264D919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10668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95000"/>
              </a:lnSpc>
              <a:buNone/>
              <a:defRPr sz="28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練習 P2：照解答跑 Nginx + Flask</a:t>
            </a:r>
          </a:p>
        </p:txBody>
      </p:sp>
      <p:sp>
        <p:nvSpPr>
          <p:cNvPr id="3" name="矩形 2">
            <a:extLst>
              <a:ext uri="{FF2B5EF4-FFF2-40B4-BE49-F238E27FC236}">
                <ns2:creationId id="{8266BF06-DC00-4A64-BEAF-FC459666301C}"/>
              </a:ext>
            </a:extLst>
          </p:cNvPr>
          <p:cNvSpPr>
            <a:spLocks noGrp="1"/>
          </p:cNvSpPr>
          <p:nvPr/>
        </p:nvSpPr>
        <p:spPr>
          <a:xfrm>
            <a:off x="857250" y="1352550"/>
            <a:ext cx="7048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6000"/>
              </a:lnSpc>
              <a:buNone/>
              <a:defRPr sz="1725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先照講義完整解答跑起來，觀察 Nginx 如何用 service name 連到 Flask。</a:t>
            </a:r>
          </a:p>
        </p:txBody>
      </p:sp>
      <p:sp>
        <p:nvSpPr>
          <p:cNvPr id="4" name="矩形: 圓角 3">
            <a:extLst>
              <a:ext uri="{FF2B5EF4-FFF2-40B4-BE49-F238E27FC236}">
                <ns2:creationId id="{46C7190D-6B4B-45EE-B2D4-493F5F60E45A}"/>
              </a:ext>
            </a:extLst>
          </p:cNvPr>
          <p:cNvSpPr>
            <a:spLocks noGrp="1"/>
          </p:cNvSpPr>
          <p:nvPr/>
        </p:nvSpPr>
        <p:spPr>
          <a:xfrm>
            <a:off x="762000" y="2000250"/>
            <a:ext cx="2476500" cy="1657350"/>
          </a:xfrm>
          <a:prstGeom prst="roundRect">
            <a:avLst>
              <a:gd name="adj" fmla="val 6897"/>
            </a:avLst>
          </a:prstGeom>
          <a:solidFill>
            <a:srgbClr val="E8F3FF"/>
          </a:solidFill>
          <a:ln w="9525">
            <a:solidFill>
              <a:srgbClr val="B7DCF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5" name="矩形 4">
            <a:extLst>
              <a:ext uri="{FF2B5EF4-FFF2-40B4-BE49-F238E27FC236}">
                <ns2:creationId id="{1002DD2D-4B4C-42A7-BBC6-E4F76E23AD46}"/>
              </a:ext>
            </a:extLst>
          </p:cNvPr>
          <p:cNvSpPr>
            <a:spLocks noGrp="1"/>
          </p:cNvSpPr>
          <p:nvPr/>
        </p:nvSpPr>
        <p:spPr>
          <a:xfrm>
            <a:off x="990600" y="2190750"/>
            <a:ext cx="2019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8998"/>
          </a:bodyPr>
          <a:lstStyle/>
          <a:p>
            <a:pPr algn="ctr">
              <a:lnSpc>
                <a:spcPct val="106000"/>
              </a:lnSpc>
              <a:buNone/>
              <a:defRPr sz="2025" b="1">
                <a:solidFill>
                  <a:srgbClr val="0B5CAD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0B5CAD"/>
                </a:solidFill>
                <a:latin typeface="Aptos Display"/>
                <a:ea typeface="Aptos Display"/>
                <a:cs typeface="Aptos Display"/>
              </a:rPr>
              <a:t>Nginx</a:t>
            </a:r>
          </a:p>
        </p:txBody>
      </p:sp>
      <p:sp>
        <p:nvSpPr>
          <p:cNvPr id="6" name="矩形 5">
            <a:extLst>
              <a:ext uri="{FF2B5EF4-FFF2-40B4-BE49-F238E27FC236}">
                <ns2:creationId id="{5A319DD3-257A-4F15-A2EE-F73ABB4F41CF}"/>
              </a:ext>
            </a:extLst>
          </p:cNvPr>
          <p:cNvSpPr>
            <a:spLocks noGrp="1"/>
          </p:cNvSpPr>
          <p:nvPr/>
        </p:nvSpPr>
        <p:spPr>
          <a:xfrm>
            <a:off x="990600" y="2686050"/>
            <a:ext cx="20193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lnSpc>
                <a:spcPct val="106000"/>
              </a:lnSpc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image: nginx:alpine</a:t>
            </a:r>
          </a:p>
          <a:p>
            <a:pPr algn="ctr">
              <a:lnSpc>
                <a:spcPct val="106000"/>
              </a:lnSpc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8080:80</a:t>
            </a:r>
          </a:p>
          <a:p>
            <a:pPr algn="ctr">
              <a:lnSpc>
                <a:spcPct val="106000"/>
              </a:lnSpc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proxy_pass app:5000</a:t>
            </a:r>
          </a:p>
        </p:txBody>
      </p:sp>
      <p:sp>
        <p:nvSpPr>
          <p:cNvPr id="7" name="矩形: 圓角 6">
            <a:extLst>
              <a:ext uri="{FF2B5EF4-FFF2-40B4-BE49-F238E27FC236}">
                <ns2:creationId id="{102D4DC5-10DC-4D80-B36F-D23DA8BEFD5A}"/>
              </a:ext>
            </a:extLst>
          </p:cNvPr>
          <p:cNvSpPr>
            <a:spLocks noGrp="1"/>
          </p:cNvSpPr>
          <p:nvPr/>
        </p:nvSpPr>
        <p:spPr>
          <a:xfrm>
            <a:off x="3619500" y="2000250"/>
            <a:ext cx="2476500" cy="1657350"/>
          </a:xfrm>
          <a:prstGeom prst="roundRect">
            <a:avLst>
              <a:gd name="adj" fmla="val 6897"/>
            </a:avLst>
          </a:prstGeom>
          <a:solidFill>
            <a:srgbClr val="E7F8F2"/>
          </a:solidFill>
          <a:ln w="9525">
            <a:solidFill>
              <a:srgbClr val="00A97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8" name="矩形 7">
            <a:extLst>
              <a:ext uri="{FF2B5EF4-FFF2-40B4-BE49-F238E27FC236}">
                <ns2:creationId id="{1322132E-A5E5-46CF-A13D-1D5889D0627F}"/>
              </a:ext>
            </a:extLst>
          </p:cNvPr>
          <p:cNvSpPr>
            <a:spLocks noGrp="1"/>
          </p:cNvSpPr>
          <p:nvPr/>
        </p:nvSpPr>
        <p:spPr>
          <a:xfrm>
            <a:off x="3848100" y="2190750"/>
            <a:ext cx="2019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lnSpc>
                <a:spcPct val="106000"/>
              </a:lnSpc>
              <a:buNone/>
              <a:defRPr sz="2025" b="1">
                <a:solidFill>
                  <a:srgbClr val="047857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047857"/>
                </a:solidFill>
                <a:latin typeface="Aptos Display"/>
                <a:ea typeface="Aptos Display"/>
                <a:cs typeface="Aptos Display"/>
              </a:rPr>
              <a:t>Flask</a:t>
            </a:r>
          </a:p>
        </p:txBody>
      </p:sp>
      <p:sp>
        <p:nvSpPr>
          <p:cNvPr id="9" name="矩形 8">
            <a:extLst>
              <a:ext uri="{FF2B5EF4-FFF2-40B4-BE49-F238E27FC236}">
                <ns2:creationId id="{49FAB6B3-BA8B-4E65-8C54-ACD5BB4C0E5A}"/>
              </a:ext>
            </a:extLst>
          </p:cNvPr>
          <p:cNvSpPr>
            <a:spLocks noGrp="1"/>
          </p:cNvSpPr>
          <p:nvPr/>
        </p:nvSpPr>
        <p:spPr>
          <a:xfrm>
            <a:off x="3848100" y="2686050"/>
            <a:ext cx="20193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lnSpc>
                <a:spcPct val="106000"/>
              </a:lnSpc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python:3.11</a:t>
            </a:r>
          </a:p>
          <a:p>
            <a:pPr algn="ctr">
              <a:lnSpc>
                <a:spcPct val="106000"/>
              </a:lnSpc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expose 5000</a:t>
            </a:r>
          </a:p>
          <a:p>
            <a:pPr algn="ctr">
              <a:lnSpc>
                <a:spcPct val="106000"/>
              </a:lnSpc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不對主機開 port</a:t>
            </a:r>
          </a:p>
        </p:txBody>
      </p:sp>
      <p:sp>
        <p:nvSpPr>
          <p:cNvPr id="10" name="矩形: 圓角 9">
            <a:extLst>
              <a:ext uri="{FF2B5EF4-FFF2-40B4-BE49-F238E27FC236}">
                <ns2:creationId id="{C442DE65-C542-4780-9A80-24A41BD5CD88}"/>
              </a:ext>
            </a:extLst>
          </p:cNvPr>
          <p:cNvSpPr>
            <a:spLocks noGrp="1"/>
          </p:cNvSpPr>
          <p:nvPr/>
        </p:nvSpPr>
        <p:spPr>
          <a:xfrm>
            <a:off x="6477000" y="2000250"/>
            <a:ext cx="2476500" cy="1657350"/>
          </a:xfrm>
          <a:prstGeom prst="roundRect">
            <a:avLst>
              <a:gd name="adj" fmla="val 6897"/>
            </a:avLst>
          </a:prstGeom>
          <a:solidFill>
            <a:srgbClr val="EEF2FF"/>
          </a:solidFill>
          <a:ln w="9525">
            <a:solidFill>
              <a:srgbClr val="4F46E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1" name="矩形 10">
            <a:extLst>
              <a:ext uri="{FF2B5EF4-FFF2-40B4-BE49-F238E27FC236}">
                <ns2:creationId id="{02585D1C-8FCA-4317-80E7-24D62A894460}"/>
              </a:ext>
            </a:extLst>
          </p:cNvPr>
          <p:cNvSpPr>
            <a:spLocks noGrp="1"/>
          </p:cNvSpPr>
          <p:nvPr/>
        </p:nvSpPr>
        <p:spPr>
          <a:xfrm>
            <a:off x="6705600" y="2190750"/>
            <a:ext cx="2019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lnSpc>
                <a:spcPct val="106000"/>
              </a:lnSpc>
              <a:buNone/>
              <a:defRPr sz="2025" b="1">
                <a:solidFill>
                  <a:srgbClr val="4F46E5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4F46E5"/>
                </a:solidFill>
                <a:latin typeface="Aptos Display"/>
                <a:ea typeface="Aptos Display"/>
                <a:cs typeface="Aptos Display"/>
              </a:rPr>
              <a:t>network</a:t>
            </a:r>
          </a:p>
        </p:txBody>
      </p:sp>
      <p:sp>
        <p:nvSpPr>
          <p:cNvPr id="12" name="矩形 11">
            <a:extLst>
              <a:ext uri="{FF2B5EF4-FFF2-40B4-BE49-F238E27FC236}">
                <ns2:creationId id="{14AE5AA4-496A-4696-825A-8F9DFC025220}"/>
              </a:ext>
            </a:extLst>
          </p:cNvPr>
          <p:cNvSpPr>
            <a:spLocks noGrp="1"/>
          </p:cNvSpPr>
          <p:nvPr/>
        </p:nvSpPr>
        <p:spPr>
          <a:xfrm>
            <a:off x="6705600" y="2686050"/>
            <a:ext cx="20193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lnSpc>
                <a:spcPct val="106000"/>
              </a:lnSpc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web 用 app:5000</a:t>
            </a:r>
          </a:p>
          <a:p>
            <a:pPr algn="ctr">
              <a:lnSpc>
                <a:spcPct val="106000"/>
              </a:lnSpc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連到 Flask</a:t>
            </a:r>
          </a:p>
        </p:txBody>
      </p:sp>
      <p:sp>
        <p:nvSpPr>
          <p:cNvPr id="13" name="矩形: 圓角 12">
            <a:extLst>
              <a:ext uri="{FF2B5EF4-FFF2-40B4-BE49-F238E27FC236}">
                <ns2:creationId id="{55ED96AC-EBF9-412D-80AD-BB7BA28030CD}"/>
              </a:ext>
            </a:extLst>
          </p:cNvPr>
          <p:cNvSpPr>
            <a:spLocks noGrp="1"/>
          </p:cNvSpPr>
          <p:nvPr/>
        </p:nvSpPr>
        <p:spPr>
          <a:xfrm>
            <a:off x="9334500" y="2000250"/>
            <a:ext cx="2476500" cy="165735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4" name="矩形 13">
            <a:extLst>
              <a:ext uri="{FF2B5EF4-FFF2-40B4-BE49-F238E27FC236}">
                <ns2:creationId id="{20A3B52C-530F-4067-ACCD-039A9D1C0079}"/>
              </a:ext>
            </a:extLst>
          </p:cNvPr>
          <p:cNvSpPr>
            <a:spLocks noGrp="1"/>
          </p:cNvSpPr>
          <p:nvPr/>
        </p:nvSpPr>
        <p:spPr>
          <a:xfrm>
            <a:off x="9563100" y="2190750"/>
            <a:ext cx="2019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8998"/>
          </a:bodyPr>
          <a:lstStyle/>
          <a:p>
            <a:pPr algn="ctr">
              <a:lnSpc>
                <a:spcPct val="106000"/>
              </a:lnSpc>
              <a:buNone/>
              <a:defRPr sz="2025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驗證</a:t>
            </a:r>
          </a:p>
        </p:txBody>
      </p:sp>
      <p:sp>
        <p:nvSpPr>
          <p:cNvPr id="15" name="矩形 14">
            <a:extLst>
              <a:ext uri="{FF2B5EF4-FFF2-40B4-BE49-F238E27FC236}">
                <ns2:creationId id="{0AB6DC46-D592-47B8-A182-F00B111006CA}"/>
              </a:ext>
            </a:extLst>
          </p:cNvPr>
          <p:cNvSpPr>
            <a:spLocks noGrp="1"/>
          </p:cNvSpPr>
          <p:nvPr/>
        </p:nvSpPr>
        <p:spPr>
          <a:xfrm>
            <a:off x="9563100" y="2686050"/>
            <a:ext cx="20193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lnSpc>
                <a:spcPct val="106000"/>
              </a:lnSpc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docker compose up -d</a:t>
            </a:r>
          </a:p>
          <a:p>
            <a:pPr algn="ctr">
              <a:lnSpc>
                <a:spcPct val="106000"/>
              </a:lnSpc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瀏覽器開 8080</a:t>
            </a:r>
          </a:p>
          <a:p>
            <a:pPr algn="ctr">
              <a:lnSpc>
                <a:spcPct val="106000"/>
              </a:lnSpc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exec web wget app:5000</a:t>
            </a:r>
          </a:p>
        </p:txBody>
      </p:sp>
      <p:sp>
        <p:nvSpPr>
          <p:cNvPr id="16" name="矩形: 圓角 15">
            <a:extLst>
              <a:ext uri="{FF2B5EF4-FFF2-40B4-BE49-F238E27FC236}">
                <ns2:creationId id="{2E317CC9-3198-42B7-9BBF-B44163AC38A5}"/>
              </a:ext>
            </a:extLst>
          </p:cNvPr>
          <p:cNvSpPr>
            <a:spLocks noGrp="1"/>
          </p:cNvSpPr>
          <p:nvPr/>
        </p:nvSpPr>
        <p:spPr>
          <a:xfrm>
            <a:off x="2381250" y="4400550"/>
            <a:ext cx="7429500" cy="1238250"/>
          </a:xfrm>
          <a:prstGeom prst="roundRect">
            <a:avLst>
              <a:gd name="adj" fmla="val 7692"/>
            </a:avLst>
          </a:prstGeom>
          <a:solidFill>
            <a:srgbClr val="0B1220"/>
          </a:solidFill>
          <a:ln w="9525">
            <a:solidFill>
              <a:srgbClr val="1E293B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sp>
        <p:nvSpPr>
          <p:cNvPr id="17" name="橢圓 16">
            <a:extLst>
              <a:ext uri="{FF2B5EF4-FFF2-40B4-BE49-F238E27FC236}">
                <ns2:creationId id="{E00D2942-D235-4BB8-9686-F84C4C32C6A5}"/>
              </a:ext>
            </a:extLst>
          </p:cNvPr>
          <p:cNvSpPr>
            <a:spLocks noGrp="1"/>
          </p:cNvSpPr>
          <p:nvPr/>
        </p:nvSpPr>
        <p:spPr>
          <a:xfrm>
            <a:off x="2552700" y="4562475"/>
            <a:ext cx="95250" cy="95250"/>
          </a:xfrm>
          <a:prstGeom prst="ellipse">
            <a:avLst/>
          </a:prstGeom>
          <a:solidFill>
            <a:srgbClr val="FB7185"/>
          </a:solidFill>
          <a:ln w="0">
            <a:noFill/>
            <a:prstDash val="solid"/>
          </a:ln>
        </p:spPr>
      </p:sp>
      <p:sp>
        <p:nvSpPr>
          <p:cNvPr id="18" name="橢圓 17">
            <a:extLst>
              <a:ext uri="{FF2B5EF4-FFF2-40B4-BE49-F238E27FC236}">
                <ns2:creationId id="{85678687-1712-4279-97BA-265FDAD7BEFE}"/>
              </a:ext>
            </a:extLst>
          </p:cNvPr>
          <p:cNvSpPr>
            <a:spLocks noGrp="1"/>
          </p:cNvSpPr>
          <p:nvPr/>
        </p:nvSpPr>
        <p:spPr>
          <a:xfrm>
            <a:off x="2724150" y="4562475"/>
            <a:ext cx="95250" cy="95250"/>
          </a:xfrm>
          <a:prstGeom prst="ellipse">
            <a:avLst/>
          </a:prstGeom>
          <a:solidFill>
            <a:srgbClr val="FBBF24"/>
          </a:solidFill>
          <a:ln w="0">
            <a:noFill/>
            <a:prstDash val="solid"/>
          </a:ln>
        </p:spPr>
      </p:sp>
      <p:sp>
        <p:nvSpPr>
          <p:cNvPr id="19" name="橢圓 18">
            <a:extLst>
              <a:ext uri="{FF2B5EF4-FFF2-40B4-BE49-F238E27FC236}">
                <ns2:creationId id="{B2A3BF7E-6F76-493E-A9A1-D0582C1E672A}"/>
              </a:ext>
            </a:extLst>
          </p:cNvPr>
          <p:cNvSpPr>
            <a:spLocks noGrp="1"/>
          </p:cNvSpPr>
          <p:nvPr/>
        </p:nvSpPr>
        <p:spPr>
          <a:xfrm>
            <a:off x="2895600" y="4562475"/>
            <a:ext cx="95250" cy="95250"/>
          </a:xfrm>
          <a:prstGeom prst="ellipse">
            <a:avLst/>
          </a:prstGeom>
          <a:solidFill>
            <a:srgbClr val="34D399"/>
          </a:solidFill>
          <a:ln w="0">
            <a:noFill/>
            <a:prstDash val="solid"/>
          </a:ln>
        </p:spPr>
      </p:sp>
      <p:sp>
        <p:nvSpPr>
          <p:cNvPr id="20" name="矩形 19">
            <a:extLst>
              <a:ext uri="{FF2B5EF4-FFF2-40B4-BE49-F238E27FC236}">
                <ns2:creationId id="{A6C9516F-C9AF-481D-9821-46A21321175D}"/>
              </a:ext>
            </a:extLst>
          </p:cNvPr>
          <p:cNvSpPr>
            <a:spLocks noGrp="1"/>
          </p:cNvSpPr>
          <p:nvPr/>
        </p:nvSpPr>
        <p:spPr>
          <a:xfrm>
            <a:off x="2590800" y="4819650"/>
            <a:ext cx="70104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4000"/>
              </a:lnSpc>
              <a:buNone/>
              <a:defRPr sz="180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docker compose config &amp;&amp; docker compose up -d</a:t>
            </a:r>
          </a:p>
          <a:p>
            <a:pPr algn="l">
              <a:lnSpc>
                <a:spcPct val="104000"/>
              </a:lnSpc>
              <a:buNone/>
              <a:defRPr sz="180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docker compose ps &amp;&amp; docker compose exec web wget app:5000</a:t>
            </a:r>
          </a:p>
        </p:txBody>
      </p:sp>
      <p:sp>
        <p:nvSpPr>
          <p:cNvPr id="21" name="矩形 20">
            <a:extLst>
              <a:ext uri="{FF2B5EF4-FFF2-40B4-BE49-F238E27FC236}">
                <ns2:creationId id="{09FFDE36-270B-49FB-B8FF-ACBF238A59D1}"/>
              </a:ext>
            </a:extLst>
          </p:cNvPr>
          <p:cNvSpPr>
            <a:spLocks noGrp="1"/>
          </p:cNvSpPr>
          <p:nvPr/>
        </p:nvSpPr>
        <p:spPr>
          <a:xfrm>
            <a:off x="609600" y="6305550"/>
            <a:ext cx="9906000" cy="13335"/>
          </a:xfrm>
          <a:prstGeom prst="rect">
            <a:avLst/>
          </a:prstGeom>
          <a:solidFill>
            <a:srgbClr val="D9E2EC"/>
          </a:solidFill>
          <a:ln w="0">
            <a:noFill/>
            <a:prstDash val="solid"/>
          </a:ln>
        </p:spPr>
      </p:sp>
      <p:sp>
        <p:nvSpPr>
          <p:cNvPr id="22" name="矩形 21">
            <a:extLst>
              <a:ext uri="{FF2B5EF4-FFF2-40B4-BE49-F238E27FC236}">
                <ns2:creationId id="{1AD94594-5F55-4231-A50B-98EDA53B4C7E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2762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Docker 基礎教學 | 第 3 堂</a:t>
            </a:r>
          </a:p>
        </p:txBody>
      </p:sp>
      <p:sp>
        <p:nvSpPr>
          <p:cNvPr id="23" name="矩形 22">
            <a:extLst>
              <a:ext uri="{FF2B5EF4-FFF2-40B4-BE49-F238E27FC236}">
                <ns2:creationId id="{F35C865D-AAA8-477E-9AF3-E7AA547F09A5}"/>
              </a:ext>
            </a:extLst>
          </p:cNvPr>
          <p:cNvSpPr>
            <a:spLocks noGrp="1"/>
          </p:cNvSpPr>
          <p:nvPr/>
        </p:nvSpPr>
        <p:spPr>
          <a:xfrm>
            <a:off x="11010900" y="6381750"/>
            <a:ext cx="571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106000"/>
              </a:lnSpc>
              <a:buNone/>
              <a:defRPr sz="9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</p:spTree>
    <p:extLst>
      <p:ext uri="{BB962C8B-B14F-4D97-AF65-F5344CB8AC3E}">
        <ns3:creationId val="31128280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ppendixLabel">
            <a:extLst>
              <a:ext uri="{FF2B5EF4-FFF2-40B4-BE49-F238E27FC236}">
                <a16:creationId xmlns:a16="http://schemas.microsoft.com/office/drawing/2014/main" id="{B967A86D-740C-453C-85CE-ECDE38C0579A}"/>
              </a:ext>
            </a:extLst>
          </p:cNvPr>
          <p:cNvSpPr>
            <a:spLocks noGrp="1"/>
          </p:cNvSpPr>
          <p:nvPr/>
        </p:nvSpPr>
        <p:spPr>
          <a:xfrm>
            <a:off x="609600" y="420000"/>
            <a:ext cx="2600000" cy="26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93C5FD"/>
                </a:solidFill>
                <a:latin typeface="Aptos"/>
                <a:ea typeface="Aptos"/>
                <a:cs typeface="Aptos"/>
              </a:rPr>
              <a:t>CODE EXAMPLE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42667399-5BCE-443C-9926-36A4AF0A95B9}"/>
              </a:ext>
            </a:extLst>
          </p:cNvPr>
          <p:cNvSpPr>
            <a:spLocks noGrp="1"/>
          </p:cNvSpPr>
          <p:nvPr/>
        </p:nvSpPr>
        <p:spPr>
          <a:xfrm>
            <a:off x="609600" y="710000"/>
            <a:ext cx="10600000" cy="56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sz="23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範例程式碼：app/app.py（Nginx + Flask）</a:t>
            </a:r>
          </a:p>
        </p:txBody>
      </p:sp>
      <p:sp>
        <p:nvSpPr>
          <p:cNvPr id="4" name="Subtitle">
            <a:extLst>
              <a:ext uri="{FF2B5EF4-FFF2-40B4-BE49-F238E27FC236}">
                <a16:creationId xmlns:a16="http://schemas.microsoft.com/office/drawing/2014/main" id="{A1F3ECF3-6798-4AA7-82D4-8313601A3442}"/>
              </a:ext>
            </a:extLst>
          </p:cNvPr>
          <p:cNvSpPr>
            <a:spLocks noGrp="1"/>
          </p:cNvSpPr>
          <p:nvPr/>
        </p:nvSpPr>
        <p:spPr>
          <a:xfrm>
            <a:off x="609600" y="126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1250">
                <a:solidFill>
                  <a:srgbClr val="CBD5E1"/>
                </a:solidFill>
                <a:latin typeface="Aptos"/>
                <a:ea typeface="Aptos"/>
                <a:cs typeface="Aptos"/>
              </a:rPr>
              <a:t>第 3 堂 | 可直接照做的完整範例</a:t>
            </a:r>
          </a:p>
        </p:txBody>
      </p:sp>
      <p:sp>
        <p:nvSpPr>
          <p:cNvPr id="5" name="CodeBackground">
            <a:extLst>
              <a:ext uri="{FF2B5EF4-FFF2-40B4-BE49-F238E27FC236}">
                <a16:creationId xmlns:a16="http://schemas.microsoft.com/office/drawing/2014/main" id="{D94B6915-7C30-48F8-A652-A5345B30C4EC}"/>
              </a:ext>
            </a:extLst>
          </p:cNvPr>
          <p:cNvSpPr>
            <a:spLocks noGrp="1"/>
          </p:cNvSpPr>
          <p:nvPr/>
        </p:nvSpPr>
        <p:spPr>
          <a:xfrm>
            <a:off x="609600" y="1680000"/>
            <a:ext cx="10972800" cy="4370000"/>
          </a:xfrm>
          <a:prstGeom prst="roundRect">
            <a:avLst/>
          </a:prstGeom>
          <a:solidFill>
            <a:srgbClr val="111827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6" name="Code">
            <a:extLst>
              <a:ext uri="{FF2B5EF4-FFF2-40B4-BE49-F238E27FC236}">
                <a16:creationId xmlns:a16="http://schemas.microsoft.com/office/drawing/2014/main" id="{0C2D6B00-AB5A-4C0A-BA55-55ECD129A185}"/>
              </a:ext>
            </a:extLst>
          </p:cNvPr>
          <p:cNvSpPr>
            <a:spLocks noGrp="1"/>
          </p:cNvSpPr>
          <p:nvPr/>
        </p:nvSpPr>
        <p:spPr>
          <a:xfrm>
            <a:off x="810000" y="1870000"/>
            <a:ext cx="10550000" cy="398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from flask import Flask, jsonify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import socket</a:t>
            </a:r>
          </a:p>
          <a:p>
            <a:endParaRPr sz="1150">
              <a:solidFill>
                <a:srgbClr val="E5E7EB"/>
              </a:solidFill>
              <a:latin typeface="Consolas"/>
              <a:ea typeface="Consolas"/>
              <a:cs typeface="Consolas"/>
            </a:endParaRP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app = Flask(__name__)</a:t>
            </a:r>
          </a:p>
          <a:p>
            <a:endParaRPr sz="1150">
              <a:solidFill>
                <a:srgbClr val="E5E7EB"/>
              </a:solidFill>
              <a:latin typeface="Consolas"/>
              <a:ea typeface="Consolas"/>
              <a:cs typeface="Consolas"/>
            </a:endParaRPr>
          </a:p>
          <a:p>
            <a:endParaRPr sz="1150">
              <a:solidFill>
                <a:srgbClr val="E5E7EB"/>
              </a:solidFill>
              <a:latin typeface="Consolas"/>
              <a:ea typeface="Consolas"/>
              <a:cs typeface="Consolas"/>
            </a:endParaRP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@app.get("/")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def home():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return jsonify(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  message="Hello from Flask behind Nginx",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  hostname=socket.gethostname(),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)</a:t>
            </a:r>
          </a:p>
          <a:p>
            <a:endParaRPr sz="1150">
              <a:solidFill>
                <a:srgbClr val="E5E7EB"/>
              </a:solidFill>
              <a:latin typeface="Consolas"/>
              <a:ea typeface="Consolas"/>
              <a:cs typeface="Consolas"/>
            </a:endParaRPr>
          </a:p>
          <a:p>
            <a:endParaRPr sz="1150">
              <a:solidFill>
                <a:srgbClr val="E5E7EB"/>
              </a:solidFill>
              <a:latin typeface="Consolas"/>
              <a:ea typeface="Consolas"/>
              <a:cs typeface="Consolas"/>
            </a:endParaRP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if __name__ == "__main__":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app.run(host="0.0.0.0", port=5000)</a:t>
            </a:r>
          </a:p>
        </p:txBody>
      </p:sp>
      <p:sp>
        <p:nvSpPr>
          <p:cNvPr id="7" name="Footer">
            <a:extLst>
              <a:ext uri="{FF2B5EF4-FFF2-40B4-BE49-F238E27FC236}">
                <a16:creationId xmlns:a16="http://schemas.microsoft.com/office/drawing/2014/main" id="{44A80664-84B6-43D4-AE6E-89A63E279B86}"/>
              </a:ext>
            </a:extLst>
          </p:cNvPr>
          <p:cNvSpPr>
            <a:spLocks noGrp="1"/>
          </p:cNvSpPr>
          <p:nvPr/>
        </p:nvSpPr>
        <p:spPr>
          <a:xfrm>
            <a:off x="609600" y="6330000"/>
            <a:ext cx="7800000" cy="24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Aptos"/>
                <a:ea typeface="Aptos"/>
                <a:cs typeface="Aptos"/>
              </a:rPr>
              <a:t>Docker 基礎教學 | 第 3 堂 | 範例程式碼</a:t>
            </a:r>
          </a:p>
        </p:txBody>
      </p:sp>
      <p:sp>
        <p:nvSpPr>
          <p:cNvPr id="8" name="Page">
            <a:extLst>
              <a:ext uri="{FF2B5EF4-FFF2-40B4-BE49-F238E27FC236}">
                <a16:creationId xmlns:a16="http://schemas.microsoft.com/office/drawing/2014/main" id="{4B7EBB24-9CFC-4402-BDBC-D3FF27686EA8}"/>
              </a:ext>
            </a:extLst>
          </p:cNvPr>
          <p:cNvSpPr>
            <a:spLocks noGrp="1"/>
          </p:cNvSpPr>
          <p:nvPr/>
        </p:nvSpPr>
        <p:spPr>
          <a:xfrm>
            <a:off x="10850000" y="6330000"/>
            <a:ext cx="650000" cy="24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Aptos"/>
                <a:ea typeface="Aptos"/>
                <a:cs typeface="Aptos"/>
              </a:rPr>
              <a:t>CODE</a:t>
            </a:r>
          </a:p>
        </p:txBody>
      </p:sp>
    </p:spTree>
    <p:extLst>
      <p:ext uri="{BB962C8B-B14F-4D97-AF65-F5344CB8AC3E}">
        <p14:creationId xmlns:p14="http://schemas.microsoft.com/office/powerpoint/2010/main" val="171483216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ppendixLabel">
            <a:extLst>
              <a:ext uri="{FF2B5EF4-FFF2-40B4-BE49-F238E27FC236}">
                <a16:creationId xmlns:a16="http://schemas.microsoft.com/office/drawing/2014/main" id="{B967A86D-740C-453C-85CE-ECDE38C0579A}"/>
              </a:ext>
            </a:extLst>
          </p:cNvPr>
          <p:cNvSpPr>
            <a:spLocks noGrp="1"/>
          </p:cNvSpPr>
          <p:nvPr/>
        </p:nvSpPr>
        <p:spPr>
          <a:xfrm>
            <a:off x="609600" y="420000"/>
            <a:ext cx="2600000" cy="26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93C5FD"/>
                </a:solidFill>
                <a:latin typeface="Aptos"/>
                <a:ea typeface="Aptos"/>
                <a:cs typeface="Aptos"/>
              </a:rPr>
              <a:t>CODE EXAMPLE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42667399-5BCE-443C-9926-36A4AF0A95B9}"/>
              </a:ext>
            </a:extLst>
          </p:cNvPr>
          <p:cNvSpPr>
            <a:spLocks noGrp="1"/>
          </p:cNvSpPr>
          <p:nvPr/>
        </p:nvSpPr>
        <p:spPr>
          <a:xfrm>
            <a:off x="609600" y="710000"/>
            <a:ext cx="10600000" cy="56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sz="23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範例程式碼：app/requirements.txt（Nginx + Flask）</a:t>
            </a:r>
          </a:p>
        </p:txBody>
      </p:sp>
      <p:sp>
        <p:nvSpPr>
          <p:cNvPr id="4" name="Subtitle">
            <a:extLst>
              <a:ext uri="{FF2B5EF4-FFF2-40B4-BE49-F238E27FC236}">
                <a16:creationId xmlns:a16="http://schemas.microsoft.com/office/drawing/2014/main" id="{A1F3ECF3-6798-4AA7-82D4-8313601A3442}"/>
              </a:ext>
            </a:extLst>
          </p:cNvPr>
          <p:cNvSpPr>
            <a:spLocks noGrp="1"/>
          </p:cNvSpPr>
          <p:nvPr/>
        </p:nvSpPr>
        <p:spPr>
          <a:xfrm>
            <a:off x="609600" y="126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1250">
                <a:solidFill>
                  <a:srgbClr val="CBD5E1"/>
                </a:solidFill>
                <a:latin typeface="Aptos"/>
                <a:ea typeface="Aptos"/>
                <a:cs typeface="Aptos"/>
              </a:rPr>
              <a:t>第 3 堂 | 可直接照做的完整範例</a:t>
            </a:r>
          </a:p>
        </p:txBody>
      </p:sp>
      <p:sp>
        <p:nvSpPr>
          <p:cNvPr id="5" name="CodeBackground">
            <a:extLst>
              <a:ext uri="{FF2B5EF4-FFF2-40B4-BE49-F238E27FC236}">
                <a16:creationId xmlns:a16="http://schemas.microsoft.com/office/drawing/2014/main" id="{D94B6915-7C30-48F8-A652-A5345B30C4EC}"/>
              </a:ext>
            </a:extLst>
          </p:cNvPr>
          <p:cNvSpPr>
            <a:spLocks noGrp="1"/>
          </p:cNvSpPr>
          <p:nvPr/>
        </p:nvSpPr>
        <p:spPr>
          <a:xfrm>
            <a:off x="609600" y="1680000"/>
            <a:ext cx="10972800" cy="4370000"/>
          </a:xfrm>
          <a:prstGeom prst="roundRect">
            <a:avLst/>
          </a:prstGeom>
          <a:solidFill>
            <a:srgbClr val="111827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6" name="Code">
            <a:extLst>
              <a:ext uri="{FF2B5EF4-FFF2-40B4-BE49-F238E27FC236}">
                <a16:creationId xmlns:a16="http://schemas.microsoft.com/office/drawing/2014/main" id="{0C2D6B00-AB5A-4C0A-BA55-55ECD129A185}"/>
              </a:ext>
            </a:extLst>
          </p:cNvPr>
          <p:cNvSpPr>
            <a:spLocks noGrp="1"/>
          </p:cNvSpPr>
          <p:nvPr/>
        </p:nvSpPr>
        <p:spPr>
          <a:xfrm>
            <a:off x="810000" y="1870000"/>
            <a:ext cx="10550000" cy="398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flask==3.0.3</a:t>
            </a:r>
          </a:p>
        </p:txBody>
      </p:sp>
      <p:sp>
        <p:nvSpPr>
          <p:cNvPr id="7" name="Footer">
            <a:extLst>
              <a:ext uri="{FF2B5EF4-FFF2-40B4-BE49-F238E27FC236}">
                <a16:creationId xmlns:a16="http://schemas.microsoft.com/office/drawing/2014/main" id="{44A80664-84B6-43D4-AE6E-89A63E279B86}"/>
              </a:ext>
            </a:extLst>
          </p:cNvPr>
          <p:cNvSpPr>
            <a:spLocks noGrp="1"/>
          </p:cNvSpPr>
          <p:nvPr/>
        </p:nvSpPr>
        <p:spPr>
          <a:xfrm>
            <a:off x="609600" y="6330000"/>
            <a:ext cx="7800000" cy="24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Aptos"/>
                <a:ea typeface="Aptos"/>
                <a:cs typeface="Aptos"/>
              </a:rPr>
              <a:t>Docker 基礎教學 | 第 3 堂 | 範例程式碼</a:t>
            </a:r>
          </a:p>
        </p:txBody>
      </p:sp>
      <p:sp>
        <p:nvSpPr>
          <p:cNvPr id="8" name="Page">
            <a:extLst>
              <a:ext uri="{FF2B5EF4-FFF2-40B4-BE49-F238E27FC236}">
                <a16:creationId xmlns:a16="http://schemas.microsoft.com/office/drawing/2014/main" id="{4B7EBB24-9CFC-4402-BDBC-D3FF27686EA8}"/>
              </a:ext>
            </a:extLst>
          </p:cNvPr>
          <p:cNvSpPr>
            <a:spLocks noGrp="1"/>
          </p:cNvSpPr>
          <p:nvPr/>
        </p:nvSpPr>
        <p:spPr>
          <a:xfrm>
            <a:off x="10850000" y="6330000"/>
            <a:ext cx="650000" cy="24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Aptos"/>
                <a:ea typeface="Aptos"/>
                <a:cs typeface="Aptos"/>
              </a:rPr>
              <a:t>CODE</a:t>
            </a:r>
          </a:p>
        </p:txBody>
      </p:sp>
    </p:spTree>
    <p:extLst>
      <p:ext uri="{BB962C8B-B14F-4D97-AF65-F5344CB8AC3E}">
        <p14:creationId xmlns:p14="http://schemas.microsoft.com/office/powerpoint/2010/main" val="171483216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ppendixLabel">
            <a:extLst>
              <a:ext uri="{FF2B5EF4-FFF2-40B4-BE49-F238E27FC236}">
                <a16:creationId xmlns:a16="http://schemas.microsoft.com/office/drawing/2014/main" id="{B967A86D-740C-453C-85CE-ECDE38C0579A}"/>
              </a:ext>
            </a:extLst>
          </p:cNvPr>
          <p:cNvSpPr>
            <a:spLocks noGrp="1"/>
          </p:cNvSpPr>
          <p:nvPr/>
        </p:nvSpPr>
        <p:spPr>
          <a:xfrm>
            <a:off x="609600" y="420000"/>
            <a:ext cx="2600000" cy="26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93C5FD"/>
                </a:solidFill>
                <a:latin typeface="Aptos"/>
                <a:ea typeface="Aptos"/>
                <a:cs typeface="Aptos"/>
              </a:rPr>
              <a:t>CODE EXAMPLE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42667399-5BCE-443C-9926-36A4AF0A95B9}"/>
              </a:ext>
            </a:extLst>
          </p:cNvPr>
          <p:cNvSpPr>
            <a:spLocks noGrp="1"/>
          </p:cNvSpPr>
          <p:nvPr/>
        </p:nvSpPr>
        <p:spPr>
          <a:xfrm>
            <a:off x="609600" y="710000"/>
            <a:ext cx="10600000" cy="56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sz="23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範例程式碼：nginx/default.conf（Nginx + Flask）</a:t>
            </a:r>
          </a:p>
        </p:txBody>
      </p:sp>
      <p:sp>
        <p:nvSpPr>
          <p:cNvPr id="4" name="Subtitle">
            <a:extLst>
              <a:ext uri="{FF2B5EF4-FFF2-40B4-BE49-F238E27FC236}">
                <a16:creationId xmlns:a16="http://schemas.microsoft.com/office/drawing/2014/main" id="{A1F3ECF3-6798-4AA7-82D4-8313601A3442}"/>
              </a:ext>
            </a:extLst>
          </p:cNvPr>
          <p:cNvSpPr>
            <a:spLocks noGrp="1"/>
          </p:cNvSpPr>
          <p:nvPr/>
        </p:nvSpPr>
        <p:spPr>
          <a:xfrm>
            <a:off x="609600" y="126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1250">
                <a:solidFill>
                  <a:srgbClr val="CBD5E1"/>
                </a:solidFill>
                <a:latin typeface="Aptos"/>
                <a:ea typeface="Aptos"/>
                <a:cs typeface="Aptos"/>
              </a:rPr>
              <a:t>第 3 堂 | 可直接照做的完整範例</a:t>
            </a:r>
          </a:p>
        </p:txBody>
      </p:sp>
      <p:sp>
        <p:nvSpPr>
          <p:cNvPr id="5" name="CodeBackground">
            <a:extLst>
              <a:ext uri="{FF2B5EF4-FFF2-40B4-BE49-F238E27FC236}">
                <a16:creationId xmlns:a16="http://schemas.microsoft.com/office/drawing/2014/main" id="{D94B6915-7C30-48F8-A652-A5345B30C4EC}"/>
              </a:ext>
            </a:extLst>
          </p:cNvPr>
          <p:cNvSpPr>
            <a:spLocks noGrp="1"/>
          </p:cNvSpPr>
          <p:nvPr/>
        </p:nvSpPr>
        <p:spPr>
          <a:xfrm>
            <a:off x="609600" y="1680000"/>
            <a:ext cx="10972800" cy="4370000"/>
          </a:xfrm>
          <a:prstGeom prst="roundRect">
            <a:avLst/>
          </a:prstGeom>
          <a:solidFill>
            <a:srgbClr val="111827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6" name="Code">
            <a:extLst>
              <a:ext uri="{FF2B5EF4-FFF2-40B4-BE49-F238E27FC236}">
                <a16:creationId xmlns:a16="http://schemas.microsoft.com/office/drawing/2014/main" id="{0C2D6B00-AB5A-4C0A-BA55-55ECD129A185}"/>
              </a:ext>
            </a:extLst>
          </p:cNvPr>
          <p:cNvSpPr>
            <a:spLocks noGrp="1"/>
          </p:cNvSpPr>
          <p:nvPr/>
        </p:nvSpPr>
        <p:spPr>
          <a:xfrm>
            <a:off x="810000" y="1870000"/>
            <a:ext cx="10550000" cy="398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server {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listen 80;</a:t>
            </a:r>
          </a:p>
          <a:p>
            <a:endParaRPr sz="1150">
              <a:solidFill>
                <a:srgbClr val="E5E7EB"/>
              </a:solidFill>
              <a:latin typeface="Consolas"/>
              <a:ea typeface="Consolas"/>
              <a:cs typeface="Consolas"/>
            </a:endParaRP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location / {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  proxy_pass http://app:5000;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  proxy_set_header Host $host;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  proxy_set_header X-Real-IP $remote_addr;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}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7" name="Footer">
            <a:extLst>
              <a:ext uri="{FF2B5EF4-FFF2-40B4-BE49-F238E27FC236}">
                <a16:creationId xmlns:a16="http://schemas.microsoft.com/office/drawing/2014/main" id="{44A80664-84B6-43D4-AE6E-89A63E279B86}"/>
              </a:ext>
            </a:extLst>
          </p:cNvPr>
          <p:cNvSpPr>
            <a:spLocks noGrp="1"/>
          </p:cNvSpPr>
          <p:nvPr/>
        </p:nvSpPr>
        <p:spPr>
          <a:xfrm>
            <a:off x="609600" y="6330000"/>
            <a:ext cx="7800000" cy="24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Aptos"/>
                <a:ea typeface="Aptos"/>
                <a:cs typeface="Aptos"/>
              </a:rPr>
              <a:t>Docker 基礎教學 | 第 3 堂 | 範例程式碼</a:t>
            </a:r>
          </a:p>
        </p:txBody>
      </p:sp>
      <p:sp>
        <p:nvSpPr>
          <p:cNvPr id="8" name="Page">
            <a:extLst>
              <a:ext uri="{FF2B5EF4-FFF2-40B4-BE49-F238E27FC236}">
                <a16:creationId xmlns:a16="http://schemas.microsoft.com/office/drawing/2014/main" id="{4B7EBB24-9CFC-4402-BDBC-D3FF27686EA8}"/>
              </a:ext>
            </a:extLst>
          </p:cNvPr>
          <p:cNvSpPr>
            <a:spLocks noGrp="1"/>
          </p:cNvSpPr>
          <p:nvPr/>
        </p:nvSpPr>
        <p:spPr>
          <a:xfrm>
            <a:off x="10850000" y="6330000"/>
            <a:ext cx="650000" cy="24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Aptos"/>
                <a:ea typeface="Aptos"/>
                <a:cs typeface="Aptos"/>
              </a:rPr>
              <a:t>CODE</a:t>
            </a:r>
          </a:p>
        </p:txBody>
      </p:sp>
    </p:spTree>
    <p:extLst>
      <p:ext uri="{BB962C8B-B14F-4D97-AF65-F5344CB8AC3E}">
        <p14:creationId xmlns:p14="http://schemas.microsoft.com/office/powerpoint/2010/main" val="171483216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ppendixLabel">
            <a:extLst>
              <a:ext uri="{FF2B5EF4-FFF2-40B4-BE49-F238E27FC236}">
                <a16:creationId xmlns:a16="http://schemas.microsoft.com/office/drawing/2014/main" id="{F364CA04-9970-4B23-859B-7B554CD48367}"/>
              </a:ext>
            </a:extLst>
          </p:cNvPr>
          <p:cNvSpPr>
            <a:spLocks noGrp="1"/>
          </p:cNvSpPr>
          <p:nvPr/>
        </p:nvSpPr>
        <p:spPr>
          <a:xfrm>
            <a:off x="609600" y="420000"/>
            <a:ext cx="2600000" cy="26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93C5FD"/>
                </a:solidFill>
                <a:latin typeface="Aptos"/>
                <a:ea typeface="Aptos"/>
                <a:cs typeface="Aptos"/>
              </a:rPr>
              <a:t>CODE EXAMPLE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613302FD-2FF9-4CF6-A594-74C37F108E6E}"/>
              </a:ext>
            </a:extLst>
          </p:cNvPr>
          <p:cNvSpPr>
            <a:spLocks noGrp="1"/>
          </p:cNvSpPr>
          <p:nvPr/>
        </p:nvSpPr>
        <p:spPr>
          <a:xfrm>
            <a:off x="609600" y="710000"/>
            <a:ext cx="10600000" cy="56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sz="23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範例程式碼：compose.yaml（Nginx + Flask）</a:t>
            </a:r>
          </a:p>
        </p:txBody>
      </p:sp>
      <p:sp>
        <p:nvSpPr>
          <p:cNvPr id="4" name="Subtitle">
            <a:extLst>
              <a:ext uri="{FF2B5EF4-FFF2-40B4-BE49-F238E27FC236}">
                <a16:creationId xmlns:a16="http://schemas.microsoft.com/office/drawing/2014/main" id="{323B0136-4615-44B6-858C-3187F16F94F3}"/>
              </a:ext>
            </a:extLst>
          </p:cNvPr>
          <p:cNvSpPr>
            <a:spLocks noGrp="1"/>
          </p:cNvSpPr>
          <p:nvPr/>
        </p:nvSpPr>
        <p:spPr>
          <a:xfrm>
            <a:off x="609600" y="126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1250">
                <a:solidFill>
                  <a:srgbClr val="CBD5E1"/>
                </a:solidFill>
                <a:latin typeface="Aptos"/>
                <a:ea typeface="Aptos"/>
                <a:cs typeface="Aptos"/>
              </a:rPr>
              <a:t>第 3 堂 | 可直接照做的完整範例</a:t>
            </a:r>
          </a:p>
        </p:txBody>
      </p:sp>
      <p:sp>
        <p:nvSpPr>
          <p:cNvPr id="5" name="CodeBackground">
            <a:extLst>
              <a:ext uri="{FF2B5EF4-FFF2-40B4-BE49-F238E27FC236}">
                <a16:creationId xmlns:a16="http://schemas.microsoft.com/office/drawing/2014/main" id="{5AF73C6B-4F9A-4EE7-9112-9ACD73CA5F4C}"/>
              </a:ext>
            </a:extLst>
          </p:cNvPr>
          <p:cNvSpPr>
            <a:spLocks noGrp="1"/>
          </p:cNvSpPr>
          <p:nvPr/>
        </p:nvSpPr>
        <p:spPr>
          <a:xfrm>
            <a:off x="609600" y="1680000"/>
            <a:ext cx="10972800" cy="4370000"/>
          </a:xfrm>
          <a:prstGeom prst="roundRect">
            <a:avLst/>
          </a:prstGeom>
          <a:solidFill>
            <a:srgbClr val="111827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6" name="Code">
            <a:extLst>
              <a:ext uri="{FF2B5EF4-FFF2-40B4-BE49-F238E27FC236}">
                <a16:creationId xmlns:a16="http://schemas.microsoft.com/office/drawing/2014/main" id="{FD534A58-388B-45A0-ACFE-A10572319886}"/>
              </a:ext>
            </a:extLst>
          </p:cNvPr>
          <p:cNvSpPr>
            <a:spLocks noGrp="1"/>
          </p:cNvSpPr>
          <p:nvPr/>
        </p:nvSpPr>
        <p:spPr>
          <a:xfrm>
            <a:off x="810000" y="1870000"/>
            <a:ext cx="10550000" cy="398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services: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web: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image: nginx:alpine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container_name: compose-nginx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restart: unless-stopped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ports: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- "8080:80"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volumes: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- ./nginx/default.conf:/etc/nginx/conf.d/default.conf:ro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depends_on: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- app</a:t>
            </a:r>
          </a:p>
          <a:p>
            <a:endParaRPr sz="1150">
              <a:solidFill>
                <a:srgbClr val="E5E7EB"/>
              </a:solidFill>
              <a:latin typeface="Consolas"/>
              <a:ea typeface="Consolas"/>
              <a:cs typeface="Consolas"/>
            </a:endParaRP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app: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image: python:3.11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container_name: compose-flask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working_dir: /app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restart: unless-stopped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volumes: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- ./app:/app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expose: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- "5000"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command: bash -c "pip install -r requirements.txt &amp;&amp; python app.py"</a:t>
            </a:r>
          </a:p>
        </p:txBody>
      </p:sp>
      <p:sp>
        <p:nvSpPr>
          <p:cNvPr id="7" name="Footer">
            <a:extLst>
              <a:ext uri="{FF2B5EF4-FFF2-40B4-BE49-F238E27FC236}">
                <a16:creationId xmlns:a16="http://schemas.microsoft.com/office/drawing/2014/main" id="{BA12A03C-B4E1-4C98-9FE4-16BFA62FE74A}"/>
              </a:ext>
            </a:extLst>
          </p:cNvPr>
          <p:cNvSpPr>
            <a:spLocks noGrp="1"/>
          </p:cNvSpPr>
          <p:nvPr/>
        </p:nvSpPr>
        <p:spPr>
          <a:xfrm>
            <a:off x="609600" y="6330000"/>
            <a:ext cx="7800000" cy="24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Aptos"/>
                <a:ea typeface="Aptos"/>
                <a:cs typeface="Aptos"/>
              </a:rPr>
              <a:t>Docker 基礎教學 | 第 3 堂 | 範例程式碼</a:t>
            </a:r>
          </a:p>
        </p:txBody>
      </p:sp>
      <p:sp>
        <p:nvSpPr>
          <p:cNvPr id="8" name="Page">
            <a:extLst>
              <a:ext uri="{FF2B5EF4-FFF2-40B4-BE49-F238E27FC236}">
                <a16:creationId xmlns:a16="http://schemas.microsoft.com/office/drawing/2014/main" id="{16DDE08F-61AF-4B4B-AF89-7B087CC4D39C}"/>
              </a:ext>
            </a:extLst>
          </p:cNvPr>
          <p:cNvSpPr>
            <a:spLocks noGrp="1"/>
          </p:cNvSpPr>
          <p:nvPr/>
        </p:nvSpPr>
        <p:spPr>
          <a:xfrm>
            <a:off x="10850000" y="6330000"/>
            <a:ext cx="650000" cy="24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Aptos"/>
                <a:ea typeface="Aptos"/>
                <a:cs typeface="Aptos"/>
              </a:rPr>
              <a:t>CODE</a:t>
            </a:r>
          </a:p>
        </p:txBody>
      </p:sp>
    </p:spTree>
    <p:extLst>
      <p:ext uri="{BB962C8B-B14F-4D97-AF65-F5344CB8AC3E}">
        <p14:creationId xmlns:p14="http://schemas.microsoft.com/office/powerpoint/2010/main" val="532388419"/>
      </p:ext>
    </p:extLst>
  </p:cSld>
  <p:clrMapOvr>
    <a:masterClrMapping/>
  </p:clrMapOvr>
</p:sld>
</file>

<file path=ppt/slides/slide30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>
            <a:extLst>
              <a:ext uri="{FF2B5EF4-FFF2-40B4-BE49-F238E27FC236}">
                <ns2:creationId id="{96D58D26-6956-47B3-B68B-681BAF021991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619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900" b="1">
                <a:solidFill>
                  <a:srgbClr val="0B5CA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5CAD"/>
                </a:solidFill>
                <a:latin typeface="Aptos"/>
                <a:ea typeface="Aptos"/>
                <a:cs typeface="Aptos"/>
              </a:rPr>
              <a:t>COMPOSE LAB</a:t>
            </a:r>
          </a:p>
        </p:txBody>
      </p:sp>
      <p:sp>
        <p:nvSpPr>
          <p:cNvPr id="2" name="矩形 1">
            <a:extLst>
              <a:ext uri="{FF2B5EF4-FFF2-40B4-BE49-F238E27FC236}">
                <ns2:creationId id="{531F5298-34CB-439F-B4CF-B8B8494FEEB6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9906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95000"/>
              </a:lnSpc>
              <a:buNone/>
              <a:defRPr sz="28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下一段：Nginx + Flask + MySQL 完整實作</a:t>
            </a:r>
          </a:p>
        </p:txBody>
      </p:sp>
      <p:sp>
        <p:nvSpPr>
          <p:cNvPr id="3" name="矩形: 圓角 2">
            <a:extLst>
              <a:ext uri="{FF2B5EF4-FFF2-40B4-BE49-F238E27FC236}">
                <ns2:creationId id="{D7543E95-E053-4F61-BD58-361C6115308F}"/>
              </a:ext>
            </a:extLst>
          </p:cNvPr>
          <p:cNvSpPr>
            <a:spLocks noGrp="1"/>
          </p:cNvSpPr>
          <p:nvPr/>
        </p:nvSpPr>
        <p:spPr>
          <a:xfrm>
            <a:off x="762000" y="2190750"/>
            <a:ext cx="2857500" cy="1809750"/>
          </a:xfrm>
          <a:prstGeom prst="roundRect">
            <a:avLst>
              <a:gd name="adj" fmla="val 6316"/>
            </a:avLst>
          </a:prstGeom>
          <a:solidFill>
            <a:srgbClr val="E8F3FF"/>
          </a:solidFill>
          <a:ln w="9525">
            <a:solidFill>
              <a:srgbClr val="B7DCF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4" name="矩形 3">
            <a:extLst>
              <a:ext uri="{FF2B5EF4-FFF2-40B4-BE49-F238E27FC236}">
                <ns2:creationId id="{FBA7E642-D611-41EC-8307-CA62384A36CB}"/>
              </a:ext>
            </a:extLst>
          </p:cNvPr>
          <p:cNvSpPr>
            <a:spLocks noGrp="1"/>
          </p:cNvSpPr>
          <p:nvPr/>
        </p:nvSpPr>
        <p:spPr>
          <a:xfrm>
            <a:off x="990600" y="2381250"/>
            <a:ext cx="2400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lnSpc>
                <a:spcPct val="106000"/>
              </a:lnSpc>
              <a:buNone/>
              <a:defRPr sz="2550" b="1">
                <a:solidFill>
                  <a:srgbClr val="0B5CAD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B5CAD"/>
                </a:solidFill>
                <a:latin typeface="Aptos Display"/>
                <a:ea typeface="Aptos Display"/>
                <a:cs typeface="Aptos Display"/>
              </a:rPr>
              <a:t>web</a:t>
            </a:r>
          </a:p>
        </p:txBody>
      </p:sp>
      <p:sp>
        <p:nvSpPr>
          <p:cNvPr id="5" name="矩形 4">
            <a:extLst>
              <a:ext uri="{FF2B5EF4-FFF2-40B4-BE49-F238E27FC236}">
                <ns2:creationId id="{412E79EA-94BE-40E7-AAAF-6A210C029C35}"/>
              </a:ext>
            </a:extLst>
          </p:cNvPr>
          <p:cNvSpPr>
            <a:spLocks noGrp="1"/>
          </p:cNvSpPr>
          <p:nvPr/>
        </p:nvSpPr>
        <p:spPr>
          <a:xfrm>
            <a:off x="990600" y="2800350"/>
            <a:ext cx="2400300" cy="1009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lnSpc>
                <a:spcPct val="106000"/>
              </a:lnSpc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nginx:alpine</a:t>
            </a:r>
          </a:p>
          <a:p>
            <a:pPr algn="ctr">
              <a:lnSpc>
                <a:spcPct val="106000"/>
              </a:lnSpc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8080:80</a:t>
            </a:r>
          </a:p>
          <a:p>
            <a:pPr algn="ctr">
              <a:lnSpc>
                <a:spcPct val="106000"/>
              </a:lnSpc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proxy app:5000</a:t>
            </a:r>
          </a:p>
        </p:txBody>
      </p:sp>
      <p:sp>
        <p:nvSpPr>
          <p:cNvPr id="6" name="箭號: 向右 5">
            <a:extLst>
              <a:ext uri="{FF2B5EF4-FFF2-40B4-BE49-F238E27FC236}">
                <ns2:creationId id="{3DEE1030-DDDB-4356-AFC2-A265DB9238EB}"/>
              </a:ext>
            </a:extLst>
          </p:cNvPr>
          <p:cNvSpPr>
            <a:spLocks noGrp="1"/>
          </p:cNvSpPr>
          <p:nvPr/>
        </p:nvSpPr>
        <p:spPr>
          <a:xfrm>
            <a:off x="3619500" y="2914650"/>
            <a:ext cx="914400" cy="361950"/>
          </a:xfrm>
          <a:prstGeom prst="rightArrow">
            <a:avLst/>
          </a:prstGeom>
          <a:solidFill>
            <a:srgbClr val="00A97F"/>
          </a:solidFill>
          <a:ln w="0">
            <a:solidFill>
              <a:srgbClr val="00A97F"/>
            </a:solidFill>
            <a:prstDash val="solid"/>
          </a:ln>
        </p:spPr>
      </p:sp>
      <p:sp>
        <p:nvSpPr>
          <p:cNvPr id="15" name="app-bg 15">
            <a:extLst>
              <a:ext uri="{FF2B5EF4-FFF2-40B4-BE49-F238E27FC236}">
                <ns2:creationId id="{D7543E95-E053-4F61-BD58-361C6115308F}"/>
              </a:ext>
            </a:extLst>
          </p:cNvPr>
          <p:cNvSpPr>
            <a:spLocks noGrp="1"/>
          </p:cNvSpPr>
          <p:nvPr/>
        </p:nvSpPr>
        <p:spPr>
          <a:xfrm>
            <a:off x="4670000" y="2190750"/>
            <a:ext cx="2857500" cy="1809750"/>
          </a:xfrm>
          <a:prstGeom prst="roundRect">
            <a:avLst>
              <a:gd name="adj" fmla="val 6316"/>
            </a:avLst>
          </a:prstGeom>
          <a:solidFill>
            <a:srgbClr val="E8F3FF"/>
          </a:solidFill>
          <a:ln w="9525">
            <a:solidFill>
              <a:srgbClr val="B7DCF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6" name="app-title 16">
            <a:extLst>
              <a:ext uri="{FF2B5EF4-FFF2-40B4-BE49-F238E27FC236}">
                <ns2:creationId id="{FBA7E642-D611-41EC-8307-CA62384A36CB}"/>
              </a:ext>
            </a:extLst>
          </p:cNvPr>
          <p:cNvSpPr>
            <a:spLocks noGrp="1"/>
          </p:cNvSpPr>
          <p:nvPr/>
        </p:nvSpPr>
        <p:spPr>
          <a:xfrm>
            <a:off x="4898600" y="2381250"/>
            <a:ext cx="2400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lnSpc>
                <a:spcPct val="106000"/>
              </a:lnSpc>
              <a:buNone/>
              <a:defRPr sz="2550" b="1">
                <a:solidFill>
                  <a:srgbClr val="0B5CAD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B5CAD"/>
                </a:solidFill>
                <a:latin typeface="Aptos Display"/>
                <a:ea typeface="Aptos Display"/>
                <a:cs typeface="Aptos Display"/>
              </a:rPr>
              <a:t>app</a:t>
            </a:r>
          </a:p>
        </p:txBody>
      </p:sp>
      <p:sp>
        <p:nvSpPr>
          <p:cNvPr id="17" name="app-body 17">
            <a:extLst>
              <a:ext uri="{FF2B5EF4-FFF2-40B4-BE49-F238E27FC236}">
                <ns2:creationId id="{412E79EA-94BE-40E7-AAAF-6A210C029C35}"/>
              </a:ext>
            </a:extLst>
          </p:cNvPr>
          <p:cNvSpPr>
            <a:spLocks noGrp="1"/>
          </p:cNvSpPr>
          <p:nvPr/>
        </p:nvSpPr>
        <p:spPr>
          <a:xfrm>
            <a:off x="4898600" y="2800350"/>
            <a:ext cx="2400300" cy="1009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lnSpc>
                <a:spcPct val="106000"/>
              </a:lnSpc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python:3.11</a:t>
            </a:r>
          </a:p>
          <a:p>
            <a:pPr algn="ctr">
              <a:lnSpc>
                <a:spcPct val="106000"/>
              </a:lnSpc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expose 5000</a:t>
            </a:r>
          </a:p>
          <a:p>
            <a:pPr algn="ctr">
              <a:lnSpc>
                <a:spcPct val="106000"/>
              </a:lnSpc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DB_HOST=db</a:t>
            </a:r>
          </a:p>
        </p:txBody>
      </p:sp>
      <p:sp>
        <p:nvSpPr>
          <p:cNvPr id="18" name="arrow 18">
            <a:extLst>
              <a:ext uri="{FF2B5EF4-FFF2-40B4-BE49-F238E27FC236}">
                <ns2:creationId id="{3DEE1030-DDDB-4356-AFC2-A265DB9238EB}"/>
              </a:ext>
            </a:extLst>
          </p:cNvPr>
          <p:cNvSpPr>
            <a:spLocks noGrp="1"/>
          </p:cNvSpPr>
          <p:nvPr/>
        </p:nvSpPr>
        <p:spPr>
          <a:xfrm>
            <a:off x="7543800" y="2914650"/>
            <a:ext cx="914400" cy="361950"/>
          </a:xfrm>
          <a:prstGeom prst="rightArrow">
            <a:avLst/>
          </a:prstGeom>
          <a:solidFill>
            <a:srgbClr val="00A97F"/>
          </a:solidFill>
          <a:ln w="0">
            <a:solidFill>
              <a:srgbClr val="00A97F"/>
            </a:solidFill>
            <a:prstDash val="solid"/>
          </a:ln>
        </p:spPr>
      </p:sp>
      <p:sp>
        <p:nvSpPr>
          <p:cNvPr id="7" name="矩形: 圓角 6">
            <a:extLst>
              <a:ext uri="{FF2B5EF4-FFF2-40B4-BE49-F238E27FC236}">
                <ns2:creationId id="{BECBE324-C5C4-40A4-A155-F0AD81F28311}"/>
              </a:ext>
            </a:extLst>
          </p:cNvPr>
          <p:cNvSpPr>
            <a:spLocks noGrp="1"/>
          </p:cNvSpPr>
          <p:nvPr/>
        </p:nvSpPr>
        <p:spPr>
          <a:xfrm>
            <a:off x="8580000" y="2190750"/>
            <a:ext cx="2857500" cy="1809750"/>
          </a:xfrm>
          <a:prstGeom prst="roundRect">
            <a:avLst>
              <a:gd name="adj" fmla="val 6316"/>
            </a:avLst>
          </a:prstGeom>
          <a:solidFill>
            <a:srgbClr val="FFF6DD"/>
          </a:solidFill>
          <a:ln w="9525">
            <a:solidFill>
              <a:srgbClr val="F59E0B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8" name="矩形 7">
            <a:extLst>
              <a:ext uri="{FF2B5EF4-FFF2-40B4-BE49-F238E27FC236}">
                <ns2:creationId id="{18C96E05-42D6-426F-9E39-F26B5455104E}"/>
              </a:ext>
            </a:extLst>
          </p:cNvPr>
          <p:cNvSpPr>
            <a:spLocks noGrp="1"/>
          </p:cNvSpPr>
          <p:nvPr/>
        </p:nvSpPr>
        <p:spPr>
          <a:xfrm>
            <a:off x="8808600" y="2381250"/>
            <a:ext cx="2400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lnSpc>
                <a:spcPct val="106000"/>
              </a:lnSpc>
              <a:buNone/>
              <a:defRPr sz="2550" b="1">
                <a:solidFill>
                  <a:srgbClr val="B45309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B45309"/>
                </a:solidFill>
                <a:latin typeface="Aptos Display"/>
                <a:ea typeface="Aptos Display"/>
                <a:cs typeface="Aptos Display"/>
              </a:rPr>
              <a:t>db</a:t>
            </a:r>
          </a:p>
        </p:txBody>
      </p:sp>
      <p:sp>
        <p:nvSpPr>
          <p:cNvPr id="9" name="矩形 8">
            <a:extLst>
              <a:ext uri="{FF2B5EF4-FFF2-40B4-BE49-F238E27FC236}">
                <ns2:creationId id="{3DC26342-4228-40DB-83E4-AFD769D68D97}"/>
              </a:ext>
            </a:extLst>
          </p:cNvPr>
          <p:cNvSpPr>
            <a:spLocks noGrp="1"/>
          </p:cNvSpPr>
          <p:nvPr/>
        </p:nvSpPr>
        <p:spPr>
          <a:xfrm>
            <a:off x="8808600" y="2800350"/>
            <a:ext cx="2400300" cy="1009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lnSpc>
                <a:spcPct val="106000"/>
              </a:lnSpc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mysql:8.0</a:t>
            </a:r>
          </a:p>
          <a:p>
            <a:pPr algn="ctr">
              <a:lnSpc>
                <a:spcPct val="106000"/>
              </a:lnSpc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3306:3306</a:t>
            </a:r>
          </a:p>
          <a:p>
            <a:pPr algn="ctr">
              <a:lnSpc>
                <a:spcPct val="106000"/>
              </a:lnSpc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db-data:/var/lib/mysql</a:t>
            </a:r>
          </a:p>
        </p:txBody>
      </p:sp>
      <p:sp>
        <p:nvSpPr>
          <p:cNvPr id="10" name="矩形: 圓角 9">
            <a:extLst>
              <a:ext uri="{FF2B5EF4-FFF2-40B4-BE49-F238E27FC236}">
                <ns2:creationId id="{45F95F12-5EAE-4C8C-8431-DF60F81EDB97}"/>
              </a:ext>
            </a:extLst>
          </p:cNvPr>
          <p:cNvSpPr>
            <a:spLocks noGrp="1"/>
          </p:cNvSpPr>
          <p:nvPr/>
        </p:nvSpPr>
        <p:spPr>
          <a:xfrm>
            <a:off x="4057650" y="4495800"/>
            <a:ext cx="4076700" cy="609600"/>
          </a:xfrm>
          <a:prstGeom prst="roundRect">
            <a:avLst>
              <a:gd name="adj" fmla="val 15625"/>
            </a:avLst>
          </a:prstGeom>
          <a:solidFill>
            <a:srgbClr val="E7F8F2"/>
          </a:solidFill>
          <a:ln w="9525">
            <a:solidFill>
              <a:srgbClr val="00A97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1" name="矩形 10">
            <a:extLst>
              <a:ext uri="{FF2B5EF4-FFF2-40B4-BE49-F238E27FC236}">
                <ns2:creationId id="{5E4F2BA7-319A-4B4F-9D60-CB172BB2364E}"/>
              </a:ext>
            </a:extLst>
          </p:cNvPr>
          <p:cNvSpPr>
            <a:spLocks noGrp="1"/>
          </p:cNvSpPr>
          <p:nvPr/>
        </p:nvSpPr>
        <p:spPr>
          <a:xfrm>
            <a:off x="4362450" y="4686300"/>
            <a:ext cx="3467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lnSpc>
                <a:spcPct val="106000"/>
              </a:lnSpc>
              <a:buNone/>
              <a:defRPr sz="1500" b="1">
                <a:solidFill>
                  <a:srgbClr val="04785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47857"/>
                </a:solidFill>
                <a:latin typeface="Aptos"/>
                <a:ea typeface="Aptos"/>
                <a:cs typeface="Aptos"/>
              </a:rPr>
              <a:t>這段由老師帶著做，重點是 Nginx 用 app、Flask 用 db 兩段 service name。</a:t>
            </a:r>
          </a:p>
        </p:txBody>
      </p:sp>
      <p:sp>
        <p:nvSpPr>
          <p:cNvPr id="12" name="矩形 11">
            <a:extLst>
              <a:ext uri="{FF2B5EF4-FFF2-40B4-BE49-F238E27FC236}">
                <ns2:creationId id="{4D6537A2-DAB9-4330-A390-0B2C7290ED4B}"/>
              </a:ext>
            </a:extLst>
          </p:cNvPr>
          <p:cNvSpPr>
            <a:spLocks noGrp="1"/>
          </p:cNvSpPr>
          <p:nvPr/>
        </p:nvSpPr>
        <p:spPr>
          <a:xfrm>
            <a:off x="609600" y="6305550"/>
            <a:ext cx="9906000" cy="13335"/>
          </a:xfrm>
          <a:prstGeom prst="rect">
            <a:avLst/>
          </a:prstGeom>
          <a:solidFill>
            <a:srgbClr val="D9E2EC"/>
          </a:solidFill>
          <a:ln w="0">
            <a:noFill/>
            <a:prstDash val="solid"/>
          </a:ln>
        </p:spPr>
      </p:sp>
      <p:sp>
        <p:nvSpPr>
          <p:cNvPr id="13" name="矩形 12">
            <a:extLst>
              <a:ext uri="{FF2B5EF4-FFF2-40B4-BE49-F238E27FC236}">
                <ns2:creationId id="{8D37674C-273F-4B0D-BD12-98A95411085E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2762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Docker 基礎教學 | 第 3 堂</a:t>
            </a:r>
          </a:p>
        </p:txBody>
      </p:sp>
      <p:sp>
        <p:nvSpPr>
          <p:cNvPr id="14" name="矩形 13">
            <a:extLst>
              <a:ext uri="{FF2B5EF4-FFF2-40B4-BE49-F238E27FC236}">
                <ns2:creationId id="{1FC8BA44-EAEF-42EF-969D-58C83BE64F2C}"/>
              </a:ext>
            </a:extLst>
          </p:cNvPr>
          <p:cNvSpPr>
            <a:spLocks noGrp="1"/>
          </p:cNvSpPr>
          <p:nvPr/>
        </p:nvSpPr>
        <p:spPr>
          <a:xfrm>
            <a:off x="11010900" y="6381750"/>
            <a:ext cx="571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106000"/>
              </a:lnSpc>
              <a:buNone/>
              <a:defRPr sz="9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25</a:t>
            </a:r>
          </a:p>
        </p:txBody>
      </p:sp>
    </p:spTree>
    <p:extLst>
      <p:ext uri="{BB962C8B-B14F-4D97-AF65-F5344CB8AC3E}">
        <ns3:creationId val="1952722717"/>
      </p:ext>
    </p:extLst>
  </p:cSld>
  <p:clrMapOvr>
    <a:masterClrMapping/>
  </p:clrMapOvr>
</p:sld>
</file>

<file path=ppt/slides/slide31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>
            <a:extLst>
              <a:ext uri="{FF2B5EF4-FFF2-40B4-BE49-F238E27FC236}">
                <ns2:creationId id="{F5F6E50D-6D30-4F37-8FA5-007A176C56CC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619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900" b="1">
                <a:solidFill>
                  <a:srgbClr val="A5B4F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5B4FC"/>
                </a:solidFill>
                <a:latin typeface="Aptos"/>
                <a:ea typeface="Aptos"/>
                <a:cs typeface="Aptos"/>
              </a:rPr>
              <a:t>COMPOSE.YAML</a:t>
            </a:r>
          </a:p>
        </p:txBody>
      </p:sp>
      <p:sp>
        <p:nvSpPr>
          <p:cNvPr id="2" name="矩形 1">
            <a:extLst>
              <a:ext uri="{FF2B5EF4-FFF2-40B4-BE49-F238E27FC236}">
                <ns2:creationId id="{719BC23C-60C0-421F-AE44-9C30942A3895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9906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95000"/>
              </a:lnSpc>
              <a:buNone/>
              <a:def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Nginx + Flask + MySQL：三個 service</a:t>
            </a:r>
          </a:p>
        </p:txBody>
      </p:sp>
      <p:sp>
        <p:nvSpPr>
          <p:cNvPr id="3" name="矩形: 圓角 2">
            <a:extLst>
              <a:ext uri="{FF2B5EF4-FFF2-40B4-BE49-F238E27FC236}">
                <ns2:creationId id="{CA3C863A-6120-4B59-846C-3E1502B0227D}"/>
              </a:ext>
            </a:extLst>
          </p:cNvPr>
          <p:cNvSpPr>
            <a:spLocks noGrp="1"/>
          </p:cNvSpPr>
          <p:nvPr/>
        </p:nvSpPr>
        <p:spPr>
          <a:xfrm>
            <a:off x="781050" y="1352550"/>
            <a:ext cx="6191250" cy="4324350"/>
          </a:xfrm>
          <a:prstGeom prst="roundRect">
            <a:avLst>
              <a:gd name="adj" fmla="val 2203"/>
            </a:avLst>
          </a:prstGeom>
          <a:solidFill>
            <a:srgbClr val="0B1220"/>
          </a:solidFill>
          <a:ln w="9525">
            <a:solidFill>
              <a:srgbClr val="1E293B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sp>
        <p:nvSpPr>
          <p:cNvPr id="4" name="橢圓 3">
            <a:extLst>
              <a:ext uri="{FF2B5EF4-FFF2-40B4-BE49-F238E27FC236}">
                <ns2:creationId id="{0EE3B805-8BB9-4395-B89E-B3E7CB10A4D0}"/>
              </a:ext>
            </a:extLst>
          </p:cNvPr>
          <p:cNvSpPr>
            <a:spLocks noGrp="1"/>
          </p:cNvSpPr>
          <p:nvPr/>
        </p:nvSpPr>
        <p:spPr>
          <a:xfrm>
            <a:off x="952500" y="1514475"/>
            <a:ext cx="95250" cy="95250"/>
          </a:xfrm>
          <a:prstGeom prst="ellipse">
            <a:avLst/>
          </a:prstGeom>
          <a:solidFill>
            <a:srgbClr val="FB7185"/>
          </a:solidFill>
          <a:ln w="0">
            <a:noFill/>
            <a:prstDash val="solid"/>
          </a:ln>
        </p:spPr>
      </p:sp>
      <p:sp>
        <p:nvSpPr>
          <p:cNvPr id="5" name="橢圓 4">
            <a:extLst>
              <a:ext uri="{FF2B5EF4-FFF2-40B4-BE49-F238E27FC236}">
                <ns2:creationId id="{8A6AC720-D60C-4834-843F-1D41CE4E28F4}"/>
              </a:ext>
            </a:extLst>
          </p:cNvPr>
          <p:cNvSpPr>
            <a:spLocks noGrp="1"/>
          </p:cNvSpPr>
          <p:nvPr/>
        </p:nvSpPr>
        <p:spPr>
          <a:xfrm>
            <a:off x="1123950" y="1514475"/>
            <a:ext cx="95250" cy="95250"/>
          </a:xfrm>
          <a:prstGeom prst="ellipse">
            <a:avLst/>
          </a:prstGeom>
          <a:solidFill>
            <a:srgbClr val="FBBF24"/>
          </a:solidFill>
          <a:ln w="0">
            <a:noFill/>
            <a:prstDash val="solid"/>
          </a:ln>
        </p:spPr>
      </p:sp>
      <p:sp>
        <p:nvSpPr>
          <p:cNvPr id="6" name="橢圓 5">
            <a:extLst>
              <a:ext uri="{FF2B5EF4-FFF2-40B4-BE49-F238E27FC236}">
                <ns2:creationId id="{3D8E5DA2-972C-482D-9CA4-75FB49827877}"/>
              </a:ext>
            </a:extLst>
          </p:cNvPr>
          <p:cNvSpPr>
            <a:spLocks noGrp="1"/>
          </p:cNvSpPr>
          <p:nvPr/>
        </p:nvSpPr>
        <p:spPr>
          <a:xfrm>
            <a:off x="1295400" y="1514475"/>
            <a:ext cx="95250" cy="95250"/>
          </a:xfrm>
          <a:prstGeom prst="ellipse">
            <a:avLst/>
          </a:prstGeom>
          <a:solidFill>
            <a:srgbClr val="34D399"/>
          </a:solidFill>
          <a:ln w="0">
            <a:noFill/>
            <a:prstDash val="solid"/>
          </a:ln>
        </p:spPr>
      </p:sp>
      <p:sp>
        <p:nvSpPr>
          <p:cNvPr id="7" name="矩形 6">
            <a:extLst>
              <a:ext uri="{FF2B5EF4-FFF2-40B4-BE49-F238E27FC236}">
                <ns2:creationId id="{49B22E41-4D3A-47CF-B07B-370413B3D7FB}"/>
              </a:ext>
            </a:extLst>
          </p:cNvPr>
          <p:cNvSpPr>
            <a:spLocks noGrp="1"/>
          </p:cNvSpPr>
          <p:nvPr/>
        </p:nvSpPr>
        <p:spPr>
          <a:xfrm>
            <a:off x="990600" y="1771650"/>
            <a:ext cx="5772150" cy="3771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4000"/>
              </a:lnSpc>
              <a:buNone/>
              <a:defRPr sz="135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services:</a:t>
            </a:r>
          </a:p>
          <a:p>
            <a:pPr algn="l">
              <a:lnSpc>
                <a:spcPct val="104000"/>
              </a:lnSpc>
              <a:buNone/>
              <a:defRPr sz="135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web:</a:t>
            </a:r>
          </a:p>
          <a:p>
            <a:pPr algn="l">
              <a:lnSpc>
                <a:spcPct val="104000"/>
              </a:lnSpc>
              <a:buNone/>
              <a:defRPr sz="135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image: nginx:alpine</a:t>
            </a:r>
          </a:p>
          <a:p>
            <a:pPr algn="l">
              <a:lnSpc>
                <a:spcPct val="104000"/>
              </a:lnSpc>
              <a:buNone/>
              <a:defRPr sz="135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ports: ["8080:80"]</a:t>
            </a:r>
          </a:p>
          <a:p>
            <a:pPr algn="l">
              <a:lnSpc>
                <a:spcPct val="104000"/>
              </a:lnSpc>
              <a:buNone/>
              <a:defRPr sz="135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depends_on: [app]</a:t>
            </a:r>
          </a:p>
          <a:p>
            <a:pPr algn="l">
              <a:lnSpc>
                <a:spcPct val="104000"/>
              </a:lnSpc>
              <a:buNone/>
              <a:defRPr sz="135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 algn="l">
              <a:lnSpc>
                <a:spcPct val="104000"/>
              </a:lnSpc>
              <a:buNone/>
              <a:defRPr sz="135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app:</a:t>
            </a:r>
          </a:p>
          <a:p>
            <a:pPr algn="l">
              <a:lnSpc>
                <a:spcPct val="104000"/>
              </a:lnSpc>
              <a:buNone/>
              <a:defRPr sz="135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image: python:3.11</a:t>
            </a:r>
          </a:p>
          <a:p>
            <a:pPr algn="l">
              <a:lnSpc>
                <a:spcPct val="104000"/>
              </a:lnSpc>
              <a:buNone/>
              <a:defRPr sz="135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expose: ["5000"]</a:t>
            </a:r>
          </a:p>
          <a:p>
            <a:pPr algn="l">
              <a:lnSpc>
                <a:spcPct val="104000"/>
              </a:lnSpc>
              <a:buNone/>
              <a:defRPr sz="135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environment: { DB_HOST: db }</a:t>
            </a:r>
          </a:p>
          <a:p>
            <a:pPr algn="l">
              <a:lnSpc>
                <a:spcPct val="104000"/>
              </a:lnSpc>
              <a:buNone/>
              <a:defRPr sz="135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depends_on: [db]</a:t>
            </a:r>
          </a:p>
          <a:p>
            <a:pPr algn="l">
              <a:lnSpc>
                <a:spcPct val="104000"/>
              </a:lnSpc>
              <a:buNone/>
              <a:defRPr sz="135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 algn="l">
              <a:lnSpc>
                <a:spcPct val="104000"/>
              </a:lnSpc>
              <a:buNone/>
              <a:defRPr sz="135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db:</a:t>
            </a:r>
          </a:p>
          <a:p>
            <a:pPr algn="l">
              <a:lnSpc>
                <a:spcPct val="104000"/>
              </a:lnSpc>
              <a:buNone/>
              <a:defRPr sz="135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image: mysql:8.0</a:t>
            </a:r>
          </a:p>
          <a:p>
            <a:pPr algn="l">
              <a:lnSpc>
                <a:spcPct val="104000"/>
              </a:lnSpc>
              <a:buNone/>
              <a:defRPr sz="135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volumes: [db-data:/var/lib/mysql]</a:t>
            </a:r>
          </a:p>
          <a:p>
            <a:pPr algn="l">
              <a:lnSpc>
                <a:spcPct val="104000"/>
              </a:lnSpc>
              <a:buNone/>
              <a:defRPr sz="135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 algn="l">
              <a:lnSpc>
                <a:spcPct val="104000"/>
              </a:lnSpc>
              <a:buNone/>
              <a:defRPr sz="135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volumes: { db-data: }</a:t>
            </a:r>
          </a:p>
        </p:txBody>
      </p:sp>
      <p:sp>
        <p:nvSpPr>
          <p:cNvPr id="8" name="矩形: 圓角 7">
            <a:extLst>
              <a:ext uri="{FF2B5EF4-FFF2-40B4-BE49-F238E27FC236}">
                <ns2:creationId id="{83E9D994-B65F-48F1-9CF3-8CD8B4E21661}"/>
              </a:ext>
            </a:extLst>
          </p:cNvPr>
          <p:cNvSpPr>
            <a:spLocks noGrp="1"/>
          </p:cNvSpPr>
          <p:nvPr/>
        </p:nvSpPr>
        <p:spPr>
          <a:xfrm>
            <a:off x="7715250" y="1790700"/>
            <a:ext cx="3048000" cy="1123950"/>
          </a:xfrm>
          <a:prstGeom prst="roundRect">
            <a:avLst>
              <a:gd name="adj" fmla="val 10169"/>
            </a:avLst>
          </a:prstGeom>
          <a:solidFill>
            <a:srgbClr val="111827"/>
          </a:solidFill>
          <a:ln w="9525">
            <a:solidFill>
              <a:srgbClr val="33415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9" name="矩形 8">
            <a:extLst>
              <a:ext uri="{FF2B5EF4-FFF2-40B4-BE49-F238E27FC236}">
                <ns2:creationId id="{96912E67-435C-4960-BA49-8E1581214B84}"/>
              </a:ext>
            </a:extLst>
          </p:cNvPr>
          <p:cNvSpPr>
            <a:spLocks noGrp="1"/>
          </p:cNvSpPr>
          <p:nvPr/>
        </p:nvSpPr>
        <p:spPr>
          <a:xfrm>
            <a:off x="7943850" y="1981200"/>
            <a:ext cx="2590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6000"/>
              </a:lnSpc>
              <a:buNone/>
              <a:defRPr sz="2100" b="1">
                <a:solidFill>
                  <a:srgbClr val="93C5FD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93C5FD"/>
                </a:solidFill>
                <a:latin typeface="Aptos Display"/>
                <a:ea typeface="Aptos Display"/>
                <a:cs typeface="Aptos Display"/>
              </a:rPr>
              <a:t>web</a:t>
            </a:r>
          </a:p>
        </p:txBody>
      </p:sp>
      <p:sp>
        <p:nvSpPr>
          <p:cNvPr id="10" name="矩形 9">
            <a:extLst>
              <a:ext uri="{FF2B5EF4-FFF2-40B4-BE49-F238E27FC236}">
                <ns2:creationId id="{7651D17A-B978-4D35-86B6-E23C0034438E}"/>
              </a:ext>
            </a:extLst>
          </p:cNvPr>
          <p:cNvSpPr>
            <a:spLocks noGrp="1"/>
          </p:cNvSpPr>
          <p:nvPr/>
        </p:nvSpPr>
        <p:spPr>
          <a:xfrm>
            <a:off x="7943850" y="2419350"/>
            <a:ext cx="25908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6000"/>
              </a:lnSpc>
              <a:buNone/>
              <a:defRPr sz="1350" b="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2E8F0"/>
                </a:solidFill>
                <a:latin typeface="Aptos"/>
                <a:ea typeface="Aptos"/>
                <a:cs typeface="Aptos"/>
              </a:rPr>
              <a:t>Nginx 對外 8080，proxy 到 app:5000。</a:t>
            </a:r>
          </a:p>
        </p:txBody>
      </p:sp>
      <p:sp>
        <p:nvSpPr>
          <p:cNvPr id="11" name="矩形: 圓角 10">
            <a:extLst>
              <a:ext uri="{FF2B5EF4-FFF2-40B4-BE49-F238E27FC236}">
                <ns2:creationId id="{7868C442-7CEE-4950-9DB0-596E61080983}"/>
              </a:ext>
            </a:extLst>
          </p:cNvPr>
          <p:cNvSpPr>
            <a:spLocks noGrp="1"/>
          </p:cNvSpPr>
          <p:nvPr/>
        </p:nvSpPr>
        <p:spPr>
          <a:xfrm>
            <a:off x="7715250" y="3429000"/>
            <a:ext cx="3048000" cy="1123950"/>
          </a:xfrm>
          <a:prstGeom prst="roundRect">
            <a:avLst>
              <a:gd name="adj" fmla="val 10169"/>
            </a:avLst>
          </a:prstGeom>
          <a:solidFill>
            <a:srgbClr val="111827"/>
          </a:solidFill>
          <a:ln w="9525">
            <a:solidFill>
              <a:srgbClr val="33415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2" name="矩形 11">
            <a:extLst>
              <a:ext uri="{FF2B5EF4-FFF2-40B4-BE49-F238E27FC236}">
                <ns2:creationId id="{76B65744-0F9F-4D7E-B829-53961A8FD0D6}"/>
              </a:ext>
            </a:extLst>
          </p:cNvPr>
          <p:cNvSpPr>
            <a:spLocks noGrp="1"/>
          </p:cNvSpPr>
          <p:nvPr/>
        </p:nvSpPr>
        <p:spPr>
          <a:xfrm>
            <a:off x="7943850" y="3619500"/>
            <a:ext cx="2590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6000"/>
              </a:lnSpc>
              <a:buNone/>
              <a:defRPr sz="2100" b="1">
                <a:solidFill>
                  <a:srgbClr val="FBBF24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FBBF24"/>
                </a:solidFill>
                <a:latin typeface="Aptos Display"/>
                <a:ea typeface="Aptos Display"/>
                <a:cs typeface="Aptos Display"/>
              </a:rPr>
              <a:t>app / db</a:t>
            </a:r>
          </a:p>
        </p:txBody>
      </p:sp>
      <p:sp>
        <p:nvSpPr>
          <p:cNvPr id="13" name="矩形 12">
            <a:extLst>
              <a:ext uri="{FF2B5EF4-FFF2-40B4-BE49-F238E27FC236}">
                <ns2:creationId id="{741A815E-DD04-4E3B-8124-FF9D09E70645}"/>
              </a:ext>
            </a:extLst>
          </p:cNvPr>
          <p:cNvSpPr>
            <a:spLocks noGrp="1"/>
          </p:cNvSpPr>
          <p:nvPr/>
        </p:nvSpPr>
        <p:spPr>
          <a:xfrm>
            <a:off x="7943850" y="4057650"/>
            <a:ext cx="25908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6000"/>
              </a:lnSpc>
              <a:buNone/>
              <a:defRPr sz="1350" b="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2E8F0"/>
                </a:solidFill>
                <a:latin typeface="Aptos"/>
                <a:ea typeface="Aptos"/>
                <a:cs typeface="Aptos"/>
              </a:rPr>
              <a:t>Flask 用 DB_HOST=db 連 MySQL。</a:t>
            </a:r>
          </a:p>
        </p:txBody>
      </p:sp>
      <p:sp>
        <p:nvSpPr>
          <p:cNvPr id="14" name="矩形 13">
            <a:extLst>
              <a:ext uri="{FF2B5EF4-FFF2-40B4-BE49-F238E27FC236}">
                <ns2:creationId id="{D4B347B9-D0D3-4479-9F09-2EE754AF1A18}"/>
              </a:ext>
            </a:extLst>
          </p:cNvPr>
          <p:cNvSpPr>
            <a:spLocks noGrp="1"/>
          </p:cNvSpPr>
          <p:nvPr/>
        </p:nvSpPr>
        <p:spPr>
          <a:xfrm>
            <a:off x="609600" y="6305550"/>
            <a:ext cx="9906000" cy="13335"/>
          </a:xfrm>
          <a:prstGeom prst="rect">
            <a:avLst/>
          </a:prstGeom>
          <a:solidFill>
            <a:srgbClr val="334155"/>
          </a:solidFill>
          <a:ln w="0">
            <a:noFill/>
            <a:prstDash val="solid"/>
          </a:ln>
        </p:spPr>
      </p:sp>
      <p:sp>
        <p:nvSpPr>
          <p:cNvPr id="15" name="矩形 14">
            <a:extLst>
              <a:ext uri="{FF2B5EF4-FFF2-40B4-BE49-F238E27FC236}">
                <ns2:creationId id="{304A8BA3-F032-4E41-A2B0-1B6AE28E19F6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2762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82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Docker 基礎教學 | 第 3 堂</a:t>
            </a:r>
          </a:p>
        </p:txBody>
      </p:sp>
      <p:sp>
        <p:nvSpPr>
          <p:cNvPr id="16" name="矩形 15">
            <a:extLst>
              <a:ext uri="{FF2B5EF4-FFF2-40B4-BE49-F238E27FC236}">
                <ns2:creationId id="{D419D7E4-41D6-413F-86B3-143FF8D6D595}"/>
              </a:ext>
            </a:extLst>
          </p:cNvPr>
          <p:cNvSpPr>
            <a:spLocks noGrp="1"/>
          </p:cNvSpPr>
          <p:nvPr/>
        </p:nvSpPr>
        <p:spPr>
          <a:xfrm>
            <a:off x="11010900" y="6381750"/>
            <a:ext cx="571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106000"/>
              </a:lnSpc>
              <a:buNone/>
              <a:defRPr sz="900" b="1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BD5E1"/>
                </a:solidFill>
                <a:latin typeface="Aptos"/>
                <a:ea typeface="Aptos"/>
                <a:cs typeface="Aptos"/>
              </a:rPr>
              <a:t>26</a:t>
            </a:r>
          </a:p>
        </p:txBody>
      </p:sp>
    </p:spTree>
    <p:extLst>
      <p:ext uri="{BB962C8B-B14F-4D97-AF65-F5344CB8AC3E}">
        <ns3:creationId val="157049483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ppendixLabel">
            <a:extLst>
              <a:ext uri="{FF2B5EF4-FFF2-40B4-BE49-F238E27FC236}">
                <a16:creationId xmlns:a16="http://schemas.microsoft.com/office/drawing/2014/main" id="{B967A86D-740C-453C-85CE-ECDE38C0579A}"/>
              </a:ext>
            </a:extLst>
          </p:cNvPr>
          <p:cNvSpPr>
            <a:spLocks noGrp="1"/>
          </p:cNvSpPr>
          <p:nvPr/>
        </p:nvSpPr>
        <p:spPr>
          <a:xfrm>
            <a:off x="609600" y="420000"/>
            <a:ext cx="2600000" cy="26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93C5FD"/>
                </a:solidFill>
                <a:latin typeface="Aptos"/>
                <a:ea typeface="Aptos"/>
                <a:cs typeface="Aptos"/>
              </a:rPr>
              <a:t>CODE EXAMPLE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42667399-5BCE-443C-9926-36A4AF0A95B9}"/>
              </a:ext>
            </a:extLst>
          </p:cNvPr>
          <p:cNvSpPr>
            <a:spLocks noGrp="1"/>
          </p:cNvSpPr>
          <p:nvPr/>
        </p:nvSpPr>
        <p:spPr>
          <a:xfrm>
            <a:off x="609600" y="710000"/>
            <a:ext cx="10600000" cy="56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sz="23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範例程式碼：app/app.py（Nginx + Flask + MySQL 1/3）</a:t>
            </a:r>
          </a:p>
        </p:txBody>
      </p:sp>
      <p:sp>
        <p:nvSpPr>
          <p:cNvPr id="4" name="Subtitle">
            <a:extLst>
              <a:ext uri="{FF2B5EF4-FFF2-40B4-BE49-F238E27FC236}">
                <a16:creationId xmlns:a16="http://schemas.microsoft.com/office/drawing/2014/main" id="{A1F3ECF3-6798-4AA7-82D4-8313601A3442}"/>
              </a:ext>
            </a:extLst>
          </p:cNvPr>
          <p:cNvSpPr>
            <a:spLocks noGrp="1"/>
          </p:cNvSpPr>
          <p:nvPr/>
        </p:nvSpPr>
        <p:spPr>
          <a:xfrm>
            <a:off x="609600" y="126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1250">
                <a:solidFill>
                  <a:srgbClr val="CBD5E1"/>
                </a:solidFill>
                <a:latin typeface="Aptos"/>
                <a:ea typeface="Aptos"/>
                <a:cs typeface="Aptos"/>
              </a:rPr>
              <a:t>第 3 堂 | 可直接照做的完整範例</a:t>
            </a:r>
          </a:p>
        </p:txBody>
      </p:sp>
      <p:sp>
        <p:nvSpPr>
          <p:cNvPr id="5" name="CodeBackground">
            <a:extLst>
              <a:ext uri="{FF2B5EF4-FFF2-40B4-BE49-F238E27FC236}">
                <a16:creationId xmlns:a16="http://schemas.microsoft.com/office/drawing/2014/main" id="{D94B6915-7C30-48F8-A652-A5345B30C4EC}"/>
              </a:ext>
            </a:extLst>
          </p:cNvPr>
          <p:cNvSpPr>
            <a:spLocks noGrp="1"/>
          </p:cNvSpPr>
          <p:nvPr/>
        </p:nvSpPr>
        <p:spPr>
          <a:xfrm>
            <a:off x="609600" y="1680000"/>
            <a:ext cx="10972800" cy="4370000"/>
          </a:xfrm>
          <a:prstGeom prst="roundRect">
            <a:avLst/>
          </a:prstGeom>
          <a:solidFill>
            <a:srgbClr val="111827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6" name="Code">
            <a:extLst>
              <a:ext uri="{FF2B5EF4-FFF2-40B4-BE49-F238E27FC236}">
                <a16:creationId xmlns:a16="http://schemas.microsoft.com/office/drawing/2014/main" id="{0C2D6B00-AB5A-4C0A-BA55-55ECD129A185}"/>
              </a:ext>
            </a:extLst>
          </p:cNvPr>
          <p:cNvSpPr>
            <a:spLocks noGrp="1"/>
          </p:cNvSpPr>
          <p:nvPr/>
        </p:nvSpPr>
        <p:spPr>
          <a:xfrm>
            <a:off x="810000" y="1870000"/>
            <a:ext cx="10550000" cy="398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import os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import time</a:t>
            </a:r>
          </a:p>
          <a:p>
            <a:endParaRPr sz="1150">
              <a:solidFill>
                <a:srgbClr val="E5E7EB"/>
              </a:solidFill>
              <a:latin typeface="Consolas"/>
              <a:ea typeface="Consolas"/>
              <a:cs typeface="Consolas"/>
            </a:endParaRP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import pymysql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from flask import Flask, jsonify</a:t>
            </a:r>
          </a:p>
          <a:p>
            <a:endParaRPr sz="1150">
              <a:solidFill>
                <a:srgbClr val="E5E7EB"/>
              </a:solidFill>
              <a:latin typeface="Consolas"/>
              <a:ea typeface="Consolas"/>
              <a:cs typeface="Consolas"/>
            </a:endParaRP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app = Flask(__name__)</a:t>
            </a:r>
          </a:p>
          <a:p>
            <a:endParaRPr sz="1150">
              <a:solidFill>
                <a:srgbClr val="E5E7EB"/>
              </a:solidFill>
              <a:latin typeface="Consolas"/>
              <a:ea typeface="Consolas"/>
              <a:cs typeface="Consolas"/>
            </a:endParaRPr>
          </a:p>
          <a:p>
            <a:endParaRPr sz="1150">
              <a:solidFill>
                <a:srgbClr val="E5E7EB"/>
              </a:solidFill>
              <a:latin typeface="Consolas"/>
              <a:ea typeface="Consolas"/>
              <a:cs typeface="Consolas"/>
            </a:endParaRP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def connect_db():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return pymysql.connect(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  host=os.environ["DB_HOST"],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  user=os.environ["DB_USER"],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  password=os.environ["DB_PASSWORD"],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  database=os.environ["DB_NAME"],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  charset="utf8mb4",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  cursorclass=pymysql.cursors.DictCursor,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)</a:t>
            </a:r>
          </a:p>
        </p:txBody>
      </p:sp>
      <p:sp>
        <p:nvSpPr>
          <p:cNvPr id="7" name="Footer">
            <a:extLst>
              <a:ext uri="{FF2B5EF4-FFF2-40B4-BE49-F238E27FC236}">
                <a16:creationId xmlns:a16="http://schemas.microsoft.com/office/drawing/2014/main" id="{44A80664-84B6-43D4-AE6E-89A63E279B86}"/>
              </a:ext>
            </a:extLst>
          </p:cNvPr>
          <p:cNvSpPr>
            <a:spLocks noGrp="1"/>
          </p:cNvSpPr>
          <p:nvPr/>
        </p:nvSpPr>
        <p:spPr>
          <a:xfrm>
            <a:off x="609600" y="6330000"/>
            <a:ext cx="7800000" cy="24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Aptos"/>
                <a:ea typeface="Aptos"/>
                <a:cs typeface="Aptos"/>
              </a:rPr>
              <a:t>Docker 基礎教學 | 第 3 堂 | 範例程式碼</a:t>
            </a:r>
          </a:p>
        </p:txBody>
      </p:sp>
      <p:sp>
        <p:nvSpPr>
          <p:cNvPr id="8" name="Page">
            <a:extLst>
              <a:ext uri="{FF2B5EF4-FFF2-40B4-BE49-F238E27FC236}">
                <a16:creationId xmlns:a16="http://schemas.microsoft.com/office/drawing/2014/main" id="{4B7EBB24-9CFC-4402-BDBC-D3FF27686EA8}"/>
              </a:ext>
            </a:extLst>
          </p:cNvPr>
          <p:cNvSpPr>
            <a:spLocks noGrp="1"/>
          </p:cNvSpPr>
          <p:nvPr/>
        </p:nvSpPr>
        <p:spPr>
          <a:xfrm>
            <a:off x="10850000" y="6330000"/>
            <a:ext cx="650000" cy="24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Aptos"/>
                <a:ea typeface="Aptos"/>
                <a:cs typeface="Aptos"/>
              </a:rPr>
              <a:t>CODE</a:t>
            </a:r>
          </a:p>
        </p:txBody>
      </p:sp>
    </p:spTree>
    <p:extLst>
      <p:ext uri="{BB962C8B-B14F-4D97-AF65-F5344CB8AC3E}">
        <p14:creationId xmlns:p14="http://schemas.microsoft.com/office/powerpoint/2010/main" val="171483216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ppendixLabel">
            <a:extLst>
              <a:ext uri="{FF2B5EF4-FFF2-40B4-BE49-F238E27FC236}">
                <a16:creationId xmlns:a16="http://schemas.microsoft.com/office/drawing/2014/main" id="{B967A86D-740C-453C-85CE-ECDE38C0579A}"/>
              </a:ext>
            </a:extLst>
          </p:cNvPr>
          <p:cNvSpPr>
            <a:spLocks noGrp="1"/>
          </p:cNvSpPr>
          <p:nvPr/>
        </p:nvSpPr>
        <p:spPr>
          <a:xfrm>
            <a:off x="609600" y="420000"/>
            <a:ext cx="2600000" cy="26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93C5FD"/>
                </a:solidFill>
                <a:latin typeface="Aptos"/>
                <a:ea typeface="Aptos"/>
                <a:cs typeface="Aptos"/>
              </a:rPr>
              <a:t>CODE EXAMPLE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42667399-5BCE-443C-9926-36A4AF0A95B9}"/>
              </a:ext>
            </a:extLst>
          </p:cNvPr>
          <p:cNvSpPr>
            <a:spLocks noGrp="1"/>
          </p:cNvSpPr>
          <p:nvPr/>
        </p:nvSpPr>
        <p:spPr>
          <a:xfrm>
            <a:off x="609600" y="710000"/>
            <a:ext cx="10600000" cy="56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sz="23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範例程式碼：app/app.py（Nginx + Flask + MySQL 2/3）</a:t>
            </a:r>
          </a:p>
        </p:txBody>
      </p:sp>
      <p:sp>
        <p:nvSpPr>
          <p:cNvPr id="4" name="Subtitle">
            <a:extLst>
              <a:ext uri="{FF2B5EF4-FFF2-40B4-BE49-F238E27FC236}">
                <a16:creationId xmlns:a16="http://schemas.microsoft.com/office/drawing/2014/main" id="{A1F3ECF3-6798-4AA7-82D4-8313601A3442}"/>
              </a:ext>
            </a:extLst>
          </p:cNvPr>
          <p:cNvSpPr>
            <a:spLocks noGrp="1"/>
          </p:cNvSpPr>
          <p:nvPr/>
        </p:nvSpPr>
        <p:spPr>
          <a:xfrm>
            <a:off x="609600" y="126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1250">
                <a:solidFill>
                  <a:srgbClr val="CBD5E1"/>
                </a:solidFill>
                <a:latin typeface="Aptos"/>
                <a:ea typeface="Aptos"/>
                <a:cs typeface="Aptos"/>
              </a:rPr>
              <a:t>第 3 堂 | 可直接照做的完整範例</a:t>
            </a:r>
          </a:p>
        </p:txBody>
      </p:sp>
      <p:sp>
        <p:nvSpPr>
          <p:cNvPr id="5" name="CodeBackground">
            <a:extLst>
              <a:ext uri="{FF2B5EF4-FFF2-40B4-BE49-F238E27FC236}">
                <a16:creationId xmlns:a16="http://schemas.microsoft.com/office/drawing/2014/main" id="{D94B6915-7C30-48F8-A652-A5345B30C4EC}"/>
              </a:ext>
            </a:extLst>
          </p:cNvPr>
          <p:cNvSpPr>
            <a:spLocks noGrp="1"/>
          </p:cNvSpPr>
          <p:nvPr/>
        </p:nvSpPr>
        <p:spPr>
          <a:xfrm>
            <a:off x="609600" y="1680000"/>
            <a:ext cx="10972800" cy="4370000"/>
          </a:xfrm>
          <a:prstGeom prst="roundRect">
            <a:avLst/>
          </a:prstGeom>
          <a:solidFill>
            <a:srgbClr val="111827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6" name="Code">
            <a:extLst>
              <a:ext uri="{FF2B5EF4-FFF2-40B4-BE49-F238E27FC236}">
                <a16:creationId xmlns:a16="http://schemas.microsoft.com/office/drawing/2014/main" id="{0C2D6B00-AB5A-4C0A-BA55-55ECD129A185}"/>
              </a:ext>
            </a:extLst>
          </p:cNvPr>
          <p:cNvSpPr>
            <a:spLocks noGrp="1"/>
          </p:cNvSpPr>
          <p:nvPr/>
        </p:nvSpPr>
        <p:spPr>
          <a:xfrm>
            <a:off x="810000" y="1870000"/>
            <a:ext cx="10550000" cy="398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@app.get("/")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def index():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last_error = None</a:t>
            </a:r>
          </a:p>
          <a:p>
            <a:endParaRPr sz="1150">
              <a:solidFill>
                <a:srgbClr val="E5E7EB"/>
              </a:solidFill>
              <a:latin typeface="Consolas"/>
              <a:ea typeface="Consolas"/>
              <a:cs typeface="Consolas"/>
            </a:endParaRP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for _ in range(10):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  try: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      with connect_db() as conn: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          with conn.cursor() as cursor: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              cursor.execute(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                  """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                  CREATE TABLE IF NOT EXISTS visits (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                      id INT NOT NULL AUTO_INCREMENT PRIMARY KEY,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                      created_at TIMESTAMP NOT NULL DEFAULT CURRENT_TIMESTAMP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                  )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                  """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              )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              cursor.execute("INSERT INTO visits () VALUES ()")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              conn.commit()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              cursor.execute("SELECT COUNT(*) AS count FROM visits")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              row = cursor.fetchone()</a:t>
            </a:r>
          </a:p>
        </p:txBody>
      </p:sp>
      <p:sp>
        <p:nvSpPr>
          <p:cNvPr id="7" name="Footer">
            <a:extLst>
              <a:ext uri="{FF2B5EF4-FFF2-40B4-BE49-F238E27FC236}">
                <a16:creationId xmlns:a16="http://schemas.microsoft.com/office/drawing/2014/main" id="{44A80664-84B6-43D4-AE6E-89A63E279B86}"/>
              </a:ext>
            </a:extLst>
          </p:cNvPr>
          <p:cNvSpPr>
            <a:spLocks noGrp="1"/>
          </p:cNvSpPr>
          <p:nvPr/>
        </p:nvSpPr>
        <p:spPr>
          <a:xfrm>
            <a:off x="609600" y="6330000"/>
            <a:ext cx="7800000" cy="24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Aptos"/>
                <a:ea typeface="Aptos"/>
                <a:cs typeface="Aptos"/>
              </a:rPr>
              <a:t>Docker 基礎教學 | 第 3 堂 | 範例程式碼</a:t>
            </a:r>
          </a:p>
        </p:txBody>
      </p:sp>
      <p:sp>
        <p:nvSpPr>
          <p:cNvPr id="8" name="Page">
            <a:extLst>
              <a:ext uri="{FF2B5EF4-FFF2-40B4-BE49-F238E27FC236}">
                <a16:creationId xmlns:a16="http://schemas.microsoft.com/office/drawing/2014/main" id="{4B7EBB24-9CFC-4402-BDBC-D3FF27686EA8}"/>
              </a:ext>
            </a:extLst>
          </p:cNvPr>
          <p:cNvSpPr>
            <a:spLocks noGrp="1"/>
          </p:cNvSpPr>
          <p:nvPr/>
        </p:nvSpPr>
        <p:spPr>
          <a:xfrm>
            <a:off x="10850000" y="6330000"/>
            <a:ext cx="650000" cy="24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Aptos"/>
                <a:ea typeface="Aptos"/>
                <a:cs typeface="Aptos"/>
              </a:rPr>
              <a:t>CODE</a:t>
            </a:r>
          </a:p>
        </p:txBody>
      </p:sp>
    </p:spTree>
    <p:extLst>
      <p:ext uri="{BB962C8B-B14F-4D97-AF65-F5344CB8AC3E}">
        <p14:creationId xmlns:p14="http://schemas.microsoft.com/office/powerpoint/2010/main" val="171483216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ppendixLabel">
            <a:extLst>
              <a:ext uri="{FF2B5EF4-FFF2-40B4-BE49-F238E27FC236}">
                <a16:creationId xmlns:a16="http://schemas.microsoft.com/office/drawing/2014/main" id="{B967A86D-740C-453C-85CE-ECDE38C0579A}"/>
              </a:ext>
            </a:extLst>
          </p:cNvPr>
          <p:cNvSpPr>
            <a:spLocks noGrp="1"/>
          </p:cNvSpPr>
          <p:nvPr/>
        </p:nvSpPr>
        <p:spPr>
          <a:xfrm>
            <a:off x="609600" y="420000"/>
            <a:ext cx="2600000" cy="26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93C5FD"/>
                </a:solidFill>
                <a:latin typeface="Aptos"/>
                <a:ea typeface="Aptos"/>
                <a:cs typeface="Aptos"/>
              </a:rPr>
              <a:t>CODE EXAMPLE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42667399-5BCE-443C-9926-36A4AF0A95B9}"/>
              </a:ext>
            </a:extLst>
          </p:cNvPr>
          <p:cNvSpPr>
            <a:spLocks noGrp="1"/>
          </p:cNvSpPr>
          <p:nvPr/>
        </p:nvSpPr>
        <p:spPr>
          <a:xfrm>
            <a:off x="609600" y="710000"/>
            <a:ext cx="10600000" cy="56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sz="23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範例程式碼：app/app.py（Nginx + Flask + MySQL 3/3）</a:t>
            </a:r>
          </a:p>
        </p:txBody>
      </p:sp>
      <p:sp>
        <p:nvSpPr>
          <p:cNvPr id="4" name="Subtitle">
            <a:extLst>
              <a:ext uri="{FF2B5EF4-FFF2-40B4-BE49-F238E27FC236}">
                <a16:creationId xmlns:a16="http://schemas.microsoft.com/office/drawing/2014/main" id="{A1F3ECF3-6798-4AA7-82D4-8313601A3442}"/>
              </a:ext>
            </a:extLst>
          </p:cNvPr>
          <p:cNvSpPr>
            <a:spLocks noGrp="1"/>
          </p:cNvSpPr>
          <p:nvPr/>
        </p:nvSpPr>
        <p:spPr>
          <a:xfrm>
            <a:off x="609600" y="126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1250">
                <a:solidFill>
                  <a:srgbClr val="CBD5E1"/>
                </a:solidFill>
                <a:latin typeface="Aptos"/>
                <a:ea typeface="Aptos"/>
                <a:cs typeface="Aptos"/>
              </a:rPr>
              <a:t>第 3 堂 | 可直接照做的完整範例</a:t>
            </a:r>
          </a:p>
        </p:txBody>
      </p:sp>
      <p:sp>
        <p:nvSpPr>
          <p:cNvPr id="5" name="CodeBackground">
            <a:extLst>
              <a:ext uri="{FF2B5EF4-FFF2-40B4-BE49-F238E27FC236}">
                <a16:creationId xmlns:a16="http://schemas.microsoft.com/office/drawing/2014/main" id="{D94B6915-7C30-48F8-A652-A5345B30C4EC}"/>
              </a:ext>
            </a:extLst>
          </p:cNvPr>
          <p:cNvSpPr>
            <a:spLocks noGrp="1"/>
          </p:cNvSpPr>
          <p:nvPr/>
        </p:nvSpPr>
        <p:spPr>
          <a:xfrm>
            <a:off x="609600" y="1680000"/>
            <a:ext cx="10972800" cy="4370000"/>
          </a:xfrm>
          <a:prstGeom prst="roundRect">
            <a:avLst/>
          </a:prstGeom>
          <a:solidFill>
            <a:srgbClr val="111827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6" name="Code">
            <a:extLst>
              <a:ext uri="{FF2B5EF4-FFF2-40B4-BE49-F238E27FC236}">
                <a16:creationId xmlns:a16="http://schemas.microsoft.com/office/drawing/2014/main" id="{0C2D6B00-AB5A-4C0A-BA55-55ECD129A185}"/>
              </a:ext>
            </a:extLst>
          </p:cNvPr>
          <p:cNvSpPr>
            <a:spLocks noGrp="1"/>
          </p:cNvSpPr>
          <p:nvPr/>
        </p:nvSpPr>
        <p:spPr>
          <a:xfrm>
            <a:off x="810000" y="1870000"/>
            <a:ext cx="10550000" cy="398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      return jsonify(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          message="Flask connected to MySQL through the Compose network",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          db_host=os.environ["DB_HOST"],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          visits=row["count"],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      )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  except Exception as error: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      last_error = error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      time.sleep(2)</a:t>
            </a:r>
          </a:p>
          <a:p>
            <a:endParaRPr sz="1150">
              <a:solidFill>
                <a:srgbClr val="E5E7EB"/>
              </a:solidFill>
              <a:latin typeface="Consolas"/>
              <a:ea typeface="Consolas"/>
              <a:cs typeface="Consolas"/>
            </a:endParaRP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return jsonify(error=str(last_error)), 500</a:t>
            </a:r>
          </a:p>
          <a:p>
            <a:endParaRPr sz="1150">
              <a:solidFill>
                <a:srgbClr val="E5E7EB"/>
              </a:solidFill>
              <a:latin typeface="Consolas"/>
              <a:ea typeface="Consolas"/>
              <a:cs typeface="Consolas"/>
            </a:endParaRPr>
          </a:p>
          <a:p>
            <a:endParaRPr sz="1150">
              <a:solidFill>
                <a:srgbClr val="E5E7EB"/>
              </a:solidFill>
              <a:latin typeface="Consolas"/>
              <a:ea typeface="Consolas"/>
              <a:cs typeface="Consolas"/>
            </a:endParaRP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if __name__ == "__main__":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app.run(host="0.0.0.0", port=5000)</a:t>
            </a:r>
          </a:p>
        </p:txBody>
      </p:sp>
      <p:sp>
        <p:nvSpPr>
          <p:cNvPr id="7" name="Footer">
            <a:extLst>
              <a:ext uri="{FF2B5EF4-FFF2-40B4-BE49-F238E27FC236}">
                <a16:creationId xmlns:a16="http://schemas.microsoft.com/office/drawing/2014/main" id="{44A80664-84B6-43D4-AE6E-89A63E279B86}"/>
              </a:ext>
            </a:extLst>
          </p:cNvPr>
          <p:cNvSpPr>
            <a:spLocks noGrp="1"/>
          </p:cNvSpPr>
          <p:nvPr/>
        </p:nvSpPr>
        <p:spPr>
          <a:xfrm>
            <a:off x="609600" y="6330000"/>
            <a:ext cx="7800000" cy="24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Aptos"/>
                <a:ea typeface="Aptos"/>
                <a:cs typeface="Aptos"/>
              </a:rPr>
              <a:t>Docker 基礎教學 | 第 3 堂 | 範例程式碼</a:t>
            </a:r>
          </a:p>
        </p:txBody>
      </p:sp>
      <p:sp>
        <p:nvSpPr>
          <p:cNvPr id="8" name="Page">
            <a:extLst>
              <a:ext uri="{FF2B5EF4-FFF2-40B4-BE49-F238E27FC236}">
                <a16:creationId xmlns:a16="http://schemas.microsoft.com/office/drawing/2014/main" id="{4B7EBB24-9CFC-4402-BDBC-D3FF27686EA8}"/>
              </a:ext>
            </a:extLst>
          </p:cNvPr>
          <p:cNvSpPr>
            <a:spLocks noGrp="1"/>
          </p:cNvSpPr>
          <p:nvPr/>
        </p:nvSpPr>
        <p:spPr>
          <a:xfrm>
            <a:off x="10850000" y="6330000"/>
            <a:ext cx="650000" cy="24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Aptos"/>
                <a:ea typeface="Aptos"/>
                <a:cs typeface="Aptos"/>
              </a:rPr>
              <a:t>CODE</a:t>
            </a:r>
          </a:p>
        </p:txBody>
      </p:sp>
    </p:spTree>
    <p:extLst>
      <p:ext uri="{BB962C8B-B14F-4D97-AF65-F5344CB8AC3E}">
        <p14:creationId xmlns:p14="http://schemas.microsoft.com/office/powerpoint/2010/main" val="171483216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ppendixLabel">
            <a:extLst>
              <a:ext uri="{FF2B5EF4-FFF2-40B4-BE49-F238E27FC236}">
                <a16:creationId xmlns:a16="http://schemas.microsoft.com/office/drawing/2014/main" id="{B967A86D-740C-453C-85CE-ECDE38C0579A}"/>
              </a:ext>
            </a:extLst>
          </p:cNvPr>
          <p:cNvSpPr>
            <a:spLocks noGrp="1"/>
          </p:cNvSpPr>
          <p:nvPr/>
        </p:nvSpPr>
        <p:spPr>
          <a:xfrm>
            <a:off x="609600" y="420000"/>
            <a:ext cx="2600000" cy="26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93C5FD"/>
                </a:solidFill>
                <a:latin typeface="Aptos"/>
                <a:ea typeface="Aptos"/>
                <a:cs typeface="Aptos"/>
              </a:rPr>
              <a:t>CODE EXAMPLE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42667399-5BCE-443C-9926-36A4AF0A95B9}"/>
              </a:ext>
            </a:extLst>
          </p:cNvPr>
          <p:cNvSpPr>
            <a:spLocks noGrp="1"/>
          </p:cNvSpPr>
          <p:nvPr/>
        </p:nvSpPr>
        <p:spPr>
          <a:xfrm>
            <a:off x="609600" y="710000"/>
            <a:ext cx="10600000" cy="56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sz="23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範例程式碼：app/requirements.txt（Nginx + Flask + MySQL）</a:t>
            </a:r>
          </a:p>
        </p:txBody>
      </p:sp>
      <p:sp>
        <p:nvSpPr>
          <p:cNvPr id="4" name="Subtitle">
            <a:extLst>
              <a:ext uri="{FF2B5EF4-FFF2-40B4-BE49-F238E27FC236}">
                <a16:creationId xmlns:a16="http://schemas.microsoft.com/office/drawing/2014/main" id="{A1F3ECF3-6798-4AA7-82D4-8313601A3442}"/>
              </a:ext>
            </a:extLst>
          </p:cNvPr>
          <p:cNvSpPr>
            <a:spLocks noGrp="1"/>
          </p:cNvSpPr>
          <p:nvPr/>
        </p:nvSpPr>
        <p:spPr>
          <a:xfrm>
            <a:off x="609600" y="126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1250">
                <a:solidFill>
                  <a:srgbClr val="CBD5E1"/>
                </a:solidFill>
                <a:latin typeface="Aptos"/>
                <a:ea typeface="Aptos"/>
                <a:cs typeface="Aptos"/>
              </a:rPr>
              <a:t>第 3 堂 | 可直接照做的完整範例</a:t>
            </a:r>
          </a:p>
        </p:txBody>
      </p:sp>
      <p:sp>
        <p:nvSpPr>
          <p:cNvPr id="5" name="CodeBackground">
            <a:extLst>
              <a:ext uri="{FF2B5EF4-FFF2-40B4-BE49-F238E27FC236}">
                <a16:creationId xmlns:a16="http://schemas.microsoft.com/office/drawing/2014/main" id="{D94B6915-7C30-48F8-A652-A5345B30C4EC}"/>
              </a:ext>
            </a:extLst>
          </p:cNvPr>
          <p:cNvSpPr>
            <a:spLocks noGrp="1"/>
          </p:cNvSpPr>
          <p:nvPr/>
        </p:nvSpPr>
        <p:spPr>
          <a:xfrm>
            <a:off x="609600" y="1680000"/>
            <a:ext cx="10972800" cy="4370000"/>
          </a:xfrm>
          <a:prstGeom prst="roundRect">
            <a:avLst/>
          </a:prstGeom>
          <a:solidFill>
            <a:srgbClr val="111827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6" name="Code">
            <a:extLst>
              <a:ext uri="{FF2B5EF4-FFF2-40B4-BE49-F238E27FC236}">
                <a16:creationId xmlns:a16="http://schemas.microsoft.com/office/drawing/2014/main" id="{0C2D6B00-AB5A-4C0A-BA55-55ECD129A185}"/>
              </a:ext>
            </a:extLst>
          </p:cNvPr>
          <p:cNvSpPr>
            <a:spLocks noGrp="1"/>
          </p:cNvSpPr>
          <p:nvPr/>
        </p:nvSpPr>
        <p:spPr>
          <a:xfrm>
            <a:off x="810000" y="1870000"/>
            <a:ext cx="10550000" cy="398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flask==3.0.3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pymysql==1.1.1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cryptography==42.0.8</a:t>
            </a:r>
          </a:p>
        </p:txBody>
      </p:sp>
      <p:sp>
        <p:nvSpPr>
          <p:cNvPr id="7" name="Footer">
            <a:extLst>
              <a:ext uri="{FF2B5EF4-FFF2-40B4-BE49-F238E27FC236}">
                <a16:creationId xmlns:a16="http://schemas.microsoft.com/office/drawing/2014/main" id="{44A80664-84B6-43D4-AE6E-89A63E279B86}"/>
              </a:ext>
            </a:extLst>
          </p:cNvPr>
          <p:cNvSpPr>
            <a:spLocks noGrp="1"/>
          </p:cNvSpPr>
          <p:nvPr/>
        </p:nvSpPr>
        <p:spPr>
          <a:xfrm>
            <a:off x="609600" y="6330000"/>
            <a:ext cx="7800000" cy="24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Aptos"/>
                <a:ea typeface="Aptos"/>
                <a:cs typeface="Aptos"/>
              </a:rPr>
              <a:t>Docker 基礎教學 | 第 3 堂 | 範例程式碼</a:t>
            </a:r>
          </a:p>
        </p:txBody>
      </p:sp>
      <p:sp>
        <p:nvSpPr>
          <p:cNvPr id="8" name="Page">
            <a:extLst>
              <a:ext uri="{FF2B5EF4-FFF2-40B4-BE49-F238E27FC236}">
                <a16:creationId xmlns:a16="http://schemas.microsoft.com/office/drawing/2014/main" id="{4B7EBB24-9CFC-4402-BDBC-D3FF27686EA8}"/>
              </a:ext>
            </a:extLst>
          </p:cNvPr>
          <p:cNvSpPr>
            <a:spLocks noGrp="1"/>
          </p:cNvSpPr>
          <p:nvPr/>
        </p:nvSpPr>
        <p:spPr>
          <a:xfrm>
            <a:off x="10850000" y="6330000"/>
            <a:ext cx="650000" cy="24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Aptos"/>
                <a:ea typeface="Aptos"/>
                <a:cs typeface="Aptos"/>
              </a:rPr>
              <a:t>CODE</a:t>
            </a:r>
          </a:p>
        </p:txBody>
      </p:sp>
    </p:spTree>
    <p:extLst>
      <p:ext uri="{BB962C8B-B14F-4D97-AF65-F5344CB8AC3E}">
        <p14:creationId xmlns:p14="http://schemas.microsoft.com/office/powerpoint/2010/main" val="171483216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ppendixLabel">
            <a:extLst>
              <a:ext uri="{FF2B5EF4-FFF2-40B4-BE49-F238E27FC236}">
                <a16:creationId xmlns:a16="http://schemas.microsoft.com/office/drawing/2014/main" id="{B967A86D-740C-453C-85CE-ECDE38C0579A}"/>
              </a:ext>
            </a:extLst>
          </p:cNvPr>
          <p:cNvSpPr>
            <a:spLocks noGrp="1"/>
          </p:cNvSpPr>
          <p:nvPr/>
        </p:nvSpPr>
        <p:spPr>
          <a:xfrm>
            <a:off x="609600" y="420000"/>
            <a:ext cx="2600000" cy="26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93C5FD"/>
                </a:solidFill>
                <a:latin typeface="Aptos"/>
                <a:ea typeface="Aptos"/>
                <a:cs typeface="Aptos"/>
              </a:rPr>
              <a:t>CODE EXAMPLE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42667399-5BCE-443C-9926-36A4AF0A95B9}"/>
              </a:ext>
            </a:extLst>
          </p:cNvPr>
          <p:cNvSpPr>
            <a:spLocks noGrp="1"/>
          </p:cNvSpPr>
          <p:nvPr/>
        </p:nvSpPr>
        <p:spPr>
          <a:xfrm>
            <a:off x="609600" y="710000"/>
            <a:ext cx="10600000" cy="56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sz="23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範例程式碼：nginx/default.conf（Nginx + Flask + MySQL）</a:t>
            </a:r>
          </a:p>
        </p:txBody>
      </p:sp>
      <p:sp>
        <p:nvSpPr>
          <p:cNvPr id="4" name="Subtitle">
            <a:extLst>
              <a:ext uri="{FF2B5EF4-FFF2-40B4-BE49-F238E27FC236}">
                <a16:creationId xmlns:a16="http://schemas.microsoft.com/office/drawing/2014/main" id="{A1F3ECF3-6798-4AA7-82D4-8313601A3442}"/>
              </a:ext>
            </a:extLst>
          </p:cNvPr>
          <p:cNvSpPr>
            <a:spLocks noGrp="1"/>
          </p:cNvSpPr>
          <p:nvPr/>
        </p:nvSpPr>
        <p:spPr>
          <a:xfrm>
            <a:off x="609600" y="126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1250">
                <a:solidFill>
                  <a:srgbClr val="CBD5E1"/>
                </a:solidFill>
                <a:latin typeface="Aptos"/>
                <a:ea typeface="Aptos"/>
                <a:cs typeface="Aptos"/>
              </a:rPr>
              <a:t>第 3 堂 | 可直接照做的完整範例</a:t>
            </a:r>
          </a:p>
        </p:txBody>
      </p:sp>
      <p:sp>
        <p:nvSpPr>
          <p:cNvPr id="5" name="CodeBackground">
            <a:extLst>
              <a:ext uri="{FF2B5EF4-FFF2-40B4-BE49-F238E27FC236}">
                <a16:creationId xmlns:a16="http://schemas.microsoft.com/office/drawing/2014/main" id="{D94B6915-7C30-48F8-A652-A5345B30C4EC}"/>
              </a:ext>
            </a:extLst>
          </p:cNvPr>
          <p:cNvSpPr>
            <a:spLocks noGrp="1"/>
          </p:cNvSpPr>
          <p:nvPr/>
        </p:nvSpPr>
        <p:spPr>
          <a:xfrm>
            <a:off x="609600" y="1680000"/>
            <a:ext cx="10972800" cy="4370000"/>
          </a:xfrm>
          <a:prstGeom prst="roundRect">
            <a:avLst/>
          </a:prstGeom>
          <a:solidFill>
            <a:srgbClr val="111827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6" name="Code">
            <a:extLst>
              <a:ext uri="{FF2B5EF4-FFF2-40B4-BE49-F238E27FC236}">
                <a16:creationId xmlns:a16="http://schemas.microsoft.com/office/drawing/2014/main" id="{0C2D6B00-AB5A-4C0A-BA55-55ECD129A185}"/>
              </a:ext>
            </a:extLst>
          </p:cNvPr>
          <p:cNvSpPr>
            <a:spLocks noGrp="1"/>
          </p:cNvSpPr>
          <p:nvPr/>
        </p:nvSpPr>
        <p:spPr>
          <a:xfrm>
            <a:off x="810000" y="1870000"/>
            <a:ext cx="10550000" cy="398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server {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listen 80;</a:t>
            </a:r>
          </a:p>
          <a:p>
            <a:endParaRPr sz="1150">
              <a:solidFill>
                <a:srgbClr val="E5E7EB"/>
              </a:solidFill>
              <a:latin typeface="Consolas"/>
              <a:ea typeface="Consolas"/>
              <a:cs typeface="Consolas"/>
            </a:endParaRP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location / {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  proxy_pass http://app:5000;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  proxy_set_header Host $host;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  proxy_set_header X-Real-IP $remote_addr;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}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7" name="Footer">
            <a:extLst>
              <a:ext uri="{FF2B5EF4-FFF2-40B4-BE49-F238E27FC236}">
                <a16:creationId xmlns:a16="http://schemas.microsoft.com/office/drawing/2014/main" id="{44A80664-84B6-43D4-AE6E-89A63E279B86}"/>
              </a:ext>
            </a:extLst>
          </p:cNvPr>
          <p:cNvSpPr>
            <a:spLocks noGrp="1"/>
          </p:cNvSpPr>
          <p:nvPr/>
        </p:nvSpPr>
        <p:spPr>
          <a:xfrm>
            <a:off x="609600" y="6330000"/>
            <a:ext cx="7800000" cy="24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Aptos"/>
                <a:ea typeface="Aptos"/>
                <a:cs typeface="Aptos"/>
              </a:rPr>
              <a:t>Docker 基礎教學 | 第 3 堂 | 範例程式碼</a:t>
            </a:r>
          </a:p>
        </p:txBody>
      </p:sp>
      <p:sp>
        <p:nvSpPr>
          <p:cNvPr id="8" name="Page">
            <a:extLst>
              <a:ext uri="{FF2B5EF4-FFF2-40B4-BE49-F238E27FC236}">
                <a16:creationId xmlns:a16="http://schemas.microsoft.com/office/drawing/2014/main" id="{4B7EBB24-9CFC-4402-BDBC-D3FF27686EA8}"/>
              </a:ext>
            </a:extLst>
          </p:cNvPr>
          <p:cNvSpPr>
            <a:spLocks noGrp="1"/>
          </p:cNvSpPr>
          <p:nvPr/>
        </p:nvSpPr>
        <p:spPr>
          <a:xfrm>
            <a:off x="10850000" y="6330000"/>
            <a:ext cx="650000" cy="24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Aptos"/>
                <a:ea typeface="Aptos"/>
                <a:cs typeface="Aptos"/>
              </a:rPr>
              <a:t>CODE</a:t>
            </a:r>
          </a:p>
        </p:txBody>
      </p:sp>
    </p:spTree>
    <p:extLst>
      <p:ext uri="{BB962C8B-B14F-4D97-AF65-F5344CB8AC3E}">
        <p14:creationId xmlns:p14="http://schemas.microsoft.com/office/powerpoint/2010/main" val="171483216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ppendixLabel">
            <a:extLst>
              <a:ext uri="{FF2B5EF4-FFF2-40B4-BE49-F238E27FC236}">
                <a16:creationId xmlns:a16="http://schemas.microsoft.com/office/drawing/2014/main" id="{93D84B4A-E046-40ED-9E71-096B3DC57904}"/>
              </a:ext>
            </a:extLst>
          </p:cNvPr>
          <p:cNvSpPr>
            <a:spLocks noGrp="1"/>
          </p:cNvSpPr>
          <p:nvPr/>
        </p:nvSpPr>
        <p:spPr>
          <a:xfrm>
            <a:off x="609600" y="420000"/>
            <a:ext cx="2600000" cy="26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93C5FD"/>
                </a:solidFill>
                <a:latin typeface="Aptos"/>
                <a:ea typeface="Aptos"/>
                <a:cs typeface="Aptos"/>
              </a:rPr>
              <a:t>CODE EXAMPLE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AC191322-06B3-4D73-A1A7-F79E43954A3F}"/>
              </a:ext>
            </a:extLst>
          </p:cNvPr>
          <p:cNvSpPr>
            <a:spLocks noGrp="1"/>
          </p:cNvSpPr>
          <p:nvPr/>
        </p:nvSpPr>
        <p:spPr>
          <a:xfrm>
            <a:off x="609600" y="710000"/>
            <a:ext cx="10600000" cy="56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sz="23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範例程式碼：compose.yaml（Nginx + Flask + MySQL 1/3）</a:t>
            </a:r>
          </a:p>
        </p:txBody>
      </p:sp>
      <p:sp>
        <p:nvSpPr>
          <p:cNvPr id="4" name="Subtitle">
            <a:extLst>
              <a:ext uri="{FF2B5EF4-FFF2-40B4-BE49-F238E27FC236}">
                <a16:creationId xmlns:a16="http://schemas.microsoft.com/office/drawing/2014/main" id="{5F27A23E-710D-4343-A225-6D0587756BBD}"/>
              </a:ext>
            </a:extLst>
          </p:cNvPr>
          <p:cNvSpPr>
            <a:spLocks noGrp="1"/>
          </p:cNvSpPr>
          <p:nvPr/>
        </p:nvSpPr>
        <p:spPr>
          <a:xfrm>
            <a:off x="609600" y="126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1250">
                <a:solidFill>
                  <a:srgbClr val="CBD5E1"/>
                </a:solidFill>
                <a:latin typeface="Aptos"/>
                <a:ea typeface="Aptos"/>
                <a:cs typeface="Aptos"/>
              </a:rPr>
              <a:t>第 3 堂 | 可直接照做的完整範例</a:t>
            </a:r>
          </a:p>
        </p:txBody>
      </p:sp>
      <p:sp>
        <p:nvSpPr>
          <p:cNvPr id="5" name="CodeBackground">
            <a:extLst>
              <a:ext uri="{FF2B5EF4-FFF2-40B4-BE49-F238E27FC236}">
                <a16:creationId xmlns:a16="http://schemas.microsoft.com/office/drawing/2014/main" id="{4827D97E-A273-4D25-A370-AEE82808B959}"/>
              </a:ext>
            </a:extLst>
          </p:cNvPr>
          <p:cNvSpPr>
            <a:spLocks noGrp="1"/>
          </p:cNvSpPr>
          <p:nvPr/>
        </p:nvSpPr>
        <p:spPr>
          <a:xfrm>
            <a:off x="609600" y="1680000"/>
            <a:ext cx="10972800" cy="4370000"/>
          </a:xfrm>
          <a:prstGeom prst="roundRect">
            <a:avLst/>
          </a:prstGeom>
          <a:solidFill>
            <a:srgbClr val="111827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6" name="Code">
            <a:extLst>
              <a:ext uri="{FF2B5EF4-FFF2-40B4-BE49-F238E27FC236}">
                <a16:creationId xmlns:a16="http://schemas.microsoft.com/office/drawing/2014/main" id="{E8AAFA7A-AC22-4BB3-B190-C54852FABD0C}"/>
              </a:ext>
            </a:extLst>
          </p:cNvPr>
          <p:cNvSpPr>
            <a:spLocks noGrp="1"/>
          </p:cNvSpPr>
          <p:nvPr/>
        </p:nvSpPr>
        <p:spPr>
          <a:xfrm>
            <a:off x="810000" y="1870000"/>
            <a:ext cx="10550000" cy="398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sz="10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services:</a:t>
            </a:r>
          </a:p>
          <a:p>
            <a:r>
              <a:rPr sz="10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web:</a:t>
            </a:r>
          </a:p>
          <a:p>
            <a:r>
              <a:rPr sz="10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image: nginx:alpine</a:t>
            </a:r>
          </a:p>
          <a:p>
            <a:r>
              <a:rPr sz="10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container_name: demo-nginx</a:t>
            </a:r>
          </a:p>
          <a:p>
            <a:r>
              <a:rPr sz="10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restart: unless-stopped</a:t>
            </a:r>
          </a:p>
          <a:p>
            <a:r>
              <a:rPr sz="10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ports:</a:t>
            </a:r>
          </a:p>
          <a:p>
            <a:r>
              <a:rPr sz="10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- "8080:80"</a:t>
            </a:r>
          </a:p>
          <a:p>
            <a:r>
              <a:rPr sz="10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volumes:</a:t>
            </a:r>
          </a:p>
          <a:p>
            <a:r>
              <a:rPr sz="10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- ./nginx/default.conf:/etc/nginx/conf.d/default.conf:ro</a:t>
            </a:r>
          </a:p>
          <a:p>
            <a:r>
              <a:rPr sz="10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depends_on:</a:t>
            </a:r>
          </a:p>
          <a:p>
            <a:r>
              <a:rPr sz="10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- app</a:t>
            </a:r>
          </a:p>
          <a:p>
            <a:endParaRPr sz="1050">
              <a:solidFill>
                <a:srgbClr val="E5E7EB"/>
              </a:solidFill>
              <a:latin typeface="Consolas"/>
              <a:ea typeface="Consolas"/>
              <a:cs typeface="Consolas"/>
            </a:endParaRPr>
          </a:p>
          <a:p>
            <a:r>
              <a:rPr sz="10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app:</a:t>
            </a:r>
          </a:p>
          <a:p>
            <a:r>
              <a:rPr sz="10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image: python:3.11</a:t>
            </a:r>
          </a:p>
          <a:p>
            <a:r>
              <a:rPr sz="10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container_name: demo-flask</a:t>
            </a:r>
          </a:p>
          <a:p>
            <a:r>
              <a:rPr sz="10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working_dir: /app</a:t>
            </a:r>
          </a:p>
          <a:p>
            <a:r>
              <a:rPr sz="10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restart: unless-stopped</a:t>
            </a:r>
          </a:p>
          <a:p>
            <a:r>
              <a:rPr sz="10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volumes:</a:t>
            </a:r>
          </a:p>
          <a:p>
            <a:r>
              <a:rPr sz="10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- ./app:/app</a:t>
            </a:r>
          </a:p>
        </p:txBody>
      </p:sp>
      <p:sp>
        <p:nvSpPr>
          <p:cNvPr id="7" name="Footer">
            <a:extLst>
              <a:ext uri="{FF2B5EF4-FFF2-40B4-BE49-F238E27FC236}">
                <a16:creationId xmlns:a16="http://schemas.microsoft.com/office/drawing/2014/main" id="{C199D8C1-384E-4F9D-B08A-D6059DA79F3B}"/>
              </a:ext>
            </a:extLst>
          </p:cNvPr>
          <p:cNvSpPr>
            <a:spLocks noGrp="1"/>
          </p:cNvSpPr>
          <p:nvPr/>
        </p:nvSpPr>
        <p:spPr>
          <a:xfrm>
            <a:off x="609600" y="6330000"/>
            <a:ext cx="7800000" cy="24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Aptos"/>
                <a:ea typeface="Aptos"/>
                <a:cs typeface="Aptos"/>
              </a:rPr>
              <a:t>Docker 基礎教學 | 第 3 堂 | 範例程式碼</a:t>
            </a:r>
          </a:p>
        </p:txBody>
      </p:sp>
      <p:sp>
        <p:nvSpPr>
          <p:cNvPr id="8" name="Page">
            <a:extLst>
              <a:ext uri="{FF2B5EF4-FFF2-40B4-BE49-F238E27FC236}">
                <a16:creationId xmlns:a16="http://schemas.microsoft.com/office/drawing/2014/main" id="{739286C1-B53C-4A23-8195-4CA3B90AF435}"/>
              </a:ext>
            </a:extLst>
          </p:cNvPr>
          <p:cNvSpPr>
            <a:spLocks noGrp="1"/>
          </p:cNvSpPr>
          <p:nvPr/>
        </p:nvSpPr>
        <p:spPr>
          <a:xfrm>
            <a:off x="10850000" y="6330000"/>
            <a:ext cx="650000" cy="24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Aptos"/>
                <a:ea typeface="Aptos"/>
                <a:cs typeface="Aptos"/>
              </a:rPr>
              <a:t>CODE</a:t>
            </a:r>
          </a:p>
        </p:txBody>
      </p:sp>
    </p:spTree>
    <p:extLst>
      <p:ext uri="{BB962C8B-B14F-4D97-AF65-F5344CB8AC3E}">
        <p14:creationId xmlns:p14="http://schemas.microsoft.com/office/powerpoint/2010/main" val="64308908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ppendixLabel">
            <a:extLst>
              <a:ext uri="{FF2B5EF4-FFF2-40B4-BE49-F238E27FC236}">
                <a16:creationId xmlns:a16="http://schemas.microsoft.com/office/drawing/2014/main" id="{24F5EF18-1A9B-4B89-92AF-49233194FD34}"/>
              </a:ext>
            </a:extLst>
          </p:cNvPr>
          <p:cNvSpPr>
            <a:spLocks noGrp="1"/>
          </p:cNvSpPr>
          <p:nvPr/>
        </p:nvSpPr>
        <p:spPr>
          <a:xfrm>
            <a:off x="609600" y="420000"/>
            <a:ext cx="2600000" cy="26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93C5FD"/>
                </a:solidFill>
                <a:latin typeface="Aptos"/>
                <a:ea typeface="Aptos"/>
                <a:cs typeface="Aptos"/>
              </a:rPr>
              <a:t>CODE EXAMPLE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1364DB57-A4B1-45A8-8A74-18BFB1BEAE23}"/>
              </a:ext>
            </a:extLst>
          </p:cNvPr>
          <p:cNvSpPr>
            <a:spLocks noGrp="1"/>
          </p:cNvSpPr>
          <p:nvPr/>
        </p:nvSpPr>
        <p:spPr>
          <a:xfrm>
            <a:off x="609600" y="710000"/>
            <a:ext cx="10600000" cy="56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sz="23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範例程式碼：compose.yaml（Nginx + Flask + MySQL 2/3）</a:t>
            </a:r>
          </a:p>
        </p:txBody>
      </p:sp>
      <p:sp>
        <p:nvSpPr>
          <p:cNvPr id="4" name="Subtitle">
            <a:extLst>
              <a:ext uri="{FF2B5EF4-FFF2-40B4-BE49-F238E27FC236}">
                <a16:creationId xmlns:a16="http://schemas.microsoft.com/office/drawing/2014/main" id="{54F9B1FE-66EA-4F8C-93D5-40458BEB7532}"/>
              </a:ext>
            </a:extLst>
          </p:cNvPr>
          <p:cNvSpPr>
            <a:spLocks noGrp="1"/>
          </p:cNvSpPr>
          <p:nvPr/>
        </p:nvSpPr>
        <p:spPr>
          <a:xfrm>
            <a:off x="609600" y="126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1250">
                <a:solidFill>
                  <a:srgbClr val="CBD5E1"/>
                </a:solidFill>
                <a:latin typeface="Aptos"/>
                <a:ea typeface="Aptos"/>
                <a:cs typeface="Aptos"/>
              </a:rPr>
              <a:t>第 3 堂 | 可直接照做的完整範例</a:t>
            </a:r>
          </a:p>
        </p:txBody>
      </p:sp>
      <p:sp>
        <p:nvSpPr>
          <p:cNvPr id="5" name="CodeBackground">
            <a:extLst>
              <a:ext uri="{FF2B5EF4-FFF2-40B4-BE49-F238E27FC236}">
                <a16:creationId xmlns:a16="http://schemas.microsoft.com/office/drawing/2014/main" id="{8EB565F5-3DC6-43CA-BA4A-491958A83D81}"/>
              </a:ext>
            </a:extLst>
          </p:cNvPr>
          <p:cNvSpPr>
            <a:spLocks noGrp="1"/>
          </p:cNvSpPr>
          <p:nvPr/>
        </p:nvSpPr>
        <p:spPr>
          <a:xfrm>
            <a:off x="609600" y="1680000"/>
            <a:ext cx="10972800" cy="4370000"/>
          </a:xfrm>
          <a:prstGeom prst="roundRect">
            <a:avLst/>
          </a:prstGeom>
          <a:solidFill>
            <a:srgbClr val="111827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6" name="Code">
            <a:extLst>
              <a:ext uri="{FF2B5EF4-FFF2-40B4-BE49-F238E27FC236}">
                <a16:creationId xmlns:a16="http://schemas.microsoft.com/office/drawing/2014/main" id="{BE462DF9-535B-47C0-B625-08597191E45E}"/>
              </a:ext>
            </a:extLst>
          </p:cNvPr>
          <p:cNvSpPr>
            <a:spLocks noGrp="1"/>
          </p:cNvSpPr>
          <p:nvPr/>
        </p:nvSpPr>
        <p:spPr>
          <a:xfrm>
            <a:off x="810000" y="1870000"/>
            <a:ext cx="10550000" cy="398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environment: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DB_HOST: db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DB_NAME: demo_db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DB_USER: demo_user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DB_PASSWORD: demo_pass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depends_on: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- db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expose: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- "5000"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command: bash -c "pip install -r requirements.txt &amp;&amp; python app.py"</a:t>
            </a:r>
          </a:p>
        </p:txBody>
      </p:sp>
      <p:sp>
        <p:nvSpPr>
          <p:cNvPr id="7" name="Footer">
            <a:extLst>
              <a:ext uri="{FF2B5EF4-FFF2-40B4-BE49-F238E27FC236}">
                <a16:creationId xmlns:a16="http://schemas.microsoft.com/office/drawing/2014/main" id="{1B8F98F6-AD64-489C-9A27-AE918DCC719F}"/>
              </a:ext>
            </a:extLst>
          </p:cNvPr>
          <p:cNvSpPr>
            <a:spLocks noGrp="1"/>
          </p:cNvSpPr>
          <p:nvPr/>
        </p:nvSpPr>
        <p:spPr>
          <a:xfrm>
            <a:off x="609600" y="6330000"/>
            <a:ext cx="7800000" cy="24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Aptos"/>
                <a:ea typeface="Aptos"/>
                <a:cs typeface="Aptos"/>
              </a:rPr>
              <a:t>Docker 基礎教學 | 第 3 堂 | 範例程式碼</a:t>
            </a:r>
          </a:p>
        </p:txBody>
      </p:sp>
      <p:sp>
        <p:nvSpPr>
          <p:cNvPr id="8" name="Page">
            <a:extLst>
              <a:ext uri="{FF2B5EF4-FFF2-40B4-BE49-F238E27FC236}">
                <a16:creationId xmlns:a16="http://schemas.microsoft.com/office/drawing/2014/main" id="{3D9FDE10-2783-4745-BAD1-C61D862DEBC8}"/>
              </a:ext>
            </a:extLst>
          </p:cNvPr>
          <p:cNvSpPr>
            <a:spLocks noGrp="1"/>
          </p:cNvSpPr>
          <p:nvPr/>
        </p:nvSpPr>
        <p:spPr>
          <a:xfrm>
            <a:off x="10850000" y="6330000"/>
            <a:ext cx="650000" cy="24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Aptos"/>
                <a:ea typeface="Aptos"/>
                <a:cs typeface="Aptos"/>
              </a:rPr>
              <a:t>CODE</a:t>
            </a:r>
          </a:p>
        </p:txBody>
      </p:sp>
    </p:spTree>
    <p:extLst>
      <p:ext uri="{BB962C8B-B14F-4D97-AF65-F5344CB8AC3E}">
        <p14:creationId xmlns:p14="http://schemas.microsoft.com/office/powerpoint/2010/main" val="179627306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ppendixLabel">
            <a:extLst>
              <a:ext uri="{FF2B5EF4-FFF2-40B4-BE49-F238E27FC236}">
                <a16:creationId xmlns:a16="http://schemas.microsoft.com/office/drawing/2014/main" id="{B967A86D-740C-453C-85CE-ECDE38C0579A}"/>
              </a:ext>
            </a:extLst>
          </p:cNvPr>
          <p:cNvSpPr>
            <a:spLocks noGrp="1"/>
          </p:cNvSpPr>
          <p:nvPr/>
        </p:nvSpPr>
        <p:spPr>
          <a:xfrm>
            <a:off x="609600" y="420000"/>
            <a:ext cx="2600000" cy="26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93C5FD"/>
                </a:solidFill>
                <a:latin typeface="Aptos"/>
                <a:ea typeface="Aptos"/>
                <a:cs typeface="Aptos"/>
              </a:rPr>
              <a:t>CODE EXAMPLE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42667399-5BCE-443C-9926-36A4AF0A95B9}"/>
              </a:ext>
            </a:extLst>
          </p:cNvPr>
          <p:cNvSpPr>
            <a:spLocks noGrp="1"/>
          </p:cNvSpPr>
          <p:nvPr/>
        </p:nvSpPr>
        <p:spPr>
          <a:xfrm>
            <a:off x="609600" y="710000"/>
            <a:ext cx="10600000" cy="56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sz="23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範例程式碼：compose.yaml（Nginx + Flask + MySQL 3/3）</a:t>
            </a:r>
          </a:p>
        </p:txBody>
      </p:sp>
      <p:sp>
        <p:nvSpPr>
          <p:cNvPr id="4" name="Subtitle">
            <a:extLst>
              <a:ext uri="{FF2B5EF4-FFF2-40B4-BE49-F238E27FC236}">
                <a16:creationId xmlns:a16="http://schemas.microsoft.com/office/drawing/2014/main" id="{A1F3ECF3-6798-4AA7-82D4-8313601A3442}"/>
              </a:ext>
            </a:extLst>
          </p:cNvPr>
          <p:cNvSpPr>
            <a:spLocks noGrp="1"/>
          </p:cNvSpPr>
          <p:nvPr/>
        </p:nvSpPr>
        <p:spPr>
          <a:xfrm>
            <a:off x="609600" y="126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1250">
                <a:solidFill>
                  <a:srgbClr val="CBD5E1"/>
                </a:solidFill>
                <a:latin typeface="Aptos"/>
                <a:ea typeface="Aptos"/>
                <a:cs typeface="Aptos"/>
              </a:rPr>
              <a:t>第 3 堂 | 可直接照做的完整範例</a:t>
            </a:r>
          </a:p>
        </p:txBody>
      </p:sp>
      <p:sp>
        <p:nvSpPr>
          <p:cNvPr id="5" name="CodeBackground">
            <a:extLst>
              <a:ext uri="{FF2B5EF4-FFF2-40B4-BE49-F238E27FC236}">
                <a16:creationId xmlns:a16="http://schemas.microsoft.com/office/drawing/2014/main" id="{D94B6915-7C30-48F8-A652-A5345B30C4EC}"/>
              </a:ext>
            </a:extLst>
          </p:cNvPr>
          <p:cNvSpPr>
            <a:spLocks noGrp="1"/>
          </p:cNvSpPr>
          <p:nvPr/>
        </p:nvSpPr>
        <p:spPr>
          <a:xfrm>
            <a:off x="609600" y="1680000"/>
            <a:ext cx="10972800" cy="4370000"/>
          </a:xfrm>
          <a:prstGeom prst="roundRect">
            <a:avLst/>
          </a:prstGeom>
          <a:solidFill>
            <a:srgbClr val="111827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6" name="Code">
            <a:extLst>
              <a:ext uri="{FF2B5EF4-FFF2-40B4-BE49-F238E27FC236}">
                <a16:creationId xmlns:a16="http://schemas.microsoft.com/office/drawing/2014/main" id="{0C2D6B00-AB5A-4C0A-BA55-55ECD129A185}"/>
              </a:ext>
            </a:extLst>
          </p:cNvPr>
          <p:cNvSpPr>
            <a:spLocks noGrp="1"/>
          </p:cNvSpPr>
          <p:nvPr/>
        </p:nvSpPr>
        <p:spPr>
          <a:xfrm>
            <a:off x="810000" y="1870000"/>
            <a:ext cx="10550000" cy="398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db: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image: mysql:8.0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container_name: demo-mysql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restart: unless-stopped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environment: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MYSQL_ROOT_PASSWORD: root1234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MYSQL_DATABASE: demo_db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MYSQL_USER: demo_user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MYSQL_PASSWORD: demo_pass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ports: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- "3306:3306"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volumes: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- db-data:/var/lib/mysql</a:t>
            </a:r>
          </a:p>
          <a:p>
            <a:endParaRPr sz="1150">
              <a:solidFill>
                <a:srgbClr val="E5E7EB"/>
              </a:solidFill>
              <a:latin typeface="Consolas"/>
              <a:ea typeface="Consolas"/>
              <a:cs typeface="Consolas"/>
            </a:endParaRP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volumes: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db-data:</a:t>
            </a:r>
          </a:p>
        </p:txBody>
      </p:sp>
      <p:sp>
        <p:nvSpPr>
          <p:cNvPr id="7" name="Footer">
            <a:extLst>
              <a:ext uri="{FF2B5EF4-FFF2-40B4-BE49-F238E27FC236}">
                <a16:creationId xmlns:a16="http://schemas.microsoft.com/office/drawing/2014/main" id="{44A80664-84B6-43D4-AE6E-89A63E279B86}"/>
              </a:ext>
            </a:extLst>
          </p:cNvPr>
          <p:cNvSpPr>
            <a:spLocks noGrp="1"/>
          </p:cNvSpPr>
          <p:nvPr/>
        </p:nvSpPr>
        <p:spPr>
          <a:xfrm>
            <a:off x="609600" y="6330000"/>
            <a:ext cx="7800000" cy="24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Aptos"/>
                <a:ea typeface="Aptos"/>
                <a:cs typeface="Aptos"/>
              </a:rPr>
              <a:t>Docker 基礎教學 | 第 3 堂 | 範例程式碼</a:t>
            </a:r>
          </a:p>
        </p:txBody>
      </p:sp>
      <p:sp>
        <p:nvSpPr>
          <p:cNvPr id="8" name="Page">
            <a:extLst>
              <a:ext uri="{FF2B5EF4-FFF2-40B4-BE49-F238E27FC236}">
                <a16:creationId xmlns:a16="http://schemas.microsoft.com/office/drawing/2014/main" id="{4B7EBB24-9CFC-4402-BDBC-D3FF27686EA8}"/>
              </a:ext>
            </a:extLst>
          </p:cNvPr>
          <p:cNvSpPr>
            <a:spLocks noGrp="1"/>
          </p:cNvSpPr>
          <p:nvPr/>
        </p:nvSpPr>
        <p:spPr>
          <a:xfrm>
            <a:off x="10850000" y="6330000"/>
            <a:ext cx="650000" cy="24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Aptos"/>
                <a:ea typeface="Aptos"/>
                <a:cs typeface="Aptos"/>
              </a:rPr>
              <a:t>CODE</a:t>
            </a:r>
          </a:p>
        </p:txBody>
      </p:sp>
    </p:spTree>
    <p:extLst>
      <p:ext uri="{BB962C8B-B14F-4D97-AF65-F5344CB8AC3E}">
        <p14:creationId xmlns:p14="http://schemas.microsoft.com/office/powerpoint/2010/main" val="171483216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410E04D7-C178-4CC5-8F7D-D54FC634B700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619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900" b="1">
                <a:solidFill>
                  <a:srgbClr val="0B5CA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5CAD"/>
                </a:solidFill>
                <a:latin typeface="Aptos"/>
                <a:ea typeface="Aptos"/>
                <a:cs typeface="Aptos"/>
              </a:rPr>
              <a:t>VERIFY SERVICES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5018045-3CE1-4E1F-90F7-174D5AB2BA16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9906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28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啟動後用三個訊號確認服務正常</a:t>
            </a: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2C09FB19-6852-4793-8696-402AF282377E}"/>
              </a:ext>
            </a:extLst>
          </p:cNvPr>
          <p:cNvSpPr>
            <a:spLocks noGrp="1"/>
          </p:cNvSpPr>
          <p:nvPr/>
        </p:nvSpPr>
        <p:spPr>
          <a:xfrm>
            <a:off x="1104900" y="1943100"/>
            <a:ext cx="2857500" cy="200025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F03D5A7-C9C2-4A06-A207-7FBE9A97DEB5}"/>
              </a:ext>
            </a:extLst>
          </p:cNvPr>
          <p:cNvSpPr>
            <a:spLocks noGrp="1"/>
          </p:cNvSpPr>
          <p:nvPr/>
        </p:nvSpPr>
        <p:spPr>
          <a:xfrm>
            <a:off x="1333500" y="2266950"/>
            <a:ext cx="24003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6000"/>
              </a:lnSpc>
              <a:buNone/>
              <a:defRPr sz="1875" b="1">
                <a:solidFill>
                  <a:srgbClr val="0B1220"/>
                </a:solidFill>
                <a:latin typeface="Consolas"/>
                <a:ea typeface="Consolas"/>
                <a:cs typeface="Consolas"/>
              </a:defRPr>
            </a:pPr>
            <a:r>
              <a:rPr sz="1875" b="1">
                <a:solidFill>
                  <a:srgbClr val="0B1220"/>
                </a:solidFill>
                <a:latin typeface="Consolas"/>
                <a:ea typeface="Consolas"/>
                <a:cs typeface="Consolas"/>
              </a:rPr>
              <a:t>docker compose ps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94DBD69-CDD9-4A2D-AED5-C55FDDBD21FD}"/>
              </a:ext>
            </a:extLst>
          </p:cNvPr>
          <p:cNvSpPr>
            <a:spLocks noGrp="1"/>
          </p:cNvSpPr>
          <p:nvPr/>
        </p:nvSpPr>
        <p:spPr>
          <a:xfrm>
            <a:off x="1333500" y="3105150"/>
            <a:ext cx="24003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lnSpc>
                <a:spcPct val="106000"/>
              </a:lnSpc>
              <a:buNone/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三個服務都應該是 Up</a:t>
            </a:r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D5A721C4-EA40-4B64-88CE-165FD05DF1F5}"/>
              </a:ext>
            </a:extLst>
          </p:cNvPr>
          <p:cNvSpPr>
            <a:spLocks noGrp="1"/>
          </p:cNvSpPr>
          <p:nvPr/>
        </p:nvSpPr>
        <p:spPr>
          <a:xfrm>
            <a:off x="4457700" y="1943100"/>
            <a:ext cx="2857500" cy="200025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BA4E409-8EE5-439F-B1BF-60FEC30411AB}"/>
              </a:ext>
            </a:extLst>
          </p:cNvPr>
          <p:cNvSpPr>
            <a:spLocks noGrp="1"/>
          </p:cNvSpPr>
          <p:nvPr/>
        </p:nvSpPr>
        <p:spPr>
          <a:xfrm>
            <a:off x="4686300" y="2266950"/>
            <a:ext cx="24003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7586"/>
          </a:bodyPr>
          <a:lstStyle/>
          <a:p>
            <a:pPr algn="ctr">
              <a:lnSpc>
                <a:spcPct val="106000"/>
              </a:lnSpc>
              <a:buNone/>
              <a:defRPr sz="1875" b="1">
                <a:solidFill>
                  <a:srgbClr val="0B1220"/>
                </a:solidFill>
                <a:latin typeface="Consolas"/>
                <a:ea typeface="Consolas"/>
                <a:cs typeface="Consolas"/>
              </a:defRPr>
            </a:pPr>
            <a:r>
              <a:rPr sz="1875" b="1">
                <a:solidFill>
                  <a:srgbClr val="0B1220"/>
                </a:solidFill>
                <a:latin typeface="Consolas"/>
                <a:ea typeface="Consolas"/>
                <a:cs typeface="Consolas"/>
              </a:rPr>
              <a:t>docker compose logs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B1EBC94-9D0A-4C93-B001-797300F0F64A}"/>
              </a:ext>
            </a:extLst>
          </p:cNvPr>
          <p:cNvSpPr>
            <a:spLocks noGrp="1"/>
          </p:cNvSpPr>
          <p:nvPr/>
        </p:nvSpPr>
        <p:spPr>
          <a:xfrm>
            <a:off x="4686300" y="3105150"/>
            <a:ext cx="24003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lnSpc>
                <a:spcPct val="106000"/>
              </a:lnSpc>
              <a:buNone/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確認 Nginx、Flask 與 MySQL 沒有錯誤</a:t>
            </a:r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9FE2CB71-7B50-4A2A-A588-518F70C79896}"/>
              </a:ext>
            </a:extLst>
          </p:cNvPr>
          <p:cNvSpPr>
            <a:spLocks noGrp="1"/>
          </p:cNvSpPr>
          <p:nvPr/>
        </p:nvSpPr>
        <p:spPr>
          <a:xfrm>
            <a:off x="7810500" y="1943100"/>
            <a:ext cx="2857500" cy="2000250"/>
          </a:xfrm>
          <a:prstGeom prst="roundRect">
            <a:avLst>
              <a:gd name="adj" fmla="val 5714"/>
            </a:avLst>
          </a:prstGeom>
          <a:solidFill>
            <a:srgbClr val="E7F8F2"/>
          </a:solidFill>
          <a:ln w="9525">
            <a:solidFill>
              <a:srgbClr val="00A97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B6E8068-854B-4FA6-81A0-AD52772501BD}"/>
              </a:ext>
            </a:extLst>
          </p:cNvPr>
          <p:cNvSpPr>
            <a:spLocks noGrp="1"/>
          </p:cNvSpPr>
          <p:nvPr/>
        </p:nvSpPr>
        <p:spPr>
          <a:xfrm>
            <a:off x="8039100" y="2266950"/>
            <a:ext cx="24003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6000"/>
              </a:lnSpc>
              <a:buNone/>
              <a:defRPr sz="1875" b="1">
                <a:solidFill>
                  <a:srgbClr val="047857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047857"/>
                </a:solidFill>
                <a:latin typeface="Aptos Display"/>
                <a:ea typeface="Aptos Display"/>
                <a:cs typeface="Aptos Display"/>
              </a:rPr>
              <a:t>瀏覽器 / 工具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7C817E8-0011-4826-8F01-798A70884307}"/>
              </a:ext>
            </a:extLst>
          </p:cNvPr>
          <p:cNvSpPr>
            <a:spLocks noGrp="1"/>
          </p:cNvSpPr>
          <p:nvPr/>
        </p:nvSpPr>
        <p:spPr>
          <a:xfrm>
            <a:off x="8039100" y="3105150"/>
            <a:ext cx="24003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lnSpc>
                <a:spcPct val="106000"/>
              </a:lnSpc>
              <a:buNone/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localhost:8080 看 JSON；localhost:3306 連 MySQL</a:t>
            </a:r>
          </a:p>
        </p:txBody>
      </p:sp>
      <p:sp>
        <p:nvSpPr>
          <p:cNvPr id="12" name="矩形: 圓角 11">
            <a:extLst>
              <a:ext uri="{FF2B5EF4-FFF2-40B4-BE49-F238E27FC236}">
                <a16:creationId xmlns:a16="http://schemas.microsoft.com/office/drawing/2014/main" id="{740A2432-9FD1-40E5-B2FC-3083BBEC00BC}"/>
              </a:ext>
            </a:extLst>
          </p:cNvPr>
          <p:cNvSpPr>
            <a:spLocks noGrp="1"/>
          </p:cNvSpPr>
          <p:nvPr/>
        </p:nvSpPr>
        <p:spPr>
          <a:xfrm>
            <a:off x="3143250" y="4838700"/>
            <a:ext cx="5905500" cy="1028700"/>
          </a:xfrm>
          <a:prstGeom prst="roundRect">
            <a:avLst>
              <a:gd name="adj" fmla="val 9259"/>
            </a:avLst>
          </a:prstGeom>
          <a:solidFill>
            <a:srgbClr val="0B1220"/>
          </a:solidFill>
          <a:ln w="9525">
            <a:solidFill>
              <a:srgbClr val="1E293B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sp>
        <p:nvSpPr>
          <p:cNvPr id="13" name="橢圓 12">
            <a:extLst>
              <a:ext uri="{FF2B5EF4-FFF2-40B4-BE49-F238E27FC236}">
                <a16:creationId xmlns:a16="http://schemas.microsoft.com/office/drawing/2014/main" id="{E9EB53A2-4F81-46F8-A271-EDA4B5C9105C}"/>
              </a:ext>
            </a:extLst>
          </p:cNvPr>
          <p:cNvSpPr>
            <a:spLocks noGrp="1"/>
          </p:cNvSpPr>
          <p:nvPr/>
        </p:nvSpPr>
        <p:spPr>
          <a:xfrm>
            <a:off x="3314700" y="5000625"/>
            <a:ext cx="95250" cy="95250"/>
          </a:xfrm>
          <a:prstGeom prst="ellipse">
            <a:avLst/>
          </a:prstGeom>
          <a:solidFill>
            <a:srgbClr val="FB7185"/>
          </a:solidFill>
          <a:ln w="0">
            <a:noFill/>
            <a:prstDash val="solid"/>
          </a:ln>
        </p:spPr>
      </p:sp>
      <p:sp>
        <p:nvSpPr>
          <p:cNvPr id="14" name="橢圓 13">
            <a:extLst>
              <a:ext uri="{FF2B5EF4-FFF2-40B4-BE49-F238E27FC236}">
                <a16:creationId xmlns:a16="http://schemas.microsoft.com/office/drawing/2014/main" id="{746AA9D5-A746-4448-9710-5D15E8FB4F61}"/>
              </a:ext>
            </a:extLst>
          </p:cNvPr>
          <p:cNvSpPr>
            <a:spLocks noGrp="1"/>
          </p:cNvSpPr>
          <p:nvPr/>
        </p:nvSpPr>
        <p:spPr>
          <a:xfrm>
            <a:off x="3486150" y="5000625"/>
            <a:ext cx="95250" cy="95250"/>
          </a:xfrm>
          <a:prstGeom prst="ellipse">
            <a:avLst/>
          </a:prstGeom>
          <a:solidFill>
            <a:srgbClr val="FBBF24"/>
          </a:solidFill>
          <a:ln w="0">
            <a:noFill/>
            <a:prstDash val="solid"/>
          </a:ln>
        </p:spPr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7CFE7939-1036-4BEE-ABF2-789D02FF5655}"/>
              </a:ext>
            </a:extLst>
          </p:cNvPr>
          <p:cNvSpPr>
            <a:spLocks noGrp="1"/>
          </p:cNvSpPr>
          <p:nvPr/>
        </p:nvSpPr>
        <p:spPr>
          <a:xfrm>
            <a:off x="3657600" y="5000625"/>
            <a:ext cx="95250" cy="95250"/>
          </a:xfrm>
          <a:prstGeom prst="ellipse">
            <a:avLst/>
          </a:prstGeom>
          <a:solidFill>
            <a:srgbClr val="34D399"/>
          </a:solidFill>
          <a:ln w="0">
            <a:noFill/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817B639E-D924-4BB1-AFF6-27B5738A39B5}"/>
              </a:ext>
            </a:extLst>
          </p:cNvPr>
          <p:cNvSpPr>
            <a:spLocks noGrp="1"/>
          </p:cNvSpPr>
          <p:nvPr/>
        </p:nvSpPr>
        <p:spPr>
          <a:xfrm>
            <a:off x="3352800" y="5257800"/>
            <a:ext cx="54864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45527"/>
          </a:bodyPr>
          <a:lstStyle/>
          <a:p>
            <a:pPr algn="l">
              <a:lnSpc>
                <a:spcPct val="104000"/>
              </a:lnSpc>
              <a:buNone/>
              <a:defRPr sz="165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docker compose config</a:t>
            </a:r>
          </a:p>
          <a:p>
            <a:pPr algn="l">
              <a:lnSpc>
                <a:spcPct val="104000"/>
              </a:lnSpc>
              <a:buNone/>
              <a:defRPr sz="165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docker compose up -d</a:t>
            </a:r>
          </a:p>
          <a:p>
            <a:pPr algn="l">
              <a:lnSpc>
                <a:spcPct val="104000"/>
              </a:lnSpc>
              <a:buNone/>
              <a:defRPr sz="165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docker compose ps</a:t>
            </a:r>
          </a:p>
          <a:p>
            <a:pPr algn="l">
              <a:lnSpc>
                <a:spcPct val="104000"/>
              </a:lnSpc>
              <a:buNone/>
              <a:defRPr sz="165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docker compose logs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B42A01B3-454B-441B-94D2-D57C80159265}"/>
              </a:ext>
            </a:extLst>
          </p:cNvPr>
          <p:cNvSpPr>
            <a:spLocks noGrp="1"/>
          </p:cNvSpPr>
          <p:nvPr/>
        </p:nvSpPr>
        <p:spPr>
          <a:xfrm>
            <a:off x="609600" y="6305550"/>
            <a:ext cx="9906000" cy="13335"/>
          </a:xfrm>
          <a:prstGeom prst="rect">
            <a:avLst/>
          </a:prstGeom>
          <a:solidFill>
            <a:srgbClr val="D9E2EC"/>
          </a:solidFill>
          <a:ln w="0">
            <a:noFill/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5D27B77B-999F-42C9-8BBD-566A42BFF9A2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2762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Docker 基礎教學 | 第 3 堂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D0C2F858-4505-4B32-A68F-4653D2DEAA9C}"/>
              </a:ext>
            </a:extLst>
          </p:cNvPr>
          <p:cNvSpPr>
            <a:spLocks noGrp="1"/>
          </p:cNvSpPr>
          <p:nvPr/>
        </p:nvSpPr>
        <p:spPr>
          <a:xfrm>
            <a:off x="11010900" y="6381750"/>
            <a:ext cx="571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106000"/>
              </a:lnSpc>
              <a:buNone/>
              <a:defRPr sz="9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15165728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>
            <a:extLst>
              <a:ext uri="{FF2B5EF4-FFF2-40B4-BE49-F238E27FC236}">
                <a16:creationId xmlns:a16="http://schemas.microsoft.com/office/drawing/2014/main" id="{305CE85E-B951-41C2-A31D-898FB0D1E7CC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619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900" b="1">
                <a:solidFill>
                  <a:srgbClr val="0B5CA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5CAD"/>
                </a:solidFill>
                <a:latin typeface="Aptos"/>
                <a:ea typeface="Aptos"/>
                <a:cs typeface="Aptos"/>
              </a:rPr>
              <a:t>MYSQL INSIDE COMPOSE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4803DDD-2EDE-461E-8408-9CEC6BD8AA0F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9906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95000"/>
              </a:lnSpc>
              <a:buNone/>
              <a:defRPr sz="28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進 demo-mysql 確認 Flask 寫入資料</a:t>
            </a: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6A0FDC53-9C70-463C-B8D3-71F1E8B8BD80}"/>
              </a:ext>
            </a:extLst>
          </p:cNvPr>
          <p:cNvSpPr>
            <a:spLocks noGrp="1"/>
          </p:cNvSpPr>
          <p:nvPr/>
        </p:nvSpPr>
        <p:spPr>
          <a:xfrm>
            <a:off x="819150" y="1428750"/>
            <a:ext cx="6858000" cy="3505200"/>
          </a:xfrm>
          <a:prstGeom prst="roundRect">
            <a:avLst>
              <a:gd name="adj" fmla="val 2717"/>
            </a:avLst>
          </a:prstGeom>
          <a:solidFill>
            <a:srgbClr val="0B1220"/>
          </a:solidFill>
          <a:ln w="9525">
            <a:solidFill>
              <a:srgbClr val="1E293B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sp>
        <p:nvSpPr>
          <p:cNvPr id="4" name="橢圓 3">
            <a:extLst>
              <a:ext uri="{FF2B5EF4-FFF2-40B4-BE49-F238E27FC236}">
                <a16:creationId xmlns:a16="http://schemas.microsoft.com/office/drawing/2014/main" id="{B5C5C32F-EB97-468B-A621-C145EADC9CAD}"/>
              </a:ext>
            </a:extLst>
          </p:cNvPr>
          <p:cNvSpPr>
            <a:spLocks noGrp="1"/>
          </p:cNvSpPr>
          <p:nvPr/>
        </p:nvSpPr>
        <p:spPr>
          <a:xfrm>
            <a:off x="990600" y="1590675"/>
            <a:ext cx="95250" cy="95250"/>
          </a:xfrm>
          <a:prstGeom prst="ellipse">
            <a:avLst/>
          </a:prstGeom>
          <a:solidFill>
            <a:srgbClr val="FB7185"/>
          </a:solidFill>
          <a:ln w="0">
            <a:noFill/>
            <a:prstDash val="solid"/>
          </a:ln>
        </p:spPr>
      </p:sp>
      <p:sp>
        <p:nvSpPr>
          <p:cNvPr id="5" name="橢圓 4">
            <a:extLst>
              <a:ext uri="{FF2B5EF4-FFF2-40B4-BE49-F238E27FC236}">
                <a16:creationId xmlns:a16="http://schemas.microsoft.com/office/drawing/2014/main" id="{846E790F-732F-4F34-943E-F987B54E31BA}"/>
              </a:ext>
            </a:extLst>
          </p:cNvPr>
          <p:cNvSpPr>
            <a:spLocks noGrp="1"/>
          </p:cNvSpPr>
          <p:nvPr/>
        </p:nvSpPr>
        <p:spPr>
          <a:xfrm>
            <a:off x="1162050" y="1590675"/>
            <a:ext cx="95250" cy="95250"/>
          </a:xfrm>
          <a:prstGeom prst="ellipse">
            <a:avLst/>
          </a:prstGeom>
          <a:solidFill>
            <a:srgbClr val="FBBF24"/>
          </a:solidFill>
          <a:ln w="0">
            <a:noFill/>
            <a:prstDash val="solid"/>
          </a:ln>
        </p:spPr>
      </p:sp>
      <p:sp>
        <p:nvSpPr>
          <p:cNvPr id="6" name="橢圓 5">
            <a:extLst>
              <a:ext uri="{FF2B5EF4-FFF2-40B4-BE49-F238E27FC236}">
                <a16:creationId xmlns:a16="http://schemas.microsoft.com/office/drawing/2014/main" id="{4327BB44-9687-4C34-B84D-7207D9887591}"/>
              </a:ext>
            </a:extLst>
          </p:cNvPr>
          <p:cNvSpPr>
            <a:spLocks noGrp="1"/>
          </p:cNvSpPr>
          <p:nvPr/>
        </p:nvSpPr>
        <p:spPr>
          <a:xfrm>
            <a:off x="1333500" y="1590675"/>
            <a:ext cx="95250" cy="95250"/>
          </a:xfrm>
          <a:prstGeom prst="ellipse">
            <a:avLst/>
          </a:prstGeom>
          <a:solidFill>
            <a:srgbClr val="34D399"/>
          </a:solidFill>
          <a:ln w="0">
            <a:noFill/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6BD62FC-5561-4062-82C4-F68DF7FC29EF}"/>
              </a:ext>
            </a:extLst>
          </p:cNvPr>
          <p:cNvSpPr>
            <a:spLocks noGrp="1"/>
          </p:cNvSpPr>
          <p:nvPr/>
        </p:nvSpPr>
        <p:spPr>
          <a:xfrm>
            <a:off x="1028700" y="1847850"/>
            <a:ext cx="6438900" cy="2952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4000"/>
              </a:lnSpc>
              <a:buNone/>
              <a:defRPr sz="135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docker exec -it demo-mysql mysql -u demo_user -p</a:t>
            </a:r>
          </a:p>
          <a:p>
            <a:pPr algn="l">
              <a:lnSpc>
                <a:spcPct val="104000"/>
              </a:lnSpc>
              <a:buNone/>
              <a:defRPr sz="135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SHOW DATABASES;</a:t>
            </a:r>
          </a:p>
          <a:p>
            <a:pPr algn="l">
              <a:lnSpc>
                <a:spcPct val="104000"/>
              </a:lnSpc>
              <a:buNone/>
              <a:defRPr sz="135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USE demo_db;</a:t>
            </a:r>
          </a:p>
          <a:p>
            <a:pPr algn="l">
              <a:lnSpc>
                <a:spcPct val="104000"/>
              </a:lnSpc>
              <a:buNone/>
              <a:defRPr sz="135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SELECT * FROM visits;</a:t>
            </a:r>
          </a:p>
          <a:p>
            <a:pPr algn="l">
              <a:lnSpc>
                <a:spcPct val="104000"/>
              </a:lnSpc>
              <a:buNone/>
              <a:defRPr sz="135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EXIT;</a:t>
            </a:r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8112AC9D-6ED5-4411-978E-DA57123544BF}"/>
              </a:ext>
            </a:extLst>
          </p:cNvPr>
          <p:cNvSpPr>
            <a:spLocks noGrp="1"/>
          </p:cNvSpPr>
          <p:nvPr/>
        </p:nvSpPr>
        <p:spPr>
          <a:xfrm>
            <a:off x="8172450" y="2038350"/>
            <a:ext cx="2857500" cy="1600200"/>
          </a:xfrm>
          <a:prstGeom prst="roundRect">
            <a:avLst>
              <a:gd name="adj" fmla="val 7143"/>
            </a:avLst>
          </a:prstGeom>
          <a:solidFill>
            <a:srgbClr val="FFF6DD"/>
          </a:solidFill>
          <a:ln w="9525">
            <a:solidFill>
              <a:srgbClr val="F59E0B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E612176-FA1F-492C-B481-489F034269ED}"/>
              </a:ext>
            </a:extLst>
          </p:cNvPr>
          <p:cNvSpPr>
            <a:spLocks noGrp="1"/>
          </p:cNvSpPr>
          <p:nvPr/>
        </p:nvSpPr>
        <p:spPr>
          <a:xfrm>
            <a:off x="8401050" y="2228850"/>
            <a:ext cx="2400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1875" b="1">
                <a:solidFill>
                  <a:srgbClr val="B45309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B45309"/>
                </a:solidFill>
                <a:latin typeface="Aptos Display"/>
                <a:ea typeface="Aptos Display"/>
                <a:cs typeface="Aptos Display"/>
              </a:rPr>
              <a:t>這一步驗證什麼？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07A063A-3D12-4F65-B219-669D15634A99}"/>
              </a:ext>
            </a:extLst>
          </p:cNvPr>
          <p:cNvSpPr>
            <a:spLocks noGrp="1"/>
          </p:cNvSpPr>
          <p:nvPr/>
        </p:nvSpPr>
        <p:spPr>
          <a:xfrm>
            <a:off x="8401050" y="2647950"/>
            <a:ext cx="240030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6000"/>
              </a:lnSpc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不是只看容器 Up，而是確認 Flask 真的透過 db 寫入 MySQL。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14DE522-3962-44B7-879B-6F43B4EB0C8B}"/>
              </a:ext>
            </a:extLst>
          </p:cNvPr>
          <p:cNvSpPr>
            <a:spLocks noGrp="1"/>
          </p:cNvSpPr>
          <p:nvPr/>
        </p:nvSpPr>
        <p:spPr>
          <a:xfrm>
            <a:off x="609600" y="6305550"/>
            <a:ext cx="9906000" cy="13335"/>
          </a:xfrm>
          <a:prstGeom prst="rect">
            <a:avLst/>
          </a:prstGeom>
          <a:solidFill>
            <a:srgbClr val="D9E2EC"/>
          </a:solidFill>
          <a:ln w="0">
            <a:noFill/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615CFC8-DC87-441C-828E-7A3390029296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2762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Docker 基礎教學 | 第 3 堂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B4A4B2D-FD34-4D67-86F2-E7856800CF63}"/>
              </a:ext>
            </a:extLst>
          </p:cNvPr>
          <p:cNvSpPr>
            <a:spLocks noGrp="1"/>
          </p:cNvSpPr>
          <p:nvPr/>
        </p:nvSpPr>
        <p:spPr>
          <a:xfrm>
            <a:off x="11010900" y="6381750"/>
            <a:ext cx="571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106000"/>
              </a:lnSpc>
              <a:buNone/>
              <a:defRPr sz="9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89050438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>
            <a:extLst>
              <a:ext uri="{FF2B5EF4-FFF2-40B4-BE49-F238E27FC236}">
                <a16:creationId xmlns:a16="http://schemas.microsoft.com/office/drawing/2014/main" id="{BC626EA8-5ACB-4C15-8E32-33E2A508F5C1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619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900" b="1">
                <a:solidFill>
                  <a:srgbClr val="0B5CA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5CAD"/>
                </a:solidFill>
                <a:latin typeface="Aptos"/>
                <a:ea typeface="Aptos"/>
                <a:cs typeface="Aptos"/>
              </a:rPr>
              <a:t>SHUTDOWN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24547F5-4919-40F2-AA7C-3CAA94EBED3A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9906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28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down 與 down -v 的差別很重要</a:t>
            </a: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722086E6-93B6-4355-91D6-7E6E7C3D990C}"/>
              </a:ext>
            </a:extLst>
          </p:cNvPr>
          <p:cNvSpPr>
            <a:spLocks noGrp="1"/>
          </p:cNvSpPr>
          <p:nvPr/>
        </p:nvSpPr>
        <p:spPr>
          <a:xfrm>
            <a:off x="1314450" y="1885950"/>
            <a:ext cx="4095750" cy="200025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BE8BBD2-0899-4331-B487-02FBF5523C18}"/>
              </a:ext>
            </a:extLst>
          </p:cNvPr>
          <p:cNvSpPr>
            <a:spLocks noGrp="1"/>
          </p:cNvSpPr>
          <p:nvPr/>
        </p:nvSpPr>
        <p:spPr>
          <a:xfrm>
            <a:off x="1543050" y="2076450"/>
            <a:ext cx="36385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2171"/>
          </a:bodyPr>
          <a:lstStyle/>
          <a:p>
            <a:pPr algn="l">
              <a:lnSpc>
                <a:spcPct val="106000"/>
              </a:lnSpc>
              <a:buNone/>
              <a:defRPr sz="2175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docker compose down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A156D9E-6826-40A6-B44D-814EB1169666}"/>
              </a:ext>
            </a:extLst>
          </p:cNvPr>
          <p:cNvSpPr>
            <a:spLocks noGrp="1"/>
          </p:cNvSpPr>
          <p:nvPr/>
        </p:nvSpPr>
        <p:spPr>
          <a:xfrm>
            <a:off x="1543050" y="2667000"/>
            <a:ext cx="3638550" cy="1028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16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停止並刪除 Compose 建立的容器與網路。Named Volume 保留。</a:t>
            </a:r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DEB3A4F8-1CDE-4C92-A821-A95167D2A242}"/>
              </a:ext>
            </a:extLst>
          </p:cNvPr>
          <p:cNvSpPr>
            <a:spLocks noGrp="1"/>
          </p:cNvSpPr>
          <p:nvPr/>
        </p:nvSpPr>
        <p:spPr>
          <a:xfrm>
            <a:off x="6781800" y="1885950"/>
            <a:ext cx="4095750" cy="2000250"/>
          </a:xfrm>
          <a:prstGeom prst="roundRect">
            <a:avLst>
              <a:gd name="adj" fmla="val 5714"/>
            </a:avLst>
          </a:prstGeom>
          <a:solidFill>
            <a:srgbClr val="FFE4E6"/>
          </a:solidFill>
          <a:ln w="9525">
            <a:solidFill>
              <a:srgbClr val="E11D48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8D6E432-B905-4C04-9DBE-C113D9B8F3FA}"/>
              </a:ext>
            </a:extLst>
          </p:cNvPr>
          <p:cNvSpPr>
            <a:spLocks noGrp="1"/>
          </p:cNvSpPr>
          <p:nvPr/>
        </p:nvSpPr>
        <p:spPr>
          <a:xfrm>
            <a:off x="7010400" y="2076450"/>
            <a:ext cx="36385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2171"/>
          </a:bodyPr>
          <a:lstStyle/>
          <a:p>
            <a:pPr algn="l">
              <a:lnSpc>
                <a:spcPct val="106000"/>
              </a:lnSpc>
              <a:buNone/>
              <a:defRPr sz="2175" b="1">
                <a:solidFill>
                  <a:srgbClr val="E11D48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E11D48"/>
                </a:solidFill>
                <a:latin typeface="Aptos Display"/>
                <a:ea typeface="Aptos Display"/>
                <a:cs typeface="Aptos Display"/>
              </a:rPr>
              <a:t>docker compose down -v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D596DCB-B197-4B65-8FD5-012C10533421}"/>
              </a:ext>
            </a:extLst>
          </p:cNvPr>
          <p:cNvSpPr>
            <a:spLocks noGrp="1"/>
          </p:cNvSpPr>
          <p:nvPr/>
        </p:nvSpPr>
        <p:spPr>
          <a:xfrm>
            <a:off x="7010400" y="2667000"/>
            <a:ext cx="3638550" cy="1028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16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停止並刪除容器、網路，連 Volume 也刪掉。資料庫資料會消失。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E2E884B-1C98-40BA-B297-85414312D778}"/>
              </a:ext>
            </a:extLst>
          </p:cNvPr>
          <p:cNvSpPr>
            <a:spLocks noGrp="1"/>
          </p:cNvSpPr>
          <p:nvPr/>
        </p:nvSpPr>
        <p:spPr>
          <a:xfrm>
            <a:off x="1885950" y="4953000"/>
            <a:ext cx="84201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8270"/>
          </a:bodyPr>
          <a:lstStyle/>
          <a:p>
            <a:pPr algn="ctr">
              <a:lnSpc>
                <a:spcPct val="106000"/>
              </a:lnSpc>
              <a:buNone/>
              <a:defRPr sz="180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開發清空環境可以用 -v；只是暫停服務不要加 -v。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B05F853-13AE-4244-B1CE-AF98E63F8F6B}"/>
              </a:ext>
            </a:extLst>
          </p:cNvPr>
          <p:cNvSpPr>
            <a:spLocks noGrp="1"/>
          </p:cNvSpPr>
          <p:nvPr/>
        </p:nvSpPr>
        <p:spPr>
          <a:xfrm>
            <a:off x="609600" y="6305550"/>
            <a:ext cx="9906000" cy="13335"/>
          </a:xfrm>
          <a:prstGeom prst="rect">
            <a:avLst/>
          </a:prstGeom>
          <a:solidFill>
            <a:srgbClr val="D9E2EC"/>
          </a:solidFill>
          <a:ln w="0">
            <a:noFill/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C012212-7EBF-49BC-83F2-89D8AA1ECAE3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2762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Docker 基礎教學 | 第 3 堂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F515E6C-9207-4057-BE42-FC3779D8A39F}"/>
              </a:ext>
            </a:extLst>
          </p:cNvPr>
          <p:cNvSpPr>
            <a:spLocks noGrp="1"/>
          </p:cNvSpPr>
          <p:nvPr/>
        </p:nvSpPr>
        <p:spPr>
          <a:xfrm>
            <a:off x="11010900" y="6381750"/>
            <a:ext cx="571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106000"/>
              </a:lnSpc>
              <a:buNone/>
              <a:defRPr sz="9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27</a:t>
            </a:r>
          </a:p>
        </p:txBody>
      </p:sp>
    </p:spTree>
    <p:extLst>
      <p:ext uri="{BB962C8B-B14F-4D97-AF65-F5344CB8AC3E}">
        <p14:creationId xmlns:p14="http://schemas.microsoft.com/office/powerpoint/2010/main" val="44764884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>
            <a:extLst>
              <a:ext uri="{FF2B5EF4-FFF2-40B4-BE49-F238E27FC236}">
                <a16:creationId xmlns:a16="http://schemas.microsoft.com/office/drawing/2014/main" id="{C91F89E3-6C5E-4260-A6A3-AF21573AC7E0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619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900" b="1">
                <a:solidFill>
                  <a:srgbClr val="0B5CA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5CAD"/>
                </a:solidFill>
                <a:latin typeface="Aptos"/>
                <a:ea typeface="Aptos"/>
                <a:cs typeface="Aptos"/>
              </a:rPr>
              <a:t>MULTI-VERSION AND CLEANUP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EEC029D-3F16-46BA-A7DB-A62433F3A818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9906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28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Docker 讓多版本 MySQL 可以並存</a:t>
            </a: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E7DEB307-D7E5-49E1-88CE-E0E75862FE61}"/>
              </a:ext>
            </a:extLst>
          </p:cNvPr>
          <p:cNvSpPr>
            <a:spLocks noGrp="1"/>
          </p:cNvSpPr>
          <p:nvPr/>
        </p:nvSpPr>
        <p:spPr>
          <a:xfrm>
            <a:off x="723900" y="1466850"/>
            <a:ext cx="10744200" cy="2400300"/>
          </a:xfrm>
          <a:prstGeom prst="roundRect">
            <a:avLst>
              <a:gd name="adj" fmla="val 3968"/>
            </a:avLst>
          </a:prstGeom>
          <a:solidFill>
            <a:srgbClr val="0B1220"/>
          </a:solidFill>
          <a:ln w="9525">
            <a:solidFill>
              <a:srgbClr val="1E293B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sp>
        <p:nvSpPr>
          <p:cNvPr id="4" name="橢圓 3">
            <a:extLst>
              <a:ext uri="{FF2B5EF4-FFF2-40B4-BE49-F238E27FC236}">
                <a16:creationId xmlns:a16="http://schemas.microsoft.com/office/drawing/2014/main" id="{61234011-8807-4B56-8352-C679411F2C0B}"/>
              </a:ext>
            </a:extLst>
          </p:cNvPr>
          <p:cNvSpPr>
            <a:spLocks noGrp="1"/>
          </p:cNvSpPr>
          <p:nvPr/>
        </p:nvSpPr>
        <p:spPr>
          <a:xfrm>
            <a:off x="895350" y="1628775"/>
            <a:ext cx="95250" cy="95250"/>
          </a:xfrm>
          <a:prstGeom prst="ellipse">
            <a:avLst/>
          </a:prstGeom>
          <a:solidFill>
            <a:srgbClr val="FB7185"/>
          </a:solidFill>
          <a:ln w="0">
            <a:noFill/>
            <a:prstDash val="solid"/>
          </a:ln>
        </p:spPr>
      </p:sp>
      <p:sp>
        <p:nvSpPr>
          <p:cNvPr id="5" name="橢圓 4">
            <a:extLst>
              <a:ext uri="{FF2B5EF4-FFF2-40B4-BE49-F238E27FC236}">
                <a16:creationId xmlns:a16="http://schemas.microsoft.com/office/drawing/2014/main" id="{35F81F8B-615F-4837-A652-73E2F3E3B50C}"/>
              </a:ext>
            </a:extLst>
          </p:cNvPr>
          <p:cNvSpPr>
            <a:spLocks noGrp="1"/>
          </p:cNvSpPr>
          <p:nvPr/>
        </p:nvSpPr>
        <p:spPr>
          <a:xfrm>
            <a:off x="1066800" y="1628775"/>
            <a:ext cx="95250" cy="95250"/>
          </a:xfrm>
          <a:prstGeom prst="ellipse">
            <a:avLst/>
          </a:prstGeom>
          <a:solidFill>
            <a:srgbClr val="FBBF24"/>
          </a:solidFill>
          <a:ln w="0">
            <a:noFill/>
            <a:prstDash val="solid"/>
          </a:ln>
        </p:spPr>
      </p:sp>
      <p:sp>
        <p:nvSpPr>
          <p:cNvPr id="6" name="橢圓 5">
            <a:extLst>
              <a:ext uri="{FF2B5EF4-FFF2-40B4-BE49-F238E27FC236}">
                <a16:creationId xmlns:a16="http://schemas.microsoft.com/office/drawing/2014/main" id="{1E23743D-F912-4F9B-88D8-2E6FF593C594}"/>
              </a:ext>
            </a:extLst>
          </p:cNvPr>
          <p:cNvSpPr>
            <a:spLocks noGrp="1"/>
          </p:cNvSpPr>
          <p:nvPr/>
        </p:nvSpPr>
        <p:spPr>
          <a:xfrm>
            <a:off x="1238250" y="1628775"/>
            <a:ext cx="95250" cy="95250"/>
          </a:xfrm>
          <a:prstGeom prst="ellipse">
            <a:avLst/>
          </a:prstGeom>
          <a:solidFill>
            <a:srgbClr val="34D399"/>
          </a:solidFill>
          <a:ln w="0">
            <a:noFill/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EF7957A-3D1E-4FDE-94C2-C5A784DEDD6C}"/>
              </a:ext>
            </a:extLst>
          </p:cNvPr>
          <p:cNvSpPr>
            <a:spLocks noGrp="1"/>
          </p:cNvSpPr>
          <p:nvPr/>
        </p:nvSpPr>
        <p:spPr>
          <a:xfrm>
            <a:off x="933450" y="1885950"/>
            <a:ext cx="10325100" cy="1847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4000"/>
              </a:lnSpc>
              <a:buNone/>
              <a:defRPr sz="135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docker run -d --name mysql8 -p 3306:3306 -e MYSQL_ROOT_PASSWORD=root123 mysql:8.0</a:t>
            </a:r>
          </a:p>
          <a:p>
            <a:endParaRPr sz="1350" b="0">
              <a:solidFill>
                <a:srgbClr val="E5E7EB"/>
              </a:solidFill>
              <a:latin typeface="Consolas"/>
              <a:ea typeface="Consolas"/>
              <a:cs typeface="Consolas"/>
            </a:endParaRPr>
          </a:p>
          <a:p>
            <a:pPr algn="l">
              <a:lnSpc>
                <a:spcPct val="104000"/>
              </a:lnSpc>
              <a:buNone/>
              <a:defRPr sz="135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docker run -d --name mysql9 -p 3307:3306 -e MYSQL_ROOT_PASSWORD=root123 mysql:9.0</a:t>
            </a:r>
          </a:p>
          <a:p>
            <a:endParaRPr sz="1350" b="0">
              <a:solidFill>
                <a:srgbClr val="E5E7EB"/>
              </a:solidFill>
              <a:latin typeface="Consolas"/>
              <a:ea typeface="Consolas"/>
              <a:cs typeface="Consolas"/>
            </a:endParaRPr>
          </a:p>
          <a:p>
            <a:pPr algn="l">
              <a:lnSpc>
                <a:spcPct val="104000"/>
              </a:lnSpc>
              <a:buNone/>
              <a:defRPr sz="135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docker exec -it mysql8 mysql -u root -p -e "SELECT VERSION();"</a:t>
            </a:r>
          </a:p>
          <a:p>
            <a:pPr algn="l">
              <a:lnSpc>
                <a:spcPct val="104000"/>
              </a:lnSpc>
              <a:buNone/>
              <a:defRPr sz="135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docker exec -it mysql9 mysql -u root -p -e "SELECT VERSION();"</a:t>
            </a:r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A2D68711-7153-4D0E-9FA6-2335EB7A2B52}"/>
              </a:ext>
            </a:extLst>
          </p:cNvPr>
          <p:cNvSpPr>
            <a:spLocks noGrp="1"/>
          </p:cNvSpPr>
          <p:nvPr/>
        </p:nvSpPr>
        <p:spPr>
          <a:xfrm>
            <a:off x="1238250" y="4362450"/>
            <a:ext cx="4191000" cy="1162050"/>
          </a:xfrm>
          <a:prstGeom prst="roundRect">
            <a:avLst>
              <a:gd name="adj" fmla="val 9836"/>
            </a:avLst>
          </a:prstGeom>
          <a:solidFill>
            <a:srgbClr val="E8F3FF"/>
          </a:solidFill>
          <a:ln w="9525">
            <a:solidFill>
              <a:srgbClr val="B7DCF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A9AC709-5020-498E-8BD2-89C90C44EBC2}"/>
              </a:ext>
            </a:extLst>
          </p:cNvPr>
          <p:cNvSpPr>
            <a:spLocks noGrp="1"/>
          </p:cNvSpPr>
          <p:nvPr/>
        </p:nvSpPr>
        <p:spPr>
          <a:xfrm>
            <a:off x="1466850" y="4552950"/>
            <a:ext cx="3733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1875" b="1">
                <a:solidFill>
                  <a:srgbClr val="0B5CAD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0B5CAD"/>
                </a:solidFill>
                <a:latin typeface="Aptos Display"/>
                <a:ea typeface="Aptos Display"/>
                <a:cs typeface="Aptos Display"/>
              </a:rPr>
              <a:t>關鍵觀念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CEEE478-6962-4E69-8885-4F765EB7BA62}"/>
              </a:ext>
            </a:extLst>
          </p:cNvPr>
          <p:cNvSpPr>
            <a:spLocks noGrp="1"/>
          </p:cNvSpPr>
          <p:nvPr/>
        </p:nvSpPr>
        <p:spPr>
          <a:xfrm>
            <a:off x="1466850" y="4972050"/>
            <a:ext cx="37338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78616"/>
          </a:bodyPr>
          <a:lstStyle/>
          <a:p>
            <a:pPr algn="l">
              <a:lnSpc>
                <a:spcPct val="106000"/>
              </a:lnSpc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兩個容器內部都是 3306；主機對外 port 要錯開成 3306 和 3307。</a:t>
            </a:r>
          </a:p>
        </p:txBody>
      </p: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B776D02B-A812-485C-844A-499740EF2B5F}"/>
              </a:ext>
            </a:extLst>
          </p:cNvPr>
          <p:cNvSpPr>
            <a:spLocks noGrp="1"/>
          </p:cNvSpPr>
          <p:nvPr/>
        </p:nvSpPr>
        <p:spPr>
          <a:xfrm>
            <a:off x="6762750" y="4362450"/>
            <a:ext cx="4191000" cy="1162050"/>
          </a:xfrm>
          <a:prstGeom prst="roundRect">
            <a:avLst>
              <a:gd name="adj" fmla="val 9836"/>
            </a:avLst>
          </a:prstGeom>
          <a:solidFill>
            <a:srgbClr val="FFF6DD"/>
          </a:solidFill>
          <a:ln w="9525">
            <a:solidFill>
              <a:srgbClr val="F59E0B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9495787-BA55-4676-BDE2-78CBF0168A04}"/>
              </a:ext>
            </a:extLst>
          </p:cNvPr>
          <p:cNvSpPr>
            <a:spLocks noGrp="1"/>
          </p:cNvSpPr>
          <p:nvPr/>
        </p:nvSpPr>
        <p:spPr>
          <a:xfrm>
            <a:off x="6991350" y="4552950"/>
            <a:ext cx="3733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1875" b="1">
                <a:solidFill>
                  <a:srgbClr val="B45309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B45309"/>
                </a:solidFill>
                <a:latin typeface="Aptos Display"/>
                <a:ea typeface="Aptos Display"/>
                <a:cs typeface="Aptos Display"/>
              </a:rPr>
              <a:t>清理提醒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6E5DF6C-0AF9-48D3-97B1-9ABFCC966771}"/>
              </a:ext>
            </a:extLst>
          </p:cNvPr>
          <p:cNvSpPr>
            <a:spLocks noGrp="1"/>
          </p:cNvSpPr>
          <p:nvPr/>
        </p:nvSpPr>
        <p:spPr>
          <a:xfrm>
            <a:off x="6991350" y="4972050"/>
            <a:ext cx="37338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78616"/>
          </a:bodyPr>
          <a:lstStyle/>
          <a:p>
            <a:pPr algn="l">
              <a:lnSpc>
                <a:spcPct val="106000"/>
              </a:lnSpc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container prune、image prune、system prune -a 都要確認後再執行。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1A830DF6-7690-4190-8C76-C0DF7BF93A28}"/>
              </a:ext>
            </a:extLst>
          </p:cNvPr>
          <p:cNvSpPr>
            <a:spLocks noGrp="1"/>
          </p:cNvSpPr>
          <p:nvPr/>
        </p:nvSpPr>
        <p:spPr>
          <a:xfrm>
            <a:off x="609600" y="6305550"/>
            <a:ext cx="9906000" cy="13335"/>
          </a:xfrm>
          <a:prstGeom prst="rect">
            <a:avLst/>
          </a:prstGeom>
          <a:solidFill>
            <a:srgbClr val="D9E2EC"/>
          </a:solidFill>
          <a:ln w="0">
            <a:noFill/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B9BB9AAF-C80D-429C-9222-08DCC4A7A6FF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2762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Docker 基礎教學 | 第 3 堂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CD73D08D-4626-4010-9617-F8EB7EB24A66}"/>
              </a:ext>
            </a:extLst>
          </p:cNvPr>
          <p:cNvSpPr>
            <a:spLocks noGrp="1"/>
          </p:cNvSpPr>
          <p:nvPr/>
        </p:nvSpPr>
        <p:spPr>
          <a:xfrm>
            <a:off x="11010900" y="6381750"/>
            <a:ext cx="571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106000"/>
              </a:lnSpc>
              <a:buNone/>
              <a:defRPr sz="9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28</a:t>
            </a:r>
          </a:p>
        </p:txBody>
      </p:sp>
    </p:spTree>
    <p:extLst>
      <p:ext uri="{BB962C8B-B14F-4D97-AF65-F5344CB8AC3E}">
        <p14:creationId xmlns:p14="http://schemas.microsoft.com/office/powerpoint/2010/main" val="121277486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ppendixLabel">
            <a:extLst>
              <a:ext uri="{FF2B5EF4-FFF2-40B4-BE49-F238E27FC236}">
                <a16:creationId xmlns:a16="http://schemas.microsoft.com/office/drawing/2014/main" id="{87DB311C-8E8E-4C76-9D74-CF1698ED4094}"/>
              </a:ext>
            </a:extLst>
          </p:cNvPr>
          <p:cNvSpPr>
            <a:spLocks noGrp="1"/>
          </p:cNvSpPr>
          <p:nvPr/>
        </p:nvSpPr>
        <p:spPr>
          <a:xfrm>
            <a:off x="609600" y="420000"/>
            <a:ext cx="2600000" cy="26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93C5FD"/>
                </a:solidFill>
                <a:latin typeface="Aptos"/>
                <a:ea typeface="Aptos"/>
                <a:cs typeface="Aptos"/>
              </a:rPr>
              <a:t>CODE EXAMPLE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669F863F-45E0-46F1-94DB-34D0ACAACA45}"/>
              </a:ext>
            </a:extLst>
          </p:cNvPr>
          <p:cNvSpPr>
            <a:spLocks noGrp="1"/>
          </p:cNvSpPr>
          <p:nvPr/>
        </p:nvSpPr>
        <p:spPr>
          <a:xfrm>
            <a:off x="609600" y="710000"/>
            <a:ext cx="10600000" cy="56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範例程式碼：compose.yaml（多版本 MySQL 1/2）</a:t>
            </a:r>
          </a:p>
        </p:txBody>
      </p:sp>
      <p:sp>
        <p:nvSpPr>
          <p:cNvPr id="4" name="Subtitle">
            <a:extLst>
              <a:ext uri="{FF2B5EF4-FFF2-40B4-BE49-F238E27FC236}">
                <a16:creationId xmlns:a16="http://schemas.microsoft.com/office/drawing/2014/main" id="{2CA4C807-06C5-4997-85A5-33BCFD01DEDB}"/>
              </a:ext>
            </a:extLst>
          </p:cNvPr>
          <p:cNvSpPr>
            <a:spLocks noGrp="1"/>
          </p:cNvSpPr>
          <p:nvPr/>
        </p:nvSpPr>
        <p:spPr>
          <a:xfrm>
            <a:off x="609600" y="126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1250">
                <a:solidFill>
                  <a:srgbClr val="CBD5E1"/>
                </a:solidFill>
                <a:latin typeface="Aptos"/>
                <a:ea typeface="Aptos"/>
                <a:cs typeface="Aptos"/>
              </a:rPr>
              <a:t>第 3 堂 | 可直接照做的完整範例</a:t>
            </a:r>
          </a:p>
        </p:txBody>
      </p:sp>
      <p:sp>
        <p:nvSpPr>
          <p:cNvPr id="5" name="CodeBackground">
            <a:extLst>
              <a:ext uri="{FF2B5EF4-FFF2-40B4-BE49-F238E27FC236}">
                <a16:creationId xmlns:a16="http://schemas.microsoft.com/office/drawing/2014/main" id="{694DFF00-7A47-491B-9D3A-47A6E607FDE5}"/>
              </a:ext>
            </a:extLst>
          </p:cNvPr>
          <p:cNvSpPr>
            <a:spLocks noGrp="1"/>
          </p:cNvSpPr>
          <p:nvPr/>
        </p:nvSpPr>
        <p:spPr>
          <a:xfrm>
            <a:off x="609600" y="1680000"/>
            <a:ext cx="10972800" cy="4370000"/>
          </a:xfrm>
          <a:prstGeom prst="roundRect">
            <a:avLst/>
          </a:prstGeom>
          <a:solidFill>
            <a:srgbClr val="111827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6" name="Code">
            <a:extLst>
              <a:ext uri="{FF2B5EF4-FFF2-40B4-BE49-F238E27FC236}">
                <a16:creationId xmlns:a16="http://schemas.microsoft.com/office/drawing/2014/main" id="{083E66F7-D4F5-4E63-BD02-1D1B4D8676FA}"/>
              </a:ext>
            </a:extLst>
          </p:cNvPr>
          <p:cNvSpPr>
            <a:spLocks noGrp="1"/>
          </p:cNvSpPr>
          <p:nvPr/>
        </p:nvSpPr>
        <p:spPr>
          <a:xfrm>
            <a:off x="810000" y="1870000"/>
            <a:ext cx="10550000" cy="398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10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services:</a:t>
            </a:r>
          </a:p>
          <a:p>
            <a:r>
              <a:rPr sz="10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mysql8:</a:t>
            </a:r>
          </a:p>
          <a:p>
            <a:r>
              <a:rPr sz="10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image: mysql:8.0</a:t>
            </a:r>
          </a:p>
          <a:p>
            <a:r>
              <a:rPr sz="10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container_name: mysql8</a:t>
            </a:r>
          </a:p>
          <a:p>
            <a:r>
              <a:rPr sz="10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restart: unless-stopped</a:t>
            </a:r>
          </a:p>
          <a:p>
            <a:r>
              <a:rPr sz="10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environment:</a:t>
            </a:r>
          </a:p>
          <a:p>
            <a:r>
              <a:rPr sz="10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MYSQL_ROOT_PASSWORD: root123</a:t>
            </a:r>
          </a:p>
          <a:p>
            <a:r>
              <a:rPr sz="10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MYSQL_DATABASE: old_project</a:t>
            </a:r>
          </a:p>
          <a:p>
            <a:r>
              <a:rPr sz="10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ports:</a:t>
            </a:r>
          </a:p>
          <a:p>
            <a:r>
              <a:rPr sz="10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- "3306:3306"</a:t>
            </a:r>
          </a:p>
          <a:p>
            <a:r>
              <a:rPr sz="10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volumes:</a:t>
            </a:r>
          </a:p>
          <a:p>
            <a:r>
              <a:rPr sz="10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- mysql8-data:/var/lib/mysql</a:t>
            </a:r>
          </a:p>
          <a:p>
            <a:r>
              <a:rPr sz="10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r>
              <a:rPr sz="10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mysql9:</a:t>
            </a:r>
          </a:p>
          <a:p>
            <a:r>
              <a:rPr sz="10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image: mysql:9.0</a:t>
            </a:r>
          </a:p>
          <a:p>
            <a:r>
              <a:rPr sz="10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container_name: mysql9</a:t>
            </a:r>
          </a:p>
          <a:p>
            <a:r>
              <a:rPr sz="10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restart: unless-stopped</a:t>
            </a:r>
          </a:p>
          <a:p>
            <a:r>
              <a:rPr sz="10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environment:</a:t>
            </a:r>
          </a:p>
          <a:p>
            <a:r>
              <a:rPr sz="10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MYSQL_ROOT_PASSWORD: root123</a:t>
            </a:r>
          </a:p>
          <a:p>
            <a:r>
              <a:rPr sz="10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MYSQL_DATABASE: new_project</a:t>
            </a:r>
          </a:p>
          <a:p>
            <a:r>
              <a:rPr sz="10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ports:</a:t>
            </a:r>
          </a:p>
          <a:p>
            <a:r>
              <a:rPr sz="10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- "3307:3306"</a:t>
            </a:r>
          </a:p>
        </p:txBody>
      </p:sp>
      <p:sp>
        <p:nvSpPr>
          <p:cNvPr id="7" name="Footer">
            <a:extLst>
              <a:ext uri="{FF2B5EF4-FFF2-40B4-BE49-F238E27FC236}">
                <a16:creationId xmlns:a16="http://schemas.microsoft.com/office/drawing/2014/main" id="{30577E29-140E-4EAF-BD3F-7DE317364DCF}"/>
              </a:ext>
            </a:extLst>
          </p:cNvPr>
          <p:cNvSpPr>
            <a:spLocks noGrp="1"/>
          </p:cNvSpPr>
          <p:nvPr/>
        </p:nvSpPr>
        <p:spPr>
          <a:xfrm>
            <a:off x="609600" y="6330000"/>
            <a:ext cx="7800000" cy="24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Aptos"/>
                <a:ea typeface="Aptos"/>
                <a:cs typeface="Aptos"/>
              </a:rPr>
              <a:t>Docker 基礎教學 | 第 3 堂 | 範例程式碼</a:t>
            </a:r>
          </a:p>
        </p:txBody>
      </p:sp>
      <p:sp>
        <p:nvSpPr>
          <p:cNvPr id="8" name="Page">
            <a:extLst>
              <a:ext uri="{FF2B5EF4-FFF2-40B4-BE49-F238E27FC236}">
                <a16:creationId xmlns:a16="http://schemas.microsoft.com/office/drawing/2014/main" id="{E88DE876-D7EA-415F-9D42-45C02E5114A6}"/>
              </a:ext>
            </a:extLst>
          </p:cNvPr>
          <p:cNvSpPr>
            <a:spLocks noGrp="1"/>
          </p:cNvSpPr>
          <p:nvPr/>
        </p:nvSpPr>
        <p:spPr>
          <a:xfrm>
            <a:off x="10850000" y="6330000"/>
            <a:ext cx="650000" cy="24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Aptos"/>
                <a:ea typeface="Aptos"/>
                <a:cs typeface="Aptos"/>
              </a:rPr>
              <a:t>CODE</a:t>
            </a:r>
          </a:p>
        </p:txBody>
      </p:sp>
    </p:spTree>
    <p:extLst>
      <p:ext uri="{BB962C8B-B14F-4D97-AF65-F5344CB8AC3E}">
        <p14:creationId xmlns:p14="http://schemas.microsoft.com/office/powerpoint/2010/main" val="68312724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ppendixLabel">
            <a:extLst>
              <a:ext uri="{FF2B5EF4-FFF2-40B4-BE49-F238E27FC236}">
                <a16:creationId xmlns:a16="http://schemas.microsoft.com/office/drawing/2014/main" id="{6E71E3EE-27C0-4E02-BED7-ECE531FAC4CD}"/>
              </a:ext>
            </a:extLst>
          </p:cNvPr>
          <p:cNvSpPr>
            <a:spLocks noGrp="1"/>
          </p:cNvSpPr>
          <p:nvPr/>
        </p:nvSpPr>
        <p:spPr>
          <a:xfrm>
            <a:off x="609600" y="420000"/>
            <a:ext cx="2600000" cy="26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93C5FD"/>
                </a:solidFill>
                <a:latin typeface="Aptos"/>
                <a:ea typeface="Aptos"/>
                <a:cs typeface="Aptos"/>
              </a:rPr>
              <a:t>CODE EXAMPLE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5E04A94C-942F-44E0-84AA-5908B8B844DD}"/>
              </a:ext>
            </a:extLst>
          </p:cNvPr>
          <p:cNvSpPr>
            <a:spLocks noGrp="1"/>
          </p:cNvSpPr>
          <p:nvPr/>
        </p:nvSpPr>
        <p:spPr>
          <a:xfrm>
            <a:off x="609600" y="710000"/>
            <a:ext cx="10600000" cy="56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範例程式碼：compose.yaml（多版本 MySQL 2/2）</a:t>
            </a:r>
          </a:p>
        </p:txBody>
      </p:sp>
      <p:sp>
        <p:nvSpPr>
          <p:cNvPr id="4" name="Subtitle">
            <a:extLst>
              <a:ext uri="{FF2B5EF4-FFF2-40B4-BE49-F238E27FC236}">
                <a16:creationId xmlns:a16="http://schemas.microsoft.com/office/drawing/2014/main" id="{C2AB1A58-1566-42E2-8650-EFD37FDED80E}"/>
              </a:ext>
            </a:extLst>
          </p:cNvPr>
          <p:cNvSpPr>
            <a:spLocks noGrp="1"/>
          </p:cNvSpPr>
          <p:nvPr/>
        </p:nvSpPr>
        <p:spPr>
          <a:xfrm>
            <a:off x="609600" y="126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1250">
                <a:solidFill>
                  <a:srgbClr val="CBD5E1"/>
                </a:solidFill>
                <a:latin typeface="Aptos"/>
                <a:ea typeface="Aptos"/>
                <a:cs typeface="Aptos"/>
              </a:rPr>
              <a:t>第 3 堂 | 可直接照做的完整範例</a:t>
            </a:r>
          </a:p>
        </p:txBody>
      </p:sp>
      <p:sp>
        <p:nvSpPr>
          <p:cNvPr id="5" name="CodeBackground">
            <a:extLst>
              <a:ext uri="{FF2B5EF4-FFF2-40B4-BE49-F238E27FC236}">
                <a16:creationId xmlns:a16="http://schemas.microsoft.com/office/drawing/2014/main" id="{D6EDE3A0-0B39-4C30-B378-FDB5C4162911}"/>
              </a:ext>
            </a:extLst>
          </p:cNvPr>
          <p:cNvSpPr>
            <a:spLocks noGrp="1"/>
          </p:cNvSpPr>
          <p:nvPr/>
        </p:nvSpPr>
        <p:spPr>
          <a:xfrm>
            <a:off x="609600" y="1680000"/>
            <a:ext cx="10972800" cy="4370000"/>
          </a:xfrm>
          <a:prstGeom prst="roundRect">
            <a:avLst/>
          </a:prstGeom>
          <a:solidFill>
            <a:srgbClr val="111827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6" name="Code">
            <a:extLst>
              <a:ext uri="{FF2B5EF4-FFF2-40B4-BE49-F238E27FC236}">
                <a16:creationId xmlns:a16="http://schemas.microsoft.com/office/drawing/2014/main" id="{2BD9E99F-CF50-40C9-A22D-1FF8EF07399B}"/>
              </a:ext>
            </a:extLst>
          </p:cNvPr>
          <p:cNvSpPr>
            <a:spLocks noGrp="1"/>
          </p:cNvSpPr>
          <p:nvPr/>
        </p:nvSpPr>
        <p:spPr>
          <a:xfrm>
            <a:off x="810000" y="1870000"/>
            <a:ext cx="10550000" cy="398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volumes: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- mysql9-data:/var/lib/mysql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volumes: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mysql8-data: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mysql9-data:</a:t>
            </a:r>
          </a:p>
        </p:txBody>
      </p:sp>
      <p:sp>
        <p:nvSpPr>
          <p:cNvPr id="7" name="Footer">
            <a:extLst>
              <a:ext uri="{FF2B5EF4-FFF2-40B4-BE49-F238E27FC236}">
                <a16:creationId xmlns:a16="http://schemas.microsoft.com/office/drawing/2014/main" id="{D68E727E-9D59-437D-B5C5-DAEABF3B0EB8}"/>
              </a:ext>
            </a:extLst>
          </p:cNvPr>
          <p:cNvSpPr>
            <a:spLocks noGrp="1"/>
          </p:cNvSpPr>
          <p:nvPr/>
        </p:nvSpPr>
        <p:spPr>
          <a:xfrm>
            <a:off x="609600" y="6330000"/>
            <a:ext cx="7800000" cy="24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Aptos"/>
                <a:ea typeface="Aptos"/>
                <a:cs typeface="Aptos"/>
              </a:rPr>
              <a:t>Docker 基礎教學 | 第 3 堂 | 範例程式碼</a:t>
            </a:r>
          </a:p>
        </p:txBody>
      </p:sp>
      <p:sp>
        <p:nvSpPr>
          <p:cNvPr id="8" name="Page">
            <a:extLst>
              <a:ext uri="{FF2B5EF4-FFF2-40B4-BE49-F238E27FC236}">
                <a16:creationId xmlns:a16="http://schemas.microsoft.com/office/drawing/2014/main" id="{0E06D9B8-FC21-4B8D-8800-479C12044EE3}"/>
              </a:ext>
            </a:extLst>
          </p:cNvPr>
          <p:cNvSpPr>
            <a:spLocks noGrp="1"/>
          </p:cNvSpPr>
          <p:nvPr/>
        </p:nvSpPr>
        <p:spPr>
          <a:xfrm>
            <a:off x="10850000" y="6330000"/>
            <a:ext cx="650000" cy="24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Aptos"/>
                <a:ea typeface="Aptos"/>
                <a:cs typeface="Aptos"/>
              </a:rPr>
              <a:t>CODE</a:t>
            </a:r>
          </a:p>
        </p:txBody>
      </p:sp>
    </p:spTree>
    <p:extLst>
      <p:ext uri="{BB962C8B-B14F-4D97-AF65-F5344CB8AC3E}">
        <p14:creationId xmlns:p14="http://schemas.microsoft.com/office/powerpoint/2010/main" val="31922012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2F684B1-2C17-4B01-951D-AB4E5E6EEF5F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619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900" b="1">
                <a:solidFill>
                  <a:srgbClr val="A5B4F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5B4FC"/>
                </a:solidFill>
                <a:latin typeface="Aptos"/>
                <a:ea typeface="Aptos"/>
                <a:cs typeface="Aptos"/>
              </a:rPr>
              <a:t>EXERCISE P3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44A60BE-DDC1-437D-A99C-565B33408073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9906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實作題 P3：多版本 MySQL 並存</a:t>
            </a: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6CAD7A30-5DB5-4B9C-94F4-28F19E0EBA80}"/>
              </a:ext>
            </a:extLst>
          </p:cNvPr>
          <p:cNvSpPr>
            <a:spLocks noGrp="1"/>
          </p:cNvSpPr>
          <p:nvPr/>
        </p:nvSpPr>
        <p:spPr>
          <a:xfrm>
            <a:off x="723900" y="1390650"/>
            <a:ext cx="10744200" cy="2552700"/>
          </a:xfrm>
          <a:prstGeom prst="roundRect">
            <a:avLst>
              <a:gd name="adj" fmla="val 3731"/>
            </a:avLst>
          </a:prstGeom>
          <a:solidFill>
            <a:srgbClr val="0B1220"/>
          </a:solidFill>
          <a:ln w="9525">
            <a:solidFill>
              <a:srgbClr val="1E293B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sp>
        <p:nvSpPr>
          <p:cNvPr id="4" name="橢圓 3">
            <a:extLst>
              <a:ext uri="{FF2B5EF4-FFF2-40B4-BE49-F238E27FC236}">
                <a16:creationId xmlns:a16="http://schemas.microsoft.com/office/drawing/2014/main" id="{8A9BF3D3-9B99-4870-9992-AA91DAB47D81}"/>
              </a:ext>
            </a:extLst>
          </p:cNvPr>
          <p:cNvSpPr>
            <a:spLocks noGrp="1"/>
          </p:cNvSpPr>
          <p:nvPr/>
        </p:nvSpPr>
        <p:spPr>
          <a:xfrm>
            <a:off x="895350" y="1552575"/>
            <a:ext cx="95250" cy="95250"/>
          </a:xfrm>
          <a:prstGeom prst="ellipse">
            <a:avLst/>
          </a:prstGeom>
          <a:solidFill>
            <a:srgbClr val="FB7185"/>
          </a:solidFill>
          <a:ln w="0">
            <a:noFill/>
            <a:prstDash val="solid"/>
          </a:ln>
        </p:spPr>
      </p:sp>
      <p:sp>
        <p:nvSpPr>
          <p:cNvPr id="5" name="橢圓 4">
            <a:extLst>
              <a:ext uri="{FF2B5EF4-FFF2-40B4-BE49-F238E27FC236}">
                <a16:creationId xmlns:a16="http://schemas.microsoft.com/office/drawing/2014/main" id="{ED54A2B8-BF1C-4B4E-BCB4-4B4A5AC458DB}"/>
              </a:ext>
            </a:extLst>
          </p:cNvPr>
          <p:cNvSpPr>
            <a:spLocks noGrp="1"/>
          </p:cNvSpPr>
          <p:nvPr/>
        </p:nvSpPr>
        <p:spPr>
          <a:xfrm>
            <a:off x="1066800" y="1552575"/>
            <a:ext cx="95250" cy="95250"/>
          </a:xfrm>
          <a:prstGeom prst="ellipse">
            <a:avLst/>
          </a:prstGeom>
          <a:solidFill>
            <a:srgbClr val="FBBF24"/>
          </a:solidFill>
          <a:ln w="0">
            <a:noFill/>
            <a:prstDash val="solid"/>
          </a:ln>
        </p:spPr>
      </p:sp>
      <p:sp>
        <p:nvSpPr>
          <p:cNvPr id="6" name="橢圓 5">
            <a:extLst>
              <a:ext uri="{FF2B5EF4-FFF2-40B4-BE49-F238E27FC236}">
                <a16:creationId xmlns:a16="http://schemas.microsoft.com/office/drawing/2014/main" id="{E9E54312-9104-4A34-BB5A-7660CD4272AB}"/>
              </a:ext>
            </a:extLst>
          </p:cNvPr>
          <p:cNvSpPr>
            <a:spLocks noGrp="1"/>
          </p:cNvSpPr>
          <p:nvPr/>
        </p:nvSpPr>
        <p:spPr>
          <a:xfrm>
            <a:off x="1238250" y="1552575"/>
            <a:ext cx="95250" cy="95250"/>
          </a:xfrm>
          <a:prstGeom prst="ellipse">
            <a:avLst/>
          </a:prstGeom>
          <a:solidFill>
            <a:srgbClr val="34D399"/>
          </a:solidFill>
          <a:ln w="0">
            <a:noFill/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57A447A-8AC0-4C1F-80E7-9AE76AA1C732}"/>
              </a:ext>
            </a:extLst>
          </p:cNvPr>
          <p:cNvSpPr>
            <a:spLocks noGrp="1"/>
          </p:cNvSpPr>
          <p:nvPr/>
        </p:nvSpPr>
        <p:spPr>
          <a:xfrm>
            <a:off x="933450" y="1809750"/>
            <a:ext cx="10325100" cy="2000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4000"/>
              </a:lnSpc>
              <a:buNone/>
              <a:defRPr sz="135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docker run -d --name mysql8 -p 3306:3306 -e MYSQL_ROOT_PASSWORD=root123 mysql:8.0</a:t>
            </a:r>
          </a:p>
          <a:p>
            <a:endParaRPr sz="1350" b="0">
              <a:solidFill>
                <a:srgbClr val="E5E7EB"/>
              </a:solidFill>
              <a:latin typeface="Consolas"/>
              <a:ea typeface="Consolas"/>
              <a:cs typeface="Consolas"/>
            </a:endParaRPr>
          </a:p>
          <a:p>
            <a:pPr algn="l">
              <a:lnSpc>
                <a:spcPct val="104000"/>
              </a:lnSpc>
              <a:buNone/>
              <a:defRPr sz="135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docker run -d --name mysql9 -p 3307:3306 -e MYSQL_ROOT_PASSWORD=root123 mysql:9.0</a:t>
            </a:r>
          </a:p>
          <a:p>
            <a:endParaRPr sz="1350" b="0">
              <a:solidFill>
                <a:srgbClr val="E5E7EB"/>
              </a:solidFill>
              <a:latin typeface="Consolas"/>
              <a:ea typeface="Consolas"/>
              <a:cs typeface="Consolas"/>
            </a:endParaRPr>
          </a:p>
          <a:p>
            <a:pPr algn="l">
              <a:lnSpc>
                <a:spcPct val="104000"/>
              </a:lnSpc>
              <a:buNone/>
              <a:defRPr sz="135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docker exec -it mysql8 mysql -u root -p -e "SELECT VERSION();"</a:t>
            </a:r>
          </a:p>
          <a:p>
            <a:pPr algn="l">
              <a:lnSpc>
                <a:spcPct val="104000"/>
              </a:lnSpc>
              <a:buNone/>
              <a:defRPr sz="135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docker exec -it mysql9 mysql -u root -p -e "SELECT VERSION();"</a:t>
            </a:r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13880EE4-8A7B-48AC-9D9A-526321E48013}"/>
              </a:ext>
            </a:extLst>
          </p:cNvPr>
          <p:cNvSpPr>
            <a:spLocks noGrp="1"/>
          </p:cNvSpPr>
          <p:nvPr/>
        </p:nvSpPr>
        <p:spPr>
          <a:xfrm>
            <a:off x="952500" y="4552950"/>
            <a:ext cx="3048000" cy="1200150"/>
          </a:xfrm>
          <a:prstGeom prst="roundRect">
            <a:avLst>
              <a:gd name="adj" fmla="val 9524"/>
            </a:avLst>
          </a:prstGeom>
          <a:solidFill>
            <a:srgbClr val="111827"/>
          </a:solidFill>
          <a:ln w="9525">
            <a:solidFill>
              <a:srgbClr val="60A5F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8397DAC-F0A6-44BC-8E95-C2315E170EC8}"/>
              </a:ext>
            </a:extLst>
          </p:cNvPr>
          <p:cNvSpPr>
            <a:spLocks noGrp="1"/>
          </p:cNvSpPr>
          <p:nvPr/>
        </p:nvSpPr>
        <p:spPr>
          <a:xfrm>
            <a:off x="1181100" y="4743450"/>
            <a:ext cx="2590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6000"/>
              </a:lnSpc>
              <a:buNone/>
              <a:defRPr sz="1800" b="1">
                <a:solidFill>
                  <a:srgbClr val="93C5FD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93C5FD"/>
                </a:solidFill>
                <a:latin typeface="Aptos Display"/>
                <a:ea typeface="Aptos Display"/>
                <a:cs typeface="Aptos Display"/>
              </a:rPr>
              <a:t>port 檢查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EA09A93-E670-49BB-876E-91DC4D36636B}"/>
              </a:ext>
            </a:extLst>
          </p:cNvPr>
          <p:cNvSpPr>
            <a:spLocks noGrp="1"/>
          </p:cNvSpPr>
          <p:nvPr/>
        </p:nvSpPr>
        <p:spPr>
          <a:xfrm>
            <a:off x="1181100" y="5143500"/>
            <a:ext cx="25908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6087"/>
          </a:bodyPr>
          <a:lstStyle/>
          <a:p>
            <a:pPr algn="ctr">
              <a:lnSpc>
                <a:spcPct val="106000"/>
              </a:lnSpc>
              <a:buNone/>
              <a:defRPr sz="1350" b="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2E8F0"/>
                </a:solidFill>
                <a:latin typeface="Aptos"/>
                <a:ea typeface="Aptos"/>
                <a:cs typeface="Aptos"/>
              </a:rPr>
              <a:t>主機 3306 -&gt; mysql8</a:t>
            </a:r>
          </a:p>
          <a:p>
            <a:pPr algn="ctr">
              <a:lnSpc>
                <a:spcPct val="106000"/>
              </a:lnSpc>
              <a:buNone/>
              <a:defRPr sz="1350" b="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2E8F0"/>
                </a:solidFill>
                <a:latin typeface="Aptos"/>
                <a:ea typeface="Aptos"/>
                <a:cs typeface="Aptos"/>
              </a:rPr>
              <a:t>主機 3307 -&gt; mysql9</a:t>
            </a:r>
          </a:p>
        </p:txBody>
      </p: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5FD76C92-3228-4999-9DCA-7490B688006E}"/>
              </a:ext>
            </a:extLst>
          </p:cNvPr>
          <p:cNvSpPr>
            <a:spLocks noGrp="1"/>
          </p:cNvSpPr>
          <p:nvPr/>
        </p:nvSpPr>
        <p:spPr>
          <a:xfrm>
            <a:off x="4686300" y="4552950"/>
            <a:ext cx="3048000" cy="1200150"/>
          </a:xfrm>
          <a:prstGeom prst="roundRect">
            <a:avLst>
              <a:gd name="adj" fmla="val 9524"/>
            </a:avLst>
          </a:prstGeom>
          <a:solidFill>
            <a:srgbClr val="111827"/>
          </a:solidFill>
          <a:ln w="9525">
            <a:solidFill>
              <a:srgbClr val="34D39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9FC5DC5-54D9-4349-8BD0-B9F3A28813DB}"/>
              </a:ext>
            </a:extLst>
          </p:cNvPr>
          <p:cNvSpPr>
            <a:spLocks noGrp="1"/>
          </p:cNvSpPr>
          <p:nvPr/>
        </p:nvSpPr>
        <p:spPr>
          <a:xfrm>
            <a:off x="4914900" y="4743450"/>
            <a:ext cx="2590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6000"/>
              </a:lnSpc>
              <a:buNone/>
              <a:defRPr sz="1800" b="1">
                <a:solidFill>
                  <a:srgbClr val="86EFAC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86EFAC"/>
                </a:solidFill>
                <a:latin typeface="Aptos Display"/>
                <a:ea typeface="Aptos Display"/>
                <a:cs typeface="Aptos Display"/>
              </a:rPr>
              <a:t>版本檢查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C9EE890-5782-4D4A-AE77-FB9322861F36}"/>
              </a:ext>
            </a:extLst>
          </p:cNvPr>
          <p:cNvSpPr>
            <a:spLocks noGrp="1"/>
          </p:cNvSpPr>
          <p:nvPr/>
        </p:nvSpPr>
        <p:spPr>
          <a:xfrm>
            <a:off x="4914900" y="5143500"/>
            <a:ext cx="25908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6087"/>
          </a:bodyPr>
          <a:lstStyle/>
          <a:p>
            <a:pPr algn="ctr">
              <a:lnSpc>
                <a:spcPct val="106000"/>
              </a:lnSpc>
              <a:buNone/>
              <a:defRPr sz="1350" b="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2E8F0"/>
                </a:solidFill>
                <a:latin typeface="Aptos"/>
                <a:ea typeface="Aptos"/>
                <a:cs typeface="Aptos"/>
              </a:rPr>
              <a:t>兩次 SELECT VERSION()</a:t>
            </a:r>
          </a:p>
          <a:p>
            <a:pPr algn="ctr">
              <a:lnSpc>
                <a:spcPct val="106000"/>
              </a:lnSpc>
              <a:buNone/>
              <a:defRPr sz="1350" b="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2E8F0"/>
                </a:solidFill>
                <a:latin typeface="Aptos"/>
                <a:ea typeface="Aptos"/>
                <a:cs typeface="Aptos"/>
              </a:rPr>
              <a:t>應該看到不同版本</a:t>
            </a:r>
          </a:p>
        </p:txBody>
      </p:sp>
      <p:sp>
        <p:nvSpPr>
          <p:cNvPr id="14" name="矩形: 圓角 13">
            <a:extLst>
              <a:ext uri="{FF2B5EF4-FFF2-40B4-BE49-F238E27FC236}">
                <a16:creationId xmlns:a16="http://schemas.microsoft.com/office/drawing/2014/main" id="{0235AFB1-AB7E-47F7-AF35-0E7FA37FE0F4}"/>
              </a:ext>
            </a:extLst>
          </p:cNvPr>
          <p:cNvSpPr>
            <a:spLocks noGrp="1"/>
          </p:cNvSpPr>
          <p:nvPr/>
        </p:nvSpPr>
        <p:spPr>
          <a:xfrm>
            <a:off x="8420100" y="4552950"/>
            <a:ext cx="3048000" cy="1200150"/>
          </a:xfrm>
          <a:prstGeom prst="roundRect">
            <a:avLst>
              <a:gd name="adj" fmla="val 9524"/>
            </a:avLst>
          </a:prstGeom>
          <a:solidFill>
            <a:srgbClr val="111827"/>
          </a:solidFill>
          <a:ln w="9525">
            <a:solidFill>
              <a:srgbClr val="FBBF24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851AF5D1-4401-4928-9EC0-38F3503C59F9}"/>
              </a:ext>
            </a:extLst>
          </p:cNvPr>
          <p:cNvSpPr>
            <a:spLocks noGrp="1"/>
          </p:cNvSpPr>
          <p:nvPr/>
        </p:nvSpPr>
        <p:spPr>
          <a:xfrm>
            <a:off x="8648700" y="4743450"/>
            <a:ext cx="2590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lnSpc>
                <a:spcPct val="106000"/>
              </a:lnSpc>
              <a:buNone/>
              <a:defRPr sz="1800" b="1">
                <a:solidFill>
                  <a:srgbClr val="FBBF24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BBF24"/>
                </a:solidFill>
                <a:latin typeface="Aptos Display"/>
                <a:ea typeface="Aptos Display"/>
                <a:cs typeface="Aptos Display"/>
              </a:rPr>
              <a:t>清理檢查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9F2A973-7E6E-4406-B6AD-88D6F526BDBB}"/>
              </a:ext>
            </a:extLst>
          </p:cNvPr>
          <p:cNvSpPr>
            <a:spLocks noGrp="1"/>
          </p:cNvSpPr>
          <p:nvPr/>
        </p:nvSpPr>
        <p:spPr>
          <a:xfrm>
            <a:off x="8648700" y="5143500"/>
            <a:ext cx="25908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6087"/>
          </a:bodyPr>
          <a:lstStyle/>
          <a:p>
            <a:pPr algn="ctr">
              <a:lnSpc>
                <a:spcPct val="106000"/>
              </a:lnSpc>
              <a:buNone/>
              <a:defRPr sz="1350" b="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2E8F0"/>
                </a:solidFill>
                <a:latin typeface="Aptos"/>
                <a:ea typeface="Aptos"/>
                <a:cs typeface="Aptos"/>
              </a:rPr>
              <a:t>docker rm -f mysql8 mysql9</a:t>
            </a:r>
          </a:p>
          <a:p>
            <a:pPr algn="ctr">
              <a:lnSpc>
                <a:spcPct val="106000"/>
              </a:lnSpc>
              <a:buNone/>
              <a:defRPr sz="1350" b="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2E8F0"/>
                </a:solidFill>
                <a:latin typeface="Aptos"/>
                <a:ea typeface="Aptos"/>
                <a:cs typeface="Aptos"/>
              </a:rPr>
              <a:t>需要資料才加 volume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18857602-8D70-4295-84D5-9F44348CA250}"/>
              </a:ext>
            </a:extLst>
          </p:cNvPr>
          <p:cNvSpPr>
            <a:spLocks noGrp="1"/>
          </p:cNvSpPr>
          <p:nvPr/>
        </p:nvSpPr>
        <p:spPr>
          <a:xfrm>
            <a:off x="609600" y="6305550"/>
            <a:ext cx="9906000" cy="13335"/>
          </a:xfrm>
          <a:prstGeom prst="rect">
            <a:avLst/>
          </a:prstGeom>
          <a:solidFill>
            <a:srgbClr val="334155"/>
          </a:solidFill>
          <a:ln w="0">
            <a:noFill/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BE0D2EEC-3384-4D01-8D77-9819DEE2FDD0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2762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82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Docker 基礎教學 | 第 3 堂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F6BF70F4-A37F-4D29-8803-C3A623560897}"/>
              </a:ext>
            </a:extLst>
          </p:cNvPr>
          <p:cNvSpPr>
            <a:spLocks noGrp="1"/>
          </p:cNvSpPr>
          <p:nvPr/>
        </p:nvSpPr>
        <p:spPr>
          <a:xfrm>
            <a:off x="11010900" y="6381750"/>
            <a:ext cx="571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106000"/>
              </a:lnSpc>
              <a:buNone/>
              <a:defRPr sz="900" b="1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BD5E1"/>
                </a:solidFill>
                <a:latin typeface="Aptos"/>
                <a:ea typeface="Aptos"/>
                <a:cs typeface="Aptos"/>
              </a:rPr>
              <a:t>29</a:t>
            </a:r>
          </a:p>
        </p:txBody>
      </p:sp>
    </p:spTree>
    <p:extLst>
      <p:ext uri="{BB962C8B-B14F-4D97-AF65-F5344CB8AC3E}">
        <p14:creationId xmlns:p14="http://schemas.microsoft.com/office/powerpoint/2010/main" val="205816430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>
            <a:extLst>
              <a:ext uri="{FF2B5EF4-FFF2-40B4-BE49-F238E27FC236}">
                <a16:creationId xmlns:a16="http://schemas.microsoft.com/office/drawing/2014/main" id="{0711F0B6-62AA-43D4-B556-696DB35A5CA7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619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900" b="1">
                <a:solidFill>
                  <a:srgbClr val="A5B4F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5B4FC"/>
                </a:solidFill>
                <a:latin typeface="Aptos"/>
                <a:ea typeface="Aptos"/>
                <a:cs typeface="Aptos"/>
              </a:rPr>
              <a:t>CHALLENGE C1-C2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01BE7D2-8043-4DAC-A573-AEA1E6301AAA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10668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挑戰題：把多容器環境做完整</a:t>
            </a: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10B94D57-EB94-478C-BE50-387A3CF60771}"/>
              </a:ext>
            </a:extLst>
          </p:cNvPr>
          <p:cNvSpPr>
            <a:spLocks noGrp="1"/>
          </p:cNvSpPr>
          <p:nvPr/>
        </p:nvSpPr>
        <p:spPr>
          <a:xfrm>
            <a:off x="914400" y="1695450"/>
            <a:ext cx="4762500" cy="2381250"/>
          </a:xfrm>
          <a:prstGeom prst="roundRect">
            <a:avLst>
              <a:gd name="adj" fmla="val 4800"/>
            </a:avLst>
          </a:prstGeom>
          <a:solidFill>
            <a:srgbClr val="111827"/>
          </a:solidFill>
          <a:ln w="9525">
            <a:solidFill>
              <a:srgbClr val="60A5F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0D3D806-EAC1-4087-9ED8-25520A3BC727}"/>
              </a:ext>
            </a:extLst>
          </p:cNvPr>
          <p:cNvSpPr>
            <a:spLocks noGrp="1"/>
          </p:cNvSpPr>
          <p:nvPr/>
        </p:nvSpPr>
        <p:spPr>
          <a:xfrm>
            <a:off x="1143000" y="1885950"/>
            <a:ext cx="4305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6000"/>
              </a:lnSpc>
              <a:buNone/>
              <a:defRPr sz="2100" b="1">
                <a:solidFill>
                  <a:srgbClr val="93C5FD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93C5FD"/>
                </a:solidFill>
                <a:latin typeface="Aptos Display"/>
                <a:ea typeface="Aptos Display"/>
                <a:cs typeface="Aptos Display"/>
              </a:rPr>
              <a:t>C1：Nginx + Flask + MySQL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A401198-E200-44DE-8207-E6BAAED867B3}"/>
              </a:ext>
            </a:extLst>
          </p:cNvPr>
          <p:cNvSpPr>
            <a:spLocks noGrp="1"/>
          </p:cNvSpPr>
          <p:nvPr/>
        </p:nvSpPr>
        <p:spPr>
          <a:xfrm>
            <a:off x="1143000" y="2514600"/>
            <a:ext cx="4305300" cy="1371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6000"/>
              </a:lnSpc>
              <a:buNone/>
              <a:defRPr sz="1650" b="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E2E8F0"/>
                </a:solidFill>
                <a:latin typeface="Aptos"/>
                <a:ea typeface="Aptos"/>
                <a:cs typeface="Aptos"/>
              </a:rPr>
              <a:t>參考前面解答，改出 Browser -&gt; Nginx -&gt; Flask -&gt; MySQL 的三服務 Compose，並用 docker compose config、ps、wget 和 docker stats 觀察狀態與資源。</a:t>
            </a:r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33DD4825-0C2A-4AF8-8077-AC6D442009B3}"/>
              </a:ext>
            </a:extLst>
          </p:cNvPr>
          <p:cNvSpPr>
            <a:spLocks noGrp="1"/>
          </p:cNvSpPr>
          <p:nvPr/>
        </p:nvSpPr>
        <p:spPr>
          <a:xfrm>
            <a:off x="6515100" y="1695450"/>
            <a:ext cx="4762500" cy="2381250"/>
          </a:xfrm>
          <a:prstGeom prst="roundRect">
            <a:avLst>
              <a:gd name="adj" fmla="val 4800"/>
            </a:avLst>
          </a:prstGeom>
          <a:solidFill>
            <a:srgbClr val="111827"/>
          </a:solidFill>
          <a:ln w="9525">
            <a:solidFill>
              <a:srgbClr val="34D39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F87105D-AB09-46AD-A622-3F102B60F746}"/>
              </a:ext>
            </a:extLst>
          </p:cNvPr>
          <p:cNvSpPr>
            <a:spLocks noGrp="1"/>
          </p:cNvSpPr>
          <p:nvPr/>
        </p:nvSpPr>
        <p:spPr>
          <a:xfrm>
            <a:off x="6743700" y="1885950"/>
            <a:ext cx="4305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5463"/>
          </a:bodyPr>
          <a:lstStyle/>
          <a:p>
            <a:pPr algn="l">
              <a:lnSpc>
                <a:spcPct val="106000"/>
              </a:lnSpc>
              <a:buNone/>
              <a:defRPr sz="2100" b="1">
                <a:solidFill>
                  <a:srgbClr val="86EFAC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86EFAC"/>
                </a:solidFill>
                <a:latin typeface="Aptos Display"/>
                <a:ea typeface="Aptos Display"/>
                <a:cs typeface="Aptos Display"/>
              </a:rPr>
              <a:t>C2：自己查 Docker Hub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0D90466-E0E5-4B1D-8558-37B915E0D9CD}"/>
              </a:ext>
            </a:extLst>
          </p:cNvPr>
          <p:cNvSpPr>
            <a:spLocks noGrp="1"/>
          </p:cNvSpPr>
          <p:nvPr/>
        </p:nvSpPr>
        <p:spPr>
          <a:xfrm>
            <a:off x="6743700" y="2514600"/>
            <a:ext cx="4305300" cy="1371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1650" b="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E2E8F0"/>
                </a:solidFill>
                <a:latin typeface="Aptos"/>
                <a:ea typeface="Aptos"/>
                <a:cs typeface="Aptos"/>
              </a:rPr>
              <a:t>找一個課堂沒用過的 Image，讀官方文件，寫出 docker run 指令並把過程記錄下來。</a:t>
            </a:r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9374C755-3EA3-4D16-ABF8-B2086E0D3444}"/>
              </a:ext>
            </a:extLst>
          </p:cNvPr>
          <p:cNvSpPr>
            <a:spLocks noGrp="1"/>
          </p:cNvSpPr>
          <p:nvPr/>
        </p:nvSpPr>
        <p:spPr>
          <a:xfrm>
            <a:off x="2076450" y="4762500"/>
            <a:ext cx="8039100" cy="628650"/>
          </a:xfrm>
          <a:prstGeom prst="roundRect">
            <a:avLst>
              <a:gd name="adj" fmla="val 18182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D1EF222-50D8-41A6-893C-1BD1FE17A576}"/>
              </a:ext>
            </a:extLst>
          </p:cNvPr>
          <p:cNvSpPr>
            <a:spLocks noGrp="1"/>
          </p:cNvSpPr>
          <p:nvPr/>
        </p:nvSpPr>
        <p:spPr>
          <a:xfrm>
            <a:off x="2381250" y="4953000"/>
            <a:ext cx="7429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1719"/>
          </a:bodyPr>
          <a:lstStyle/>
          <a:p>
            <a:pPr algn="ctr">
              <a:lnSpc>
                <a:spcPct val="106000"/>
              </a:lnSpc>
              <a:buNone/>
              <a:defRPr sz="1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下一堂：Dockerfile、映像檔優化與資源配置。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ACF5D00-94EE-4B22-AADA-24028FAF78D4}"/>
              </a:ext>
            </a:extLst>
          </p:cNvPr>
          <p:cNvSpPr>
            <a:spLocks noGrp="1"/>
          </p:cNvSpPr>
          <p:nvPr/>
        </p:nvSpPr>
        <p:spPr>
          <a:xfrm>
            <a:off x="609600" y="6305550"/>
            <a:ext cx="9906000" cy="13335"/>
          </a:xfrm>
          <a:prstGeom prst="rect">
            <a:avLst/>
          </a:prstGeom>
          <a:solidFill>
            <a:srgbClr val="334155"/>
          </a:solidFill>
          <a:ln w="0">
            <a:noFill/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EF44DFF-C1C0-47E4-A541-993BD1006894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2762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06000"/>
              </a:lnSpc>
              <a:buNone/>
              <a:defRPr sz="82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Docker 基礎教學 | 第 3 堂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0C3ED2C-3B43-47D6-9CF0-CD0383C42BF2}"/>
              </a:ext>
            </a:extLst>
          </p:cNvPr>
          <p:cNvSpPr>
            <a:spLocks noGrp="1"/>
          </p:cNvSpPr>
          <p:nvPr/>
        </p:nvSpPr>
        <p:spPr>
          <a:xfrm>
            <a:off x="11010900" y="6381750"/>
            <a:ext cx="571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lnSpc>
                <a:spcPct val="106000"/>
              </a:lnSpc>
              <a:buNone/>
              <a:defRPr sz="900" b="1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BD5E1"/>
                </a:solidFill>
                <a:latin typeface="Aptos"/>
                <a:ea typeface="Aptos"/>
                <a:cs typeface="Aptos"/>
              </a:rPr>
              <a:t>30</a:t>
            </a:r>
          </a:p>
        </p:txBody>
      </p:sp>
    </p:spTree>
    <p:extLst>
      <p:ext uri="{BB962C8B-B14F-4D97-AF65-F5344CB8AC3E}">
        <p14:creationId xmlns:p14="http://schemas.microsoft.com/office/powerpoint/2010/main" val="64512132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ppendixLabel">
            <a:extLst>
              <a:ext uri="{FF2B5EF4-FFF2-40B4-BE49-F238E27FC236}">
                <a16:creationId xmlns:a16="http://schemas.microsoft.com/office/drawing/2014/main" id="{7FF337D1-1929-46D9-A0BA-63C322EB19EB}"/>
              </a:ext>
            </a:extLst>
          </p:cNvPr>
          <p:cNvSpPr>
            <a:spLocks noGrp="1"/>
          </p:cNvSpPr>
          <p:nvPr/>
        </p:nvSpPr>
        <p:spPr>
          <a:xfrm>
            <a:off x="609600" y="420000"/>
            <a:ext cx="2600000" cy="26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93C5FD"/>
                </a:solidFill>
                <a:latin typeface="Aptos"/>
                <a:ea typeface="Aptos"/>
                <a:cs typeface="Aptos"/>
              </a:rPr>
              <a:t>CODE EXAMPLE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38740228-2A7A-47BD-A2E7-66ED44087D85}"/>
              </a:ext>
            </a:extLst>
          </p:cNvPr>
          <p:cNvSpPr>
            <a:spLocks noGrp="1"/>
          </p:cNvSpPr>
          <p:nvPr/>
        </p:nvSpPr>
        <p:spPr>
          <a:xfrm>
            <a:off x="609600" y="710000"/>
            <a:ext cx="10600000" cy="56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完整程式碼：p2-nginx-flask-compose/solution/app/app.py</a:t>
            </a:r>
          </a:p>
        </p:txBody>
      </p:sp>
      <p:sp>
        <p:nvSpPr>
          <p:cNvPr id="4" name="Subtitle">
            <a:extLst>
              <a:ext uri="{FF2B5EF4-FFF2-40B4-BE49-F238E27FC236}">
                <a16:creationId xmlns:a16="http://schemas.microsoft.com/office/drawing/2014/main" id="{DBE7A05C-C1C0-4ACB-B795-D4256CD781A4}"/>
              </a:ext>
            </a:extLst>
          </p:cNvPr>
          <p:cNvSpPr>
            <a:spLocks noGrp="1"/>
          </p:cNvSpPr>
          <p:nvPr/>
        </p:nvSpPr>
        <p:spPr>
          <a:xfrm>
            <a:off x="609600" y="126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1250">
                <a:solidFill>
                  <a:srgbClr val="CBD5E1"/>
                </a:solidFill>
                <a:latin typeface="Aptos"/>
                <a:ea typeface="Aptos"/>
                <a:cs typeface="Aptos"/>
              </a:rPr>
              <a:t>第 3 堂 | 可直接照做的完整檔案</a:t>
            </a:r>
          </a:p>
        </p:txBody>
      </p:sp>
      <p:sp>
        <p:nvSpPr>
          <p:cNvPr id="5" name="CodeBackground">
            <a:extLst>
              <a:ext uri="{FF2B5EF4-FFF2-40B4-BE49-F238E27FC236}">
                <a16:creationId xmlns:a16="http://schemas.microsoft.com/office/drawing/2014/main" id="{789A40FD-C55E-4B9E-979B-2FFDF26E2C67}"/>
              </a:ext>
            </a:extLst>
          </p:cNvPr>
          <p:cNvSpPr>
            <a:spLocks noGrp="1"/>
          </p:cNvSpPr>
          <p:nvPr/>
        </p:nvSpPr>
        <p:spPr>
          <a:xfrm>
            <a:off x="609600" y="1680000"/>
            <a:ext cx="10972800" cy="4370000"/>
          </a:xfrm>
          <a:prstGeom prst="roundRect">
            <a:avLst/>
          </a:prstGeom>
          <a:solidFill>
            <a:srgbClr val="111827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6" name="Code">
            <a:extLst>
              <a:ext uri="{FF2B5EF4-FFF2-40B4-BE49-F238E27FC236}">
                <a16:creationId xmlns:a16="http://schemas.microsoft.com/office/drawing/2014/main" id="{FC205C34-406F-4FC9-BE4F-564D0F93ADFB}"/>
              </a:ext>
            </a:extLst>
          </p:cNvPr>
          <p:cNvSpPr>
            <a:spLocks noGrp="1"/>
          </p:cNvSpPr>
          <p:nvPr/>
        </p:nvSpPr>
        <p:spPr>
          <a:xfrm>
            <a:off x="810000" y="1870000"/>
            <a:ext cx="10550000" cy="398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from flask import Flask, jsonify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import socket</a:t>
            </a:r>
          </a:p>
          <a:p>
            <a:endParaRPr sz="1150">
              <a:solidFill>
                <a:srgbClr val="E5E7EB"/>
              </a:solidFill>
              <a:latin typeface="Consolas"/>
              <a:ea typeface="Consolas"/>
              <a:cs typeface="Consolas"/>
            </a:endParaRP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app = Flask(__name__)</a:t>
            </a:r>
          </a:p>
          <a:p>
            <a:endParaRPr sz="1150">
              <a:solidFill>
                <a:srgbClr val="E5E7EB"/>
              </a:solidFill>
              <a:latin typeface="Consolas"/>
              <a:ea typeface="Consolas"/>
              <a:cs typeface="Consolas"/>
            </a:endParaRPr>
          </a:p>
          <a:p>
            <a:endParaRPr sz="1150">
              <a:solidFill>
                <a:srgbClr val="E5E7EB"/>
              </a:solidFill>
              <a:latin typeface="Consolas"/>
              <a:ea typeface="Consolas"/>
              <a:cs typeface="Consolas"/>
            </a:endParaRP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@app.get("/")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def home():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return jsonify(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  message="Hello from Flask behind Nginx",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  hostname=socket.gethostname(),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)</a:t>
            </a:r>
          </a:p>
          <a:p>
            <a:endParaRPr sz="1150">
              <a:solidFill>
                <a:srgbClr val="E5E7EB"/>
              </a:solidFill>
              <a:latin typeface="Consolas"/>
              <a:ea typeface="Consolas"/>
              <a:cs typeface="Consolas"/>
            </a:endParaRPr>
          </a:p>
          <a:p>
            <a:endParaRPr sz="1150">
              <a:solidFill>
                <a:srgbClr val="E5E7EB"/>
              </a:solidFill>
              <a:latin typeface="Consolas"/>
              <a:ea typeface="Consolas"/>
              <a:cs typeface="Consolas"/>
            </a:endParaRP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if __name__ == "__main__":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app.run(host="0.0.0.0", port=5000)</a:t>
            </a:r>
          </a:p>
        </p:txBody>
      </p:sp>
      <p:sp>
        <p:nvSpPr>
          <p:cNvPr id="7" name="Footer">
            <a:extLst>
              <a:ext uri="{FF2B5EF4-FFF2-40B4-BE49-F238E27FC236}">
                <a16:creationId xmlns:a16="http://schemas.microsoft.com/office/drawing/2014/main" id="{2DA6DFBA-7EC5-4BC2-9EFA-65366EB64D16}"/>
              </a:ext>
            </a:extLst>
          </p:cNvPr>
          <p:cNvSpPr>
            <a:spLocks noGrp="1"/>
          </p:cNvSpPr>
          <p:nvPr/>
        </p:nvSpPr>
        <p:spPr>
          <a:xfrm>
            <a:off x="609600" y="6330000"/>
            <a:ext cx="7800000" cy="24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Aptos"/>
                <a:ea typeface="Aptos"/>
                <a:cs typeface="Aptos"/>
              </a:rPr>
              <a:t>Docker 基礎教學 | 第 3 堂 | 範例程式碼</a:t>
            </a:r>
          </a:p>
        </p:txBody>
      </p:sp>
      <p:sp>
        <p:nvSpPr>
          <p:cNvPr id="8" name="Page">
            <a:extLst>
              <a:ext uri="{FF2B5EF4-FFF2-40B4-BE49-F238E27FC236}">
                <a16:creationId xmlns:a16="http://schemas.microsoft.com/office/drawing/2014/main" id="{27E90BBC-66B7-4325-9A06-07068649EB01}"/>
              </a:ext>
            </a:extLst>
          </p:cNvPr>
          <p:cNvSpPr>
            <a:spLocks noGrp="1"/>
          </p:cNvSpPr>
          <p:nvPr/>
        </p:nvSpPr>
        <p:spPr>
          <a:xfrm>
            <a:off x="10850000" y="6330000"/>
            <a:ext cx="650000" cy="24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Aptos"/>
                <a:ea typeface="Aptos"/>
                <a:cs typeface="Aptos"/>
              </a:rPr>
              <a:t>CODE</a:t>
            </a:r>
          </a:p>
        </p:txBody>
      </p:sp>
    </p:spTree>
    <p:extLst>
      <p:ext uri="{BB962C8B-B14F-4D97-AF65-F5344CB8AC3E}">
        <p14:creationId xmlns:p14="http://schemas.microsoft.com/office/powerpoint/2010/main" val="3548490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ppendixLabel">
            <a:extLst>
              <a:ext uri="{FF2B5EF4-FFF2-40B4-BE49-F238E27FC236}">
                <a16:creationId xmlns:a16="http://schemas.microsoft.com/office/drawing/2014/main" id="{7FF337D1-1929-46D9-A0BA-63C322EB19EB}"/>
              </a:ext>
            </a:extLst>
          </p:cNvPr>
          <p:cNvSpPr>
            <a:spLocks noGrp="1"/>
          </p:cNvSpPr>
          <p:nvPr/>
        </p:nvSpPr>
        <p:spPr>
          <a:xfrm>
            <a:off x="609600" y="420000"/>
            <a:ext cx="2600000" cy="26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93C5FD"/>
                </a:solidFill>
                <a:latin typeface="Aptos"/>
                <a:ea typeface="Aptos"/>
                <a:cs typeface="Aptos"/>
              </a:rPr>
              <a:t>CODE EXAMPLE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38740228-2A7A-47BD-A2E7-66ED44087D85}"/>
              </a:ext>
            </a:extLst>
          </p:cNvPr>
          <p:cNvSpPr>
            <a:spLocks noGrp="1"/>
          </p:cNvSpPr>
          <p:nvPr/>
        </p:nvSpPr>
        <p:spPr>
          <a:xfrm>
            <a:off x="609600" y="710000"/>
            <a:ext cx="10600000" cy="56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完整程式碼：p2-nginx-flask-compose/solution/app/requirements.txt</a:t>
            </a:r>
          </a:p>
        </p:txBody>
      </p:sp>
      <p:sp>
        <p:nvSpPr>
          <p:cNvPr id="4" name="Subtitle">
            <a:extLst>
              <a:ext uri="{FF2B5EF4-FFF2-40B4-BE49-F238E27FC236}">
                <a16:creationId xmlns:a16="http://schemas.microsoft.com/office/drawing/2014/main" id="{DBE7A05C-C1C0-4ACB-B795-D4256CD781A4}"/>
              </a:ext>
            </a:extLst>
          </p:cNvPr>
          <p:cNvSpPr>
            <a:spLocks noGrp="1"/>
          </p:cNvSpPr>
          <p:nvPr/>
        </p:nvSpPr>
        <p:spPr>
          <a:xfrm>
            <a:off x="609600" y="126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1250">
                <a:solidFill>
                  <a:srgbClr val="CBD5E1"/>
                </a:solidFill>
                <a:latin typeface="Aptos"/>
                <a:ea typeface="Aptos"/>
                <a:cs typeface="Aptos"/>
              </a:rPr>
              <a:t>第 3 堂 | 可直接照做的完整檔案</a:t>
            </a:r>
          </a:p>
        </p:txBody>
      </p:sp>
      <p:sp>
        <p:nvSpPr>
          <p:cNvPr id="5" name="CodeBackground">
            <a:extLst>
              <a:ext uri="{FF2B5EF4-FFF2-40B4-BE49-F238E27FC236}">
                <a16:creationId xmlns:a16="http://schemas.microsoft.com/office/drawing/2014/main" id="{789A40FD-C55E-4B9E-979B-2FFDF26E2C67}"/>
              </a:ext>
            </a:extLst>
          </p:cNvPr>
          <p:cNvSpPr>
            <a:spLocks noGrp="1"/>
          </p:cNvSpPr>
          <p:nvPr/>
        </p:nvSpPr>
        <p:spPr>
          <a:xfrm>
            <a:off x="609600" y="1680000"/>
            <a:ext cx="10972800" cy="4370000"/>
          </a:xfrm>
          <a:prstGeom prst="roundRect">
            <a:avLst/>
          </a:prstGeom>
          <a:solidFill>
            <a:srgbClr val="111827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6" name="Code">
            <a:extLst>
              <a:ext uri="{FF2B5EF4-FFF2-40B4-BE49-F238E27FC236}">
                <a16:creationId xmlns:a16="http://schemas.microsoft.com/office/drawing/2014/main" id="{FC205C34-406F-4FC9-BE4F-564D0F93ADFB}"/>
              </a:ext>
            </a:extLst>
          </p:cNvPr>
          <p:cNvSpPr>
            <a:spLocks noGrp="1"/>
          </p:cNvSpPr>
          <p:nvPr/>
        </p:nvSpPr>
        <p:spPr>
          <a:xfrm>
            <a:off x="810000" y="1870000"/>
            <a:ext cx="10550000" cy="398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flask==3.0.3</a:t>
            </a:r>
          </a:p>
        </p:txBody>
      </p:sp>
      <p:sp>
        <p:nvSpPr>
          <p:cNvPr id="7" name="Footer">
            <a:extLst>
              <a:ext uri="{FF2B5EF4-FFF2-40B4-BE49-F238E27FC236}">
                <a16:creationId xmlns:a16="http://schemas.microsoft.com/office/drawing/2014/main" id="{2DA6DFBA-7EC5-4BC2-9EFA-65366EB64D16}"/>
              </a:ext>
            </a:extLst>
          </p:cNvPr>
          <p:cNvSpPr>
            <a:spLocks noGrp="1"/>
          </p:cNvSpPr>
          <p:nvPr/>
        </p:nvSpPr>
        <p:spPr>
          <a:xfrm>
            <a:off x="609600" y="6330000"/>
            <a:ext cx="7800000" cy="24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Aptos"/>
                <a:ea typeface="Aptos"/>
                <a:cs typeface="Aptos"/>
              </a:rPr>
              <a:t>Docker 基礎教學 | 第 3 堂 | 範例程式碼</a:t>
            </a:r>
          </a:p>
        </p:txBody>
      </p:sp>
      <p:sp>
        <p:nvSpPr>
          <p:cNvPr id="8" name="Page">
            <a:extLst>
              <a:ext uri="{FF2B5EF4-FFF2-40B4-BE49-F238E27FC236}">
                <a16:creationId xmlns:a16="http://schemas.microsoft.com/office/drawing/2014/main" id="{27E90BBC-66B7-4325-9A06-07068649EB01}"/>
              </a:ext>
            </a:extLst>
          </p:cNvPr>
          <p:cNvSpPr>
            <a:spLocks noGrp="1"/>
          </p:cNvSpPr>
          <p:nvPr/>
        </p:nvSpPr>
        <p:spPr>
          <a:xfrm>
            <a:off x="10850000" y="6330000"/>
            <a:ext cx="650000" cy="24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Aptos"/>
                <a:ea typeface="Aptos"/>
                <a:cs typeface="Aptos"/>
              </a:rPr>
              <a:t>CODE</a:t>
            </a:r>
          </a:p>
        </p:txBody>
      </p:sp>
    </p:spTree>
    <p:extLst>
      <p:ext uri="{BB962C8B-B14F-4D97-AF65-F5344CB8AC3E}">
        <p14:creationId xmlns:p14="http://schemas.microsoft.com/office/powerpoint/2010/main" val="3548490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ppendixLabel">
            <a:extLst>
              <a:ext uri="{FF2B5EF4-FFF2-40B4-BE49-F238E27FC236}">
                <a16:creationId xmlns:a16="http://schemas.microsoft.com/office/drawing/2014/main" id="{7FF337D1-1929-46D9-A0BA-63C322EB19EB}"/>
              </a:ext>
            </a:extLst>
          </p:cNvPr>
          <p:cNvSpPr>
            <a:spLocks noGrp="1"/>
          </p:cNvSpPr>
          <p:nvPr/>
        </p:nvSpPr>
        <p:spPr>
          <a:xfrm>
            <a:off x="609600" y="420000"/>
            <a:ext cx="2600000" cy="26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93C5FD"/>
                </a:solidFill>
                <a:latin typeface="Aptos"/>
                <a:ea typeface="Aptos"/>
                <a:cs typeface="Aptos"/>
              </a:rPr>
              <a:t>CODE EXAMPLE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38740228-2A7A-47BD-A2E7-66ED44087D85}"/>
              </a:ext>
            </a:extLst>
          </p:cNvPr>
          <p:cNvSpPr>
            <a:spLocks noGrp="1"/>
          </p:cNvSpPr>
          <p:nvPr/>
        </p:nvSpPr>
        <p:spPr>
          <a:xfrm>
            <a:off x="609600" y="710000"/>
            <a:ext cx="10600000" cy="56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完整程式碼：p2-nginx-flask-compose/solution/nginx/default.conf</a:t>
            </a:r>
          </a:p>
        </p:txBody>
      </p:sp>
      <p:sp>
        <p:nvSpPr>
          <p:cNvPr id="4" name="Subtitle">
            <a:extLst>
              <a:ext uri="{FF2B5EF4-FFF2-40B4-BE49-F238E27FC236}">
                <a16:creationId xmlns:a16="http://schemas.microsoft.com/office/drawing/2014/main" id="{DBE7A05C-C1C0-4ACB-B795-D4256CD781A4}"/>
              </a:ext>
            </a:extLst>
          </p:cNvPr>
          <p:cNvSpPr>
            <a:spLocks noGrp="1"/>
          </p:cNvSpPr>
          <p:nvPr/>
        </p:nvSpPr>
        <p:spPr>
          <a:xfrm>
            <a:off x="609600" y="126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1250">
                <a:solidFill>
                  <a:srgbClr val="CBD5E1"/>
                </a:solidFill>
                <a:latin typeface="Aptos"/>
                <a:ea typeface="Aptos"/>
                <a:cs typeface="Aptos"/>
              </a:rPr>
              <a:t>第 3 堂 | 可直接照做的完整檔案</a:t>
            </a:r>
          </a:p>
        </p:txBody>
      </p:sp>
      <p:sp>
        <p:nvSpPr>
          <p:cNvPr id="5" name="CodeBackground">
            <a:extLst>
              <a:ext uri="{FF2B5EF4-FFF2-40B4-BE49-F238E27FC236}">
                <a16:creationId xmlns:a16="http://schemas.microsoft.com/office/drawing/2014/main" id="{789A40FD-C55E-4B9E-979B-2FFDF26E2C67}"/>
              </a:ext>
            </a:extLst>
          </p:cNvPr>
          <p:cNvSpPr>
            <a:spLocks noGrp="1"/>
          </p:cNvSpPr>
          <p:nvPr/>
        </p:nvSpPr>
        <p:spPr>
          <a:xfrm>
            <a:off x="609600" y="1680000"/>
            <a:ext cx="10972800" cy="4370000"/>
          </a:xfrm>
          <a:prstGeom prst="roundRect">
            <a:avLst/>
          </a:prstGeom>
          <a:solidFill>
            <a:srgbClr val="111827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6" name="Code">
            <a:extLst>
              <a:ext uri="{FF2B5EF4-FFF2-40B4-BE49-F238E27FC236}">
                <a16:creationId xmlns:a16="http://schemas.microsoft.com/office/drawing/2014/main" id="{FC205C34-406F-4FC9-BE4F-564D0F93ADFB}"/>
              </a:ext>
            </a:extLst>
          </p:cNvPr>
          <p:cNvSpPr>
            <a:spLocks noGrp="1"/>
          </p:cNvSpPr>
          <p:nvPr/>
        </p:nvSpPr>
        <p:spPr>
          <a:xfrm>
            <a:off x="810000" y="1870000"/>
            <a:ext cx="10550000" cy="398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server {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listen 80;</a:t>
            </a:r>
          </a:p>
          <a:p>
            <a:endParaRPr sz="1150">
              <a:solidFill>
                <a:srgbClr val="E5E7EB"/>
              </a:solidFill>
              <a:latin typeface="Consolas"/>
              <a:ea typeface="Consolas"/>
              <a:cs typeface="Consolas"/>
            </a:endParaRP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location / {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  proxy_pass http://app:5000;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  proxy_set_header Host $host;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  proxy_set_header X-Real-IP $remote_addr;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}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7" name="Footer">
            <a:extLst>
              <a:ext uri="{FF2B5EF4-FFF2-40B4-BE49-F238E27FC236}">
                <a16:creationId xmlns:a16="http://schemas.microsoft.com/office/drawing/2014/main" id="{2DA6DFBA-7EC5-4BC2-9EFA-65366EB64D16}"/>
              </a:ext>
            </a:extLst>
          </p:cNvPr>
          <p:cNvSpPr>
            <a:spLocks noGrp="1"/>
          </p:cNvSpPr>
          <p:nvPr/>
        </p:nvSpPr>
        <p:spPr>
          <a:xfrm>
            <a:off x="609600" y="6330000"/>
            <a:ext cx="7800000" cy="24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Aptos"/>
                <a:ea typeface="Aptos"/>
                <a:cs typeface="Aptos"/>
              </a:rPr>
              <a:t>Docker 基礎教學 | 第 3 堂 | 範例程式碼</a:t>
            </a:r>
          </a:p>
        </p:txBody>
      </p:sp>
      <p:sp>
        <p:nvSpPr>
          <p:cNvPr id="8" name="Page">
            <a:extLst>
              <a:ext uri="{FF2B5EF4-FFF2-40B4-BE49-F238E27FC236}">
                <a16:creationId xmlns:a16="http://schemas.microsoft.com/office/drawing/2014/main" id="{27E90BBC-66B7-4325-9A06-07068649EB01}"/>
              </a:ext>
            </a:extLst>
          </p:cNvPr>
          <p:cNvSpPr>
            <a:spLocks noGrp="1"/>
          </p:cNvSpPr>
          <p:nvPr/>
        </p:nvSpPr>
        <p:spPr>
          <a:xfrm>
            <a:off x="10850000" y="6330000"/>
            <a:ext cx="650000" cy="24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Aptos"/>
                <a:ea typeface="Aptos"/>
                <a:cs typeface="Aptos"/>
              </a:rPr>
              <a:t>CODE</a:t>
            </a:r>
          </a:p>
        </p:txBody>
      </p:sp>
    </p:spTree>
    <p:extLst>
      <p:ext uri="{BB962C8B-B14F-4D97-AF65-F5344CB8AC3E}">
        <p14:creationId xmlns:p14="http://schemas.microsoft.com/office/powerpoint/2010/main" val="3548490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ppendixLabel">
            <a:extLst>
              <a:ext uri="{FF2B5EF4-FFF2-40B4-BE49-F238E27FC236}">
                <a16:creationId xmlns:a16="http://schemas.microsoft.com/office/drawing/2014/main" id="{7FF337D1-1929-46D9-A0BA-63C322EB19EB}"/>
              </a:ext>
            </a:extLst>
          </p:cNvPr>
          <p:cNvSpPr>
            <a:spLocks noGrp="1"/>
          </p:cNvSpPr>
          <p:nvPr/>
        </p:nvSpPr>
        <p:spPr>
          <a:xfrm>
            <a:off x="609600" y="420000"/>
            <a:ext cx="2600000" cy="26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93C5FD"/>
                </a:solidFill>
                <a:latin typeface="Aptos"/>
                <a:ea typeface="Aptos"/>
                <a:cs typeface="Aptos"/>
              </a:rPr>
              <a:t>CODE EXAMPLE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38740228-2A7A-47BD-A2E7-66ED44087D85}"/>
              </a:ext>
            </a:extLst>
          </p:cNvPr>
          <p:cNvSpPr>
            <a:spLocks noGrp="1"/>
          </p:cNvSpPr>
          <p:nvPr/>
        </p:nvSpPr>
        <p:spPr>
          <a:xfrm>
            <a:off x="609600" y="710000"/>
            <a:ext cx="10600000" cy="8839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完整程式碼：p2-nginx-flask-compose/solution/compose.yaml (1/2)</a:t>
            </a:r>
          </a:p>
        </p:txBody>
      </p:sp>
      <p:sp>
        <p:nvSpPr>
          <p:cNvPr id="4" name="Subtitle">
            <a:extLst>
              <a:ext uri="{FF2B5EF4-FFF2-40B4-BE49-F238E27FC236}">
                <a16:creationId xmlns:a16="http://schemas.microsoft.com/office/drawing/2014/main" id="{DBE7A05C-C1C0-4ACB-B795-D4256CD781A4}"/>
              </a:ext>
            </a:extLst>
          </p:cNvPr>
          <p:cNvSpPr>
            <a:spLocks noGrp="1"/>
          </p:cNvSpPr>
          <p:nvPr/>
        </p:nvSpPr>
        <p:spPr>
          <a:xfrm>
            <a:off x="609600" y="126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1250">
                <a:solidFill>
                  <a:srgbClr val="CBD5E1"/>
                </a:solidFill>
                <a:latin typeface="Aptos"/>
                <a:ea typeface="Aptos"/>
                <a:cs typeface="Aptos"/>
              </a:rPr>
              <a:t>第 3 堂 | 可直接照做的完整檔案</a:t>
            </a:r>
          </a:p>
        </p:txBody>
      </p:sp>
      <p:sp>
        <p:nvSpPr>
          <p:cNvPr id="5" name="CodeBackground">
            <a:extLst>
              <a:ext uri="{FF2B5EF4-FFF2-40B4-BE49-F238E27FC236}">
                <a16:creationId xmlns:a16="http://schemas.microsoft.com/office/drawing/2014/main" id="{789A40FD-C55E-4B9E-979B-2FFDF26E2C67}"/>
              </a:ext>
            </a:extLst>
          </p:cNvPr>
          <p:cNvSpPr>
            <a:spLocks noGrp="1"/>
          </p:cNvSpPr>
          <p:nvPr/>
        </p:nvSpPr>
        <p:spPr>
          <a:xfrm>
            <a:off x="609600" y="1680000"/>
            <a:ext cx="10972800" cy="4370000"/>
          </a:xfrm>
          <a:prstGeom prst="roundRect">
            <a:avLst/>
          </a:prstGeom>
          <a:solidFill>
            <a:srgbClr val="111827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6" name="Code">
            <a:extLst>
              <a:ext uri="{FF2B5EF4-FFF2-40B4-BE49-F238E27FC236}">
                <a16:creationId xmlns:a16="http://schemas.microsoft.com/office/drawing/2014/main" id="{FC205C34-406F-4FC9-BE4F-564D0F93ADFB}"/>
              </a:ext>
            </a:extLst>
          </p:cNvPr>
          <p:cNvSpPr>
            <a:spLocks noGrp="1"/>
          </p:cNvSpPr>
          <p:nvPr/>
        </p:nvSpPr>
        <p:spPr>
          <a:xfrm>
            <a:off x="810000" y="1870000"/>
            <a:ext cx="10550000" cy="398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services: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web: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image: nginx:alpine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container_name: practice-nginx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restart: unless-stopped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ports: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- "8080:80"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volumes: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- ./nginx/default.conf:/etc/nginx/conf.d/default.conf:ro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depends_on: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- app</a:t>
            </a:r>
          </a:p>
          <a:p>
            <a:endParaRPr sz="1150">
              <a:solidFill>
                <a:srgbClr val="E5E7EB"/>
              </a:solidFill>
              <a:latin typeface="Consolas"/>
              <a:ea typeface="Consolas"/>
              <a:cs typeface="Consolas"/>
            </a:endParaRP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app: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image: python:3.11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container_name: practice-flask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working_dir: /app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restart: unless-stopped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volumes: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- ./app:/app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expose: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- "5000"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command: bash -c "pip install -r requirements.txt &amp;&amp; python app.py"</a:t>
            </a:r>
          </a:p>
        </p:txBody>
      </p:sp>
      <p:sp>
        <p:nvSpPr>
          <p:cNvPr id="7" name="Footer">
            <a:extLst>
              <a:ext uri="{FF2B5EF4-FFF2-40B4-BE49-F238E27FC236}">
                <a16:creationId xmlns:a16="http://schemas.microsoft.com/office/drawing/2014/main" id="{2DA6DFBA-7EC5-4BC2-9EFA-65366EB64D16}"/>
              </a:ext>
            </a:extLst>
          </p:cNvPr>
          <p:cNvSpPr>
            <a:spLocks noGrp="1"/>
          </p:cNvSpPr>
          <p:nvPr/>
        </p:nvSpPr>
        <p:spPr>
          <a:xfrm>
            <a:off x="609600" y="6330000"/>
            <a:ext cx="7800000" cy="24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Aptos"/>
                <a:ea typeface="Aptos"/>
                <a:cs typeface="Aptos"/>
              </a:rPr>
              <a:t>Docker 基礎教學 | 第 3 堂 | 範例程式碼</a:t>
            </a:r>
          </a:p>
        </p:txBody>
      </p:sp>
      <p:sp>
        <p:nvSpPr>
          <p:cNvPr id="8" name="Page">
            <a:extLst>
              <a:ext uri="{FF2B5EF4-FFF2-40B4-BE49-F238E27FC236}">
                <a16:creationId xmlns:a16="http://schemas.microsoft.com/office/drawing/2014/main" id="{27E90BBC-66B7-4325-9A06-07068649EB01}"/>
              </a:ext>
            </a:extLst>
          </p:cNvPr>
          <p:cNvSpPr>
            <a:spLocks noGrp="1"/>
          </p:cNvSpPr>
          <p:nvPr/>
        </p:nvSpPr>
        <p:spPr>
          <a:xfrm>
            <a:off x="10850000" y="6330000"/>
            <a:ext cx="650000" cy="24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Aptos"/>
                <a:ea typeface="Aptos"/>
                <a:cs typeface="Aptos"/>
              </a:rPr>
              <a:t>CODE</a:t>
            </a:r>
          </a:p>
        </p:txBody>
      </p:sp>
    </p:spTree>
    <p:extLst>
      <p:ext uri="{BB962C8B-B14F-4D97-AF65-F5344CB8AC3E}">
        <p14:creationId xmlns:p14="http://schemas.microsoft.com/office/powerpoint/2010/main" val="3548490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ppendixLabel">
            <a:extLst>
              <a:ext uri="{FF2B5EF4-FFF2-40B4-BE49-F238E27FC236}">
                <a16:creationId xmlns:a16="http://schemas.microsoft.com/office/drawing/2014/main" id="{7FF337D1-1929-46D9-A0BA-63C322EB19EB}"/>
              </a:ext>
            </a:extLst>
          </p:cNvPr>
          <p:cNvSpPr>
            <a:spLocks noGrp="1"/>
          </p:cNvSpPr>
          <p:nvPr/>
        </p:nvSpPr>
        <p:spPr>
          <a:xfrm>
            <a:off x="609600" y="420000"/>
            <a:ext cx="2600000" cy="26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93C5FD"/>
                </a:solidFill>
                <a:latin typeface="Aptos"/>
                <a:ea typeface="Aptos"/>
                <a:cs typeface="Aptos"/>
              </a:rPr>
              <a:t>CODE EXAMPLE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38740228-2A7A-47BD-A2E7-66ED44087D85}"/>
              </a:ext>
            </a:extLst>
          </p:cNvPr>
          <p:cNvSpPr>
            <a:spLocks noGrp="1"/>
          </p:cNvSpPr>
          <p:nvPr/>
        </p:nvSpPr>
        <p:spPr>
          <a:xfrm>
            <a:off x="609600" y="710000"/>
            <a:ext cx="10600000" cy="8839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完整程式碼：p2-nginx-flask-compose/solution/compose.yaml (2/2)</a:t>
            </a:r>
          </a:p>
        </p:txBody>
      </p:sp>
      <p:sp>
        <p:nvSpPr>
          <p:cNvPr id="4" name="Subtitle">
            <a:extLst>
              <a:ext uri="{FF2B5EF4-FFF2-40B4-BE49-F238E27FC236}">
                <a16:creationId xmlns:a16="http://schemas.microsoft.com/office/drawing/2014/main" id="{DBE7A05C-C1C0-4ACB-B795-D4256CD781A4}"/>
              </a:ext>
            </a:extLst>
          </p:cNvPr>
          <p:cNvSpPr>
            <a:spLocks noGrp="1"/>
          </p:cNvSpPr>
          <p:nvPr/>
        </p:nvSpPr>
        <p:spPr>
          <a:xfrm>
            <a:off x="609600" y="126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1250">
                <a:solidFill>
                  <a:srgbClr val="CBD5E1"/>
                </a:solidFill>
                <a:latin typeface="Aptos"/>
                <a:ea typeface="Aptos"/>
                <a:cs typeface="Aptos"/>
              </a:rPr>
              <a:t>第 3 堂 | 可直接照做的完整檔案</a:t>
            </a:r>
          </a:p>
        </p:txBody>
      </p:sp>
      <p:sp>
        <p:nvSpPr>
          <p:cNvPr id="5" name="CodeBackground">
            <a:extLst>
              <a:ext uri="{FF2B5EF4-FFF2-40B4-BE49-F238E27FC236}">
                <a16:creationId xmlns:a16="http://schemas.microsoft.com/office/drawing/2014/main" id="{789A40FD-C55E-4B9E-979B-2FFDF26E2C67}"/>
              </a:ext>
            </a:extLst>
          </p:cNvPr>
          <p:cNvSpPr>
            <a:spLocks noGrp="1"/>
          </p:cNvSpPr>
          <p:nvPr/>
        </p:nvSpPr>
        <p:spPr>
          <a:xfrm>
            <a:off x="609600" y="1680000"/>
            <a:ext cx="10972800" cy="4370000"/>
          </a:xfrm>
          <a:prstGeom prst="roundRect">
            <a:avLst/>
          </a:prstGeom>
          <a:solidFill>
            <a:srgbClr val="111827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6" name="Code">
            <a:extLst>
              <a:ext uri="{FF2B5EF4-FFF2-40B4-BE49-F238E27FC236}">
                <a16:creationId xmlns:a16="http://schemas.microsoft.com/office/drawing/2014/main" id="{FC205C34-406F-4FC9-BE4F-564D0F93ADFB}"/>
              </a:ext>
            </a:extLst>
          </p:cNvPr>
          <p:cNvSpPr>
            <a:spLocks noGrp="1"/>
          </p:cNvSpPr>
          <p:nvPr/>
        </p:nvSpPr>
        <p:spPr>
          <a:xfrm>
            <a:off x="810000" y="1870000"/>
            <a:ext cx="10550000" cy="398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endParaRPr/>
          </a:p>
        </p:txBody>
      </p:sp>
      <p:sp>
        <p:nvSpPr>
          <p:cNvPr id="7" name="Footer">
            <a:extLst>
              <a:ext uri="{FF2B5EF4-FFF2-40B4-BE49-F238E27FC236}">
                <a16:creationId xmlns:a16="http://schemas.microsoft.com/office/drawing/2014/main" id="{2DA6DFBA-7EC5-4BC2-9EFA-65366EB64D16}"/>
              </a:ext>
            </a:extLst>
          </p:cNvPr>
          <p:cNvSpPr>
            <a:spLocks noGrp="1"/>
          </p:cNvSpPr>
          <p:nvPr/>
        </p:nvSpPr>
        <p:spPr>
          <a:xfrm>
            <a:off x="609600" y="6330000"/>
            <a:ext cx="7800000" cy="24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Aptos"/>
                <a:ea typeface="Aptos"/>
                <a:cs typeface="Aptos"/>
              </a:rPr>
              <a:t>Docker 基礎教學 | 第 3 堂 | 範例程式碼</a:t>
            </a:r>
          </a:p>
        </p:txBody>
      </p:sp>
      <p:sp>
        <p:nvSpPr>
          <p:cNvPr id="8" name="Page">
            <a:extLst>
              <a:ext uri="{FF2B5EF4-FFF2-40B4-BE49-F238E27FC236}">
                <a16:creationId xmlns:a16="http://schemas.microsoft.com/office/drawing/2014/main" id="{27E90BBC-66B7-4325-9A06-07068649EB01}"/>
              </a:ext>
            </a:extLst>
          </p:cNvPr>
          <p:cNvSpPr>
            <a:spLocks noGrp="1"/>
          </p:cNvSpPr>
          <p:nvPr/>
        </p:nvSpPr>
        <p:spPr>
          <a:xfrm>
            <a:off x="10850000" y="6330000"/>
            <a:ext cx="650000" cy="24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Aptos"/>
                <a:ea typeface="Aptos"/>
                <a:cs typeface="Aptos"/>
              </a:rPr>
              <a:t>CODE</a:t>
            </a:r>
          </a:p>
        </p:txBody>
      </p:sp>
    </p:spTree>
    <p:extLst>
      <p:ext uri="{BB962C8B-B14F-4D97-AF65-F5344CB8AC3E}">
        <p14:creationId xmlns:p14="http://schemas.microsoft.com/office/powerpoint/2010/main" val="3548490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ppendixLabel">
            <a:extLst>
              <a:ext uri="{FF2B5EF4-FFF2-40B4-BE49-F238E27FC236}">
                <a16:creationId xmlns:a16="http://schemas.microsoft.com/office/drawing/2014/main" id="{7FF337D1-1929-46D9-A0BA-63C322EB19EB}"/>
              </a:ext>
            </a:extLst>
          </p:cNvPr>
          <p:cNvSpPr>
            <a:spLocks noGrp="1"/>
          </p:cNvSpPr>
          <p:nvPr/>
        </p:nvSpPr>
        <p:spPr>
          <a:xfrm>
            <a:off x="609600" y="420000"/>
            <a:ext cx="2600000" cy="26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93C5FD"/>
                </a:solidFill>
                <a:latin typeface="Aptos"/>
                <a:ea typeface="Aptos"/>
                <a:cs typeface="Aptos"/>
              </a:rPr>
              <a:t>CODE EXAMPLE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38740228-2A7A-47BD-A2E7-66ED44087D85}"/>
              </a:ext>
            </a:extLst>
          </p:cNvPr>
          <p:cNvSpPr>
            <a:spLocks noGrp="1"/>
          </p:cNvSpPr>
          <p:nvPr/>
        </p:nvSpPr>
        <p:spPr>
          <a:xfrm>
            <a:off x="609600" y="710000"/>
            <a:ext cx="10600000" cy="56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完整程式碼：compose-nginx-flask-mysql/app/app.py (1/3)</a:t>
            </a:r>
          </a:p>
        </p:txBody>
      </p:sp>
      <p:sp>
        <p:nvSpPr>
          <p:cNvPr id="4" name="Subtitle">
            <a:extLst>
              <a:ext uri="{FF2B5EF4-FFF2-40B4-BE49-F238E27FC236}">
                <a16:creationId xmlns:a16="http://schemas.microsoft.com/office/drawing/2014/main" id="{DBE7A05C-C1C0-4ACB-B795-D4256CD781A4}"/>
              </a:ext>
            </a:extLst>
          </p:cNvPr>
          <p:cNvSpPr>
            <a:spLocks noGrp="1"/>
          </p:cNvSpPr>
          <p:nvPr/>
        </p:nvSpPr>
        <p:spPr>
          <a:xfrm>
            <a:off x="609600" y="126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1250">
                <a:solidFill>
                  <a:srgbClr val="CBD5E1"/>
                </a:solidFill>
                <a:latin typeface="Aptos"/>
                <a:ea typeface="Aptos"/>
                <a:cs typeface="Aptos"/>
              </a:rPr>
              <a:t>第 3 堂 | 可直接照做的完整檔案</a:t>
            </a:r>
          </a:p>
        </p:txBody>
      </p:sp>
      <p:sp>
        <p:nvSpPr>
          <p:cNvPr id="5" name="CodeBackground">
            <a:extLst>
              <a:ext uri="{FF2B5EF4-FFF2-40B4-BE49-F238E27FC236}">
                <a16:creationId xmlns:a16="http://schemas.microsoft.com/office/drawing/2014/main" id="{789A40FD-C55E-4B9E-979B-2FFDF26E2C67}"/>
              </a:ext>
            </a:extLst>
          </p:cNvPr>
          <p:cNvSpPr>
            <a:spLocks noGrp="1"/>
          </p:cNvSpPr>
          <p:nvPr/>
        </p:nvSpPr>
        <p:spPr>
          <a:xfrm>
            <a:off x="609600" y="1680000"/>
            <a:ext cx="10972800" cy="4370000"/>
          </a:xfrm>
          <a:prstGeom prst="roundRect">
            <a:avLst/>
          </a:prstGeom>
          <a:solidFill>
            <a:srgbClr val="111827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6" name="Code">
            <a:extLst>
              <a:ext uri="{FF2B5EF4-FFF2-40B4-BE49-F238E27FC236}">
                <a16:creationId xmlns:a16="http://schemas.microsoft.com/office/drawing/2014/main" id="{FC205C34-406F-4FC9-BE4F-564D0F93ADFB}"/>
              </a:ext>
            </a:extLst>
          </p:cNvPr>
          <p:cNvSpPr>
            <a:spLocks noGrp="1"/>
          </p:cNvSpPr>
          <p:nvPr/>
        </p:nvSpPr>
        <p:spPr>
          <a:xfrm>
            <a:off x="810000" y="1870000"/>
            <a:ext cx="10550000" cy="398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import os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import time</a:t>
            </a:r>
          </a:p>
          <a:p>
            <a:endParaRPr sz="1150">
              <a:solidFill>
                <a:srgbClr val="E5E7EB"/>
              </a:solidFill>
              <a:latin typeface="Consolas"/>
              <a:ea typeface="Consolas"/>
              <a:cs typeface="Consolas"/>
            </a:endParaRP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import pymysql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from flask import Flask, jsonify</a:t>
            </a:r>
          </a:p>
          <a:p>
            <a:endParaRPr sz="1150">
              <a:solidFill>
                <a:srgbClr val="E5E7EB"/>
              </a:solidFill>
              <a:latin typeface="Consolas"/>
              <a:ea typeface="Consolas"/>
              <a:cs typeface="Consolas"/>
            </a:endParaRP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app = Flask(__name__)</a:t>
            </a:r>
          </a:p>
          <a:p>
            <a:endParaRPr sz="1150">
              <a:solidFill>
                <a:srgbClr val="E5E7EB"/>
              </a:solidFill>
              <a:latin typeface="Consolas"/>
              <a:ea typeface="Consolas"/>
              <a:cs typeface="Consolas"/>
            </a:endParaRPr>
          </a:p>
          <a:p>
            <a:endParaRPr sz="1150">
              <a:solidFill>
                <a:srgbClr val="E5E7EB"/>
              </a:solidFill>
              <a:latin typeface="Consolas"/>
              <a:ea typeface="Consolas"/>
              <a:cs typeface="Consolas"/>
            </a:endParaRP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def connect_db():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return pymysql.connect(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  host=os.environ["DB_HOST"],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  user=os.environ["DB_USER"],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  password=os.environ["DB_PASSWORD"],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  database=os.environ["DB_NAME"],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  charset="utf8mb4",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  cursorclass=pymysql.cursors.DictCursor,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)</a:t>
            </a:r>
          </a:p>
          <a:p>
            <a:endParaRPr sz="1150">
              <a:solidFill>
                <a:srgbClr val="E5E7EB"/>
              </a:solidFill>
              <a:latin typeface="Consolas"/>
              <a:ea typeface="Consolas"/>
              <a:cs typeface="Consolas"/>
            </a:endParaRPr>
          </a:p>
          <a:p>
            <a:endParaRPr sz="1150">
              <a:solidFill>
                <a:srgbClr val="E5E7EB"/>
              </a:solidFill>
              <a:latin typeface="Consolas"/>
              <a:ea typeface="Consolas"/>
              <a:cs typeface="Consolas"/>
            </a:endParaRP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@app.get("/")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def index():</a:t>
            </a:r>
          </a:p>
        </p:txBody>
      </p:sp>
      <p:sp>
        <p:nvSpPr>
          <p:cNvPr id="7" name="Footer">
            <a:extLst>
              <a:ext uri="{FF2B5EF4-FFF2-40B4-BE49-F238E27FC236}">
                <a16:creationId xmlns:a16="http://schemas.microsoft.com/office/drawing/2014/main" id="{2DA6DFBA-7EC5-4BC2-9EFA-65366EB64D16}"/>
              </a:ext>
            </a:extLst>
          </p:cNvPr>
          <p:cNvSpPr>
            <a:spLocks noGrp="1"/>
          </p:cNvSpPr>
          <p:nvPr/>
        </p:nvSpPr>
        <p:spPr>
          <a:xfrm>
            <a:off x="609600" y="6330000"/>
            <a:ext cx="7800000" cy="24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Aptos"/>
                <a:ea typeface="Aptos"/>
                <a:cs typeface="Aptos"/>
              </a:rPr>
              <a:t>Docker 基礎教學 | 第 3 堂 | 範例程式碼</a:t>
            </a:r>
          </a:p>
        </p:txBody>
      </p:sp>
      <p:sp>
        <p:nvSpPr>
          <p:cNvPr id="8" name="Page">
            <a:extLst>
              <a:ext uri="{FF2B5EF4-FFF2-40B4-BE49-F238E27FC236}">
                <a16:creationId xmlns:a16="http://schemas.microsoft.com/office/drawing/2014/main" id="{27E90BBC-66B7-4325-9A06-07068649EB01}"/>
              </a:ext>
            </a:extLst>
          </p:cNvPr>
          <p:cNvSpPr>
            <a:spLocks noGrp="1"/>
          </p:cNvSpPr>
          <p:nvPr/>
        </p:nvSpPr>
        <p:spPr>
          <a:xfrm>
            <a:off x="10850000" y="6330000"/>
            <a:ext cx="650000" cy="24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Aptos"/>
                <a:ea typeface="Aptos"/>
                <a:cs typeface="Aptos"/>
              </a:rPr>
              <a:t>CODE</a:t>
            </a:r>
          </a:p>
        </p:txBody>
      </p:sp>
    </p:spTree>
    <p:extLst>
      <p:ext uri="{BB962C8B-B14F-4D97-AF65-F5344CB8AC3E}">
        <p14:creationId xmlns:p14="http://schemas.microsoft.com/office/powerpoint/2010/main" val="3548490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ppendixLabel">
            <a:extLst>
              <a:ext uri="{FF2B5EF4-FFF2-40B4-BE49-F238E27FC236}">
                <a16:creationId xmlns:a16="http://schemas.microsoft.com/office/drawing/2014/main" id="{7FF337D1-1929-46D9-A0BA-63C322EB19EB}"/>
              </a:ext>
            </a:extLst>
          </p:cNvPr>
          <p:cNvSpPr>
            <a:spLocks noGrp="1"/>
          </p:cNvSpPr>
          <p:nvPr/>
        </p:nvSpPr>
        <p:spPr>
          <a:xfrm>
            <a:off x="609600" y="420000"/>
            <a:ext cx="2600000" cy="26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93C5FD"/>
                </a:solidFill>
                <a:latin typeface="Aptos"/>
                <a:ea typeface="Aptos"/>
                <a:cs typeface="Aptos"/>
              </a:rPr>
              <a:t>CODE EXAMPLE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38740228-2A7A-47BD-A2E7-66ED44087D85}"/>
              </a:ext>
            </a:extLst>
          </p:cNvPr>
          <p:cNvSpPr>
            <a:spLocks noGrp="1"/>
          </p:cNvSpPr>
          <p:nvPr/>
        </p:nvSpPr>
        <p:spPr>
          <a:xfrm>
            <a:off x="609600" y="710000"/>
            <a:ext cx="10600000" cy="56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完整程式碼：compose-nginx-flask-mysql/app/app.py (2/3)</a:t>
            </a:r>
          </a:p>
        </p:txBody>
      </p:sp>
      <p:sp>
        <p:nvSpPr>
          <p:cNvPr id="4" name="Subtitle">
            <a:extLst>
              <a:ext uri="{FF2B5EF4-FFF2-40B4-BE49-F238E27FC236}">
                <a16:creationId xmlns:a16="http://schemas.microsoft.com/office/drawing/2014/main" id="{DBE7A05C-C1C0-4ACB-B795-D4256CD781A4}"/>
              </a:ext>
            </a:extLst>
          </p:cNvPr>
          <p:cNvSpPr>
            <a:spLocks noGrp="1"/>
          </p:cNvSpPr>
          <p:nvPr/>
        </p:nvSpPr>
        <p:spPr>
          <a:xfrm>
            <a:off x="609600" y="126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1250">
                <a:solidFill>
                  <a:srgbClr val="CBD5E1"/>
                </a:solidFill>
                <a:latin typeface="Aptos"/>
                <a:ea typeface="Aptos"/>
                <a:cs typeface="Aptos"/>
              </a:rPr>
              <a:t>第 3 堂 | 可直接照做的完整檔案</a:t>
            </a:r>
          </a:p>
        </p:txBody>
      </p:sp>
      <p:sp>
        <p:nvSpPr>
          <p:cNvPr id="5" name="CodeBackground">
            <a:extLst>
              <a:ext uri="{FF2B5EF4-FFF2-40B4-BE49-F238E27FC236}">
                <a16:creationId xmlns:a16="http://schemas.microsoft.com/office/drawing/2014/main" id="{789A40FD-C55E-4B9E-979B-2FFDF26E2C67}"/>
              </a:ext>
            </a:extLst>
          </p:cNvPr>
          <p:cNvSpPr>
            <a:spLocks noGrp="1"/>
          </p:cNvSpPr>
          <p:nvPr/>
        </p:nvSpPr>
        <p:spPr>
          <a:xfrm>
            <a:off x="609600" y="1680000"/>
            <a:ext cx="10972800" cy="4370000"/>
          </a:xfrm>
          <a:prstGeom prst="roundRect">
            <a:avLst/>
          </a:prstGeom>
          <a:solidFill>
            <a:srgbClr val="111827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6" name="Code">
            <a:extLst>
              <a:ext uri="{FF2B5EF4-FFF2-40B4-BE49-F238E27FC236}">
                <a16:creationId xmlns:a16="http://schemas.microsoft.com/office/drawing/2014/main" id="{FC205C34-406F-4FC9-BE4F-564D0F93ADFB}"/>
              </a:ext>
            </a:extLst>
          </p:cNvPr>
          <p:cNvSpPr>
            <a:spLocks noGrp="1"/>
          </p:cNvSpPr>
          <p:nvPr/>
        </p:nvSpPr>
        <p:spPr>
          <a:xfrm>
            <a:off x="810000" y="1870000"/>
            <a:ext cx="10550000" cy="398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last_error = None</a:t>
            </a:r>
          </a:p>
          <a:p>
            <a:endParaRPr sz="1150">
              <a:solidFill>
                <a:srgbClr val="E5E7EB"/>
              </a:solidFill>
              <a:latin typeface="Consolas"/>
              <a:ea typeface="Consolas"/>
              <a:cs typeface="Consolas"/>
            </a:endParaRP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for _ in range(10):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  try: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      with connect_db() as conn: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          with conn.cursor() as cursor: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              cursor.execute(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                  """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                  CREATE TABLE IF NOT EXISTS visits (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                      id INT NOT NULL AUTO_INCREMENT PRIMARY KEY,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                      created_at TIMESTAMP NOT NULL DEFAULT CURRENT_TIMESTAMP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                  )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                  """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              )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              cursor.execute("INSERT INTO visits () VALUES ()")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              conn.commit()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              cursor.execute("SELECT COUNT(*) AS count FROM visits")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              row = cursor.fetchone()</a:t>
            </a:r>
          </a:p>
          <a:p>
            <a:endParaRPr sz="1150">
              <a:solidFill>
                <a:srgbClr val="E5E7EB"/>
              </a:solidFill>
              <a:latin typeface="Consolas"/>
              <a:ea typeface="Consolas"/>
              <a:cs typeface="Consolas"/>
            </a:endParaRP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      return jsonify(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          message="Flask connected to MySQL through the Compose network",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          db_host=os.environ["DB_HOST"],</a:t>
            </a:r>
          </a:p>
        </p:txBody>
      </p:sp>
      <p:sp>
        <p:nvSpPr>
          <p:cNvPr id="7" name="Footer">
            <a:extLst>
              <a:ext uri="{FF2B5EF4-FFF2-40B4-BE49-F238E27FC236}">
                <a16:creationId xmlns:a16="http://schemas.microsoft.com/office/drawing/2014/main" id="{2DA6DFBA-7EC5-4BC2-9EFA-65366EB64D16}"/>
              </a:ext>
            </a:extLst>
          </p:cNvPr>
          <p:cNvSpPr>
            <a:spLocks noGrp="1"/>
          </p:cNvSpPr>
          <p:nvPr/>
        </p:nvSpPr>
        <p:spPr>
          <a:xfrm>
            <a:off x="609600" y="6330000"/>
            <a:ext cx="7800000" cy="24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Aptos"/>
                <a:ea typeface="Aptos"/>
                <a:cs typeface="Aptos"/>
              </a:rPr>
              <a:t>Docker 基礎教學 | 第 3 堂 | 範例程式碼</a:t>
            </a:r>
          </a:p>
        </p:txBody>
      </p:sp>
      <p:sp>
        <p:nvSpPr>
          <p:cNvPr id="8" name="Page">
            <a:extLst>
              <a:ext uri="{FF2B5EF4-FFF2-40B4-BE49-F238E27FC236}">
                <a16:creationId xmlns:a16="http://schemas.microsoft.com/office/drawing/2014/main" id="{27E90BBC-66B7-4325-9A06-07068649EB01}"/>
              </a:ext>
            </a:extLst>
          </p:cNvPr>
          <p:cNvSpPr>
            <a:spLocks noGrp="1"/>
          </p:cNvSpPr>
          <p:nvPr/>
        </p:nvSpPr>
        <p:spPr>
          <a:xfrm>
            <a:off x="10850000" y="6330000"/>
            <a:ext cx="650000" cy="24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Aptos"/>
                <a:ea typeface="Aptos"/>
                <a:cs typeface="Aptos"/>
              </a:rPr>
              <a:t>CODE</a:t>
            </a:r>
          </a:p>
        </p:txBody>
      </p:sp>
    </p:spTree>
    <p:extLst>
      <p:ext uri="{BB962C8B-B14F-4D97-AF65-F5344CB8AC3E}">
        <p14:creationId xmlns:p14="http://schemas.microsoft.com/office/powerpoint/2010/main" val="3548490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ppendixLabel">
            <a:extLst>
              <a:ext uri="{FF2B5EF4-FFF2-40B4-BE49-F238E27FC236}">
                <a16:creationId xmlns:a16="http://schemas.microsoft.com/office/drawing/2014/main" id="{7FF337D1-1929-46D9-A0BA-63C322EB19EB}"/>
              </a:ext>
            </a:extLst>
          </p:cNvPr>
          <p:cNvSpPr>
            <a:spLocks noGrp="1"/>
          </p:cNvSpPr>
          <p:nvPr/>
        </p:nvSpPr>
        <p:spPr>
          <a:xfrm>
            <a:off x="609600" y="420000"/>
            <a:ext cx="2600000" cy="26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93C5FD"/>
                </a:solidFill>
                <a:latin typeface="Aptos"/>
                <a:ea typeface="Aptos"/>
                <a:cs typeface="Aptos"/>
              </a:rPr>
              <a:t>CODE EXAMPLE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38740228-2A7A-47BD-A2E7-66ED44087D85}"/>
              </a:ext>
            </a:extLst>
          </p:cNvPr>
          <p:cNvSpPr>
            <a:spLocks noGrp="1"/>
          </p:cNvSpPr>
          <p:nvPr/>
        </p:nvSpPr>
        <p:spPr>
          <a:xfrm>
            <a:off x="609600" y="710000"/>
            <a:ext cx="10600000" cy="56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完整程式碼：compose-nginx-flask-mysql/app/app.py (3/3)</a:t>
            </a:r>
          </a:p>
        </p:txBody>
      </p:sp>
      <p:sp>
        <p:nvSpPr>
          <p:cNvPr id="4" name="Subtitle">
            <a:extLst>
              <a:ext uri="{FF2B5EF4-FFF2-40B4-BE49-F238E27FC236}">
                <a16:creationId xmlns:a16="http://schemas.microsoft.com/office/drawing/2014/main" id="{DBE7A05C-C1C0-4ACB-B795-D4256CD781A4}"/>
              </a:ext>
            </a:extLst>
          </p:cNvPr>
          <p:cNvSpPr>
            <a:spLocks noGrp="1"/>
          </p:cNvSpPr>
          <p:nvPr/>
        </p:nvSpPr>
        <p:spPr>
          <a:xfrm>
            <a:off x="609600" y="126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1250">
                <a:solidFill>
                  <a:srgbClr val="CBD5E1"/>
                </a:solidFill>
                <a:latin typeface="Aptos"/>
                <a:ea typeface="Aptos"/>
                <a:cs typeface="Aptos"/>
              </a:rPr>
              <a:t>第 3 堂 | 可直接照做的完整檔案</a:t>
            </a:r>
          </a:p>
        </p:txBody>
      </p:sp>
      <p:sp>
        <p:nvSpPr>
          <p:cNvPr id="5" name="CodeBackground">
            <a:extLst>
              <a:ext uri="{FF2B5EF4-FFF2-40B4-BE49-F238E27FC236}">
                <a16:creationId xmlns:a16="http://schemas.microsoft.com/office/drawing/2014/main" id="{789A40FD-C55E-4B9E-979B-2FFDF26E2C67}"/>
              </a:ext>
            </a:extLst>
          </p:cNvPr>
          <p:cNvSpPr>
            <a:spLocks noGrp="1"/>
          </p:cNvSpPr>
          <p:nvPr/>
        </p:nvSpPr>
        <p:spPr>
          <a:xfrm>
            <a:off x="609600" y="1680000"/>
            <a:ext cx="10972800" cy="4370000"/>
          </a:xfrm>
          <a:prstGeom prst="roundRect">
            <a:avLst/>
          </a:prstGeom>
          <a:solidFill>
            <a:srgbClr val="111827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6" name="Code">
            <a:extLst>
              <a:ext uri="{FF2B5EF4-FFF2-40B4-BE49-F238E27FC236}">
                <a16:creationId xmlns:a16="http://schemas.microsoft.com/office/drawing/2014/main" id="{FC205C34-406F-4FC9-BE4F-564D0F93ADFB}"/>
              </a:ext>
            </a:extLst>
          </p:cNvPr>
          <p:cNvSpPr>
            <a:spLocks noGrp="1"/>
          </p:cNvSpPr>
          <p:nvPr/>
        </p:nvSpPr>
        <p:spPr>
          <a:xfrm>
            <a:off x="810000" y="1870000"/>
            <a:ext cx="10550000" cy="398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          visits=row["count"],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      )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  except Exception as error: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      last_error = error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      time.sleep(2)</a:t>
            </a:r>
          </a:p>
          <a:p>
            <a:endParaRPr sz="1150">
              <a:solidFill>
                <a:srgbClr val="E5E7EB"/>
              </a:solidFill>
              <a:latin typeface="Consolas"/>
              <a:ea typeface="Consolas"/>
              <a:cs typeface="Consolas"/>
            </a:endParaRP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return jsonify(error=str(last_error)), 500</a:t>
            </a:r>
          </a:p>
          <a:p>
            <a:endParaRPr sz="1150">
              <a:solidFill>
                <a:srgbClr val="E5E7EB"/>
              </a:solidFill>
              <a:latin typeface="Consolas"/>
              <a:ea typeface="Consolas"/>
              <a:cs typeface="Consolas"/>
            </a:endParaRPr>
          </a:p>
          <a:p>
            <a:endParaRPr sz="1150">
              <a:solidFill>
                <a:srgbClr val="E5E7EB"/>
              </a:solidFill>
              <a:latin typeface="Consolas"/>
              <a:ea typeface="Consolas"/>
              <a:cs typeface="Consolas"/>
            </a:endParaRP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if __name__ == "__main__":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app.run(host="0.0.0.0", port=5000)</a:t>
            </a:r>
          </a:p>
        </p:txBody>
      </p:sp>
      <p:sp>
        <p:nvSpPr>
          <p:cNvPr id="7" name="Footer">
            <a:extLst>
              <a:ext uri="{FF2B5EF4-FFF2-40B4-BE49-F238E27FC236}">
                <a16:creationId xmlns:a16="http://schemas.microsoft.com/office/drawing/2014/main" id="{2DA6DFBA-7EC5-4BC2-9EFA-65366EB64D16}"/>
              </a:ext>
            </a:extLst>
          </p:cNvPr>
          <p:cNvSpPr>
            <a:spLocks noGrp="1"/>
          </p:cNvSpPr>
          <p:nvPr/>
        </p:nvSpPr>
        <p:spPr>
          <a:xfrm>
            <a:off x="609600" y="6330000"/>
            <a:ext cx="7800000" cy="24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Aptos"/>
                <a:ea typeface="Aptos"/>
                <a:cs typeface="Aptos"/>
              </a:rPr>
              <a:t>Docker 基礎教學 | 第 3 堂 | 範例程式碼</a:t>
            </a:r>
          </a:p>
        </p:txBody>
      </p:sp>
      <p:sp>
        <p:nvSpPr>
          <p:cNvPr id="8" name="Page">
            <a:extLst>
              <a:ext uri="{FF2B5EF4-FFF2-40B4-BE49-F238E27FC236}">
                <a16:creationId xmlns:a16="http://schemas.microsoft.com/office/drawing/2014/main" id="{27E90BBC-66B7-4325-9A06-07068649EB01}"/>
              </a:ext>
            </a:extLst>
          </p:cNvPr>
          <p:cNvSpPr>
            <a:spLocks noGrp="1"/>
          </p:cNvSpPr>
          <p:nvPr/>
        </p:nvSpPr>
        <p:spPr>
          <a:xfrm>
            <a:off x="10850000" y="6330000"/>
            <a:ext cx="650000" cy="24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Aptos"/>
                <a:ea typeface="Aptos"/>
                <a:cs typeface="Aptos"/>
              </a:rPr>
              <a:t>CODE</a:t>
            </a:r>
          </a:p>
        </p:txBody>
      </p:sp>
    </p:spTree>
    <p:extLst>
      <p:ext uri="{BB962C8B-B14F-4D97-AF65-F5344CB8AC3E}">
        <p14:creationId xmlns:p14="http://schemas.microsoft.com/office/powerpoint/2010/main" val="3548490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ppendixLabel">
            <a:extLst>
              <a:ext uri="{FF2B5EF4-FFF2-40B4-BE49-F238E27FC236}">
                <a16:creationId xmlns:a16="http://schemas.microsoft.com/office/drawing/2014/main" id="{7FF337D1-1929-46D9-A0BA-63C322EB19EB}"/>
              </a:ext>
            </a:extLst>
          </p:cNvPr>
          <p:cNvSpPr>
            <a:spLocks noGrp="1"/>
          </p:cNvSpPr>
          <p:nvPr/>
        </p:nvSpPr>
        <p:spPr>
          <a:xfrm>
            <a:off x="609600" y="420000"/>
            <a:ext cx="2600000" cy="26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93C5FD"/>
                </a:solidFill>
                <a:latin typeface="Aptos"/>
                <a:ea typeface="Aptos"/>
                <a:cs typeface="Aptos"/>
              </a:rPr>
              <a:t>CODE EXAMPLE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38740228-2A7A-47BD-A2E7-66ED44087D85}"/>
              </a:ext>
            </a:extLst>
          </p:cNvPr>
          <p:cNvSpPr>
            <a:spLocks noGrp="1"/>
          </p:cNvSpPr>
          <p:nvPr/>
        </p:nvSpPr>
        <p:spPr>
          <a:xfrm>
            <a:off x="609600" y="710000"/>
            <a:ext cx="10600000" cy="56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完整程式碼：compose-nginx-flask-mysql/app/requirements.txt</a:t>
            </a:r>
          </a:p>
        </p:txBody>
      </p:sp>
      <p:sp>
        <p:nvSpPr>
          <p:cNvPr id="4" name="Subtitle">
            <a:extLst>
              <a:ext uri="{FF2B5EF4-FFF2-40B4-BE49-F238E27FC236}">
                <a16:creationId xmlns:a16="http://schemas.microsoft.com/office/drawing/2014/main" id="{DBE7A05C-C1C0-4ACB-B795-D4256CD781A4}"/>
              </a:ext>
            </a:extLst>
          </p:cNvPr>
          <p:cNvSpPr>
            <a:spLocks noGrp="1"/>
          </p:cNvSpPr>
          <p:nvPr/>
        </p:nvSpPr>
        <p:spPr>
          <a:xfrm>
            <a:off x="609600" y="126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1250">
                <a:solidFill>
                  <a:srgbClr val="CBD5E1"/>
                </a:solidFill>
                <a:latin typeface="Aptos"/>
                <a:ea typeface="Aptos"/>
                <a:cs typeface="Aptos"/>
              </a:rPr>
              <a:t>第 3 堂 | 可直接照做的完整檔案</a:t>
            </a:r>
          </a:p>
        </p:txBody>
      </p:sp>
      <p:sp>
        <p:nvSpPr>
          <p:cNvPr id="5" name="CodeBackground">
            <a:extLst>
              <a:ext uri="{FF2B5EF4-FFF2-40B4-BE49-F238E27FC236}">
                <a16:creationId xmlns:a16="http://schemas.microsoft.com/office/drawing/2014/main" id="{789A40FD-C55E-4B9E-979B-2FFDF26E2C67}"/>
              </a:ext>
            </a:extLst>
          </p:cNvPr>
          <p:cNvSpPr>
            <a:spLocks noGrp="1"/>
          </p:cNvSpPr>
          <p:nvPr/>
        </p:nvSpPr>
        <p:spPr>
          <a:xfrm>
            <a:off x="609600" y="1680000"/>
            <a:ext cx="10972800" cy="4370000"/>
          </a:xfrm>
          <a:prstGeom prst="roundRect">
            <a:avLst/>
          </a:prstGeom>
          <a:solidFill>
            <a:srgbClr val="111827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6" name="Code">
            <a:extLst>
              <a:ext uri="{FF2B5EF4-FFF2-40B4-BE49-F238E27FC236}">
                <a16:creationId xmlns:a16="http://schemas.microsoft.com/office/drawing/2014/main" id="{FC205C34-406F-4FC9-BE4F-564D0F93ADFB}"/>
              </a:ext>
            </a:extLst>
          </p:cNvPr>
          <p:cNvSpPr>
            <a:spLocks noGrp="1"/>
          </p:cNvSpPr>
          <p:nvPr/>
        </p:nvSpPr>
        <p:spPr>
          <a:xfrm>
            <a:off x="810000" y="1870000"/>
            <a:ext cx="10550000" cy="398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flask==3.0.3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pymysql==1.1.1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cryptography==42.0.8</a:t>
            </a:r>
          </a:p>
        </p:txBody>
      </p:sp>
      <p:sp>
        <p:nvSpPr>
          <p:cNvPr id="7" name="Footer">
            <a:extLst>
              <a:ext uri="{FF2B5EF4-FFF2-40B4-BE49-F238E27FC236}">
                <a16:creationId xmlns:a16="http://schemas.microsoft.com/office/drawing/2014/main" id="{2DA6DFBA-7EC5-4BC2-9EFA-65366EB64D16}"/>
              </a:ext>
            </a:extLst>
          </p:cNvPr>
          <p:cNvSpPr>
            <a:spLocks noGrp="1"/>
          </p:cNvSpPr>
          <p:nvPr/>
        </p:nvSpPr>
        <p:spPr>
          <a:xfrm>
            <a:off x="609600" y="6330000"/>
            <a:ext cx="7800000" cy="24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Aptos"/>
                <a:ea typeface="Aptos"/>
                <a:cs typeface="Aptos"/>
              </a:rPr>
              <a:t>Docker 基礎教學 | 第 3 堂 | 範例程式碼</a:t>
            </a:r>
          </a:p>
        </p:txBody>
      </p:sp>
      <p:sp>
        <p:nvSpPr>
          <p:cNvPr id="8" name="Page">
            <a:extLst>
              <a:ext uri="{FF2B5EF4-FFF2-40B4-BE49-F238E27FC236}">
                <a16:creationId xmlns:a16="http://schemas.microsoft.com/office/drawing/2014/main" id="{27E90BBC-66B7-4325-9A06-07068649EB01}"/>
              </a:ext>
            </a:extLst>
          </p:cNvPr>
          <p:cNvSpPr>
            <a:spLocks noGrp="1"/>
          </p:cNvSpPr>
          <p:nvPr/>
        </p:nvSpPr>
        <p:spPr>
          <a:xfrm>
            <a:off x="10850000" y="6330000"/>
            <a:ext cx="650000" cy="24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Aptos"/>
                <a:ea typeface="Aptos"/>
                <a:cs typeface="Aptos"/>
              </a:rPr>
              <a:t>CODE</a:t>
            </a:r>
          </a:p>
        </p:txBody>
      </p:sp>
    </p:spTree>
    <p:extLst>
      <p:ext uri="{BB962C8B-B14F-4D97-AF65-F5344CB8AC3E}">
        <p14:creationId xmlns:p14="http://schemas.microsoft.com/office/powerpoint/2010/main" val="3548490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ppendixLabel">
            <a:extLst>
              <a:ext uri="{FF2B5EF4-FFF2-40B4-BE49-F238E27FC236}">
                <a16:creationId xmlns:a16="http://schemas.microsoft.com/office/drawing/2014/main" id="{7FF337D1-1929-46D9-A0BA-63C322EB19EB}"/>
              </a:ext>
            </a:extLst>
          </p:cNvPr>
          <p:cNvSpPr>
            <a:spLocks noGrp="1"/>
          </p:cNvSpPr>
          <p:nvPr/>
        </p:nvSpPr>
        <p:spPr>
          <a:xfrm>
            <a:off x="609600" y="420000"/>
            <a:ext cx="2600000" cy="26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93C5FD"/>
                </a:solidFill>
                <a:latin typeface="Aptos"/>
                <a:ea typeface="Aptos"/>
                <a:cs typeface="Aptos"/>
              </a:rPr>
              <a:t>CODE EXAMPLE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38740228-2A7A-47BD-A2E7-66ED44087D85}"/>
              </a:ext>
            </a:extLst>
          </p:cNvPr>
          <p:cNvSpPr>
            <a:spLocks noGrp="1"/>
          </p:cNvSpPr>
          <p:nvPr/>
        </p:nvSpPr>
        <p:spPr>
          <a:xfrm>
            <a:off x="609600" y="710000"/>
            <a:ext cx="10600000" cy="56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完整程式碼：compose-nginx-flask-mysql/nginx/default.conf</a:t>
            </a:r>
          </a:p>
        </p:txBody>
      </p:sp>
      <p:sp>
        <p:nvSpPr>
          <p:cNvPr id="4" name="Subtitle">
            <a:extLst>
              <a:ext uri="{FF2B5EF4-FFF2-40B4-BE49-F238E27FC236}">
                <a16:creationId xmlns:a16="http://schemas.microsoft.com/office/drawing/2014/main" id="{DBE7A05C-C1C0-4ACB-B795-D4256CD781A4}"/>
              </a:ext>
            </a:extLst>
          </p:cNvPr>
          <p:cNvSpPr>
            <a:spLocks noGrp="1"/>
          </p:cNvSpPr>
          <p:nvPr/>
        </p:nvSpPr>
        <p:spPr>
          <a:xfrm>
            <a:off x="609600" y="126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1250">
                <a:solidFill>
                  <a:srgbClr val="CBD5E1"/>
                </a:solidFill>
                <a:latin typeface="Aptos"/>
                <a:ea typeface="Aptos"/>
                <a:cs typeface="Aptos"/>
              </a:rPr>
              <a:t>第 3 堂 | 可直接照做的完整檔案</a:t>
            </a:r>
          </a:p>
        </p:txBody>
      </p:sp>
      <p:sp>
        <p:nvSpPr>
          <p:cNvPr id="5" name="CodeBackground">
            <a:extLst>
              <a:ext uri="{FF2B5EF4-FFF2-40B4-BE49-F238E27FC236}">
                <a16:creationId xmlns:a16="http://schemas.microsoft.com/office/drawing/2014/main" id="{789A40FD-C55E-4B9E-979B-2FFDF26E2C67}"/>
              </a:ext>
            </a:extLst>
          </p:cNvPr>
          <p:cNvSpPr>
            <a:spLocks noGrp="1"/>
          </p:cNvSpPr>
          <p:nvPr/>
        </p:nvSpPr>
        <p:spPr>
          <a:xfrm>
            <a:off x="609600" y="1680000"/>
            <a:ext cx="10972800" cy="4370000"/>
          </a:xfrm>
          <a:prstGeom prst="roundRect">
            <a:avLst/>
          </a:prstGeom>
          <a:solidFill>
            <a:srgbClr val="111827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6" name="Code">
            <a:extLst>
              <a:ext uri="{FF2B5EF4-FFF2-40B4-BE49-F238E27FC236}">
                <a16:creationId xmlns:a16="http://schemas.microsoft.com/office/drawing/2014/main" id="{FC205C34-406F-4FC9-BE4F-564D0F93ADFB}"/>
              </a:ext>
            </a:extLst>
          </p:cNvPr>
          <p:cNvSpPr>
            <a:spLocks noGrp="1"/>
          </p:cNvSpPr>
          <p:nvPr/>
        </p:nvSpPr>
        <p:spPr>
          <a:xfrm>
            <a:off x="810000" y="1870000"/>
            <a:ext cx="10550000" cy="398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server {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listen 80;</a:t>
            </a:r>
          </a:p>
          <a:p>
            <a:endParaRPr sz="1150">
              <a:solidFill>
                <a:srgbClr val="E5E7EB"/>
              </a:solidFill>
              <a:latin typeface="Consolas"/>
              <a:ea typeface="Consolas"/>
              <a:cs typeface="Consolas"/>
            </a:endParaRP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location / {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  proxy_pass http://app:5000;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  proxy_set_header Host $host;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  proxy_set_header X-Real-IP $remote_addr;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}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7" name="Footer">
            <a:extLst>
              <a:ext uri="{FF2B5EF4-FFF2-40B4-BE49-F238E27FC236}">
                <a16:creationId xmlns:a16="http://schemas.microsoft.com/office/drawing/2014/main" id="{2DA6DFBA-7EC5-4BC2-9EFA-65366EB64D16}"/>
              </a:ext>
            </a:extLst>
          </p:cNvPr>
          <p:cNvSpPr>
            <a:spLocks noGrp="1"/>
          </p:cNvSpPr>
          <p:nvPr/>
        </p:nvSpPr>
        <p:spPr>
          <a:xfrm>
            <a:off x="609600" y="6330000"/>
            <a:ext cx="7800000" cy="24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Aptos"/>
                <a:ea typeface="Aptos"/>
                <a:cs typeface="Aptos"/>
              </a:rPr>
              <a:t>Docker 基礎教學 | 第 3 堂 | 範例程式碼</a:t>
            </a:r>
          </a:p>
        </p:txBody>
      </p:sp>
      <p:sp>
        <p:nvSpPr>
          <p:cNvPr id="8" name="Page">
            <a:extLst>
              <a:ext uri="{FF2B5EF4-FFF2-40B4-BE49-F238E27FC236}">
                <a16:creationId xmlns:a16="http://schemas.microsoft.com/office/drawing/2014/main" id="{27E90BBC-66B7-4325-9A06-07068649EB01}"/>
              </a:ext>
            </a:extLst>
          </p:cNvPr>
          <p:cNvSpPr>
            <a:spLocks noGrp="1"/>
          </p:cNvSpPr>
          <p:nvPr/>
        </p:nvSpPr>
        <p:spPr>
          <a:xfrm>
            <a:off x="10850000" y="6330000"/>
            <a:ext cx="650000" cy="24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Aptos"/>
                <a:ea typeface="Aptos"/>
                <a:cs typeface="Aptos"/>
              </a:rPr>
              <a:t>CODE</a:t>
            </a:r>
          </a:p>
        </p:txBody>
      </p:sp>
    </p:spTree>
    <p:extLst>
      <p:ext uri="{BB962C8B-B14F-4D97-AF65-F5344CB8AC3E}">
        <p14:creationId xmlns:p14="http://schemas.microsoft.com/office/powerpoint/2010/main" val="3548490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ppendixLabel">
            <a:extLst>
              <a:ext uri="{FF2B5EF4-FFF2-40B4-BE49-F238E27FC236}">
                <a16:creationId xmlns:a16="http://schemas.microsoft.com/office/drawing/2014/main" id="{7FF337D1-1929-46D9-A0BA-63C322EB19EB}"/>
              </a:ext>
            </a:extLst>
          </p:cNvPr>
          <p:cNvSpPr>
            <a:spLocks noGrp="1"/>
          </p:cNvSpPr>
          <p:nvPr/>
        </p:nvSpPr>
        <p:spPr>
          <a:xfrm>
            <a:off x="609600" y="420000"/>
            <a:ext cx="2600000" cy="26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93C5FD"/>
                </a:solidFill>
                <a:latin typeface="Aptos"/>
                <a:ea typeface="Aptos"/>
                <a:cs typeface="Aptos"/>
              </a:rPr>
              <a:t>CODE EXAMPLE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38740228-2A7A-47BD-A2E7-66ED44087D85}"/>
              </a:ext>
            </a:extLst>
          </p:cNvPr>
          <p:cNvSpPr>
            <a:spLocks noGrp="1"/>
          </p:cNvSpPr>
          <p:nvPr/>
        </p:nvSpPr>
        <p:spPr>
          <a:xfrm>
            <a:off x="609600" y="710000"/>
            <a:ext cx="10600000" cy="56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完整程式碼：compose-nginx-flask-mysql/compose.yaml (1/3)</a:t>
            </a:r>
          </a:p>
        </p:txBody>
      </p:sp>
      <p:sp>
        <p:nvSpPr>
          <p:cNvPr id="4" name="Subtitle">
            <a:extLst>
              <a:ext uri="{FF2B5EF4-FFF2-40B4-BE49-F238E27FC236}">
                <a16:creationId xmlns:a16="http://schemas.microsoft.com/office/drawing/2014/main" id="{DBE7A05C-C1C0-4ACB-B795-D4256CD781A4}"/>
              </a:ext>
            </a:extLst>
          </p:cNvPr>
          <p:cNvSpPr>
            <a:spLocks noGrp="1"/>
          </p:cNvSpPr>
          <p:nvPr/>
        </p:nvSpPr>
        <p:spPr>
          <a:xfrm>
            <a:off x="609600" y="126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1250">
                <a:solidFill>
                  <a:srgbClr val="CBD5E1"/>
                </a:solidFill>
                <a:latin typeface="Aptos"/>
                <a:ea typeface="Aptos"/>
                <a:cs typeface="Aptos"/>
              </a:rPr>
              <a:t>第 3 堂 | 可直接照做的完整檔案</a:t>
            </a:r>
          </a:p>
        </p:txBody>
      </p:sp>
      <p:sp>
        <p:nvSpPr>
          <p:cNvPr id="5" name="CodeBackground">
            <a:extLst>
              <a:ext uri="{FF2B5EF4-FFF2-40B4-BE49-F238E27FC236}">
                <a16:creationId xmlns:a16="http://schemas.microsoft.com/office/drawing/2014/main" id="{789A40FD-C55E-4B9E-979B-2FFDF26E2C67}"/>
              </a:ext>
            </a:extLst>
          </p:cNvPr>
          <p:cNvSpPr>
            <a:spLocks noGrp="1"/>
          </p:cNvSpPr>
          <p:nvPr/>
        </p:nvSpPr>
        <p:spPr>
          <a:xfrm>
            <a:off x="609600" y="1680000"/>
            <a:ext cx="10972800" cy="4370000"/>
          </a:xfrm>
          <a:prstGeom prst="roundRect">
            <a:avLst/>
          </a:prstGeom>
          <a:solidFill>
            <a:srgbClr val="111827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6" name="Code">
            <a:extLst>
              <a:ext uri="{FF2B5EF4-FFF2-40B4-BE49-F238E27FC236}">
                <a16:creationId xmlns:a16="http://schemas.microsoft.com/office/drawing/2014/main" id="{FC205C34-406F-4FC9-BE4F-564D0F93ADFB}"/>
              </a:ext>
            </a:extLst>
          </p:cNvPr>
          <p:cNvSpPr>
            <a:spLocks noGrp="1"/>
          </p:cNvSpPr>
          <p:nvPr/>
        </p:nvSpPr>
        <p:spPr>
          <a:xfrm>
            <a:off x="810000" y="1870000"/>
            <a:ext cx="10550000" cy="398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services: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web: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image: nginx:alpine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container_name: demo-nginx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restart: unless-stopped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ports: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- "8080:80"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volumes: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- ./nginx/default.conf:/etc/nginx/conf.d/default.conf:ro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depends_on: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- app</a:t>
            </a:r>
          </a:p>
          <a:p>
            <a:endParaRPr sz="1150">
              <a:solidFill>
                <a:srgbClr val="E5E7EB"/>
              </a:solidFill>
              <a:latin typeface="Consolas"/>
              <a:ea typeface="Consolas"/>
              <a:cs typeface="Consolas"/>
            </a:endParaRP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app: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image: python:3.11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container_name: demo-flask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working_dir: /app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restart: unless-stopped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volumes: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- ./app:/app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environment: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DB_HOST: db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DB_NAME: demo_db</a:t>
            </a:r>
          </a:p>
        </p:txBody>
      </p:sp>
      <p:sp>
        <p:nvSpPr>
          <p:cNvPr id="7" name="Footer">
            <a:extLst>
              <a:ext uri="{FF2B5EF4-FFF2-40B4-BE49-F238E27FC236}">
                <a16:creationId xmlns:a16="http://schemas.microsoft.com/office/drawing/2014/main" id="{2DA6DFBA-7EC5-4BC2-9EFA-65366EB64D16}"/>
              </a:ext>
            </a:extLst>
          </p:cNvPr>
          <p:cNvSpPr>
            <a:spLocks noGrp="1"/>
          </p:cNvSpPr>
          <p:nvPr/>
        </p:nvSpPr>
        <p:spPr>
          <a:xfrm>
            <a:off x="609600" y="6330000"/>
            <a:ext cx="7800000" cy="24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Aptos"/>
                <a:ea typeface="Aptos"/>
                <a:cs typeface="Aptos"/>
              </a:rPr>
              <a:t>Docker 基礎教學 | 第 3 堂 | 範例程式碼</a:t>
            </a:r>
          </a:p>
        </p:txBody>
      </p:sp>
      <p:sp>
        <p:nvSpPr>
          <p:cNvPr id="8" name="Page">
            <a:extLst>
              <a:ext uri="{FF2B5EF4-FFF2-40B4-BE49-F238E27FC236}">
                <a16:creationId xmlns:a16="http://schemas.microsoft.com/office/drawing/2014/main" id="{27E90BBC-66B7-4325-9A06-07068649EB01}"/>
              </a:ext>
            </a:extLst>
          </p:cNvPr>
          <p:cNvSpPr>
            <a:spLocks noGrp="1"/>
          </p:cNvSpPr>
          <p:nvPr/>
        </p:nvSpPr>
        <p:spPr>
          <a:xfrm>
            <a:off x="10850000" y="6330000"/>
            <a:ext cx="650000" cy="24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Aptos"/>
                <a:ea typeface="Aptos"/>
                <a:cs typeface="Aptos"/>
              </a:rPr>
              <a:t>CODE</a:t>
            </a:r>
          </a:p>
        </p:txBody>
      </p:sp>
    </p:spTree>
    <p:extLst>
      <p:ext uri="{BB962C8B-B14F-4D97-AF65-F5344CB8AC3E}">
        <p14:creationId xmlns:p14="http://schemas.microsoft.com/office/powerpoint/2010/main" val="35484903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ppendixLabel">
            <a:extLst>
              <a:ext uri="{FF2B5EF4-FFF2-40B4-BE49-F238E27FC236}">
                <a16:creationId xmlns:a16="http://schemas.microsoft.com/office/drawing/2014/main" id="{7FF337D1-1929-46D9-A0BA-63C322EB19EB}"/>
              </a:ext>
            </a:extLst>
          </p:cNvPr>
          <p:cNvSpPr>
            <a:spLocks noGrp="1"/>
          </p:cNvSpPr>
          <p:nvPr/>
        </p:nvSpPr>
        <p:spPr>
          <a:xfrm>
            <a:off x="609600" y="420000"/>
            <a:ext cx="2600000" cy="26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93C5FD"/>
                </a:solidFill>
                <a:latin typeface="Aptos"/>
                <a:ea typeface="Aptos"/>
                <a:cs typeface="Aptos"/>
              </a:rPr>
              <a:t>CODE EXAMPLE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38740228-2A7A-47BD-A2E7-66ED44087D85}"/>
              </a:ext>
            </a:extLst>
          </p:cNvPr>
          <p:cNvSpPr>
            <a:spLocks noGrp="1"/>
          </p:cNvSpPr>
          <p:nvPr/>
        </p:nvSpPr>
        <p:spPr>
          <a:xfrm>
            <a:off x="609600" y="710000"/>
            <a:ext cx="10600000" cy="56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完整程式碼：compose-nginx-flask-mysql/compose.yaml (2/3)</a:t>
            </a:r>
          </a:p>
        </p:txBody>
      </p:sp>
      <p:sp>
        <p:nvSpPr>
          <p:cNvPr id="4" name="Subtitle">
            <a:extLst>
              <a:ext uri="{FF2B5EF4-FFF2-40B4-BE49-F238E27FC236}">
                <a16:creationId xmlns:a16="http://schemas.microsoft.com/office/drawing/2014/main" id="{DBE7A05C-C1C0-4ACB-B795-D4256CD781A4}"/>
              </a:ext>
            </a:extLst>
          </p:cNvPr>
          <p:cNvSpPr>
            <a:spLocks noGrp="1"/>
          </p:cNvSpPr>
          <p:nvPr/>
        </p:nvSpPr>
        <p:spPr>
          <a:xfrm>
            <a:off x="609600" y="126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1250">
                <a:solidFill>
                  <a:srgbClr val="CBD5E1"/>
                </a:solidFill>
                <a:latin typeface="Aptos"/>
                <a:ea typeface="Aptos"/>
                <a:cs typeface="Aptos"/>
              </a:rPr>
              <a:t>第 3 堂 | 可直接照做的完整檔案</a:t>
            </a:r>
          </a:p>
        </p:txBody>
      </p:sp>
      <p:sp>
        <p:nvSpPr>
          <p:cNvPr id="5" name="CodeBackground">
            <a:extLst>
              <a:ext uri="{FF2B5EF4-FFF2-40B4-BE49-F238E27FC236}">
                <a16:creationId xmlns:a16="http://schemas.microsoft.com/office/drawing/2014/main" id="{789A40FD-C55E-4B9E-979B-2FFDF26E2C67}"/>
              </a:ext>
            </a:extLst>
          </p:cNvPr>
          <p:cNvSpPr>
            <a:spLocks noGrp="1"/>
          </p:cNvSpPr>
          <p:nvPr/>
        </p:nvSpPr>
        <p:spPr>
          <a:xfrm>
            <a:off x="609600" y="1680000"/>
            <a:ext cx="10972800" cy="4370000"/>
          </a:xfrm>
          <a:prstGeom prst="roundRect">
            <a:avLst/>
          </a:prstGeom>
          <a:solidFill>
            <a:srgbClr val="111827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6" name="Code">
            <a:extLst>
              <a:ext uri="{FF2B5EF4-FFF2-40B4-BE49-F238E27FC236}">
                <a16:creationId xmlns:a16="http://schemas.microsoft.com/office/drawing/2014/main" id="{FC205C34-406F-4FC9-BE4F-564D0F93ADFB}"/>
              </a:ext>
            </a:extLst>
          </p:cNvPr>
          <p:cNvSpPr>
            <a:spLocks noGrp="1"/>
          </p:cNvSpPr>
          <p:nvPr/>
        </p:nvSpPr>
        <p:spPr>
          <a:xfrm>
            <a:off x="810000" y="1870000"/>
            <a:ext cx="10550000" cy="398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DB_USER: demo_user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DB_PASSWORD: demo_pass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depends_on: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- db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expose: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- "5000"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command: bash -c "pip install -r requirements.txt &amp;&amp; python app.py"</a:t>
            </a:r>
          </a:p>
          <a:p>
            <a:endParaRPr sz="1150">
              <a:solidFill>
                <a:srgbClr val="E5E7EB"/>
              </a:solidFill>
              <a:latin typeface="Consolas"/>
              <a:ea typeface="Consolas"/>
              <a:cs typeface="Consolas"/>
            </a:endParaRP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db: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image: mysql:8.0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container_name: demo-mysql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restart: unless-stopped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environment: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MYSQL_ROOT_PASSWORD: root1234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MYSQL_DATABASE: demo_db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MYSQL_USER: demo_user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MYSQL_PASSWORD: demo_pass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ports: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- "3306:3306"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volumes: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- db-data:/var/lib/mysql</a:t>
            </a:r>
          </a:p>
        </p:txBody>
      </p:sp>
      <p:sp>
        <p:nvSpPr>
          <p:cNvPr id="7" name="Footer">
            <a:extLst>
              <a:ext uri="{FF2B5EF4-FFF2-40B4-BE49-F238E27FC236}">
                <a16:creationId xmlns:a16="http://schemas.microsoft.com/office/drawing/2014/main" id="{2DA6DFBA-7EC5-4BC2-9EFA-65366EB64D16}"/>
              </a:ext>
            </a:extLst>
          </p:cNvPr>
          <p:cNvSpPr>
            <a:spLocks noGrp="1"/>
          </p:cNvSpPr>
          <p:nvPr/>
        </p:nvSpPr>
        <p:spPr>
          <a:xfrm>
            <a:off x="609600" y="6330000"/>
            <a:ext cx="7800000" cy="24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Aptos"/>
                <a:ea typeface="Aptos"/>
                <a:cs typeface="Aptos"/>
              </a:rPr>
              <a:t>Docker 基礎教學 | 第 3 堂 | 範例程式碼</a:t>
            </a:r>
          </a:p>
        </p:txBody>
      </p:sp>
      <p:sp>
        <p:nvSpPr>
          <p:cNvPr id="8" name="Page">
            <a:extLst>
              <a:ext uri="{FF2B5EF4-FFF2-40B4-BE49-F238E27FC236}">
                <a16:creationId xmlns:a16="http://schemas.microsoft.com/office/drawing/2014/main" id="{27E90BBC-66B7-4325-9A06-07068649EB01}"/>
              </a:ext>
            </a:extLst>
          </p:cNvPr>
          <p:cNvSpPr>
            <a:spLocks noGrp="1"/>
          </p:cNvSpPr>
          <p:nvPr/>
        </p:nvSpPr>
        <p:spPr>
          <a:xfrm>
            <a:off x="10850000" y="6330000"/>
            <a:ext cx="650000" cy="24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Aptos"/>
                <a:ea typeface="Aptos"/>
                <a:cs typeface="Aptos"/>
              </a:rPr>
              <a:t>CODE</a:t>
            </a:r>
          </a:p>
        </p:txBody>
      </p:sp>
    </p:spTree>
    <p:extLst>
      <p:ext uri="{BB962C8B-B14F-4D97-AF65-F5344CB8AC3E}">
        <p14:creationId xmlns:p14="http://schemas.microsoft.com/office/powerpoint/2010/main" val="35484903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ppendixLabel">
            <a:extLst>
              <a:ext uri="{FF2B5EF4-FFF2-40B4-BE49-F238E27FC236}">
                <a16:creationId xmlns:a16="http://schemas.microsoft.com/office/drawing/2014/main" id="{7FF337D1-1929-46D9-A0BA-63C322EB19EB}"/>
              </a:ext>
            </a:extLst>
          </p:cNvPr>
          <p:cNvSpPr>
            <a:spLocks noGrp="1"/>
          </p:cNvSpPr>
          <p:nvPr/>
        </p:nvSpPr>
        <p:spPr>
          <a:xfrm>
            <a:off x="609600" y="420000"/>
            <a:ext cx="2600000" cy="26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93C5FD"/>
                </a:solidFill>
                <a:latin typeface="Aptos"/>
                <a:ea typeface="Aptos"/>
                <a:cs typeface="Aptos"/>
              </a:rPr>
              <a:t>CODE EXAMPLE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38740228-2A7A-47BD-A2E7-66ED44087D85}"/>
              </a:ext>
            </a:extLst>
          </p:cNvPr>
          <p:cNvSpPr>
            <a:spLocks noGrp="1"/>
          </p:cNvSpPr>
          <p:nvPr/>
        </p:nvSpPr>
        <p:spPr>
          <a:xfrm>
            <a:off x="609600" y="710000"/>
            <a:ext cx="10600000" cy="56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完整程式碼：compose-nginx-flask-mysql/compose.yaml (3/3)</a:t>
            </a:r>
          </a:p>
        </p:txBody>
      </p:sp>
      <p:sp>
        <p:nvSpPr>
          <p:cNvPr id="4" name="Subtitle">
            <a:extLst>
              <a:ext uri="{FF2B5EF4-FFF2-40B4-BE49-F238E27FC236}">
                <a16:creationId xmlns:a16="http://schemas.microsoft.com/office/drawing/2014/main" id="{DBE7A05C-C1C0-4ACB-B795-D4256CD781A4}"/>
              </a:ext>
            </a:extLst>
          </p:cNvPr>
          <p:cNvSpPr>
            <a:spLocks noGrp="1"/>
          </p:cNvSpPr>
          <p:nvPr/>
        </p:nvSpPr>
        <p:spPr>
          <a:xfrm>
            <a:off x="609600" y="126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1250">
                <a:solidFill>
                  <a:srgbClr val="CBD5E1"/>
                </a:solidFill>
                <a:latin typeface="Aptos"/>
                <a:ea typeface="Aptos"/>
                <a:cs typeface="Aptos"/>
              </a:rPr>
              <a:t>第 3 堂 | 可直接照做的完整檔案</a:t>
            </a:r>
          </a:p>
        </p:txBody>
      </p:sp>
      <p:sp>
        <p:nvSpPr>
          <p:cNvPr id="5" name="CodeBackground">
            <a:extLst>
              <a:ext uri="{FF2B5EF4-FFF2-40B4-BE49-F238E27FC236}">
                <a16:creationId xmlns:a16="http://schemas.microsoft.com/office/drawing/2014/main" id="{789A40FD-C55E-4B9E-979B-2FFDF26E2C67}"/>
              </a:ext>
            </a:extLst>
          </p:cNvPr>
          <p:cNvSpPr>
            <a:spLocks noGrp="1"/>
          </p:cNvSpPr>
          <p:nvPr/>
        </p:nvSpPr>
        <p:spPr>
          <a:xfrm>
            <a:off x="609600" y="1680000"/>
            <a:ext cx="10972800" cy="4370000"/>
          </a:xfrm>
          <a:prstGeom prst="roundRect">
            <a:avLst/>
          </a:prstGeom>
          <a:solidFill>
            <a:srgbClr val="111827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6" name="Code">
            <a:extLst>
              <a:ext uri="{FF2B5EF4-FFF2-40B4-BE49-F238E27FC236}">
                <a16:creationId xmlns:a16="http://schemas.microsoft.com/office/drawing/2014/main" id="{FC205C34-406F-4FC9-BE4F-564D0F93ADFB}"/>
              </a:ext>
            </a:extLst>
          </p:cNvPr>
          <p:cNvSpPr>
            <a:spLocks noGrp="1"/>
          </p:cNvSpPr>
          <p:nvPr/>
        </p:nvSpPr>
        <p:spPr>
          <a:xfrm>
            <a:off x="810000" y="1870000"/>
            <a:ext cx="10550000" cy="398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volumes: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db-data:</a:t>
            </a:r>
          </a:p>
        </p:txBody>
      </p:sp>
      <p:sp>
        <p:nvSpPr>
          <p:cNvPr id="7" name="Footer">
            <a:extLst>
              <a:ext uri="{FF2B5EF4-FFF2-40B4-BE49-F238E27FC236}">
                <a16:creationId xmlns:a16="http://schemas.microsoft.com/office/drawing/2014/main" id="{2DA6DFBA-7EC5-4BC2-9EFA-65366EB64D16}"/>
              </a:ext>
            </a:extLst>
          </p:cNvPr>
          <p:cNvSpPr>
            <a:spLocks noGrp="1"/>
          </p:cNvSpPr>
          <p:nvPr/>
        </p:nvSpPr>
        <p:spPr>
          <a:xfrm>
            <a:off x="609600" y="6330000"/>
            <a:ext cx="7800000" cy="24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Aptos"/>
                <a:ea typeface="Aptos"/>
                <a:cs typeface="Aptos"/>
              </a:rPr>
              <a:t>Docker 基礎教學 | 第 3 堂 | 範例程式碼</a:t>
            </a:r>
          </a:p>
        </p:txBody>
      </p:sp>
      <p:sp>
        <p:nvSpPr>
          <p:cNvPr id="8" name="Page">
            <a:extLst>
              <a:ext uri="{FF2B5EF4-FFF2-40B4-BE49-F238E27FC236}">
                <a16:creationId xmlns:a16="http://schemas.microsoft.com/office/drawing/2014/main" id="{27E90BBC-66B7-4325-9A06-07068649EB01}"/>
              </a:ext>
            </a:extLst>
          </p:cNvPr>
          <p:cNvSpPr>
            <a:spLocks noGrp="1"/>
          </p:cNvSpPr>
          <p:nvPr/>
        </p:nvSpPr>
        <p:spPr>
          <a:xfrm>
            <a:off x="10850000" y="6330000"/>
            <a:ext cx="650000" cy="24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Aptos"/>
                <a:ea typeface="Aptos"/>
                <a:cs typeface="Aptos"/>
              </a:rPr>
              <a:t>CODE</a:t>
            </a:r>
          </a:p>
        </p:txBody>
      </p:sp>
    </p:spTree>
    <p:extLst>
      <p:ext uri="{BB962C8B-B14F-4D97-AF65-F5344CB8AC3E}">
        <p14:creationId xmlns:p14="http://schemas.microsoft.com/office/powerpoint/2010/main" val="35484903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ppendixLabel">
            <a:extLst>
              <a:ext uri="{FF2B5EF4-FFF2-40B4-BE49-F238E27FC236}">
                <a16:creationId xmlns:a16="http://schemas.microsoft.com/office/drawing/2014/main" id="{7FF337D1-1929-46D9-A0BA-63C322EB19EB}"/>
              </a:ext>
            </a:extLst>
          </p:cNvPr>
          <p:cNvSpPr>
            <a:spLocks noGrp="1"/>
          </p:cNvSpPr>
          <p:nvPr/>
        </p:nvSpPr>
        <p:spPr>
          <a:xfrm>
            <a:off x="609600" y="420000"/>
            <a:ext cx="2600000" cy="26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93C5FD"/>
                </a:solidFill>
                <a:latin typeface="Aptos"/>
                <a:ea typeface="Aptos"/>
                <a:cs typeface="Aptos"/>
              </a:rPr>
              <a:t>CODE EXAMPLE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38740228-2A7A-47BD-A2E7-66ED44087D85}"/>
              </a:ext>
            </a:extLst>
          </p:cNvPr>
          <p:cNvSpPr>
            <a:spLocks noGrp="1"/>
          </p:cNvSpPr>
          <p:nvPr/>
        </p:nvSpPr>
        <p:spPr>
          <a:xfrm>
            <a:off x="609600" y="710000"/>
            <a:ext cx="10600000" cy="56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完整程式碼：p3-mysql-versions/compose.yaml (1/2)</a:t>
            </a:r>
          </a:p>
        </p:txBody>
      </p:sp>
      <p:sp>
        <p:nvSpPr>
          <p:cNvPr id="4" name="Subtitle">
            <a:extLst>
              <a:ext uri="{FF2B5EF4-FFF2-40B4-BE49-F238E27FC236}">
                <a16:creationId xmlns:a16="http://schemas.microsoft.com/office/drawing/2014/main" id="{DBE7A05C-C1C0-4ACB-B795-D4256CD781A4}"/>
              </a:ext>
            </a:extLst>
          </p:cNvPr>
          <p:cNvSpPr>
            <a:spLocks noGrp="1"/>
          </p:cNvSpPr>
          <p:nvPr/>
        </p:nvSpPr>
        <p:spPr>
          <a:xfrm>
            <a:off x="609600" y="126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1250">
                <a:solidFill>
                  <a:srgbClr val="CBD5E1"/>
                </a:solidFill>
                <a:latin typeface="Aptos"/>
                <a:ea typeface="Aptos"/>
                <a:cs typeface="Aptos"/>
              </a:rPr>
              <a:t>第 3 堂 | 可直接照做的完整檔案</a:t>
            </a:r>
          </a:p>
        </p:txBody>
      </p:sp>
      <p:sp>
        <p:nvSpPr>
          <p:cNvPr id="5" name="CodeBackground">
            <a:extLst>
              <a:ext uri="{FF2B5EF4-FFF2-40B4-BE49-F238E27FC236}">
                <a16:creationId xmlns:a16="http://schemas.microsoft.com/office/drawing/2014/main" id="{789A40FD-C55E-4B9E-979B-2FFDF26E2C67}"/>
              </a:ext>
            </a:extLst>
          </p:cNvPr>
          <p:cNvSpPr>
            <a:spLocks noGrp="1"/>
          </p:cNvSpPr>
          <p:nvPr/>
        </p:nvSpPr>
        <p:spPr>
          <a:xfrm>
            <a:off x="609600" y="1680000"/>
            <a:ext cx="10972800" cy="4370000"/>
          </a:xfrm>
          <a:prstGeom prst="roundRect">
            <a:avLst/>
          </a:prstGeom>
          <a:solidFill>
            <a:srgbClr val="111827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6" name="Code">
            <a:extLst>
              <a:ext uri="{FF2B5EF4-FFF2-40B4-BE49-F238E27FC236}">
                <a16:creationId xmlns:a16="http://schemas.microsoft.com/office/drawing/2014/main" id="{FC205C34-406F-4FC9-BE4F-564D0F93ADFB}"/>
              </a:ext>
            </a:extLst>
          </p:cNvPr>
          <p:cNvSpPr>
            <a:spLocks noGrp="1"/>
          </p:cNvSpPr>
          <p:nvPr/>
        </p:nvSpPr>
        <p:spPr>
          <a:xfrm>
            <a:off x="810000" y="1870000"/>
            <a:ext cx="10550000" cy="398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services: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mysql8: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image: mysql:8.0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container_name: mysql8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restart: unless-stopped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environment: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MYSQL_ROOT_PASSWORD: root123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MYSQL_DATABASE: old_project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ports: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- "3306:3306"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volumes: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- mysql8-data:/var/lib/mysql</a:t>
            </a:r>
          </a:p>
          <a:p>
            <a:endParaRPr sz="1150">
              <a:solidFill>
                <a:srgbClr val="E5E7EB"/>
              </a:solidFill>
              <a:latin typeface="Consolas"/>
              <a:ea typeface="Consolas"/>
              <a:cs typeface="Consolas"/>
            </a:endParaRP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mysql9: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image: mysql:9.0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container_name: mysql9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restart: unless-stopped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environment: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MYSQL_ROOT_PASSWORD: root123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MYSQL_DATABASE: new_project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ports: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- "3307:3306"</a:t>
            </a:r>
          </a:p>
        </p:txBody>
      </p:sp>
      <p:sp>
        <p:nvSpPr>
          <p:cNvPr id="7" name="Footer">
            <a:extLst>
              <a:ext uri="{FF2B5EF4-FFF2-40B4-BE49-F238E27FC236}">
                <a16:creationId xmlns:a16="http://schemas.microsoft.com/office/drawing/2014/main" id="{2DA6DFBA-7EC5-4BC2-9EFA-65366EB64D16}"/>
              </a:ext>
            </a:extLst>
          </p:cNvPr>
          <p:cNvSpPr>
            <a:spLocks noGrp="1"/>
          </p:cNvSpPr>
          <p:nvPr/>
        </p:nvSpPr>
        <p:spPr>
          <a:xfrm>
            <a:off x="609600" y="6330000"/>
            <a:ext cx="7800000" cy="24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Aptos"/>
                <a:ea typeface="Aptos"/>
                <a:cs typeface="Aptos"/>
              </a:rPr>
              <a:t>Docker 基礎教學 | 第 3 堂 | 範例程式碼</a:t>
            </a:r>
          </a:p>
        </p:txBody>
      </p:sp>
      <p:sp>
        <p:nvSpPr>
          <p:cNvPr id="8" name="Page">
            <a:extLst>
              <a:ext uri="{FF2B5EF4-FFF2-40B4-BE49-F238E27FC236}">
                <a16:creationId xmlns:a16="http://schemas.microsoft.com/office/drawing/2014/main" id="{27E90BBC-66B7-4325-9A06-07068649EB01}"/>
              </a:ext>
            </a:extLst>
          </p:cNvPr>
          <p:cNvSpPr>
            <a:spLocks noGrp="1"/>
          </p:cNvSpPr>
          <p:nvPr/>
        </p:nvSpPr>
        <p:spPr>
          <a:xfrm>
            <a:off x="10850000" y="6330000"/>
            <a:ext cx="650000" cy="24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Aptos"/>
                <a:ea typeface="Aptos"/>
                <a:cs typeface="Aptos"/>
              </a:rPr>
              <a:t>CODE</a:t>
            </a:r>
          </a:p>
        </p:txBody>
      </p:sp>
    </p:spTree>
    <p:extLst>
      <p:ext uri="{BB962C8B-B14F-4D97-AF65-F5344CB8AC3E}">
        <p14:creationId xmlns:p14="http://schemas.microsoft.com/office/powerpoint/2010/main" val="35484903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ppendixLabel">
            <a:extLst>
              <a:ext uri="{FF2B5EF4-FFF2-40B4-BE49-F238E27FC236}">
                <a16:creationId xmlns:a16="http://schemas.microsoft.com/office/drawing/2014/main" id="{7FF337D1-1929-46D9-A0BA-63C322EB19EB}"/>
              </a:ext>
            </a:extLst>
          </p:cNvPr>
          <p:cNvSpPr>
            <a:spLocks noGrp="1"/>
          </p:cNvSpPr>
          <p:nvPr/>
        </p:nvSpPr>
        <p:spPr>
          <a:xfrm>
            <a:off x="609600" y="420000"/>
            <a:ext cx="2600000" cy="26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93C5FD"/>
                </a:solidFill>
                <a:latin typeface="Aptos"/>
                <a:ea typeface="Aptos"/>
                <a:cs typeface="Aptos"/>
              </a:rPr>
              <a:t>CODE EXAMPLE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38740228-2A7A-47BD-A2E7-66ED44087D85}"/>
              </a:ext>
            </a:extLst>
          </p:cNvPr>
          <p:cNvSpPr>
            <a:spLocks noGrp="1"/>
          </p:cNvSpPr>
          <p:nvPr/>
        </p:nvSpPr>
        <p:spPr>
          <a:xfrm>
            <a:off x="609600" y="710000"/>
            <a:ext cx="10600000" cy="56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完整程式碼：p3-mysql-versions/compose.yaml (2/2)</a:t>
            </a:r>
          </a:p>
        </p:txBody>
      </p:sp>
      <p:sp>
        <p:nvSpPr>
          <p:cNvPr id="4" name="Subtitle">
            <a:extLst>
              <a:ext uri="{FF2B5EF4-FFF2-40B4-BE49-F238E27FC236}">
                <a16:creationId xmlns:a16="http://schemas.microsoft.com/office/drawing/2014/main" id="{DBE7A05C-C1C0-4ACB-B795-D4256CD781A4}"/>
              </a:ext>
            </a:extLst>
          </p:cNvPr>
          <p:cNvSpPr>
            <a:spLocks noGrp="1"/>
          </p:cNvSpPr>
          <p:nvPr/>
        </p:nvSpPr>
        <p:spPr>
          <a:xfrm>
            <a:off x="609600" y="126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1250">
                <a:solidFill>
                  <a:srgbClr val="CBD5E1"/>
                </a:solidFill>
                <a:latin typeface="Aptos"/>
                <a:ea typeface="Aptos"/>
                <a:cs typeface="Aptos"/>
              </a:rPr>
              <a:t>第 3 堂 | 可直接照做的完整檔案</a:t>
            </a:r>
          </a:p>
        </p:txBody>
      </p:sp>
      <p:sp>
        <p:nvSpPr>
          <p:cNvPr id="5" name="CodeBackground">
            <a:extLst>
              <a:ext uri="{FF2B5EF4-FFF2-40B4-BE49-F238E27FC236}">
                <a16:creationId xmlns:a16="http://schemas.microsoft.com/office/drawing/2014/main" id="{789A40FD-C55E-4B9E-979B-2FFDF26E2C67}"/>
              </a:ext>
            </a:extLst>
          </p:cNvPr>
          <p:cNvSpPr>
            <a:spLocks noGrp="1"/>
          </p:cNvSpPr>
          <p:nvPr/>
        </p:nvSpPr>
        <p:spPr>
          <a:xfrm>
            <a:off x="609600" y="1680000"/>
            <a:ext cx="10972800" cy="4370000"/>
          </a:xfrm>
          <a:prstGeom prst="roundRect">
            <a:avLst/>
          </a:prstGeom>
          <a:solidFill>
            <a:srgbClr val="111827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6" name="Code">
            <a:extLst>
              <a:ext uri="{FF2B5EF4-FFF2-40B4-BE49-F238E27FC236}">
                <a16:creationId xmlns:a16="http://schemas.microsoft.com/office/drawing/2014/main" id="{FC205C34-406F-4FC9-BE4F-564D0F93ADFB}"/>
              </a:ext>
            </a:extLst>
          </p:cNvPr>
          <p:cNvSpPr>
            <a:spLocks noGrp="1"/>
          </p:cNvSpPr>
          <p:nvPr/>
        </p:nvSpPr>
        <p:spPr>
          <a:xfrm>
            <a:off x="810000" y="1870000"/>
            <a:ext cx="10550000" cy="398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volumes: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- mysql9-data:/var/lib/mysql</a:t>
            </a:r>
          </a:p>
          <a:p>
            <a:endParaRPr sz="1150">
              <a:solidFill>
                <a:srgbClr val="E5E7EB"/>
              </a:solidFill>
              <a:latin typeface="Consolas"/>
              <a:ea typeface="Consolas"/>
              <a:cs typeface="Consolas"/>
            </a:endParaRP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volumes: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mysql8-data:</a:t>
            </a:r>
          </a:p>
          <a:p>
            <a:r>
              <a:rPr sz="115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mysql9-data:</a:t>
            </a:r>
          </a:p>
        </p:txBody>
      </p:sp>
      <p:sp>
        <p:nvSpPr>
          <p:cNvPr id="7" name="Footer">
            <a:extLst>
              <a:ext uri="{FF2B5EF4-FFF2-40B4-BE49-F238E27FC236}">
                <a16:creationId xmlns:a16="http://schemas.microsoft.com/office/drawing/2014/main" id="{2DA6DFBA-7EC5-4BC2-9EFA-65366EB64D16}"/>
              </a:ext>
            </a:extLst>
          </p:cNvPr>
          <p:cNvSpPr>
            <a:spLocks noGrp="1"/>
          </p:cNvSpPr>
          <p:nvPr/>
        </p:nvSpPr>
        <p:spPr>
          <a:xfrm>
            <a:off x="609600" y="6330000"/>
            <a:ext cx="7800000" cy="24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Aptos"/>
                <a:ea typeface="Aptos"/>
                <a:cs typeface="Aptos"/>
              </a:rPr>
              <a:t>Docker 基礎教學 | 第 3 堂 | 範例程式碼</a:t>
            </a:r>
          </a:p>
        </p:txBody>
      </p:sp>
      <p:sp>
        <p:nvSpPr>
          <p:cNvPr id="8" name="Page">
            <a:extLst>
              <a:ext uri="{FF2B5EF4-FFF2-40B4-BE49-F238E27FC236}">
                <a16:creationId xmlns:a16="http://schemas.microsoft.com/office/drawing/2014/main" id="{27E90BBC-66B7-4325-9A06-07068649EB01}"/>
              </a:ext>
            </a:extLst>
          </p:cNvPr>
          <p:cNvSpPr>
            <a:spLocks noGrp="1"/>
          </p:cNvSpPr>
          <p:nvPr/>
        </p:nvSpPr>
        <p:spPr>
          <a:xfrm>
            <a:off x="10850000" y="6330000"/>
            <a:ext cx="650000" cy="24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Aptos"/>
                <a:ea typeface="Aptos"/>
                <a:cs typeface="Aptos"/>
              </a:rPr>
              <a:t>CODE</a:t>
            </a:r>
          </a:p>
        </p:txBody>
      </p:sp>
    </p:spTree>
    <p:extLst>
      <p:ext uri="{BB962C8B-B14F-4D97-AF65-F5344CB8AC3E}">
        <p14:creationId xmlns:p14="http://schemas.microsoft.com/office/powerpoint/2010/main" val="35484903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73</TotalTime>
  <Words>4915</Words>
  <Application>Microsoft Office PowerPoint</Application>
  <DocSecurity>0</DocSecurity>
  <PresentationFormat>寬螢幕</PresentationFormat>
  <Paragraphs>1021</Paragraphs>
  <Slides>62</Slides>
  <Notes>62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62</vt:i4>
      </vt:variant>
    </vt:vector>
  </HeadingPairs>
  <TitlesOfParts>
    <vt:vector size="67" baseType="lpstr">
      <vt:lpstr>Aptos</vt:lpstr>
      <vt:lpstr>Aptos Display</vt:lpstr>
      <vt:lpstr>Calibri</vt:lpstr>
      <vt:lpstr>Consolas</vt:lpstr>
      <vt:lpstr>ChatGPT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sdt</cp:lastModifiedBy>
  <cp:revision>8</cp:revision>
  <dcterms:created xsi:type="dcterms:W3CDTF">2026-06-24T09:51:49Z</dcterms:created>
  <dcterms:modified xsi:type="dcterms:W3CDTF">2026-06-25T09:10:45Z</dcterms:modified>
</cp:coreProperties>
</file>