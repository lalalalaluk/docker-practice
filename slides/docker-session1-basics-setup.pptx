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83" r:id="rId24"/>
    <p:sldId id="278" r:id="rId25"/>
    <p:sldId id="279" r:id="rId26"/>
    <p:sldId id="284" r:id="rId27"/>
    <p:sldId id="285" r:id="rId28"/>
    <p:sldId id="280" r:id="rId29"/>
    <p:sldId id="281" r:id="rId30"/>
    <p:sldId id="286" r:id="rId31"/>
    <p:sldId id="282" r:id="rId32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10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5CD23777-F608-4017-85DF-390B902202A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w="0">
            <a:noFill/>
            <a:prstDash val="solid"/>
          </a:ln>
        </p:spPr>
      </p:sp>
      <p:pic>
        <p:nvPicPr>
          <p:cNvPr id="15" name="圖片 14"/>
          <p:cNvPicPr>
            <a:picLocks noChangeAspect="1"/>
          </p:cNvPicPr>
          <p:nvPr/>
        </p:nvPicPr>
        <p:blipFill>
          <a:blip r:embed="rId2"/>
          <a:srcRect l="20297" r="20297"/>
          <a:stretch>
            <a:fillRect/>
          </a:stretch>
        </p:blipFill>
        <p:spPr>
          <a:xfrm>
            <a:off x="4953000" y="0"/>
            <a:ext cx="7239000" cy="685800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496F32A5-982A-455A-BC87-3A135014EC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33000">
                <a:srgbClr val="07111F">
                  <a:alpha val="96000"/>
                </a:srgbClr>
              </a:gs>
              <a:gs pos="63000">
                <a:srgbClr val="07111F">
                  <a:alpha val="46000"/>
                </a:srgbClr>
              </a:gs>
              <a:gs pos="100000">
                <a:srgbClr val="07111F">
                  <a:alpha val="5000"/>
                </a:srgbClr>
              </a:gs>
            </a:gsLst>
            <a:lin ang="5400000"/>
          </a:gradFill>
          <a:ln w="0">
            <a:noFill/>
            <a:prstDash val="solid"/>
          </a:ln>
        </p:spPr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23F62570-EEA7-4468-8A63-E53856FEBA75}"/>
              </a:ext>
            </a:extLst>
          </p:cNvPr>
          <p:cNvSpPr>
            <a:spLocks noGrp="1"/>
          </p:cNvSpPr>
          <p:nvPr/>
        </p:nvSpPr>
        <p:spPr>
          <a:xfrm>
            <a:off x="7715250" y="-857250"/>
            <a:ext cx="3905250" cy="3905250"/>
          </a:xfrm>
          <a:prstGeom prst="ellipse">
            <a:avLst/>
          </a:prstGeom>
          <a:solidFill>
            <a:srgbClr val="FFFFFF">
              <a:alpha val="8000"/>
            </a:srgbClr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A5E2A4E2-1049-400F-A9D4-88D99B3BE6CB}"/>
              </a:ext>
            </a:extLst>
          </p:cNvPr>
          <p:cNvSpPr>
            <a:spLocks noGrp="1"/>
          </p:cNvSpPr>
          <p:nvPr/>
        </p:nvSpPr>
        <p:spPr>
          <a:xfrm>
            <a:off x="9525000" y="4095750"/>
            <a:ext cx="3238500" cy="3238500"/>
          </a:xfrm>
          <a:prstGeom prst="ellipse">
            <a:avLst/>
          </a:prstGeom>
          <a:solidFill>
            <a:srgbClr val="00A97F">
              <a:alpha val="13000"/>
            </a:srgbClr>
          </a:solidFill>
          <a:ln w="0">
            <a:noFill/>
            <a:prstDash val="solid"/>
          </a:ln>
        </p:spPr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26B3D126-174C-4501-845F-298080619A55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2095500" cy="3238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2AB8BE0-FF95-4D44-BDAD-0ED31AC1AACA}"/>
              </a:ext>
            </a:extLst>
          </p:cNvPr>
          <p:cNvSpPr>
            <a:spLocks noGrp="1"/>
          </p:cNvSpPr>
          <p:nvPr/>
        </p:nvSpPr>
        <p:spPr>
          <a:xfrm>
            <a:off x="685800" y="714375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18 小時 Docker 基礎教學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046EE50-8276-400A-AEE2-6D0B7882005A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771525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4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先安裝，再理解 Docker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E26B9C0-6BBF-4CE3-831F-5CE34DF88650}"/>
              </a:ext>
            </a:extLst>
          </p:cNvPr>
          <p:cNvSpPr>
            <a:spLocks noGrp="1"/>
          </p:cNvSpPr>
          <p:nvPr/>
        </p:nvSpPr>
        <p:spPr>
          <a:xfrm>
            <a:off x="723900" y="3162300"/>
            <a:ext cx="647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第 1 堂 | Windows + WSL 2 + Docker Desktop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FD821FAE-B4C3-42E2-A11C-99D9F38A3CC5}"/>
              </a:ext>
            </a:extLst>
          </p:cNvPr>
          <p:cNvSpPr>
            <a:spLocks noGrp="1"/>
          </p:cNvSpPr>
          <p:nvPr/>
        </p:nvSpPr>
        <p:spPr>
          <a:xfrm>
            <a:off x="685800" y="4191000"/>
            <a:ext cx="7810500" cy="1066800"/>
          </a:xfrm>
          <a:prstGeom prst="roundRect">
            <a:avLst>
              <a:gd name="adj" fmla="val 125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17F2F65-37F3-417A-B535-F845695F53B0}"/>
              </a:ext>
            </a:extLst>
          </p:cNvPr>
          <p:cNvSpPr>
            <a:spLocks noGrp="1"/>
          </p:cNvSpPr>
          <p:nvPr/>
        </p:nvSpPr>
        <p:spPr>
          <a:xfrm>
            <a:off x="990600" y="4476750"/>
            <a:ext cx="7239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286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今天完成：先完成安裝檢查，再理解 Docker 解決什麼問題，最後用一行指令跑起 Nginx。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693427D-B398-4D45-8EC5-65EA6B3A53EA}"/>
              </a:ext>
            </a:extLst>
          </p:cNvPr>
          <p:cNvSpPr>
            <a:spLocks noGrp="1"/>
          </p:cNvSpPr>
          <p:nvPr/>
        </p:nvSpPr>
        <p:spPr>
          <a:xfrm>
            <a:off x="9620250" y="60007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11649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E0F6B009-6CE0-4592-BBE1-A32006B7269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7A07351-4B51-47EB-8F83-5A9B74A915C0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三小時學習地圖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5111866-73F3-41E7-9C53-344676297BA3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DCE6FF67-4E97-4485-8251-198E6FBA006F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514350" cy="5143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EE4819C-FE3F-4F7F-951C-62A0A13D4B1C}"/>
              </a:ext>
            </a:extLst>
          </p:cNvPr>
          <p:cNvSpPr>
            <a:spLocks noGrp="1"/>
          </p:cNvSpPr>
          <p:nvPr/>
        </p:nvSpPr>
        <p:spPr>
          <a:xfrm>
            <a:off x="838200" y="2057400"/>
            <a:ext cx="51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5F0B442-EF46-46EE-BF36-B25AE9C65CB8}"/>
              </a:ext>
            </a:extLst>
          </p:cNvPr>
          <p:cNvSpPr>
            <a:spLocks noGrp="1"/>
          </p:cNvSpPr>
          <p:nvPr/>
        </p:nvSpPr>
        <p:spPr>
          <a:xfrm>
            <a:off x="838200" y="270510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安裝環境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1B43EAF-590D-42FB-B639-805445F608C4}"/>
              </a:ext>
            </a:extLst>
          </p:cNvPr>
          <p:cNvSpPr>
            <a:spLocks noGrp="1"/>
          </p:cNvSpPr>
          <p:nvPr/>
        </p:nvSpPr>
        <p:spPr>
          <a:xfrm>
            <a:off x="838200" y="3200400"/>
            <a:ext cx="27432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Windows、WSL 2、Docker Desktop，先跑過 hello-world。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9D65649E-76FE-4C20-9B11-615770D815FB}"/>
              </a:ext>
            </a:extLst>
          </p:cNvPr>
          <p:cNvSpPr>
            <a:spLocks noGrp="1"/>
          </p:cNvSpPr>
          <p:nvPr/>
        </p:nvSpPr>
        <p:spPr>
          <a:xfrm>
            <a:off x="8382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0A785D7-6A51-4D81-AC38-945578D380BA}"/>
              </a:ext>
            </a:extLst>
          </p:cNvPr>
          <p:cNvSpPr>
            <a:spLocks noGrp="1"/>
          </p:cNvSpPr>
          <p:nvPr/>
        </p:nvSpPr>
        <p:spPr>
          <a:xfrm>
            <a:off x="838200" y="4352925"/>
            <a:ext cx="1162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33504548-3577-4DBE-9123-D04BD35C68AB}"/>
              </a:ext>
            </a:extLst>
          </p:cNvPr>
          <p:cNvSpPr>
            <a:spLocks noGrp="1"/>
          </p:cNvSpPr>
          <p:nvPr/>
        </p:nvSpPr>
        <p:spPr>
          <a:xfrm>
            <a:off x="428625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6DCD29ED-23A1-4C52-B9F5-4A753DB6D77D}"/>
              </a:ext>
            </a:extLst>
          </p:cNvPr>
          <p:cNvSpPr>
            <a:spLocks noGrp="1"/>
          </p:cNvSpPr>
          <p:nvPr/>
        </p:nvSpPr>
        <p:spPr>
          <a:xfrm>
            <a:off x="4514850" y="1943100"/>
            <a:ext cx="514350" cy="5143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407969D-8388-45D8-9D54-C62496874076}"/>
              </a:ext>
            </a:extLst>
          </p:cNvPr>
          <p:cNvSpPr>
            <a:spLocks noGrp="1"/>
          </p:cNvSpPr>
          <p:nvPr/>
        </p:nvSpPr>
        <p:spPr>
          <a:xfrm>
            <a:off x="4514850" y="2057400"/>
            <a:ext cx="51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BB2FB8F-FC6E-4A2D-A8D6-709457387C9E}"/>
              </a:ext>
            </a:extLst>
          </p:cNvPr>
          <p:cNvSpPr>
            <a:spLocks noGrp="1"/>
          </p:cNvSpPr>
          <p:nvPr/>
        </p:nvSpPr>
        <p:spPr>
          <a:xfrm>
            <a:off x="4514850" y="270510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概念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12681C8-5FF4-40F8-B1DB-2EC7A270E9D3}"/>
              </a:ext>
            </a:extLst>
          </p:cNvPr>
          <p:cNvSpPr>
            <a:spLocks noGrp="1"/>
          </p:cNvSpPr>
          <p:nvPr/>
        </p:nvSpPr>
        <p:spPr>
          <a:xfrm>
            <a:off x="4514850" y="3200400"/>
            <a:ext cx="27432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hello-world 回頭理解 Image、Container、Registry，與容器比 VM 輕量在哪裡。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4C95F6AC-5D7E-4447-9C2D-D506A63B3953}"/>
              </a:ext>
            </a:extLst>
          </p:cNvPr>
          <p:cNvSpPr>
            <a:spLocks noGrp="1"/>
          </p:cNvSpPr>
          <p:nvPr/>
        </p:nvSpPr>
        <p:spPr>
          <a:xfrm>
            <a:off x="451485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860F38B-B110-45A5-A343-BECB5AC2D8CF}"/>
              </a:ext>
            </a:extLst>
          </p:cNvPr>
          <p:cNvSpPr>
            <a:spLocks noGrp="1"/>
          </p:cNvSpPr>
          <p:nvPr/>
        </p:nvSpPr>
        <p:spPr>
          <a:xfrm>
            <a:off x="4514850" y="4352925"/>
            <a:ext cx="1162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9203767B-DA35-46B7-AFBF-72ED5FF27E93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ED2EFDD2-623D-4032-BD42-7FF047E1A0C8}"/>
              </a:ext>
            </a:extLst>
          </p:cNvPr>
          <p:cNvSpPr>
            <a:spLocks noGrp="1"/>
          </p:cNvSpPr>
          <p:nvPr/>
        </p:nvSpPr>
        <p:spPr>
          <a:xfrm>
            <a:off x="8191500" y="1943100"/>
            <a:ext cx="514350" cy="514350"/>
          </a:xfrm>
          <a:prstGeom prst="ellipse">
            <a:avLst/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543427F-E3D0-4816-9D60-39F2DE778455}"/>
              </a:ext>
            </a:extLst>
          </p:cNvPr>
          <p:cNvSpPr>
            <a:spLocks noGrp="1"/>
          </p:cNvSpPr>
          <p:nvPr/>
        </p:nvSpPr>
        <p:spPr>
          <a:xfrm>
            <a:off x="8191500" y="2057400"/>
            <a:ext cx="51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EAA20BD-A768-4B3B-93C3-4687865EF848}"/>
              </a:ext>
            </a:extLst>
          </p:cNvPr>
          <p:cNvSpPr>
            <a:spLocks noGrp="1"/>
          </p:cNvSpPr>
          <p:nvPr/>
        </p:nvSpPr>
        <p:spPr>
          <a:xfrm>
            <a:off x="8191500" y="270510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第一個容器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E330FA5-947A-4D80-9068-07E1C9FE2631}"/>
              </a:ext>
            </a:extLst>
          </p:cNvPr>
          <p:cNvSpPr>
            <a:spLocks noGrp="1"/>
          </p:cNvSpPr>
          <p:nvPr/>
        </p:nvSpPr>
        <p:spPr>
          <a:xfrm>
            <a:off x="8191500" y="3200400"/>
            <a:ext cx="27432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從 Docker Hub 拉 Nginx，透過 port mapping 在瀏覽器看到結果。</a:t>
            </a:r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AD2F6B77-324C-4C09-B73A-D067ECC647F8}"/>
              </a:ext>
            </a:extLst>
          </p:cNvPr>
          <p:cNvSpPr>
            <a:spLocks noGrp="1"/>
          </p:cNvSpPr>
          <p:nvPr/>
        </p:nvSpPr>
        <p:spPr>
          <a:xfrm>
            <a:off x="81915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70DEC3B-E0A3-4E94-86F7-3E8666557294}"/>
              </a:ext>
            </a:extLst>
          </p:cNvPr>
          <p:cNvSpPr>
            <a:spLocks noGrp="1"/>
          </p:cNvSpPr>
          <p:nvPr/>
        </p:nvSpPr>
        <p:spPr>
          <a:xfrm>
            <a:off x="8191500" y="4352925"/>
            <a:ext cx="1162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AD53EC1A-1D3B-40D1-BAF6-4919F01762D9}"/>
              </a:ext>
            </a:extLst>
          </p:cNvPr>
          <p:cNvSpPr>
            <a:spLocks noGrp="1"/>
          </p:cNvSpPr>
          <p:nvPr/>
        </p:nvSpPr>
        <p:spPr>
          <a:xfrm>
            <a:off x="762000" y="5334000"/>
            <a:ext cx="781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先把環境裝起來，再用剛跑過的指令理解 Docker，最後進到可執行的容器操作。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5795D74-E872-4D6E-BD3D-42C3281010B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95B13B8-D010-4525-82A1-05A0CD8E405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D97AA0F-818E-4B33-A597-9F3FAEE03F9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5675973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A9A90A9F-CC0E-4688-9F64-4C55B1BFC87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SETUP CHECKLIST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AFAC74D-8593-415A-956F-FB597A82ACD5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Windows 安裝前先確認四件事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6418761-2B0A-49BB-B13F-14B1C0854BCA}"/>
              </a:ext>
            </a:extLst>
          </p:cNvPr>
          <p:cNvSpPr>
            <a:spLocks noGrp="1"/>
          </p:cNvSpPr>
          <p:nvPr/>
        </p:nvSpPr>
        <p:spPr>
          <a:xfrm>
            <a:off x="933450" y="1695450"/>
            <a:ext cx="47625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B8AEEDEB-89FC-44BB-8DB5-B33F9B50C5D0}"/>
              </a:ext>
            </a:extLst>
          </p:cNvPr>
          <p:cNvSpPr>
            <a:spLocks noGrp="1"/>
          </p:cNvSpPr>
          <p:nvPr/>
        </p:nvSpPr>
        <p:spPr>
          <a:xfrm>
            <a:off x="1181100" y="19812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2839CF0-1FB7-4644-BB41-17CD75C02C45}"/>
              </a:ext>
            </a:extLst>
          </p:cNvPr>
          <p:cNvSpPr>
            <a:spLocks noGrp="1"/>
          </p:cNvSpPr>
          <p:nvPr/>
        </p:nvSpPr>
        <p:spPr>
          <a:xfrm>
            <a:off x="1181100" y="20955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ED9C98B-CA7E-4C25-8F71-9C62CFCE2FCC}"/>
              </a:ext>
            </a:extLst>
          </p:cNvPr>
          <p:cNvSpPr>
            <a:spLocks noGrp="1"/>
          </p:cNvSpPr>
          <p:nvPr/>
        </p:nvSpPr>
        <p:spPr>
          <a:xfrm>
            <a:off x="1809750" y="19621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Windows 10/11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BF5EEA2-5014-4F85-A557-CC446E797A4D}"/>
              </a:ext>
            </a:extLst>
          </p:cNvPr>
          <p:cNvSpPr>
            <a:spLocks noGrp="1"/>
          </p:cNvSpPr>
          <p:nvPr/>
        </p:nvSpPr>
        <p:spPr>
          <a:xfrm>
            <a:off x="1809750" y="236220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64-bit，Windows 10 21H2 以上或 Windows 11。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FF8FFE0-6028-4349-AADD-F390E43A2870}"/>
              </a:ext>
            </a:extLst>
          </p:cNvPr>
          <p:cNvSpPr>
            <a:spLocks noGrp="1"/>
          </p:cNvSpPr>
          <p:nvPr/>
        </p:nvSpPr>
        <p:spPr>
          <a:xfrm>
            <a:off x="6496050" y="1695450"/>
            <a:ext cx="47625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3D3E830D-0538-4C7F-861B-BF3164D63DB0}"/>
              </a:ext>
            </a:extLst>
          </p:cNvPr>
          <p:cNvSpPr>
            <a:spLocks noGrp="1"/>
          </p:cNvSpPr>
          <p:nvPr/>
        </p:nvSpPr>
        <p:spPr>
          <a:xfrm>
            <a:off x="6743700" y="19812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744EC2E-069B-475E-903A-2E172D7C43CC}"/>
              </a:ext>
            </a:extLst>
          </p:cNvPr>
          <p:cNvSpPr>
            <a:spLocks noGrp="1"/>
          </p:cNvSpPr>
          <p:nvPr/>
        </p:nvSpPr>
        <p:spPr>
          <a:xfrm>
            <a:off x="6743700" y="20955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2911082-A89E-4B92-9D99-10E21222D5E5}"/>
              </a:ext>
            </a:extLst>
          </p:cNvPr>
          <p:cNvSpPr>
            <a:spLocks noGrp="1"/>
          </p:cNvSpPr>
          <p:nvPr/>
        </p:nvSpPr>
        <p:spPr>
          <a:xfrm>
            <a:off x="7372350" y="19621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WSL 2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F098CD6-8EA3-4F9A-A1E7-F83F5DF1797E}"/>
              </a:ext>
            </a:extLst>
          </p:cNvPr>
          <p:cNvSpPr>
            <a:spLocks noGrp="1"/>
          </p:cNvSpPr>
          <p:nvPr/>
        </p:nvSpPr>
        <p:spPr>
          <a:xfrm>
            <a:off x="7372350" y="236220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Desktop 在 Windows 上建議使用 WSL 2 後端。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63D187A5-4A1C-4D5B-921A-E2E0BC959A32}"/>
              </a:ext>
            </a:extLst>
          </p:cNvPr>
          <p:cNvSpPr>
            <a:spLocks noGrp="1"/>
          </p:cNvSpPr>
          <p:nvPr/>
        </p:nvSpPr>
        <p:spPr>
          <a:xfrm>
            <a:off x="933450" y="3752850"/>
            <a:ext cx="47625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5DB58670-9E09-4B25-AB98-0980011A0681}"/>
              </a:ext>
            </a:extLst>
          </p:cNvPr>
          <p:cNvSpPr>
            <a:spLocks noGrp="1"/>
          </p:cNvSpPr>
          <p:nvPr/>
        </p:nvSpPr>
        <p:spPr>
          <a:xfrm>
            <a:off x="1181100" y="40386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B661189-7306-4C14-A9C3-63732A285979}"/>
              </a:ext>
            </a:extLst>
          </p:cNvPr>
          <p:cNvSpPr>
            <a:spLocks noGrp="1"/>
          </p:cNvSpPr>
          <p:nvPr/>
        </p:nvSpPr>
        <p:spPr>
          <a:xfrm>
            <a:off x="1181100" y="4152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4BE20F3-D18D-4FEE-96ED-27CD8D148DA3}"/>
              </a:ext>
            </a:extLst>
          </p:cNvPr>
          <p:cNvSpPr>
            <a:spLocks noGrp="1"/>
          </p:cNvSpPr>
          <p:nvPr/>
        </p:nvSpPr>
        <p:spPr>
          <a:xfrm>
            <a:off x="1809750" y="40195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至少 4 GB RAM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8E81347-6824-4601-8663-A70D7DA0BCA1}"/>
              </a:ext>
            </a:extLst>
          </p:cNvPr>
          <p:cNvSpPr>
            <a:spLocks noGrp="1"/>
          </p:cNvSpPr>
          <p:nvPr/>
        </p:nvSpPr>
        <p:spPr>
          <a:xfrm>
            <a:off x="1809750" y="441960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 GB 電腦建議不要把超過 4 GB 分給 Docker。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4C29AABF-E314-4E93-ADF2-79CC7E7F3CF2}"/>
              </a:ext>
            </a:extLst>
          </p:cNvPr>
          <p:cNvSpPr>
            <a:spLocks noGrp="1"/>
          </p:cNvSpPr>
          <p:nvPr/>
        </p:nvSpPr>
        <p:spPr>
          <a:xfrm>
            <a:off x="6496050" y="3752850"/>
            <a:ext cx="47625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8AACF997-9893-47E9-B55D-6FD828BFFB4F}"/>
              </a:ext>
            </a:extLst>
          </p:cNvPr>
          <p:cNvSpPr>
            <a:spLocks noGrp="1"/>
          </p:cNvSpPr>
          <p:nvPr/>
        </p:nvSpPr>
        <p:spPr>
          <a:xfrm>
            <a:off x="6743700" y="40386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DC88DDE-1F8D-4CCE-84D4-DBE93C3126D9}"/>
              </a:ext>
            </a:extLst>
          </p:cNvPr>
          <p:cNvSpPr>
            <a:spLocks noGrp="1"/>
          </p:cNvSpPr>
          <p:nvPr/>
        </p:nvSpPr>
        <p:spPr>
          <a:xfrm>
            <a:off x="6743700" y="4152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6D8AC27-F9AE-44F2-89CD-63CD5721CC63}"/>
              </a:ext>
            </a:extLst>
          </p:cNvPr>
          <p:cNvSpPr>
            <a:spLocks noGrp="1"/>
          </p:cNvSpPr>
          <p:nvPr/>
        </p:nvSpPr>
        <p:spPr>
          <a:xfrm>
            <a:off x="7372350" y="40195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虛擬化開啟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EB8BBD1-1AEE-4017-A988-7A62921863B4}"/>
              </a:ext>
            </a:extLst>
          </p:cNvPr>
          <p:cNvSpPr>
            <a:spLocks noGrp="1"/>
          </p:cNvSpPr>
          <p:nvPr/>
        </p:nvSpPr>
        <p:spPr>
          <a:xfrm>
            <a:off x="7372350" y="441960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工作管理員 &gt; 效能 &gt; CPU &gt; 虛擬化：已啟用。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EC958AF-5857-4EE1-A391-D089CAB5881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7BBD437-61C2-4FB6-83C3-B23A4A80623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5FE4AB9-4222-412F-8D61-EFD7B66E80B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628104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 34">
            <a:extLst>
              <a:ext uri="{FF2B5EF4-FFF2-40B4-BE49-F238E27FC236}">
                <a16:creationId xmlns:a16="http://schemas.microsoft.com/office/drawing/2014/main" id="{D6969390-5E01-4FAC-8D63-D6EB1768DA7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 dirty="0">
                <a:solidFill>
                  <a:srgbClr val="0B5CAD"/>
                </a:solidFill>
                <a:latin typeface="Aptos"/>
                <a:ea typeface="Aptos"/>
                <a:cs typeface="Aptos"/>
              </a:rPr>
              <a:t>WINDOWS </a:t>
            </a:r>
            <a:r>
              <a:rPr lang="en-US" altLang="zh-TW" sz="900" b="1" dirty="0">
                <a:solidFill>
                  <a:srgbClr val="0B5CAD"/>
                </a:solidFill>
                <a:latin typeface="Aptos"/>
                <a:ea typeface="Aptos"/>
                <a:cs typeface="Aptos"/>
              </a:rPr>
              <a:t>CONFIG</a:t>
            </a:r>
            <a:endParaRPr sz="900" b="1" dirty="0">
              <a:solidFill>
                <a:srgbClr val="0B5CAD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00A1C21-82D1-4866-8646-BF1EE68491F6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lang="en-US" altLang="zh-TW"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WINDOWS</a:t>
            </a:r>
            <a:r>
              <a:rPr lang="zh-TW" altLang="en-US"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 設定</a:t>
            </a:r>
            <a:endParaRPr sz="2850" b="1" dirty="0">
              <a:solidFill>
                <a:srgbClr val="0B1220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E72B7B1-3D74-44B1-B831-55EB0D897BC3}"/>
              </a:ext>
            </a:extLst>
          </p:cNvPr>
          <p:cNvSpPr>
            <a:spLocks noGrp="1"/>
          </p:cNvSpPr>
          <p:nvPr/>
        </p:nvSpPr>
        <p:spPr>
          <a:xfrm>
            <a:off x="609600" y="4778691"/>
            <a:ext cx="7277100" cy="152685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596"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altLang="zh-TW" sz="3200" dirty="0" err="1">
                <a:solidFill>
                  <a:schemeClr val="tx2"/>
                </a:solidFill>
              </a:rPr>
              <a:t>wsl</a:t>
            </a:r>
            <a:r>
              <a:rPr lang="en-US" altLang="zh-TW" sz="3200" dirty="0">
                <a:solidFill>
                  <a:schemeClr val="tx2"/>
                </a:solidFill>
              </a:rPr>
              <a:t> –version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altLang="zh-TW" sz="3600" dirty="0" err="1">
                <a:solidFill>
                  <a:schemeClr val="tx2"/>
                </a:solidFill>
              </a:rPr>
              <a:t>wsl</a:t>
            </a:r>
            <a:r>
              <a:rPr lang="en-US" altLang="zh-TW" sz="3600" dirty="0">
                <a:solidFill>
                  <a:schemeClr val="tx2"/>
                </a:solidFill>
              </a:rPr>
              <a:t> --version</a:t>
            </a:r>
            <a:endParaRPr sz="3200" b="0" dirty="0">
              <a:solidFill>
                <a:schemeClr val="tx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559A061-7FC9-479C-A333-008BF53EB25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A2122047-0A6A-4531-B40A-D8A2480CB2F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5A2B7A6C-3638-4659-913A-AD155F05606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pic>
        <p:nvPicPr>
          <p:cNvPr id="37" name="圖片 36">
            <a:extLst>
              <a:ext uri="{FF2B5EF4-FFF2-40B4-BE49-F238E27FC236}">
                <a16:creationId xmlns:a16="http://schemas.microsoft.com/office/drawing/2014/main" id="{1073A11E-D683-9D4F-1B71-F42CAA70D9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605" y="1352550"/>
            <a:ext cx="3867690" cy="2267266"/>
          </a:xfrm>
          <a:prstGeom prst="rect">
            <a:avLst/>
          </a:prstGeom>
        </p:spPr>
      </p:pic>
      <p:pic>
        <p:nvPicPr>
          <p:cNvPr id="39" name="圖片 38">
            <a:extLst>
              <a:ext uri="{FF2B5EF4-FFF2-40B4-BE49-F238E27FC236}">
                <a16:creationId xmlns:a16="http://schemas.microsoft.com/office/drawing/2014/main" id="{7C2FCFCE-C6F8-65AA-D330-E8A6C1F50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7017" y="1300499"/>
            <a:ext cx="4883381" cy="2453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9735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C2756D5B-075D-4826-9E18-0B8A16E85DE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1769BD"/>
                </a:solidFill>
              </a:defRPr>
            </a:pPr>
            <a:r>
              <a:rPr sz="975" b="1">
                <a:solidFill>
                  <a:srgbClr val="1769BD"/>
                </a:solidFill>
              </a:rPr>
              <a:t>DOCKER DESKTOP DOWNLOAD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C0CC722-F5FA-4072-B290-76C810DD52F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先下載對的 Docker Desktop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E8F1E5A-C307-4242-AB23-BBA71637B034}"/>
              </a:ext>
            </a:extLst>
          </p:cNvPr>
          <p:cNvSpPr>
            <a:spLocks noGrp="1"/>
          </p:cNvSpPr>
          <p:nvPr/>
        </p:nvSpPr>
        <p:spPr>
          <a:xfrm>
            <a:off x="628650" y="1381125"/>
            <a:ext cx="495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這裡選的是安裝檔，不是 Docker Image 平台。</a:t>
            </a:r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8C23261B-5008-44CB-B840-F9CBEF7F7E35}"/>
              </a:ext>
            </a:extLst>
          </p:cNvPr>
          <p:cNvSpPr>
            <a:spLocks noGrp="1"/>
          </p:cNvSpPr>
          <p:nvPr/>
        </p:nvSpPr>
        <p:spPr>
          <a:xfrm>
            <a:off x="723900" y="2152650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A419CEE-1DAD-400F-B0CC-33DD1E4D6DB9}"/>
              </a:ext>
            </a:extLst>
          </p:cNvPr>
          <p:cNvSpPr>
            <a:spLocks noGrp="1"/>
          </p:cNvSpPr>
          <p:nvPr/>
        </p:nvSpPr>
        <p:spPr>
          <a:xfrm>
            <a:off x="723900" y="2181225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D6318F3-1DB0-4273-9A15-5DCF22B9A42B}"/>
              </a:ext>
            </a:extLst>
          </p:cNvPr>
          <p:cNvSpPr>
            <a:spLocks noGrp="1"/>
          </p:cNvSpPr>
          <p:nvPr/>
        </p:nvSpPr>
        <p:spPr>
          <a:xfrm>
            <a:off x="1200150" y="2143125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一般 Windows：選 AMD64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3384155-7329-487F-B668-552EE1A2C11F}"/>
              </a:ext>
            </a:extLst>
          </p:cNvPr>
          <p:cNvSpPr>
            <a:spLocks noGrp="1"/>
          </p:cNvSpPr>
          <p:nvPr/>
        </p:nvSpPr>
        <p:spPr>
          <a:xfrm>
            <a:off x="1200150" y="2524125"/>
            <a:ext cx="4286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Intel / AMD CPU 的 Windows 電腦，多數都是這個選項。</a:t>
            </a: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1421EDCE-CE59-4BA0-A65D-DDF846DA03E2}"/>
              </a:ext>
            </a:extLst>
          </p:cNvPr>
          <p:cNvSpPr>
            <a:spLocks noGrp="1"/>
          </p:cNvSpPr>
          <p:nvPr/>
        </p:nvSpPr>
        <p:spPr>
          <a:xfrm>
            <a:off x="723900" y="3343275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7F1CEA3-EF10-4A9F-9B32-30926EBB6DEF}"/>
              </a:ext>
            </a:extLst>
          </p:cNvPr>
          <p:cNvSpPr>
            <a:spLocks noGrp="1"/>
          </p:cNvSpPr>
          <p:nvPr/>
        </p:nvSpPr>
        <p:spPr>
          <a:xfrm>
            <a:off x="723900" y="3371850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66C98F9-9C7D-48E3-91F8-351FDE10EDC7}"/>
              </a:ext>
            </a:extLst>
          </p:cNvPr>
          <p:cNvSpPr>
            <a:spLocks noGrp="1"/>
          </p:cNvSpPr>
          <p:nvPr/>
        </p:nvSpPr>
        <p:spPr>
          <a:xfrm>
            <a:off x="1200150" y="3333750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Windows on ARM：選 ARM64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08CA2F8-686D-422F-B1DD-21844F1EC7C3}"/>
              </a:ext>
            </a:extLst>
          </p:cNvPr>
          <p:cNvSpPr>
            <a:spLocks noGrp="1"/>
          </p:cNvSpPr>
          <p:nvPr/>
        </p:nvSpPr>
        <p:spPr>
          <a:xfrm>
            <a:off x="1200150" y="3714750"/>
            <a:ext cx="4286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例如部分 Snapdragon / ARM 裝置，才需要選這個。</a:t>
            </a:r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6AE13876-8A1B-4902-AD60-DF844451DFBD}"/>
              </a:ext>
            </a:extLst>
          </p:cNvPr>
          <p:cNvSpPr>
            <a:spLocks noGrp="1"/>
          </p:cNvSpPr>
          <p:nvPr/>
        </p:nvSpPr>
        <p:spPr>
          <a:xfrm>
            <a:off x="723900" y="4533900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FBD2B24-29C6-4E03-ABA6-BBD98B3084F1}"/>
              </a:ext>
            </a:extLst>
          </p:cNvPr>
          <p:cNvSpPr>
            <a:spLocks noGrp="1"/>
          </p:cNvSpPr>
          <p:nvPr/>
        </p:nvSpPr>
        <p:spPr>
          <a:xfrm>
            <a:off x="723900" y="4562475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672DA91-096E-41AE-B44B-7EBC182F772A}"/>
              </a:ext>
            </a:extLst>
          </p:cNvPr>
          <p:cNvSpPr>
            <a:spLocks noGrp="1"/>
          </p:cNvSpPr>
          <p:nvPr/>
        </p:nvSpPr>
        <p:spPr>
          <a:xfrm>
            <a:off x="1200150" y="4524375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不確定就查系統類型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B4C8473-96F5-4AC6-9C8B-DB8317817FE3}"/>
              </a:ext>
            </a:extLst>
          </p:cNvPr>
          <p:cNvSpPr>
            <a:spLocks noGrp="1"/>
          </p:cNvSpPr>
          <p:nvPr/>
        </p:nvSpPr>
        <p:spPr>
          <a:xfrm>
            <a:off x="1200150" y="4905375"/>
            <a:ext cx="4286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設定 &gt; 系統 &gt; 關於 &gt; 系統類型；先把安裝檔選對即可。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E2F8A280-BA0F-4875-8FF9-156335E3110F}"/>
              </a:ext>
            </a:extLst>
          </p:cNvPr>
          <p:cNvSpPr>
            <a:spLocks noGrp="1"/>
          </p:cNvSpPr>
          <p:nvPr/>
        </p:nvSpPr>
        <p:spPr>
          <a:xfrm>
            <a:off x="5886450" y="1828800"/>
            <a:ext cx="5715000" cy="390525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D8E1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39" name="圖片 38"/>
          <p:cNvPicPr>
            <a:picLocks noChangeAspect="1"/>
          </p:cNvPicPr>
          <p:nvPr/>
        </p:nvPicPr>
        <p:blipFill>
          <a:blip r:embed="rId2"/>
          <a:srcRect t="16" b="16"/>
          <a:stretch>
            <a:fillRect/>
          </a:stretch>
        </p:blipFill>
        <p:spPr>
          <a:xfrm>
            <a:off x="6019800" y="1990725"/>
            <a:ext cx="5448300" cy="3524250"/>
          </a:xfrm>
          <a:prstGeom prst="rect">
            <a:avLst/>
          </a:prstGeom>
        </p:spPr>
      </p:pic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9E41197F-95DF-47CC-8A87-4C9A9C91D997}"/>
              </a:ext>
            </a:extLst>
          </p:cNvPr>
          <p:cNvSpPr>
            <a:spLocks noGrp="1"/>
          </p:cNvSpPr>
          <p:nvPr/>
        </p:nvSpPr>
        <p:spPr>
          <a:xfrm>
            <a:off x="6400800" y="4219575"/>
            <a:ext cx="2076450" cy="323850"/>
          </a:xfrm>
          <a:prstGeom prst="roundRect">
            <a:avLst>
              <a:gd name="adj" fmla="val 11765"/>
            </a:avLst>
          </a:prstGeom>
          <a:noFill/>
          <a:ln w="28575">
            <a:solidFill>
              <a:srgbClr val="F59E0B"/>
            </a:solidFill>
            <a:prstDash val="solid"/>
          </a:ln>
        </p:spPr>
      </p:sp>
      <p:sp>
        <p:nvSpPr>
          <p:cNvPr id="19" name="直線接點 18">
            <a:extLst>
              <a:ext uri="{FF2B5EF4-FFF2-40B4-BE49-F238E27FC236}">
                <a16:creationId xmlns:a16="http://schemas.microsoft.com/office/drawing/2014/main" id="{5C75E58A-3870-4BAB-A843-3772204CA559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103632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9EA129E-62CC-4E0F-858E-5C88D240752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Docker 基礎教學 | 第 1 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EA1BB66-668F-4853-855A-6A165374456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1319020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2650C515-B4B7-44FC-B4FA-95CCF263532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1769BD"/>
                </a:solidFill>
              </a:defRPr>
            </a:pPr>
            <a:r>
              <a:rPr sz="975" b="1">
                <a:solidFill>
                  <a:srgbClr val="1769BD"/>
                </a:solidFill>
              </a:rPr>
              <a:t>DOCKER DESKTOP SETUP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0071B16-A298-449E-9D88-E5CD82C466F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9144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Docker Desktop 安裝設定這樣選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7F5479D-A7CD-4967-9C27-DA2216A70738}"/>
              </a:ext>
            </a:extLst>
          </p:cNvPr>
          <p:cNvSpPr>
            <a:spLocks noGrp="1"/>
          </p:cNvSpPr>
          <p:nvPr/>
        </p:nvSpPr>
        <p:spPr>
          <a:xfrm>
            <a:off x="628650" y="1381125"/>
            <a:ext cx="4953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看到這個畫面時，照預設方向做就好；不用切到 Windows Containers。</a:t>
            </a:r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1016DAC2-B264-4EE7-945A-F1144D150F0F}"/>
              </a:ext>
            </a:extLst>
          </p:cNvPr>
          <p:cNvSpPr>
            <a:spLocks noGrp="1"/>
          </p:cNvSpPr>
          <p:nvPr/>
        </p:nvSpPr>
        <p:spPr>
          <a:xfrm>
            <a:off x="723900" y="2162175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33E2F89-D669-4215-897D-F00F7451EBF8}"/>
              </a:ext>
            </a:extLst>
          </p:cNvPr>
          <p:cNvSpPr>
            <a:spLocks noGrp="1"/>
          </p:cNvSpPr>
          <p:nvPr/>
        </p:nvSpPr>
        <p:spPr>
          <a:xfrm>
            <a:off x="723900" y="2190750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DBB8227-E068-469E-972B-1C52284571FA}"/>
              </a:ext>
            </a:extLst>
          </p:cNvPr>
          <p:cNvSpPr>
            <a:spLocks noGrp="1"/>
          </p:cNvSpPr>
          <p:nvPr/>
        </p:nvSpPr>
        <p:spPr>
          <a:xfrm>
            <a:off x="1200150" y="2143125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勾選 Use WSL 2 instead of Hyper-V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3BE8C58-BF70-4158-82B6-B1C5241D20F0}"/>
              </a:ext>
            </a:extLst>
          </p:cNvPr>
          <p:cNvSpPr>
            <a:spLocks noGrp="1"/>
          </p:cNvSpPr>
          <p:nvPr/>
        </p:nvSpPr>
        <p:spPr>
          <a:xfrm>
            <a:off x="1200150" y="2524125"/>
            <a:ext cx="41719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這堂課使用 WSL 2 後端，和後面 Linux container 操作一致。</a:t>
            </a: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DE35AC74-0014-4275-B4EA-DBEF6F833C25}"/>
              </a:ext>
            </a:extLst>
          </p:cNvPr>
          <p:cNvSpPr>
            <a:spLocks noGrp="1"/>
          </p:cNvSpPr>
          <p:nvPr/>
        </p:nvSpPr>
        <p:spPr>
          <a:xfrm>
            <a:off x="723900" y="3352800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209B443-4B2C-46FD-B192-E13BD4377408}"/>
              </a:ext>
            </a:extLst>
          </p:cNvPr>
          <p:cNvSpPr>
            <a:spLocks noGrp="1"/>
          </p:cNvSpPr>
          <p:nvPr/>
        </p:nvSpPr>
        <p:spPr>
          <a:xfrm>
            <a:off x="723900" y="3381375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405B977-30BF-4FF6-B4E7-CF2170530D01}"/>
              </a:ext>
            </a:extLst>
          </p:cNvPr>
          <p:cNvSpPr>
            <a:spLocks noGrp="1"/>
          </p:cNvSpPr>
          <p:nvPr/>
        </p:nvSpPr>
        <p:spPr>
          <a:xfrm>
            <a:off x="1200150" y="333375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不要勾 Allow Windows Containers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0741E47-1763-425A-B36F-E1F44BC6E7CB}"/>
              </a:ext>
            </a:extLst>
          </p:cNvPr>
          <p:cNvSpPr>
            <a:spLocks noGrp="1"/>
          </p:cNvSpPr>
          <p:nvPr/>
        </p:nvSpPr>
        <p:spPr>
          <a:xfrm>
            <a:off x="1200150" y="3714750"/>
            <a:ext cx="41719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新手先維持 Linux containers；Windows containers 是不同路線。</a:t>
            </a:r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A738CE96-5D41-4F23-BC90-A9AB13B61EE0}"/>
              </a:ext>
            </a:extLst>
          </p:cNvPr>
          <p:cNvSpPr>
            <a:spLocks noGrp="1"/>
          </p:cNvSpPr>
          <p:nvPr/>
        </p:nvSpPr>
        <p:spPr>
          <a:xfrm>
            <a:off x="723900" y="4543425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C6FD728-C085-4936-B44A-5FD312ECD96F}"/>
              </a:ext>
            </a:extLst>
          </p:cNvPr>
          <p:cNvSpPr>
            <a:spLocks noGrp="1"/>
          </p:cNvSpPr>
          <p:nvPr/>
        </p:nvSpPr>
        <p:spPr>
          <a:xfrm>
            <a:off x="723900" y="4572000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FE7745F-9D38-4B89-A672-E234F551C448}"/>
              </a:ext>
            </a:extLst>
          </p:cNvPr>
          <p:cNvSpPr>
            <a:spLocks noGrp="1"/>
          </p:cNvSpPr>
          <p:nvPr/>
        </p:nvSpPr>
        <p:spPr>
          <a:xfrm>
            <a:off x="1200150" y="4524375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Add shortcut 可保留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9F637EB-CF1A-442E-B350-AAFB4FCB0187}"/>
              </a:ext>
            </a:extLst>
          </p:cNvPr>
          <p:cNvSpPr>
            <a:spLocks noGrp="1"/>
          </p:cNvSpPr>
          <p:nvPr/>
        </p:nvSpPr>
        <p:spPr>
          <a:xfrm>
            <a:off x="1200150" y="4905375"/>
            <a:ext cx="41719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All-users installation 需要管理員密碼；照畫面或預設安裝即可。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E03A3163-0339-4F84-BD9A-09516E92501C}"/>
              </a:ext>
            </a:extLst>
          </p:cNvPr>
          <p:cNvSpPr>
            <a:spLocks noGrp="1"/>
          </p:cNvSpPr>
          <p:nvPr/>
        </p:nvSpPr>
        <p:spPr>
          <a:xfrm>
            <a:off x="5981700" y="1619250"/>
            <a:ext cx="5619750" cy="4152900"/>
          </a:xfrm>
          <a:prstGeom prst="roundRect">
            <a:avLst>
              <a:gd name="adj" fmla="val 1835"/>
            </a:avLst>
          </a:prstGeom>
          <a:solidFill>
            <a:srgbClr val="FFFFFF"/>
          </a:solidFill>
          <a:ln w="9525">
            <a:solidFill>
              <a:srgbClr val="D8E1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38" name="圖片 37"/>
          <p:cNvPicPr>
            <a:picLocks noChangeAspect="1"/>
          </p:cNvPicPr>
          <p:nvPr/>
        </p:nvPicPr>
        <p:blipFill>
          <a:blip r:embed="rId2"/>
          <a:srcRect l="2500" t="3000" r="2500" b="3500"/>
          <a:stretch/>
        </p:blipFill>
        <p:spPr>
          <a:xfrm>
            <a:off x="6191537" y="1828800"/>
            <a:ext cx="5200076" cy="3819525"/>
          </a:xfrm>
          <a:prstGeom prst="rect">
            <a:avLst/>
          </a:prstGeom>
        </p:spPr>
      </p:pic>
      <p:sp>
        <p:nvSpPr>
          <p:cNvPr id="18" name="直線接點 17">
            <a:extLst>
              <a:ext uri="{FF2B5EF4-FFF2-40B4-BE49-F238E27FC236}">
                <a16:creationId xmlns:a16="http://schemas.microsoft.com/office/drawing/2014/main" id="{4B2B4557-ABA1-418A-932E-0B72FAF3ADE0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103632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C9B68DE-F4E8-46B9-A7E8-00D1004DC6C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Docker 基礎教學 | 第 1 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529EA0A-B5F8-4687-AE81-63B177C6DFC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469475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D1EB9C72-86EC-4885-B1B5-7C8BBF3DEAB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DESKTOP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EEE227A-84B6-4F1D-9E48-88A659926661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Desktop 不只是 GUI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71F207B9-FC5A-4920-871F-0796D5FE3BA3}"/>
              </a:ext>
            </a:extLst>
          </p:cNvPr>
          <p:cNvSpPr>
            <a:spLocks noGrp="1"/>
          </p:cNvSpPr>
          <p:nvPr/>
        </p:nvSpPr>
        <p:spPr>
          <a:xfrm>
            <a:off x="990600" y="1695450"/>
            <a:ext cx="43434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B306C14-B7A2-47FB-88FE-D70E962F042D}"/>
              </a:ext>
            </a:extLst>
          </p:cNvPr>
          <p:cNvSpPr>
            <a:spLocks noGrp="1"/>
          </p:cNvSpPr>
          <p:nvPr/>
        </p:nvSpPr>
        <p:spPr>
          <a:xfrm>
            <a:off x="1219200" y="1885950"/>
            <a:ext cx="3886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Engine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8EC7D58-3F50-4150-A27F-3BBF84C3F0A8}"/>
              </a:ext>
            </a:extLst>
          </p:cNvPr>
          <p:cNvSpPr>
            <a:spLocks noGrp="1"/>
          </p:cNvSpPr>
          <p:nvPr/>
        </p:nvSpPr>
        <p:spPr>
          <a:xfrm>
            <a:off x="1219200" y="2286000"/>
            <a:ext cx="3886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真正負責建立與執行容器的核心引擎。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3661E796-92E2-4621-A5A7-4A0544249097}"/>
              </a:ext>
            </a:extLst>
          </p:cNvPr>
          <p:cNvSpPr>
            <a:spLocks noGrp="1"/>
          </p:cNvSpPr>
          <p:nvPr/>
        </p:nvSpPr>
        <p:spPr>
          <a:xfrm>
            <a:off x="5943600" y="1695450"/>
            <a:ext cx="4343400" cy="1257300"/>
          </a:xfrm>
          <a:prstGeom prst="roundRect">
            <a:avLst>
              <a:gd name="adj" fmla="val 9091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2E87C13-CB79-40A2-90EA-3D92987EDC5B}"/>
              </a:ext>
            </a:extLst>
          </p:cNvPr>
          <p:cNvSpPr>
            <a:spLocks noGrp="1"/>
          </p:cNvSpPr>
          <p:nvPr/>
        </p:nvSpPr>
        <p:spPr>
          <a:xfrm>
            <a:off x="6172200" y="1885950"/>
            <a:ext cx="3886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CLI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009CBE9-6A8B-4AD9-97E2-EC44E187B1DB}"/>
              </a:ext>
            </a:extLst>
          </p:cNvPr>
          <p:cNvSpPr>
            <a:spLocks noGrp="1"/>
          </p:cNvSpPr>
          <p:nvPr/>
        </p:nvSpPr>
        <p:spPr>
          <a:xfrm>
            <a:off x="6172200" y="2286000"/>
            <a:ext cx="3886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命令列工具；後面實作主要用它。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F41A253D-DF37-4C8B-95DA-FF14B79B48CB}"/>
              </a:ext>
            </a:extLst>
          </p:cNvPr>
          <p:cNvSpPr>
            <a:spLocks noGrp="1"/>
          </p:cNvSpPr>
          <p:nvPr/>
        </p:nvSpPr>
        <p:spPr>
          <a:xfrm>
            <a:off x="990600" y="3448050"/>
            <a:ext cx="43434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3E800DF-1471-4D77-B158-D2E927B10D0F}"/>
              </a:ext>
            </a:extLst>
          </p:cNvPr>
          <p:cNvSpPr>
            <a:spLocks noGrp="1"/>
          </p:cNvSpPr>
          <p:nvPr/>
        </p:nvSpPr>
        <p:spPr>
          <a:xfrm>
            <a:off x="1219200" y="3638550"/>
            <a:ext cx="3886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A628DF0-52ED-405D-86D3-E00940AB7CBB}"/>
              </a:ext>
            </a:extLst>
          </p:cNvPr>
          <p:cNvSpPr>
            <a:spLocks noGrp="1"/>
          </p:cNvSpPr>
          <p:nvPr/>
        </p:nvSpPr>
        <p:spPr>
          <a:xfrm>
            <a:off x="1219200" y="4038600"/>
            <a:ext cx="3886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多容器管理工具，後面課程會用。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9BBA8A30-F8BC-4B6F-BEE0-A41C68FB5980}"/>
              </a:ext>
            </a:extLst>
          </p:cNvPr>
          <p:cNvSpPr>
            <a:spLocks noGrp="1"/>
          </p:cNvSpPr>
          <p:nvPr/>
        </p:nvSpPr>
        <p:spPr>
          <a:xfrm>
            <a:off x="5943600" y="3448050"/>
            <a:ext cx="43434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E1A91C2-3200-496A-B03D-1DBC0F138534}"/>
              </a:ext>
            </a:extLst>
          </p:cNvPr>
          <p:cNvSpPr>
            <a:spLocks noGrp="1"/>
          </p:cNvSpPr>
          <p:nvPr/>
        </p:nvSpPr>
        <p:spPr>
          <a:xfrm>
            <a:off x="6172200" y="3638550"/>
            <a:ext cx="3886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GUI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75114DF-CEC1-4747-AB6E-213B14E73AEF}"/>
              </a:ext>
            </a:extLst>
          </p:cNvPr>
          <p:cNvSpPr>
            <a:spLocks noGrp="1"/>
          </p:cNvSpPr>
          <p:nvPr/>
        </p:nvSpPr>
        <p:spPr>
          <a:xfrm>
            <a:off x="6172200" y="4038600"/>
            <a:ext cx="3886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觀察 Containers、Images、Volumes 與資源設定。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599DAF96-B7FA-4B7B-862D-BD4D2FCCEF17}"/>
              </a:ext>
            </a:extLst>
          </p:cNvPr>
          <p:cNvSpPr>
            <a:spLocks noGrp="1"/>
          </p:cNvSpPr>
          <p:nvPr/>
        </p:nvSpPr>
        <p:spPr>
          <a:xfrm>
            <a:off x="1600200" y="5219700"/>
            <a:ext cx="8991600" cy="533400"/>
          </a:xfrm>
          <a:prstGeom prst="roundRect">
            <a:avLst>
              <a:gd name="adj" fmla="val 17857"/>
            </a:avLst>
          </a:prstGeom>
          <a:solidFill>
            <a:srgbClr val="0B1220"/>
          </a:solidFill>
          <a:ln w="0">
            <a:solidFill>
              <a:srgbClr val="0B122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38F41A6-9B6D-4B6E-B03F-789099144144}"/>
              </a:ext>
            </a:extLst>
          </p:cNvPr>
          <p:cNvSpPr>
            <a:spLocks noGrp="1"/>
          </p:cNvSpPr>
          <p:nvPr/>
        </p:nvSpPr>
        <p:spPr>
          <a:xfrm>
            <a:off x="1885950" y="5381625"/>
            <a:ext cx="842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ctr">
              <a:lnSpc>
                <a:spcPct val="105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建議：用 GUI 學概念，用 CLI 做操作。伺服器與 CI/CD 幾乎都靠指令。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C793A1A-76D7-4694-853A-FCE5A4B797A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50F584A-4E62-44DB-96BD-C644637F9F3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BCCCD77-567E-42A6-BDB3-0A4E64F5AAC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4414545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AC14FA96-C56B-42E5-8421-71C1B4D2273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VERIFICATION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BA3A269-969A-4AF5-AA30-5204763BA72F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安裝成功的最小驗證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10CCB3DF-2AA2-45AD-818F-AD87EF5F68FE}"/>
              </a:ext>
            </a:extLst>
          </p:cNvPr>
          <p:cNvSpPr>
            <a:spLocks noGrp="1"/>
          </p:cNvSpPr>
          <p:nvPr/>
        </p:nvSpPr>
        <p:spPr>
          <a:xfrm>
            <a:off x="819150" y="1714500"/>
            <a:ext cx="4857750" cy="1714500"/>
          </a:xfrm>
          <a:prstGeom prst="roundRect">
            <a:avLst>
              <a:gd name="adj" fmla="val 555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C0159F1F-CD8A-4BB5-8C0D-40A924998B65}"/>
              </a:ext>
            </a:extLst>
          </p:cNvPr>
          <p:cNvSpPr>
            <a:spLocks noGrp="1"/>
          </p:cNvSpPr>
          <p:nvPr/>
        </p:nvSpPr>
        <p:spPr>
          <a:xfrm>
            <a:off x="990600" y="1876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15A98560-50D9-4724-A3C5-0F2915F82DD7}"/>
              </a:ext>
            </a:extLst>
          </p:cNvPr>
          <p:cNvSpPr>
            <a:spLocks noGrp="1"/>
          </p:cNvSpPr>
          <p:nvPr/>
        </p:nvSpPr>
        <p:spPr>
          <a:xfrm>
            <a:off x="1162050" y="1876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E5D53BEA-3D52-47AD-A537-43AFAE30703B}"/>
              </a:ext>
            </a:extLst>
          </p:cNvPr>
          <p:cNvSpPr>
            <a:spLocks noGrp="1"/>
          </p:cNvSpPr>
          <p:nvPr/>
        </p:nvSpPr>
        <p:spPr>
          <a:xfrm>
            <a:off x="1333500" y="1876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844242D-1E70-412E-9CFB-B7646B2E4370}"/>
              </a:ext>
            </a:extLst>
          </p:cNvPr>
          <p:cNvSpPr>
            <a:spLocks noGrp="1"/>
          </p:cNvSpPr>
          <p:nvPr/>
        </p:nvSpPr>
        <p:spPr>
          <a:xfrm>
            <a:off x="1028700" y="2133600"/>
            <a:ext cx="443865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--version</a:t>
            </a:r>
          </a:p>
          <a:p>
            <a:endParaRPr sz="180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hello-world</a:t>
            </a: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CE67CAFD-D0F2-4128-B75B-24AEF5C04BAE}"/>
              </a:ext>
            </a:extLst>
          </p:cNvPr>
          <p:cNvSpPr>
            <a:spLocks noGrp="1"/>
          </p:cNvSpPr>
          <p:nvPr/>
        </p:nvSpPr>
        <p:spPr>
          <a:xfrm>
            <a:off x="6477000" y="150495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862A544-3C85-47DA-8C40-2358DA353D40}"/>
              </a:ext>
            </a:extLst>
          </p:cNvPr>
          <p:cNvSpPr>
            <a:spLocks noGrp="1"/>
          </p:cNvSpPr>
          <p:nvPr/>
        </p:nvSpPr>
        <p:spPr>
          <a:xfrm>
            <a:off x="6477000" y="160972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B91210-65F4-4CED-A2B3-4627DDACEE84}"/>
              </a:ext>
            </a:extLst>
          </p:cNvPr>
          <p:cNvSpPr>
            <a:spLocks noGrp="1"/>
          </p:cNvSpPr>
          <p:nvPr/>
        </p:nvSpPr>
        <p:spPr>
          <a:xfrm>
            <a:off x="7086600" y="15430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本機找不到 hello-world Image</a:t>
            </a:r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8F4A3B07-299F-4A60-BE6D-3C30ACD437D3}"/>
              </a:ext>
            </a:extLst>
          </p:cNvPr>
          <p:cNvSpPr>
            <a:spLocks noGrp="1"/>
          </p:cNvSpPr>
          <p:nvPr/>
        </p:nvSpPr>
        <p:spPr>
          <a:xfrm>
            <a:off x="6477000" y="22860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98FAABF-2379-4628-9275-79CB4D37EBD9}"/>
              </a:ext>
            </a:extLst>
          </p:cNvPr>
          <p:cNvSpPr>
            <a:spLocks noGrp="1"/>
          </p:cNvSpPr>
          <p:nvPr/>
        </p:nvSpPr>
        <p:spPr>
          <a:xfrm>
            <a:off x="6477000" y="239077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53CE441-0215-42D6-8DC9-B949845E9AC4}"/>
              </a:ext>
            </a:extLst>
          </p:cNvPr>
          <p:cNvSpPr>
            <a:spLocks noGrp="1"/>
          </p:cNvSpPr>
          <p:nvPr/>
        </p:nvSpPr>
        <p:spPr>
          <a:xfrm>
            <a:off x="7086600" y="232410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自動從 Docker Hub 下載</a:t>
            </a:r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534269AB-CCF2-42DA-8553-77EEF4B224CA}"/>
              </a:ext>
            </a:extLst>
          </p:cNvPr>
          <p:cNvSpPr>
            <a:spLocks noGrp="1"/>
          </p:cNvSpPr>
          <p:nvPr/>
        </p:nvSpPr>
        <p:spPr>
          <a:xfrm>
            <a:off x="6477000" y="306705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E15F445-9F76-4A29-B286-424CD738DF28}"/>
              </a:ext>
            </a:extLst>
          </p:cNvPr>
          <p:cNvSpPr>
            <a:spLocks noGrp="1"/>
          </p:cNvSpPr>
          <p:nvPr/>
        </p:nvSpPr>
        <p:spPr>
          <a:xfrm>
            <a:off x="6477000" y="317182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5E87D2E-FAFE-458F-AF92-2FF81EB7A879}"/>
              </a:ext>
            </a:extLst>
          </p:cNvPr>
          <p:cNvSpPr>
            <a:spLocks noGrp="1"/>
          </p:cNvSpPr>
          <p:nvPr/>
        </p:nvSpPr>
        <p:spPr>
          <a:xfrm>
            <a:off x="7086600" y="31051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用 Image 建立 Container</a:t>
            </a:r>
          </a:p>
        </p:txBody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E0975F8C-4DCD-4BD9-B655-1AACCE642F28}"/>
              </a:ext>
            </a:extLst>
          </p:cNvPr>
          <p:cNvSpPr>
            <a:spLocks noGrp="1"/>
          </p:cNvSpPr>
          <p:nvPr/>
        </p:nvSpPr>
        <p:spPr>
          <a:xfrm>
            <a:off x="6477000" y="38481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08D61D0-7AAB-4309-9CF3-3B2E3CBC7027}"/>
              </a:ext>
            </a:extLst>
          </p:cNvPr>
          <p:cNvSpPr>
            <a:spLocks noGrp="1"/>
          </p:cNvSpPr>
          <p:nvPr/>
        </p:nvSpPr>
        <p:spPr>
          <a:xfrm>
            <a:off x="6477000" y="395287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C9D1987-C486-4263-8109-0C62D398E568}"/>
              </a:ext>
            </a:extLst>
          </p:cNvPr>
          <p:cNvSpPr>
            <a:spLocks noGrp="1"/>
          </p:cNvSpPr>
          <p:nvPr/>
        </p:nvSpPr>
        <p:spPr>
          <a:xfrm>
            <a:off x="7086600" y="388620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Container 印出歡迎訊息</a:t>
            </a:r>
          </a:p>
        </p:txBody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CB948148-43C8-443B-A44C-4781DB2C060E}"/>
              </a:ext>
            </a:extLst>
          </p:cNvPr>
          <p:cNvSpPr>
            <a:spLocks noGrp="1"/>
          </p:cNvSpPr>
          <p:nvPr/>
        </p:nvSpPr>
        <p:spPr>
          <a:xfrm>
            <a:off x="6477000" y="462915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AE532C6-C958-4E1D-A4A5-6488FD636BBB}"/>
              </a:ext>
            </a:extLst>
          </p:cNvPr>
          <p:cNvSpPr>
            <a:spLocks noGrp="1"/>
          </p:cNvSpPr>
          <p:nvPr/>
        </p:nvSpPr>
        <p:spPr>
          <a:xfrm>
            <a:off x="6477000" y="473392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AE8C740-81F1-4495-B2EC-4782467BBC84}"/>
              </a:ext>
            </a:extLst>
          </p:cNvPr>
          <p:cNvSpPr>
            <a:spLocks noGrp="1"/>
          </p:cNvSpPr>
          <p:nvPr/>
        </p:nvSpPr>
        <p:spPr>
          <a:xfrm>
            <a:off x="7086600" y="46672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程式結束，Container 自動停止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3C6CFFA-33D9-4C93-8A7C-0A1D0563F17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55BB718-D453-4366-8A60-FF4D9AADBBE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0C3B678-71D0-4244-8FA7-113C7F69316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9246719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A121CBB5-812B-4316-8B29-64A4AA5621E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DOCKER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9A4EA0B-3CA4-442F-8DF4-2187DC98B152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解決的是「環境不一致」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E810321-BFB7-4A7D-8AC1-B6CB3368AFF0}"/>
              </a:ext>
            </a:extLst>
          </p:cNvPr>
          <p:cNvSpPr>
            <a:spLocks noGrp="1"/>
          </p:cNvSpPr>
          <p:nvPr/>
        </p:nvSpPr>
        <p:spPr>
          <a:xfrm>
            <a:off x="800100" y="1714500"/>
            <a:ext cx="4095750" cy="30480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5850176-3334-4F6B-98C0-411151409524}"/>
              </a:ext>
            </a:extLst>
          </p:cNvPr>
          <p:cNvSpPr>
            <a:spLocks noGrp="1"/>
          </p:cNvSpPr>
          <p:nvPr/>
        </p:nvSpPr>
        <p:spPr>
          <a:xfrm>
            <a:off x="1104900" y="2038350"/>
            <a:ext cx="209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傳統部署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8EC0050-9878-420A-B938-9FA86D4628AF}"/>
              </a:ext>
            </a:extLst>
          </p:cNvPr>
          <p:cNvSpPr>
            <a:spLocks noGrp="1"/>
          </p:cNvSpPr>
          <p:nvPr/>
        </p:nvSpPr>
        <p:spPr>
          <a:xfrm>
            <a:off x="1162050" y="26289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Python 版本不同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46AE636-4F00-42A7-BC3C-E7052BA4E0CE}"/>
              </a:ext>
            </a:extLst>
          </p:cNvPr>
          <p:cNvSpPr>
            <a:spLocks noGrp="1"/>
          </p:cNvSpPr>
          <p:nvPr/>
        </p:nvSpPr>
        <p:spPr>
          <a:xfrm>
            <a:off x="1162050" y="30861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系統套件缺少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C3BBA90-A24C-4AD0-9F3B-DC60E78E614B}"/>
              </a:ext>
            </a:extLst>
          </p:cNvPr>
          <p:cNvSpPr>
            <a:spLocks noGrp="1"/>
          </p:cNvSpPr>
          <p:nvPr/>
        </p:nvSpPr>
        <p:spPr>
          <a:xfrm>
            <a:off x="1162050" y="35433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設定檔漏改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C5C5983-37E9-4E90-853F-8316408E9591}"/>
              </a:ext>
            </a:extLst>
          </p:cNvPr>
          <p:cNvSpPr>
            <a:spLocks noGrp="1"/>
          </p:cNvSpPr>
          <p:nvPr/>
        </p:nvSpPr>
        <p:spPr>
          <a:xfrm>
            <a:off x="1162050" y="40005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本機能跑，上線失敗</a:t>
            </a:r>
          </a:p>
        </p:txBody>
      </p:sp>
      <p:sp>
        <p:nvSpPr>
          <p:cNvPr id="9" name="箭號: 向右 8">
            <a:extLst>
              <a:ext uri="{FF2B5EF4-FFF2-40B4-BE49-F238E27FC236}">
                <a16:creationId xmlns:a16="http://schemas.microsoft.com/office/drawing/2014/main" id="{5BBF1A48-DD28-4117-B2FD-14C6F1ABD8B3}"/>
              </a:ext>
            </a:extLst>
          </p:cNvPr>
          <p:cNvSpPr>
            <a:spLocks noGrp="1"/>
          </p:cNvSpPr>
          <p:nvPr/>
        </p:nvSpPr>
        <p:spPr>
          <a:xfrm>
            <a:off x="5334000" y="2990850"/>
            <a:ext cx="1066800" cy="4953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8AF1CFFC-D33D-444D-9597-76AC619B8838}"/>
              </a:ext>
            </a:extLst>
          </p:cNvPr>
          <p:cNvSpPr>
            <a:spLocks noGrp="1"/>
          </p:cNvSpPr>
          <p:nvPr/>
        </p:nvSpPr>
        <p:spPr>
          <a:xfrm>
            <a:off x="6858000" y="1714500"/>
            <a:ext cx="4095750" cy="3048000"/>
          </a:xfrm>
          <a:prstGeom prst="roundRect">
            <a:avLst>
              <a:gd name="adj" fmla="val 3750"/>
            </a:avLst>
          </a:prstGeom>
          <a:solidFill>
            <a:srgbClr val="F8FB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1C3EEA0-2A45-4342-82E5-716D7E3C5AE3}"/>
              </a:ext>
            </a:extLst>
          </p:cNvPr>
          <p:cNvSpPr>
            <a:spLocks noGrp="1"/>
          </p:cNvSpPr>
          <p:nvPr/>
        </p:nvSpPr>
        <p:spPr>
          <a:xfrm>
            <a:off x="7162800" y="2038350"/>
            <a:ext cx="2381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的做法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B8492D7-D359-48CF-95D7-0C49875B45FC}"/>
              </a:ext>
            </a:extLst>
          </p:cNvPr>
          <p:cNvSpPr>
            <a:spLocks noGrp="1"/>
          </p:cNvSpPr>
          <p:nvPr/>
        </p:nvSpPr>
        <p:spPr>
          <a:xfrm>
            <a:off x="7162800" y="2724150"/>
            <a:ext cx="32385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把應用程式、套件、設定與執行環境一起打包成 Image，再用同一份 Image 建立 Container。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262F684C-7B50-446C-A740-571EA91AFEDF}"/>
              </a:ext>
            </a:extLst>
          </p:cNvPr>
          <p:cNvSpPr>
            <a:spLocks noGrp="1"/>
          </p:cNvSpPr>
          <p:nvPr/>
        </p:nvSpPr>
        <p:spPr>
          <a:xfrm>
            <a:off x="7162800" y="4191000"/>
            <a:ext cx="2628900" cy="30480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E668170-6618-4470-AD21-5AB148B8B83E}"/>
              </a:ext>
            </a:extLst>
          </p:cNvPr>
          <p:cNvSpPr>
            <a:spLocks noGrp="1"/>
          </p:cNvSpPr>
          <p:nvPr/>
        </p:nvSpPr>
        <p:spPr>
          <a:xfrm>
            <a:off x="7162800" y="4238625"/>
            <a:ext cx="2628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同一包，到哪裡都用同一種方式跑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4CBC7B3-DF1E-4088-A2C0-3A4F4AD5D45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963CFD8-9C8B-4D74-8420-0C3FC21B543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4F2FB0C-4458-4FBF-8E09-65CB500BC56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9106313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矩形 65">
            <a:extLst>
              <a:ext uri="{FF2B5EF4-FFF2-40B4-BE49-F238E27FC236}">
                <a16:creationId xmlns:a16="http://schemas.microsoft.com/office/drawing/2014/main" id="{B73B5832-6BDD-4615-ACF0-9652360B044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ARCHITECTURE COMPARISON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955BF0E-BB3F-4B58-B7A7-093ABE40EA75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三種部署模型差在哪裡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F7AE030-3DD3-4335-9B41-CF8B7D3BB32F}"/>
              </a:ext>
            </a:extLst>
          </p:cNvPr>
          <p:cNvSpPr>
            <a:spLocks noGrp="1"/>
          </p:cNvSpPr>
          <p:nvPr/>
        </p:nvSpPr>
        <p:spPr>
          <a:xfrm>
            <a:off x="609600" y="150495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2025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傳統部署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0BC9F8DD-B46E-4D6D-AD52-9F7BDAADB404}"/>
              </a:ext>
            </a:extLst>
          </p:cNvPr>
          <p:cNvSpPr>
            <a:spLocks noGrp="1"/>
          </p:cNvSpPr>
          <p:nvPr/>
        </p:nvSpPr>
        <p:spPr>
          <a:xfrm>
            <a:off x="819150" y="2038350"/>
            <a:ext cx="781050" cy="590550"/>
          </a:xfrm>
          <a:prstGeom prst="roundRect">
            <a:avLst>
              <a:gd name="adj" fmla="val 19355"/>
            </a:avLst>
          </a:prstGeom>
          <a:solidFill>
            <a:srgbClr val="FFF7ED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1B6036D-7279-4683-9C56-0D5851CE9922}"/>
              </a:ext>
            </a:extLst>
          </p:cNvPr>
          <p:cNvSpPr>
            <a:spLocks noGrp="1"/>
          </p:cNvSpPr>
          <p:nvPr/>
        </p:nvSpPr>
        <p:spPr>
          <a:xfrm>
            <a:off x="1047750" y="2228850"/>
            <a:ext cx="323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9365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App A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AD389AA-8AD2-459C-AE2C-EFEB0660C5DE}"/>
              </a:ext>
            </a:extLst>
          </p:cNvPr>
          <p:cNvSpPr>
            <a:spLocks noGrp="1"/>
          </p:cNvSpPr>
          <p:nvPr/>
        </p:nvSpPr>
        <p:spPr>
          <a:xfrm>
            <a:off x="1047750" y="243840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endParaRPr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DA172232-5A63-4E4E-A704-92CC2542E4B9}"/>
              </a:ext>
            </a:extLst>
          </p:cNvPr>
          <p:cNvSpPr>
            <a:spLocks noGrp="1"/>
          </p:cNvSpPr>
          <p:nvPr/>
        </p:nvSpPr>
        <p:spPr>
          <a:xfrm>
            <a:off x="1733550" y="2038350"/>
            <a:ext cx="781050" cy="590550"/>
          </a:xfrm>
          <a:prstGeom prst="roundRect">
            <a:avLst>
              <a:gd name="adj" fmla="val 19355"/>
            </a:avLst>
          </a:prstGeom>
          <a:solidFill>
            <a:srgbClr val="FFF7ED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A9AAECC-E7E0-4278-8058-1CFFFA11DD32}"/>
              </a:ext>
            </a:extLst>
          </p:cNvPr>
          <p:cNvSpPr>
            <a:spLocks noGrp="1"/>
          </p:cNvSpPr>
          <p:nvPr/>
        </p:nvSpPr>
        <p:spPr>
          <a:xfrm>
            <a:off x="1962150" y="2228850"/>
            <a:ext cx="323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9365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App B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016EE0D-77A7-4CCD-B992-33F8BD858DAE}"/>
              </a:ext>
            </a:extLst>
          </p:cNvPr>
          <p:cNvSpPr>
            <a:spLocks noGrp="1"/>
          </p:cNvSpPr>
          <p:nvPr/>
        </p:nvSpPr>
        <p:spPr>
          <a:xfrm>
            <a:off x="1962150" y="243840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endParaRPr/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D1E6ADA5-CAA5-417C-A31A-718C18F97BCB}"/>
              </a:ext>
            </a:extLst>
          </p:cNvPr>
          <p:cNvSpPr>
            <a:spLocks noGrp="1"/>
          </p:cNvSpPr>
          <p:nvPr/>
        </p:nvSpPr>
        <p:spPr>
          <a:xfrm>
            <a:off x="2647950" y="2038350"/>
            <a:ext cx="781050" cy="590550"/>
          </a:xfrm>
          <a:prstGeom prst="roundRect">
            <a:avLst>
              <a:gd name="adj" fmla="val 19355"/>
            </a:avLst>
          </a:prstGeom>
          <a:solidFill>
            <a:srgbClr val="FFF7ED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9533F5B-9E15-4268-8FF5-4C20C418E5A0}"/>
              </a:ext>
            </a:extLst>
          </p:cNvPr>
          <p:cNvSpPr>
            <a:spLocks noGrp="1"/>
          </p:cNvSpPr>
          <p:nvPr/>
        </p:nvSpPr>
        <p:spPr>
          <a:xfrm>
            <a:off x="2876550" y="2228850"/>
            <a:ext cx="323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9365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App C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A6A5669-A4F4-44C8-B492-A48E95261C56}"/>
              </a:ext>
            </a:extLst>
          </p:cNvPr>
          <p:cNvSpPr>
            <a:spLocks noGrp="1"/>
          </p:cNvSpPr>
          <p:nvPr/>
        </p:nvSpPr>
        <p:spPr>
          <a:xfrm>
            <a:off x="2876550" y="243840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endParaRPr/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7EB8DED0-7EEA-4A8B-A1A0-98C2BFB3015F}"/>
              </a:ext>
            </a:extLst>
          </p:cNvPr>
          <p:cNvSpPr>
            <a:spLocks noGrp="1"/>
          </p:cNvSpPr>
          <p:nvPr/>
        </p:nvSpPr>
        <p:spPr>
          <a:xfrm>
            <a:off x="819150" y="2781300"/>
            <a:ext cx="2628900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189816D-AC1F-487F-9E01-8176DCFAB414}"/>
              </a:ext>
            </a:extLst>
          </p:cNvPr>
          <p:cNvSpPr>
            <a:spLocks noGrp="1"/>
          </p:cNvSpPr>
          <p:nvPr/>
        </p:nvSpPr>
        <p:spPr>
          <a:xfrm>
            <a:off x="1047750" y="2971800"/>
            <a:ext cx="2171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Bins / Libs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78F938F-B3B5-4BFF-8BA5-FD39B2B543E0}"/>
              </a:ext>
            </a:extLst>
          </p:cNvPr>
          <p:cNvSpPr>
            <a:spLocks noGrp="1"/>
          </p:cNvSpPr>
          <p:nvPr/>
        </p:nvSpPr>
        <p:spPr>
          <a:xfrm>
            <a:off x="1047750" y="3181350"/>
            <a:ext cx="2171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endParaRPr/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E2E1DE24-3AAD-4D76-B2EE-A197E3740F18}"/>
              </a:ext>
            </a:extLst>
          </p:cNvPr>
          <p:cNvSpPr>
            <a:spLocks noGrp="1"/>
          </p:cNvSpPr>
          <p:nvPr/>
        </p:nvSpPr>
        <p:spPr>
          <a:xfrm>
            <a:off x="819150" y="3505200"/>
            <a:ext cx="2628900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B913A7D-E767-4A61-93FF-BFB347DAFF8B}"/>
              </a:ext>
            </a:extLst>
          </p:cNvPr>
          <p:cNvSpPr>
            <a:spLocks noGrp="1"/>
          </p:cNvSpPr>
          <p:nvPr/>
        </p:nvSpPr>
        <p:spPr>
          <a:xfrm>
            <a:off x="1047750" y="3695700"/>
            <a:ext cx="2171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Host OS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2D4517C-202B-4B9A-97B6-0C93EDEF39BF}"/>
              </a:ext>
            </a:extLst>
          </p:cNvPr>
          <p:cNvSpPr>
            <a:spLocks noGrp="1"/>
          </p:cNvSpPr>
          <p:nvPr/>
        </p:nvSpPr>
        <p:spPr>
          <a:xfrm>
            <a:off x="1047750" y="3905250"/>
            <a:ext cx="2171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endParaRPr/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C8B3A657-027D-47E7-9810-38D4BFB5EFA8}"/>
              </a:ext>
            </a:extLst>
          </p:cNvPr>
          <p:cNvSpPr>
            <a:spLocks noGrp="1"/>
          </p:cNvSpPr>
          <p:nvPr/>
        </p:nvSpPr>
        <p:spPr>
          <a:xfrm>
            <a:off x="819150" y="4229100"/>
            <a:ext cx="2628900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2437FB8-EA86-4199-A77D-00DD432E4EB2}"/>
              </a:ext>
            </a:extLst>
          </p:cNvPr>
          <p:cNvSpPr>
            <a:spLocks noGrp="1"/>
          </p:cNvSpPr>
          <p:nvPr/>
        </p:nvSpPr>
        <p:spPr>
          <a:xfrm>
            <a:off x="1047750" y="4419600"/>
            <a:ext cx="2171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Hardware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B3B800C-5F60-4594-87BF-5A00395CB288}"/>
              </a:ext>
            </a:extLst>
          </p:cNvPr>
          <p:cNvSpPr>
            <a:spLocks noGrp="1"/>
          </p:cNvSpPr>
          <p:nvPr/>
        </p:nvSpPr>
        <p:spPr>
          <a:xfrm>
            <a:off x="1047750" y="4629150"/>
            <a:ext cx="2171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endParaRPr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EC5990E-E998-4D77-86C0-8B896EBC84C7}"/>
              </a:ext>
            </a:extLst>
          </p:cNvPr>
          <p:cNvSpPr>
            <a:spLocks noGrp="1"/>
          </p:cNvSpPr>
          <p:nvPr/>
        </p:nvSpPr>
        <p:spPr>
          <a:xfrm>
            <a:off x="781050" y="52578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App 直接共用 OS 與函式庫</a:t>
            </a:r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60933BBF-19A7-4515-9226-30690F4F6580}"/>
              </a:ext>
            </a:extLst>
          </p:cNvPr>
          <p:cNvSpPr>
            <a:spLocks noGrp="1"/>
          </p:cNvSpPr>
          <p:nvPr/>
        </p:nvSpPr>
        <p:spPr>
          <a:xfrm>
            <a:off x="1428750" y="56197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 w="9525">
            <a:solidFill>
              <a:srgbClr val="C2410C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DEEBE2F-C07F-4AAB-95F9-7E3D3F852B67}"/>
              </a:ext>
            </a:extLst>
          </p:cNvPr>
          <p:cNvSpPr>
            <a:spLocks noGrp="1"/>
          </p:cNvSpPr>
          <p:nvPr/>
        </p:nvSpPr>
        <p:spPr>
          <a:xfrm>
            <a:off x="1428750" y="5667375"/>
            <a:ext cx="1619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C2410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2410C"/>
                </a:solidFill>
                <a:latin typeface="Aptos"/>
                <a:ea typeface="Aptos"/>
                <a:cs typeface="Aptos"/>
              </a:rPr>
              <a:t>隔離性弱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6ECB317-4C87-42B3-93A8-6DB72C370021}"/>
              </a:ext>
            </a:extLst>
          </p:cNvPr>
          <p:cNvSpPr>
            <a:spLocks noGrp="1"/>
          </p:cNvSpPr>
          <p:nvPr/>
        </p:nvSpPr>
        <p:spPr>
          <a:xfrm>
            <a:off x="4286250" y="150495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202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rPr>
              <a:t>VM 部署</a:t>
            </a:r>
          </a:p>
        </p:txBody>
      </p:sp>
      <p:sp>
        <p:nvSpPr>
          <p:cNvPr id="26" name="矩形: 圓角 25">
            <a:extLst>
              <a:ext uri="{FF2B5EF4-FFF2-40B4-BE49-F238E27FC236}">
                <a16:creationId xmlns:a16="http://schemas.microsoft.com/office/drawing/2014/main" id="{C63AEB42-4D3A-42F1-8411-DFAADE793404}"/>
              </a:ext>
            </a:extLst>
          </p:cNvPr>
          <p:cNvSpPr>
            <a:spLocks noGrp="1"/>
          </p:cNvSpPr>
          <p:nvPr/>
        </p:nvSpPr>
        <p:spPr>
          <a:xfrm>
            <a:off x="4667250" y="2038350"/>
            <a:ext cx="1066800" cy="1257300"/>
          </a:xfrm>
          <a:prstGeom prst="roundRect">
            <a:avLst>
              <a:gd name="adj" fmla="val 10714"/>
            </a:avLst>
          </a:prstGeom>
          <a:solidFill>
            <a:srgbClr val="EEF2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AFFAB6B-C326-4C9D-899C-153981AFC254}"/>
              </a:ext>
            </a:extLst>
          </p:cNvPr>
          <p:cNvSpPr>
            <a:spLocks noGrp="1"/>
          </p:cNvSpPr>
          <p:nvPr/>
        </p:nvSpPr>
        <p:spPr>
          <a:xfrm>
            <a:off x="4895850" y="2228850"/>
            <a:ext cx="609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rPr>
              <a:t>VM 1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7B3D20A-AA97-4FDA-BD16-A64B2F59E2AA}"/>
              </a:ext>
            </a:extLst>
          </p:cNvPr>
          <p:cNvSpPr>
            <a:spLocks noGrp="1"/>
          </p:cNvSpPr>
          <p:nvPr/>
        </p:nvSpPr>
        <p:spPr>
          <a:xfrm>
            <a:off x="4895850" y="2628900"/>
            <a:ext cx="6096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183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Guest OS</a:t>
            </a:r>
          </a:p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4A978240-973A-4956-BCCF-129429F16A06}"/>
              </a:ext>
            </a:extLst>
          </p:cNvPr>
          <p:cNvSpPr>
            <a:spLocks noGrp="1"/>
          </p:cNvSpPr>
          <p:nvPr/>
        </p:nvSpPr>
        <p:spPr>
          <a:xfrm>
            <a:off x="6000750" y="2038350"/>
            <a:ext cx="1066800" cy="1257300"/>
          </a:xfrm>
          <a:prstGeom prst="roundRect">
            <a:avLst>
              <a:gd name="adj" fmla="val 10714"/>
            </a:avLst>
          </a:prstGeom>
          <a:solidFill>
            <a:srgbClr val="EEF2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9CE553E-C768-4132-98D5-05F843072A0F}"/>
              </a:ext>
            </a:extLst>
          </p:cNvPr>
          <p:cNvSpPr>
            <a:spLocks noGrp="1"/>
          </p:cNvSpPr>
          <p:nvPr/>
        </p:nvSpPr>
        <p:spPr>
          <a:xfrm>
            <a:off x="6229350" y="2228850"/>
            <a:ext cx="609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rPr>
              <a:t>VM 2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4C75ED2-CD5A-43ED-AD8A-54235208E71F}"/>
              </a:ext>
            </a:extLst>
          </p:cNvPr>
          <p:cNvSpPr>
            <a:spLocks noGrp="1"/>
          </p:cNvSpPr>
          <p:nvPr/>
        </p:nvSpPr>
        <p:spPr>
          <a:xfrm>
            <a:off x="6229350" y="2628900"/>
            <a:ext cx="6096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183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Guest OS</a:t>
            </a:r>
          </a:p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32" name="矩形: 圓角 31">
            <a:extLst>
              <a:ext uri="{FF2B5EF4-FFF2-40B4-BE49-F238E27FC236}">
                <a16:creationId xmlns:a16="http://schemas.microsoft.com/office/drawing/2014/main" id="{D1A9C322-4557-48A3-BD0D-02233AE2F3A8}"/>
              </a:ext>
            </a:extLst>
          </p:cNvPr>
          <p:cNvSpPr>
            <a:spLocks noGrp="1"/>
          </p:cNvSpPr>
          <p:nvPr/>
        </p:nvSpPr>
        <p:spPr>
          <a:xfrm>
            <a:off x="4610100" y="3505200"/>
            <a:ext cx="2476500" cy="5334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5F29B15-4022-4878-A96A-8EB58C78C529}"/>
              </a:ext>
            </a:extLst>
          </p:cNvPr>
          <p:cNvSpPr>
            <a:spLocks noGrp="1"/>
          </p:cNvSpPr>
          <p:nvPr/>
        </p:nvSpPr>
        <p:spPr>
          <a:xfrm>
            <a:off x="4838700" y="3695700"/>
            <a:ext cx="2019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Hypervisor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5A7756F-D40D-46A3-82F9-73C34A6F28CB}"/>
              </a:ext>
            </a:extLst>
          </p:cNvPr>
          <p:cNvSpPr>
            <a:spLocks noGrp="1"/>
          </p:cNvSpPr>
          <p:nvPr/>
        </p:nvSpPr>
        <p:spPr>
          <a:xfrm>
            <a:off x="4838700" y="3848100"/>
            <a:ext cx="2019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endParaRPr/>
          </a:p>
        </p:txBody>
      </p:sp>
      <p:sp>
        <p:nvSpPr>
          <p:cNvPr id="35" name="矩形: 圓角 34">
            <a:extLst>
              <a:ext uri="{FF2B5EF4-FFF2-40B4-BE49-F238E27FC236}">
                <a16:creationId xmlns:a16="http://schemas.microsoft.com/office/drawing/2014/main" id="{345E4E59-862E-4CF8-BAB5-F6104C66E063}"/>
              </a:ext>
            </a:extLst>
          </p:cNvPr>
          <p:cNvSpPr>
            <a:spLocks noGrp="1"/>
          </p:cNvSpPr>
          <p:nvPr/>
        </p:nvSpPr>
        <p:spPr>
          <a:xfrm>
            <a:off x="4610100" y="4171950"/>
            <a:ext cx="2476500" cy="5334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C16F9C70-043E-467D-949D-AFDB7C6B8D38}"/>
              </a:ext>
            </a:extLst>
          </p:cNvPr>
          <p:cNvSpPr>
            <a:spLocks noGrp="1"/>
          </p:cNvSpPr>
          <p:nvPr/>
        </p:nvSpPr>
        <p:spPr>
          <a:xfrm>
            <a:off x="4838700" y="4362450"/>
            <a:ext cx="2019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Host OS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F5B71B9C-9835-42C9-9A82-8A047A6F87A5}"/>
              </a:ext>
            </a:extLst>
          </p:cNvPr>
          <p:cNvSpPr>
            <a:spLocks noGrp="1"/>
          </p:cNvSpPr>
          <p:nvPr/>
        </p:nvSpPr>
        <p:spPr>
          <a:xfrm>
            <a:off x="4838700" y="4514850"/>
            <a:ext cx="2019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endParaRPr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A2ED601F-AB96-4FE7-AA85-E6B98FF9AEEA}"/>
              </a:ext>
            </a:extLst>
          </p:cNvPr>
          <p:cNvSpPr>
            <a:spLocks noGrp="1"/>
          </p:cNvSpPr>
          <p:nvPr/>
        </p:nvSpPr>
        <p:spPr>
          <a:xfrm>
            <a:off x="4457700" y="52578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每台 VM 都有完整 Guest OS</a:t>
            </a:r>
          </a:p>
        </p:txBody>
      </p:sp>
      <p:sp>
        <p:nvSpPr>
          <p:cNvPr id="39" name="矩形: 圓角 38">
            <a:extLst>
              <a:ext uri="{FF2B5EF4-FFF2-40B4-BE49-F238E27FC236}">
                <a16:creationId xmlns:a16="http://schemas.microsoft.com/office/drawing/2014/main" id="{BAB176AB-7CAE-4E2C-8B80-D3956FD81BF4}"/>
              </a:ext>
            </a:extLst>
          </p:cNvPr>
          <p:cNvSpPr>
            <a:spLocks noGrp="1"/>
          </p:cNvSpPr>
          <p:nvPr/>
        </p:nvSpPr>
        <p:spPr>
          <a:xfrm>
            <a:off x="5105400" y="56197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9525">
            <a:solidFill>
              <a:srgbClr val="4338CA"/>
            </a:solidFill>
            <a:prstDash val="solid"/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CDCBAD08-8635-4BD5-9376-98BDFB51ED76}"/>
              </a:ext>
            </a:extLst>
          </p:cNvPr>
          <p:cNvSpPr>
            <a:spLocks noGrp="1"/>
          </p:cNvSpPr>
          <p:nvPr/>
        </p:nvSpPr>
        <p:spPr>
          <a:xfrm>
            <a:off x="5105400" y="5667375"/>
            <a:ext cx="1619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4338C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338CA"/>
                </a:solidFill>
                <a:latin typeface="Aptos"/>
                <a:ea typeface="Aptos"/>
                <a:cs typeface="Aptos"/>
              </a:rPr>
              <a:t>隔離強但重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7549200B-6B30-41C4-A8D8-0E9AFB327A0A}"/>
              </a:ext>
            </a:extLst>
          </p:cNvPr>
          <p:cNvSpPr>
            <a:spLocks noGrp="1"/>
          </p:cNvSpPr>
          <p:nvPr/>
        </p:nvSpPr>
        <p:spPr>
          <a:xfrm>
            <a:off x="7962900" y="150495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容器化部署</a:t>
            </a:r>
          </a:p>
        </p:txBody>
      </p:sp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1591ADF2-1749-4163-83AC-2997D91563C7}"/>
              </a:ext>
            </a:extLst>
          </p:cNvPr>
          <p:cNvSpPr>
            <a:spLocks noGrp="1"/>
          </p:cNvSpPr>
          <p:nvPr/>
        </p:nvSpPr>
        <p:spPr>
          <a:xfrm>
            <a:off x="8077200" y="2038350"/>
            <a:ext cx="819150" cy="933450"/>
          </a:xfrm>
          <a:prstGeom prst="roundRect">
            <a:avLst>
              <a:gd name="adj" fmla="val 13953"/>
            </a:avLst>
          </a:prstGeom>
          <a:solidFill>
            <a:srgbClr val="E8F3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C185196F-2672-48FE-A3F4-2DA8F5EF020A}"/>
              </a:ext>
            </a:extLst>
          </p:cNvPr>
          <p:cNvSpPr>
            <a:spLocks noGrp="1"/>
          </p:cNvSpPr>
          <p:nvPr/>
        </p:nvSpPr>
        <p:spPr>
          <a:xfrm>
            <a:off x="8305800" y="2228850"/>
            <a:ext cx="361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803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 1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63931204-FE8C-4299-A856-3E01FB9095B4}"/>
              </a:ext>
            </a:extLst>
          </p:cNvPr>
          <p:cNvSpPr>
            <a:spLocks noGrp="1"/>
          </p:cNvSpPr>
          <p:nvPr/>
        </p:nvSpPr>
        <p:spPr>
          <a:xfrm>
            <a:off x="8305800" y="2628900"/>
            <a:ext cx="3619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4411"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45" name="矩形: 圓角 44">
            <a:extLst>
              <a:ext uri="{FF2B5EF4-FFF2-40B4-BE49-F238E27FC236}">
                <a16:creationId xmlns:a16="http://schemas.microsoft.com/office/drawing/2014/main" id="{E229C7E6-8E1D-4037-957E-0BCFA49E29F8}"/>
              </a:ext>
            </a:extLst>
          </p:cNvPr>
          <p:cNvSpPr>
            <a:spLocks noGrp="1"/>
          </p:cNvSpPr>
          <p:nvPr/>
        </p:nvSpPr>
        <p:spPr>
          <a:xfrm>
            <a:off x="9010650" y="2038350"/>
            <a:ext cx="819150" cy="933450"/>
          </a:xfrm>
          <a:prstGeom prst="roundRect">
            <a:avLst>
              <a:gd name="adj" fmla="val 13953"/>
            </a:avLst>
          </a:prstGeom>
          <a:solidFill>
            <a:srgbClr val="E8F3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7850BCD0-A927-46B0-8243-ACBAC2354482}"/>
              </a:ext>
            </a:extLst>
          </p:cNvPr>
          <p:cNvSpPr>
            <a:spLocks noGrp="1"/>
          </p:cNvSpPr>
          <p:nvPr/>
        </p:nvSpPr>
        <p:spPr>
          <a:xfrm>
            <a:off x="9239250" y="2228850"/>
            <a:ext cx="361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803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 2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67F22707-3138-4A5E-B21D-E3ABEF601E12}"/>
              </a:ext>
            </a:extLst>
          </p:cNvPr>
          <p:cNvSpPr>
            <a:spLocks noGrp="1"/>
          </p:cNvSpPr>
          <p:nvPr/>
        </p:nvSpPr>
        <p:spPr>
          <a:xfrm>
            <a:off x="9239250" y="2628900"/>
            <a:ext cx="3619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4411"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48" name="矩形: 圓角 47">
            <a:extLst>
              <a:ext uri="{FF2B5EF4-FFF2-40B4-BE49-F238E27FC236}">
                <a16:creationId xmlns:a16="http://schemas.microsoft.com/office/drawing/2014/main" id="{9FF06AD8-E146-4B4E-A2D5-2D1AF6006CB0}"/>
              </a:ext>
            </a:extLst>
          </p:cNvPr>
          <p:cNvSpPr>
            <a:spLocks noGrp="1"/>
          </p:cNvSpPr>
          <p:nvPr/>
        </p:nvSpPr>
        <p:spPr>
          <a:xfrm>
            <a:off x="9944100" y="2038350"/>
            <a:ext cx="819150" cy="933450"/>
          </a:xfrm>
          <a:prstGeom prst="roundRect">
            <a:avLst>
              <a:gd name="adj" fmla="val 13953"/>
            </a:avLst>
          </a:prstGeom>
          <a:solidFill>
            <a:srgbClr val="E8F3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9BCDC8C7-DA26-4098-ACC3-D506854012B4}"/>
              </a:ext>
            </a:extLst>
          </p:cNvPr>
          <p:cNvSpPr>
            <a:spLocks noGrp="1"/>
          </p:cNvSpPr>
          <p:nvPr/>
        </p:nvSpPr>
        <p:spPr>
          <a:xfrm>
            <a:off x="10172700" y="2228850"/>
            <a:ext cx="361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803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 3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63578FFD-959C-4D2D-9206-F957E05F4ACA}"/>
              </a:ext>
            </a:extLst>
          </p:cNvPr>
          <p:cNvSpPr>
            <a:spLocks noGrp="1"/>
          </p:cNvSpPr>
          <p:nvPr/>
        </p:nvSpPr>
        <p:spPr>
          <a:xfrm>
            <a:off x="10172700" y="2628900"/>
            <a:ext cx="3619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4411"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51" name="矩形: 圓角 50">
            <a:extLst>
              <a:ext uri="{FF2B5EF4-FFF2-40B4-BE49-F238E27FC236}">
                <a16:creationId xmlns:a16="http://schemas.microsoft.com/office/drawing/2014/main" id="{EE106F9A-75B2-40CF-9A10-D27ADEB29F95}"/>
              </a:ext>
            </a:extLst>
          </p:cNvPr>
          <p:cNvSpPr>
            <a:spLocks noGrp="1"/>
          </p:cNvSpPr>
          <p:nvPr/>
        </p:nvSpPr>
        <p:spPr>
          <a:xfrm>
            <a:off x="8134350" y="3257550"/>
            <a:ext cx="2686050" cy="5334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D9390672-DD08-46C4-AC52-61588458C188}"/>
              </a:ext>
            </a:extLst>
          </p:cNvPr>
          <p:cNvSpPr>
            <a:spLocks noGrp="1"/>
          </p:cNvSpPr>
          <p:nvPr/>
        </p:nvSpPr>
        <p:spPr>
          <a:xfrm>
            <a:off x="8362950" y="3448050"/>
            <a:ext cx="2228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Engine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A9106112-322C-4007-B3B3-32002B7E8CF1}"/>
              </a:ext>
            </a:extLst>
          </p:cNvPr>
          <p:cNvSpPr>
            <a:spLocks noGrp="1"/>
          </p:cNvSpPr>
          <p:nvPr/>
        </p:nvSpPr>
        <p:spPr>
          <a:xfrm>
            <a:off x="8362950" y="3600450"/>
            <a:ext cx="2228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endParaRPr/>
          </a:p>
        </p:txBody>
      </p:sp>
      <p:sp>
        <p:nvSpPr>
          <p:cNvPr id="54" name="矩形: 圓角 53">
            <a:extLst>
              <a:ext uri="{FF2B5EF4-FFF2-40B4-BE49-F238E27FC236}">
                <a16:creationId xmlns:a16="http://schemas.microsoft.com/office/drawing/2014/main" id="{68B6AF89-FB0E-453E-A2FB-3DECEC747566}"/>
              </a:ext>
            </a:extLst>
          </p:cNvPr>
          <p:cNvSpPr>
            <a:spLocks noGrp="1"/>
          </p:cNvSpPr>
          <p:nvPr/>
        </p:nvSpPr>
        <p:spPr>
          <a:xfrm>
            <a:off x="8134350" y="3924300"/>
            <a:ext cx="2686050" cy="5334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43CA520B-D1FB-4AA1-AA7E-DB1B70750063}"/>
              </a:ext>
            </a:extLst>
          </p:cNvPr>
          <p:cNvSpPr>
            <a:spLocks noGrp="1"/>
          </p:cNvSpPr>
          <p:nvPr/>
        </p:nvSpPr>
        <p:spPr>
          <a:xfrm>
            <a:off x="8362950" y="4114800"/>
            <a:ext cx="2228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Host OS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BB55ED62-12E4-4B2A-8E33-B046AB6C3294}"/>
              </a:ext>
            </a:extLst>
          </p:cNvPr>
          <p:cNvSpPr>
            <a:spLocks noGrp="1"/>
          </p:cNvSpPr>
          <p:nvPr/>
        </p:nvSpPr>
        <p:spPr>
          <a:xfrm>
            <a:off x="8362950" y="4267200"/>
            <a:ext cx="2228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endParaRPr/>
          </a:p>
        </p:txBody>
      </p:sp>
      <p:sp>
        <p:nvSpPr>
          <p:cNvPr id="57" name="矩形: 圓角 56">
            <a:extLst>
              <a:ext uri="{FF2B5EF4-FFF2-40B4-BE49-F238E27FC236}">
                <a16:creationId xmlns:a16="http://schemas.microsoft.com/office/drawing/2014/main" id="{DBB278A2-8AA1-458C-8D6A-276060A3D07A}"/>
              </a:ext>
            </a:extLst>
          </p:cNvPr>
          <p:cNvSpPr>
            <a:spLocks noGrp="1"/>
          </p:cNvSpPr>
          <p:nvPr/>
        </p:nvSpPr>
        <p:spPr>
          <a:xfrm>
            <a:off x="8134350" y="4591050"/>
            <a:ext cx="268605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CC42C7E-6677-4B4A-81B3-59A9F4B98E32}"/>
              </a:ext>
            </a:extLst>
          </p:cNvPr>
          <p:cNvSpPr>
            <a:spLocks noGrp="1"/>
          </p:cNvSpPr>
          <p:nvPr/>
        </p:nvSpPr>
        <p:spPr>
          <a:xfrm>
            <a:off x="8362950" y="4781550"/>
            <a:ext cx="2228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Hardware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1CC3E4EA-31CB-45F7-A129-FABB4D8F85A9}"/>
              </a:ext>
            </a:extLst>
          </p:cNvPr>
          <p:cNvSpPr>
            <a:spLocks noGrp="1"/>
          </p:cNvSpPr>
          <p:nvPr/>
        </p:nvSpPr>
        <p:spPr>
          <a:xfrm>
            <a:off x="8362950" y="4857750"/>
            <a:ext cx="2228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endParaRPr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A540C18F-E621-43E0-AF22-1E2DC42A6E20}"/>
              </a:ext>
            </a:extLst>
          </p:cNvPr>
          <p:cNvSpPr>
            <a:spLocks noGrp="1"/>
          </p:cNvSpPr>
          <p:nvPr/>
        </p:nvSpPr>
        <p:spPr>
          <a:xfrm>
            <a:off x="8134350" y="52578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容器共用 Host OS 核心</a:t>
            </a:r>
          </a:p>
        </p:txBody>
      </p:sp>
      <p:sp>
        <p:nvSpPr>
          <p:cNvPr id="61" name="矩形: 圓角 60">
            <a:extLst>
              <a:ext uri="{FF2B5EF4-FFF2-40B4-BE49-F238E27FC236}">
                <a16:creationId xmlns:a16="http://schemas.microsoft.com/office/drawing/2014/main" id="{B0BC4521-0F35-470A-A77F-D629FB402551}"/>
              </a:ext>
            </a:extLst>
          </p:cNvPr>
          <p:cNvSpPr>
            <a:spLocks noGrp="1"/>
          </p:cNvSpPr>
          <p:nvPr/>
        </p:nvSpPr>
        <p:spPr>
          <a:xfrm>
            <a:off x="8782050" y="56197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8AEA57E3-B7BB-4163-BA4B-D4C863724E97}"/>
              </a:ext>
            </a:extLst>
          </p:cNvPr>
          <p:cNvSpPr>
            <a:spLocks noGrp="1"/>
          </p:cNvSpPr>
          <p:nvPr/>
        </p:nvSpPr>
        <p:spPr>
          <a:xfrm>
            <a:off x="8782050" y="5667375"/>
            <a:ext cx="1619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秒級啟動、資源少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EBA67FD7-0747-44AA-9B01-1CC59EE75BD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0B2D7B1A-54D5-4BBA-85BD-6E412B9702C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F5ED1BDB-A287-4371-844E-0CA886A888D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545142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E628DE1D-1331-4290-A2FA-07AB3689DA3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E5508DC-817C-4CEA-90E5-53989CC1A361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1：Container 和 VM 差在哪？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BFF2D77-17F0-4B2B-B6A1-7CFD9DA6C2C0}"/>
              </a:ext>
            </a:extLst>
          </p:cNvPr>
          <p:cNvSpPr>
            <a:spLocks noGrp="1"/>
          </p:cNvSpPr>
          <p:nvPr/>
        </p:nvSpPr>
        <p:spPr>
          <a:xfrm>
            <a:off x="1047750" y="1809750"/>
            <a:ext cx="4381500" cy="2266950"/>
          </a:xfrm>
          <a:prstGeom prst="roundRect">
            <a:avLst>
              <a:gd name="adj" fmla="val 5042"/>
            </a:avLst>
          </a:prstGeom>
          <a:solidFill>
            <a:srgbClr val="111827"/>
          </a:solidFill>
          <a:ln w="9525">
            <a:solidFill>
              <a:srgbClr val="818CF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640838D-E0FC-4690-9AB8-00370B7EC6B8}"/>
              </a:ext>
            </a:extLst>
          </p:cNvPr>
          <p:cNvSpPr>
            <a:spLocks noGrp="1"/>
          </p:cNvSpPr>
          <p:nvPr/>
        </p:nvSpPr>
        <p:spPr>
          <a:xfrm>
            <a:off x="1276350" y="2000250"/>
            <a:ext cx="3924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4697"/>
          </a:bodyPr>
          <a:lstStyle/>
          <a:p>
            <a:pPr algn="l">
              <a:lnSpc>
                <a:spcPct val="105000"/>
              </a:lnSpc>
              <a:buNone/>
              <a:defRPr sz="2550" b="1">
                <a:solidFill>
                  <a:srgbClr val="C4B5F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C4B5FD"/>
                </a:solidFill>
                <a:latin typeface="Aptos Display"/>
                <a:ea typeface="Aptos Display"/>
                <a:cs typeface="Aptos Display"/>
              </a:rPr>
              <a:t>VM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664AD2E-913B-4860-9782-53EF1695687C}"/>
              </a:ext>
            </a:extLst>
          </p:cNvPr>
          <p:cNvSpPr>
            <a:spLocks noGrp="1"/>
          </p:cNvSpPr>
          <p:nvPr/>
        </p:nvSpPr>
        <p:spPr>
          <a:xfrm>
            <a:off x="1276350" y="2400300"/>
            <a:ext cx="39243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每台 VM 都有完整 Guest OS。</a:t>
            </a:r>
          </a:p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隔離強，但啟動慢、資源佔用高。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2E112A17-2D1D-4C45-861C-CE3B511EE6EE}"/>
              </a:ext>
            </a:extLst>
          </p:cNvPr>
          <p:cNvSpPr>
            <a:spLocks noGrp="1"/>
          </p:cNvSpPr>
          <p:nvPr/>
        </p:nvSpPr>
        <p:spPr>
          <a:xfrm>
            <a:off x="6762750" y="1809750"/>
            <a:ext cx="4381500" cy="2266950"/>
          </a:xfrm>
          <a:prstGeom prst="roundRect">
            <a:avLst>
              <a:gd name="adj" fmla="val 5042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2489229-B87D-4177-9FBF-674A2116921E}"/>
              </a:ext>
            </a:extLst>
          </p:cNvPr>
          <p:cNvSpPr>
            <a:spLocks noGrp="1"/>
          </p:cNvSpPr>
          <p:nvPr/>
        </p:nvSpPr>
        <p:spPr>
          <a:xfrm>
            <a:off x="6991350" y="2000250"/>
            <a:ext cx="3924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4697"/>
          </a:bodyPr>
          <a:lstStyle/>
          <a:p>
            <a:pPr algn="l">
              <a:lnSpc>
                <a:spcPct val="105000"/>
              </a:lnSpc>
              <a:buNone/>
              <a:defRPr sz="25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Container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7158A57-324A-4BD4-BE88-E7B11A3C8C61}"/>
              </a:ext>
            </a:extLst>
          </p:cNvPr>
          <p:cNvSpPr>
            <a:spLocks noGrp="1"/>
          </p:cNvSpPr>
          <p:nvPr/>
        </p:nvSpPr>
        <p:spPr>
          <a:xfrm>
            <a:off x="6991350" y="2400300"/>
            <a:ext cx="39243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共用主機 OS 核心。</a:t>
            </a:r>
          </a:p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程序級隔離，啟動快、資源少。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2344001F-4DEE-4DFA-A234-7FECC9E3B44A}"/>
              </a:ext>
            </a:extLst>
          </p:cNvPr>
          <p:cNvSpPr>
            <a:spLocks noGrp="1"/>
          </p:cNvSpPr>
          <p:nvPr/>
        </p:nvSpPr>
        <p:spPr>
          <a:xfrm>
            <a:off x="1962150" y="4857750"/>
            <a:ext cx="8267700" cy="628650"/>
          </a:xfrm>
          <a:prstGeom prst="roundRect">
            <a:avLst>
              <a:gd name="adj" fmla="val 1818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53BA612-E62F-4A38-B18D-623F263F089B}"/>
              </a:ext>
            </a:extLst>
          </p:cNvPr>
          <p:cNvSpPr>
            <a:spLocks noGrp="1"/>
          </p:cNvSpPr>
          <p:nvPr/>
        </p:nvSpPr>
        <p:spPr>
          <a:xfrm>
            <a:off x="2266950" y="5067300"/>
            <a:ext cx="7658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ctr">
              <a:lnSpc>
                <a:spcPct val="105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回答目標：能說出「共用核心、不跑完整 OS、所以更快更輕」。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41E4261-DFB0-4EEC-BF46-CDF60A2AC2A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5E24150-8610-48B1-A1B9-F7DD6B29499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8C64108-E296-4716-B0D7-C4104130202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1677333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B808340E-3604-4ED0-9B94-EAC05BAC5F5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CORE PROMISE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7800046-58EA-43C0-8811-38946B72883A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的三個承諾，以及一個補充提醒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8D1CAD4-BBBE-4980-B86E-9D83373887AF}"/>
              </a:ext>
            </a:extLst>
          </p:cNvPr>
          <p:cNvSpPr>
            <a:spLocks noGrp="1"/>
          </p:cNvSpPr>
          <p:nvPr/>
        </p:nvSpPr>
        <p:spPr>
          <a:xfrm>
            <a:off x="704850" y="1619250"/>
            <a:ext cx="3238500" cy="2190750"/>
          </a:xfrm>
          <a:prstGeom prst="roundRect">
            <a:avLst>
              <a:gd name="adj" fmla="val 5217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5ECB0DB-6EB0-4805-AF87-119739B234BC}"/>
              </a:ext>
            </a:extLst>
          </p:cNvPr>
          <p:cNvSpPr>
            <a:spLocks noGrp="1"/>
          </p:cNvSpPr>
          <p:nvPr/>
        </p:nvSpPr>
        <p:spPr>
          <a:xfrm>
            <a:off x="933450" y="1809750"/>
            <a:ext cx="2781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可攜性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A1EB7F6-62D1-4CD4-86E4-40EAB6607216}"/>
              </a:ext>
            </a:extLst>
          </p:cNvPr>
          <p:cNvSpPr>
            <a:spLocks noGrp="1"/>
          </p:cNvSpPr>
          <p:nvPr/>
        </p:nvSpPr>
        <p:spPr>
          <a:xfrm>
            <a:off x="933450" y="2209800"/>
            <a:ext cx="278130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打包成 Image 後，只要有 Docker 就能用同一種方式運行。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C1E3F679-B153-4555-82B4-94B30EA0C35D}"/>
              </a:ext>
            </a:extLst>
          </p:cNvPr>
          <p:cNvSpPr>
            <a:spLocks noGrp="1"/>
          </p:cNvSpPr>
          <p:nvPr/>
        </p:nvSpPr>
        <p:spPr>
          <a:xfrm>
            <a:off x="4381500" y="1619250"/>
            <a:ext cx="3238500" cy="2190750"/>
          </a:xfrm>
          <a:prstGeom prst="roundRect">
            <a:avLst>
              <a:gd name="adj" fmla="val 5217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236858C-7924-4480-98FC-99329724064C}"/>
              </a:ext>
            </a:extLst>
          </p:cNvPr>
          <p:cNvSpPr>
            <a:spLocks noGrp="1"/>
          </p:cNvSpPr>
          <p:nvPr/>
        </p:nvSpPr>
        <p:spPr>
          <a:xfrm>
            <a:off x="4610100" y="1809750"/>
            <a:ext cx="2781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隔離性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EA4EA42-B27E-45EC-9F9D-96258B180D78}"/>
              </a:ext>
            </a:extLst>
          </p:cNvPr>
          <p:cNvSpPr>
            <a:spLocks noGrp="1"/>
          </p:cNvSpPr>
          <p:nvPr/>
        </p:nvSpPr>
        <p:spPr>
          <a:xfrm>
            <a:off x="4610100" y="2209800"/>
            <a:ext cx="278130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不同應用各自待在容器裡，降低版本與套件互相干擾。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08C7B337-09B4-4CDB-950B-F790520F218E}"/>
              </a:ext>
            </a:extLst>
          </p:cNvPr>
          <p:cNvSpPr>
            <a:spLocks noGrp="1"/>
          </p:cNvSpPr>
          <p:nvPr/>
        </p:nvSpPr>
        <p:spPr>
          <a:xfrm>
            <a:off x="8058150" y="1619250"/>
            <a:ext cx="3238500" cy="2190750"/>
          </a:xfrm>
          <a:prstGeom prst="roundRect">
            <a:avLst>
              <a:gd name="adj" fmla="val 5217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AFE2369-EE4D-4AF7-84ED-C8363ED01C09}"/>
              </a:ext>
            </a:extLst>
          </p:cNvPr>
          <p:cNvSpPr>
            <a:spLocks noGrp="1"/>
          </p:cNvSpPr>
          <p:nvPr/>
        </p:nvSpPr>
        <p:spPr>
          <a:xfrm>
            <a:off x="8286750" y="1809750"/>
            <a:ext cx="2781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一致性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3ED0644-A390-4311-B829-1FEB1E257FB7}"/>
              </a:ext>
            </a:extLst>
          </p:cNvPr>
          <p:cNvSpPr>
            <a:spLocks noGrp="1"/>
          </p:cNvSpPr>
          <p:nvPr/>
        </p:nvSpPr>
        <p:spPr>
          <a:xfrm>
            <a:off x="8286750" y="2209800"/>
            <a:ext cx="278130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開發、測試、部署都用同一份環境，減少本機正常、上線失敗。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C972542C-74D2-486E-98E9-2ABCD6C43FCD}"/>
              </a:ext>
            </a:extLst>
          </p:cNvPr>
          <p:cNvSpPr>
            <a:spLocks noGrp="1"/>
          </p:cNvSpPr>
          <p:nvPr/>
        </p:nvSpPr>
        <p:spPr>
          <a:xfrm>
            <a:off x="1600200" y="4362450"/>
            <a:ext cx="8991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18001D9-F0ED-4B6F-90E2-7D94A5B3964A}"/>
              </a:ext>
            </a:extLst>
          </p:cNvPr>
          <p:cNvSpPr>
            <a:spLocks noGrp="1"/>
          </p:cNvSpPr>
          <p:nvPr/>
        </p:nvSpPr>
        <p:spPr>
          <a:xfrm>
            <a:off x="1943100" y="4591050"/>
            <a:ext cx="781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現況：Docker 通常會自動選對 Image 版本。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0E271DC-3856-44BC-B292-F51575086BC8}"/>
              </a:ext>
            </a:extLst>
          </p:cNvPr>
          <p:cNvSpPr>
            <a:spLocks noGrp="1"/>
          </p:cNvSpPr>
          <p:nvPr/>
        </p:nvSpPr>
        <p:spPr>
          <a:xfrm>
            <a:off x="1943100" y="4953000"/>
            <a:ext cx="800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多數官方 Image 已支援多架構；只有遇到錯誤時才需要檢查平台相容性。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DEF7B81-9857-431F-83AE-23ADAF7ADBB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8CEBC75-9A71-458B-9297-33A2DB14A84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AA5014D-C824-4C2A-8438-A9BEFBDAD3B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4479811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8ABF7C43-C4A1-482F-80C1-94B2CECB3B7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TRADEOFFS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3BC6149-CFEB-4528-A5E7-4DE79C741C6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很實用，但不是萬能工具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A1F7A7B2-708C-4A1A-A97E-9137D5642B18}"/>
              </a:ext>
            </a:extLst>
          </p:cNvPr>
          <p:cNvSpPr>
            <a:spLocks noGrp="1"/>
          </p:cNvSpPr>
          <p:nvPr/>
        </p:nvSpPr>
        <p:spPr>
          <a:xfrm>
            <a:off x="819150" y="17145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2B4A47A-5CE3-4C00-83E8-BCCAB906154F}"/>
              </a:ext>
            </a:extLst>
          </p:cNvPr>
          <p:cNvSpPr>
            <a:spLocks noGrp="1"/>
          </p:cNvSpPr>
          <p:nvPr/>
        </p:nvSpPr>
        <p:spPr>
          <a:xfrm>
            <a:off x="1047750" y="19431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學習曲線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67AD63D-3BF5-4C37-9EA0-CB033B74E25F}"/>
              </a:ext>
            </a:extLst>
          </p:cNvPr>
          <p:cNvSpPr>
            <a:spLocks noGrp="1"/>
          </p:cNvSpPr>
          <p:nvPr/>
        </p:nvSpPr>
        <p:spPr>
          <a:xfrm>
            <a:off x="1047750" y="23431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Image、Container、Volume、Network 概念多。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F03BEBFB-DCE4-4535-8B96-C419125803B0}"/>
              </a:ext>
            </a:extLst>
          </p:cNvPr>
          <p:cNvSpPr>
            <a:spLocks noGrp="1"/>
          </p:cNvSpPr>
          <p:nvPr/>
        </p:nvSpPr>
        <p:spPr>
          <a:xfrm>
            <a:off x="4343400" y="17145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C2D87AE-82F5-4BE7-A79D-707AC9F2B992}"/>
              </a:ext>
            </a:extLst>
          </p:cNvPr>
          <p:cNvSpPr>
            <a:spLocks noGrp="1"/>
          </p:cNvSpPr>
          <p:nvPr/>
        </p:nvSpPr>
        <p:spPr>
          <a:xfrm>
            <a:off x="4572000" y="19431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安全性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AFFB005-CF20-41E2-A853-7438559FFC85}"/>
              </a:ext>
            </a:extLst>
          </p:cNvPr>
          <p:cNvSpPr>
            <a:spLocks noGrp="1"/>
          </p:cNvSpPr>
          <p:nvPr/>
        </p:nvSpPr>
        <p:spPr>
          <a:xfrm>
            <a:off x="4572000" y="23431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容器隔離不是完整 VM，預設 root 也要留意。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26B99982-32EB-431A-B484-3C56B695EB9D}"/>
              </a:ext>
            </a:extLst>
          </p:cNvPr>
          <p:cNvSpPr>
            <a:spLocks noGrp="1"/>
          </p:cNvSpPr>
          <p:nvPr/>
        </p:nvSpPr>
        <p:spPr>
          <a:xfrm>
            <a:off x="7867650" y="17145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5A8BADE-6C7E-43B4-ACA7-D4475D4B1991}"/>
              </a:ext>
            </a:extLst>
          </p:cNvPr>
          <p:cNvSpPr>
            <a:spLocks noGrp="1"/>
          </p:cNvSpPr>
          <p:nvPr/>
        </p:nvSpPr>
        <p:spPr>
          <a:xfrm>
            <a:off x="8096250" y="19431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有狀態服務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8CEE440-E8B2-43AF-9E56-E4814C339AAB}"/>
              </a:ext>
            </a:extLst>
          </p:cNvPr>
          <p:cNvSpPr>
            <a:spLocks noGrp="1"/>
          </p:cNvSpPr>
          <p:nvPr/>
        </p:nvSpPr>
        <p:spPr>
          <a:xfrm>
            <a:off x="8096250" y="23431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資料庫需要持久化與備份，正式環境常用託管服務。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1B72395C-5C1F-49E9-8EF2-4219A44940AB}"/>
              </a:ext>
            </a:extLst>
          </p:cNvPr>
          <p:cNvSpPr>
            <a:spLocks noGrp="1"/>
          </p:cNvSpPr>
          <p:nvPr/>
        </p:nvSpPr>
        <p:spPr>
          <a:xfrm>
            <a:off x="2571750" y="38481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3FD7F37-0F08-4845-8C0A-F5F4C93C0D94}"/>
              </a:ext>
            </a:extLst>
          </p:cNvPr>
          <p:cNvSpPr>
            <a:spLocks noGrp="1"/>
          </p:cNvSpPr>
          <p:nvPr/>
        </p:nvSpPr>
        <p:spPr>
          <a:xfrm>
            <a:off x="2800350" y="40767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磁碟空間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AA75EA2-A09A-4AFC-BB57-418FD8595709}"/>
              </a:ext>
            </a:extLst>
          </p:cNvPr>
          <p:cNvSpPr>
            <a:spLocks noGrp="1"/>
          </p:cNvSpPr>
          <p:nvPr/>
        </p:nvSpPr>
        <p:spPr>
          <a:xfrm>
            <a:off x="2800350" y="44767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 / Container 會越積越多，需要定期清理。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50EDD718-CC67-4AF8-B609-686AA314A1D6}"/>
              </a:ext>
            </a:extLst>
          </p:cNvPr>
          <p:cNvSpPr>
            <a:spLocks noGrp="1"/>
          </p:cNvSpPr>
          <p:nvPr/>
        </p:nvSpPr>
        <p:spPr>
          <a:xfrm>
            <a:off x="6191250" y="38481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6EA0C03-D34A-4D1C-B3B0-75458721F41E}"/>
              </a:ext>
            </a:extLst>
          </p:cNvPr>
          <p:cNvSpPr>
            <a:spLocks noGrp="1"/>
          </p:cNvSpPr>
          <p:nvPr/>
        </p:nvSpPr>
        <p:spPr>
          <a:xfrm>
            <a:off x="6419850" y="40767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除錯複雜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27806BD-F244-428B-8783-530BE1DF49AD}"/>
              </a:ext>
            </a:extLst>
          </p:cNvPr>
          <p:cNvSpPr>
            <a:spLocks noGrp="1"/>
          </p:cNvSpPr>
          <p:nvPr/>
        </p:nvSpPr>
        <p:spPr>
          <a:xfrm>
            <a:off x="6419850" y="44767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網路、log、跨容器問題需要工具與流程。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6657373-CF5D-437D-B34A-9F9D256F7972}"/>
              </a:ext>
            </a:extLst>
          </p:cNvPr>
          <p:cNvSpPr>
            <a:spLocks noGrp="1"/>
          </p:cNvSpPr>
          <p:nvPr/>
        </p:nvSpPr>
        <p:spPr>
          <a:xfrm>
            <a:off x="1314450" y="5676900"/>
            <a:ext cx="9563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6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重點不是避開 Docker，而是知道什麼問題要補上 Volume、權限、監控與清理流程。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5B53CBD-505F-4608-8251-34E927562B2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13B8851-5C66-4046-83B3-4B4980C025B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F3960E5-C7D1-45BD-94CB-5FC401DF68B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9181793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C08F161E-F89E-43C7-9BFE-6583AAB5D57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MENTAL MODEL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BBC0268-3B6C-4A67-88F5-ED9882DBC3BE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的三個核心名詞</a:t>
            </a:r>
          </a:p>
        </p:txBody>
      </p:sp>
      <p:pic>
        <p:nvPicPr>
          <p:cNvPr id="23" name="圖片 22"/>
          <p:cNvPicPr>
            <a:picLocks noChangeAspect="1"/>
          </p:cNvPicPr>
          <p:nvPr/>
        </p:nvPicPr>
        <p:blipFill>
          <a:blip r:embed="rId2"/>
          <a:srcRect l="106" r="106"/>
          <a:stretch>
            <a:fillRect/>
          </a:stretch>
        </p:blipFill>
        <p:spPr>
          <a:xfrm>
            <a:off x="6477000" y="1504950"/>
            <a:ext cx="4762500" cy="2686050"/>
          </a:xfrm>
          <a:prstGeom prst="roundRect">
            <a:avLst/>
          </a:prstGeom>
        </p:spPr>
      </p:pic>
      <p:sp>
        <p:nvSpPr>
          <p:cNvPr id="4" name="矩形: 圓角 3">
            <a:extLst>
              <a:ext uri="{FF2B5EF4-FFF2-40B4-BE49-F238E27FC236}">
                <a16:creationId xmlns:a16="http://schemas.microsoft.com/office/drawing/2014/main" id="{C4DCF23C-AF82-48D4-8FA3-9164C86166B0}"/>
              </a:ext>
            </a:extLst>
          </p:cNvPr>
          <p:cNvSpPr>
            <a:spLocks noGrp="1"/>
          </p:cNvSpPr>
          <p:nvPr/>
        </p:nvSpPr>
        <p:spPr>
          <a:xfrm>
            <a:off x="6477000" y="1504950"/>
            <a:ext cx="4762500" cy="2686050"/>
          </a:xfrm>
          <a:prstGeom prst="roundRect">
            <a:avLst>
              <a:gd name="adj" fmla="val 4965"/>
            </a:avLst>
          </a:prstGeom>
          <a:solidFill>
            <a:srgbClr val="000000">
              <a:alpha val="0"/>
            </a:srgbClr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3287D6B3-5032-4840-A4B8-5C530A8E5CCC}"/>
              </a:ext>
            </a:extLst>
          </p:cNvPr>
          <p:cNvSpPr>
            <a:spLocks noGrp="1"/>
          </p:cNvSpPr>
          <p:nvPr/>
        </p:nvSpPr>
        <p:spPr>
          <a:xfrm>
            <a:off x="876300" y="2038350"/>
            <a:ext cx="4191000" cy="876300"/>
          </a:xfrm>
          <a:prstGeom prst="roundRect">
            <a:avLst>
              <a:gd name="adj" fmla="val 13043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FAA1587-762B-4867-B7BD-4A3A8524630C}"/>
              </a:ext>
            </a:extLst>
          </p:cNvPr>
          <p:cNvSpPr>
            <a:spLocks noGrp="1"/>
          </p:cNvSpPr>
          <p:nvPr/>
        </p:nvSpPr>
        <p:spPr>
          <a:xfrm>
            <a:off x="1104900" y="220980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575"/>
          </a:bodyPr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Registry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15DAA03-45C4-4D56-AA37-0E6C271DE90C}"/>
              </a:ext>
            </a:extLst>
          </p:cNvPr>
          <p:cNvSpPr>
            <a:spLocks noGrp="1"/>
          </p:cNvSpPr>
          <p:nvPr/>
        </p:nvSpPr>
        <p:spPr>
          <a:xfrm>
            <a:off x="2743200" y="2228850"/>
            <a:ext cx="1943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Docker Hub</a:t>
            </a: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存放 Image 的倉庫</a:t>
            </a:r>
          </a:p>
        </p:txBody>
      </p:sp>
      <p:sp>
        <p:nvSpPr>
          <p:cNvPr id="8" name="箭號: 向右 7">
            <a:extLst>
              <a:ext uri="{FF2B5EF4-FFF2-40B4-BE49-F238E27FC236}">
                <a16:creationId xmlns:a16="http://schemas.microsoft.com/office/drawing/2014/main" id="{7E9F0F83-42F1-4BFB-B752-0A0EAA637E4E}"/>
              </a:ext>
            </a:extLst>
          </p:cNvPr>
          <p:cNvSpPr>
            <a:spLocks noGrp="1"/>
          </p:cNvSpPr>
          <p:nvPr/>
        </p:nvSpPr>
        <p:spPr>
          <a:xfrm>
            <a:off x="2552700" y="2924175"/>
            <a:ext cx="361950" cy="3238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047B79D5-372A-43B8-8CCA-A66CBC2CFC11}"/>
              </a:ext>
            </a:extLst>
          </p:cNvPr>
          <p:cNvSpPr>
            <a:spLocks noGrp="1"/>
          </p:cNvSpPr>
          <p:nvPr/>
        </p:nvSpPr>
        <p:spPr>
          <a:xfrm>
            <a:off x="876300" y="3200400"/>
            <a:ext cx="4191000" cy="876300"/>
          </a:xfrm>
          <a:prstGeom prst="roundRect">
            <a:avLst>
              <a:gd name="adj" fmla="val 13043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9425EE7-E663-4095-A50F-0C84A3B2B9E2}"/>
              </a:ext>
            </a:extLst>
          </p:cNvPr>
          <p:cNvSpPr>
            <a:spLocks noGrp="1"/>
          </p:cNvSpPr>
          <p:nvPr/>
        </p:nvSpPr>
        <p:spPr>
          <a:xfrm>
            <a:off x="1104900" y="337185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575"/>
          </a:bodyPr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7AD6D3A-8F72-480D-B3EA-F3A6D80078EC}"/>
              </a:ext>
            </a:extLst>
          </p:cNvPr>
          <p:cNvSpPr>
            <a:spLocks noGrp="1"/>
          </p:cNvSpPr>
          <p:nvPr/>
        </p:nvSpPr>
        <p:spPr>
          <a:xfrm>
            <a:off x="2743200" y="3390900"/>
            <a:ext cx="1943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唯讀模板</a:t>
            </a: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包含程式與環境</a:t>
            </a:r>
          </a:p>
        </p:txBody>
      </p:sp>
      <p:sp>
        <p:nvSpPr>
          <p:cNvPr id="12" name="箭號: 向右 11">
            <a:extLst>
              <a:ext uri="{FF2B5EF4-FFF2-40B4-BE49-F238E27FC236}">
                <a16:creationId xmlns:a16="http://schemas.microsoft.com/office/drawing/2014/main" id="{9173973C-F022-4A09-9A2B-E1771D28E10B}"/>
              </a:ext>
            </a:extLst>
          </p:cNvPr>
          <p:cNvSpPr>
            <a:spLocks noGrp="1"/>
          </p:cNvSpPr>
          <p:nvPr/>
        </p:nvSpPr>
        <p:spPr>
          <a:xfrm>
            <a:off x="2552700" y="4086225"/>
            <a:ext cx="361950" cy="3238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C162EA80-0F90-4720-8B73-21F43FFDAF91}"/>
              </a:ext>
            </a:extLst>
          </p:cNvPr>
          <p:cNvSpPr>
            <a:spLocks noGrp="1"/>
          </p:cNvSpPr>
          <p:nvPr/>
        </p:nvSpPr>
        <p:spPr>
          <a:xfrm>
            <a:off x="876300" y="4362450"/>
            <a:ext cx="4191000" cy="876300"/>
          </a:xfrm>
          <a:prstGeom prst="roundRect">
            <a:avLst>
              <a:gd name="adj" fmla="val 13043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8C66211-1AC3-4E7D-B878-721E25EFCF08}"/>
              </a:ext>
            </a:extLst>
          </p:cNvPr>
          <p:cNvSpPr>
            <a:spLocks noGrp="1"/>
          </p:cNvSpPr>
          <p:nvPr/>
        </p:nvSpPr>
        <p:spPr>
          <a:xfrm>
            <a:off x="1104900" y="453390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575"/>
          </a:bodyPr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Container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A5FACDC-87C9-402F-A6C1-F5E062983106}"/>
              </a:ext>
            </a:extLst>
          </p:cNvPr>
          <p:cNvSpPr>
            <a:spLocks noGrp="1"/>
          </p:cNvSpPr>
          <p:nvPr/>
        </p:nvSpPr>
        <p:spPr>
          <a:xfrm>
            <a:off x="2743200" y="4552950"/>
            <a:ext cx="1943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Image 跑起來後</a:t>
            </a: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正在執行的實體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5C51B9A-5829-475D-85B2-79184081F6AB}"/>
              </a:ext>
            </a:extLst>
          </p:cNvPr>
          <p:cNvSpPr>
            <a:spLocks noGrp="1"/>
          </p:cNvSpPr>
          <p:nvPr/>
        </p:nvSpPr>
        <p:spPr>
          <a:xfrm>
            <a:off x="1752600" y="5219700"/>
            <a:ext cx="8686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從 Registry 下載 Image，用 Image 啟動 Container。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96583B3-3E97-4665-99D0-FC84E537BD0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7A40B14-0E35-408D-8BC4-D584551A916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24E9CFE-B018-4CAB-81DC-8DDB8D8836F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7917640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05647509-A94C-40B4-9A3F-AE7CEB1D68E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Q2-Q4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03ADBA9-006A-4DCD-8D23-C0757F35F7F6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3：把 Docker 流程說出來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00D03FC-AE75-482F-8EFC-8490DBEDE133}"/>
              </a:ext>
            </a:extLst>
          </p:cNvPr>
          <p:cNvSpPr>
            <a:spLocks noGrp="1"/>
          </p:cNvSpPr>
          <p:nvPr/>
        </p:nvSpPr>
        <p:spPr>
          <a:xfrm>
            <a:off x="952500" y="1619250"/>
            <a:ext cx="4476750" cy="1676400"/>
          </a:xfrm>
          <a:prstGeom prst="roundRect">
            <a:avLst>
              <a:gd name="adj" fmla="val 6818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82685C8-948B-4DE3-B9E3-CB2AE365C6FB}"/>
              </a:ext>
            </a:extLst>
          </p:cNvPr>
          <p:cNvSpPr>
            <a:spLocks noGrp="1"/>
          </p:cNvSpPr>
          <p:nvPr/>
        </p:nvSpPr>
        <p:spPr>
          <a:xfrm>
            <a:off x="1181100" y="1809750"/>
            <a:ext cx="401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575"/>
          </a:bodyPr>
          <a:lstStyle/>
          <a:p>
            <a:pPr algn="l">
              <a:lnSpc>
                <a:spcPct val="105000"/>
              </a:lnSpc>
              <a:buNone/>
              <a:defRPr sz="21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Q2：三者一句話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754C0C1-242A-48F0-8CCE-C2578EA3654F}"/>
              </a:ext>
            </a:extLst>
          </p:cNvPr>
          <p:cNvSpPr>
            <a:spLocks noGrp="1"/>
          </p:cNvSpPr>
          <p:nvPr/>
        </p:nvSpPr>
        <p:spPr>
          <a:xfrm>
            <a:off x="1181100" y="2209800"/>
            <a:ext cx="40195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從 Registry 下載 Image，</a:t>
            </a:r>
          </a:p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再用 Image 啟動 Container。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88FE2263-5317-4CF1-8EAC-742C9D493FF1}"/>
              </a:ext>
            </a:extLst>
          </p:cNvPr>
          <p:cNvSpPr>
            <a:spLocks noGrp="1"/>
          </p:cNvSpPr>
          <p:nvPr/>
        </p:nvSpPr>
        <p:spPr>
          <a:xfrm>
            <a:off x="6762750" y="161925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EA0DD79-802F-4EFB-9DFD-25C1DE841C92}"/>
              </a:ext>
            </a:extLst>
          </p:cNvPr>
          <p:cNvSpPr>
            <a:spLocks noGrp="1"/>
          </p:cNvSpPr>
          <p:nvPr/>
        </p:nvSpPr>
        <p:spPr>
          <a:xfrm>
            <a:off x="6991350" y="1809750"/>
            <a:ext cx="401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575"/>
          </a:bodyPr>
          <a:lstStyle/>
          <a:p>
            <a:pPr algn="l">
              <a:lnSpc>
                <a:spcPct val="105000"/>
              </a:lnSpc>
              <a:buNone/>
              <a:def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Q4：hello-world 做了什麼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8FED6E-F780-4C52-AF67-653A0B835AC2}"/>
              </a:ext>
            </a:extLst>
          </p:cNvPr>
          <p:cNvSpPr>
            <a:spLocks noGrp="1"/>
          </p:cNvSpPr>
          <p:nvPr/>
        </p:nvSpPr>
        <p:spPr>
          <a:xfrm>
            <a:off x="6991350" y="2209800"/>
            <a:ext cx="4019550" cy="2076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找本機 Image</a:t>
            </a:r>
          </a:p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沒有就 pull</a:t>
            </a:r>
          </a:p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建立 Container</a:t>
            </a:r>
          </a:p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4. 啟動並輸出訊息</a:t>
            </a:r>
          </a:p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5. 程式結束後停止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BDE50DBE-D484-4471-AA4E-DFC718E2F551}"/>
              </a:ext>
            </a:extLst>
          </p:cNvPr>
          <p:cNvSpPr>
            <a:spLocks noGrp="1"/>
          </p:cNvSpPr>
          <p:nvPr/>
        </p:nvSpPr>
        <p:spPr>
          <a:xfrm>
            <a:off x="1600200" y="4914900"/>
            <a:ext cx="8991600" cy="742950"/>
          </a:xfrm>
          <a:prstGeom prst="roundRect">
            <a:avLst>
              <a:gd name="adj" fmla="val 1282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ABDC8BA2-C8EE-434F-882A-588C529D1CC0}"/>
              </a:ext>
            </a:extLst>
          </p:cNvPr>
          <p:cNvSpPr>
            <a:spLocks noGrp="1"/>
          </p:cNvSpPr>
          <p:nvPr/>
        </p:nvSpPr>
        <p:spPr>
          <a:xfrm>
            <a:off x="1771650" y="50768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F1886403-C896-4A6C-A733-D0AD1EB01C41}"/>
              </a:ext>
            </a:extLst>
          </p:cNvPr>
          <p:cNvSpPr>
            <a:spLocks noGrp="1"/>
          </p:cNvSpPr>
          <p:nvPr/>
        </p:nvSpPr>
        <p:spPr>
          <a:xfrm>
            <a:off x="1943100" y="50768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DC01596E-AAD0-4D6F-AFD8-676061E1CA26}"/>
              </a:ext>
            </a:extLst>
          </p:cNvPr>
          <p:cNvSpPr>
            <a:spLocks noGrp="1"/>
          </p:cNvSpPr>
          <p:nvPr/>
        </p:nvSpPr>
        <p:spPr>
          <a:xfrm>
            <a:off x="2114550" y="50768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2FE3521-8365-4039-82BD-7AA0B2059A24}"/>
              </a:ext>
            </a:extLst>
          </p:cNvPr>
          <p:cNvSpPr>
            <a:spLocks noGrp="1"/>
          </p:cNvSpPr>
          <p:nvPr/>
        </p:nvSpPr>
        <p:spPr>
          <a:xfrm>
            <a:off x="1809750" y="5334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7234"/>
          </a:bodyPr>
          <a:lstStyle/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hello-world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F88C61D-FC84-4CDD-A95F-C2D87109747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41A6E8C-83CE-4B61-8645-02526482555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5FE3EA0-9677-4AF2-9A72-24255147576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1249952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32">
            <a:extLst>
              <a:ext uri="{FF2B5EF4-FFF2-40B4-BE49-F238E27FC236}">
                <a16:creationId xmlns:a16="http://schemas.microsoft.com/office/drawing/2014/main" id="{0D9DC56D-058C-4622-A1B7-1DE6C3F14C8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COMMANDS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8991CB9-89EB-4CE4-8F06-95C3A158181A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今天先掌握四種 Image 指令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71D3F1CE-7D1F-4B5D-A75A-2D3685410ECC}"/>
              </a:ext>
            </a:extLst>
          </p:cNvPr>
          <p:cNvSpPr>
            <a:spLocks noGrp="1"/>
          </p:cNvSpPr>
          <p:nvPr/>
        </p:nvSpPr>
        <p:spPr>
          <a:xfrm>
            <a:off x="704850" y="1600200"/>
            <a:ext cx="5095875" cy="2286000"/>
          </a:xfrm>
          <a:prstGeom prst="roundRect">
            <a:avLst>
              <a:gd name="adj" fmla="val 416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2FBBC04E-6B75-4AB8-AD4E-BB90B63EAE8F}"/>
              </a:ext>
            </a:extLst>
          </p:cNvPr>
          <p:cNvSpPr>
            <a:spLocks noGrp="1"/>
          </p:cNvSpPr>
          <p:nvPr/>
        </p:nvSpPr>
        <p:spPr>
          <a:xfrm>
            <a:off x="876300" y="17621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2EFE2FFA-99A4-4E25-8DF7-DCC9B42AADC6}"/>
              </a:ext>
            </a:extLst>
          </p:cNvPr>
          <p:cNvSpPr>
            <a:spLocks noGrp="1"/>
          </p:cNvSpPr>
          <p:nvPr/>
        </p:nvSpPr>
        <p:spPr>
          <a:xfrm>
            <a:off x="1047750" y="17621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0460A033-8297-4079-8E2A-C6CDBC73EE6C}"/>
              </a:ext>
            </a:extLst>
          </p:cNvPr>
          <p:cNvSpPr>
            <a:spLocks noGrp="1"/>
          </p:cNvSpPr>
          <p:nvPr/>
        </p:nvSpPr>
        <p:spPr>
          <a:xfrm>
            <a:off x="1219200" y="17621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E81F1D7-6507-4C84-9C83-497AD9DEE3E7}"/>
              </a:ext>
            </a:extLst>
          </p:cNvPr>
          <p:cNvSpPr>
            <a:spLocks noGrp="1"/>
          </p:cNvSpPr>
          <p:nvPr/>
        </p:nvSpPr>
        <p:spPr>
          <a:xfrm>
            <a:off x="914400" y="2019300"/>
            <a:ext cx="4676775" cy="1733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拉取映像檔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python:3.11-slim</a:t>
            </a:r>
          </a:p>
          <a:p>
            <a:endParaRPr sz="15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查看本機映像檔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images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F3C9FE56-CC23-4866-9C03-5C582464879E}"/>
              </a:ext>
            </a:extLst>
          </p:cNvPr>
          <p:cNvSpPr>
            <a:spLocks noGrp="1"/>
          </p:cNvSpPr>
          <p:nvPr/>
        </p:nvSpPr>
        <p:spPr>
          <a:xfrm>
            <a:off x="6419850" y="1600200"/>
            <a:ext cx="5095875" cy="2286000"/>
          </a:xfrm>
          <a:prstGeom prst="roundRect">
            <a:avLst>
              <a:gd name="adj" fmla="val 416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385E5422-61D7-4074-9829-D790B1712815}"/>
              </a:ext>
            </a:extLst>
          </p:cNvPr>
          <p:cNvSpPr>
            <a:spLocks noGrp="1"/>
          </p:cNvSpPr>
          <p:nvPr/>
        </p:nvSpPr>
        <p:spPr>
          <a:xfrm>
            <a:off x="6591300" y="17621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DEF6AFB1-6F0B-495D-93EB-DDCF2D3B8A68}"/>
              </a:ext>
            </a:extLst>
          </p:cNvPr>
          <p:cNvSpPr>
            <a:spLocks noGrp="1"/>
          </p:cNvSpPr>
          <p:nvPr/>
        </p:nvSpPr>
        <p:spPr>
          <a:xfrm>
            <a:off x="6762750" y="17621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02C009DC-887F-48EF-A591-6FF2056B2024}"/>
              </a:ext>
            </a:extLst>
          </p:cNvPr>
          <p:cNvSpPr>
            <a:spLocks noGrp="1"/>
          </p:cNvSpPr>
          <p:nvPr/>
        </p:nvSpPr>
        <p:spPr>
          <a:xfrm>
            <a:off x="6934200" y="17621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055AE8D-80BF-48EA-9B1F-5A304083DF39}"/>
              </a:ext>
            </a:extLst>
          </p:cNvPr>
          <p:cNvSpPr>
            <a:spLocks noGrp="1"/>
          </p:cNvSpPr>
          <p:nvPr/>
        </p:nvSpPr>
        <p:spPr>
          <a:xfrm>
            <a:off x="6629400" y="2019300"/>
            <a:ext cx="4676775" cy="1733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搜尋映像檔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search nginx</a:t>
            </a:r>
          </a:p>
          <a:p>
            <a:endParaRPr sz="15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刪除映像檔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rmi python:3.11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rmi abc123def456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76BBA69-79A7-403F-9FFA-B66886B59274}"/>
              </a:ext>
            </a:extLst>
          </p:cNvPr>
          <p:cNvSpPr>
            <a:spLocks noGrp="1"/>
          </p:cNvSpPr>
          <p:nvPr/>
        </p:nvSpPr>
        <p:spPr>
          <a:xfrm>
            <a:off x="2114550" y="4438650"/>
            <a:ext cx="323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images 輸出怎麼讀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46A8064-A59D-4001-8A1B-BFC82248420E}"/>
              </a:ext>
            </a:extLst>
          </p:cNvPr>
          <p:cNvSpPr>
            <a:spLocks noGrp="1"/>
          </p:cNvSpPr>
          <p:nvPr/>
        </p:nvSpPr>
        <p:spPr>
          <a:xfrm>
            <a:off x="2114550" y="4857750"/>
            <a:ext cx="2095500" cy="285750"/>
          </a:xfrm>
          <a:prstGeom prst="rect">
            <a:avLst/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98ED531-D773-4D2F-89FC-10797C77A59E}"/>
              </a:ext>
            </a:extLst>
          </p:cNvPr>
          <p:cNvSpPr>
            <a:spLocks noGrp="1"/>
          </p:cNvSpPr>
          <p:nvPr/>
        </p:nvSpPr>
        <p:spPr>
          <a:xfrm>
            <a:off x="4210050" y="4857750"/>
            <a:ext cx="4000500" cy="285750"/>
          </a:xfrm>
          <a:prstGeom prst="rect">
            <a:avLst/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91B343F-E5E1-4950-A7E4-9547CC038260}"/>
              </a:ext>
            </a:extLst>
          </p:cNvPr>
          <p:cNvSpPr>
            <a:spLocks noGrp="1"/>
          </p:cNvSpPr>
          <p:nvPr/>
        </p:nvSpPr>
        <p:spPr>
          <a:xfrm>
            <a:off x="2228850" y="4914900"/>
            <a:ext cx="1714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REPOSITORY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3FBCA2F-4D03-4390-A80E-26D87E25C2F6}"/>
              </a:ext>
            </a:extLst>
          </p:cNvPr>
          <p:cNvSpPr>
            <a:spLocks noGrp="1"/>
          </p:cNvSpPr>
          <p:nvPr/>
        </p:nvSpPr>
        <p:spPr>
          <a:xfrm>
            <a:off x="4343400" y="4914900"/>
            <a:ext cx="361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映像檔名稱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78B0C08-61E8-4097-9BA6-ADCCF858EF48}"/>
              </a:ext>
            </a:extLst>
          </p:cNvPr>
          <p:cNvSpPr>
            <a:spLocks noGrp="1"/>
          </p:cNvSpPr>
          <p:nvPr/>
        </p:nvSpPr>
        <p:spPr>
          <a:xfrm>
            <a:off x="2114550" y="5181600"/>
            <a:ext cx="2095500" cy="28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92B5E4F-F103-4616-9CA2-0A930473EB0E}"/>
              </a:ext>
            </a:extLst>
          </p:cNvPr>
          <p:cNvSpPr>
            <a:spLocks noGrp="1"/>
          </p:cNvSpPr>
          <p:nvPr/>
        </p:nvSpPr>
        <p:spPr>
          <a:xfrm>
            <a:off x="4210050" y="5181600"/>
            <a:ext cx="4000500" cy="28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697CA2F-7D56-4B4A-98B1-8B9DC1DEBF94}"/>
              </a:ext>
            </a:extLst>
          </p:cNvPr>
          <p:cNvSpPr>
            <a:spLocks noGrp="1"/>
          </p:cNvSpPr>
          <p:nvPr/>
        </p:nvSpPr>
        <p:spPr>
          <a:xfrm>
            <a:off x="2228850" y="5238750"/>
            <a:ext cx="1714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TAG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C0F9D03-1DF0-4330-9E24-6C5F7DBC1D3C}"/>
              </a:ext>
            </a:extLst>
          </p:cNvPr>
          <p:cNvSpPr>
            <a:spLocks noGrp="1"/>
          </p:cNvSpPr>
          <p:nvPr/>
        </p:nvSpPr>
        <p:spPr>
          <a:xfrm>
            <a:off x="4343400" y="5238750"/>
            <a:ext cx="361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版本標籤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4A071A9-8DD4-4DD5-8861-5A6E08D98770}"/>
              </a:ext>
            </a:extLst>
          </p:cNvPr>
          <p:cNvSpPr>
            <a:spLocks noGrp="1"/>
          </p:cNvSpPr>
          <p:nvPr/>
        </p:nvSpPr>
        <p:spPr>
          <a:xfrm>
            <a:off x="2114550" y="5505450"/>
            <a:ext cx="2095500" cy="285750"/>
          </a:xfrm>
          <a:prstGeom prst="rect">
            <a:avLst/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AC63333-168A-4DAC-8979-EB5B343AF173}"/>
              </a:ext>
            </a:extLst>
          </p:cNvPr>
          <p:cNvSpPr>
            <a:spLocks noGrp="1"/>
          </p:cNvSpPr>
          <p:nvPr/>
        </p:nvSpPr>
        <p:spPr>
          <a:xfrm>
            <a:off x="4210050" y="5505450"/>
            <a:ext cx="4000500" cy="285750"/>
          </a:xfrm>
          <a:prstGeom prst="rect">
            <a:avLst/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6C1B88A-88C9-4BC3-9346-0A6F3AC8BEB9}"/>
              </a:ext>
            </a:extLst>
          </p:cNvPr>
          <p:cNvSpPr>
            <a:spLocks noGrp="1"/>
          </p:cNvSpPr>
          <p:nvPr/>
        </p:nvSpPr>
        <p:spPr>
          <a:xfrm>
            <a:off x="2228850" y="5562600"/>
            <a:ext cx="1714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IMAGE ID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4B30AA9-85DE-4639-9F70-8725B9CB54D5}"/>
              </a:ext>
            </a:extLst>
          </p:cNvPr>
          <p:cNvSpPr>
            <a:spLocks noGrp="1"/>
          </p:cNvSpPr>
          <p:nvPr/>
        </p:nvSpPr>
        <p:spPr>
          <a:xfrm>
            <a:off x="4343400" y="5562600"/>
            <a:ext cx="361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唯一識別碼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C9FA415E-93D0-4D2F-9B2B-E33996B7F625}"/>
              </a:ext>
            </a:extLst>
          </p:cNvPr>
          <p:cNvSpPr>
            <a:spLocks noGrp="1"/>
          </p:cNvSpPr>
          <p:nvPr/>
        </p:nvSpPr>
        <p:spPr>
          <a:xfrm>
            <a:off x="2114550" y="5829300"/>
            <a:ext cx="2095500" cy="28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03D98DF-9118-4CE1-AB53-9E8E375E1909}"/>
              </a:ext>
            </a:extLst>
          </p:cNvPr>
          <p:cNvSpPr>
            <a:spLocks noGrp="1"/>
          </p:cNvSpPr>
          <p:nvPr/>
        </p:nvSpPr>
        <p:spPr>
          <a:xfrm>
            <a:off x="4210050" y="5829300"/>
            <a:ext cx="4000500" cy="28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85169BC-1FD3-4718-A757-1097E0448EFD}"/>
              </a:ext>
            </a:extLst>
          </p:cNvPr>
          <p:cNvSpPr>
            <a:spLocks noGrp="1"/>
          </p:cNvSpPr>
          <p:nvPr/>
        </p:nvSpPr>
        <p:spPr>
          <a:xfrm>
            <a:off x="2228850" y="5886450"/>
            <a:ext cx="1714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SIZE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5D49EF0-04EB-4A63-9B7B-04DD06369A7A}"/>
              </a:ext>
            </a:extLst>
          </p:cNvPr>
          <p:cNvSpPr>
            <a:spLocks noGrp="1"/>
          </p:cNvSpPr>
          <p:nvPr/>
        </p:nvSpPr>
        <p:spPr>
          <a:xfrm>
            <a:off x="4343400" y="5886450"/>
            <a:ext cx="361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映像檔大小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A35FD8C-D018-40B7-8087-9872393D5DC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EB59F1D6-7343-4001-8C43-FF5E89616BA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93C12906-5B40-452C-B031-965FAC79BBC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0465739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4D00132-D554-43D1-B919-01B308681F9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B84710F-1E13-4983-B407-54520F8AD30D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P1：拉取並比較 Image 大小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FEE4F64F-198D-41C8-B8FD-6A0800237F43}"/>
              </a:ext>
            </a:extLst>
          </p:cNvPr>
          <p:cNvSpPr>
            <a:spLocks noGrp="1"/>
          </p:cNvSpPr>
          <p:nvPr/>
        </p:nvSpPr>
        <p:spPr>
          <a:xfrm>
            <a:off x="819150" y="1524000"/>
            <a:ext cx="5905500" cy="2343150"/>
          </a:xfrm>
          <a:prstGeom prst="roundRect">
            <a:avLst>
              <a:gd name="adj" fmla="val 406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091061BD-3FB3-4D04-AD2A-C3C3B2E42C12}"/>
              </a:ext>
            </a:extLst>
          </p:cNvPr>
          <p:cNvSpPr>
            <a:spLocks noGrp="1"/>
          </p:cNvSpPr>
          <p:nvPr/>
        </p:nvSpPr>
        <p:spPr>
          <a:xfrm>
            <a:off x="990600" y="16859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C80389E0-3120-4574-B40F-44CBA405423B}"/>
              </a:ext>
            </a:extLst>
          </p:cNvPr>
          <p:cNvSpPr>
            <a:spLocks noGrp="1"/>
          </p:cNvSpPr>
          <p:nvPr/>
        </p:nvSpPr>
        <p:spPr>
          <a:xfrm>
            <a:off x="1162050" y="16859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1BD90839-55CC-4684-93F0-D4559AC3B4E1}"/>
              </a:ext>
            </a:extLst>
          </p:cNvPr>
          <p:cNvSpPr>
            <a:spLocks noGrp="1"/>
          </p:cNvSpPr>
          <p:nvPr/>
        </p:nvSpPr>
        <p:spPr>
          <a:xfrm>
            <a:off x="1333500" y="16859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0506171-E4C9-4FEA-BCD7-7867A9C788F7}"/>
              </a:ext>
            </a:extLst>
          </p:cNvPr>
          <p:cNvSpPr>
            <a:spLocks noGrp="1"/>
          </p:cNvSpPr>
          <p:nvPr/>
        </p:nvSpPr>
        <p:spPr>
          <a:xfrm>
            <a:off x="1028700" y="1943100"/>
            <a:ext cx="5486400" cy="1790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python:3.11-slim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python:3.11-alpine</a:t>
            </a:r>
          </a:p>
          <a:p>
            <a:endParaRPr sz="172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images | findstr python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6CAC68C7-65FE-4BBE-95D6-3936ECA6FDC9}"/>
              </a:ext>
            </a:extLst>
          </p:cNvPr>
          <p:cNvSpPr>
            <a:spLocks noGrp="1"/>
          </p:cNvSpPr>
          <p:nvPr/>
        </p:nvSpPr>
        <p:spPr>
          <a:xfrm>
            <a:off x="7334250" y="1657350"/>
            <a:ext cx="3429000" cy="6667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9FEB4B0-5BF2-4764-899D-482B1C49ED00}"/>
              </a:ext>
            </a:extLst>
          </p:cNvPr>
          <p:cNvSpPr>
            <a:spLocks noGrp="1"/>
          </p:cNvSpPr>
          <p:nvPr/>
        </p:nvSpPr>
        <p:spPr>
          <a:xfrm>
            <a:off x="7562850" y="179070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python:3.11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AEE7295-8194-427B-9357-E77883F619FB}"/>
              </a:ext>
            </a:extLst>
          </p:cNvPr>
          <p:cNvSpPr>
            <a:spLocks noGrp="1"/>
          </p:cNvSpPr>
          <p:nvPr/>
        </p:nvSpPr>
        <p:spPr>
          <a:xfrm>
            <a:off x="9144000" y="1800225"/>
            <a:ext cx="1390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完整環境，體積最大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292AF311-A401-4463-89D1-580CCCA66B9C}"/>
              </a:ext>
            </a:extLst>
          </p:cNvPr>
          <p:cNvSpPr>
            <a:spLocks noGrp="1"/>
          </p:cNvSpPr>
          <p:nvPr/>
        </p:nvSpPr>
        <p:spPr>
          <a:xfrm>
            <a:off x="7334250" y="2552700"/>
            <a:ext cx="3429000" cy="666750"/>
          </a:xfrm>
          <a:prstGeom prst="roundRect">
            <a:avLst>
              <a:gd name="adj" fmla="val 1428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D244723-9A0E-464F-907D-0123CFA76693}"/>
              </a:ext>
            </a:extLst>
          </p:cNvPr>
          <p:cNvSpPr>
            <a:spLocks noGrp="1"/>
          </p:cNvSpPr>
          <p:nvPr/>
        </p:nvSpPr>
        <p:spPr>
          <a:xfrm>
            <a:off x="7562850" y="268605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python:3.11-slim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2771EC6-85DA-4D5B-B7D1-9D602731580F}"/>
              </a:ext>
            </a:extLst>
          </p:cNvPr>
          <p:cNvSpPr>
            <a:spLocks noGrp="1"/>
          </p:cNvSpPr>
          <p:nvPr/>
        </p:nvSpPr>
        <p:spPr>
          <a:xfrm>
            <a:off x="9144000" y="2695575"/>
            <a:ext cx="1390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516"/>
          </a:bodyPr>
          <a:lstStyle/>
          <a:p>
            <a:pPr algn="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精簡 Debian，常用折衷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D2155652-FA24-4B23-8A8F-FC464E9583CA}"/>
              </a:ext>
            </a:extLst>
          </p:cNvPr>
          <p:cNvSpPr>
            <a:spLocks noGrp="1"/>
          </p:cNvSpPr>
          <p:nvPr/>
        </p:nvSpPr>
        <p:spPr>
          <a:xfrm>
            <a:off x="7334250" y="3448050"/>
            <a:ext cx="3429000" cy="6667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BA197D3-B080-4828-B033-F8392536053B}"/>
              </a:ext>
            </a:extLst>
          </p:cNvPr>
          <p:cNvSpPr>
            <a:spLocks noGrp="1"/>
          </p:cNvSpPr>
          <p:nvPr/>
        </p:nvSpPr>
        <p:spPr>
          <a:xfrm>
            <a:off x="7562850" y="358140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python:3.11-alpine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334C94E-4C1C-43CB-83BC-F08BD6B06858}"/>
              </a:ext>
            </a:extLst>
          </p:cNvPr>
          <p:cNvSpPr>
            <a:spLocks noGrp="1"/>
          </p:cNvSpPr>
          <p:nvPr/>
        </p:nvSpPr>
        <p:spPr>
          <a:xfrm>
            <a:off x="9144000" y="3590925"/>
            <a:ext cx="1390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203"/>
          </a:bodyPr>
          <a:lstStyle/>
          <a:p>
            <a:pPr algn="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最小，但可能遇到相容性問題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C349052D-43BC-4D88-8658-C5945D5CD0EC}"/>
              </a:ext>
            </a:extLst>
          </p:cNvPr>
          <p:cNvSpPr>
            <a:spLocks noGrp="1"/>
          </p:cNvSpPr>
          <p:nvPr/>
        </p:nvSpPr>
        <p:spPr>
          <a:xfrm>
            <a:off x="1581150" y="4914900"/>
            <a:ext cx="9029700" cy="62865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118C841-3D15-4F7D-8121-D4F78A101B4D}"/>
              </a:ext>
            </a:extLst>
          </p:cNvPr>
          <p:cNvSpPr>
            <a:spLocks noGrp="1"/>
          </p:cNvSpPr>
          <p:nvPr/>
        </p:nvSpPr>
        <p:spPr>
          <a:xfrm>
            <a:off x="1885950" y="5124450"/>
            <a:ext cx="842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ctr">
              <a:lnSpc>
                <a:spcPct val="105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完成標準：記錄三個 SIZE，並能說出為什麼 tag 不同，大小會差很多。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F2D0645-7F38-40BF-B42B-CC59BD53DE8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17D1FE5-E56A-4676-A15D-A917356B18F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E94CD2B-4A67-4DFF-BDA7-A9393AEA5CB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5929745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 34">
            <a:extLst>
              <a:ext uri="{FF2B5EF4-FFF2-40B4-BE49-F238E27FC236}">
                <a16:creationId xmlns:a16="http://schemas.microsoft.com/office/drawing/2014/main" id="{665241C9-DD2A-4D02-AE3F-74960F6755E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1769BD"/>
                </a:solidFill>
              </a:defRPr>
            </a:pPr>
            <a:r>
              <a:rPr sz="975" b="1">
                <a:solidFill>
                  <a:srgbClr val="1769BD"/>
                </a:solidFill>
              </a:rPr>
              <a:t>IMAGE LAYERS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6529A76-5B0B-40CC-8DF9-E6706A5F0746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9334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剛剛的大小差異，其實來自分層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E52083B-483F-4EDD-BDD1-63DE370E0E75}"/>
              </a:ext>
            </a:extLst>
          </p:cNvPr>
          <p:cNvSpPr>
            <a:spLocks noGrp="1"/>
          </p:cNvSpPr>
          <p:nvPr/>
        </p:nvSpPr>
        <p:spPr>
          <a:xfrm>
            <a:off x="628650" y="1381125"/>
            <a:ext cx="876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Image 不是一個大檔案，而是多個 layer 疊起來；不同 tag 會選不同底層與工具。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6E19EF4-4BCA-494E-B08D-DC46DB80BE3F}"/>
              </a:ext>
            </a:extLst>
          </p:cNvPr>
          <p:cNvSpPr>
            <a:spLocks noGrp="1"/>
          </p:cNvSpPr>
          <p:nvPr/>
        </p:nvSpPr>
        <p:spPr>
          <a:xfrm>
            <a:off x="933450" y="2105025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 b="1">
                <a:solidFill>
                  <a:srgbClr val="64748B"/>
                </a:solidFill>
              </a:defRPr>
            </a:pPr>
            <a:r>
              <a:rPr sz="1350" b="1">
                <a:solidFill>
                  <a:srgbClr val="64748B"/>
                </a:solidFill>
              </a:rPr>
              <a:t>剛剛看到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5E292BF-03D4-42C1-8E72-55720C989F2A}"/>
              </a:ext>
            </a:extLst>
          </p:cNvPr>
          <p:cNvSpPr>
            <a:spLocks noGrp="1"/>
          </p:cNvSpPr>
          <p:nvPr/>
        </p:nvSpPr>
        <p:spPr>
          <a:xfrm>
            <a:off x="2286000" y="2076450"/>
            <a:ext cx="4476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 b="1">
                <a:solidFill>
                  <a:srgbClr val="0F172A"/>
                </a:solidFill>
              </a:defRPr>
            </a:pPr>
            <a:r>
              <a:rPr sz="1425" b="1">
                <a:solidFill>
                  <a:srgbClr val="0F172A"/>
                </a:solidFill>
              </a:rPr>
              <a:t>python:3.11  &gt;  python:3.11-slim  &gt;  python:3.11-alpine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04D3BFAD-60D5-41A8-808D-CAB0ECDBDCBD}"/>
              </a:ext>
            </a:extLst>
          </p:cNvPr>
          <p:cNvSpPr>
            <a:spLocks noGrp="1"/>
          </p:cNvSpPr>
          <p:nvPr/>
        </p:nvSpPr>
        <p:spPr>
          <a:xfrm>
            <a:off x="971550" y="2667000"/>
            <a:ext cx="5334000" cy="552450"/>
          </a:xfrm>
          <a:prstGeom prst="roundRect">
            <a:avLst>
              <a:gd name="adj" fmla="val 13793"/>
            </a:avLst>
          </a:prstGeom>
          <a:solidFill>
            <a:srgbClr val="E8F3FF"/>
          </a:solidFill>
          <a:ln w="12383">
            <a:solidFill>
              <a:srgbClr val="1F73D0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D98C0F1-778A-48EB-BFE9-667ECF846AD8}"/>
              </a:ext>
            </a:extLst>
          </p:cNvPr>
          <p:cNvSpPr>
            <a:spLocks noGrp="1"/>
          </p:cNvSpPr>
          <p:nvPr/>
        </p:nvSpPr>
        <p:spPr>
          <a:xfrm>
            <a:off x="1257300" y="2828925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你的應用程式程式碼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7B92F79-9F47-4E24-AB75-B02F6C2380A5}"/>
              </a:ext>
            </a:extLst>
          </p:cNvPr>
          <p:cNvSpPr>
            <a:spLocks noGrp="1"/>
          </p:cNvSpPr>
          <p:nvPr/>
        </p:nvSpPr>
        <p:spPr>
          <a:xfrm>
            <a:off x="4495800" y="28575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1">
                <a:solidFill>
                  <a:srgbClr val="1F73D0"/>
                </a:solidFill>
              </a:defRPr>
            </a:pPr>
            <a:r>
              <a:rPr sz="1125" b="1">
                <a:solidFill>
                  <a:srgbClr val="1F73D0"/>
                </a:solidFill>
              </a:rPr>
              <a:t>最常變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B8A92D82-9729-41AD-8EDC-81D0A8104AE7}"/>
              </a:ext>
            </a:extLst>
          </p:cNvPr>
          <p:cNvSpPr>
            <a:spLocks noGrp="1"/>
          </p:cNvSpPr>
          <p:nvPr/>
        </p:nvSpPr>
        <p:spPr>
          <a:xfrm>
            <a:off x="1181100" y="3390900"/>
            <a:ext cx="4914900" cy="552450"/>
          </a:xfrm>
          <a:prstGeom prst="roundRect">
            <a:avLst>
              <a:gd name="adj" fmla="val 13793"/>
            </a:avLst>
          </a:prstGeom>
          <a:solidFill>
            <a:srgbClr val="E8F7F1"/>
          </a:solidFill>
          <a:ln w="12383">
            <a:solidFill>
              <a:srgbClr val="0F8F6B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893B41-0FCA-4ABC-8679-6DF3D8B8903B}"/>
              </a:ext>
            </a:extLst>
          </p:cNvPr>
          <p:cNvSpPr>
            <a:spLocks noGrp="1"/>
          </p:cNvSpPr>
          <p:nvPr/>
        </p:nvSpPr>
        <p:spPr>
          <a:xfrm>
            <a:off x="1466850" y="3552825"/>
            <a:ext cx="2724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pip install 的套件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FD7957C-B2BD-42E3-AE97-785BD07AB654}"/>
              </a:ext>
            </a:extLst>
          </p:cNvPr>
          <p:cNvSpPr>
            <a:spLocks noGrp="1"/>
          </p:cNvSpPr>
          <p:nvPr/>
        </p:nvSpPr>
        <p:spPr>
          <a:xfrm>
            <a:off x="4286250" y="35814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1">
                <a:solidFill>
                  <a:srgbClr val="0F8F6B"/>
                </a:solidFill>
              </a:defRPr>
            </a:pPr>
            <a:r>
              <a:rPr sz="1125" b="1">
                <a:solidFill>
                  <a:srgbClr val="0F8F6B"/>
                </a:solidFill>
              </a:rPr>
              <a:t>依賴層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A9FCF34C-A8BC-4E74-B61A-BDD8A8FA8EBE}"/>
              </a:ext>
            </a:extLst>
          </p:cNvPr>
          <p:cNvSpPr>
            <a:spLocks noGrp="1"/>
          </p:cNvSpPr>
          <p:nvPr/>
        </p:nvSpPr>
        <p:spPr>
          <a:xfrm>
            <a:off x="1390650" y="4114800"/>
            <a:ext cx="4495800" cy="552450"/>
          </a:xfrm>
          <a:prstGeom prst="roundRect">
            <a:avLst>
              <a:gd name="adj" fmla="val 13793"/>
            </a:avLst>
          </a:prstGeom>
          <a:solidFill>
            <a:srgbClr val="FFF4D6"/>
          </a:solidFill>
          <a:ln w="12383">
            <a:solidFill>
              <a:srgbClr val="C56A09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8DD0672-C29F-4AE3-B231-A48A96427744}"/>
              </a:ext>
            </a:extLst>
          </p:cNvPr>
          <p:cNvSpPr>
            <a:spLocks noGrp="1"/>
          </p:cNvSpPr>
          <p:nvPr/>
        </p:nvSpPr>
        <p:spPr>
          <a:xfrm>
            <a:off x="1676400" y="4276725"/>
            <a:ext cx="2305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Python 3.11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A579B4F-900D-46C6-8998-1244D7D428BC}"/>
              </a:ext>
            </a:extLst>
          </p:cNvPr>
          <p:cNvSpPr>
            <a:spLocks noGrp="1"/>
          </p:cNvSpPr>
          <p:nvPr/>
        </p:nvSpPr>
        <p:spPr>
          <a:xfrm>
            <a:off x="4076700" y="43053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1">
                <a:solidFill>
                  <a:srgbClr val="C56A09"/>
                </a:solidFill>
              </a:defRPr>
            </a:pPr>
            <a:r>
              <a:rPr sz="1125" b="1">
                <a:solidFill>
                  <a:srgbClr val="C56A09"/>
                </a:solidFill>
              </a:rPr>
              <a:t>執行環境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F4F86E0C-DD67-4082-97AA-A49B24E72497}"/>
              </a:ext>
            </a:extLst>
          </p:cNvPr>
          <p:cNvSpPr>
            <a:spLocks noGrp="1"/>
          </p:cNvSpPr>
          <p:nvPr/>
        </p:nvSpPr>
        <p:spPr>
          <a:xfrm>
            <a:off x="1600200" y="4838700"/>
            <a:ext cx="4076700" cy="552450"/>
          </a:xfrm>
          <a:prstGeom prst="roundRect">
            <a:avLst>
              <a:gd name="adj" fmla="val 13793"/>
            </a:avLst>
          </a:prstGeom>
          <a:solidFill>
            <a:srgbClr val="EEF2F7"/>
          </a:solidFill>
          <a:ln w="12383">
            <a:solidFill>
              <a:srgbClr val="64748B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7708463-0F45-4F32-A975-FA8CFB12182E}"/>
              </a:ext>
            </a:extLst>
          </p:cNvPr>
          <p:cNvSpPr>
            <a:spLocks noGrp="1"/>
          </p:cNvSpPr>
          <p:nvPr/>
        </p:nvSpPr>
        <p:spPr>
          <a:xfrm>
            <a:off x="1885950" y="5000625"/>
            <a:ext cx="1885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Debian / Alpine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D3D94FA-FB7D-4E0E-AD21-69EDFCA0CECD}"/>
              </a:ext>
            </a:extLst>
          </p:cNvPr>
          <p:cNvSpPr>
            <a:spLocks noGrp="1"/>
          </p:cNvSpPr>
          <p:nvPr/>
        </p:nvSpPr>
        <p:spPr>
          <a:xfrm>
            <a:off x="3867150" y="50292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基礎系統</a:t>
            </a:r>
          </a:p>
        </p:txBody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558974CB-6A09-4D6D-BB3A-B2DA8AC48167}"/>
              </a:ext>
            </a:extLst>
          </p:cNvPr>
          <p:cNvSpPr>
            <a:spLocks noGrp="1"/>
          </p:cNvSpPr>
          <p:nvPr/>
        </p:nvSpPr>
        <p:spPr>
          <a:xfrm>
            <a:off x="7239000" y="2647950"/>
            <a:ext cx="285750" cy="28575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F235711-67A5-43AB-9793-09371484879A}"/>
              </a:ext>
            </a:extLst>
          </p:cNvPr>
          <p:cNvSpPr>
            <a:spLocks noGrp="1"/>
          </p:cNvSpPr>
          <p:nvPr/>
        </p:nvSpPr>
        <p:spPr>
          <a:xfrm>
            <a:off x="7239000" y="26765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C77F303-143A-4FCA-BE81-6088C100DC62}"/>
              </a:ext>
            </a:extLst>
          </p:cNvPr>
          <p:cNvSpPr>
            <a:spLocks noGrp="1"/>
          </p:cNvSpPr>
          <p:nvPr/>
        </p:nvSpPr>
        <p:spPr>
          <a:xfrm>
            <a:off x="7677150" y="2628900"/>
            <a:ext cx="3524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先看結果，不先查內部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AC8862B-8553-4D46-9414-448F5C6370D3}"/>
              </a:ext>
            </a:extLst>
          </p:cNvPr>
          <p:cNvSpPr>
            <a:spLocks noGrp="1"/>
          </p:cNvSpPr>
          <p:nvPr/>
        </p:nvSpPr>
        <p:spPr>
          <a:xfrm>
            <a:off x="7677150" y="2990850"/>
            <a:ext cx="361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>
                <a:solidFill>
                  <a:srgbClr val="334155"/>
                </a:solidFill>
              </a:defRPr>
            </a:pPr>
            <a:r>
              <a:rPr sz="1200">
                <a:solidFill>
                  <a:srgbClr val="334155"/>
                </a:solidFill>
              </a:rPr>
              <a:t>第一堂只要會用 docker images 看 SIZE，知道 tag 會影響內容。</a:t>
            </a:r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EBF0BE25-8345-48D2-B1A7-40BF4BC9A100}"/>
              </a:ext>
            </a:extLst>
          </p:cNvPr>
          <p:cNvSpPr>
            <a:spLocks noGrp="1"/>
          </p:cNvSpPr>
          <p:nvPr/>
        </p:nvSpPr>
        <p:spPr>
          <a:xfrm>
            <a:off x="7239000" y="3790950"/>
            <a:ext cx="285750" cy="28575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7C7F573-A6F8-4DE3-A101-0EC1CCC12498}"/>
              </a:ext>
            </a:extLst>
          </p:cNvPr>
          <p:cNvSpPr>
            <a:spLocks noGrp="1"/>
          </p:cNvSpPr>
          <p:nvPr/>
        </p:nvSpPr>
        <p:spPr>
          <a:xfrm>
            <a:off x="7239000" y="38195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30577F8-09F0-4406-BEBE-53AF4253206D}"/>
              </a:ext>
            </a:extLst>
          </p:cNvPr>
          <p:cNvSpPr>
            <a:spLocks noGrp="1"/>
          </p:cNvSpPr>
          <p:nvPr/>
        </p:nvSpPr>
        <p:spPr>
          <a:xfrm>
            <a:off x="7677150" y="3771900"/>
            <a:ext cx="3524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底層不同，大小就會不同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09C574C-A2EA-4C84-B011-3F5149623E72}"/>
              </a:ext>
            </a:extLst>
          </p:cNvPr>
          <p:cNvSpPr>
            <a:spLocks noGrp="1"/>
          </p:cNvSpPr>
          <p:nvPr/>
        </p:nvSpPr>
        <p:spPr>
          <a:xfrm>
            <a:off x="7677150" y="4133850"/>
            <a:ext cx="361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>
                <a:solidFill>
                  <a:srgbClr val="334155"/>
                </a:solidFill>
              </a:defRPr>
            </a:pPr>
            <a:r>
              <a:rPr sz="1200">
                <a:solidFill>
                  <a:srgbClr val="334155"/>
                </a:solidFill>
              </a:rPr>
              <a:t>完整 Debian、slim、Alpine 的基礎系統和工具量不同。</a:t>
            </a:r>
          </a:p>
        </p:txBody>
      </p:sp>
      <p:sp>
        <p:nvSpPr>
          <p:cNvPr id="26" name="橢圓 25">
            <a:extLst>
              <a:ext uri="{FF2B5EF4-FFF2-40B4-BE49-F238E27FC236}">
                <a16:creationId xmlns:a16="http://schemas.microsoft.com/office/drawing/2014/main" id="{DD5FCD00-9537-4A6C-AC80-0316DEE7DD4E}"/>
              </a:ext>
            </a:extLst>
          </p:cNvPr>
          <p:cNvSpPr>
            <a:spLocks noGrp="1"/>
          </p:cNvSpPr>
          <p:nvPr/>
        </p:nvSpPr>
        <p:spPr>
          <a:xfrm>
            <a:off x="7239000" y="4933950"/>
            <a:ext cx="285750" cy="28575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0478685-5388-407F-9F92-CDE3033DC7AC}"/>
              </a:ext>
            </a:extLst>
          </p:cNvPr>
          <p:cNvSpPr>
            <a:spLocks noGrp="1"/>
          </p:cNvSpPr>
          <p:nvPr/>
        </p:nvSpPr>
        <p:spPr>
          <a:xfrm>
            <a:off x="7239000" y="49625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70F5E21-752C-4CD1-A686-8D869C9D5165}"/>
              </a:ext>
            </a:extLst>
          </p:cNvPr>
          <p:cNvSpPr>
            <a:spLocks noGrp="1"/>
          </p:cNvSpPr>
          <p:nvPr/>
        </p:nvSpPr>
        <p:spPr>
          <a:xfrm>
            <a:off x="7677150" y="4914900"/>
            <a:ext cx="3524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沒變的 layer 可以重用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9EC7DAF-34A2-4954-A14D-C4C853796BD3}"/>
              </a:ext>
            </a:extLst>
          </p:cNvPr>
          <p:cNvSpPr>
            <a:spLocks noGrp="1"/>
          </p:cNvSpPr>
          <p:nvPr/>
        </p:nvSpPr>
        <p:spPr>
          <a:xfrm>
            <a:off x="7677150" y="5276850"/>
            <a:ext cx="361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>
                <a:solidFill>
                  <a:srgbClr val="334155"/>
                </a:solidFill>
              </a:defRPr>
            </a:pPr>
            <a:r>
              <a:rPr sz="1200">
                <a:solidFill>
                  <a:srgbClr val="334155"/>
                </a:solidFill>
              </a:rPr>
              <a:t>這會讓下載與之後建構更快；Dockerfile 課再深入 build cache。</a:t>
            </a:r>
          </a:p>
        </p:txBody>
      </p:sp>
      <p:sp>
        <p:nvSpPr>
          <p:cNvPr id="30" name="矩形: 圓角 29">
            <a:extLst>
              <a:ext uri="{FF2B5EF4-FFF2-40B4-BE49-F238E27FC236}">
                <a16:creationId xmlns:a16="http://schemas.microsoft.com/office/drawing/2014/main" id="{D71B0908-5BAB-4787-9AA9-D6CFA93BB659}"/>
              </a:ext>
            </a:extLst>
          </p:cNvPr>
          <p:cNvSpPr>
            <a:spLocks noGrp="1"/>
          </p:cNvSpPr>
          <p:nvPr/>
        </p:nvSpPr>
        <p:spPr>
          <a:xfrm>
            <a:off x="1638300" y="5772150"/>
            <a:ext cx="891540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8E1EC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752393F9-992A-467E-9EA0-F0F81EC5FB6B}"/>
              </a:ext>
            </a:extLst>
          </p:cNvPr>
          <p:cNvSpPr>
            <a:spLocks noGrp="1"/>
          </p:cNvSpPr>
          <p:nvPr/>
        </p:nvSpPr>
        <p:spPr>
          <a:xfrm>
            <a:off x="1962150" y="5857875"/>
            <a:ext cx="8267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0F172A"/>
                </a:solidFill>
              </a:defRPr>
            </a:pPr>
            <a:r>
              <a:rPr sz="1275" b="1">
                <a:solidFill>
                  <a:srgbClr val="0F172A"/>
                </a:solidFill>
              </a:rPr>
              <a:t>學生目標：理解 Image 是層疊出來的；不需要看懂每一個 layer ID 或建構歷史。</a:t>
            </a:r>
          </a:p>
        </p:txBody>
      </p:sp>
      <p:sp>
        <p:nvSpPr>
          <p:cNvPr id="32" name="直線接點 31">
            <a:extLst>
              <a:ext uri="{FF2B5EF4-FFF2-40B4-BE49-F238E27FC236}">
                <a16:creationId xmlns:a16="http://schemas.microsoft.com/office/drawing/2014/main" id="{B1F564CA-8C23-48E7-AF8A-C39262D11AAF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103632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53E67825-B183-4762-9337-DE1903EE608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Docker 基礎教學 | 第 1 堂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3F811F49-D2F4-4CB1-9D4B-5742BF5FF51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2988338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3640D1CD-CDA7-49AE-82CD-AF418B9EB42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NGINX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8001B84-13CD-409D-8082-997BCC788F6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第一個 Web 容器選 Nginx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A4B6848-BB7F-4F08-AAB8-13E55F971E36}"/>
              </a:ext>
            </a:extLst>
          </p:cNvPr>
          <p:cNvSpPr>
            <a:spLocks noGrp="1"/>
          </p:cNvSpPr>
          <p:nvPr/>
        </p:nvSpPr>
        <p:spPr>
          <a:xfrm>
            <a:off x="723900" y="1428750"/>
            <a:ext cx="990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Nginx 是常見的 Web 伺服器，適合用來示範「一行指令架起網站服務」。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38244D37-C80B-4973-A26E-C413CFF9DAC1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30861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A23DE97-73A6-443C-8876-BC2770DD3A29}"/>
              </a:ext>
            </a:extLst>
          </p:cNvPr>
          <p:cNvSpPr>
            <a:spLocks noGrp="1"/>
          </p:cNvSpPr>
          <p:nvPr/>
        </p:nvSpPr>
        <p:spPr>
          <a:xfrm>
            <a:off x="1104900" y="2438400"/>
            <a:ext cx="2628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靜態檔案伺服器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0D082FF-B72E-4DAC-85F9-0083BA4DFAC9}"/>
              </a:ext>
            </a:extLst>
          </p:cNvPr>
          <p:cNvSpPr>
            <a:spLocks noGrp="1"/>
          </p:cNvSpPr>
          <p:nvPr/>
        </p:nvSpPr>
        <p:spPr>
          <a:xfrm>
            <a:off x="1104900" y="2838450"/>
            <a:ext cx="26289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直接傳送 HTML、CSS、JS、圖片。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4CD39C5B-2286-42B6-BB40-27AB851FD7A4}"/>
              </a:ext>
            </a:extLst>
          </p:cNvPr>
          <p:cNvSpPr>
            <a:spLocks noGrp="1"/>
          </p:cNvSpPr>
          <p:nvPr/>
        </p:nvSpPr>
        <p:spPr>
          <a:xfrm>
            <a:off x="4495800" y="2247900"/>
            <a:ext cx="3086100" cy="1447800"/>
          </a:xfrm>
          <a:prstGeom prst="roundRect">
            <a:avLst>
              <a:gd name="adj" fmla="val 789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D70D078-7DB6-47B2-8BB2-0A0F2B99B8BA}"/>
              </a:ext>
            </a:extLst>
          </p:cNvPr>
          <p:cNvSpPr>
            <a:spLocks noGrp="1"/>
          </p:cNvSpPr>
          <p:nvPr/>
        </p:nvSpPr>
        <p:spPr>
          <a:xfrm>
            <a:off x="4724400" y="2438400"/>
            <a:ext cx="2628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反向代理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DDC8595-5018-4955-ABB6-BB527C7C755D}"/>
              </a:ext>
            </a:extLst>
          </p:cNvPr>
          <p:cNvSpPr>
            <a:spLocks noGrp="1"/>
          </p:cNvSpPr>
          <p:nvPr/>
        </p:nvSpPr>
        <p:spPr>
          <a:xfrm>
            <a:off x="4724400" y="2838450"/>
            <a:ext cx="26289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把外部請求轉發給 Flask / Django。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87C79345-FFAD-4A07-BAF8-64717016D813}"/>
              </a:ext>
            </a:extLst>
          </p:cNvPr>
          <p:cNvSpPr>
            <a:spLocks noGrp="1"/>
          </p:cNvSpPr>
          <p:nvPr/>
        </p:nvSpPr>
        <p:spPr>
          <a:xfrm>
            <a:off x="8115300" y="2247900"/>
            <a:ext cx="30861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84C3A66-4B90-4F5E-B8A1-48B7D5A95425}"/>
              </a:ext>
            </a:extLst>
          </p:cNvPr>
          <p:cNvSpPr>
            <a:spLocks noGrp="1"/>
          </p:cNvSpPr>
          <p:nvPr/>
        </p:nvSpPr>
        <p:spPr>
          <a:xfrm>
            <a:off x="8343900" y="2438400"/>
            <a:ext cx="2628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負載均衡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E83A5C8-8D68-4E0C-B01B-97DD2E353AE4}"/>
              </a:ext>
            </a:extLst>
          </p:cNvPr>
          <p:cNvSpPr>
            <a:spLocks noGrp="1"/>
          </p:cNvSpPr>
          <p:nvPr/>
        </p:nvSpPr>
        <p:spPr>
          <a:xfrm>
            <a:off x="8343900" y="2838450"/>
            <a:ext cx="26289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把大量請求分散到多台後端。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8CEADCA3-D156-43A4-AAE6-A4A7E0BBA73F}"/>
              </a:ext>
            </a:extLst>
          </p:cNvPr>
          <p:cNvSpPr>
            <a:spLocks noGrp="1"/>
          </p:cNvSpPr>
          <p:nvPr/>
        </p:nvSpPr>
        <p:spPr>
          <a:xfrm>
            <a:off x="2000250" y="4438650"/>
            <a:ext cx="8191500" cy="704850"/>
          </a:xfrm>
          <a:prstGeom prst="roundRect">
            <a:avLst>
              <a:gd name="adj" fmla="val 16216"/>
            </a:avLst>
          </a:prstGeom>
          <a:solidFill>
            <a:srgbClr val="0B1220"/>
          </a:solidFill>
          <a:ln w="0">
            <a:solidFill>
              <a:srgbClr val="0B122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81CDC5D-0278-4538-BCF5-4A78B125B5BB}"/>
              </a:ext>
            </a:extLst>
          </p:cNvPr>
          <p:cNvSpPr>
            <a:spLocks noGrp="1"/>
          </p:cNvSpPr>
          <p:nvPr/>
        </p:nvSpPr>
        <p:spPr>
          <a:xfrm>
            <a:off x="2381250" y="4610100"/>
            <a:ext cx="742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372"/>
          </a:bodyPr>
          <a:lstStyle/>
          <a:p>
            <a:pPr algn="ctr">
              <a:lnSpc>
                <a:spcPct val="105000"/>
              </a:lnSpc>
              <a:buNone/>
              <a:defRPr sz="210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使用者 -&gt; Nginx (80/443) -&gt; Flask (5000)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853E42E-42DD-419E-9794-A51FD7ACAD2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B3C9ACF-57B5-477A-AB7E-7460A1696C9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F00B248-98AC-4340-8159-0B5B4526416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4971107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90901BB1-F80C-4F4D-9C07-77D63BC71FD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LOCALHOST VS PRODUCTION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947107D-1F8A-4E55-8556-A770616B5083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localhost 能跑，不代表網站已上線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7DFA5414-B436-4567-AD0E-C41CF8F2F938}"/>
              </a:ext>
            </a:extLst>
          </p:cNvPr>
          <p:cNvSpPr>
            <a:spLocks noGrp="1"/>
          </p:cNvSpPr>
          <p:nvPr/>
        </p:nvSpPr>
        <p:spPr>
          <a:xfrm>
            <a:off x="819150" y="1657350"/>
            <a:ext cx="4381500" cy="3219450"/>
          </a:xfrm>
          <a:prstGeom prst="roundRect">
            <a:avLst>
              <a:gd name="adj" fmla="val 355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2B72802-9953-453B-B9DC-CDE45321741C}"/>
              </a:ext>
            </a:extLst>
          </p:cNvPr>
          <p:cNvSpPr>
            <a:spLocks noGrp="1"/>
          </p:cNvSpPr>
          <p:nvPr/>
        </p:nvSpPr>
        <p:spPr>
          <a:xfrm>
            <a:off x="1123950" y="198120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049"/>
          </a:bodyPr>
          <a:lstStyle/>
          <a:p>
            <a:pPr algn="l">
              <a:lnSpc>
                <a:spcPct val="105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4DCDBFD-7141-46FC-8095-F0CE798CE558}"/>
              </a:ext>
            </a:extLst>
          </p:cNvPr>
          <p:cNvSpPr>
            <a:spLocks noGrp="1"/>
          </p:cNvSpPr>
          <p:nvPr/>
        </p:nvSpPr>
        <p:spPr>
          <a:xfrm>
            <a:off x="1123950" y="2571750"/>
            <a:ext cx="3429000" cy="1352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`http://localhost:5000`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只有你自己的電腦能連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電腦關機服務就中斷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通常沒有 HTTPS 與正式防護</a:t>
            </a:r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DC644A6C-EBCB-4B9C-B66F-BF46274440B6}"/>
              </a:ext>
            </a:extLst>
          </p:cNvPr>
          <p:cNvSpPr>
            <a:spLocks noGrp="1"/>
          </p:cNvSpPr>
          <p:nvPr/>
        </p:nvSpPr>
        <p:spPr>
          <a:xfrm>
            <a:off x="5619750" y="3028950"/>
            <a:ext cx="952500" cy="4572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94B1F1D4-7F8A-4508-B12B-AB7A0A988AAF}"/>
              </a:ext>
            </a:extLst>
          </p:cNvPr>
          <p:cNvSpPr>
            <a:spLocks noGrp="1"/>
          </p:cNvSpPr>
          <p:nvPr/>
        </p:nvSpPr>
        <p:spPr>
          <a:xfrm>
            <a:off x="7010400" y="1657350"/>
            <a:ext cx="4381500" cy="3219450"/>
          </a:xfrm>
          <a:prstGeom prst="roundRect">
            <a:avLst>
              <a:gd name="adj" fmla="val 355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849FC39-BF76-4AC4-9A54-0A0AEBB01FD6}"/>
              </a:ext>
            </a:extLst>
          </p:cNvPr>
          <p:cNvSpPr>
            <a:spLocks noGrp="1"/>
          </p:cNvSpPr>
          <p:nvPr/>
        </p:nvSpPr>
        <p:spPr>
          <a:xfrm>
            <a:off x="7315200" y="198120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049"/>
          </a:bodyPr>
          <a:lstStyle/>
          <a:p>
            <a:pPr algn="l">
              <a:lnSpc>
                <a:spcPct val="105000"/>
              </a:lnSpc>
              <a:buNone/>
              <a:def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正式上線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2B9E6EA-E570-42DA-8EF2-EF0377DBC051}"/>
              </a:ext>
            </a:extLst>
          </p:cNvPr>
          <p:cNvSpPr>
            <a:spLocks noGrp="1"/>
          </p:cNvSpPr>
          <p:nvPr/>
        </p:nvSpPr>
        <p:spPr>
          <a:xfrm>
            <a:off x="7315200" y="2571750"/>
            <a:ext cx="3429000" cy="1352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網域與公開 IP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Web 伺服器處理流量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HTTPS 憑證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伺服器 24 小時不中斷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D538B8E-1C20-42FD-83C8-9EA657D46A82}"/>
              </a:ext>
            </a:extLst>
          </p:cNvPr>
          <p:cNvSpPr>
            <a:spLocks noGrp="1"/>
          </p:cNvSpPr>
          <p:nvPr/>
        </p:nvSpPr>
        <p:spPr>
          <a:xfrm>
            <a:off x="1466850" y="5429250"/>
            <a:ext cx="9258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這堂先把本機的 Nginx 跑起來，理解 Web 服務與 port mapping。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66A961F-FBC7-4FCA-99B4-54F7D8E79AF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5333EAA-C88F-4609-BB7A-8C67B8A6E25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5AC0DAD-C2E9-4178-BC87-CA262830EB2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4679125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CE9B2343-247C-4793-B7F8-8913EFDB2E1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HOST, CONTAINER, PORT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A4E0EC5-0946-4154-A5B4-0B94A5C54BC7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宿主機和容器是隔離的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549AD0CA-FDE5-4708-BA4C-C0AD075FD918}"/>
              </a:ext>
            </a:extLst>
          </p:cNvPr>
          <p:cNvSpPr>
            <a:spLocks noGrp="1"/>
          </p:cNvSpPr>
          <p:nvPr/>
        </p:nvSpPr>
        <p:spPr>
          <a:xfrm>
            <a:off x="1066800" y="1600200"/>
            <a:ext cx="10058400" cy="3733800"/>
          </a:xfrm>
          <a:prstGeom prst="roundRect">
            <a:avLst>
              <a:gd name="adj" fmla="val 306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92E34D9-09F4-4C31-BED0-91B96016C3DA}"/>
              </a:ext>
            </a:extLst>
          </p:cNvPr>
          <p:cNvSpPr>
            <a:spLocks noGrp="1"/>
          </p:cNvSpPr>
          <p:nvPr/>
        </p:nvSpPr>
        <p:spPr>
          <a:xfrm>
            <a:off x="1409700" y="19431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680"/>
          </a:bodyPr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宿主機：你的 Windows 電腦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B5476A26-884A-4854-A394-5F4351F316F8}"/>
              </a:ext>
            </a:extLst>
          </p:cNvPr>
          <p:cNvSpPr>
            <a:spLocks noGrp="1"/>
          </p:cNvSpPr>
          <p:nvPr/>
        </p:nvSpPr>
        <p:spPr>
          <a:xfrm>
            <a:off x="2000250" y="2781300"/>
            <a:ext cx="2571750" cy="1390650"/>
          </a:xfrm>
          <a:prstGeom prst="roundRect">
            <a:avLst>
              <a:gd name="adj" fmla="val 8219"/>
            </a:avLst>
          </a:prstGeom>
          <a:solidFill>
            <a:srgbClr val="F6F8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6DBBDDC-B318-4A06-9A74-0070BFCD1353}"/>
              </a:ext>
            </a:extLst>
          </p:cNvPr>
          <p:cNvSpPr>
            <a:spLocks noGrp="1"/>
          </p:cNvSpPr>
          <p:nvPr/>
        </p:nvSpPr>
        <p:spPr>
          <a:xfrm>
            <a:off x="2152650" y="3295650"/>
            <a:ext cx="2266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ctr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localhost:8080</a:t>
            </a:r>
          </a:p>
        </p:txBody>
      </p:sp>
      <p:sp>
        <p:nvSpPr>
          <p:cNvPr id="7" name="箭號: 向右 6">
            <a:extLst>
              <a:ext uri="{FF2B5EF4-FFF2-40B4-BE49-F238E27FC236}">
                <a16:creationId xmlns:a16="http://schemas.microsoft.com/office/drawing/2014/main" id="{C5B6BC11-D7C7-4D23-AE12-1416DEBB960E}"/>
              </a:ext>
            </a:extLst>
          </p:cNvPr>
          <p:cNvSpPr>
            <a:spLocks noGrp="1"/>
          </p:cNvSpPr>
          <p:nvPr/>
        </p:nvSpPr>
        <p:spPr>
          <a:xfrm>
            <a:off x="5200650" y="3276600"/>
            <a:ext cx="1314450" cy="4191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919EC5F2-B3A7-4DE7-83E9-E7EF3E4BEF81}"/>
              </a:ext>
            </a:extLst>
          </p:cNvPr>
          <p:cNvSpPr>
            <a:spLocks noGrp="1"/>
          </p:cNvSpPr>
          <p:nvPr/>
        </p:nvSpPr>
        <p:spPr>
          <a:xfrm>
            <a:off x="7124700" y="2438400"/>
            <a:ext cx="2800350" cy="2038350"/>
          </a:xfrm>
          <a:prstGeom prst="roundRect">
            <a:avLst>
              <a:gd name="adj" fmla="val 6542"/>
            </a:avLst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95B5DEE-D1D4-4ACA-A54C-79D9C06118F2}"/>
              </a:ext>
            </a:extLst>
          </p:cNvPr>
          <p:cNvSpPr>
            <a:spLocks noGrp="1"/>
          </p:cNvSpPr>
          <p:nvPr/>
        </p:nvSpPr>
        <p:spPr>
          <a:xfrm>
            <a:off x="7429500" y="272415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575"/>
          </a:bodyPr>
          <a:lstStyle/>
          <a:p>
            <a:pPr algn="ctr">
              <a:lnSpc>
                <a:spcPct val="105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容器：Nginx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51308A5-6EFE-48FB-AF74-CAD23DE3DD79}"/>
              </a:ext>
            </a:extLst>
          </p:cNvPr>
          <p:cNvSpPr>
            <a:spLocks noGrp="1"/>
          </p:cNvSpPr>
          <p:nvPr/>
        </p:nvSpPr>
        <p:spPr>
          <a:xfrm>
            <a:off x="7772400" y="3333750"/>
            <a:ext cx="1428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144"/>
          </a:bodyPr>
          <a:lstStyle/>
          <a:p>
            <a:pPr algn="ctr">
              <a:lnSpc>
                <a:spcPct val="105000"/>
              </a:lnSpc>
              <a:buNone/>
              <a:defRPr sz="31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80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AB99C0B-6E1B-4BFB-A45E-571B4CF15445}"/>
              </a:ext>
            </a:extLst>
          </p:cNvPr>
          <p:cNvSpPr>
            <a:spLocks noGrp="1"/>
          </p:cNvSpPr>
          <p:nvPr/>
        </p:nvSpPr>
        <p:spPr>
          <a:xfrm>
            <a:off x="7658100" y="390525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ctr">
              <a:lnSpc>
                <a:spcPct val="105000"/>
              </a:lnSpc>
              <a:buNone/>
              <a:defRPr sz="1350" b="0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5CAD"/>
                </a:solidFill>
                <a:latin typeface="Aptos"/>
                <a:ea typeface="Aptos"/>
                <a:cs typeface="Aptos"/>
              </a:rPr>
              <a:t>容器內部 port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50325177-8E99-4824-9078-35B3354B9A81}"/>
              </a:ext>
            </a:extLst>
          </p:cNvPr>
          <p:cNvSpPr>
            <a:spLocks noGrp="1"/>
          </p:cNvSpPr>
          <p:nvPr/>
        </p:nvSpPr>
        <p:spPr>
          <a:xfrm>
            <a:off x="3790950" y="4762500"/>
            <a:ext cx="4610100" cy="914400"/>
          </a:xfrm>
          <a:prstGeom prst="roundRect">
            <a:avLst>
              <a:gd name="adj" fmla="val 1041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58A9FDCF-CB53-472E-8A2C-3DBC81F9C069}"/>
              </a:ext>
            </a:extLst>
          </p:cNvPr>
          <p:cNvSpPr>
            <a:spLocks noGrp="1"/>
          </p:cNvSpPr>
          <p:nvPr/>
        </p:nvSpPr>
        <p:spPr>
          <a:xfrm>
            <a:off x="3962400" y="4924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F5514A67-8BB4-44B0-9432-0D6A9C956B7B}"/>
              </a:ext>
            </a:extLst>
          </p:cNvPr>
          <p:cNvSpPr>
            <a:spLocks noGrp="1"/>
          </p:cNvSpPr>
          <p:nvPr/>
        </p:nvSpPr>
        <p:spPr>
          <a:xfrm>
            <a:off x="4133850" y="4924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8BE62B17-F2D9-4DAE-AFA9-1301C07469D3}"/>
              </a:ext>
            </a:extLst>
          </p:cNvPr>
          <p:cNvSpPr>
            <a:spLocks noGrp="1"/>
          </p:cNvSpPr>
          <p:nvPr/>
        </p:nvSpPr>
        <p:spPr>
          <a:xfrm>
            <a:off x="4305300" y="4924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AFEEA30-3155-409D-B55C-6B678CCE2C2F}"/>
              </a:ext>
            </a:extLst>
          </p:cNvPr>
          <p:cNvSpPr>
            <a:spLocks noGrp="1"/>
          </p:cNvSpPr>
          <p:nvPr/>
        </p:nvSpPr>
        <p:spPr>
          <a:xfrm>
            <a:off x="4000500" y="5181600"/>
            <a:ext cx="4191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4373"/>
          </a:bodyPr>
          <a:lstStyle/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-p 8080:80</a:t>
            </a:r>
          </a:p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主機:容器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6FFBECA-02A5-4167-849F-556DAEE5501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009DE75-F51E-4EF7-9885-1D250844A05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057E42B-BAAD-4263-A4AB-FDEBFD09925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0853897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30F0B875-88F9-4C42-81A5-7F93AC5E0F8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FIRST CONTAINER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90102B7-7679-4B33-B651-6D6D48A38B83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一行指令跑起 Nginx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BCF5E232-9EA6-4FD6-A86F-8FAE676D1BA8}"/>
              </a:ext>
            </a:extLst>
          </p:cNvPr>
          <p:cNvSpPr>
            <a:spLocks noGrp="1"/>
          </p:cNvSpPr>
          <p:nvPr/>
        </p:nvSpPr>
        <p:spPr>
          <a:xfrm>
            <a:off x="781050" y="1695450"/>
            <a:ext cx="10629900" cy="1162050"/>
          </a:xfrm>
          <a:prstGeom prst="roundRect">
            <a:avLst>
              <a:gd name="adj" fmla="val 819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B46ADA78-404C-4011-A4BA-8FCD2B952621}"/>
              </a:ext>
            </a:extLst>
          </p:cNvPr>
          <p:cNvSpPr>
            <a:spLocks noGrp="1"/>
          </p:cNvSpPr>
          <p:nvPr/>
        </p:nvSpPr>
        <p:spPr>
          <a:xfrm>
            <a:off x="95250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C3C9E834-9B1D-4859-A1AA-66BC5B26B766}"/>
              </a:ext>
            </a:extLst>
          </p:cNvPr>
          <p:cNvSpPr>
            <a:spLocks noGrp="1"/>
          </p:cNvSpPr>
          <p:nvPr/>
        </p:nvSpPr>
        <p:spPr>
          <a:xfrm>
            <a:off x="112395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04D407C8-0DEF-4080-8FBE-B4DD8F5A30E5}"/>
              </a:ext>
            </a:extLst>
          </p:cNvPr>
          <p:cNvSpPr>
            <a:spLocks noGrp="1"/>
          </p:cNvSpPr>
          <p:nvPr/>
        </p:nvSpPr>
        <p:spPr>
          <a:xfrm>
            <a:off x="129540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B04501C-FAD7-4105-90FD-069C6B6F5E53}"/>
              </a:ext>
            </a:extLst>
          </p:cNvPr>
          <p:cNvSpPr>
            <a:spLocks noGrp="1"/>
          </p:cNvSpPr>
          <p:nvPr/>
        </p:nvSpPr>
        <p:spPr>
          <a:xfrm>
            <a:off x="990600" y="2114550"/>
            <a:ext cx="102108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my-web -p 8080:80 nginx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222C580-33BF-4BBA-BF01-53F32CE5642C}"/>
              </a:ext>
            </a:extLst>
          </p:cNvPr>
          <p:cNvSpPr>
            <a:spLocks noGrp="1"/>
          </p:cNvSpPr>
          <p:nvPr/>
        </p:nvSpPr>
        <p:spPr>
          <a:xfrm>
            <a:off x="6667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8EB12A3-9B5B-4103-B723-8EFF93CB18AE}"/>
              </a:ext>
            </a:extLst>
          </p:cNvPr>
          <p:cNvSpPr>
            <a:spLocks noGrp="1"/>
          </p:cNvSpPr>
          <p:nvPr/>
        </p:nvSpPr>
        <p:spPr>
          <a:xfrm>
            <a:off x="8191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docker run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0201A3B-4E79-4AD9-BFDB-B9E9BD4E9BF1}"/>
              </a:ext>
            </a:extLst>
          </p:cNvPr>
          <p:cNvSpPr>
            <a:spLocks noGrp="1"/>
          </p:cNvSpPr>
          <p:nvPr/>
        </p:nvSpPr>
        <p:spPr>
          <a:xfrm>
            <a:off x="8191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Image 建立並啟動 Container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F82BFA7B-5552-4ADD-A27E-E5292A7DB1F3}"/>
              </a:ext>
            </a:extLst>
          </p:cNvPr>
          <p:cNvSpPr>
            <a:spLocks noGrp="1"/>
          </p:cNvSpPr>
          <p:nvPr/>
        </p:nvSpPr>
        <p:spPr>
          <a:xfrm>
            <a:off x="29146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3C7A9E7-04C0-4243-A1D4-99F06A17E9E7}"/>
              </a:ext>
            </a:extLst>
          </p:cNvPr>
          <p:cNvSpPr>
            <a:spLocks noGrp="1"/>
          </p:cNvSpPr>
          <p:nvPr/>
        </p:nvSpPr>
        <p:spPr>
          <a:xfrm>
            <a:off x="30670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-d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C99FF07-705D-437A-AA2D-E8BDE073B271}"/>
              </a:ext>
            </a:extLst>
          </p:cNvPr>
          <p:cNvSpPr>
            <a:spLocks noGrp="1"/>
          </p:cNvSpPr>
          <p:nvPr/>
        </p:nvSpPr>
        <p:spPr>
          <a:xfrm>
            <a:off x="30670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背景執行，適合 Web 伺服器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D3669DB9-5F81-4429-9909-92C80C20EE4B}"/>
              </a:ext>
            </a:extLst>
          </p:cNvPr>
          <p:cNvSpPr>
            <a:spLocks noGrp="1"/>
          </p:cNvSpPr>
          <p:nvPr/>
        </p:nvSpPr>
        <p:spPr>
          <a:xfrm>
            <a:off x="51625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2C2E766-8D96-4AD4-B6F7-46ACF639CD4E}"/>
              </a:ext>
            </a:extLst>
          </p:cNvPr>
          <p:cNvSpPr>
            <a:spLocks noGrp="1"/>
          </p:cNvSpPr>
          <p:nvPr/>
        </p:nvSpPr>
        <p:spPr>
          <a:xfrm>
            <a:off x="53149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--name my-web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E660590-A31E-47C8-9B3E-3E426B0DF3CF}"/>
              </a:ext>
            </a:extLst>
          </p:cNvPr>
          <p:cNvSpPr>
            <a:spLocks noGrp="1"/>
          </p:cNvSpPr>
          <p:nvPr/>
        </p:nvSpPr>
        <p:spPr>
          <a:xfrm>
            <a:off x="53149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幫容器取名字，後續指令好操作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0586563C-BD9B-4550-AA2E-E19061308738}"/>
              </a:ext>
            </a:extLst>
          </p:cNvPr>
          <p:cNvSpPr>
            <a:spLocks noGrp="1"/>
          </p:cNvSpPr>
          <p:nvPr/>
        </p:nvSpPr>
        <p:spPr>
          <a:xfrm>
            <a:off x="74104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ED621C3-3260-468F-B528-AEB42E2D8298}"/>
              </a:ext>
            </a:extLst>
          </p:cNvPr>
          <p:cNvSpPr>
            <a:spLocks noGrp="1"/>
          </p:cNvSpPr>
          <p:nvPr/>
        </p:nvSpPr>
        <p:spPr>
          <a:xfrm>
            <a:off x="75628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8080:80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4618F41-0AFC-4278-8462-00B4BD7C1A31}"/>
              </a:ext>
            </a:extLst>
          </p:cNvPr>
          <p:cNvSpPr>
            <a:spLocks noGrp="1"/>
          </p:cNvSpPr>
          <p:nvPr/>
        </p:nvSpPr>
        <p:spPr>
          <a:xfrm>
            <a:off x="75628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8080 對到容器 80</a:t>
            </a: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E723167B-AC4E-4DE8-B935-C5D92D0EA4F6}"/>
              </a:ext>
            </a:extLst>
          </p:cNvPr>
          <p:cNvSpPr>
            <a:spLocks noGrp="1"/>
          </p:cNvSpPr>
          <p:nvPr/>
        </p:nvSpPr>
        <p:spPr>
          <a:xfrm>
            <a:off x="96583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A5C58FF-D156-478B-AB7D-D00FF68425B3}"/>
              </a:ext>
            </a:extLst>
          </p:cNvPr>
          <p:cNvSpPr>
            <a:spLocks noGrp="1"/>
          </p:cNvSpPr>
          <p:nvPr/>
        </p:nvSpPr>
        <p:spPr>
          <a:xfrm>
            <a:off x="98107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nginx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303536D-8C9D-4A72-B470-06C7107EBBE7}"/>
              </a:ext>
            </a:extLst>
          </p:cNvPr>
          <p:cNvSpPr>
            <a:spLocks noGrp="1"/>
          </p:cNvSpPr>
          <p:nvPr/>
        </p:nvSpPr>
        <p:spPr>
          <a:xfrm>
            <a:off x="98107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要使用的 Image 名稱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AA0306F-7D1B-4E07-B6FB-6DCB4F6FEB1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2B5EFB7-35A2-4E3F-97FD-0F0F9F05C9D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9B05121-9523-42FF-A662-0AC657C9BD3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5757771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Nginx 起手式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範例程式碼：Nginx 起手式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1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nginx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my-web -p 8080:80 nginx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my-web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1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FCAA409E-CE05-4C5E-ADC8-C18832D504A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BROWSER CHECK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9A49600-EA76-4FC1-A448-29A2F53CA2EF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成功訊號：瀏覽器看到 Welcome to nginx!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F370196-28A1-454D-A8E6-1C3772C6D1ED}"/>
              </a:ext>
            </a:extLst>
          </p:cNvPr>
          <p:cNvSpPr>
            <a:spLocks noGrp="1"/>
          </p:cNvSpPr>
          <p:nvPr/>
        </p:nvSpPr>
        <p:spPr>
          <a:xfrm>
            <a:off x="2514600" y="1638300"/>
            <a:ext cx="7162800" cy="990600"/>
          </a:xfrm>
          <a:prstGeom prst="roundRect">
            <a:avLst>
              <a:gd name="adj" fmla="val 961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7333BD5A-864B-4D98-9E4C-0BBA5D5F551C}"/>
              </a:ext>
            </a:extLst>
          </p:cNvPr>
          <p:cNvSpPr>
            <a:spLocks noGrp="1"/>
          </p:cNvSpPr>
          <p:nvPr/>
        </p:nvSpPr>
        <p:spPr>
          <a:xfrm>
            <a:off x="2686050" y="18002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B44D0D86-8670-46C1-8F9A-8378E225AAE2}"/>
              </a:ext>
            </a:extLst>
          </p:cNvPr>
          <p:cNvSpPr>
            <a:spLocks noGrp="1"/>
          </p:cNvSpPr>
          <p:nvPr/>
        </p:nvSpPr>
        <p:spPr>
          <a:xfrm>
            <a:off x="2857500" y="18002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8B4D9DC6-9A33-4EC6-969A-C2B3791CD1A6}"/>
              </a:ext>
            </a:extLst>
          </p:cNvPr>
          <p:cNvSpPr>
            <a:spLocks noGrp="1"/>
          </p:cNvSpPr>
          <p:nvPr/>
        </p:nvSpPr>
        <p:spPr>
          <a:xfrm>
            <a:off x="3028950" y="18002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2768836-6ED9-448B-915E-6F349126A820}"/>
              </a:ext>
            </a:extLst>
          </p:cNvPr>
          <p:cNvSpPr>
            <a:spLocks noGrp="1"/>
          </p:cNvSpPr>
          <p:nvPr/>
        </p:nvSpPr>
        <p:spPr>
          <a:xfrm>
            <a:off x="2724150" y="2057400"/>
            <a:ext cx="67437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24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4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http://localhost:8080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C543CBF9-E613-4335-B3ED-8C9B10512C55}"/>
              </a:ext>
            </a:extLst>
          </p:cNvPr>
          <p:cNvSpPr>
            <a:spLocks noGrp="1"/>
          </p:cNvSpPr>
          <p:nvPr/>
        </p:nvSpPr>
        <p:spPr>
          <a:xfrm>
            <a:off x="2000250" y="3162300"/>
            <a:ext cx="8191500" cy="16573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F5C6897-D7D2-4E57-B20F-E7ADB998834D}"/>
              </a:ext>
            </a:extLst>
          </p:cNvPr>
          <p:cNvSpPr>
            <a:spLocks noGrp="1"/>
          </p:cNvSpPr>
          <p:nvPr/>
        </p:nvSpPr>
        <p:spPr>
          <a:xfrm>
            <a:off x="2381250" y="3562350"/>
            <a:ext cx="742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580"/>
          </a:bodyPr>
          <a:lstStyle/>
          <a:p>
            <a:pPr algn="ctr">
              <a:lnSpc>
                <a:spcPct val="105000"/>
              </a:lnSpc>
              <a:buNone/>
              <a:defRPr sz="33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Welcome to nginx!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FE8F9F-ECCF-4A01-B472-F63475F6FEB9}"/>
              </a:ext>
            </a:extLst>
          </p:cNvPr>
          <p:cNvSpPr>
            <a:spLocks noGrp="1"/>
          </p:cNvSpPr>
          <p:nvPr/>
        </p:nvSpPr>
        <p:spPr>
          <a:xfrm>
            <a:off x="2381250" y="4191000"/>
            <a:ext cx="7429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6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你剛剛用一行指令建立了一個正在運行的 Web 伺服器。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B51D968-F2D8-4B6D-AFFF-B4ACC7E3DFD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8976A5F-7DD3-4A6D-93C6-B3A6A89E9B6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8A59756-AC03-4A36-BD02-3D8FF9CA931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7918657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E3884C80-27E7-4DF1-A847-3C7EAE8B31F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EXEC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4079223-5DA5-45C5-A0A0-2F497DC39BED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進入容器，理解檔案系統隔離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237CF8C7-B49E-4650-B910-8B38FF1B332B}"/>
              </a:ext>
            </a:extLst>
          </p:cNvPr>
          <p:cNvSpPr>
            <a:spLocks noGrp="1"/>
          </p:cNvSpPr>
          <p:nvPr/>
        </p:nvSpPr>
        <p:spPr>
          <a:xfrm>
            <a:off x="781050" y="1543050"/>
            <a:ext cx="4953000" cy="3676650"/>
          </a:xfrm>
          <a:prstGeom prst="roundRect">
            <a:avLst>
              <a:gd name="adj" fmla="val 259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ABB16EC9-B22F-4056-A1A7-9EED172DACC8}"/>
              </a:ext>
            </a:extLst>
          </p:cNvPr>
          <p:cNvSpPr>
            <a:spLocks noGrp="1"/>
          </p:cNvSpPr>
          <p:nvPr/>
        </p:nvSpPr>
        <p:spPr>
          <a:xfrm>
            <a:off x="952500" y="17049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77E91711-1E54-4371-9D3F-9305972C9D40}"/>
              </a:ext>
            </a:extLst>
          </p:cNvPr>
          <p:cNvSpPr>
            <a:spLocks noGrp="1"/>
          </p:cNvSpPr>
          <p:nvPr/>
        </p:nvSpPr>
        <p:spPr>
          <a:xfrm>
            <a:off x="1123950" y="17049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F75D37DE-FBE8-4A9A-AA88-06CDE2ABF7F6}"/>
              </a:ext>
            </a:extLst>
          </p:cNvPr>
          <p:cNvSpPr>
            <a:spLocks noGrp="1"/>
          </p:cNvSpPr>
          <p:nvPr/>
        </p:nvSpPr>
        <p:spPr>
          <a:xfrm>
            <a:off x="1295400" y="17049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3D6C357-E1A7-49E4-B932-B064F143A7FB}"/>
              </a:ext>
            </a:extLst>
          </p:cNvPr>
          <p:cNvSpPr>
            <a:spLocks noGrp="1"/>
          </p:cNvSpPr>
          <p:nvPr/>
        </p:nvSpPr>
        <p:spPr>
          <a:xfrm>
            <a:off x="990600" y="1962150"/>
            <a:ext cx="4533900" cy="3124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my-web sh</a:t>
            </a:r>
          </a:p>
          <a:p>
            <a:endParaRPr sz="165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pwd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 /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/usr/share/nginx/html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index.html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47EC9449-7A61-447C-AC3A-496B252CC0EE}"/>
              </a:ext>
            </a:extLst>
          </p:cNvPr>
          <p:cNvSpPr>
            <a:spLocks noGrp="1"/>
          </p:cNvSpPr>
          <p:nvPr/>
        </p:nvSpPr>
        <p:spPr>
          <a:xfrm>
            <a:off x="6419850" y="1638300"/>
            <a:ext cx="4362450" cy="3219450"/>
          </a:xfrm>
          <a:prstGeom prst="roundRect">
            <a:avLst>
              <a:gd name="adj" fmla="val 4142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119C80B-31D6-41BD-A75F-84305AB57EA6}"/>
              </a:ext>
            </a:extLst>
          </p:cNvPr>
          <p:cNvSpPr>
            <a:spLocks noGrp="1"/>
          </p:cNvSpPr>
          <p:nvPr/>
        </p:nvSpPr>
        <p:spPr>
          <a:xfrm>
            <a:off x="6800850" y="2247900"/>
            <a:ext cx="36004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96000"/>
              </a:lnSpc>
              <a:buNone/>
              <a:defRPr sz="21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/usr/share/nginx/html/index.html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E94F034-D9CD-4F2C-A288-92F1826265D5}"/>
              </a:ext>
            </a:extLst>
          </p:cNvPr>
          <p:cNvSpPr>
            <a:spLocks noGrp="1"/>
          </p:cNvSpPr>
          <p:nvPr/>
        </p:nvSpPr>
        <p:spPr>
          <a:xfrm>
            <a:off x="6877050" y="3257550"/>
            <a:ext cx="34290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這就是剛才瀏覽器看到的歡迎頁面。容器內部有自己的檔案系統，和宿主機分開。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DF0084B-D2FA-4B19-9458-21DCD443849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0D6D50C-EC23-491F-AFF7-A632F9C5D91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0B06481-8D38-4633-8F83-E6CA0BF449E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2093469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進入 Nginx 容器檢查 (1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範例程式碼：進入 Nginx 容器檢查 (1/2)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1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進入 Nginx 容器（Nginx 用的是 sh，不是 bash）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my-web sh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```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現在你已經「進入」容器內部了，來探索一下：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```sh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1. 看看現在在哪裡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pwd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2. 看看根目錄有什麼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 /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3. 去找 Nginx 的網頁檔案在哪裡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/usr/share/nginx/html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4. 看看有哪些檔案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5. 看看歡迎頁面的內容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index.html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1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進入 Nginx 容器檢查 (2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範例程式碼：進入 Nginx 容器檢查 (2/2)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1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6. 離開容器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1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3785A105-2B81-4B56-AE1D-EA18C41AC84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CDB3B6A-D03E-46B2-B8A4-08F608B7F1AA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P2：啟動 Nginx 並自訂歡迎頁</a:t>
            </a:r>
          </a:p>
        </p:txBody>
      </p:sp>
      <p:sp>
        <p:nvSpPr>
          <p:cNvPr id="3" name="橢圓 2">
            <a:extLst>
              <a:ext uri="{FF2B5EF4-FFF2-40B4-BE49-F238E27FC236}">
                <a16:creationId xmlns:a16="http://schemas.microsoft.com/office/drawing/2014/main" id="{F5065FCA-FFE9-4F18-A159-749E7EA57CF9}"/>
              </a:ext>
            </a:extLst>
          </p:cNvPr>
          <p:cNvSpPr>
            <a:spLocks noGrp="1"/>
          </p:cNvSpPr>
          <p:nvPr/>
        </p:nvSpPr>
        <p:spPr>
          <a:xfrm>
            <a:off x="952500" y="1733550"/>
            <a:ext cx="457200" cy="45720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ED22F91-AE3E-4429-947D-2A20D3E7CEB1}"/>
              </a:ext>
            </a:extLst>
          </p:cNvPr>
          <p:cNvSpPr>
            <a:spLocks noGrp="1"/>
          </p:cNvSpPr>
          <p:nvPr/>
        </p:nvSpPr>
        <p:spPr>
          <a:xfrm>
            <a:off x="952500" y="1857375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371"/>
          </a:bodyPr>
          <a:lstStyle/>
          <a:p>
            <a:pPr algn="ctr">
              <a:lnSpc>
                <a:spcPct val="105000"/>
              </a:lnSpc>
              <a:buNone/>
              <a:defRPr sz="12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54EEF8C-527C-4AFC-97B9-453F2A2C1957}"/>
              </a:ext>
            </a:extLst>
          </p:cNvPr>
          <p:cNvSpPr>
            <a:spLocks noGrp="1"/>
          </p:cNvSpPr>
          <p:nvPr/>
        </p:nvSpPr>
        <p:spPr>
          <a:xfrm>
            <a:off x="1600200" y="1581150"/>
            <a:ext cx="3905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my-html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7281EF3-17F6-4C62-8598-A960C19B733C}"/>
              </a:ext>
            </a:extLst>
          </p:cNvPr>
          <p:cNvSpPr>
            <a:spLocks noGrp="1"/>
          </p:cNvSpPr>
          <p:nvPr/>
        </p:nvSpPr>
        <p:spPr>
          <a:xfrm>
            <a:off x="1600200" y="1962150"/>
            <a:ext cx="3905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資料夾內放 index.html，內容寫自己的名字。</a:t>
            </a:r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BC6BBCFB-6B21-46DD-BF50-32EF745D6392}"/>
              </a:ext>
            </a:extLst>
          </p:cNvPr>
          <p:cNvSpPr>
            <a:spLocks noGrp="1"/>
          </p:cNvSpPr>
          <p:nvPr/>
        </p:nvSpPr>
        <p:spPr>
          <a:xfrm>
            <a:off x="6496050" y="1733550"/>
            <a:ext cx="457200" cy="45720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52B7A77-9158-4F1B-B9E9-33BCF94B29DD}"/>
              </a:ext>
            </a:extLst>
          </p:cNvPr>
          <p:cNvSpPr>
            <a:spLocks noGrp="1"/>
          </p:cNvSpPr>
          <p:nvPr/>
        </p:nvSpPr>
        <p:spPr>
          <a:xfrm>
            <a:off x="6496050" y="1857375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371"/>
          </a:bodyPr>
          <a:lstStyle/>
          <a:p>
            <a:pPr algn="ctr">
              <a:lnSpc>
                <a:spcPct val="105000"/>
              </a:lnSpc>
              <a:buNone/>
              <a:defRPr sz="12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3910725-E66C-410D-955D-E5ABA6437A68}"/>
              </a:ext>
            </a:extLst>
          </p:cNvPr>
          <p:cNvSpPr>
            <a:spLocks noGrp="1"/>
          </p:cNvSpPr>
          <p:nvPr/>
        </p:nvSpPr>
        <p:spPr>
          <a:xfrm>
            <a:off x="7143750" y="1581150"/>
            <a:ext cx="3905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掛載到 Nginx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50B8307-1F3D-4DA2-870E-483B88B6C864}"/>
              </a:ext>
            </a:extLst>
          </p:cNvPr>
          <p:cNvSpPr>
            <a:spLocks noGrp="1"/>
          </p:cNvSpPr>
          <p:nvPr/>
        </p:nvSpPr>
        <p:spPr>
          <a:xfrm>
            <a:off x="7143750" y="1962150"/>
            <a:ext cx="3905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 my-html 掛到 /usr/share/nginx/html。</a:t>
            </a:r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8FE36071-EFC3-4BB2-9935-32567E6F6670}"/>
              </a:ext>
            </a:extLst>
          </p:cNvPr>
          <p:cNvSpPr>
            <a:spLocks noGrp="1"/>
          </p:cNvSpPr>
          <p:nvPr/>
        </p:nvSpPr>
        <p:spPr>
          <a:xfrm>
            <a:off x="952500" y="3486150"/>
            <a:ext cx="457200" cy="4572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9057127-868A-4BDB-9D8B-5DE6B72DBC54}"/>
              </a:ext>
            </a:extLst>
          </p:cNvPr>
          <p:cNvSpPr>
            <a:spLocks noGrp="1"/>
          </p:cNvSpPr>
          <p:nvPr/>
        </p:nvSpPr>
        <p:spPr>
          <a:xfrm>
            <a:off x="952500" y="3609975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371"/>
          </a:bodyPr>
          <a:lstStyle/>
          <a:p>
            <a:pPr algn="ctr">
              <a:lnSpc>
                <a:spcPct val="105000"/>
              </a:lnSpc>
              <a:buNone/>
              <a:defRPr sz="12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0E0B583-8B59-407D-81C2-384A709A0D48}"/>
              </a:ext>
            </a:extLst>
          </p:cNvPr>
          <p:cNvSpPr>
            <a:spLocks noGrp="1"/>
          </p:cNvSpPr>
          <p:nvPr/>
        </p:nvSpPr>
        <p:spPr>
          <a:xfrm>
            <a:off x="1600200" y="3333750"/>
            <a:ext cx="3905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瀏覽器確認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21FE4F8-9DE1-421D-9687-6247580343E9}"/>
              </a:ext>
            </a:extLst>
          </p:cNvPr>
          <p:cNvSpPr>
            <a:spLocks noGrp="1"/>
          </p:cNvSpPr>
          <p:nvPr/>
        </p:nvSpPr>
        <p:spPr>
          <a:xfrm>
            <a:off x="1600200" y="3714750"/>
            <a:ext cx="3905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打開 localhost:8080，看到自己的內容。</a:t>
            </a:r>
          </a:p>
        </p:txBody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8CA81235-B0D1-4A90-BA75-954D4F5F9107}"/>
              </a:ext>
            </a:extLst>
          </p:cNvPr>
          <p:cNvSpPr>
            <a:spLocks noGrp="1"/>
          </p:cNvSpPr>
          <p:nvPr/>
        </p:nvSpPr>
        <p:spPr>
          <a:xfrm>
            <a:off x="6496050" y="3486150"/>
            <a:ext cx="457200" cy="4572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FB85B9D-D89F-461F-B9F5-B3192BE0E2FF}"/>
              </a:ext>
            </a:extLst>
          </p:cNvPr>
          <p:cNvSpPr>
            <a:spLocks noGrp="1"/>
          </p:cNvSpPr>
          <p:nvPr/>
        </p:nvSpPr>
        <p:spPr>
          <a:xfrm>
            <a:off x="6496050" y="3609975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371"/>
          </a:bodyPr>
          <a:lstStyle/>
          <a:p>
            <a:pPr algn="ctr">
              <a:lnSpc>
                <a:spcPct val="105000"/>
              </a:lnSpc>
              <a:buNone/>
              <a:defRPr sz="12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C187838-CB06-46F3-A419-7D3D1D1E5071}"/>
              </a:ext>
            </a:extLst>
          </p:cNvPr>
          <p:cNvSpPr>
            <a:spLocks noGrp="1"/>
          </p:cNvSpPr>
          <p:nvPr/>
        </p:nvSpPr>
        <p:spPr>
          <a:xfrm>
            <a:off x="7143750" y="3333750"/>
            <a:ext cx="3905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進容器檢查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C522391-7AB7-460E-8EBF-B63511E485DD}"/>
              </a:ext>
            </a:extLst>
          </p:cNvPr>
          <p:cNvSpPr>
            <a:spLocks noGrp="1"/>
          </p:cNvSpPr>
          <p:nvPr/>
        </p:nvSpPr>
        <p:spPr>
          <a:xfrm>
            <a:off x="7143750" y="3714750"/>
            <a:ext cx="3905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cat /usr/share/nginx/html/index.html</a:t>
            </a:r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98A4247D-FE4D-4C10-9306-9B618288D947}"/>
              </a:ext>
            </a:extLst>
          </p:cNvPr>
          <p:cNvSpPr>
            <a:spLocks noGrp="1"/>
          </p:cNvSpPr>
          <p:nvPr/>
        </p:nvSpPr>
        <p:spPr>
          <a:xfrm>
            <a:off x="1257300" y="5029200"/>
            <a:ext cx="9677400" cy="95250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CA76ADCA-5B68-44C2-8873-802D754678F4}"/>
              </a:ext>
            </a:extLst>
          </p:cNvPr>
          <p:cNvSpPr>
            <a:spLocks noGrp="1"/>
          </p:cNvSpPr>
          <p:nvPr/>
        </p:nvSpPr>
        <p:spPr>
          <a:xfrm>
            <a:off x="1428750" y="51911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1" name="橢圓 20">
            <a:extLst>
              <a:ext uri="{FF2B5EF4-FFF2-40B4-BE49-F238E27FC236}">
                <a16:creationId xmlns:a16="http://schemas.microsoft.com/office/drawing/2014/main" id="{CFD713CB-4C14-4FC8-AECF-EF51C148CAAB}"/>
              </a:ext>
            </a:extLst>
          </p:cNvPr>
          <p:cNvSpPr>
            <a:spLocks noGrp="1"/>
          </p:cNvSpPr>
          <p:nvPr/>
        </p:nvSpPr>
        <p:spPr>
          <a:xfrm>
            <a:off x="1600200" y="51911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F364F389-F718-4829-A8B5-667B2A8E1E96}"/>
              </a:ext>
            </a:extLst>
          </p:cNvPr>
          <p:cNvSpPr>
            <a:spLocks noGrp="1"/>
          </p:cNvSpPr>
          <p:nvPr/>
        </p:nvSpPr>
        <p:spPr>
          <a:xfrm>
            <a:off x="1771650" y="51911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4F2CCEE-4655-4079-95F9-EB8F71838538}"/>
              </a:ext>
            </a:extLst>
          </p:cNvPr>
          <p:cNvSpPr>
            <a:spLocks noGrp="1"/>
          </p:cNvSpPr>
          <p:nvPr/>
        </p:nvSpPr>
        <p:spPr>
          <a:xfrm>
            <a:off x="1466850" y="5448300"/>
            <a:ext cx="9258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0128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course-nginx -p 8080:80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"${PWD}\my-html:/usr/share/nginx/html:ro" nginx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93B7D36-7886-4218-AC77-8A79E6E1B05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05C4E82-71DD-4AA6-84F4-6B20CDE78B9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1C55653-9566-4AC5-8B34-CF732B7D971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8073986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32D72500-4ECE-4EF4-AF6D-1C7103D552A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CONTAINER LIFECYCLE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279AA9D-1CB6-4577-A990-F24C3203D30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第一堂必會的容器生命週期指令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01928344-03DB-4672-B876-342328948AFC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4762500" cy="3886200"/>
          </a:xfrm>
          <a:prstGeom prst="roundRect">
            <a:avLst>
              <a:gd name="adj" fmla="val 245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831E50CD-71DD-40D9-B178-2A8691ACD8F2}"/>
              </a:ext>
            </a:extLst>
          </p:cNvPr>
          <p:cNvSpPr>
            <a:spLocks noGrp="1"/>
          </p:cNvSpPr>
          <p:nvPr/>
        </p:nvSpPr>
        <p:spPr>
          <a:xfrm>
            <a:off x="838200" y="16668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96A868E7-6A8E-4112-B19C-9640F368C799}"/>
              </a:ext>
            </a:extLst>
          </p:cNvPr>
          <p:cNvSpPr>
            <a:spLocks noGrp="1"/>
          </p:cNvSpPr>
          <p:nvPr/>
        </p:nvSpPr>
        <p:spPr>
          <a:xfrm>
            <a:off x="1009650" y="16668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41CA1AE3-6308-40AC-9AE7-EE9D5F5FD19D}"/>
              </a:ext>
            </a:extLst>
          </p:cNvPr>
          <p:cNvSpPr>
            <a:spLocks noGrp="1"/>
          </p:cNvSpPr>
          <p:nvPr/>
        </p:nvSpPr>
        <p:spPr>
          <a:xfrm>
            <a:off x="1181100" y="16668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AA930BD-E992-46A3-9E91-7EC14975E052}"/>
              </a:ext>
            </a:extLst>
          </p:cNvPr>
          <p:cNvSpPr>
            <a:spLocks noGrp="1"/>
          </p:cNvSpPr>
          <p:nvPr/>
        </p:nvSpPr>
        <p:spPr>
          <a:xfrm>
            <a:off x="876300" y="1924050"/>
            <a:ext cx="4343400" cy="3333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查看狀態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endParaRPr sz="150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 log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my-web</a:t>
            </a:r>
          </a:p>
          <a:p>
            <a:endParaRPr sz="150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停止與啟動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my-web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my-web</a:t>
            </a:r>
          </a:p>
          <a:p>
            <a:endParaRPr sz="150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用完後刪除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my-web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2654F34-82C4-4FE2-A051-FC002A93F6C1}"/>
              </a:ext>
            </a:extLst>
          </p:cNvPr>
          <p:cNvSpPr>
            <a:spLocks noGrp="1"/>
          </p:cNvSpPr>
          <p:nvPr/>
        </p:nvSpPr>
        <p:spPr>
          <a:xfrm>
            <a:off x="6191250" y="1619250"/>
            <a:ext cx="4286250" cy="1676400"/>
          </a:xfrm>
          <a:prstGeom prst="roundRect">
            <a:avLst>
              <a:gd name="adj" fmla="val 6818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73EB925-1B76-451F-A4FA-62ECFF471FEB}"/>
              </a:ext>
            </a:extLst>
          </p:cNvPr>
          <p:cNvSpPr>
            <a:spLocks noGrp="1"/>
          </p:cNvSpPr>
          <p:nvPr/>
        </p:nvSpPr>
        <p:spPr>
          <a:xfrm>
            <a:off x="6419850" y="1809750"/>
            <a:ext cx="3829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卡住時先查三件事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C60DB7A-83F3-46B9-A4D4-D908FD6F7262}"/>
              </a:ext>
            </a:extLst>
          </p:cNvPr>
          <p:cNvSpPr>
            <a:spLocks noGrp="1"/>
          </p:cNvSpPr>
          <p:nvPr/>
        </p:nvSpPr>
        <p:spPr>
          <a:xfrm>
            <a:off x="6419850" y="2209800"/>
            <a:ext cx="38290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1. Docker Desktop 是否啟動</a:t>
            </a:r>
          </a:p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2. 容器是否真的 Up</a:t>
            </a:r>
          </a:p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3. 8080 port 是否被佔用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709A5C67-8EC2-4D03-BF3E-19FF1B2CC5FF}"/>
              </a:ext>
            </a:extLst>
          </p:cNvPr>
          <p:cNvSpPr>
            <a:spLocks noGrp="1"/>
          </p:cNvSpPr>
          <p:nvPr/>
        </p:nvSpPr>
        <p:spPr>
          <a:xfrm>
            <a:off x="6191250" y="3714750"/>
            <a:ext cx="428625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F8E021A-0BBC-4BE3-9D6F-FF53DCD01990}"/>
              </a:ext>
            </a:extLst>
          </p:cNvPr>
          <p:cNvSpPr>
            <a:spLocks noGrp="1"/>
          </p:cNvSpPr>
          <p:nvPr/>
        </p:nvSpPr>
        <p:spPr>
          <a:xfrm>
            <a:off x="6419850" y="3905250"/>
            <a:ext cx="3829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 Image 前先刪 Container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A15416C-6397-4945-BAE5-1B45BFBA8037}"/>
              </a:ext>
            </a:extLst>
          </p:cNvPr>
          <p:cNvSpPr>
            <a:spLocks noGrp="1"/>
          </p:cNvSpPr>
          <p:nvPr/>
        </p:nvSpPr>
        <p:spPr>
          <a:xfrm>
            <a:off x="6419850" y="4305300"/>
            <a:ext cx="38290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只要還有容器使用某個 Image，不管容器是否停止，docker rmi 都可能失敗。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C65C2FE-A7DA-4BB7-8191-A2A1861C197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F78135E-EC87-4A4B-B5DC-67A73CA3960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37E8EB5-2C0A-40C2-A148-0F79CE92CBC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050724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狀態查看與清理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範例程式碼：狀態查看與清理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1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查看容器狀態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 log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my-web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停止容器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my-web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重新啟動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my-web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用完後刪除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my-web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1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72C7E7D4-B893-4462-9810-1E279C5F270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 / BONUS C1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FED1CD1-FB83-4277-AB4B-4A6C645FB1AD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 + Bonus：清理與 Nginx 自我檢查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BAD4DD0C-AB44-4DB1-A664-313AB63A2C32}"/>
              </a:ext>
            </a:extLst>
          </p:cNvPr>
          <p:cNvSpPr>
            <a:spLocks noGrp="1"/>
          </p:cNvSpPr>
          <p:nvPr/>
        </p:nvSpPr>
        <p:spPr>
          <a:xfrm>
            <a:off x="914400" y="1676400"/>
            <a:ext cx="4762500" cy="2476500"/>
          </a:xfrm>
          <a:prstGeom prst="roundRect">
            <a:avLst>
              <a:gd name="adj" fmla="val 4615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79E48D5-BF1E-49DD-B337-8A74A5193B3F}"/>
              </a:ext>
            </a:extLst>
          </p:cNvPr>
          <p:cNvSpPr>
            <a:spLocks noGrp="1"/>
          </p:cNvSpPr>
          <p:nvPr/>
        </p:nvSpPr>
        <p:spPr>
          <a:xfrm>
            <a:off x="1143000" y="1866900"/>
            <a:ext cx="4305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P3：清理練習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3AB7213-19A9-4E3D-BB39-5993C645C901}"/>
              </a:ext>
            </a:extLst>
          </p:cNvPr>
          <p:cNvSpPr>
            <a:spLocks noGrp="1"/>
          </p:cNvSpPr>
          <p:nvPr/>
        </p:nvSpPr>
        <p:spPr>
          <a:xfrm>
            <a:off x="1143000" y="2266950"/>
            <a:ext cx="4305300" cy="169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rm -f course-nginx</a:t>
            </a:r>
          </a:p>
          <a:p>
            <a:endParaRPr sz="1500" b="0">
              <a:solidFill>
                <a:srgbClr val="E2E8F0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rmi python:3.11 python:3.11-alpine</a:t>
            </a:r>
          </a:p>
          <a:p>
            <a:endParaRPr sz="1500" b="0">
              <a:solidFill>
                <a:srgbClr val="E2E8F0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確認 docker ps -a 和 docker images。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1E695BE6-9D9D-442C-8186-97915C2EB928}"/>
              </a:ext>
            </a:extLst>
          </p:cNvPr>
          <p:cNvSpPr>
            <a:spLocks noGrp="1"/>
          </p:cNvSpPr>
          <p:nvPr/>
        </p:nvSpPr>
        <p:spPr>
          <a:xfrm>
            <a:off x="6515100" y="1676400"/>
            <a:ext cx="4762500" cy="2476500"/>
          </a:xfrm>
          <a:prstGeom prst="roundRect">
            <a:avLst>
              <a:gd name="adj" fmla="val 4615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0F24D3E-6F01-4956-B8C7-0DB447A0F6EA}"/>
              </a:ext>
            </a:extLst>
          </p:cNvPr>
          <p:cNvSpPr>
            <a:spLocks noGrp="1"/>
          </p:cNvSpPr>
          <p:nvPr/>
        </p:nvSpPr>
        <p:spPr>
          <a:xfrm>
            <a:off x="6743700" y="1866900"/>
            <a:ext cx="4305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Bonus：Nginx 自我檢查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4266A0B-9CBD-475D-ABB6-8F2798F07920}"/>
              </a:ext>
            </a:extLst>
          </p:cNvPr>
          <p:cNvSpPr>
            <a:spLocks noGrp="1"/>
          </p:cNvSpPr>
          <p:nvPr/>
        </p:nvSpPr>
        <p:spPr>
          <a:xfrm>
            <a:off x="6743700" y="2266950"/>
            <a:ext cx="4305300" cy="169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照著附錄指令，重新跑一次 Nginx 容器。</a:t>
            </a:r>
          </a:p>
          <a:p>
            <a:endParaRPr sz="1500" b="0">
              <a:solidFill>
                <a:srgbClr val="E2E8F0"/>
              </a:solidFill>
              <a:latin typeface="Aptos"/>
              <a:ea typeface="Aptos"/>
              <a:cs typeface="Aptos"/>
            </a:endParaRPr>
          </a:p>
          <a:p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換成 course-nginx-check / 8081:80，確認頁面、ps/logs 後清理。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D87A694D-E621-4177-98CF-3E0B2FEC89D8}"/>
              </a:ext>
            </a:extLst>
          </p:cNvPr>
          <p:cNvSpPr>
            <a:spLocks noGrp="1"/>
          </p:cNvSpPr>
          <p:nvPr/>
        </p:nvSpPr>
        <p:spPr>
          <a:xfrm>
            <a:off x="2095500" y="4857750"/>
            <a:ext cx="8001000" cy="571500"/>
          </a:xfrm>
          <a:prstGeom prst="roundRect">
            <a:avLst>
              <a:gd name="adj" fmla="val 2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E639150-D833-424C-9874-5B77D0CAEF12}"/>
              </a:ext>
            </a:extLst>
          </p:cNvPr>
          <p:cNvSpPr>
            <a:spLocks noGrp="1"/>
          </p:cNvSpPr>
          <p:nvPr/>
        </p:nvSpPr>
        <p:spPr>
          <a:xfrm>
            <a:off x="2400300" y="5029200"/>
            <a:ext cx="73914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979"/>
          </a:bodyPr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下一堂：Flask 容器、容器管理與 Volume。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A6290D6-6784-4055-926C-618888BB8EF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086612F-89D9-4D26-83B0-C466220FB5B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A2C9CC0-E593-440A-8016-F499F9E3DA1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92591698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1836</Words>
  <Application>Microsoft Office PowerPoint</Application>
  <DocSecurity>0</DocSecurity>
  <PresentationFormat>寬螢幕</PresentationFormat>
  <Paragraphs>474</Paragraphs>
  <Slides>31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31</vt:i4>
      </vt:variant>
    </vt:vector>
  </HeadingPairs>
  <TitlesOfParts>
    <vt:vector size="35" baseType="lpstr">
      <vt:lpstr>Aptos</vt:lpstr>
      <vt:lpstr>Aptos Display</vt:lpstr>
      <vt:lpstr>Consolas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sdt</cp:lastModifiedBy>
  <cp:revision>1</cp:revision>
  <dcterms:created xsi:type="dcterms:W3CDTF">2026-06-21T16:11:39Z</dcterms:created>
  <dcterms:modified xsi:type="dcterms:W3CDTF">2026-06-23T02:55:55Z</dcterms:modified>
</cp:coreProperties>
</file>