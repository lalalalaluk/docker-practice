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6"/>
    <p:restoredTop sz="94660"/>
  </p:normalViewPr>
  <p:slideViewPr>
    <p:cSldViewPr snapToGrid="0">
      <p:cViewPr varScale="1">
        <p:scale>
          <a:sx n="81" d="100"/>
          <a:sy n="81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D23777-F608-4017-85DF-390B902202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w="0">
            <a:noFill/>
            <a:prstDash val="solid"/>
          </a:ln>
        </p:spPr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rcRect l="20297" r="20297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96F32A5-982A-455A-BC87-3A135014EC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33000">
                <a:srgbClr val="07111F">
                  <a:alpha val="96000"/>
                </a:srgbClr>
              </a:gs>
              <a:gs pos="63000">
                <a:srgbClr val="07111F">
                  <a:alpha val="46000"/>
                </a:srgbClr>
              </a:gs>
              <a:gs pos="100000">
                <a:srgbClr val="07111F">
                  <a:alpha val="5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3F62570-EEA7-4468-8A63-E53856FEBA75}"/>
              </a:ext>
            </a:extLst>
          </p:cNvPr>
          <p:cNvSpPr>
            <a:spLocks noGrp="1"/>
          </p:cNvSpPr>
          <p:nvPr/>
        </p:nvSpPr>
        <p:spPr>
          <a:xfrm>
            <a:off x="7715250" y="-857250"/>
            <a:ext cx="3905250" cy="3905250"/>
          </a:xfrm>
          <a:prstGeom prst="ellipse">
            <a:avLst/>
          </a:prstGeom>
          <a:solidFill>
            <a:srgbClr val="FFFFFF">
              <a:alpha val="8000"/>
            </a:srgbClr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5E2A4E2-1049-400F-A9D4-88D99B3BE6CB}"/>
              </a:ext>
            </a:extLst>
          </p:cNvPr>
          <p:cNvSpPr>
            <a:spLocks noGrp="1"/>
          </p:cNvSpPr>
          <p:nvPr/>
        </p:nvSpPr>
        <p:spPr>
          <a:xfrm>
            <a:off x="9525000" y="4095750"/>
            <a:ext cx="3238500" cy="3238500"/>
          </a:xfrm>
          <a:prstGeom prst="ellipse">
            <a:avLst/>
          </a:prstGeom>
          <a:solidFill>
            <a:srgbClr val="00A97F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6B3D126-174C-4501-845F-298080619A5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AB8BE0-FF95-4D44-BDAD-0ED31AC1AACA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18 小時 Docker 基礎教學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46EE50-8276-400A-AEE2-6D0B7882005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7715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先安裝，再理解 Docker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26B9C0-6BBF-4CE3-831F-5CE34DF88650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第 1 堂 | Windows + WSL 2 + Docker Desktop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D821FAE-B4C3-42E2-A11C-99D9F38A3CC5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7810500" cy="1066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7F2F65-37F3-417A-B535-F845695F53B0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 lnSpcReduction="10000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今天完成：先完成安裝檢查，再理解 Docker 解決什麼問題，最後用一行指令跑起 Nginx。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93427D-B398-4D45-8EC5-65EA6B3A53EA}"/>
              </a:ext>
            </a:extLst>
          </p:cNvPr>
          <p:cNvSpPr>
            <a:spLocks noGrp="1"/>
          </p:cNvSpPr>
          <p:nvPr/>
        </p:nvSpPr>
        <p:spPr>
          <a:xfrm>
            <a:off x="9620250" y="6000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649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0F6B009-6CE0-4592-BBE1-A32006B7269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07351-4B51-47EB-8F83-5A9B74A915C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三小時學習地圖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5111866-73F3-41E7-9C53-344676297BA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CE6FF67-4E97-4485-8251-198E6FBA006F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14350" cy="5143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E4819C-FE3F-4F7F-951C-62A0A13D4B1C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F0B442-EF46-46EE-BF36-B25AE9C65CB8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安裝環境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B43EAF-590D-42FB-B639-805445F608C4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2743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Windows、WSL 2、Docker Desktop，先跑過 hello-world。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D65649E-76FE-4C20-9B11-615770D815FB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A785D7-6A51-4D81-AC38-945578D380BA}"/>
              </a:ext>
            </a:extLst>
          </p:cNvPr>
          <p:cNvSpPr>
            <a:spLocks noGrp="1"/>
          </p:cNvSpPr>
          <p:nvPr/>
        </p:nvSpPr>
        <p:spPr>
          <a:xfrm>
            <a:off x="838200" y="4352925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3504548-3577-4DBE-9123-D04BD35C68AB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6DCD29ED-23A1-4C52-B9F5-4A753DB6D77D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514350" cy="5143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07969D-8388-45D8-9D54-C62496874076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B2FB8F-FC6E-4A2D-A8D6-709457387C9E}"/>
              </a:ext>
            </a:extLst>
          </p:cNvPr>
          <p:cNvSpPr>
            <a:spLocks noGrp="1"/>
          </p:cNvSpPr>
          <p:nvPr/>
        </p:nvSpPr>
        <p:spPr>
          <a:xfrm>
            <a:off x="4514850" y="270510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概念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2681C8-5FF4-40F8-B1DB-2EC7A270E9D3}"/>
              </a:ext>
            </a:extLst>
          </p:cNvPr>
          <p:cNvSpPr>
            <a:spLocks noGrp="1"/>
          </p:cNvSpPr>
          <p:nvPr/>
        </p:nvSpPr>
        <p:spPr>
          <a:xfrm>
            <a:off x="4514850" y="3200400"/>
            <a:ext cx="2743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hello-world 回頭理解 Image、Container、Registry，與容器比 VM 輕量在哪裡。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C95F6AC-5D7E-4447-9C2D-D506A63B3953}"/>
              </a:ext>
            </a:extLst>
          </p:cNvPr>
          <p:cNvSpPr>
            <a:spLocks noGrp="1"/>
          </p:cNvSpPr>
          <p:nvPr/>
        </p:nvSpPr>
        <p:spPr>
          <a:xfrm>
            <a:off x="451485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60F38B-B110-45A5-A343-BECB5AC2D8CF}"/>
              </a:ext>
            </a:extLst>
          </p:cNvPr>
          <p:cNvSpPr>
            <a:spLocks noGrp="1"/>
          </p:cNvSpPr>
          <p:nvPr/>
        </p:nvSpPr>
        <p:spPr>
          <a:xfrm>
            <a:off x="4514850" y="4352925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203767B-DA35-46B7-AFBF-72ED5FF27E93}"/>
              </a:ext>
            </a:extLst>
          </p:cNvPr>
          <p:cNvSpPr>
            <a:spLocks noGrp="1"/>
          </p:cNvSpPr>
          <p:nvPr/>
        </p:nvSpPr>
        <p:spPr>
          <a:xfrm>
            <a:off x="79629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ED2EFDD2-623D-4032-BD42-7FF047E1A0C8}"/>
              </a:ext>
            </a:extLst>
          </p:cNvPr>
          <p:cNvSpPr>
            <a:spLocks noGrp="1"/>
          </p:cNvSpPr>
          <p:nvPr/>
        </p:nvSpPr>
        <p:spPr>
          <a:xfrm>
            <a:off x="8191500" y="1943100"/>
            <a:ext cx="514350" cy="514350"/>
          </a:xfrm>
          <a:prstGeom prst="ellipse">
            <a:avLst/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43427F-E3D0-4816-9D60-39F2DE778455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AA20BD-A768-4B3B-93C3-4687865EF848}"/>
              </a:ext>
            </a:extLst>
          </p:cNvPr>
          <p:cNvSpPr>
            <a:spLocks noGrp="1"/>
          </p:cNvSpPr>
          <p:nvPr/>
        </p:nvSpPr>
        <p:spPr>
          <a:xfrm>
            <a:off x="8191500" y="270510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第一個容器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330FA5-947A-4D80-9068-07E1C9FE2631}"/>
              </a:ext>
            </a:extLst>
          </p:cNvPr>
          <p:cNvSpPr>
            <a:spLocks noGrp="1"/>
          </p:cNvSpPr>
          <p:nvPr/>
        </p:nvSpPr>
        <p:spPr>
          <a:xfrm>
            <a:off x="8191500" y="3200400"/>
            <a:ext cx="2743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從 Docker Hub 拉 Nginx，透過 port mapping 在瀏覽器看到結果。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D2F6B77-324C-4C09-B73A-D067ECC647F8}"/>
              </a:ext>
            </a:extLst>
          </p:cNvPr>
          <p:cNvSpPr>
            <a:spLocks noGrp="1"/>
          </p:cNvSpPr>
          <p:nvPr/>
        </p:nvSpPr>
        <p:spPr>
          <a:xfrm>
            <a:off x="81915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0DEC3B-E0A3-4E94-86F7-3E8666557294}"/>
              </a:ext>
            </a:extLst>
          </p:cNvPr>
          <p:cNvSpPr>
            <a:spLocks noGrp="1"/>
          </p:cNvSpPr>
          <p:nvPr/>
        </p:nvSpPr>
        <p:spPr>
          <a:xfrm>
            <a:off x="8191500" y="4352925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53EC1A-1D3B-40D1-BAF6-4919F01762D9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先把環境裝起來，再用剛跑過的指令理解 Docker，最後進到可執行的容器操作。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795D74-E872-4D6E-BD3D-42C3281010B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5B13B8-D010-4525-82A1-05A0CD8E405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D97AA0F-818E-4B33-A597-9F3FAEE03F9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759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9A90A9F-CC0E-4688-9F64-4C55B1BFC87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SETUP CHECKLIST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FAC74D-8593-415A-956F-FB597A82ACD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Windows 安裝前先確認四件事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6418761-2B0A-49BB-B13F-14B1C0854BCA}"/>
              </a:ext>
            </a:extLst>
          </p:cNvPr>
          <p:cNvSpPr>
            <a:spLocks noGrp="1"/>
          </p:cNvSpPr>
          <p:nvPr/>
        </p:nvSpPr>
        <p:spPr>
          <a:xfrm>
            <a:off x="933450" y="1695450"/>
            <a:ext cx="47625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8AEEDEB-89FC-44BB-8DB5-B33F9B50C5D0}"/>
              </a:ext>
            </a:extLst>
          </p:cNvPr>
          <p:cNvSpPr>
            <a:spLocks noGrp="1"/>
          </p:cNvSpPr>
          <p:nvPr/>
        </p:nvSpPr>
        <p:spPr>
          <a:xfrm>
            <a:off x="1181100" y="1981200"/>
            <a:ext cx="419100" cy="41910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839CF0-1FB7-4644-BB41-17CD75C02C45}"/>
              </a:ext>
            </a:extLst>
          </p:cNvPr>
          <p:cNvSpPr>
            <a:spLocks noGrp="1"/>
          </p:cNvSpPr>
          <p:nvPr/>
        </p:nvSpPr>
        <p:spPr>
          <a:xfrm>
            <a:off x="1181100" y="20955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D9C98B-CA7E-4C25-8F71-9C62CFCE2FCC}"/>
              </a:ext>
            </a:extLst>
          </p:cNvPr>
          <p:cNvSpPr>
            <a:spLocks noGrp="1"/>
          </p:cNvSpPr>
          <p:nvPr/>
        </p:nvSpPr>
        <p:spPr>
          <a:xfrm>
            <a:off x="1809750" y="19621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Windows 10/11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F5EEA2-5014-4F85-A557-CC446E797A4D}"/>
              </a:ext>
            </a:extLst>
          </p:cNvPr>
          <p:cNvSpPr>
            <a:spLocks noGrp="1"/>
          </p:cNvSpPr>
          <p:nvPr/>
        </p:nvSpPr>
        <p:spPr>
          <a:xfrm>
            <a:off x="1809750" y="2362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64-bit，Windows 10 21H2 以上或 Windows 11。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FF8FFE0-6028-4349-AADD-F390E43A2870}"/>
              </a:ext>
            </a:extLst>
          </p:cNvPr>
          <p:cNvSpPr>
            <a:spLocks noGrp="1"/>
          </p:cNvSpPr>
          <p:nvPr/>
        </p:nvSpPr>
        <p:spPr>
          <a:xfrm>
            <a:off x="6496050" y="1695450"/>
            <a:ext cx="47625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D3E830D-0538-4C7F-861B-BF3164D63DB0}"/>
              </a:ext>
            </a:extLst>
          </p:cNvPr>
          <p:cNvSpPr>
            <a:spLocks noGrp="1"/>
          </p:cNvSpPr>
          <p:nvPr/>
        </p:nvSpPr>
        <p:spPr>
          <a:xfrm>
            <a:off x="6743700" y="1981200"/>
            <a:ext cx="419100" cy="41910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44EC2E-069B-475E-903A-2E172D7C43CC}"/>
              </a:ext>
            </a:extLst>
          </p:cNvPr>
          <p:cNvSpPr>
            <a:spLocks noGrp="1"/>
          </p:cNvSpPr>
          <p:nvPr/>
        </p:nvSpPr>
        <p:spPr>
          <a:xfrm>
            <a:off x="6743700" y="20955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911082-A89E-4B92-9D99-10E21222D5E5}"/>
              </a:ext>
            </a:extLst>
          </p:cNvPr>
          <p:cNvSpPr>
            <a:spLocks noGrp="1"/>
          </p:cNvSpPr>
          <p:nvPr/>
        </p:nvSpPr>
        <p:spPr>
          <a:xfrm>
            <a:off x="7372350" y="19621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WSL 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098CD6-8EA3-4F9A-A1E7-F83F5DF1797E}"/>
              </a:ext>
            </a:extLst>
          </p:cNvPr>
          <p:cNvSpPr>
            <a:spLocks noGrp="1"/>
          </p:cNvSpPr>
          <p:nvPr/>
        </p:nvSpPr>
        <p:spPr>
          <a:xfrm>
            <a:off x="7372350" y="2362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Desktop 在 Windows 上建議使用 WSL 2 後端。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3D187A5-4A1C-4D5B-921A-E2E0BC959A32}"/>
              </a:ext>
            </a:extLst>
          </p:cNvPr>
          <p:cNvSpPr>
            <a:spLocks noGrp="1"/>
          </p:cNvSpPr>
          <p:nvPr/>
        </p:nvSpPr>
        <p:spPr>
          <a:xfrm>
            <a:off x="933450" y="3752850"/>
            <a:ext cx="47625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DB58670-9E09-4B25-AB98-0980011A0681}"/>
              </a:ext>
            </a:extLst>
          </p:cNvPr>
          <p:cNvSpPr>
            <a:spLocks noGrp="1"/>
          </p:cNvSpPr>
          <p:nvPr/>
        </p:nvSpPr>
        <p:spPr>
          <a:xfrm>
            <a:off x="1181100" y="4038600"/>
            <a:ext cx="419100" cy="41910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661189-7306-4C14-A9C3-63732A285979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BE20F3-D18D-4FEE-96ED-27CD8D148DA3}"/>
              </a:ext>
            </a:extLst>
          </p:cNvPr>
          <p:cNvSpPr>
            <a:spLocks noGrp="1"/>
          </p:cNvSpPr>
          <p:nvPr/>
        </p:nvSpPr>
        <p:spPr>
          <a:xfrm>
            <a:off x="1809750" y="40195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至少 4 GB RAM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E81347-6824-4601-8663-A70D7DA0BCA1}"/>
              </a:ext>
            </a:extLst>
          </p:cNvPr>
          <p:cNvSpPr>
            <a:spLocks noGrp="1"/>
          </p:cNvSpPr>
          <p:nvPr/>
        </p:nvSpPr>
        <p:spPr>
          <a:xfrm>
            <a:off x="1809750" y="44196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 GB 電腦建議不要把超過 4 GB 分給 Docker。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C29AABF-E314-4E93-ADF2-79CC7E7F3CF2}"/>
              </a:ext>
            </a:extLst>
          </p:cNvPr>
          <p:cNvSpPr>
            <a:spLocks noGrp="1"/>
          </p:cNvSpPr>
          <p:nvPr/>
        </p:nvSpPr>
        <p:spPr>
          <a:xfrm>
            <a:off x="6496050" y="3752850"/>
            <a:ext cx="47625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AACF997-9893-47E9-B55D-6FD828BFFB4F}"/>
              </a:ext>
            </a:extLst>
          </p:cNvPr>
          <p:cNvSpPr>
            <a:spLocks noGrp="1"/>
          </p:cNvSpPr>
          <p:nvPr/>
        </p:nvSpPr>
        <p:spPr>
          <a:xfrm>
            <a:off x="6743700" y="4038600"/>
            <a:ext cx="419100" cy="41910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C88DDE-1F8D-4CCE-84D4-DBE93C3126D9}"/>
              </a:ext>
            </a:extLst>
          </p:cNvPr>
          <p:cNvSpPr>
            <a:spLocks noGrp="1"/>
          </p:cNvSpPr>
          <p:nvPr/>
        </p:nvSpPr>
        <p:spPr>
          <a:xfrm>
            <a:off x="6743700" y="4152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D8AC27-F9AE-44F2-89CD-63CD5721CC63}"/>
              </a:ext>
            </a:extLst>
          </p:cNvPr>
          <p:cNvSpPr>
            <a:spLocks noGrp="1"/>
          </p:cNvSpPr>
          <p:nvPr/>
        </p:nvSpPr>
        <p:spPr>
          <a:xfrm>
            <a:off x="7372350" y="40195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虛擬化開啟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B8BBD1-1AEE-4017-A988-7A62921863B4}"/>
              </a:ext>
            </a:extLst>
          </p:cNvPr>
          <p:cNvSpPr>
            <a:spLocks noGrp="1"/>
          </p:cNvSpPr>
          <p:nvPr/>
        </p:nvSpPr>
        <p:spPr>
          <a:xfrm>
            <a:off x="7372350" y="44196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工作管理員 &gt; 效能 &gt; CPU &gt; 虛擬化：已啟用。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EC958AF-5857-4EE1-A391-D089CAB5881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BBD437-61C2-4FB6-83C3-B23A4A80623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5FE4AB9-4222-412F-8D61-EFD7B66E80B4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62810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D6969390-5E01-4FAC-8D63-D6EB1768DA7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WINDOWS CONFIG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0A1C21-82D1-4866-8646-BF1EE68491F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WINDOWS 設定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72B7B1-3D74-44B1-B831-55EB0D897BC3}"/>
              </a:ext>
            </a:extLst>
          </p:cNvPr>
          <p:cNvSpPr>
            <a:spLocks noGrp="1"/>
          </p:cNvSpPr>
          <p:nvPr/>
        </p:nvSpPr>
        <p:spPr>
          <a:xfrm>
            <a:off x="609600" y="4778691"/>
            <a:ext cx="7277100" cy="15268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96"/>
          </a:bodyPr>
          <a:lstStyle/>
          <a:p>
            <a:pPr>
              <a:lnSpc>
                <a:spcPct val="104000"/>
              </a:lnSpc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" altLang="zh-TW" sz="3200" dirty="0" err="1">
                <a:solidFill>
                  <a:schemeClr val="tx2"/>
                </a:solidFill>
              </a:rPr>
              <a:t>wsl</a:t>
            </a:r>
            <a:r>
              <a:rPr lang="en" altLang="zh-TW" sz="3200" dirty="0">
                <a:solidFill>
                  <a:schemeClr val="tx2"/>
                </a:solidFill>
              </a:rPr>
              <a:t> --version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3200" dirty="0" err="1">
                <a:solidFill>
                  <a:schemeClr val="tx2"/>
                </a:solidFill>
                <a:latin typeface="Consolas"/>
                <a:cs typeface="Consolas"/>
              </a:rPr>
              <a:t>wsl</a:t>
            </a:r>
            <a:r>
              <a:rPr sz="3200" dirty="0">
                <a:solidFill>
                  <a:schemeClr val="tx2"/>
                </a:solidFill>
                <a:latin typeface="Consolas"/>
                <a:cs typeface="Consolas"/>
              </a:rPr>
              <a:t> </a:t>
            </a:r>
            <a:r>
              <a:rPr lang="en-US" sz="3200" dirty="0">
                <a:solidFill>
                  <a:schemeClr val="tx2"/>
                </a:solidFill>
                <a:latin typeface="Consolas"/>
                <a:cs typeface="Consolas"/>
              </a:rPr>
              <a:t>--install</a:t>
            </a:r>
            <a:endParaRPr sz="3200" dirty="0">
              <a:solidFill>
                <a:schemeClr val="tx2"/>
              </a:solidFill>
              <a:latin typeface="Consolas"/>
              <a:cs typeface="Consola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559A061-7FC9-479C-A333-008BF53EB25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2122047-0A6A-4531-B40A-D8A2480CB2F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2B7A6C-3638-4659-913A-AD155F056060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44" name="圖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5" y="1352550"/>
            <a:ext cx="3867690" cy="2267266"/>
          </a:xfrm>
          <a:prstGeom prst="rect">
            <a:avLst/>
          </a:prstGeom>
        </p:spPr>
      </p:pic>
      <p:pic>
        <p:nvPicPr>
          <p:cNvPr id="45" name="圖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017" y="1300499"/>
            <a:ext cx="4883381" cy="245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7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2756D5B-075D-4826-9E18-0B8A16E85DE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1769BD"/>
                </a:solidFill>
              </a:defRPr>
            </a:pPr>
            <a:r>
              <a:rPr sz="975" b="1">
                <a:solidFill>
                  <a:srgbClr val="1769BD"/>
                </a:solidFill>
              </a:rPr>
              <a:t>DOCKER DESKTOP DOWNLOAD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0CC722-F5FA-4072-B290-76C810DD52F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先下載對的 Docker Desktop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8F1E5A-C307-4242-AB23-BBA71637B034}"/>
              </a:ext>
            </a:extLst>
          </p:cNvPr>
          <p:cNvSpPr>
            <a:spLocks noGrp="1"/>
          </p:cNvSpPr>
          <p:nvPr/>
        </p:nvSpPr>
        <p:spPr>
          <a:xfrm>
            <a:off x="628650" y="138112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這裡選的是安裝檔，不是 Docker Image 平台。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C23261B-5008-44CB-B840-F9CBEF7F7E35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304800" cy="30480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419CEE-1DAD-400F-B0CC-33DD1E4D6DB9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6318F3-1DB0-4273-9A15-5DCF22B9A42B}"/>
              </a:ext>
            </a:extLst>
          </p:cNvPr>
          <p:cNvSpPr>
            <a:spLocks noGrp="1"/>
          </p:cNvSpPr>
          <p:nvPr/>
        </p:nvSpPr>
        <p:spPr>
          <a:xfrm>
            <a:off x="1200150" y="214312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一般 Windows：選 AMD64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384155-7329-487F-B668-552EE1A2C11F}"/>
              </a:ext>
            </a:extLst>
          </p:cNvPr>
          <p:cNvSpPr>
            <a:spLocks noGrp="1"/>
          </p:cNvSpPr>
          <p:nvPr/>
        </p:nvSpPr>
        <p:spPr>
          <a:xfrm>
            <a:off x="1200150" y="2524125"/>
            <a:ext cx="428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Intel / AMD CPU 的 Windows 電腦，多數都是這個選項。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421EDCE-CE59-4BA0-A65D-DDF846DA03E2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304800" cy="30480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F1CEA3-EF10-4A9F-9B32-30926EBB6DEF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6C98F9-9C7D-48E3-91F8-351FDE10EDC7}"/>
              </a:ext>
            </a:extLst>
          </p:cNvPr>
          <p:cNvSpPr>
            <a:spLocks noGrp="1"/>
          </p:cNvSpPr>
          <p:nvPr/>
        </p:nvSpPr>
        <p:spPr>
          <a:xfrm>
            <a:off x="1200150" y="33337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Windows on ARM：選 ARM64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8CA2F8-686D-422F-B1DD-21844F1EC7C3}"/>
              </a:ext>
            </a:extLst>
          </p:cNvPr>
          <p:cNvSpPr>
            <a:spLocks noGrp="1"/>
          </p:cNvSpPr>
          <p:nvPr/>
        </p:nvSpPr>
        <p:spPr>
          <a:xfrm>
            <a:off x="1200150" y="3714750"/>
            <a:ext cx="428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例如部分 Snapdragon / ARM 裝置，才需要選這個。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6AE13876-8A1B-4902-AD60-DF844451DFBD}"/>
              </a:ext>
            </a:extLst>
          </p:cNvPr>
          <p:cNvSpPr>
            <a:spLocks noGrp="1"/>
          </p:cNvSpPr>
          <p:nvPr/>
        </p:nvSpPr>
        <p:spPr>
          <a:xfrm>
            <a:off x="723900" y="4533900"/>
            <a:ext cx="304800" cy="30480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BD2B24-29C6-4E03-ABA6-BBD98B3084F1}"/>
              </a:ext>
            </a:extLst>
          </p:cNvPr>
          <p:cNvSpPr>
            <a:spLocks noGrp="1"/>
          </p:cNvSpPr>
          <p:nvPr/>
        </p:nvSpPr>
        <p:spPr>
          <a:xfrm>
            <a:off x="723900" y="4562475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72DA91-096E-41AE-B44B-7EBC182F772A}"/>
              </a:ext>
            </a:extLst>
          </p:cNvPr>
          <p:cNvSpPr>
            <a:spLocks noGrp="1"/>
          </p:cNvSpPr>
          <p:nvPr/>
        </p:nvSpPr>
        <p:spPr>
          <a:xfrm>
            <a:off x="1200150" y="45243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不確定就查系統類型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4C8473-96F5-4AC6-9C8B-DB8317817FE3}"/>
              </a:ext>
            </a:extLst>
          </p:cNvPr>
          <p:cNvSpPr>
            <a:spLocks noGrp="1"/>
          </p:cNvSpPr>
          <p:nvPr/>
        </p:nvSpPr>
        <p:spPr>
          <a:xfrm>
            <a:off x="1200150" y="4905375"/>
            <a:ext cx="428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設定 &gt; 系統 &gt; 關於 &gt; 系統類型；先把安裝檔選對即可。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2F8A280-BA0F-4875-8FF9-156335E3110F}"/>
              </a:ext>
            </a:extLst>
          </p:cNvPr>
          <p:cNvSpPr>
            <a:spLocks noGrp="1"/>
          </p:cNvSpPr>
          <p:nvPr/>
        </p:nvSpPr>
        <p:spPr>
          <a:xfrm>
            <a:off x="5886450" y="1828800"/>
            <a:ext cx="5715000" cy="39052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9" name="圖片 38"/>
          <p:cNvPicPr>
            <a:picLocks noChangeAspect="1"/>
          </p:cNvPicPr>
          <p:nvPr/>
        </p:nvPicPr>
        <p:blipFill>
          <a:blip r:embed="rId3"/>
          <a:srcRect t="16" b="16"/>
          <a:stretch>
            <a:fillRect/>
          </a:stretch>
        </p:blipFill>
        <p:spPr>
          <a:xfrm>
            <a:off x="6019800" y="1990725"/>
            <a:ext cx="5448300" cy="3524250"/>
          </a:xfrm>
          <a:prstGeom prst="rect">
            <a:avLst/>
          </a:prstGeom>
        </p:spPr>
      </p:pic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E41197F-95DF-47CC-8A87-4C9A9C91D997}"/>
              </a:ext>
            </a:extLst>
          </p:cNvPr>
          <p:cNvSpPr>
            <a:spLocks noGrp="1"/>
          </p:cNvSpPr>
          <p:nvPr/>
        </p:nvSpPr>
        <p:spPr>
          <a:xfrm>
            <a:off x="6400800" y="4219575"/>
            <a:ext cx="2076450" cy="32385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5C75E58A-3870-4BAB-A843-3772204CA55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3632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EA129E-62CC-4E0F-858E-5C88D240752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Docker 基礎教學 | 第 1 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A1BB66-668F-4853-855A-6A165374456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190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650C515-B4B7-44FC-B4FA-95CCF26353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1769BD"/>
                </a:solidFill>
              </a:defRPr>
            </a:pPr>
            <a:r>
              <a:rPr sz="975" b="1">
                <a:solidFill>
                  <a:srgbClr val="1769BD"/>
                </a:solidFill>
              </a:rPr>
              <a:t>DOCKER DESKTOP SETUP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071B16-A298-449E-9D88-E5CD82C466F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14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Docker Desktop 安裝設定這樣選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F5479D-A7CD-4967-9C27-DA2216A70738}"/>
              </a:ext>
            </a:extLst>
          </p:cNvPr>
          <p:cNvSpPr>
            <a:spLocks noGrp="1"/>
          </p:cNvSpPr>
          <p:nvPr/>
        </p:nvSpPr>
        <p:spPr>
          <a:xfrm>
            <a:off x="628650" y="1381125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看到這個畫面時，照預設方向做就好；不用切到 Windows Containers。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016DAC2-B264-4EE7-945A-F1144D150F0F}"/>
              </a:ext>
            </a:extLst>
          </p:cNvPr>
          <p:cNvSpPr>
            <a:spLocks noGrp="1"/>
          </p:cNvSpPr>
          <p:nvPr/>
        </p:nvSpPr>
        <p:spPr>
          <a:xfrm>
            <a:off x="723900" y="2162175"/>
            <a:ext cx="304800" cy="30480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3E2F89-D669-4215-897D-F00F7451EBF8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BB8227-E068-469E-972B-1C52284571FA}"/>
              </a:ext>
            </a:extLst>
          </p:cNvPr>
          <p:cNvSpPr>
            <a:spLocks noGrp="1"/>
          </p:cNvSpPr>
          <p:nvPr/>
        </p:nvSpPr>
        <p:spPr>
          <a:xfrm>
            <a:off x="1200150" y="2143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勾選 Use WSL 2 instead of Hyper-V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BE8C58-BF70-4158-82B6-B1C5241D20F0}"/>
              </a:ext>
            </a:extLst>
          </p:cNvPr>
          <p:cNvSpPr>
            <a:spLocks noGrp="1"/>
          </p:cNvSpPr>
          <p:nvPr/>
        </p:nvSpPr>
        <p:spPr>
          <a:xfrm>
            <a:off x="1200150" y="252412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這堂課使用 WSL 2 後端，和後面 Linux container 操作一致。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E35AC74-0014-4275-B4EA-DBEF6F833C25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304800" cy="30480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09B443-4B2C-46FD-B192-E13BD4377408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05B977-30BF-4FF6-B4E7-CF2170530D01}"/>
              </a:ext>
            </a:extLst>
          </p:cNvPr>
          <p:cNvSpPr>
            <a:spLocks noGrp="1"/>
          </p:cNvSpPr>
          <p:nvPr/>
        </p:nvSpPr>
        <p:spPr>
          <a:xfrm>
            <a:off x="1200150" y="33337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不要勾 Allow Windows Containers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741E47-1763-425A-B36F-E1F44BC6E7CB}"/>
              </a:ext>
            </a:extLst>
          </p:cNvPr>
          <p:cNvSpPr>
            <a:spLocks noGrp="1"/>
          </p:cNvSpPr>
          <p:nvPr/>
        </p:nvSpPr>
        <p:spPr>
          <a:xfrm>
            <a:off x="1200150" y="3714750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新手先維持 Linux containers；Windows containers 是不同路線。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38CE96-5D41-4F23-BC90-A9AB13B61EE0}"/>
              </a:ext>
            </a:extLst>
          </p:cNvPr>
          <p:cNvSpPr>
            <a:spLocks noGrp="1"/>
          </p:cNvSpPr>
          <p:nvPr/>
        </p:nvSpPr>
        <p:spPr>
          <a:xfrm>
            <a:off x="723900" y="4543425"/>
            <a:ext cx="304800" cy="30480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6FD728-C085-4936-B44A-5FD312ECD96F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E7745F-9D38-4B89-A672-E234F551C448}"/>
              </a:ext>
            </a:extLst>
          </p:cNvPr>
          <p:cNvSpPr>
            <a:spLocks noGrp="1"/>
          </p:cNvSpPr>
          <p:nvPr/>
        </p:nvSpPr>
        <p:spPr>
          <a:xfrm>
            <a:off x="1200150" y="45243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Add shortcut 可保留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F637EB-CF1A-442E-B350-AAFB4FCB0187}"/>
              </a:ext>
            </a:extLst>
          </p:cNvPr>
          <p:cNvSpPr>
            <a:spLocks noGrp="1"/>
          </p:cNvSpPr>
          <p:nvPr/>
        </p:nvSpPr>
        <p:spPr>
          <a:xfrm>
            <a:off x="1200150" y="490537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All-users installation 需要管理員密碼；照畫面或預設安裝即可。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03A3163-0339-4F84-BD9A-09516E92501C}"/>
              </a:ext>
            </a:extLst>
          </p:cNvPr>
          <p:cNvSpPr>
            <a:spLocks noGrp="1"/>
          </p:cNvSpPr>
          <p:nvPr/>
        </p:nvSpPr>
        <p:spPr>
          <a:xfrm>
            <a:off x="5981700" y="1619250"/>
            <a:ext cx="5619750" cy="415290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3"/>
          <a:srcRect l="2500" t="3000" r="2500" b="3500"/>
          <a:stretch/>
        </p:blipFill>
        <p:spPr>
          <a:xfrm>
            <a:off x="6191537" y="1828800"/>
            <a:ext cx="5200076" cy="3819525"/>
          </a:xfrm>
          <a:prstGeom prst="rect">
            <a:avLst/>
          </a:prstGeom>
        </p:spPr>
      </p:pic>
      <p:sp>
        <p:nvSpPr>
          <p:cNvPr id="18" name="直線接點 17">
            <a:extLst>
              <a:ext uri="{FF2B5EF4-FFF2-40B4-BE49-F238E27FC236}">
                <a16:creationId xmlns:a16="http://schemas.microsoft.com/office/drawing/2014/main" id="{4B2B4557-ABA1-418A-932E-0B72FAF3ADE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3632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9B68DE-F4E8-46B9-A7E8-00D1004DC6C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Docker 基礎教學 | 第 1 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29EA0A-B5F8-4687-AE81-63B177C6DFC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46947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D1EB9C72-86EC-4885-B1B5-7C8BBF3DEAB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 DESKTOP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EE227A-84B6-4F1D-9E48-88A65992666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Desktop 不只是 GUI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1F207B9-FC5A-4920-871F-0796D5FE3BA3}"/>
              </a:ext>
            </a:extLst>
          </p:cNvPr>
          <p:cNvSpPr>
            <a:spLocks noGrp="1"/>
          </p:cNvSpPr>
          <p:nvPr/>
        </p:nvSpPr>
        <p:spPr>
          <a:xfrm>
            <a:off x="990600" y="1695450"/>
            <a:ext cx="43434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306C14-B7A2-47FB-88FE-D70E962F042D}"/>
              </a:ext>
            </a:extLst>
          </p:cNvPr>
          <p:cNvSpPr>
            <a:spLocks noGrp="1"/>
          </p:cNvSpPr>
          <p:nvPr/>
        </p:nvSpPr>
        <p:spPr>
          <a:xfrm>
            <a:off x="1219200" y="1885950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62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Engine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EC7D58-3F50-4150-A27F-3BBF84C3F0A8}"/>
              </a:ext>
            </a:extLst>
          </p:cNvPr>
          <p:cNvSpPr>
            <a:spLocks noGrp="1"/>
          </p:cNvSpPr>
          <p:nvPr/>
        </p:nvSpPr>
        <p:spPr>
          <a:xfrm>
            <a:off x="1219200" y="2286000"/>
            <a:ext cx="3886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真正負責建立與執行容器的核心引擎。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661E796-92E2-4621-A5A7-4A0544249097}"/>
              </a:ext>
            </a:extLst>
          </p:cNvPr>
          <p:cNvSpPr>
            <a:spLocks noGrp="1"/>
          </p:cNvSpPr>
          <p:nvPr/>
        </p:nvSpPr>
        <p:spPr>
          <a:xfrm>
            <a:off x="5943600" y="1695450"/>
            <a:ext cx="4343400" cy="1257300"/>
          </a:xfrm>
          <a:prstGeom prst="roundRect">
            <a:avLst>
              <a:gd name="adj" fmla="val 9091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E87C13-CB79-40A2-90EA-3D92987EDC5B}"/>
              </a:ext>
            </a:extLst>
          </p:cNvPr>
          <p:cNvSpPr>
            <a:spLocks noGrp="1"/>
          </p:cNvSpPr>
          <p:nvPr/>
        </p:nvSpPr>
        <p:spPr>
          <a:xfrm>
            <a:off x="6172200" y="1885950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62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 CLI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09CBE9-6A8B-4AD9-97E2-EC44E187B1DB}"/>
              </a:ext>
            </a:extLst>
          </p:cNvPr>
          <p:cNvSpPr>
            <a:spLocks noGrp="1"/>
          </p:cNvSpPr>
          <p:nvPr/>
        </p:nvSpPr>
        <p:spPr>
          <a:xfrm>
            <a:off x="6172200" y="2286000"/>
            <a:ext cx="3886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命令列工具；後面實作主要用它。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41A253D-DF37-4C8B-95DA-FF14B79B48CB}"/>
              </a:ext>
            </a:extLst>
          </p:cNvPr>
          <p:cNvSpPr>
            <a:spLocks noGrp="1"/>
          </p:cNvSpPr>
          <p:nvPr/>
        </p:nvSpPr>
        <p:spPr>
          <a:xfrm>
            <a:off x="990600" y="3448050"/>
            <a:ext cx="43434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E800DF-1471-4D77-B158-D2E927B10D0F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62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628DF0-52ED-405D-86D3-E00940AB7CBB}"/>
              </a:ext>
            </a:extLst>
          </p:cNvPr>
          <p:cNvSpPr>
            <a:spLocks noGrp="1"/>
          </p:cNvSpPr>
          <p:nvPr/>
        </p:nvSpPr>
        <p:spPr>
          <a:xfrm>
            <a:off x="1219200" y="4038600"/>
            <a:ext cx="3886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多容器管理工具，後面課程會用。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BBA8A30-F8BC-4B6F-BEE0-A41C68FB5980}"/>
              </a:ext>
            </a:extLst>
          </p:cNvPr>
          <p:cNvSpPr>
            <a:spLocks noGrp="1"/>
          </p:cNvSpPr>
          <p:nvPr/>
        </p:nvSpPr>
        <p:spPr>
          <a:xfrm>
            <a:off x="5943600" y="3448050"/>
            <a:ext cx="43434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1A91C2-3200-496A-B03D-1DBC0F138534}"/>
              </a:ext>
            </a:extLst>
          </p:cNvPr>
          <p:cNvSpPr>
            <a:spLocks noGrp="1"/>
          </p:cNvSpPr>
          <p:nvPr/>
        </p:nvSpPr>
        <p:spPr>
          <a:xfrm>
            <a:off x="6172200" y="3638550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62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GUI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5114DF-CEC1-4747-AB6E-213B14E73AEF}"/>
              </a:ext>
            </a:extLst>
          </p:cNvPr>
          <p:cNvSpPr>
            <a:spLocks noGrp="1"/>
          </p:cNvSpPr>
          <p:nvPr/>
        </p:nvSpPr>
        <p:spPr>
          <a:xfrm>
            <a:off x="6172200" y="4038600"/>
            <a:ext cx="3886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觀察 Containers、Images、Volumes 與資源設定。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99DAF96-B7FA-4B7B-862D-BD4D2FCCEF17}"/>
              </a:ext>
            </a:extLst>
          </p:cNvPr>
          <p:cNvSpPr>
            <a:spLocks noGrp="1"/>
          </p:cNvSpPr>
          <p:nvPr/>
        </p:nvSpPr>
        <p:spPr>
          <a:xfrm>
            <a:off x="1600200" y="5219700"/>
            <a:ext cx="8991600" cy="533400"/>
          </a:xfrm>
          <a:prstGeom prst="roundRect">
            <a:avLst>
              <a:gd name="adj" fmla="val 17857"/>
            </a:avLst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8F41A6-9B6D-4B6E-B03F-789099144144}"/>
              </a:ext>
            </a:extLst>
          </p:cNvPr>
          <p:cNvSpPr>
            <a:spLocks noGrp="1"/>
          </p:cNvSpPr>
          <p:nvPr/>
        </p:nvSpPr>
        <p:spPr>
          <a:xfrm>
            <a:off x="1885950" y="5381625"/>
            <a:ext cx="842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03" lnSpcReduction="10000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建議：用 GUI 學概念，用 CLI 做操作。伺服器與 CI/CD 幾乎都靠指令。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C793A1A-76D7-4694-853A-FCE5A4B797A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0F584A-4E62-44DB-96BD-C644637F9F3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CCCD77-567E-42A6-BDB3-0A4E64F5AAC1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4145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C14FA96-C56B-42E5-8421-71C1B4D227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A3A269-969A-4AF5-AA30-5204763BA72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安裝成功的最小驗證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0CCB3DF-2AA2-45AD-818F-AD87EF5F68FE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4857750" cy="171450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0159F1F-CD8A-4BB5-8C0D-40A924998B65}"/>
              </a:ext>
            </a:extLst>
          </p:cNvPr>
          <p:cNvSpPr>
            <a:spLocks noGrp="1"/>
          </p:cNvSpPr>
          <p:nvPr/>
        </p:nvSpPr>
        <p:spPr>
          <a:xfrm>
            <a:off x="990600" y="18764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15A98560-50D9-4724-A3C5-0F2915F82DD7}"/>
              </a:ext>
            </a:extLst>
          </p:cNvPr>
          <p:cNvSpPr>
            <a:spLocks noGrp="1"/>
          </p:cNvSpPr>
          <p:nvPr/>
        </p:nvSpPr>
        <p:spPr>
          <a:xfrm>
            <a:off x="1162050" y="18764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5D53BEA-3D52-47AD-A537-43AFAE30703B}"/>
              </a:ext>
            </a:extLst>
          </p:cNvPr>
          <p:cNvSpPr>
            <a:spLocks noGrp="1"/>
          </p:cNvSpPr>
          <p:nvPr/>
        </p:nvSpPr>
        <p:spPr>
          <a:xfrm>
            <a:off x="1333500" y="18764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44242D-1E70-412E-9CFB-B7646B2E4370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44386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--version</a:t>
            </a:r>
          </a:p>
          <a:p>
            <a:endParaRPr sz="18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hello-world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E67CAFD-D0F2-4128-B75B-24AEF5C04BAE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62A544-3C85-47DA-8C40-2358DA353D40}"/>
              </a:ext>
            </a:extLst>
          </p:cNvPr>
          <p:cNvSpPr>
            <a:spLocks noGrp="1"/>
          </p:cNvSpPr>
          <p:nvPr/>
        </p:nvSpPr>
        <p:spPr>
          <a:xfrm>
            <a:off x="6477000" y="16097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B91210-65F4-4CED-A2B3-4627DDACEE84}"/>
              </a:ext>
            </a:extLst>
          </p:cNvPr>
          <p:cNvSpPr>
            <a:spLocks noGrp="1"/>
          </p:cNvSpPr>
          <p:nvPr/>
        </p:nvSpPr>
        <p:spPr>
          <a:xfrm>
            <a:off x="7086600" y="15430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本機找不到 hello-world Image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F4A3B07-299F-4A60-BE6D-3C30ACD437D3}"/>
              </a:ext>
            </a:extLst>
          </p:cNvPr>
          <p:cNvSpPr>
            <a:spLocks noGrp="1"/>
          </p:cNvSpPr>
          <p:nvPr/>
        </p:nvSpPr>
        <p:spPr>
          <a:xfrm>
            <a:off x="6477000" y="22860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8FAABF-2379-4628-9275-79CB4D37EBD9}"/>
              </a:ext>
            </a:extLst>
          </p:cNvPr>
          <p:cNvSpPr>
            <a:spLocks noGrp="1"/>
          </p:cNvSpPr>
          <p:nvPr/>
        </p:nvSpPr>
        <p:spPr>
          <a:xfrm>
            <a:off x="6477000" y="23907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3CE441-0215-42D6-8DC9-B949845E9AC4}"/>
              </a:ext>
            </a:extLst>
          </p:cNvPr>
          <p:cNvSpPr>
            <a:spLocks noGrp="1"/>
          </p:cNvSpPr>
          <p:nvPr/>
        </p:nvSpPr>
        <p:spPr>
          <a:xfrm>
            <a:off x="7086600" y="2324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自動從 Docker Hub 下載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34269AB-CCF2-42DA-8553-77EEF4B224CA}"/>
              </a:ext>
            </a:extLst>
          </p:cNvPr>
          <p:cNvSpPr>
            <a:spLocks noGrp="1"/>
          </p:cNvSpPr>
          <p:nvPr/>
        </p:nvSpPr>
        <p:spPr>
          <a:xfrm>
            <a:off x="6477000" y="306705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15F445-9F76-4A29-B286-424CD738DF28}"/>
              </a:ext>
            </a:extLst>
          </p:cNvPr>
          <p:cNvSpPr>
            <a:spLocks noGrp="1"/>
          </p:cNvSpPr>
          <p:nvPr/>
        </p:nvSpPr>
        <p:spPr>
          <a:xfrm>
            <a:off x="6477000" y="31718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E87D2E-FAFE-458F-AF92-2FF81EB7A879}"/>
              </a:ext>
            </a:extLst>
          </p:cNvPr>
          <p:cNvSpPr>
            <a:spLocks noGrp="1"/>
          </p:cNvSpPr>
          <p:nvPr/>
        </p:nvSpPr>
        <p:spPr>
          <a:xfrm>
            <a:off x="7086600" y="31051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用 Image 建立 Container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E0975F8C-4DCD-4BD9-B655-1AACCE642F28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8D61D0-7AAB-4309-9CF3-3B2E3CBC7027}"/>
              </a:ext>
            </a:extLst>
          </p:cNvPr>
          <p:cNvSpPr>
            <a:spLocks noGrp="1"/>
          </p:cNvSpPr>
          <p:nvPr/>
        </p:nvSpPr>
        <p:spPr>
          <a:xfrm>
            <a:off x="6477000" y="39528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9D1987-C486-4263-8109-0C62D398E568}"/>
              </a:ext>
            </a:extLst>
          </p:cNvPr>
          <p:cNvSpPr>
            <a:spLocks noGrp="1"/>
          </p:cNvSpPr>
          <p:nvPr/>
        </p:nvSpPr>
        <p:spPr>
          <a:xfrm>
            <a:off x="7086600" y="38862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Container 印出歡迎訊息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CB948148-43C8-443B-A44C-4781DB2C060E}"/>
              </a:ext>
            </a:extLst>
          </p:cNvPr>
          <p:cNvSpPr>
            <a:spLocks noGrp="1"/>
          </p:cNvSpPr>
          <p:nvPr/>
        </p:nvSpPr>
        <p:spPr>
          <a:xfrm>
            <a:off x="6477000" y="462915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E532C6-C958-4E1D-A4A5-6488FD636BBB}"/>
              </a:ext>
            </a:extLst>
          </p:cNvPr>
          <p:cNvSpPr>
            <a:spLocks noGrp="1"/>
          </p:cNvSpPr>
          <p:nvPr/>
        </p:nvSpPr>
        <p:spPr>
          <a:xfrm>
            <a:off x="6477000" y="47339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E8C740-81F1-4495-B2EC-4782467BBC84}"/>
              </a:ext>
            </a:extLst>
          </p:cNvPr>
          <p:cNvSpPr>
            <a:spLocks noGrp="1"/>
          </p:cNvSpPr>
          <p:nvPr/>
        </p:nvSpPr>
        <p:spPr>
          <a:xfrm>
            <a:off x="7086600" y="46672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程式結束，Container 自動停止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C6CFFA-33D9-4C93-8A7C-0A1D0563F17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5BB718-D453-4366-8A60-FF4D9AADBBE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C3B678-71D0-4244-8FA7-113C7F69316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2467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121CBB5-812B-4316-8B29-64A4AA5621E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WHY DOCKER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A4EA0B-3CA4-442F-8DF4-2187DC98B15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解決的是「環境不一致」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E810321-BFB7-4A7D-8AC1-B6CB3368AFF0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409575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850176-3334-4F6B-98C0-411151409524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傳統部署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EC0050-9878-420A-B938-9FA86D4628AF}"/>
              </a:ext>
            </a:extLst>
          </p:cNvPr>
          <p:cNvSpPr>
            <a:spLocks noGrp="1"/>
          </p:cNvSpPr>
          <p:nvPr/>
        </p:nvSpPr>
        <p:spPr>
          <a:xfrm>
            <a:off x="1162050" y="26289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Python 版本不同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6AE636-4F00-42A7-BC3C-E7052BA4E0CE}"/>
              </a:ext>
            </a:extLst>
          </p:cNvPr>
          <p:cNvSpPr>
            <a:spLocks noGrp="1"/>
          </p:cNvSpPr>
          <p:nvPr/>
        </p:nvSpPr>
        <p:spPr>
          <a:xfrm>
            <a:off x="1162050" y="30861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系統套件缺少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3BBA90-A24C-4AD0-9F3B-DC60E78E614B}"/>
              </a:ext>
            </a:extLst>
          </p:cNvPr>
          <p:cNvSpPr>
            <a:spLocks noGrp="1"/>
          </p:cNvSpPr>
          <p:nvPr/>
        </p:nvSpPr>
        <p:spPr>
          <a:xfrm>
            <a:off x="1162050" y="35433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設定檔漏改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5C5983-37E9-4E90-853F-8316408E9591}"/>
              </a:ext>
            </a:extLst>
          </p:cNvPr>
          <p:cNvSpPr>
            <a:spLocks noGrp="1"/>
          </p:cNvSpPr>
          <p:nvPr/>
        </p:nvSpPr>
        <p:spPr>
          <a:xfrm>
            <a:off x="1162050" y="4000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本機能跑，上線失敗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5BBF1A48-DD28-4117-B2FD-14C6F1ABD8B3}"/>
              </a:ext>
            </a:extLst>
          </p:cNvPr>
          <p:cNvSpPr>
            <a:spLocks noGrp="1"/>
          </p:cNvSpPr>
          <p:nvPr/>
        </p:nvSpPr>
        <p:spPr>
          <a:xfrm>
            <a:off x="5334000" y="2990850"/>
            <a:ext cx="1066800" cy="4953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AF1CFFC-D33D-444D-9597-76AC619B8838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4095750" cy="3048000"/>
          </a:xfrm>
          <a:prstGeom prst="roundRect">
            <a:avLst>
              <a:gd name="adj" fmla="val 3750"/>
            </a:avLst>
          </a:prstGeom>
          <a:solidFill>
            <a:srgbClr val="F8FB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C3EEA0-2A45-4342-82E5-716D7E3C5AE3}"/>
              </a:ext>
            </a:extLst>
          </p:cNvPr>
          <p:cNvSpPr>
            <a:spLocks noGrp="1"/>
          </p:cNvSpPr>
          <p:nvPr/>
        </p:nvSpPr>
        <p:spPr>
          <a:xfrm>
            <a:off x="7162800" y="2038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 的做法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492D7-D359-48CF-95D7-0C49875B45FC}"/>
              </a:ext>
            </a:extLst>
          </p:cNvPr>
          <p:cNvSpPr>
            <a:spLocks noGrp="1"/>
          </p:cNvSpPr>
          <p:nvPr/>
        </p:nvSpPr>
        <p:spPr>
          <a:xfrm>
            <a:off x="7162800" y="2724150"/>
            <a:ext cx="3238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把應用程式、套件、設定與執行環境一起打包成 Image，再用同一份 Image 建立 Container。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62F684C-7B50-446C-A740-571EA91AFEDF}"/>
              </a:ext>
            </a:extLst>
          </p:cNvPr>
          <p:cNvSpPr>
            <a:spLocks noGrp="1"/>
          </p:cNvSpPr>
          <p:nvPr/>
        </p:nvSpPr>
        <p:spPr>
          <a:xfrm>
            <a:off x="7162800" y="4191000"/>
            <a:ext cx="2628900" cy="30480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668170-6618-4470-AD21-5AB148B8B83E}"/>
              </a:ext>
            </a:extLst>
          </p:cNvPr>
          <p:cNvSpPr>
            <a:spLocks noGrp="1"/>
          </p:cNvSpPr>
          <p:nvPr/>
        </p:nvSpPr>
        <p:spPr>
          <a:xfrm>
            <a:off x="7162800" y="4238625"/>
            <a:ext cx="262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同一包，到哪裡都用同一種方式跑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CBC7B3-DF1E-4088-A2C0-3A4F4AD5D45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63CFD8-9C8B-4D74-8420-0C3FC21B543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F2FB0C-4458-4FBF-8E09-65CB500BC564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0631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id="{B73B5832-6BDD-4615-ACF0-9652360B04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ARCHITECTURE COMPARISON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55BF0E-BB3F-4B58-B7A7-093ABE40EA7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三種部署模型差在哪裡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7AE030-3DD3-4335-9B41-CF8B7D3BB32F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傳統部署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BC9F8DD-B46E-4D6D-AD52-9F7BDAADB404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781050" cy="590550"/>
          </a:xfrm>
          <a:prstGeom prst="roundRect">
            <a:avLst>
              <a:gd name="adj" fmla="val 19355"/>
            </a:avLst>
          </a:prstGeom>
          <a:solidFill>
            <a:srgbClr val="FFF7ED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6036D-7279-4683-9C56-0D5851CE9922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65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App 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D389AA-8AD2-459C-AE2C-EFEB0660C5DE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20000"/>
          </a:bodyPr>
          <a:lstStyle/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A172232-5A63-4E4E-A704-92CC2542E4B9}"/>
              </a:ext>
            </a:extLst>
          </p:cNvPr>
          <p:cNvSpPr>
            <a:spLocks noGrp="1"/>
          </p:cNvSpPr>
          <p:nvPr/>
        </p:nvSpPr>
        <p:spPr>
          <a:xfrm>
            <a:off x="1733550" y="2038350"/>
            <a:ext cx="781050" cy="590550"/>
          </a:xfrm>
          <a:prstGeom prst="roundRect">
            <a:avLst>
              <a:gd name="adj" fmla="val 19355"/>
            </a:avLst>
          </a:prstGeom>
          <a:solidFill>
            <a:srgbClr val="FFF7ED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9AAECC-E7E0-4278-8058-1CFFFA11DD32}"/>
              </a:ext>
            </a:extLst>
          </p:cNvPr>
          <p:cNvSpPr>
            <a:spLocks noGrp="1"/>
          </p:cNvSpPr>
          <p:nvPr/>
        </p:nvSpPr>
        <p:spPr>
          <a:xfrm>
            <a:off x="1962150" y="22288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65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App 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16EE0D-77A7-4CCD-B992-33F8BD858DAE}"/>
              </a:ext>
            </a:extLst>
          </p:cNvPr>
          <p:cNvSpPr>
            <a:spLocks noGrp="1"/>
          </p:cNvSpPr>
          <p:nvPr/>
        </p:nvSpPr>
        <p:spPr>
          <a:xfrm>
            <a:off x="1962150" y="24384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20000"/>
          </a:bodyPr>
          <a:lstStyle/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1E6ADA5-CAA5-417C-A31A-718C18F97BCB}"/>
              </a:ext>
            </a:extLst>
          </p:cNvPr>
          <p:cNvSpPr>
            <a:spLocks noGrp="1"/>
          </p:cNvSpPr>
          <p:nvPr/>
        </p:nvSpPr>
        <p:spPr>
          <a:xfrm>
            <a:off x="2647950" y="2038350"/>
            <a:ext cx="781050" cy="590550"/>
          </a:xfrm>
          <a:prstGeom prst="roundRect">
            <a:avLst>
              <a:gd name="adj" fmla="val 19355"/>
            </a:avLst>
          </a:prstGeom>
          <a:solidFill>
            <a:srgbClr val="FFF7ED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533F5B-9E15-4268-8FF5-4C20C418E5A0}"/>
              </a:ext>
            </a:extLst>
          </p:cNvPr>
          <p:cNvSpPr>
            <a:spLocks noGrp="1"/>
          </p:cNvSpPr>
          <p:nvPr/>
        </p:nvSpPr>
        <p:spPr>
          <a:xfrm>
            <a:off x="2876550" y="22288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65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App 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6A5669-A4F4-44C8-B492-A48E95261C56}"/>
              </a:ext>
            </a:extLst>
          </p:cNvPr>
          <p:cNvSpPr>
            <a:spLocks noGrp="1"/>
          </p:cNvSpPr>
          <p:nvPr/>
        </p:nvSpPr>
        <p:spPr>
          <a:xfrm>
            <a:off x="2876550" y="24384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20000"/>
          </a:bodyPr>
          <a:lstStyle/>
          <a:p>
            <a:endParaRPr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EB8DED0-7EEA-4A8B-A1A0-98C2BFB3015F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26289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89816D-AC1F-487F-9E01-8176DCFAB414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Bins / Libs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8F938F-B3B5-4BFF-8BA5-FD39B2B543E0}"/>
              </a:ext>
            </a:extLst>
          </p:cNvPr>
          <p:cNvSpPr>
            <a:spLocks noGrp="1"/>
          </p:cNvSpPr>
          <p:nvPr/>
        </p:nvSpPr>
        <p:spPr>
          <a:xfrm>
            <a:off x="1047750" y="3181350"/>
            <a:ext cx="2171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20000"/>
          </a:bodyPr>
          <a:lstStyle/>
          <a:p>
            <a:endParaRPr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2E1DE24-3AAD-4D76-B2EE-A197E3740F18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26289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913A7D-E767-4A61-93FF-BFB347DAFF8B}"/>
              </a:ext>
            </a:extLst>
          </p:cNvPr>
          <p:cNvSpPr>
            <a:spLocks noGrp="1"/>
          </p:cNvSpPr>
          <p:nvPr/>
        </p:nvSpPr>
        <p:spPr>
          <a:xfrm>
            <a:off x="1047750" y="3695700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Host OS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D4517C-202B-4B9A-97B6-0C93EDEF39BF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2171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20000"/>
          </a:bodyPr>
          <a:lstStyle/>
          <a:p>
            <a:endParaRPr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8B3A657-027D-47E7-9810-38D4BFB5EFA8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26289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437FB8-EA86-4199-A77D-00DD432E4EB2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Hardware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3B800C-5F60-4594-87BF-5A00395CB288}"/>
              </a:ext>
            </a:extLst>
          </p:cNvPr>
          <p:cNvSpPr>
            <a:spLocks noGrp="1"/>
          </p:cNvSpPr>
          <p:nvPr/>
        </p:nvSpPr>
        <p:spPr>
          <a:xfrm>
            <a:off x="1047750" y="4629150"/>
            <a:ext cx="2171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20000"/>
          </a:bodyPr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C5990E-E998-4D77-86C0-8B896EBC84C7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 直接共用 OS 與函式庫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0933BBF-19A7-4515-9226-30690F4F6580}"/>
              </a:ext>
            </a:extLst>
          </p:cNvPr>
          <p:cNvSpPr>
            <a:spLocks noGrp="1"/>
          </p:cNvSpPr>
          <p:nvPr/>
        </p:nvSpPr>
        <p:spPr>
          <a:xfrm>
            <a:off x="1428750" y="56197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EEBE2F-C07F-4AAB-95F9-7E3D3F852B67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隔離性弱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ECB317-4C87-42B3-93A8-6DB72C370021}"/>
              </a:ext>
            </a:extLst>
          </p:cNvPr>
          <p:cNvSpPr>
            <a:spLocks noGrp="1"/>
          </p:cNvSpPr>
          <p:nvPr/>
        </p:nvSpPr>
        <p:spPr>
          <a:xfrm>
            <a:off x="4286250" y="15049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4338C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338CA"/>
                </a:solidFill>
                <a:latin typeface="Aptos Display"/>
                <a:ea typeface="Aptos Display"/>
                <a:cs typeface="Aptos Display"/>
              </a:rPr>
              <a:t>VM 部署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63AEB42-4D3A-42F1-8411-DFAADE793404}"/>
              </a:ext>
            </a:extLst>
          </p:cNvPr>
          <p:cNvSpPr>
            <a:spLocks noGrp="1"/>
          </p:cNvSpPr>
          <p:nvPr/>
        </p:nvSpPr>
        <p:spPr>
          <a:xfrm>
            <a:off x="4667250" y="2038350"/>
            <a:ext cx="1066800" cy="1257300"/>
          </a:xfrm>
          <a:prstGeom prst="roundRect">
            <a:avLst>
              <a:gd name="adj" fmla="val 10714"/>
            </a:avLst>
          </a:prstGeom>
          <a:solidFill>
            <a:srgbClr val="EEF2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FFAB6B-C326-4C9D-899C-153981AFC254}"/>
              </a:ext>
            </a:extLst>
          </p:cNvPr>
          <p:cNvSpPr>
            <a:spLocks noGrp="1"/>
          </p:cNvSpPr>
          <p:nvPr/>
        </p:nvSpPr>
        <p:spPr>
          <a:xfrm>
            <a:off x="4895850" y="2228850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4338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4338CA"/>
                </a:solidFill>
                <a:latin typeface="Aptos Display"/>
                <a:ea typeface="Aptos Display"/>
                <a:cs typeface="Aptos Display"/>
              </a:rPr>
              <a:t>VM 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7B3D20A-AA97-4FDA-BD16-A64B2F59E2AA}"/>
              </a:ext>
            </a:extLst>
          </p:cNvPr>
          <p:cNvSpPr>
            <a:spLocks noGrp="1"/>
          </p:cNvSpPr>
          <p:nvPr/>
        </p:nvSpPr>
        <p:spPr>
          <a:xfrm>
            <a:off x="4895850" y="2628900"/>
            <a:ext cx="609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183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Guest OS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 + 依賴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4A978240-973A-4956-BCCF-129429F16A06}"/>
              </a:ext>
            </a:extLst>
          </p:cNvPr>
          <p:cNvSpPr>
            <a:spLocks noGrp="1"/>
          </p:cNvSpPr>
          <p:nvPr/>
        </p:nvSpPr>
        <p:spPr>
          <a:xfrm>
            <a:off x="6000750" y="2038350"/>
            <a:ext cx="1066800" cy="1257300"/>
          </a:xfrm>
          <a:prstGeom prst="roundRect">
            <a:avLst>
              <a:gd name="adj" fmla="val 10714"/>
            </a:avLst>
          </a:prstGeom>
          <a:solidFill>
            <a:srgbClr val="EEF2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9CE553E-C768-4132-98D5-05F843072A0F}"/>
              </a:ext>
            </a:extLst>
          </p:cNvPr>
          <p:cNvSpPr>
            <a:spLocks noGrp="1"/>
          </p:cNvSpPr>
          <p:nvPr/>
        </p:nvSpPr>
        <p:spPr>
          <a:xfrm>
            <a:off x="6229350" y="2228850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4338C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4338CA"/>
                </a:solidFill>
                <a:latin typeface="Aptos Display"/>
                <a:ea typeface="Aptos Display"/>
                <a:cs typeface="Aptos Display"/>
              </a:rPr>
              <a:t>VM 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4C75ED2-CD5A-43ED-AD8A-54235208E71F}"/>
              </a:ext>
            </a:extLst>
          </p:cNvPr>
          <p:cNvSpPr>
            <a:spLocks noGrp="1"/>
          </p:cNvSpPr>
          <p:nvPr/>
        </p:nvSpPr>
        <p:spPr>
          <a:xfrm>
            <a:off x="6229350" y="2628900"/>
            <a:ext cx="609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183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Guest OS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 + 依賴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D1A9C322-4557-48A3-BD0D-02233AE2F3A8}"/>
              </a:ext>
            </a:extLst>
          </p:cNvPr>
          <p:cNvSpPr>
            <a:spLocks noGrp="1"/>
          </p:cNvSpPr>
          <p:nvPr/>
        </p:nvSpPr>
        <p:spPr>
          <a:xfrm>
            <a:off x="4610100" y="3505200"/>
            <a:ext cx="24765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F29B15-4022-4878-A96A-8EB58C78C529}"/>
              </a:ext>
            </a:extLst>
          </p:cNvPr>
          <p:cNvSpPr>
            <a:spLocks noGrp="1"/>
          </p:cNvSpPr>
          <p:nvPr/>
        </p:nvSpPr>
        <p:spPr>
          <a:xfrm>
            <a:off x="4838700" y="3695700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Hypervisor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5A7756F-D40D-46A3-82F9-73C34A6F28CB}"/>
              </a:ext>
            </a:extLst>
          </p:cNvPr>
          <p:cNvSpPr>
            <a:spLocks noGrp="1"/>
          </p:cNvSpPr>
          <p:nvPr/>
        </p:nvSpPr>
        <p:spPr>
          <a:xfrm>
            <a:off x="4838700" y="3848100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endParaRPr/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345E4E59-862E-4CF8-BAB5-F6104C66E063}"/>
              </a:ext>
            </a:extLst>
          </p:cNvPr>
          <p:cNvSpPr>
            <a:spLocks noGrp="1"/>
          </p:cNvSpPr>
          <p:nvPr/>
        </p:nvSpPr>
        <p:spPr>
          <a:xfrm>
            <a:off x="4610100" y="4171950"/>
            <a:ext cx="24765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16F9C70-043E-467D-949D-AFDB7C6B8D38}"/>
              </a:ext>
            </a:extLst>
          </p:cNvPr>
          <p:cNvSpPr>
            <a:spLocks noGrp="1"/>
          </p:cNvSpPr>
          <p:nvPr/>
        </p:nvSpPr>
        <p:spPr>
          <a:xfrm>
            <a:off x="4838700" y="4362450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Host OS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5B71B9C-9835-42C9-9A82-8A047A6F87A5}"/>
              </a:ext>
            </a:extLst>
          </p:cNvPr>
          <p:cNvSpPr>
            <a:spLocks noGrp="1"/>
          </p:cNvSpPr>
          <p:nvPr/>
        </p:nvSpPr>
        <p:spPr>
          <a:xfrm>
            <a:off x="4838700" y="4514850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ED601F-AB96-4FE7-AA85-E6B98FF9AEEA}"/>
              </a:ext>
            </a:extLst>
          </p:cNvPr>
          <p:cNvSpPr>
            <a:spLocks noGrp="1"/>
          </p:cNvSpPr>
          <p:nvPr/>
        </p:nvSpPr>
        <p:spPr>
          <a:xfrm>
            <a:off x="4457700" y="52578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每台 VM 都有完整 Guest OS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BAB176AB-7CAE-4E2C-8B80-D3956FD81BF4}"/>
              </a:ext>
            </a:extLst>
          </p:cNvPr>
          <p:cNvSpPr>
            <a:spLocks noGrp="1"/>
          </p:cNvSpPr>
          <p:nvPr/>
        </p:nvSpPr>
        <p:spPr>
          <a:xfrm>
            <a:off x="5105400" y="56197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4338CA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DCBAD08-8635-4BD5-9376-98BDFB51ED76}"/>
              </a:ext>
            </a:extLst>
          </p:cNvPr>
          <p:cNvSpPr>
            <a:spLocks noGrp="1"/>
          </p:cNvSpPr>
          <p:nvPr/>
        </p:nvSpPr>
        <p:spPr>
          <a:xfrm>
            <a:off x="5105400" y="56673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338C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38CA"/>
                </a:solidFill>
                <a:latin typeface="Aptos"/>
                <a:ea typeface="Aptos"/>
                <a:cs typeface="Aptos"/>
              </a:rPr>
              <a:t>隔離強但重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49200B-6B30-41C4-A8D8-0E9AFB327A0A}"/>
              </a:ext>
            </a:extLst>
          </p:cNvPr>
          <p:cNvSpPr>
            <a:spLocks noGrp="1"/>
          </p:cNvSpPr>
          <p:nvPr/>
        </p:nvSpPr>
        <p:spPr>
          <a:xfrm>
            <a:off x="7962900" y="15049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容器化部署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1591ADF2-1749-4163-83AC-2997D91563C7}"/>
              </a:ext>
            </a:extLst>
          </p:cNvPr>
          <p:cNvSpPr>
            <a:spLocks noGrp="1"/>
          </p:cNvSpPr>
          <p:nvPr/>
        </p:nvSpPr>
        <p:spPr>
          <a:xfrm>
            <a:off x="8077200" y="2038350"/>
            <a:ext cx="819150" cy="933450"/>
          </a:xfrm>
          <a:prstGeom prst="roundRect">
            <a:avLst>
              <a:gd name="adj" fmla="val 13953"/>
            </a:avLst>
          </a:prstGeom>
          <a:solidFill>
            <a:srgbClr val="E8F3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185196F-2672-48FE-A3F4-2DA8F5EF020A}"/>
              </a:ext>
            </a:extLst>
          </p:cNvPr>
          <p:cNvSpPr>
            <a:spLocks noGrp="1"/>
          </p:cNvSpPr>
          <p:nvPr/>
        </p:nvSpPr>
        <p:spPr>
          <a:xfrm>
            <a:off x="8305800" y="22288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303" lnSpcReduction="20000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容器 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3931204-FE8C-4299-A856-3E01FB9095B4}"/>
              </a:ext>
            </a:extLst>
          </p:cNvPr>
          <p:cNvSpPr>
            <a:spLocks noGrp="1"/>
          </p:cNvSpPr>
          <p:nvPr/>
        </p:nvSpPr>
        <p:spPr>
          <a:xfrm>
            <a:off x="8305800" y="262890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4411" lnSpcReduction="20000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 + 依賴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E229C7E6-8E1D-4037-957E-0BCFA49E29F8}"/>
              </a:ext>
            </a:extLst>
          </p:cNvPr>
          <p:cNvSpPr>
            <a:spLocks noGrp="1"/>
          </p:cNvSpPr>
          <p:nvPr/>
        </p:nvSpPr>
        <p:spPr>
          <a:xfrm>
            <a:off x="9010650" y="2038350"/>
            <a:ext cx="819150" cy="933450"/>
          </a:xfrm>
          <a:prstGeom prst="roundRect">
            <a:avLst>
              <a:gd name="adj" fmla="val 13953"/>
            </a:avLst>
          </a:prstGeom>
          <a:solidFill>
            <a:srgbClr val="E8F3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850BCD0-A927-46B0-8243-ACBAC2354482}"/>
              </a:ext>
            </a:extLst>
          </p:cNvPr>
          <p:cNvSpPr>
            <a:spLocks noGrp="1"/>
          </p:cNvSpPr>
          <p:nvPr/>
        </p:nvSpPr>
        <p:spPr>
          <a:xfrm>
            <a:off x="9239250" y="22288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303" lnSpcReduction="20000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容器 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F22707-3138-4A5E-B21D-E3ABEF601E12}"/>
              </a:ext>
            </a:extLst>
          </p:cNvPr>
          <p:cNvSpPr>
            <a:spLocks noGrp="1"/>
          </p:cNvSpPr>
          <p:nvPr/>
        </p:nvSpPr>
        <p:spPr>
          <a:xfrm>
            <a:off x="9239250" y="262890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4411" lnSpcReduction="20000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 + 依賴</a:t>
            </a: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9FF06AD8-E146-4B4E-A2D5-2D1AF6006CB0}"/>
              </a:ext>
            </a:extLst>
          </p:cNvPr>
          <p:cNvSpPr>
            <a:spLocks noGrp="1"/>
          </p:cNvSpPr>
          <p:nvPr/>
        </p:nvSpPr>
        <p:spPr>
          <a:xfrm>
            <a:off x="9944100" y="2038350"/>
            <a:ext cx="819150" cy="933450"/>
          </a:xfrm>
          <a:prstGeom prst="roundRect">
            <a:avLst>
              <a:gd name="adj" fmla="val 13953"/>
            </a:avLst>
          </a:prstGeom>
          <a:solidFill>
            <a:srgbClr val="E8F3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BCDC8C7-DA26-4098-ACC3-D506854012B4}"/>
              </a:ext>
            </a:extLst>
          </p:cNvPr>
          <p:cNvSpPr>
            <a:spLocks noGrp="1"/>
          </p:cNvSpPr>
          <p:nvPr/>
        </p:nvSpPr>
        <p:spPr>
          <a:xfrm>
            <a:off x="10172700" y="22288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303" lnSpcReduction="20000"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容器 3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3578FFD-959C-4D2D-9206-F957E05F4ACA}"/>
              </a:ext>
            </a:extLst>
          </p:cNvPr>
          <p:cNvSpPr>
            <a:spLocks noGrp="1"/>
          </p:cNvSpPr>
          <p:nvPr/>
        </p:nvSpPr>
        <p:spPr>
          <a:xfrm>
            <a:off x="10172700" y="262890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4411" lnSpcReduction="20000"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 + 依賴</a:t>
            </a: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EE106F9A-75B2-40CF-9A10-D27ADEB29F95}"/>
              </a:ext>
            </a:extLst>
          </p:cNvPr>
          <p:cNvSpPr>
            <a:spLocks noGrp="1"/>
          </p:cNvSpPr>
          <p:nvPr/>
        </p:nvSpPr>
        <p:spPr>
          <a:xfrm>
            <a:off x="8134350" y="3257550"/>
            <a:ext cx="268605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9390672-DD08-46C4-AC52-61588458C188}"/>
              </a:ext>
            </a:extLst>
          </p:cNvPr>
          <p:cNvSpPr>
            <a:spLocks noGrp="1"/>
          </p:cNvSpPr>
          <p:nvPr/>
        </p:nvSpPr>
        <p:spPr>
          <a:xfrm>
            <a:off x="8362950" y="344805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Engine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9106112-322C-4007-B3B3-32002B7E8CF1}"/>
              </a:ext>
            </a:extLst>
          </p:cNvPr>
          <p:cNvSpPr>
            <a:spLocks noGrp="1"/>
          </p:cNvSpPr>
          <p:nvPr/>
        </p:nvSpPr>
        <p:spPr>
          <a:xfrm>
            <a:off x="8362950" y="360045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endParaRPr/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68B6AF89-FB0E-453E-A2FB-3DECEC747566}"/>
              </a:ext>
            </a:extLst>
          </p:cNvPr>
          <p:cNvSpPr>
            <a:spLocks noGrp="1"/>
          </p:cNvSpPr>
          <p:nvPr/>
        </p:nvSpPr>
        <p:spPr>
          <a:xfrm>
            <a:off x="8134350" y="3924300"/>
            <a:ext cx="268605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3CA520B-D1FB-4AA1-AA7E-DB1B7075006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Host OS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B55ED62-12E4-4B2A-8E33-B046AB6C3294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endParaRPr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DBB278A2-8AA1-458C-8D6A-276060A3D07A}"/>
              </a:ext>
            </a:extLst>
          </p:cNvPr>
          <p:cNvSpPr>
            <a:spLocks noGrp="1"/>
          </p:cNvSpPr>
          <p:nvPr/>
        </p:nvSpPr>
        <p:spPr>
          <a:xfrm>
            <a:off x="8134350" y="4591050"/>
            <a:ext cx="26860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CC42C7E-6677-4B4A-81B3-59A9F4B98E32}"/>
              </a:ext>
            </a:extLst>
          </p:cNvPr>
          <p:cNvSpPr>
            <a:spLocks noGrp="1"/>
          </p:cNvSpPr>
          <p:nvPr/>
        </p:nvSpPr>
        <p:spPr>
          <a:xfrm>
            <a:off x="8362950" y="478155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Hardware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CC3E4EA-31CB-45F7-A129-FABB4D8F85A9}"/>
              </a:ext>
            </a:extLst>
          </p:cNvPr>
          <p:cNvSpPr>
            <a:spLocks noGrp="1"/>
          </p:cNvSpPr>
          <p:nvPr/>
        </p:nvSpPr>
        <p:spPr>
          <a:xfrm>
            <a:off x="8362950" y="4857750"/>
            <a:ext cx="222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540C18F-E621-43E0-AF22-1E2DC42A6E20}"/>
              </a:ext>
            </a:extLst>
          </p:cNvPr>
          <p:cNvSpPr>
            <a:spLocks noGrp="1"/>
          </p:cNvSpPr>
          <p:nvPr/>
        </p:nvSpPr>
        <p:spPr>
          <a:xfrm>
            <a:off x="8134350" y="52578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容器共用 Host OS 核心</a:t>
            </a: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B0BC4521-0F35-470A-A77F-D629FB402551}"/>
              </a:ext>
            </a:extLst>
          </p:cNvPr>
          <p:cNvSpPr>
            <a:spLocks noGrp="1"/>
          </p:cNvSpPr>
          <p:nvPr/>
        </p:nvSpPr>
        <p:spPr>
          <a:xfrm>
            <a:off x="8782050" y="56197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AEA57E3-B7BB-4163-BA4B-D4C863724E97}"/>
              </a:ext>
            </a:extLst>
          </p:cNvPr>
          <p:cNvSpPr>
            <a:spLocks noGrp="1"/>
          </p:cNvSpPr>
          <p:nvPr/>
        </p:nvSpPr>
        <p:spPr>
          <a:xfrm>
            <a:off x="8782050" y="56673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秒級啟動、資源少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BA67FD7-0747-44AA-9B01-1CC59EE75BD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B2D7B1A-54D5-4BBA-85BD-6E412B9702C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5ED1BDB-A287-4371-844E-0CA886A888D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451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628DE1D-1331-4290-A2FA-07AB3689DA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5508DC-817C-4CEA-90E5-53989CC1A36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1：Container 和 VM 差在哪？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BFF2D77-17F0-4B2B-B6A1-7CFD9DA6C2C0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4381500" cy="2266950"/>
          </a:xfrm>
          <a:prstGeom prst="roundRect">
            <a:avLst>
              <a:gd name="adj" fmla="val 5042"/>
            </a:avLst>
          </a:prstGeom>
          <a:solidFill>
            <a:srgbClr val="111827"/>
          </a:solidFill>
          <a:ln w="9525">
            <a:solidFill>
              <a:srgbClr val="818CF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40838D-E0FC-4690-9AB8-00370B7EC6B8}"/>
              </a:ext>
            </a:extLst>
          </p:cNvPr>
          <p:cNvSpPr>
            <a:spLocks noGrp="1"/>
          </p:cNvSpPr>
          <p:nvPr/>
        </p:nvSpPr>
        <p:spPr>
          <a:xfrm>
            <a:off x="1276350" y="2000250"/>
            <a:ext cx="392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697" lnSpcReduction="20000"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C4B5F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4B5FD"/>
                </a:solidFill>
                <a:latin typeface="Aptos Display"/>
                <a:ea typeface="Aptos Display"/>
                <a:cs typeface="Aptos Display"/>
              </a:rPr>
              <a:t>VM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64AD2E-913B-4860-9782-53EF1695687C}"/>
              </a:ext>
            </a:extLst>
          </p:cNvPr>
          <p:cNvSpPr>
            <a:spLocks noGrp="1"/>
          </p:cNvSpPr>
          <p:nvPr/>
        </p:nvSpPr>
        <p:spPr>
          <a:xfrm>
            <a:off x="1276350" y="2400300"/>
            <a:ext cx="39243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每台 VM 都有完整 Guest OS。</a:t>
            </a:r>
          </a:p>
          <a:p>
            <a:pPr algn="l">
              <a:lnSpc>
                <a:spcPct val="105000"/>
              </a:lnSpc>
              <a:buNone/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隔離強，但啟動慢、資源佔用高。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E112A17-2D1D-4C45-861C-CE3B511EE6EE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381500" cy="2266950"/>
          </a:xfrm>
          <a:prstGeom prst="roundRect">
            <a:avLst>
              <a:gd name="adj" fmla="val 5042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489229-B87D-4177-9FBF-674A2116921E}"/>
              </a:ext>
            </a:extLst>
          </p:cNvPr>
          <p:cNvSpPr>
            <a:spLocks noGrp="1"/>
          </p:cNvSpPr>
          <p:nvPr/>
        </p:nvSpPr>
        <p:spPr>
          <a:xfrm>
            <a:off x="6991350" y="2000250"/>
            <a:ext cx="392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697" lnSpcReduction="20000"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Container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158A57-324A-4BD4-BE88-E7B11A3C8C61}"/>
              </a:ext>
            </a:extLst>
          </p:cNvPr>
          <p:cNvSpPr>
            <a:spLocks noGrp="1"/>
          </p:cNvSpPr>
          <p:nvPr/>
        </p:nvSpPr>
        <p:spPr>
          <a:xfrm>
            <a:off x="6991350" y="2400300"/>
            <a:ext cx="39243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共用主機 OS 核心。</a:t>
            </a:r>
          </a:p>
          <a:p>
            <a:pPr algn="l">
              <a:lnSpc>
                <a:spcPct val="105000"/>
              </a:lnSpc>
              <a:buNone/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程序級隔離，啟動快、資源少。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344001F-4DEE-4DFA-A234-7FECC9E3B44A}"/>
              </a:ext>
            </a:extLst>
          </p:cNvPr>
          <p:cNvSpPr>
            <a:spLocks noGrp="1"/>
          </p:cNvSpPr>
          <p:nvPr/>
        </p:nvSpPr>
        <p:spPr>
          <a:xfrm>
            <a:off x="1962150" y="4857750"/>
            <a:ext cx="8267700" cy="62865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3BA612-E62F-4A38-B18D-623F263F089B}"/>
              </a:ext>
            </a:extLst>
          </p:cNvPr>
          <p:cNvSpPr>
            <a:spLocks noGrp="1"/>
          </p:cNvSpPr>
          <p:nvPr/>
        </p:nvSpPr>
        <p:spPr>
          <a:xfrm>
            <a:off x="2266950" y="5067300"/>
            <a:ext cx="7658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03" lnSpcReduction="10000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回答目標：能說出「共用核心、不跑完整 OS、所以更快更輕」。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1E4261-DFB0-4EEC-BF46-CDF60A2AC2A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E24150-8610-48B1-A1B9-F7DD6B29499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C64108-E296-4716-B0D7-C41041302026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67733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808340E-3604-4ED0-9B94-EAC05BAC5F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CORE PROMISE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800046-58EA-43C0-8811-38946B72883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的三個承諾，以及一個補充提醒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D1CAD4-BBBE-4980-B86E-9D83373887AF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3238500" cy="2190750"/>
          </a:xfrm>
          <a:prstGeom prst="roundRect">
            <a:avLst>
              <a:gd name="adj" fmla="val 5217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CB0DB-6EB0-4805-AF87-119739B234BC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可攜性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1EB7F6-62D1-4CD4-86E4-40EAB6607216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27813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打包成 Image 後，只要有 Docker 就能用同一種方式運行。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1E3F679-B153-4555-82B4-94B30EA0C35D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238500" cy="2190750"/>
          </a:xfrm>
          <a:prstGeom prst="roundRect">
            <a:avLst>
              <a:gd name="adj" fmla="val 5217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36858C-7924-4480-98FC-99329724064C}"/>
              </a:ext>
            </a:extLst>
          </p:cNvPr>
          <p:cNvSpPr>
            <a:spLocks noGrp="1"/>
          </p:cNvSpPr>
          <p:nvPr/>
        </p:nvSpPr>
        <p:spPr>
          <a:xfrm>
            <a:off x="4610100" y="18097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隔離性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A4EA42-B27E-45EC-9F9D-96258B180D78}"/>
              </a:ext>
            </a:extLst>
          </p:cNvPr>
          <p:cNvSpPr>
            <a:spLocks noGrp="1"/>
          </p:cNvSpPr>
          <p:nvPr/>
        </p:nvSpPr>
        <p:spPr>
          <a:xfrm>
            <a:off x="4610100" y="2209800"/>
            <a:ext cx="27813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不同應用各自待在容器裡，降低版本與套件互相干擾。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8C7B337-09B4-4CDB-950B-F790520F218E}"/>
              </a:ext>
            </a:extLst>
          </p:cNvPr>
          <p:cNvSpPr>
            <a:spLocks noGrp="1"/>
          </p:cNvSpPr>
          <p:nvPr/>
        </p:nvSpPr>
        <p:spPr>
          <a:xfrm>
            <a:off x="8058150" y="1619250"/>
            <a:ext cx="3238500" cy="2190750"/>
          </a:xfrm>
          <a:prstGeom prst="roundRect">
            <a:avLst>
              <a:gd name="adj" fmla="val 5217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FE2369-EE4D-4AF7-84ED-C8363ED01C09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03" lnSpcReduction="10000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ED0644-A390-4311-B829-1FEB1E257FB7}"/>
              </a:ext>
            </a:extLst>
          </p:cNvPr>
          <p:cNvSpPr>
            <a:spLocks noGrp="1"/>
          </p:cNvSpPr>
          <p:nvPr/>
        </p:nvSpPr>
        <p:spPr>
          <a:xfrm>
            <a:off x="8286750" y="2209800"/>
            <a:ext cx="27813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開發、測試、部署都用同一份環境，減少本機正常、上線失敗。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972542C-74D2-486E-98E9-2ABCD6C43FCD}"/>
              </a:ext>
            </a:extLst>
          </p:cNvPr>
          <p:cNvSpPr>
            <a:spLocks noGrp="1"/>
          </p:cNvSpPr>
          <p:nvPr/>
        </p:nvSpPr>
        <p:spPr>
          <a:xfrm>
            <a:off x="1600200" y="4362450"/>
            <a:ext cx="89916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8001D9-F0ED-4B6F-90E2-7D94A5B3964A}"/>
              </a:ext>
            </a:extLst>
          </p:cNvPr>
          <p:cNvSpPr>
            <a:spLocks noGrp="1"/>
          </p:cNvSpPr>
          <p:nvPr/>
        </p:nvSpPr>
        <p:spPr>
          <a:xfrm>
            <a:off x="1943100" y="459105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62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現況：Docker 通常會自動選對 Image 版本。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E271DC-3856-44BC-B292-F51575086BC8}"/>
              </a:ext>
            </a:extLst>
          </p:cNvPr>
          <p:cNvSpPr>
            <a:spLocks noGrp="1"/>
          </p:cNvSpPr>
          <p:nvPr/>
        </p:nvSpPr>
        <p:spPr>
          <a:xfrm>
            <a:off x="1943100" y="49530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多數官方 Image 已支援多架構；只有遇到錯誤時才需要檢查平台相容性。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EF7B81-9857-431F-83AE-23ADAF7ADBB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CEBC75-9A71-458B-9297-33A2DB14A84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AA5014D-C824-4C2A-8438-A9BEFBDAD3B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7981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ABF7C43-C4A1-482F-80C1-94B2CECB3B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TRADEOFFS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BC6149-CFEB-4528-A5E7-4DE79C741C6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很實用，但不是萬能工具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1F7A7B2-708C-4A1A-A97E-9137D5642B18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29527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B4A47A-5CE3-4C00-83E8-BCCAB906154F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學習曲線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7AD63D-3BF5-4C37-9EA0-CB033B74E25F}"/>
              </a:ext>
            </a:extLst>
          </p:cNvPr>
          <p:cNvSpPr>
            <a:spLocks noGrp="1"/>
          </p:cNvSpPr>
          <p:nvPr/>
        </p:nvSpPr>
        <p:spPr>
          <a:xfrm>
            <a:off x="1047750" y="234315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Image、Container、Volume、Network 概念多。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03BEBFB-DCE4-4535-8B96-C419125803B0}"/>
              </a:ext>
            </a:extLst>
          </p:cNvPr>
          <p:cNvSpPr>
            <a:spLocks noGrp="1"/>
          </p:cNvSpPr>
          <p:nvPr/>
        </p:nvSpPr>
        <p:spPr>
          <a:xfrm>
            <a:off x="4343400" y="1714500"/>
            <a:ext cx="29527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D87AE-82F5-4BE7-A79D-707AC9F2B992}"/>
              </a:ext>
            </a:extLst>
          </p:cNvPr>
          <p:cNvSpPr>
            <a:spLocks noGrp="1"/>
          </p:cNvSpPr>
          <p:nvPr/>
        </p:nvSpPr>
        <p:spPr>
          <a:xfrm>
            <a:off x="4572000" y="1943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安全性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FFB005-CF20-41E2-A853-7438559FFC85}"/>
              </a:ext>
            </a:extLst>
          </p:cNvPr>
          <p:cNvSpPr>
            <a:spLocks noGrp="1"/>
          </p:cNvSpPr>
          <p:nvPr/>
        </p:nvSpPr>
        <p:spPr>
          <a:xfrm>
            <a:off x="4572000" y="234315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容器隔離不是完整 VM，預設 root 也要留意。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6B99982-32EB-431A-B484-3C56B695EB9D}"/>
              </a:ext>
            </a:extLst>
          </p:cNvPr>
          <p:cNvSpPr>
            <a:spLocks noGrp="1"/>
          </p:cNvSpPr>
          <p:nvPr/>
        </p:nvSpPr>
        <p:spPr>
          <a:xfrm>
            <a:off x="7867650" y="1714500"/>
            <a:ext cx="29527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A8BADE-6C7E-43B4-ACA7-D4475D4B1991}"/>
              </a:ext>
            </a:extLst>
          </p:cNvPr>
          <p:cNvSpPr>
            <a:spLocks noGrp="1"/>
          </p:cNvSpPr>
          <p:nvPr/>
        </p:nvSpPr>
        <p:spPr>
          <a:xfrm>
            <a:off x="8096250" y="1943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有狀態服務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CEE440-E8B2-43AF-9E56-E4814C339AAB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資料庫需要持久化與備份，正式環境常用託管服務。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B72395C-5C1F-49E9-8EF2-4219A44940AB}"/>
              </a:ext>
            </a:extLst>
          </p:cNvPr>
          <p:cNvSpPr>
            <a:spLocks noGrp="1"/>
          </p:cNvSpPr>
          <p:nvPr/>
        </p:nvSpPr>
        <p:spPr>
          <a:xfrm>
            <a:off x="2571750" y="3848100"/>
            <a:ext cx="29527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FD7F37-0F08-4845-8C0A-F5F4C93C0D94}"/>
              </a:ext>
            </a:extLst>
          </p:cNvPr>
          <p:cNvSpPr>
            <a:spLocks noGrp="1"/>
          </p:cNvSpPr>
          <p:nvPr/>
        </p:nvSpPr>
        <p:spPr>
          <a:xfrm>
            <a:off x="2800350" y="40767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磁碟空間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A75EA2-A09A-4AFC-BB57-418FD8595709}"/>
              </a:ext>
            </a:extLst>
          </p:cNvPr>
          <p:cNvSpPr>
            <a:spLocks noGrp="1"/>
          </p:cNvSpPr>
          <p:nvPr/>
        </p:nvSpPr>
        <p:spPr>
          <a:xfrm>
            <a:off x="2800350" y="447675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 / Container 會越積越多，需要定期清理。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0EDD718-CC67-4AF8-B609-686AA314A1D6}"/>
              </a:ext>
            </a:extLst>
          </p:cNvPr>
          <p:cNvSpPr>
            <a:spLocks noGrp="1"/>
          </p:cNvSpPr>
          <p:nvPr/>
        </p:nvSpPr>
        <p:spPr>
          <a:xfrm>
            <a:off x="6191250" y="3848100"/>
            <a:ext cx="29527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EA0C03-D34A-4D1C-B3B0-75458721F41E}"/>
              </a:ext>
            </a:extLst>
          </p:cNvPr>
          <p:cNvSpPr>
            <a:spLocks noGrp="1"/>
          </p:cNvSpPr>
          <p:nvPr/>
        </p:nvSpPr>
        <p:spPr>
          <a:xfrm>
            <a:off x="6419850" y="40767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除錯複雜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7806BD-F244-428B-8783-530BE1DF49AD}"/>
              </a:ext>
            </a:extLst>
          </p:cNvPr>
          <p:cNvSpPr>
            <a:spLocks noGrp="1"/>
          </p:cNvSpPr>
          <p:nvPr/>
        </p:nvSpPr>
        <p:spPr>
          <a:xfrm>
            <a:off x="6419850" y="447675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網路、log、跨容器問題需要工具與流程。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657373-CF5D-437D-B34A-9F9D256F7972}"/>
              </a:ext>
            </a:extLst>
          </p:cNvPr>
          <p:cNvSpPr>
            <a:spLocks noGrp="1"/>
          </p:cNvSpPr>
          <p:nvPr/>
        </p:nvSpPr>
        <p:spPr>
          <a:xfrm>
            <a:off x="1314450" y="5676900"/>
            <a:ext cx="956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重點不是避開 Docker，而是知道什麼問題要補上 Volume、權限、監控與清理流程。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B53CBD-505F-4608-8251-34E927562B2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3B8851-5C66-4046-83B3-4B4980C025B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3960E5-C7D1-45BD-94CB-5FC401DF68B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1817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08F161E-F89E-43C7-9BFE-6583AAB5D57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BC0268-3B6C-4A67-88F5-ED9882DBC3B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的三個核心名詞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rcRect l="106" r="106"/>
          <a:stretch>
            <a:fillRect/>
          </a:stretch>
        </p:blipFill>
        <p:spPr>
          <a:xfrm>
            <a:off x="6477000" y="1504950"/>
            <a:ext cx="4762500" cy="2686050"/>
          </a:xfrm>
          <a:prstGeom prst="round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4DCF23C-AF82-48D4-8FA3-9164C86166B0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762500" cy="2686050"/>
          </a:xfrm>
          <a:prstGeom prst="roundRect">
            <a:avLst>
              <a:gd name="adj" fmla="val 4965"/>
            </a:avLst>
          </a:prstGeom>
          <a:solidFill>
            <a:srgbClr val="000000">
              <a:alpha val="0"/>
            </a:srgbClr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287D6B3-5032-4840-A4B8-5C530A8E5CCC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4191000" cy="876300"/>
          </a:xfrm>
          <a:prstGeom prst="roundRect">
            <a:avLst>
              <a:gd name="adj" fmla="val 13043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AA1587-762B-4867-B7BD-4A3A8524630C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75" lnSpcReduction="1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Registry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5DAA03-45C4-4D56-AA37-0E6C271DE90C}"/>
              </a:ext>
            </a:extLst>
          </p:cNvPr>
          <p:cNvSpPr>
            <a:spLocks noGrp="1"/>
          </p:cNvSpPr>
          <p:nvPr/>
        </p:nvSpPr>
        <p:spPr>
          <a:xfrm>
            <a:off x="2743200" y="22288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Docker Hub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存放 Image 的倉庫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7E9F0F83-42F1-4BFB-B752-0A0EAA637E4E}"/>
              </a:ext>
            </a:extLst>
          </p:cNvPr>
          <p:cNvSpPr>
            <a:spLocks noGrp="1"/>
          </p:cNvSpPr>
          <p:nvPr/>
        </p:nvSpPr>
        <p:spPr>
          <a:xfrm>
            <a:off x="2552700" y="2924175"/>
            <a:ext cx="361950" cy="3238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47B79D5-372A-43B8-8CCA-A66CBC2CFC11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4191000" cy="876300"/>
          </a:xfrm>
          <a:prstGeom prst="roundRect">
            <a:avLst>
              <a:gd name="adj" fmla="val 13043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425EE7-E663-4095-A50F-0C84A3B2B9E2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75" lnSpcReduction="1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Image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AD6D3A-8F72-480D-B3EA-F3A6D80078EC}"/>
              </a:ext>
            </a:extLst>
          </p:cNvPr>
          <p:cNvSpPr>
            <a:spLocks noGrp="1"/>
          </p:cNvSpPr>
          <p:nvPr/>
        </p:nvSpPr>
        <p:spPr>
          <a:xfrm>
            <a:off x="2743200" y="33909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唯讀模板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包含程式與環境</a:t>
            </a: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9173973C-F022-4A09-9A2B-E1771D28E10B}"/>
              </a:ext>
            </a:extLst>
          </p:cNvPr>
          <p:cNvSpPr>
            <a:spLocks noGrp="1"/>
          </p:cNvSpPr>
          <p:nvPr/>
        </p:nvSpPr>
        <p:spPr>
          <a:xfrm>
            <a:off x="2552700" y="4086225"/>
            <a:ext cx="361950" cy="3238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162EA80-0F90-4720-8B73-21F43FFDAF91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4191000" cy="876300"/>
          </a:xfrm>
          <a:prstGeom prst="roundRect">
            <a:avLst>
              <a:gd name="adj" fmla="val 13043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C66211-1AC3-4E7D-B878-721E25EFCF08}"/>
              </a:ext>
            </a:extLst>
          </p:cNvPr>
          <p:cNvSpPr>
            <a:spLocks noGrp="1"/>
          </p:cNvSpPr>
          <p:nvPr/>
        </p:nvSpPr>
        <p:spPr>
          <a:xfrm>
            <a:off x="1104900" y="45339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75" lnSpcReduction="1000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Container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5FACDC-87C9-402F-A6C1-F5E062983106}"/>
              </a:ext>
            </a:extLst>
          </p:cNvPr>
          <p:cNvSpPr>
            <a:spLocks noGrp="1"/>
          </p:cNvSpPr>
          <p:nvPr/>
        </p:nvSpPr>
        <p:spPr>
          <a:xfrm>
            <a:off x="2743200" y="45529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Image 跑起來後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正在執行的實體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C51B9A-5829-475D-85B2-79184081F6AB}"/>
              </a:ext>
            </a:extLst>
          </p:cNvPr>
          <p:cNvSpPr>
            <a:spLocks noGrp="1"/>
          </p:cNvSpPr>
          <p:nvPr/>
        </p:nvSpPr>
        <p:spPr>
          <a:xfrm>
            <a:off x="1752600" y="5219700"/>
            <a:ext cx="868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從 Registry 下載 Image，用 Image 啟動 Container。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6583B3-3E97-4665-99D0-FC84E537BD0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A40B14-0E35-408D-8BC4-D584551A916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E9CFE-B018-4CAB-81DC-8DDB8D8836F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1764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05647509-A94C-40B4-9A3F-AE7CEB1D68E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Q2-Q4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3ADBA9-006A-4DCD-8D23-C0757F35F7F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3：把 Docker 流程說出來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00D03FC-AE75-482F-8EFC-8490DBEDE133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4476750" cy="167640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2685C8-948B-4DE3-B9E3-CB2AE365C6FB}"/>
              </a:ext>
            </a:extLst>
          </p:cNvPr>
          <p:cNvSpPr>
            <a:spLocks noGrp="1"/>
          </p:cNvSpPr>
          <p:nvPr/>
        </p:nvSpPr>
        <p:spPr>
          <a:xfrm>
            <a:off x="1181100" y="1809750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075" lnSpcReduction="10000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Q2：三者一句話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54C0C1-242A-48F0-8CCE-C2578EA3654F}"/>
              </a:ext>
            </a:extLst>
          </p:cNvPr>
          <p:cNvSpPr>
            <a:spLocks noGrp="1"/>
          </p:cNvSpPr>
          <p:nvPr/>
        </p:nvSpPr>
        <p:spPr>
          <a:xfrm>
            <a:off x="1181100" y="2209800"/>
            <a:ext cx="4019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從 Registry 下載 Image，</a:t>
            </a:r>
          </a:p>
          <a:p>
            <a:pPr algn="l">
              <a:lnSpc>
                <a:spcPct val="105000"/>
              </a:lnSpc>
              <a:buNone/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再用 Image 啟動 Container。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8FE2263-5317-4CF1-8EAC-742C9D493FF1}"/>
              </a:ext>
            </a:extLst>
          </p:cNvPr>
          <p:cNvSpPr>
            <a:spLocks noGrp="1"/>
          </p:cNvSpPr>
          <p:nvPr/>
        </p:nvSpPr>
        <p:spPr>
          <a:xfrm>
            <a:off x="6762750" y="1619250"/>
            <a:ext cx="4476750" cy="28575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A0DD79-802F-4EFB-9DFD-25C1DE841C92}"/>
              </a:ext>
            </a:extLst>
          </p:cNvPr>
          <p:cNvSpPr>
            <a:spLocks noGrp="1"/>
          </p:cNvSpPr>
          <p:nvPr/>
        </p:nvSpPr>
        <p:spPr>
          <a:xfrm>
            <a:off x="6991350" y="1809750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075" lnSpcReduction="10000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Q4：hello-world 做了什麼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8FED6E-F780-4C52-AF67-653A0B835AC2}"/>
              </a:ext>
            </a:extLst>
          </p:cNvPr>
          <p:cNvSpPr>
            <a:spLocks noGrp="1"/>
          </p:cNvSpPr>
          <p:nvPr/>
        </p:nvSpPr>
        <p:spPr>
          <a:xfrm>
            <a:off x="6991350" y="2209800"/>
            <a:ext cx="40195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找本機 Image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沒有就 pull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建立 Container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4. 啟動並輸出訊息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5. 程式結束後停止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DE50DBE-D484-4471-AA4E-DFC718E2F551}"/>
              </a:ext>
            </a:extLst>
          </p:cNvPr>
          <p:cNvSpPr>
            <a:spLocks noGrp="1"/>
          </p:cNvSpPr>
          <p:nvPr/>
        </p:nvSpPr>
        <p:spPr>
          <a:xfrm>
            <a:off x="1600199" y="4914900"/>
            <a:ext cx="9182595" cy="999012"/>
          </a:xfrm>
          <a:prstGeom prst="roundRect">
            <a:avLst>
              <a:gd name="adj" fmla="val 1282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BDC8BA2-C8EE-434F-882A-588C529D1CC0}"/>
              </a:ext>
            </a:extLst>
          </p:cNvPr>
          <p:cNvSpPr>
            <a:spLocks noGrp="1"/>
          </p:cNvSpPr>
          <p:nvPr/>
        </p:nvSpPr>
        <p:spPr>
          <a:xfrm>
            <a:off x="1771650" y="50768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1886403-C896-4A6C-A733-D0AD1EB01C41}"/>
              </a:ext>
            </a:extLst>
          </p:cNvPr>
          <p:cNvSpPr>
            <a:spLocks noGrp="1"/>
          </p:cNvSpPr>
          <p:nvPr/>
        </p:nvSpPr>
        <p:spPr>
          <a:xfrm>
            <a:off x="1943100" y="50768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C01596E-AAD0-4D6F-AFD8-676061E1CA26}"/>
              </a:ext>
            </a:extLst>
          </p:cNvPr>
          <p:cNvSpPr>
            <a:spLocks noGrp="1"/>
          </p:cNvSpPr>
          <p:nvPr/>
        </p:nvSpPr>
        <p:spPr>
          <a:xfrm>
            <a:off x="2114550" y="50768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FE3521-8365-4039-82BD-7AA0B2059A24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7234" lnSpcReduction="20000"/>
          </a:bodyPr>
          <a:lstStyle/>
          <a:p>
            <a:pPr algn="l">
              <a:lnSpc>
                <a:spcPct val="104000"/>
              </a:lnSpc>
              <a:buNone/>
              <a:defRPr sz="21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21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hello-world</a:t>
            </a:r>
          </a:p>
          <a:p>
            <a:pPr algn="l">
              <a:lnSpc>
                <a:spcPct val="104000"/>
              </a:lnSpc>
              <a:buNone/>
              <a:defRPr sz="21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100" dirty="0">
                <a:solidFill>
                  <a:srgbClr val="E5E7EB"/>
                </a:solidFill>
                <a:latin typeface="Consolas"/>
              </a:rPr>
              <a:t>docker run hello-world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88C61D-FC84-4CDD-A95F-C2D87109747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1A6E8C-83CE-4B61-8645-0252648255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FE3EA0-9677-4AF2-9A72-24255147576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4995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0D9DC56D-058C-4622-A1B7-1DE6C3F14C8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IMAGE COMMANDS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991CB9-89EB-4CE4-8F06-95C3A158181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今天先掌握四種 Image 指令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1D3F1CE-7D1F-4B5D-A75A-2D3685410ECC}"/>
              </a:ext>
            </a:extLst>
          </p:cNvPr>
          <p:cNvSpPr>
            <a:spLocks noGrp="1"/>
          </p:cNvSpPr>
          <p:nvPr/>
        </p:nvSpPr>
        <p:spPr>
          <a:xfrm>
            <a:off x="704850" y="1600200"/>
            <a:ext cx="5095875" cy="228600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FBBC04E-6B75-4AB8-AD4E-BB90B63EAE8F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EFE2FFA-99A4-4E25-8DF7-DCC9B42AADC6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460A033-8297-4079-8E2A-C6CDBC73EE6C}"/>
              </a:ext>
            </a:extLst>
          </p:cNvPr>
          <p:cNvSpPr>
            <a:spLocks noGrp="1"/>
          </p:cNvSpPr>
          <p:nvPr/>
        </p:nvSpPr>
        <p:spPr>
          <a:xfrm>
            <a:off x="1219200" y="17621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81F1D7-6507-4C84-9C83-497AD9DEE3E7}"/>
              </a:ext>
            </a:extLst>
          </p:cNvPr>
          <p:cNvSpPr>
            <a:spLocks noGrp="1"/>
          </p:cNvSpPr>
          <p:nvPr/>
        </p:nvSpPr>
        <p:spPr>
          <a:xfrm>
            <a:off x="914400" y="2019300"/>
            <a:ext cx="4676775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拉取映像檔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</a:t>
            </a:r>
            <a:r>
              <a:rPr lang="en-US"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hello-world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查看本機映像檔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images</a:t>
            </a:r>
            <a:endParaRPr lang="en-US"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575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575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</a:t>
            </a:r>
            <a:r>
              <a:rPr lang="en-US"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ocker run hello-world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3C9FE56-CC23-4866-9C03-5C582464879E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5095875" cy="228600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85E5422-61D7-4074-9829-D790B1712815}"/>
              </a:ext>
            </a:extLst>
          </p:cNvPr>
          <p:cNvSpPr>
            <a:spLocks noGrp="1"/>
          </p:cNvSpPr>
          <p:nvPr/>
        </p:nvSpPr>
        <p:spPr>
          <a:xfrm>
            <a:off x="6591300" y="17621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EF6AFB1-6F0B-495D-93EB-DDCF2D3B8A68}"/>
              </a:ext>
            </a:extLst>
          </p:cNvPr>
          <p:cNvSpPr>
            <a:spLocks noGrp="1"/>
          </p:cNvSpPr>
          <p:nvPr/>
        </p:nvSpPr>
        <p:spPr>
          <a:xfrm>
            <a:off x="6762750" y="17621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2C009DC-887F-48EF-A591-6FF2056B2024}"/>
              </a:ext>
            </a:extLst>
          </p:cNvPr>
          <p:cNvSpPr>
            <a:spLocks noGrp="1"/>
          </p:cNvSpPr>
          <p:nvPr/>
        </p:nvSpPr>
        <p:spPr>
          <a:xfrm>
            <a:off x="6934200" y="17621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55AE8D-80BF-48EA-9B1F-5A304083DF39}"/>
              </a:ext>
            </a:extLst>
          </p:cNvPr>
          <p:cNvSpPr>
            <a:spLocks noGrp="1"/>
          </p:cNvSpPr>
          <p:nvPr/>
        </p:nvSpPr>
        <p:spPr>
          <a:xfrm>
            <a:off x="6629400" y="2019300"/>
            <a:ext cx="4676775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575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查看container</a:t>
            </a:r>
            <a:endParaRPr sz="1575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r>
              <a:rPr lang="en-US"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-a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刪除映像檔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</a:t>
            </a:r>
            <a:r>
              <a:rPr lang="en-US" sz="1575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abc123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rmi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hello-world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6BBA69-79A7-403F-9FFA-B66886B59274}"/>
              </a:ext>
            </a:extLst>
          </p:cNvPr>
          <p:cNvSpPr>
            <a:spLocks noGrp="1"/>
          </p:cNvSpPr>
          <p:nvPr/>
        </p:nvSpPr>
        <p:spPr>
          <a:xfrm>
            <a:off x="2114550" y="44386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images 輸出怎麼讀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6A8064-A59D-4001-8A1B-BFC82248420E}"/>
              </a:ext>
            </a:extLst>
          </p:cNvPr>
          <p:cNvSpPr>
            <a:spLocks noGrp="1"/>
          </p:cNvSpPr>
          <p:nvPr/>
        </p:nvSpPr>
        <p:spPr>
          <a:xfrm>
            <a:off x="2114550" y="4857750"/>
            <a:ext cx="2095500" cy="285750"/>
          </a:xfrm>
          <a:prstGeom prst="rect">
            <a:avLst/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8ED531-D773-4D2F-89FC-10797C77A59E}"/>
              </a:ext>
            </a:extLst>
          </p:cNvPr>
          <p:cNvSpPr>
            <a:spLocks noGrp="1"/>
          </p:cNvSpPr>
          <p:nvPr/>
        </p:nvSpPr>
        <p:spPr>
          <a:xfrm>
            <a:off x="4210050" y="4857750"/>
            <a:ext cx="4000500" cy="285750"/>
          </a:xfrm>
          <a:prstGeom prst="rect">
            <a:avLst/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1B343F-E5E1-4950-A7E4-9547CC038260}"/>
              </a:ext>
            </a:extLst>
          </p:cNvPr>
          <p:cNvSpPr>
            <a:spLocks noGrp="1"/>
          </p:cNvSpPr>
          <p:nvPr/>
        </p:nvSpPr>
        <p:spPr>
          <a:xfrm>
            <a:off x="2228850" y="49149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REPOSITORY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FBCA2F-4D03-4390-A80E-26D87E25C2F6}"/>
              </a:ext>
            </a:extLst>
          </p:cNvPr>
          <p:cNvSpPr>
            <a:spLocks noGrp="1"/>
          </p:cNvSpPr>
          <p:nvPr/>
        </p:nvSpPr>
        <p:spPr>
          <a:xfrm>
            <a:off x="4343400" y="4914900"/>
            <a:ext cx="361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映像檔名稱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8B0C08-61E8-4097-9BA6-ADCCF858EF48}"/>
              </a:ext>
            </a:extLst>
          </p:cNvPr>
          <p:cNvSpPr>
            <a:spLocks noGrp="1"/>
          </p:cNvSpPr>
          <p:nvPr/>
        </p:nvSpPr>
        <p:spPr>
          <a:xfrm>
            <a:off x="2114550" y="5181600"/>
            <a:ext cx="2095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2B5E4F-F103-4616-9CA2-0A930473EB0E}"/>
              </a:ext>
            </a:extLst>
          </p:cNvPr>
          <p:cNvSpPr>
            <a:spLocks noGrp="1"/>
          </p:cNvSpPr>
          <p:nvPr/>
        </p:nvSpPr>
        <p:spPr>
          <a:xfrm>
            <a:off x="4210050" y="5181600"/>
            <a:ext cx="4000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97CA2F-7D56-4B4A-98B1-8B9DC1DEBF94}"/>
              </a:ext>
            </a:extLst>
          </p:cNvPr>
          <p:cNvSpPr>
            <a:spLocks noGrp="1"/>
          </p:cNvSpPr>
          <p:nvPr/>
        </p:nvSpPr>
        <p:spPr>
          <a:xfrm>
            <a:off x="2228850" y="523875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TAG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0F9D03-1DF0-4330-9E24-6C5F7DBC1D3C}"/>
              </a:ext>
            </a:extLst>
          </p:cNvPr>
          <p:cNvSpPr>
            <a:spLocks noGrp="1"/>
          </p:cNvSpPr>
          <p:nvPr/>
        </p:nvSpPr>
        <p:spPr>
          <a:xfrm>
            <a:off x="4343400" y="5238750"/>
            <a:ext cx="361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版本標籤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A071A9-8DD4-4DD5-8861-5A6E08D98770}"/>
              </a:ext>
            </a:extLst>
          </p:cNvPr>
          <p:cNvSpPr>
            <a:spLocks noGrp="1"/>
          </p:cNvSpPr>
          <p:nvPr/>
        </p:nvSpPr>
        <p:spPr>
          <a:xfrm>
            <a:off x="2114550" y="5505450"/>
            <a:ext cx="2095500" cy="285750"/>
          </a:xfrm>
          <a:prstGeom prst="rect">
            <a:avLst/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3333-168A-4DAC-8979-EB5B343AF173}"/>
              </a:ext>
            </a:extLst>
          </p:cNvPr>
          <p:cNvSpPr>
            <a:spLocks noGrp="1"/>
          </p:cNvSpPr>
          <p:nvPr/>
        </p:nvSpPr>
        <p:spPr>
          <a:xfrm>
            <a:off x="4210050" y="5505450"/>
            <a:ext cx="4000500" cy="285750"/>
          </a:xfrm>
          <a:prstGeom prst="rect">
            <a:avLst/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C1B88A-88C9-4BC3-9346-0A6F3AC8BEB9}"/>
              </a:ext>
            </a:extLst>
          </p:cNvPr>
          <p:cNvSpPr>
            <a:spLocks noGrp="1"/>
          </p:cNvSpPr>
          <p:nvPr/>
        </p:nvSpPr>
        <p:spPr>
          <a:xfrm>
            <a:off x="2228850" y="556260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IMAGE ID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B30AA9-85DE-4639-9F70-8725B9CB54D5}"/>
              </a:ext>
            </a:extLst>
          </p:cNvPr>
          <p:cNvSpPr>
            <a:spLocks noGrp="1"/>
          </p:cNvSpPr>
          <p:nvPr/>
        </p:nvSpPr>
        <p:spPr>
          <a:xfrm>
            <a:off x="4343400" y="5562600"/>
            <a:ext cx="361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唯一識別碼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FA415E-93D0-4D2F-9B2B-E33996B7F625}"/>
              </a:ext>
            </a:extLst>
          </p:cNvPr>
          <p:cNvSpPr>
            <a:spLocks noGrp="1"/>
          </p:cNvSpPr>
          <p:nvPr/>
        </p:nvSpPr>
        <p:spPr>
          <a:xfrm>
            <a:off x="2114550" y="5829300"/>
            <a:ext cx="2095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3D98DF-9118-4CE1-AB53-9E8E375E1909}"/>
              </a:ext>
            </a:extLst>
          </p:cNvPr>
          <p:cNvSpPr>
            <a:spLocks noGrp="1"/>
          </p:cNvSpPr>
          <p:nvPr/>
        </p:nvSpPr>
        <p:spPr>
          <a:xfrm>
            <a:off x="4210050" y="5829300"/>
            <a:ext cx="4000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5169BC-1FD3-4718-A757-1097E0448EFD}"/>
              </a:ext>
            </a:extLst>
          </p:cNvPr>
          <p:cNvSpPr>
            <a:spLocks noGrp="1"/>
          </p:cNvSpPr>
          <p:nvPr/>
        </p:nvSpPr>
        <p:spPr>
          <a:xfrm>
            <a:off x="2228850" y="588645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SIZE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D49EF0-04EB-4A63-9B7B-04DD06369A7A}"/>
              </a:ext>
            </a:extLst>
          </p:cNvPr>
          <p:cNvSpPr>
            <a:spLocks noGrp="1"/>
          </p:cNvSpPr>
          <p:nvPr/>
        </p:nvSpPr>
        <p:spPr>
          <a:xfrm>
            <a:off x="4343400" y="5886450"/>
            <a:ext cx="361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56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映像檔大小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35FD8C-D018-40B7-8087-9872393D5DC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59F1D6-7343-4001-8C43-FF5E89616BA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C12906-5B40-452C-B031-965FAC79BBC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46573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4D00132-D554-43D1-B919-01B308681F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4710F-1E13-4983-B407-54520F8AD30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P1：拉取並比較 Image 大小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EE4F64F-198D-41C8-B8FD-6A0800237F43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5905500" cy="2343150"/>
          </a:xfrm>
          <a:prstGeom prst="roundRect">
            <a:avLst>
              <a:gd name="adj" fmla="val 406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91061BD-3FB3-4D04-AD2A-C3C3B2E42C12}"/>
              </a:ext>
            </a:extLst>
          </p:cNvPr>
          <p:cNvSpPr>
            <a:spLocks noGrp="1"/>
          </p:cNvSpPr>
          <p:nvPr/>
        </p:nvSpPr>
        <p:spPr>
          <a:xfrm>
            <a:off x="990600" y="16859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80389E0-3120-4574-B40F-44CBA405423B}"/>
              </a:ext>
            </a:extLst>
          </p:cNvPr>
          <p:cNvSpPr>
            <a:spLocks noGrp="1"/>
          </p:cNvSpPr>
          <p:nvPr/>
        </p:nvSpPr>
        <p:spPr>
          <a:xfrm>
            <a:off x="1162050" y="16859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BD90839-55CC-4684-93F0-D4559AC3B4E1}"/>
              </a:ext>
            </a:extLst>
          </p:cNvPr>
          <p:cNvSpPr>
            <a:spLocks noGrp="1"/>
          </p:cNvSpPr>
          <p:nvPr/>
        </p:nvSpPr>
        <p:spPr>
          <a:xfrm>
            <a:off x="1333500" y="16859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506171-E4C9-4FEA-BCD7-7867A9C788F7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54864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python:3.11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python:3.11-slim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python:3.11-alpine</a:t>
            </a:r>
          </a:p>
          <a:p>
            <a:endParaRPr sz="172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images | findstr python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CAC68C7-65FE-4BBE-95D6-3936ECA6FDC9}"/>
              </a:ext>
            </a:extLst>
          </p:cNvPr>
          <p:cNvSpPr>
            <a:spLocks noGrp="1"/>
          </p:cNvSpPr>
          <p:nvPr/>
        </p:nvSpPr>
        <p:spPr>
          <a:xfrm>
            <a:off x="7334250" y="1657350"/>
            <a:ext cx="40005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FEB4B0-5BF2-4764-899D-482B1C49ED00}"/>
              </a:ext>
            </a:extLst>
          </p:cNvPr>
          <p:cNvSpPr>
            <a:spLocks noGrp="1"/>
          </p:cNvSpPr>
          <p:nvPr/>
        </p:nvSpPr>
        <p:spPr>
          <a:xfrm>
            <a:off x="7562850" y="17907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python:3.11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EE7295-8194-427B-9357-E77883F619FB}"/>
              </a:ext>
            </a:extLst>
          </p:cNvPr>
          <p:cNvSpPr>
            <a:spLocks noGrp="1"/>
          </p:cNvSpPr>
          <p:nvPr/>
        </p:nvSpPr>
        <p:spPr>
          <a:xfrm>
            <a:off x="7562850" y="1971675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47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完整 Debian-based 版本，工具較多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體積通常最大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92AF311-A401-4463-89D1-580CCCA66B9C}"/>
              </a:ext>
            </a:extLst>
          </p:cNvPr>
          <p:cNvSpPr>
            <a:spLocks noGrp="1"/>
          </p:cNvSpPr>
          <p:nvPr/>
        </p:nvSpPr>
        <p:spPr>
          <a:xfrm>
            <a:off x="7334250" y="2552700"/>
            <a:ext cx="4000500" cy="666750"/>
          </a:xfrm>
          <a:prstGeom prst="roundRect">
            <a:avLst>
              <a:gd name="adj" fmla="val 1428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244723-9A0E-464F-907D-0123CFA76693}"/>
              </a:ext>
            </a:extLst>
          </p:cNvPr>
          <p:cNvSpPr>
            <a:spLocks noGrp="1"/>
          </p:cNvSpPr>
          <p:nvPr/>
        </p:nvSpPr>
        <p:spPr>
          <a:xfrm>
            <a:off x="7562850" y="26860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python:3.11-slim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771EC6-85DA-4D5B-B7D1-9D602731580F}"/>
              </a:ext>
            </a:extLst>
          </p:cNvPr>
          <p:cNvSpPr>
            <a:spLocks noGrp="1"/>
          </p:cNvSpPr>
          <p:nvPr/>
        </p:nvSpPr>
        <p:spPr>
          <a:xfrm>
            <a:off x="7562850" y="2867025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47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精簡 Debian-based 版本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正式專案常用折衷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2155652-FA24-4B23-8A8F-FC464E9583CA}"/>
              </a:ext>
            </a:extLst>
          </p:cNvPr>
          <p:cNvSpPr>
            <a:spLocks noGrp="1"/>
          </p:cNvSpPr>
          <p:nvPr/>
        </p:nvSpPr>
        <p:spPr>
          <a:xfrm>
            <a:off x="7334250" y="3448050"/>
            <a:ext cx="40005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A197D3-B080-4828-B033-F8392536053B}"/>
              </a:ext>
            </a:extLst>
          </p:cNvPr>
          <p:cNvSpPr>
            <a:spLocks noGrp="1"/>
          </p:cNvSpPr>
          <p:nvPr/>
        </p:nvSpPr>
        <p:spPr>
          <a:xfrm>
            <a:off x="7562850" y="35814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python:3.11-alpine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34C94E-4C1C-43CB-83BC-F08BD6B06858}"/>
              </a:ext>
            </a:extLst>
          </p:cNvPr>
          <p:cNvSpPr>
            <a:spLocks noGrp="1"/>
          </p:cNvSpPr>
          <p:nvPr/>
        </p:nvSpPr>
        <p:spPr>
          <a:xfrm>
            <a:off x="7562850" y="3762375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47" lnSpcReduction="10000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Alpine-based，體積最小</a:t>
            </a: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套件相容性/編譯較容易踩坑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349052D-43BC-4D88-8658-C5945D5CD0EC}"/>
              </a:ext>
            </a:extLst>
          </p:cNvPr>
          <p:cNvSpPr>
            <a:spLocks noGrp="1"/>
          </p:cNvSpPr>
          <p:nvPr/>
        </p:nvSpPr>
        <p:spPr>
          <a:xfrm>
            <a:off x="1581150" y="4914900"/>
            <a:ext cx="9029700" cy="62865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18C841-3D15-4F7D-8121-D4F78A101B4D}"/>
              </a:ext>
            </a:extLst>
          </p:cNvPr>
          <p:cNvSpPr>
            <a:spLocks noGrp="1"/>
          </p:cNvSpPr>
          <p:nvPr/>
        </p:nvSpPr>
        <p:spPr>
          <a:xfrm>
            <a:off x="1885950" y="5029200"/>
            <a:ext cx="842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02"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完成標準：知道不是 Python 版本不同，而是底層 Linux 與內建工具不同，</a:t>
            </a: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造成 image 大小差異。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2D0645-7F38-40BF-B42B-CC59BD53DE8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7D1FE5-E56A-4676-A15D-A917356B18F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94CD2B-4A67-4DFF-BDA7-A9393AEA5CB4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92974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65241C9-DD2A-4D02-AE3F-74960F6755E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1769BD"/>
                </a:solidFill>
              </a:defRPr>
            </a:pPr>
            <a:r>
              <a:rPr sz="975" b="1">
                <a:solidFill>
                  <a:srgbClr val="1769BD"/>
                </a:solidFill>
              </a:rPr>
              <a:t>IMAGE LAYERS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529A76-5B0B-40CC-8DF9-E6706A5F074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剛剛的大小差異，其實來自分層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52083B-483F-4EDD-BDD1-63DE370E0E75}"/>
              </a:ext>
            </a:extLst>
          </p:cNvPr>
          <p:cNvSpPr>
            <a:spLocks noGrp="1"/>
          </p:cNvSpPr>
          <p:nvPr/>
        </p:nvSpPr>
        <p:spPr>
          <a:xfrm>
            <a:off x="628650" y="1381125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Image 不是一個大檔案，而是多個 layer 疊起來；不同 tag 會選不同底層與工具。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E19EF4-4BCA-494E-B08D-DC46DB80BE3F}"/>
              </a:ext>
            </a:extLst>
          </p:cNvPr>
          <p:cNvSpPr>
            <a:spLocks noGrp="1"/>
          </p:cNvSpPr>
          <p:nvPr/>
        </p:nvSpPr>
        <p:spPr>
          <a:xfrm>
            <a:off x="933450" y="210502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剛剛看到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E292BF-03D4-42C1-8E72-55720C989F2A}"/>
              </a:ext>
            </a:extLst>
          </p:cNvPr>
          <p:cNvSpPr>
            <a:spLocks noGrp="1"/>
          </p:cNvSpPr>
          <p:nvPr/>
        </p:nvSpPr>
        <p:spPr>
          <a:xfrm>
            <a:off x="2286000" y="20764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python:3.11  &gt;  python:3.11-slim  &gt;  python:3.11-alpine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4D3BFAD-60D5-41A8-808D-CAB0ECDBDCBD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E8F3FF"/>
          </a:solidFill>
          <a:ln w="12383">
            <a:solidFill>
              <a:srgbClr val="1F73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98C0F1-778A-48EB-BFE9-667ECF846AD8}"/>
              </a:ext>
            </a:extLst>
          </p:cNvPr>
          <p:cNvSpPr>
            <a:spLocks noGrp="1"/>
          </p:cNvSpPr>
          <p:nvPr/>
        </p:nvSpPr>
        <p:spPr>
          <a:xfrm>
            <a:off x="1257300" y="28289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你的應用程式程式碼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B92F79-9F47-4E24-AB75-B02F6C2380A5}"/>
              </a:ext>
            </a:extLst>
          </p:cNvPr>
          <p:cNvSpPr>
            <a:spLocks noGrp="1"/>
          </p:cNvSpPr>
          <p:nvPr/>
        </p:nvSpPr>
        <p:spPr>
          <a:xfrm>
            <a:off x="4495800" y="2857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1F73D0"/>
                </a:solidFill>
              </a:defRPr>
            </a:pPr>
            <a:r>
              <a:rPr sz="1125" b="1">
                <a:solidFill>
                  <a:srgbClr val="1F73D0"/>
                </a:solidFill>
              </a:rPr>
              <a:t>最常變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8A92D82-9729-41AD-8EDC-81D0A8104AE7}"/>
              </a:ext>
            </a:extLst>
          </p:cNvPr>
          <p:cNvSpPr>
            <a:spLocks noGrp="1"/>
          </p:cNvSpPr>
          <p:nvPr/>
        </p:nvSpPr>
        <p:spPr>
          <a:xfrm>
            <a:off x="1181100" y="3390900"/>
            <a:ext cx="4914900" cy="552450"/>
          </a:xfrm>
          <a:prstGeom prst="roundRect">
            <a:avLst>
              <a:gd name="adj" fmla="val 13793"/>
            </a:avLst>
          </a:prstGeom>
          <a:solidFill>
            <a:srgbClr val="E8F7F1"/>
          </a:solidFill>
          <a:ln w="12383">
            <a:solidFill>
              <a:srgbClr val="0F8F6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893B41-0FCA-4ABC-8679-6DF3D8B8903B}"/>
              </a:ext>
            </a:extLst>
          </p:cNvPr>
          <p:cNvSpPr>
            <a:spLocks noGrp="1"/>
          </p:cNvSpPr>
          <p:nvPr/>
        </p:nvSpPr>
        <p:spPr>
          <a:xfrm>
            <a:off x="1466850" y="3552825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pip install 的套件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D7957C-B2BD-42E3-AE97-785BD07AB654}"/>
              </a:ext>
            </a:extLst>
          </p:cNvPr>
          <p:cNvSpPr>
            <a:spLocks noGrp="1"/>
          </p:cNvSpPr>
          <p:nvPr/>
        </p:nvSpPr>
        <p:spPr>
          <a:xfrm>
            <a:off x="4286250" y="3581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0F8F6B"/>
                </a:solidFill>
              </a:defRPr>
            </a:pPr>
            <a:r>
              <a:rPr sz="1125" b="1">
                <a:solidFill>
                  <a:srgbClr val="0F8F6B"/>
                </a:solidFill>
              </a:rPr>
              <a:t>依賴層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9FCF34C-A8BC-4E74-B61A-BDD8A8FA8EBE}"/>
              </a:ext>
            </a:extLst>
          </p:cNvPr>
          <p:cNvSpPr>
            <a:spLocks noGrp="1"/>
          </p:cNvSpPr>
          <p:nvPr/>
        </p:nvSpPr>
        <p:spPr>
          <a:xfrm>
            <a:off x="1390650" y="4114800"/>
            <a:ext cx="4495800" cy="552450"/>
          </a:xfrm>
          <a:prstGeom prst="roundRect">
            <a:avLst>
              <a:gd name="adj" fmla="val 13793"/>
            </a:avLst>
          </a:prstGeom>
          <a:solidFill>
            <a:srgbClr val="FFF4D6"/>
          </a:solidFill>
          <a:ln w="12383">
            <a:solidFill>
              <a:srgbClr val="C56A0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DD0672-C29F-4AE3-B231-A48A96427744}"/>
              </a:ext>
            </a:extLst>
          </p:cNvPr>
          <p:cNvSpPr>
            <a:spLocks noGrp="1"/>
          </p:cNvSpPr>
          <p:nvPr/>
        </p:nvSpPr>
        <p:spPr>
          <a:xfrm>
            <a:off x="1676400" y="427672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Python 3.11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579B4F-900D-46C6-8998-1244D7D428BC}"/>
              </a:ext>
            </a:extLst>
          </p:cNvPr>
          <p:cNvSpPr>
            <a:spLocks noGrp="1"/>
          </p:cNvSpPr>
          <p:nvPr/>
        </p:nvSpPr>
        <p:spPr>
          <a:xfrm>
            <a:off x="4076700" y="4305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C56A09"/>
                </a:solidFill>
              </a:defRPr>
            </a:pPr>
            <a:r>
              <a:rPr sz="1125" b="1">
                <a:solidFill>
                  <a:srgbClr val="C56A09"/>
                </a:solidFill>
              </a:rPr>
              <a:t>執行環境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4F86E0C-DD67-4082-97AA-A49B24E72497}"/>
              </a:ext>
            </a:extLst>
          </p:cNvPr>
          <p:cNvSpPr>
            <a:spLocks noGrp="1"/>
          </p:cNvSpPr>
          <p:nvPr/>
        </p:nvSpPr>
        <p:spPr>
          <a:xfrm>
            <a:off x="1600200" y="4838700"/>
            <a:ext cx="4076700" cy="552450"/>
          </a:xfrm>
          <a:prstGeom prst="roundRect">
            <a:avLst>
              <a:gd name="adj" fmla="val 13793"/>
            </a:avLst>
          </a:prstGeom>
          <a:solidFill>
            <a:srgbClr val="EEF2F7"/>
          </a:solidFill>
          <a:ln w="12383">
            <a:solidFill>
              <a:srgbClr val="64748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708463-0F45-4F32-A975-FA8CFB12182E}"/>
              </a:ext>
            </a:extLst>
          </p:cNvPr>
          <p:cNvSpPr>
            <a:spLocks noGrp="1"/>
          </p:cNvSpPr>
          <p:nvPr/>
        </p:nvSpPr>
        <p:spPr>
          <a:xfrm>
            <a:off x="1885950" y="5000625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Debian / Alpine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3D94FA-FB7D-4E0E-AD21-69EDFCA0CECD}"/>
              </a:ext>
            </a:extLst>
          </p:cNvPr>
          <p:cNvSpPr>
            <a:spLocks noGrp="1"/>
          </p:cNvSpPr>
          <p:nvPr/>
        </p:nvSpPr>
        <p:spPr>
          <a:xfrm>
            <a:off x="3867150" y="50292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基礎系統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58974CB-6A09-4D6D-BB3A-B2DA8AC48167}"/>
              </a:ext>
            </a:extLst>
          </p:cNvPr>
          <p:cNvSpPr>
            <a:spLocks noGrp="1"/>
          </p:cNvSpPr>
          <p:nvPr/>
        </p:nvSpPr>
        <p:spPr>
          <a:xfrm>
            <a:off x="7239000" y="2647950"/>
            <a:ext cx="285750" cy="28575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235711-67A5-43AB-9793-09371484879A}"/>
              </a:ext>
            </a:extLst>
          </p:cNvPr>
          <p:cNvSpPr>
            <a:spLocks noGrp="1"/>
          </p:cNvSpPr>
          <p:nvPr/>
        </p:nvSpPr>
        <p:spPr>
          <a:xfrm>
            <a:off x="7239000" y="2676525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77F303-143A-4FCA-BE81-6088C100DC62}"/>
              </a:ext>
            </a:extLst>
          </p:cNvPr>
          <p:cNvSpPr>
            <a:spLocks noGrp="1"/>
          </p:cNvSpPr>
          <p:nvPr/>
        </p:nvSpPr>
        <p:spPr>
          <a:xfrm>
            <a:off x="7677150" y="26289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先看結果，不先查內部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C8862B-8553-4D46-9414-448F5C6370D3}"/>
              </a:ext>
            </a:extLst>
          </p:cNvPr>
          <p:cNvSpPr>
            <a:spLocks noGrp="1"/>
          </p:cNvSpPr>
          <p:nvPr/>
        </p:nvSpPr>
        <p:spPr>
          <a:xfrm>
            <a:off x="7677150" y="29908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第一堂只要會用 docker images 看 SIZE，知道 tag 會影響內容。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EBF0BE25-8345-48D2-B1A7-40BF4BC9A100}"/>
              </a:ext>
            </a:extLst>
          </p:cNvPr>
          <p:cNvSpPr>
            <a:spLocks noGrp="1"/>
          </p:cNvSpPr>
          <p:nvPr/>
        </p:nvSpPr>
        <p:spPr>
          <a:xfrm>
            <a:off x="7239000" y="3790950"/>
            <a:ext cx="285750" cy="28575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C7F573-A6F8-4DE3-A101-0EC1CCC12498}"/>
              </a:ext>
            </a:extLst>
          </p:cNvPr>
          <p:cNvSpPr>
            <a:spLocks noGrp="1"/>
          </p:cNvSpPr>
          <p:nvPr/>
        </p:nvSpPr>
        <p:spPr>
          <a:xfrm>
            <a:off x="7239000" y="3819525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0577F8-09F0-4406-BEBE-53AF4253206D}"/>
              </a:ext>
            </a:extLst>
          </p:cNvPr>
          <p:cNvSpPr>
            <a:spLocks noGrp="1"/>
          </p:cNvSpPr>
          <p:nvPr/>
        </p:nvSpPr>
        <p:spPr>
          <a:xfrm>
            <a:off x="7677150" y="37719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底層不同，大小就會不同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9C574C-A2EA-4C84-B011-3F5149623E72}"/>
              </a:ext>
            </a:extLst>
          </p:cNvPr>
          <p:cNvSpPr>
            <a:spLocks noGrp="1"/>
          </p:cNvSpPr>
          <p:nvPr/>
        </p:nvSpPr>
        <p:spPr>
          <a:xfrm>
            <a:off x="7677150" y="41338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完整 Debian、slim、Alpine 的基礎系統和工具量不同。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DD5FCD00-9537-4A6C-AC80-0316DEE7DD4E}"/>
              </a:ext>
            </a:extLst>
          </p:cNvPr>
          <p:cNvSpPr>
            <a:spLocks noGrp="1"/>
          </p:cNvSpPr>
          <p:nvPr/>
        </p:nvSpPr>
        <p:spPr>
          <a:xfrm>
            <a:off x="7239000" y="4933950"/>
            <a:ext cx="285750" cy="285750"/>
          </a:xfrm>
          <a:prstGeom prst="ellipse">
            <a:avLst/>
          </a:prstGeom>
          <a:solidFill>
            <a:srgbClr val="1F8FE5"/>
          </a:solidFill>
          <a:ln w="9525">
            <a:solidFill>
              <a:srgbClr val="1F8FE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478685-5388-407F-9F92-CDE3033DC7AC}"/>
              </a:ext>
            </a:extLst>
          </p:cNvPr>
          <p:cNvSpPr>
            <a:spLocks noGrp="1"/>
          </p:cNvSpPr>
          <p:nvPr/>
        </p:nvSpPr>
        <p:spPr>
          <a:xfrm>
            <a:off x="7239000" y="4962525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0F5E21-752C-4CD1-A686-8D869C9D5165}"/>
              </a:ext>
            </a:extLst>
          </p:cNvPr>
          <p:cNvSpPr>
            <a:spLocks noGrp="1"/>
          </p:cNvSpPr>
          <p:nvPr/>
        </p:nvSpPr>
        <p:spPr>
          <a:xfrm>
            <a:off x="7677150" y="49149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沒變的 layer 可以重用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EC7DAF-34A2-4954-A14D-C4C853796BD3}"/>
              </a:ext>
            </a:extLst>
          </p:cNvPr>
          <p:cNvSpPr>
            <a:spLocks noGrp="1"/>
          </p:cNvSpPr>
          <p:nvPr/>
        </p:nvSpPr>
        <p:spPr>
          <a:xfrm>
            <a:off x="7677150" y="52768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這會讓下載與之後建構更快；Dockerfile 課再深入 build cache。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D71B0908-5BAB-4787-9AA9-D6CFA93BB659}"/>
              </a:ext>
            </a:extLst>
          </p:cNvPr>
          <p:cNvSpPr>
            <a:spLocks noGrp="1"/>
          </p:cNvSpPr>
          <p:nvPr/>
        </p:nvSpPr>
        <p:spPr>
          <a:xfrm>
            <a:off x="1638300" y="5772150"/>
            <a:ext cx="89154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2393F9-992A-467E-9EA0-F0F81EC5FB6B}"/>
              </a:ext>
            </a:extLst>
          </p:cNvPr>
          <p:cNvSpPr>
            <a:spLocks noGrp="1"/>
          </p:cNvSpPr>
          <p:nvPr/>
        </p:nvSpPr>
        <p:spPr>
          <a:xfrm>
            <a:off x="1962150" y="5857875"/>
            <a:ext cx="826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學生目標：理解 Image 是層疊出來的；不需要看懂每一個 layer ID 或建構歷史。</a:t>
            </a:r>
          </a:p>
        </p:txBody>
      </p:sp>
      <p:sp>
        <p:nvSpPr>
          <p:cNvPr id="32" name="直線接點 31">
            <a:extLst>
              <a:ext uri="{FF2B5EF4-FFF2-40B4-BE49-F238E27FC236}">
                <a16:creationId xmlns:a16="http://schemas.microsoft.com/office/drawing/2014/main" id="{B1F564CA-8C23-48E7-AF8A-C39262D11AA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3632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3E67825-B183-4762-9337-DE1903EE608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Docker 基礎教學 | 第 1 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811F49-D2F4-4CB1-9D4B-5742BF5FF51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98833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640D1CD-CDA7-49AE-82CD-AF418B9EB42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NGINX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001B84-13CD-409D-8082-997BCC788F6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第一個 Web 容器選 Nginx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4B6848-BB7F-4F08-AAB8-13E55F971E36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Nginx 是常見的 Web 伺服器，適合用來示範「一行指令架起網站服務」。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244D37-C80B-4973-A26E-C413CFF9DAC1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30861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23DE97-73A6-443C-8876-BC2770DD3A29}"/>
              </a:ext>
            </a:extLst>
          </p:cNvPr>
          <p:cNvSpPr>
            <a:spLocks noGrp="1"/>
          </p:cNvSpPr>
          <p:nvPr/>
        </p:nvSpPr>
        <p:spPr>
          <a:xfrm>
            <a:off x="1104900" y="24384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靜態檔案伺服器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D082FF-B72E-4DAC-85F9-0083BA4DFAC9}"/>
              </a:ext>
            </a:extLst>
          </p:cNvPr>
          <p:cNvSpPr>
            <a:spLocks noGrp="1"/>
          </p:cNvSpPr>
          <p:nvPr/>
        </p:nvSpPr>
        <p:spPr>
          <a:xfrm>
            <a:off x="1104900" y="2838450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直接傳送 HTML、CSS、JS、圖片。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CD39C5B-2286-42B6-BB40-27AB851FD7A4}"/>
              </a:ext>
            </a:extLst>
          </p:cNvPr>
          <p:cNvSpPr>
            <a:spLocks noGrp="1"/>
          </p:cNvSpPr>
          <p:nvPr/>
        </p:nvSpPr>
        <p:spPr>
          <a:xfrm>
            <a:off x="4495800" y="2247900"/>
            <a:ext cx="3086100" cy="1447800"/>
          </a:xfrm>
          <a:prstGeom prst="roundRect">
            <a:avLst>
              <a:gd name="adj" fmla="val 789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70D078-7DB6-47B2-8BB2-0A0F2B99B8BA}"/>
              </a:ext>
            </a:extLst>
          </p:cNvPr>
          <p:cNvSpPr>
            <a:spLocks noGrp="1"/>
          </p:cNvSpPr>
          <p:nvPr/>
        </p:nvSpPr>
        <p:spPr>
          <a:xfrm>
            <a:off x="4724400" y="24384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反向代理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DC8595-5018-4955-ABB6-BB527C7C755D}"/>
              </a:ext>
            </a:extLst>
          </p:cNvPr>
          <p:cNvSpPr>
            <a:spLocks noGrp="1"/>
          </p:cNvSpPr>
          <p:nvPr/>
        </p:nvSpPr>
        <p:spPr>
          <a:xfrm>
            <a:off x="4724400" y="2838450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把外部請求轉發給 Flask / Django。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7C79345-FFAD-4A07-BAF8-64717016D813}"/>
              </a:ext>
            </a:extLst>
          </p:cNvPr>
          <p:cNvSpPr>
            <a:spLocks noGrp="1"/>
          </p:cNvSpPr>
          <p:nvPr/>
        </p:nvSpPr>
        <p:spPr>
          <a:xfrm>
            <a:off x="8115300" y="2247900"/>
            <a:ext cx="30861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4C3A66-4B90-4F5E-B8A1-48B7D5A95425}"/>
              </a:ext>
            </a:extLst>
          </p:cNvPr>
          <p:cNvSpPr>
            <a:spLocks noGrp="1"/>
          </p:cNvSpPr>
          <p:nvPr/>
        </p:nvSpPr>
        <p:spPr>
          <a:xfrm>
            <a:off x="8343900" y="24384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負載均衡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83A5C8-8D68-4E0C-B01B-97DD2E353AE4}"/>
              </a:ext>
            </a:extLst>
          </p:cNvPr>
          <p:cNvSpPr>
            <a:spLocks noGrp="1"/>
          </p:cNvSpPr>
          <p:nvPr/>
        </p:nvSpPr>
        <p:spPr>
          <a:xfrm>
            <a:off x="8343900" y="2838450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把大量請求分散到多台後端。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CEADCA3-D156-43A4-AAE6-A4A7E0BBA73F}"/>
              </a:ext>
            </a:extLst>
          </p:cNvPr>
          <p:cNvSpPr>
            <a:spLocks noGrp="1"/>
          </p:cNvSpPr>
          <p:nvPr/>
        </p:nvSpPr>
        <p:spPr>
          <a:xfrm>
            <a:off x="2000250" y="4438650"/>
            <a:ext cx="8191500" cy="704850"/>
          </a:xfrm>
          <a:prstGeom prst="roundRect">
            <a:avLst>
              <a:gd name="adj" fmla="val 16216"/>
            </a:avLst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1CDC5D-0278-4538-BCF5-4A78B125B5BB}"/>
              </a:ext>
            </a:extLst>
          </p:cNvPr>
          <p:cNvSpPr>
            <a:spLocks noGrp="1"/>
          </p:cNvSpPr>
          <p:nvPr/>
        </p:nvSpPr>
        <p:spPr>
          <a:xfrm>
            <a:off x="2381250" y="46101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372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使用者 -&gt; Nginx (80/443) -&gt; Flask (5000)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53E42E-42DD-419E-9794-A51FD7ACAD27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3C9ACF-57B5-477A-AB7E-7460A1696C9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00B248-98AC-4340-8159-0B5B4526416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97110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0901BB1-F80C-4F4D-9C07-77D63BC71FD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LOCALHOST VS PRODUCTION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47107D-1F8A-4E55-8556-A770616B508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localhost 能跑，不代表網站已上線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DFA5414-B436-4567-AD0E-C41CF8F2F938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4381500" cy="3219450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B72802-9953-453B-B9DC-CDE45321741C}"/>
              </a:ext>
            </a:extLst>
          </p:cNvPr>
          <p:cNvSpPr>
            <a:spLocks noGrp="1"/>
          </p:cNvSpPr>
          <p:nvPr/>
        </p:nvSpPr>
        <p:spPr>
          <a:xfrm>
            <a:off x="1123950" y="19812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049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開發環境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DCDBFD-7141-46FC-8095-F0CE798CE558}"/>
              </a:ext>
            </a:extLst>
          </p:cNvPr>
          <p:cNvSpPr>
            <a:spLocks noGrp="1"/>
          </p:cNvSpPr>
          <p:nvPr/>
        </p:nvSpPr>
        <p:spPr>
          <a:xfrm>
            <a:off x="1123950" y="2571750"/>
            <a:ext cx="3429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`http://localhost:5000`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只有你自己的電腦能連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電腦關機服務就中斷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通常沒有 HTTPS 與正式防護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DC644A6C-EBCB-4B9C-B66F-BF46274440B6}"/>
              </a:ext>
            </a:extLst>
          </p:cNvPr>
          <p:cNvSpPr>
            <a:spLocks noGrp="1"/>
          </p:cNvSpPr>
          <p:nvPr/>
        </p:nvSpPr>
        <p:spPr>
          <a:xfrm>
            <a:off x="5619750" y="3028950"/>
            <a:ext cx="952500" cy="4572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4B1F1D4-7F8A-4508-B12B-AB7A0A988AAF}"/>
              </a:ext>
            </a:extLst>
          </p:cNvPr>
          <p:cNvSpPr>
            <a:spLocks noGrp="1"/>
          </p:cNvSpPr>
          <p:nvPr/>
        </p:nvSpPr>
        <p:spPr>
          <a:xfrm>
            <a:off x="7010400" y="1657350"/>
            <a:ext cx="4381500" cy="3219450"/>
          </a:xfrm>
          <a:prstGeom prst="roundRect">
            <a:avLst>
              <a:gd name="adj" fmla="val 355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49FC39-BF76-4AC4-9A54-0A0AEBB01FD6}"/>
              </a:ext>
            </a:extLst>
          </p:cNvPr>
          <p:cNvSpPr>
            <a:spLocks noGrp="1"/>
          </p:cNvSpPr>
          <p:nvPr/>
        </p:nvSpPr>
        <p:spPr>
          <a:xfrm>
            <a:off x="7315200" y="19812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049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正式上線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B9E6EA-E570-42DA-8EF2-EF0377DBC051}"/>
              </a:ext>
            </a:extLst>
          </p:cNvPr>
          <p:cNvSpPr>
            <a:spLocks noGrp="1"/>
          </p:cNvSpPr>
          <p:nvPr/>
        </p:nvSpPr>
        <p:spPr>
          <a:xfrm>
            <a:off x="7315200" y="2571750"/>
            <a:ext cx="3429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網域與公開 IP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Web 伺服器處理流量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HTTPS 憑證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伺服器 24 小時不中斷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538B8E-1C20-42FD-83C8-9EA657D46A82}"/>
              </a:ext>
            </a:extLst>
          </p:cNvPr>
          <p:cNvSpPr>
            <a:spLocks noGrp="1"/>
          </p:cNvSpPr>
          <p:nvPr/>
        </p:nvSpPr>
        <p:spPr>
          <a:xfrm>
            <a:off x="1466850" y="5429250"/>
            <a:ext cx="925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這堂先把本機的 Nginx 跑起來，理解 Web 服務與 port mapping。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6A961F-FBC7-4FCA-99B4-54F7D8E79AF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333EAA-C88F-4609-BB7A-8C67B8A6E25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AC0DAD-C2E9-4178-BC87-CA262830EB2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67912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E9B2343-247C-4793-B7F8-8913EFDB2E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HOST, CONTAINER, PORT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4E0EC5-0946-4154-A5B4-0B94A5C54BC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宿主機和容器是隔離的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49AD0CA-FDE5-4708-BA4C-C0AD075FD918}"/>
              </a:ext>
            </a:extLst>
          </p:cNvPr>
          <p:cNvSpPr>
            <a:spLocks noGrp="1"/>
          </p:cNvSpPr>
          <p:nvPr/>
        </p:nvSpPr>
        <p:spPr>
          <a:xfrm>
            <a:off x="1066800" y="1600200"/>
            <a:ext cx="10058400" cy="37338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2E34D9-09F4-4C31-BED0-91B96016C3DA}"/>
              </a:ext>
            </a:extLst>
          </p:cNvPr>
          <p:cNvSpPr>
            <a:spLocks noGrp="1"/>
          </p:cNvSpPr>
          <p:nvPr/>
        </p:nvSpPr>
        <p:spPr>
          <a:xfrm>
            <a:off x="1409700" y="19431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宿主機：你的 Windows 電腦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5476A26-884A-4854-A394-5F4351F316F8}"/>
              </a:ext>
            </a:extLst>
          </p:cNvPr>
          <p:cNvSpPr>
            <a:spLocks noGrp="1"/>
          </p:cNvSpPr>
          <p:nvPr/>
        </p:nvSpPr>
        <p:spPr>
          <a:xfrm>
            <a:off x="2000250" y="2781300"/>
            <a:ext cx="2571750" cy="1390650"/>
          </a:xfrm>
          <a:prstGeom prst="roundRect">
            <a:avLst>
              <a:gd name="adj" fmla="val 8219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DBBDDC-B318-4A06-9A74-0070BFCD1353}"/>
              </a:ext>
            </a:extLst>
          </p:cNvPr>
          <p:cNvSpPr>
            <a:spLocks noGrp="1"/>
          </p:cNvSpPr>
          <p:nvPr/>
        </p:nvSpPr>
        <p:spPr>
          <a:xfrm>
            <a:off x="2152650" y="32956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localhost:8080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C5B6BC11-D7C7-4D23-AE12-1416DEBB960E}"/>
              </a:ext>
            </a:extLst>
          </p:cNvPr>
          <p:cNvSpPr>
            <a:spLocks noGrp="1"/>
          </p:cNvSpPr>
          <p:nvPr/>
        </p:nvSpPr>
        <p:spPr>
          <a:xfrm>
            <a:off x="5200650" y="3276600"/>
            <a:ext cx="1314450" cy="4191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19EC5F2-B3A7-4DE7-83E9-E7EF3E4BEF81}"/>
              </a:ext>
            </a:extLst>
          </p:cNvPr>
          <p:cNvSpPr>
            <a:spLocks noGrp="1"/>
          </p:cNvSpPr>
          <p:nvPr/>
        </p:nvSpPr>
        <p:spPr>
          <a:xfrm>
            <a:off x="7124700" y="2438400"/>
            <a:ext cx="2800350" cy="2038350"/>
          </a:xfrm>
          <a:prstGeom prst="roundRect">
            <a:avLst>
              <a:gd name="adj" fmla="val 6542"/>
            </a:avLst>
          </a:prstGeom>
          <a:solidFill>
            <a:srgbClr val="E8F3FF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5B5DEE-D1D4-4ACA-A54C-79D9C06118F2}"/>
              </a:ext>
            </a:extLst>
          </p:cNvPr>
          <p:cNvSpPr>
            <a:spLocks noGrp="1"/>
          </p:cNvSpPr>
          <p:nvPr/>
        </p:nvSpPr>
        <p:spPr>
          <a:xfrm>
            <a:off x="7429500" y="27241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75" lnSpcReduction="10000"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容器：Nginx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1308A5-6EFE-48FB-AF74-CAD23DE3DD79}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644" lnSpcReduction="20000"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80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B99C0B-6E1B-4BFB-A45E-571B4CF15445}"/>
              </a:ext>
            </a:extLst>
          </p:cNvPr>
          <p:cNvSpPr>
            <a:spLocks noGrp="1"/>
          </p:cNvSpPr>
          <p:nvPr/>
        </p:nvSpPr>
        <p:spPr>
          <a:xfrm>
            <a:off x="7658100" y="39052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02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5CAD"/>
                </a:solidFill>
                <a:latin typeface="Aptos"/>
                <a:ea typeface="Aptos"/>
                <a:cs typeface="Aptos"/>
              </a:rPr>
              <a:t>容器內部 port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0325177-8E99-4824-9078-35B3354B9A81}"/>
              </a:ext>
            </a:extLst>
          </p:cNvPr>
          <p:cNvSpPr>
            <a:spLocks noGrp="1"/>
          </p:cNvSpPr>
          <p:nvPr/>
        </p:nvSpPr>
        <p:spPr>
          <a:xfrm>
            <a:off x="3790950" y="4762500"/>
            <a:ext cx="4610100" cy="914400"/>
          </a:xfrm>
          <a:prstGeom prst="roundRect">
            <a:avLst>
              <a:gd name="adj" fmla="val 1041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58A9FDCF-CB53-472E-8A2C-3DBC81F9C069}"/>
              </a:ext>
            </a:extLst>
          </p:cNvPr>
          <p:cNvSpPr>
            <a:spLocks noGrp="1"/>
          </p:cNvSpPr>
          <p:nvPr/>
        </p:nvSpPr>
        <p:spPr>
          <a:xfrm>
            <a:off x="3962400" y="49244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F5514A67-8BB4-44B0-9432-0D6A9C956B7B}"/>
              </a:ext>
            </a:extLst>
          </p:cNvPr>
          <p:cNvSpPr>
            <a:spLocks noGrp="1"/>
          </p:cNvSpPr>
          <p:nvPr/>
        </p:nvSpPr>
        <p:spPr>
          <a:xfrm>
            <a:off x="4133850" y="49244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BE62B17-F2D9-4DAE-AFA9-1301C07469D3}"/>
              </a:ext>
            </a:extLst>
          </p:cNvPr>
          <p:cNvSpPr>
            <a:spLocks noGrp="1"/>
          </p:cNvSpPr>
          <p:nvPr/>
        </p:nvSpPr>
        <p:spPr>
          <a:xfrm>
            <a:off x="4305300" y="49244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FEEA30-3155-409D-B55C-6B678CCE2C2F}"/>
              </a:ext>
            </a:extLst>
          </p:cNvPr>
          <p:cNvSpPr>
            <a:spLocks noGrp="1"/>
          </p:cNvSpPr>
          <p:nvPr/>
        </p:nvSpPr>
        <p:spPr>
          <a:xfrm>
            <a:off x="4000500" y="51816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1873" lnSpcReduction="20000"/>
          </a:bodyPr>
          <a:lstStyle/>
          <a:p>
            <a:pPr algn="l">
              <a:lnSpc>
                <a:spcPct val="104000"/>
              </a:lnSpc>
              <a:buNone/>
              <a:defRPr sz="21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-p 8080:80</a:t>
            </a:r>
          </a:p>
          <a:p>
            <a:pPr algn="l">
              <a:lnSpc>
                <a:spcPct val="104000"/>
              </a:lnSpc>
              <a:buNone/>
              <a:defRPr sz="21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主機:容器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FFBECA-02A5-4167-849F-556DAEE5501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09DE75-F51E-4EF7-9885-1D250844A05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57E42B-BAAD-4263-A4AB-FDEBFD09925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85389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86FBC810-74DC-4566-81F4-04563150E7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7E3ADD-4B9A-463D-8149-B73C4157658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rPr>
              <a:t>PORT BASICS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B66645-D44C-4179-988E-CCB5B5B0A5F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電腦的 Port 在分什麼？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15F27D-4190-415D-BE65-11408F6E44D9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IP 是地址，Port 是門牌；同一台電腦可以同時跑網頁、資料庫、開發伺服器等服務。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6F1FFA0F-8828-47E3-871F-169FBE6E8CB7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32385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210971-EC83-419E-A410-9094996AC9E0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rPr>
              <a:t>0 - 1023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DBB6F-FBB4-4B39-A839-1F50F61B769E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2781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Well-known ports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1559CF-E331-4C30-9D57-DBCE9EE57CB7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系統與標準服務常用</a:t>
            </a:r>
          </a:p>
          <a:p>
            <a:pPr>
              <a:buNone/>
              <a:def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例如 HTTP、HTTPS、DNS、SSH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F317B04-5373-4B2F-9A28-CB56019A4EAF}"/>
              </a:ext>
            </a:extLst>
          </p:cNvPr>
          <p:cNvSpPr>
            <a:spLocks noGrp="1"/>
          </p:cNvSpPr>
          <p:nvPr/>
        </p:nvSpPr>
        <p:spPr>
          <a:xfrm>
            <a:off x="4381500" y="1866900"/>
            <a:ext cx="32385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47B0B0-7FD0-42D6-9F59-F074BCB081F9}"/>
              </a:ext>
            </a:extLst>
          </p:cNvPr>
          <p:cNvSpPr>
            <a:spLocks noGrp="1"/>
          </p:cNvSpPr>
          <p:nvPr/>
        </p:nvSpPr>
        <p:spPr>
          <a:xfrm>
            <a:off x="4610100" y="209550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dirty="0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rPr>
              <a:t>1024 - 49151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3620C7-528C-4F47-AEB8-D77DCCC5CA67}"/>
              </a:ext>
            </a:extLst>
          </p:cNvPr>
          <p:cNvSpPr>
            <a:spLocks noGrp="1"/>
          </p:cNvSpPr>
          <p:nvPr/>
        </p:nvSpPr>
        <p:spPr>
          <a:xfrm>
            <a:off x="4610100" y="2552700"/>
            <a:ext cx="2781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Registered ports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A86E63-305C-4E51-B44E-19E556EB18B0}"/>
              </a:ext>
            </a:extLst>
          </p:cNvPr>
          <p:cNvSpPr>
            <a:spLocks noGrp="1"/>
          </p:cNvSpPr>
          <p:nvPr/>
        </p:nvSpPr>
        <p:spPr>
          <a:xfrm>
            <a:off x="4610100" y="2914650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應用程式或資料庫常用</a:t>
            </a:r>
          </a:p>
          <a:p>
            <a:pPr>
              <a:buNone/>
              <a:def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例如 MySQL、PostgreSQL、Redis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954AB847-B026-489C-BD77-8A61354A1F95}"/>
              </a:ext>
            </a:extLst>
          </p:cNvPr>
          <p:cNvSpPr>
            <a:spLocks noGrp="1"/>
          </p:cNvSpPr>
          <p:nvPr/>
        </p:nvSpPr>
        <p:spPr>
          <a:xfrm>
            <a:off x="8096250" y="1866900"/>
            <a:ext cx="32385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38E3E6-A990-403B-8859-0C16BF3ADA46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dirty="0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rPr>
              <a:t>49152 - 65535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6B0236-8FED-4CF8-A6BF-7D5E2D59F741}"/>
              </a:ext>
            </a:extLst>
          </p:cNvPr>
          <p:cNvSpPr>
            <a:spLocks noGrp="1"/>
          </p:cNvSpPr>
          <p:nvPr/>
        </p:nvSpPr>
        <p:spPr>
          <a:xfrm>
            <a:off x="8324850" y="2552700"/>
            <a:ext cx="2781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Dynamic / private ports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9C8E43-CEEB-4259-82DC-EB9E7DED22F5}"/>
              </a:ext>
            </a:extLst>
          </p:cNvPr>
          <p:cNvSpPr>
            <a:spLocks noGrp="1"/>
          </p:cNvSpPr>
          <p:nvPr/>
        </p:nvSpPr>
        <p:spPr>
          <a:xfrm>
            <a:off x="8324850" y="2914650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系統暫時分配給程式連線</a:t>
            </a:r>
          </a:p>
          <a:p>
            <a:pPr>
              <a:buNone/>
              <a:def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通常不用手動指定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8C3F2D-B360-4743-A700-74C2845AB907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常見例子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CC530C31-32D1-4FC0-B1B0-5D9AC5AE0724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F0A128-A6F6-4EA9-9441-38B12959B299}"/>
              </a:ext>
            </a:extLst>
          </p:cNvPr>
          <p:cNvSpPr>
            <a:spLocks noGrp="1"/>
          </p:cNvSpPr>
          <p:nvPr/>
        </p:nvSpPr>
        <p:spPr>
          <a:xfrm>
            <a:off x="838200" y="44672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31167F-F0CD-4199-A2E0-5303DD36F2F8}"/>
              </a:ext>
            </a:extLst>
          </p:cNvPr>
          <p:cNvSpPr>
            <a:spLocks noGrp="1"/>
          </p:cNvSpPr>
          <p:nvPr/>
        </p:nvSpPr>
        <p:spPr>
          <a:xfrm>
            <a:off x="1543050" y="44862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SSH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5A0CD248-7022-4934-B68E-9A65FD35C87A}"/>
              </a:ext>
            </a:extLst>
          </p:cNvPr>
          <p:cNvSpPr>
            <a:spLocks noGrp="1"/>
          </p:cNvSpPr>
          <p:nvPr/>
        </p:nvSpPr>
        <p:spPr>
          <a:xfrm>
            <a:off x="3448050" y="43434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17112FD-6FA5-41A8-9E6D-6ED5CE6CDC47}"/>
              </a:ext>
            </a:extLst>
          </p:cNvPr>
          <p:cNvSpPr>
            <a:spLocks noGrp="1"/>
          </p:cNvSpPr>
          <p:nvPr/>
        </p:nvSpPr>
        <p:spPr>
          <a:xfrm>
            <a:off x="3619500" y="44672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53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3C1B7C-CFA9-46EE-AB57-56422A69682E}"/>
              </a:ext>
            </a:extLst>
          </p:cNvPr>
          <p:cNvSpPr>
            <a:spLocks noGrp="1"/>
          </p:cNvSpPr>
          <p:nvPr/>
        </p:nvSpPr>
        <p:spPr>
          <a:xfrm>
            <a:off x="4324350" y="44862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DNS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C1B01625-3706-40A8-9204-BA2FF21C8929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F49330-21F0-44AC-983B-414BDEC1DCC2}"/>
              </a:ext>
            </a:extLst>
          </p:cNvPr>
          <p:cNvSpPr>
            <a:spLocks noGrp="1"/>
          </p:cNvSpPr>
          <p:nvPr/>
        </p:nvSpPr>
        <p:spPr>
          <a:xfrm>
            <a:off x="6400800" y="44672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9EAB3DE-08FE-4A3B-8280-05499FCEE8DB}"/>
              </a:ext>
            </a:extLst>
          </p:cNvPr>
          <p:cNvSpPr>
            <a:spLocks noGrp="1"/>
          </p:cNvSpPr>
          <p:nvPr/>
        </p:nvSpPr>
        <p:spPr>
          <a:xfrm>
            <a:off x="7105650" y="44862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HTTP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0F8D4CC2-5EAA-408F-820C-59EFD66558C3}"/>
              </a:ext>
            </a:extLst>
          </p:cNvPr>
          <p:cNvSpPr>
            <a:spLocks noGrp="1"/>
          </p:cNvSpPr>
          <p:nvPr/>
        </p:nvSpPr>
        <p:spPr>
          <a:xfrm>
            <a:off x="9010650" y="43434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FFC1AD-13A1-4BD7-95FB-B22F77FC67F4}"/>
              </a:ext>
            </a:extLst>
          </p:cNvPr>
          <p:cNvSpPr>
            <a:spLocks noGrp="1"/>
          </p:cNvSpPr>
          <p:nvPr/>
        </p:nvSpPr>
        <p:spPr>
          <a:xfrm>
            <a:off x="9182100" y="44672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443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2E33CA5-EAEC-4F4F-AA2F-896C6001ECC8}"/>
              </a:ext>
            </a:extLst>
          </p:cNvPr>
          <p:cNvSpPr>
            <a:spLocks noGrp="1"/>
          </p:cNvSpPr>
          <p:nvPr/>
        </p:nvSpPr>
        <p:spPr>
          <a:xfrm>
            <a:off x="9886950" y="44862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HTTPS</a:t>
            </a: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41B0C3A9-91C2-4A1C-8EFE-4470F72827E5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E681B2-208D-4A1C-97E8-9F0DF56168CA}"/>
              </a:ext>
            </a:extLst>
          </p:cNvPr>
          <p:cNvSpPr>
            <a:spLocks noGrp="1"/>
          </p:cNvSpPr>
          <p:nvPr/>
        </p:nvSpPr>
        <p:spPr>
          <a:xfrm>
            <a:off x="838200" y="51530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3000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E8D5CD-AE8A-4D47-9F41-5E3535B6CEAB}"/>
              </a:ext>
            </a:extLst>
          </p:cNvPr>
          <p:cNvSpPr>
            <a:spLocks noGrp="1"/>
          </p:cNvSpPr>
          <p:nvPr/>
        </p:nvSpPr>
        <p:spPr>
          <a:xfrm>
            <a:off x="1543050" y="51720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前端開發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4B213212-488E-4C1A-B61A-81E7D467C3D9}"/>
              </a:ext>
            </a:extLst>
          </p:cNvPr>
          <p:cNvSpPr>
            <a:spLocks noGrp="1"/>
          </p:cNvSpPr>
          <p:nvPr/>
        </p:nvSpPr>
        <p:spPr>
          <a:xfrm>
            <a:off x="3448050" y="50292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08FD100-C2A5-43E5-A325-8BE15D3A9D83}"/>
              </a:ext>
            </a:extLst>
          </p:cNvPr>
          <p:cNvSpPr>
            <a:spLocks noGrp="1"/>
          </p:cNvSpPr>
          <p:nvPr/>
        </p:nvSpPr>
        <p:spPr>
          <a:xfrm>
            <a:off x="3619500" y="51530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3306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53FF2E-B120-4AEB-8E7E-948588CB3FEC}"/>
              </a:ext>
            </a:extLst>
          </p:cNvPr>
          <p:cNvSpPr>
            <a:spLocks noGrp="1"/>
          </p:cNvSpPr>
          <p:nvPr/>
        </p:nvSpPr>
        <p:spPr>
          <a:xfrm>
            <a:off x="4324350" y="51720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29BF1199-897E-40DF-BA42-6E061B7AF875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F5E5DA-F439-4463-A75A-6D81298D9A1A}"/>
              </a:ext>
            </a:extLst>
          </p:cNvPr>
          <p:cNvSpPr>
            <a:spLocks noGrp="1"/>
          </p:cNvSpPr>
          <p:nvPr/>
        </p:nvSpPr>
        <p:spPr>
          <a:xfrm>
            <a:off x="6400800" y="51530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5000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406861D-1DF2-4C49-AF3A-66ACA1CF8DDC}"/>
              </a:ext>
            </a:extLst>
          </p:cNvPr>
          <p:cNvSpPr>
            <a:spLocks noGrp="1"/>
          </p:cNvSpPr>
          <p:nvPr/>
        </p:nvSpPr>
        <p:spPr>
          <a:xfrm>
            <a:off x="7105650" y="51720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Flask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5794FC71-1337-4CAB-91F2-4CE7D8DDB794}"/>
              </a:ext>
            </a:extLst>
          </p:cNvPr>
          <p:cNvSpPr>
            <a:spLocks noGrp="1"/>
          </p:cNvSpPr>
          <p:nvPr/>
        </p:nvSpPr>
        <p:spPr>
          <a:xfrm>
            <a:off x="9010650" y="5029200"/>
            <a:ext cx="2438400" cy="51435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AC02F23-BF09-42C4-8EE2-F5C3D9BF4E11}"/>
              </a:ext>
            </a:extLst>
          </p:cNvPr>
          <p:cNvSpPr>
            <a:spLocks noGrp="1"/>
          </p:cNvSpPr>
          <p:nvPr/>
        </p:nvSpPr>
        <p:spPr>
          <a:xfrm>
            <a:off x="9182100" y="515302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64C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64C0"/>
                </a:solidFill>
                <a:latin typeface="Consolas"/>
                <a:ea typeface="Consolas"/>
                <a:cs typeface="Consolas"/>
              </a:rPr>
              <a:t>8080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28ED283-23B1-4855-91C5-485B0236C613}"/>
              </a:ext>
            </a:extLst>
          </p:cNvPr>
          <p:cNvSpPr>
            <a:spLocks noGrp="1"/>
          </p:cNvSpPr>
          <p:nvPr/>
        </p:nvSpPr>
        <p:spPr>
          <a:xfrm>
            <a:off x="9886950" y="51720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開發/測試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1A4FBBF-0AEE-4F08-82DE-E9AB75B40FE3}"/>
              </a:ext>
            </a:extLst>
          </p:cNvPr>
          <p:cNvSpPr>
            <a:spLocks noGrp="1"/>
          </p:cNvSpPr>
          <p:nvPr/>
        </p:nvSpPr>
        <p:spPr>
          <a:xfrm>
            <a:off x="1562100" y="5848350"/>
            <a:ext cx="906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64C0"/>
                </a:solidFill>
                <a:latin typeface="Microsoft JhengHei"/>
                <a:ea typeface="Microsoft JhengHei"/>
                <a:cs typeface="Microsoft JhengHei"/>
              </a:rPr>
              <a:t>localhost:8080 = 連到自己電腦的 8080 號門</a:t>
            </a:r>
          </a:p>
        </p:txBody>
      </p:sp>
      <p:sp>
        <p:nvSpPr>
          <p:cNvPr id="43" name="直線接點 42">
            <a:extLst>
              <a:ext uri="{FF2B5EF4-FFF2-40B4-BE49-F238E27FC236}">
                <a16:creationId xmlns:a16="http://schemas.microsoft.com/office/drawing/2014/main" id="{A0C83322-E5A4-492E-A36A-23377F37872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80E48C1-CB91-4532-9511-B8B5E956128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Docker 基礎教學 | 第 1 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1708B5D-EEC6-45DA-A931-8F3E28CECA5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70524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DD0134E-A573-40AD-9827-4E1055C45C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22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B90A9E-86BA-4699-AD20-979EB9721D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CHECK LOCAL PORTS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D1BA1E-9F0C-4644-BE6E-29F669AA21A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怎麼看本機有哪些 Port 正在用？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BB0C84-938B-43AB-AE14-35CDA8F14C0D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容器啟動失敗時，先確認要用的主機 port 有沒有被其他程式佔用。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FDE0172-EC58-41AF-8C5D-690E8AAE3239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5238750" cy="3143250"/>
          </a:xfrm>
          <a:prstGeom prst="roundRect">
            <a:avLst>
              <a:gd name="adj" fmla="val 4242"/>
            </a:avLst>
          </a:prstGeom>
          <a:solidFill>
            <a:srgbClr val="0B1628"/>
          </a:solidFill>
          <a:ln w="9525">
            <a:solidFill>
              <a:srgbClr val="253650"/>
            </a:solidFill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FA25DE3-861E-497F-BE6E-8E4C1798F98F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95250" cy="95250"/>
          </a:xfrm>
          <a:prstGeom prst="ellipse">
            <a:avLst/>
          </a:prstGeom>
          <a:solidFill>
            <a:srgbClr val="FF5F57"/>
          </a:solidFill>
          <a:ln w="0">
            <a:noFill/>
            <a:prstDash val="solid"/>
          </a:ln>
        </p:spPr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4C8B1D3-C718-4B06-8A5A-AA8938ADC3DE}"/>
              </a:ext>
            </a:extLst>
          </p:cNvPr>
          <p:cNvSpPr>
            <a:spLocks noGrp="1"/>
          </p:cNvSpPr>
          <p:nvPr/>
        </p:nvSpPr>
        <p:spPr>
          <a:xfrm>
            <a:off x="1085850" y="2095500"/>
            <a:ext cx="95250" cy="95250"/>
          </a:xfrm>
          <a:prstGeom prst="ellipse">
            <a:avLst/>
          </a:prstGeom>
          <a:solidFill>
            <a:srgbClr val="FFBD2E"/>
          </a:solidFill>
          <a:ln w="0">
            <a:noFill/>
            <a:prstDash val="solid"/>
          </a:ln>
        </p:spPr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BDCE00D9-103B-4706-A116-342254E6053D}"/>
              </a:ext>
            </a:extLst>
          </p:cNvPr>
          <p:cNvSpPr>
            <a:spLocks noGrp="1"/>
          </p:cNvSpPr>
          <p:nvPr/>
        </p:nvSpPr>
        <p:spPr>
          <a:xfrm>
            <a:off x="1276350" y="2095500"/>
            <a:ext cx="95250" cy="95250"/>
          </a:xfrm>
          <a:prstGeom prst="ellipse">
            <a:avLst/>
          </a:prstGeom>
          <a:solidFill>
            <a:srgbClr val="28C840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C053A9-7FD7-49B4-8881-D185E5041195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Windows PowerShell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0394F0-CAA8-4EA1-A780-841251231679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50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netstat -ano | findstr LISTENING</a:t>
            </a:r>
          </a:p>
          <a:p>
            <a:pPr>
              <a:lnSpc>
                <a:spcPct val="115000"/>
              </a:lnSpc>
              <a:buNone/>
              <a:defRPr sz="150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netstat -ano | findstr :8080</a:t>
            </a:r>
          </a:p>
          <a:p>
            <a:pPr>
              <a:lnSpc>
                <a:spcPct val="115000"/>
              </a:lnSpc>
              <a:buNone/>
              <a:defRPr sz="150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tasklist /FI "PID eq 1234"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DE26FF-30AF-4D61-B1DF-7D34D42CCAEE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最後一欄是 PID，再用 tasklist 查是哪個程式。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9A0F05AA-093D-4BD3-A204-A9513E697B62}"/>
              </a:ext>
            </a:extLst>
          </p:cNvPr>
          <p:cNvSpPr>
            <a:spLocks noGrp="1"/>
          </p:cNvSpPr>
          <p:nvPr/>
        </p:nvSpPr>
        <p:spPr>
          <a:xfrm>
            <a:off x="6286500" y="1866900"/>
            <a:ext cx="5238750" cy="3143250"/>
          </a:xfrm>
          <a:prstGeom prst="roundRect">
            <a:avLst>
              <a:gd name="adj" fmla="val 4242"/>
            </a:avLst>
          </a:prstGeom>
          <a:solidFill>
            <a:srgbClr val="0B1628"/>
          </a:solidFill>
          <a:ln w="9525">
            <a:solidFill>
              <a:srgbClr val="253650"/>
            </a:solidFill>
            <a:prstDash val="solid"/>
          </a:ln>
        </p:spPr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5E146EFD-11B8-4263-A4FD-B67F94D4182C}"/>
              </a:ext>
            </a:extLst>
          </p:cNvPr>
          <p:cNvSpPr>
            <a:spLocks noGrp="1"/>
          </p:cNvSpPr>
          <p:nvPr/>
        </p:nvSpPr>
        <p:spPr>
          <a:xfrm>
            <a:off x="6515100" y="2095500"/>
            <a:ext cx="95250" cy="95250"/>
          </a:xfrm>
          <a:prstGeom prst="ellipse">
            <a:avLst/>
          </a:prstGeom>
          <a:solidFill>
            <a:srgbClr val="FF5F57"/>
          </a:solidFill>
          <a:ln w="0">
            <a:noFill/>
            <a:prstDash val="solid"/>
          </a:ln>
        </p:spPr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8518E4D-1CEE-406E-B2AB-4ECDB3E4BC6D}"/>
              </a:ext>
            </a:extLst>
          </p:cNvPr>
          <p:cNvSpPr>
            <a:spLocks noGrp="1"/>
          </p:cNvSpPr>
          <p:nvPr/>
        </p:nvSpPr>
        <p:spPr>
          <a:xfrm>
            <a:off x="6705600" y="2095500"/>
            <a:ext cx="95250" cy="95250"/>
          </a:xfrm>
          <a:prstGeom prst="ellipse">
            <a:avLst/>
          </a:prstGeom>
          <a:solidFill>
            <a:srgbClr val="FFBD2E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467B097-83E1-475F-885D-75592BB1EA8A}"/>
              </a:ext>
            </a:extLst>
          </p:cNvPr>
          <p:cNvSpPr>
            <a:spLocks noGrp="1"/>
          </p:cNvSpPr>
          <p:nvPr/>
        </p:nvSpPr>
        <p:spPr>
          <a:xfrm>
            <a:off x="6896100" y="2095500"/>
            <a:ext cx="95250" cy="95250"/>
          </a:xfrm>
          <a:prstGeom prst="ellipse">
            <a:avLst/>
          </a:prstGeom>
          <a:solidFill>
            <a:srgbClr val="28C840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4AF6B8-3161-44E0-A3A2-4FD218B04F61}"/>
              </a:ext>
            </a:extLst>
          </p:cNvPr>
          <p:cNvSpPr>
            <a:spLocks noGrp="1"/>
          </p:cNvSpPr>
          <p:nvPr/>
        </p:nvSpPr>
        <p:spPr>
          <a:xfrm>
            <a:off x="6515100" y="24003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macOS Terminal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B47F73-9D94-4380-A1ED-89F5D6C4C8DE}"/>
              </a:ext>
            </a:extLst>
          </p:cNvPr>
          <p:cNvSpPr>
            <a:spLocks noGrp="1"/>
          </p:cNvSpPr>
          <p:nvPr/>
        </p:nvSpPr>
        <p:spPr>
          <a:xfrm>
            <a:off x="6534150" y="29146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50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lsof -nP -iTCP -sTCP:LISTEN</a:t>
            </a:r>
          </a:p>
          <a:p>
            <a:pPr>
              <a:lnSpc>
                <a:spcPct val="115000"/>
              </a:lnSpc>
              <a:buNone/>
              <a:defRPr sz="150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lsof -nP -iTCP:8080 -sTCP:LISTEN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D78E84-4090-4B43-8813-9C8833400B3B}"/>
              </a:ext>
            </a:extLst>
          </p:cNvPr>
          <p:cNvSpPr>
            <a:spLocks noGrp="1"/>
          </p:cNvSpPr>
          <p:nvPr/>
        </p:nvSpPr>
        <p:spPr>
          <a:xfrm>
            <a:off x="6534150" y="4267200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LISTEN 代表這個 port 正在等外部連線。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EF8C7512-CDF7-45C1-BA4A-95E035246200}"/>
              </a:ext>
            </a:extLst>
          </p:cNvPr>
          <p:cNvSpPr>
            <a:spLocks noGrp="1"/>
          </p:cNvSpPr>
          <p:nvPr/>
        </p:nvSpPr>
        <p:spPr>
          <a:xfrm>
            <a:off x="1600200" y="5353050"/>
            <a:ext cx="8991600" cy="590550"/>
          </a:xfrm>
          <a:prstGeom prst="roundRect">
            <a:avLst>
              <a:gd name="adj" fmla="val 19355"/>
            </a:avLst>
          </a:prstGeom>
          <a:solidFill>
            <a:srgbClr val="10233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62A3E3-A4AB-4DE4-BCE5-D0FB70CF9D80}"/>
              </a:ext>
            </a:extLst>
          </p:cNvPr>
          <p:cNvSpPr>
            <a:spLocks noGrp="1"/>
          </p:cNvSpPr>
          <p:nvPr/>
        </p:nvSpPr>
        <p:spPr>
          <a:xfrm>
            <a:off x="1847850" y="5534025"/>
            <a:ext cx="849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DBEAF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BEAFE"/>
                </a:solidFill>
                <a:latin typeface="Microsoft JhengHei"/>
                <a:ea typeface="Microsoft JhengHei"/>
                <a:cs typeface="Microsoft JhengHei"/>
              </a:rPr>
              <a:t>如果 8080 被佔用，就換主機 port：  -p 8081:80</a:t>
            </a:r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297B62DC-310D-4561-BB5D-A011565F323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E9928E-7731-4DC4-B0E5-DA1B5585302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DBEAF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DBEAFE"/>
                </a:solidFill>
                <a:latin typeface="Microsoft JhengHei"/>
                <a:ea typeface="Microsoft JhengHei"/>
                <a:cs typeface="Microsoft JhengHei"/>
              </a:rPr>
              <a:t>Docker 基礎教學 | 第 1 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588455A-DBAF-4E62-B58F-EA6EDCB94E01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DBEAF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>
                <a:solidFill>
                  <a:srgbClr val="DBEAF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02081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0F0B875-88F9-4C42-81A5-7F93AC5E0F8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FIRST CONTAINER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0102B7-7679-4B33-B651-6D6D48A38B8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一行指令跑起 Nginx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F5E232-9EA6-4FD6-A86F-8FAE676D1BA8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629900" cy="1162050"/>
          </a:xfrm>
          <a:prstGeom prst="roundRect">
            <a:avLst>
              <a:gd name="adj" fmla="val 819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46ADA78-404C-4011-A4BA-8FCD2B952621}"/>
              </a:ext>
            </a:extLst>
          </p:cNvPr>
          <p:cNvSpPr>
            <a:spLocks noGrp="1"/>
          </p:cNvSpPr>
          <p:nvPr/>
        </p:nvSpPr>
        <p:spPr>
          <a:xfrm>
            <a:off x="952500" y="18573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3C9E834-9B1D-4859-A1AA-66BC5B26B766}"/>
              </a:ext>
            </a:extLst>
          </p:cNvPr>
          <p:cNvSpPr>
            <a:spLocks noGrp="1"/>
          </p:cNvSpPr>
          <p:nvPr/>
        </p:nvSpPr>
        <p:spPr>
          <a:xfrm>
            <a:off x="1123950" y="18573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4D407C8-0DEF-4080-8FBE-B4DD8F5A30E5}"/>
              </a:ext>
            </a:extLst>
          </p:cNvPr>
          <p:cNvSpPr>
            <a:spLocks noGrp="1"/>
          </p:cNvSpPr>
          <p:nvPr/>
        </p:nvSpPr>
        <p:spPr>
          <a:xfrm>
            <a:off x="1295400" y="18573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04501C-FAD7-4105-90FD-069C6B6F5E53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10210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1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my-web -p 8080:80 nginx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222C580-33BF-4BBA-BF01-53F32CE5642C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1962150" cy="1257300"/>
          </a:xfrm>
          <a:prstGeom prst="roundRect">
            <a:avLst>
              <a:gd name="adj" fmla="val 757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EB12A3-9B5B-4103-B723-8EFF93CB18AE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docker run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201A3B-4E79-4AD9-BFDB-B9E9BD4E9BF1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用 Image 建立並啟動 Container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82BFA7B-5552-4ADD-A27E-E5292A7DB1F3}"/>
              </a:ext>
            </a:extLst>
          </p:cNvPr>
          <p:cNvSpPr>
            <a:spLocks noGrp="1"/>
          </p:cNvSpPr>
          <p:nvPr/>
        </p:nvSpPr>
        <p:spPr>
          <a:xfrm>
            <a:off x="2914650" y="3543300"/>
            <a:ext cx="1962150" cy="1257300"/>
          </a:xfrm>
          <a:prstGeom prst="roundRect">
            <a:avLst>
              <a:gd name="adj" fmla="val 757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C7A9E7-04C0-4243-A1D4-99F06A17E9E7}"/>
              </a:ext>
            </a:extLst>
          </p:cNvPr>
          <p:cNvSpPr>
            <a:spLocks noGrp="1"/>
          </p:cNvSpPr>
          <p:nvPr/>
        </p:nvSpPr>
        <p:spPr>
          <a:xfrm>
            <a:off x="3067050" y="3752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99FF07-705D-437A-AA2D-E8BDE073B271}"/>
              </a:ext>
            </a:extLst>
          </p:cNvPr>
          <p:cNvSpPr>
            <a:spLocks noGrp="1"/>
          </p:cNvSpPr>
          <p:nvPr/>
        </p:nvSpPr>
        <p:spPr>
          <a:xfrm>
            <a:off x="3067050" y="4171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背景執行，適合 Web 伺服器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3669DB9-5F81-4429-9909-92C80C20EE4B}"/>
              </a:ext>
            </a:extLst>
          </p:cNvPr>
          <p:cNvSpPr>
            <a:spLocks noGrp="1"/>
          </p:cNvSpPr>
          <p:nvPr/>
        </p:nvSpPr>
        <p:spPr>
          <a:xfrm>
            <a:off x="5162550" y="3543300"/>
            <a:ext cx="1962150" cy="1257300"/>
          </a:xfrm>
          <a:prstGeom prst="roundRect">
            <a:avLst>
              <a:gd name="adj" fmla="val 757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C2E766-8D96-4AD4-B6F7-46ACF639CD4E}"/>
              </a:ext>
            </a:extLst>
          </p:cNvPr>
          <p:cNvSpPr>
            <a:spLocks noGrp="1"/>
          </p:cNvSpPr>
          <p:nvPr/>
        </p:nvSpPr>
        <p:spPr>
          <a:xfrm>
            <a:off x="5314950" y="3752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--name my-web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660590-A31E-47C8-9B3E-3E426B0DF3CF}"/>
              </a:ext>
            </a:extLst>
          </p:cNvPr>
          <p:cNvSpPr>
            <a:spLocks noGrp="1"/>
          </p:cNvSpPr>
          <p:nvPr/>
        </p:nvSpPr>
        <p:spPr>
          <a:xfrm>
            <a:off x="5314950" y="4171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幫容器取名字，後續指令好操作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586563C-BD9B-4550-AA2E-E19061308738}"/>
              </a:ext>
            </a:extLst>
          </p:cNvPr>
          <p:cNvSpPr>
            <a:spLocks noGrp="1"/>
          </p:cNvSpPr>
          <p:nvPr/>
        </p:nvSpPr>
        <p:spPr>
          <a:xfrm>
            <a:off x="7410450" y="3543300"/>
            <a:ext cx="1962150" cy="1257300"/>
          </a:xfrm>
          <a:prstGeom prst="roundRect">
            <a:avLst>
              <a:gd name="adj" fmla="val 757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D621C3-3260-468F-B528-AEB42E2D8298}"/>
              </a:ext>
            </a:extLst>
          </p:cNvPr>
          <p:cNvSpPr>
            <a:spLocks noGrp="1"/>
          </p:cNvSpPr>
          <p:nvPr/>
        </p:nvSpPr>
        <p:spPr>
          <a:xfrm>
            <a:off x="7562850" y="3752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-p 8080:80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618F41-0AFC-4278-8462-00B4BD7C1A31}"/>
              </a:ext>
            </a:extLst>
          </p:cNvPr>
          <p:cNvSpPr>
            <a:spLocks noGrp="1"/>
          </p:cNvSpPr>
          <p:nvPr/>
        </p:nvSpPr>
        <p:spPr>
          <a:xfrm>
            <a:off x="7562850" y="4171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 8080 對到容器 80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723167B-AC4E-4DE8-B935-C5D92D0EA4F6}"/>
              </a:ext>
            </a:extLst>
          </p:cNvPr>
          <p:cNvSpPr>
            <a:spLocks noGrp="1"/>
          </p:cNvSpPr>
          <p:nvPr/>
        </p:nvSpPr>
        <p:spPr>
          <a:xfrm>
            <a:off x="9658350" y="3543300"/>
            <a:ext cx="1962150" cy="1257300"/>
          </a:xfrm>
          <a:prstGeom prst="roundRect">
            <a:avLst>
              <a:gd name="adj" fmla="val 757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5C58FF-D156-478B-AB7D-D00FF68425B3}"/>
              </a:ext>
            </a:extLst>
          </p:cNvPr>
          <p:cNvSpPr>
            <a:spLocks noGrp="1"/>
          </p:cNvSpPr>
          <p:nvPr/>
        </p:nvSpPr>
        <p:spPr>
          <a:xfrm>
            <a:off x="9810750" y="3752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nginx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03536D-8C9D-4A72-B470-06C7107EBBE7}"/>
              </a:ext>
            </a:extLst>
          </p:cNvPr>
          <p:cNvSpPr>
            <a:spLocks noGrp="1"/>
          </p:cNvSpPr>
          <p:nvPr/>
        </p:nvSpPr>
        <p:spPr>
          <a:xfrm>
            <a:off x="9810750" y="4171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要使用的 Image 名稱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A0306F-7D1B-4E07-B6FB-6DCB4F6FEB1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B5EFB7-35A2-4E3F-97FD-0F0F9F05C9D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B05121-9523-42FF-A662-0AC657C9BD31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75777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59742C2A-EFB3-424F-AD90-1C9FAEB49B2D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41A1CE8-285B-4538-A3C2-C9C446401E91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範例程式碼：Nginx 起手式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4C95CC9-AA50-43A2-896C-04AFE1CF330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1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9D891131-894D-4A41-8A8F-272A9486F744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9FFC6D9-08BA-450E-97C4-B7E66C2F27B6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my-web -p 8080:80 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my-web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849442E-8242-4DEA-B8F9-84504B7F66D4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1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200B3A9-FE69-4864-A975-03AD455C3E9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025004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CAA409E-CE05-4C5E-ADC8-C18832D504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BROWSER CHECK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A49600-EA76-4FC1-A448-29A2F53CA2E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成功訊號：瀏覽器看到 Welcome to nginx!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F370196-28A1-454D-A8E6-1C3772C6D1ED}"/>
              </a:ext>
            </a:extLst>
          </p:cNvPr>
          <p:cNvSpPr>
            <a:spLocks noGrp="1"/>
          </p:cNvSpPr>
          <p:nvPr/>
        </p:nvSpPr>
        <p:spPr>
          <a:xfrm>
            <a:off x="2514600" y="1638300"/>
            <a:ext cx="7162800" cy="990600"/>
          </a:xfrm>
          <a:prstGeom prst="roundRect">
            <a:avLst>
              <a:gd name="adj" fmla="val 961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333BD5A-864B-4D98-9E4C-0BBA5D5F551C}"/>
              </a:ext>
            </a:extLst>
          </p:cNvPr>
          <p:cNvSpPr>
            <a:spLocks noGrp="1"/>
          </p:cNvSpPr>
          <p:nvPr/>
        </p:nvSpPr>
        <p:spPr>
          <a:xfrm>
            <a:off x="2686050" y="18002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44D0D86-8670-46C1-8F9A-8378E225AAE2}"/>
              </a:ext>
            </a:extLst>
          </p:cNvPr>
          <p:cNvSpPr>
            <a:spLocks noGrp="1"/>
          </p:cNvSpPr>
          <p:nvPr/>
        </p:nvSpPr>
        <p:spPr>
          <a:xfrm>
            <a:off x="2857500" y="18002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B4D9DC6-9A33-4EC6-969A-C2B3791CD1A6}"/>
              </a:ext>
            </a:extLst>
          </p:cNvPr>
          <p:cNvSpPr>
            <a:spLocks noGrp="1"/>
          </p:cNvSpPr>
          <p:nvPr/>
        </p:nvSpPr>
        <p:spPr>
          <a:xfrm>
            <a:off x="3028950" y="18002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768836-6ED9-448B-915E-6F349126A820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6743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4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http://localhost:8080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43CBF9-E613-4335-B3ED-8C9B10512C55}"/>
              </a:ext>
            </a:extLst>
          </p:cNvPr>
          <p:cNvSpPr>
            <a:spLocks noGrp="1"/>
          </p:cNvSpPr>
          <p:nvPr/>
        </p:nvSpPr>
        <p:spPr>
          <a:xfrm>
            <a:off x="2000250" y="3162300"/>
            <a:ext cx="819150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5C6897-D7D2-4E57-B20F-E7ADB998834D}"/>
              </a:ext>
            </a:extLst>
          </p:cNvPr>
          <p:cNvSpPr>
            <a:spLocks noGrp="1"/>
          </p:cNvSpPr>
          <p:nvPr/>
        </p:nvSpPr>
        <p:spPr>
          <a:xfrm>
            <a:off x="2381250" y="35623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80" lnSpcReduction="10000"/>
          </a:bodyPr>
          <a:lstStyle/>
          <a:p>
            <a:pPr algn="ctr">
              <a:lnSpc>
                <a:spcPct val="105000"/>
              </a:lnSpc>
              <a:buNone/>
              <a:defRPr sz="33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Welcome to nginx!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FE8F9F-ECCF-4A01-B472-F63475F6FEB9}"/>
              </a:ext>
            </a:extLst>
          </p:cNvPr>
          <p:cNvSpPr>
            <a:spLocks noGrp="1"/>
          </p:cNvSpPr>
          <p:nvPr/>
        </p:nvSpPr>
        <p:spPr>
          <a:xfrm>
            <a:off x="2381250" y="41910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你剛剛用一行指令建立了一個正在運行的 Web 伺服器。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51D968-F2D8-4B6D-AFFF-B4ACC7E3DFD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976A5F-7DD3-4A6D-93C6-B3A6A89E9B6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A59756-AC03-4A36-BD02-3D8FF9CA931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91865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3884C80-27E7-4DF1-A847-3C7EAE8B31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 EXEC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079223-5DA5-45C5-A0A0-2F497DC39BE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進入容器，理解檔案系統隔離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37CF8C7-B49E-4650-B910-8B38FF1B332B}"/>
              </a:ext>
            </a:extLst>
          </p:cNvPr>
          <p:cNvSpPr>
            <a:spLocks noGrp="1"/>
          </p:cNvSpPr>
          <p:nvPr/>
        </p:nvSpPr>
        <p:spPr>
          <a:xfrm>
            <a:off x="781050" y="1543050"/>
            <a:ext cx="4953000" cy="3676650"/>
          </a:xfrm>
          <a:prstGeom prst="roundRect">
            <a:avLst>
              <a:gd name="adj" fmla="val 259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BB16EC9-B22F-4056-A1A7-9EED172DACC8}"/>
              </a:ext>
            </a:extLst>
          </p:cNvPr>
          <p:cNvSpPr>
            <a:spLocks noGrp="1"/>
          </p:cNvSpPr>
          <p:nvPr/>
        </p:nvSpPr>
        <p:spPr>
          <a:xfrm>
            <a:off x="952500" y="17049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7E91711-1E54-4371-9D3F-9305972C9D40}"/>
              </a:ext>
            </a:extLst>
          </p:cNvPr>
          <p:cNvSpPr>
            <a:spLocks noGrp="1"/>
          </p:cNvSpPr>
          <p:nvPr/>
        </p:nvSpPr>
        <p:spPr>
          <a:xfrm>
            <a:off x="1123950" y="17049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75D37DE-FBE8-4A9A-AA88-06CDE2ABF7F6}"/>
              </a:ext>
            </a:extLst>
          </p:cNvPr>
          <p:cNvSpPr>
            <a:spLocks noGrp="1"/>
          </p:cNvSpPr>
          <p:nvPr/>
        </p:nvSpPr>
        <p:spPr>
          <a:xfrm>
            <a:off x="1295400" y="17049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D6C357-E1A7-49E4-B932-B064F143A7FB}"/>
              </a:ext>
            </a:extLst>
          </p:cNvPr>
          <p:cNvSpPr>
            <a:spLocks noGrp="1"/>
          </p:cNvSpPr>
          <p:nvPr/>
        </p:nvSpPr>
        <p:spPr>
          <a:xfrm>
            <a:off x="990600" y="1962150"/>
            <a:ext cx="4533900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my-web bash</a:t>
            </a:r>
          </a:p>
          <a:p>
            <a:endParaRPr sz="16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pwd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ls /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/usr/share/nginx/html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ls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cat index.html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exit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7EC9449-7A61-447C-AC3A-496B252CC0EE}"/>
              </a:ext>
            </a:extLst>
          </p:cNvPr>
          <p:cNvSpPr>
            <a:spLocks noGrp="1"/>
          </p:cNvSpPr>
          <p:nvPr/>
        </p:nvSpPr>
        <p:spPr>
          <a:xfrm>
            <a:off x="6419850" y="1638300"/>
            <a:ext cx="4362450" cy="3219450"/>
          </a:xfrm>
          <a:prstGeom prst="roundRect">
            <a:avLst>
              <a:gd name="adj" fmla="val 4142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19C80B-31D6-41BD-A75F-84305AB57EA6}"/>
              </a:ext>
            </a:extLst>
          </p:cNvPr>
          <p:cNvSpPr>
            <a:spLocks noGrp="1"/>
          </p:cNvSpPr>
          <p:nvPr/>
        </p:nvSpPr>
        <p:spPr>
          <a:xfrm>
            <a:off x="6800850" y="2247900"/>
            <a:ext cx="3600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21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/usr/share/nginx/html/index.html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94F034-D9CD-4F2C-A288-92F1826265D5}"/>
              </a:ext>
            </a:extLst>
          </p:cNvPr>
          <p:cNvSpPr>
            <a:spLocks noGrp="1"/>
          </p:cNvSpPr>
          <p:nvPr/>
        </p:nvSpPr>
        <p:spPr>
          <a:xfrm>
            <a:off x="6877050" y="3257550"/>
            <a:ext cx="342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這就是剛才瀏覽器看到的歡迎頁面。容器內部有自己的檔案系統，和宿主機分開。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F0084B-D2FA-4B19-9458-21DCD443849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D6D50C-EC23-491F-AFF7-A632F9C5D91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B06481-8D38-4633-8F83-E6CA0BF449E1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09346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C7EF252-EEA4-4B5E-8F71-AE5890EBFCF1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7A9051-0D0D-4822-8931-7D161BA27401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範例程式碼：進入 Nginx 容器檢查 (1/2)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510C2E2-47FF-4B91-86F9-219954E09605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1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4A42A649-68C6-441F-88E6-6E3760503092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40C0E791-A9C9-45F4-8AB1-DC2BEF2DB05F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進入 Nginx 容器（Nginx 用的是 sh，不是 bash）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my-web sh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```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現在你已經「進入」容器內部了，來探索一下：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```sh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1. 看看現在在哪裡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pwd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2. 看看根目錄有什麼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ls /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3. 去找 Nginx 的網頁檔案在哪裡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/usr/share/nginx/html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4. 看看有哪些檔案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ls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5. 看看歡迎頁面的內容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cat index.html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1C9F331-2153-4516-A960-6384389F9F72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1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576D19CF-2225-4AFF-B3F0-FCA79EA3701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84432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9977042-1153-4D94-9E2E-7C8D209F56D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F04A59A-A243-4B9B-A12C-E2203FCB9FA2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範例程式碼：進入 Nginx 容器檢查 (2/2)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7CD4A7D-93CF-428B-A69E-D2D772DC52C8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1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57855A7A-7BFB-4939-8D6E-A1A701C7C46E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27543C23-7499-46BF-9FD7-94CB2AFAB86C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6. 離開容器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exit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ABCE7681-F540-42C7-81A7-AE0C957F5DDC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1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C942740E-05F6-42D9-AABF-C628356AC93A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821745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2D72500-4ECE-4EF4-AF6D-1C7103D552A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CONTAINER LIFECYCLE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79AA9D-1CB6-4577-A990-F24C3203D30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第一堂必會的容器生命週期指令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1928344-03DB-4672-B876-342328948AFC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4762500" cy="3886200"/>
          </a:xfrm>
          <a:prstGeom prst="roundRect">
            <a:avLst>
              <a:gd name="adj" fmla="val 245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31E50CD-71DD-40D9-B178-2A8691ACD8F2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6A868E7-6A8E-4112-B19C-9640F368C799}"/>
              </a:ext>
            </a:extLst>
          </p:cNvPr>
          <p:cNvSpPr>
            <a:spLocks noGrp="1"/>
          </p:cNvSpPr>
          <p:nvPr/>
        </p:nvSpPr>
        <p:spPr>
          <a:xfrm>
            <a:off x="1009650" y="16668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1CA1AE3-6308-40AC-9AE7-EE9D5F5FD19D}"/>
              </a:ext>
            </a:extLst>
          </p:cNvPr>
          <p:cNvSpPr>
            <a:spLocks noGrp="1"/>
          </p:cNvSpPr>
          <p:nvPr/>
        </p:nvSpPr>
        <p:spPr>
          <a:xfrm>
            <a:off x="1181100" y="16668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A930BD-E992-46A3-9E91-7EC14975E052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43434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查看狀態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ps</a:t>
            </a:r>
          </a:p>
          <a:p>
            <a:endParaRPr sz="150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查看 log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my-web</a:t>
            </a:r>
          </a:p>
          <a:p>
            <a:endParaRPr sz="150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停止與啟動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stop my-web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start my-web</a:t>
            </a:r>
          </a:p>
          <a:p>
            <a:endParaRPr sz="150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用完後刪除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my-web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2654F34-82C4-4FE2-A051-FC002A93F6C1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286250" cy="1676400"/>
          </a:xfrm>
          <a:prstGeom prst="roundRect">
            <a:avLst>
              <a:gd name="adj" fmla="val 6818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3EB925-1B76-451F-A4FA-62ECFF471FEB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3829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62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卡住時先查三件事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60DB7A-83F3-46B9-A4D4-D908FD6F7262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3829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Docker Desktop 是否啟動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容器是否真的 Up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8080 port 是否被佔用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09A5C67-8EC2-4D03-BF3E-19FF1B2CC5FF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42862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8E021A-0BBC-4BE3-9D6F-FF53DCD01990}"/>
              </a:ext>
            </a:extLst>
          </p:cNvPr>
          <p:cNvSpPr>
            <a:spLocks noGrp="1"/>
          </p:cNvSpPr>
          <p:nvPr/>
        </p:nvSpPr>
        <p:spPr>
          <a:xfrm>
            <a:off x="6419850" y="3905250"/>
            <a:ext cx="3829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62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 Image 前先刪 Container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15416C-6397-4945-BAE5-1B45BFBA8037}"/>
              </a:ext>
            </a:extLst>
          </p:cNvPr>
          <p:cNvSpPr>
            <a:spLocks noGrp="1"/>
          </p:cNvSpPr>
          <p:nvPr/>
        </p:nvSpPr>
        <p:spPr>
          <a:xfrm>
            <a:off x="6419850" y="4305300"/>
            <a:ext cx="3829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只要還有容器使用某個 Image，不管容器是否停止，docker rmi 都可能失敗。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65C2FE-A7DA-4BB7-8191-A2A1861C197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78135E-EC87-4A4B-B5DC-67A73CA3960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7E8EB5-2C0A-40C2-A148-0F79CE92CBC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5072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A4408DFC-CA80-4941-91C3-6E7F6124482F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6F0687E-C3A7-4AF5-A619-802075626CB1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範例程式碼：狀態查看與清理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CB35FE43-61E5-4A11-AA18-9CE4C9932CB9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1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321AB862-4B55-4EE0-86F2-4FE675C0F2DF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136F3273-AAAE-489B-B10E-814A78339306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查看容器狀態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查看 log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my-web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停止容器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stop my-web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重新啟動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start my-web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用完後刪除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my-web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2C6F8A4-2B9F-45F2-903A-ED355CE48710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1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3CDBF697-4044-4F49-9783-98BDC244E86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256055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2C7E7D4-B893-4462-9810-1E279C5F270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 / BONUS C1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ED1CD1-FB83-4277-AB4B-4A6C645FB1AD}"/>
              </a:ext>
            </a:extLst>
          </p:cNvPr>
          <p:cNvSpPr>
            <a:spLocks noGrp="1"/>
          </p:cNvSpPr>
          <p:nvPr/>
        </p:nvSpPr>
        <p:spPr>
          <a:xfrm>
            <a:off x="2400300" y="2423106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實作題 Bonus：重新下載nginx 製作精美的網站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87A694D-E621-4177-98CF-3E0B2FEC89D8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8001000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639150-D833-424C-9874-5B77D0CAEF12}"/>
              </a:ext>
            </a:extLst>
          </p:cNvPr>
          <p:cNvSpPr>
            <a:spLocks noGrp="1"/>
          </p:cNvSpPr>
          <p:nvPr/>
        </p:nvSpPr>
        <p:spPr>
          <a:xfrm>
            <a:off x="2400300" y="5029200"/>
            <a:ext cx="7391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479" lnSpcReduction="10000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下一堂：Flask 容器、容器管理與 Volume。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6290D6-6784-4055-926C-618888BB8EF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86612F-89D9-4D26-83B0-C466220FB5B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1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2C9CC0-E593-440A-8016-F499F9E3DA1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259169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1738</Words>
  <Application>Microsoft Office PowerPoint</Application>
  <DocSecurity>0</DocSecurity>
  <PresentationFormat>寬螢幕</PresentationFormat>
  <Paragraphs>502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8" baseType="lpstr">
      <vt:lpstr>Microsoft JhengHei</vt:lpstr>
      <vt:lpstr>Aptos</vt:lpstr>
      <vt:lpstr>Aptos Display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sdt</cp:lastModifiedBy>
  <cp:revision>4</cp:revision>
  <dcterms:created xsi:type="dcterms:W3CDTF">2026-06-23T07:58:48Z</dcterms:created>
  <dcterms:modified xsi:type="dcterms:W3CDTF">2026-06-23T12:44:20Z</dcterms:modified>
</cp:coreProperties>
</file>