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ce8dac16854639" /><Relationship Type="http://schemas.openxmlformats.org/officeDocument/2006/relationships/extended-properties" Target="/docProps/app.xml" Id="R816203073d2e47bf" /><Relationship Type="http://schemas.openxmlformats.org/officeDocument/2006/relationships/officeDocument" Target="/ppt/presentation.xml" Id="R258ac62fbcd44a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1682037539842c1"/>
  </p:sldMasterIdLst>
  <p:notesMasterIdLst>
    <p:notesMasterId xmlns:r="http://schemas.openxmlformats.org/officeDocument/2006/relationships" r:id="R94a4c5b484bb49ed"/>
  </p:notesMasterIdLst>
  <p:sldIdLst>
    <p:sldId xmlns:r="http://schemas.openxmlformats.org/officeDocument/2006/relationships" id="256" r:id="Rf69da4c77aa14877"/>
    <p:sldId xmlns:r="http://schemas.openxmlformats.org/officeDocument/2006/relationships" id="257" r:id="Ra62d737291a341f8"/>
    <p:sldId xmlns:r="http://schemas.openxmlformats.org/officeDocument/2006/relationships" id="258" r:id="R64fcee04469d4b34"/>
    <p:sldId xmlns:r="http://schemas.openxmlformats.org/officeDocument/2006/relationships" id="259" r:id="R8afb3298b4c34037"/>
    <p:sldId xmlns:r="http://schemas.openxmlformats.org/officeDocument/2006/relationships" id="260" r:id="R3e81faa42b1f45a9"/>
    <p:sldId xmlns:r="http://schemas.openxmlformats.org/officeDocument/2006/relationships" id="261" r:id="R16b1c99a102a4e2c"/>
    <p:sldId xmlns:r="http://schemas.openxmlformats.org/officeDocument/2006/relationships" id="262" r:id="R8443818646e1418a"/>
    <p:sldId xmlns:r="http://schemas.openxmlformats.org/officeDocument/2006/relationships" id="263" r:id="Rfe4d8626476b4b89"/>
    <p:sldId xmlns:r="http://schemas.openxmlformats.org/officeDocument/2006/relationships" id="264" r:id="R38d571769b8b4fb7"/>
    <p:sldId xmlns:r="http://schemas.openxmlformats.org/officeDocument/2006/relationships" id="265" r:id="R2be77daeb5794d29"/>
    <p:sldId xmlns:r="http://schemas.openxmlformats.org/officeDocument/2006/relationships" id="266" r:id="R4592594911174db7"/>
    <p:sldId xmlns:r="http://schemas.openxmlformats.org/officeDocument/2006/relationships" id="267" r:id="Rbfc1196c73d14fee"/>
    <p:sldId xmlns:r="http://schemas.openxmlformats.org/officeDocument/2006/relationships" id="268" r:id="R3bd45e89ae0840a3"/>
    <p:sldId xmlns:r="http://schemas.openxmlformats.org/officeDocument/2006/relationships" id="269" r:id="Rcbc4603c5fcc418d"/>
    <p:sldId xmlns:r="http://schemas.openxmlformats.org/officeDocument/2006/relationships" id="270" r:id="R7ead831eb8d4479b"/>
    <p:sldId xmlns:r="http://schemas.openxmlformats.org/officeDocument/2006/relationships" id="271" r:id="R1e890ab4f2f34fea"/>
    <p:sldId xmlns:r="http://schemas.openxmlformats.org/officeDocument/2006/relationships" id="272" r:id="Ra404254c708f46fc"/>
    <p:sldId xmlns:r="http://schemas.openxmlformats.org/officeDocument/2006/relationships" id="273" r:id="R415a74d3aa4f42c1"/>
    <p:sldId xmlns:r="http://schemas.openxmlformats.org/officeDocument/2006/relationships" id="274" r:id="Re4bc8bbeadd64223"/>
    <p:sldId xmlns:r="http://schemas.openxmlformats.org/officeDocument/2006/relationships" id="275" r:id="R951e11affcac4112"/>
    <p:sldId xmlns:r="http://schemas.openxmlformats.org/officeDocument/2006/relationships" id="276" r:id="R4524bbdd2be74179"/>
    <p:sldId xmlns:r="http://schemas.openxmlformats.org/officeDocument/2006/relationships" id="277" r:id="R447b2860a5214d90"/>
    <p:sldId xmlns:r="http://schemas.openxmlformats.org/officeDocument/2006/relationships" id="278" r:id="R423d82f930894519"/>
    <p:sldId xmlns:r="http://schemas.openxmlformats.org/officeDocument/2006/relationships" id="279" r:id="R19c0e5820dfd4ecc"/>
    <p:sldId xmlns:r="http://schemas.openxmlformats.org/officeDocument/2006/relationships" id="280" r:id="Ra9ff63b3e4234b63"/>
    <p:sldId xmlns:r="http://schemas.openxmlformats.org/officeDocument/2006/relationships" id="281" r:id="R98d1d3b70bf74cff"/>
    <p:sldId xmlns:r="http://schemas.openxmlformats.org/officeDocument/2006/relationships" id="282" r:id="Rf45c91722c26497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515b2e89104e23" /><Relationship Type="http://schemas.openxmlformats.org/officeDocument/2006/relationships/slideMaster" Target="/ppt/slideMasters/slideMaster1.xml" Id="R71682037539842c1" /><Relationship Type="http://schemas.openxmlformats.org/officeDocument/2006/relationships/notesMaster" Target="/ppt/notesMasters/notesMaster1.xml" Id="R94a4c5b484bb49ed" /><Relationship Type="http://schemas.openxmlformats.org/officeDocument/2006/relationships/presProps" Target="/ppt/presProps.xml" Id="Rc41c7c4caf8547cb" /><Relationship Type="http://schemas.openxmlformats.org/officeDocument/2006/relationships/tableStyles" Target="/ppt/tableStyles.xml" Id="Rbb5b9e36a21a4476" /><Relationship Type="http://schemas.openxmlformats.org/officeDocument/2006/relationships/slide" Target="/ppt/slides/slide1.xml" Id="Rf69da4c77aa14877" /><Relationship Type="http://schemas.openxmlformats.org/officeDocument/2006/relationships/slide" Target="/ppt/slides/slide2.xml" Id="Ra62d737291a341f8" /><Relationship Type="http://schemas.openxmlformats.org/officeDocument/2006/relationships/slide" Target="/ppt/slides/slide3.xml" Id="R64fcee04469d4b34" /><Relationship Type="http://schemas.openxmlformats.org/officeDocument/2006/relationships/slide" Target="/ppt/slides/slide4.xml" Id="R8afb3298b4c34037" /><Relationship Type="http://schemas.openxmlformats.org/officeDocument/2006/relationships/slide" Target="/ppt/slides/slide5.xml" Id="R3e81faa42b1f45a9" /><Relationship Type="http://schemas.openxmlformats.org/officeDocument/2006/relationships/slide" Target="/ppt/slides/slide6.xml" Id="R16b1c99a102a4e2c" /><Relationship Type="http://schemas.openxmlformats.org/officeDocument/2006/relationships/slide" Target="/ppt/slides/slide7.xml" Id="R8443818646e1418a" /><Relationship Type="http://schemas.openxmlformats.org/officeDocument/2006/relationships/slide" Target="/ppt/slides/slide8.xml" Id="Rfe4d8626476b4b89" /><Relationship Type="http://schemas.openxmlformats.org/officeDocument/2006/relationships/slide" Target="/ppt/slides/slide9.xml" Id="R38d571769b8b4fb7" /><Relationship Type="http://schemas.openxmlformats.org/officeDocument/2006/relationships/slide" Target="/ppt/slides/slide10.xml" Id="R2be77daeb5794d29" /><Relationship Type="http://schemas.openxmlformats.org/officeDocument/2006/relationships/slide" Target="/ppt/slides/slide11.xml" Id="R4592594911174db7" /><Relationship Type="http://schemas.openxmlformats.org/officeDocument/2006/relationships/slide" Target="/ppt/slides/slide12.xml" Id="Rbfc1196c73d14fee" /><Relationship Type="http://schemas.openxmlformats.org/officeDocument/2006/relationships/slide" Target="/ppt/slides/slide13.xml" Id="R3bd45e89ae0840a3" /><Relationship Type="http://schemas.openxmlformats.org/officeDocument/2006/relationships/slide" Target="/ppt/slides/slide14.xml" Id="Rcbc4603c5fcc418d" /><Relationship Type="http://schemas.openxmlformats.org/officeDocument/2006/relationships/slide" Target="/ppt/slides/slide15.xml" Id="R7ead831eb8d4479b" /><Relationship Type="http://schemas.openxmlformats.org/officeDocument/2006/relationships/slide" Target="/ppt/slides/slide16.xml" Id="R1e890ab4f2f34fea" /><Relationship Type="http://schemas.openxmlformats.org/officeDocument/2006/relationships/slide" Target="/ppt/slides/slide17.xml" Id="Ra404254c708f46fc" /><Relationship Type="http://schemas.openxmlformats.org/officeDocument/2006/relationships/slide" Target="/ppt/slides/slide18.xml" Id="R415a74d3aa4f42c1" /><Relationship Type="http://schemas.openxmlformats.org/officeDocument/2006/relationships/slide" Target="/ppt/slides/slide19.xml" Id="Re4bc8bbeadd64223" /><Relationship Type="http://schemas.openxmlformats.org/officeDocument/2006/relationships/slide" Target="/ppt/slides/slide20.xml" Id="R951e11affcac4112" /><Relationship Type="http://schemas.openxmlformats.org/officeDocument/2006/relationships/slide" Target="/ppt/slides/slide21.xml" Id="R4524bbdd2be74179" /><Relationship Type="http://schemas.openxmlformats.org/officeDocument/2006/relationships/slide" Target="/ppt/slides/slide22.xml" Id="R447b2860a5214d90" /><Relationship Type="http://schemas.openxmlformats.org/officeDocument/2006/relationships/slide" Target="/ppt/slides/slide23.xml" Id="R423d82f930894519" /><Relationship Type="http://schemas.openxmlformats.org/officeDocument/2006/relationships/slide" Target="/ppt/slides/slide24.xml" Id="R19c0e5820dfd4ecc" /><Relationship Type="http://schemas.openxmlformats.org/officeDocument/2006/relationships/slide" Target="/ppt/slides/slide25.xml" Id="Ra9ff63b3e4234b63" /><Relationship Type="http://schemas.openxmlformats.org/officeDocument/2006/relationships/slide" Target="/ppt/slides/slide26.xml" Id="R98d1d3b70bf74cff" /><Relationship Type="http://schemas.openxmlformats.org/officeDocument/2006/relationships/slide" Target="/ppt/slides/slide27.xml" Id="Rf45c91722c26497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782563a8cf42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e159d027954f07" /><Relationship Type="http://schemas.openxmlformats.org/officeDocument/2006/relationships/notesMaster" Target="/ppt/notesMasters/notesMaster1.xml" Id="R24839f50586744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56fd903cc8841b2" /><Relationship Type="http://schemas.openxmlformats.org/officeDocument/2006/relationships/notesMaster" Target="/ppt/notesMasters/notesMaster1.xml" Id="R8cc0ad7c91c241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b2086f53154022" /><Relationship Type="http://schemas.openxmlformats.org/officeDocument/2006/relationships/notesMaster" Target="/ppt/notesMasters/notesMaster1.xml" Id="Rcb543cbe3b594a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7d1482bae4b4c3c" /><Relationship Type="http://schemas.openxmlformats.org/officeDocument/2006/relationships/notesMaster" Target="/ppt/notesMasters/notesMaster1.xml" Id="R76068fbd2a344f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a252654bcb47d5" /><Relationship Type="http://schemas.openxmlformats.org/officeDocument/2006/relationships/notesMaster" Target="/ppt/notesMasters/notesMaster1.xml" Id="Rc6c0baa3d2974a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fca9fcb6c04dd7" /><Relationship Type="http://schemas.openxmlformats.org/officeDocument/2006/relationships/notesMaster" Target="/ppt/notesMasters/notesMaster1.xml" Id="R6a49808f3c004f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56b76de006e485a" /><Relationship Type="http://schemas.openxmlformats.org/officeDocument/2006/relationships/notesMaster" Target="/ppt/notesMasters/notesMaster1.xml" Id="Rfa76e00ae1904d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f74698b79d94d0f" /><Relationship Type="http://schemas.openxmlformats.org/officeDocument/2006/relationships/notesMaster" Target="/ppt/notesMasters/notesMaster1.xml" Id="R702176665e9c494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55f07781164aa3" /><Relationship Type="http://schemas.openxmlformats.org/officeDocument/2006/relationships/notesMaster" Target="/ppt/notesMasters/notesMaster1.xml" Id="Rd5f46b40380d429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65d81404fd47a8" /><Relationship Type="http://schemas.openxmlformats.org/officeDocument/2006/relationships/notesMaster" Target="/ppt/notesMasters/notesMaster1.xml" Id="R92c2ae3725d546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760a5dd807d439a" /><Relationship Type="http://schemas.openxmlformats.org/officeDocument/2006/relationships/notesMaster" Target="/ppt/notesMasters/notesMaster1.xml" Id="Re4542870d3ce42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e95ef8ba22843d7" /><Relationship Type="http://schemas.openxmlformats.org/officeDocument/2006/relationships/notesMaster" Target="/ppt/notesMasters/notesMaster1.xml" Id="R528b3e0bf10b49f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058f7f275cb4a2b" /><Relationship Type="http://schemas.openxmlformats.org/officeDocument/2006/relationships/notesMaster" Target="/ppt/notesMasters/notesMaster1.xml" Id="R51efa6b4e34949c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375805e3d8445ea" /><Relationship Type="http://schemas.openxmlformats.org/officeDocument/2006/relationships/notesMaster" Target="/ppt/notesMasters/notesMaster1.xml" Id="R4ac1752e2e8941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9eac2c9c98d42d0" /><Relationship Type="http://schemas.openxmlformats.org/officeDocument/2006/relationships/notesMaster" Target="/ppt/notesMasters/notesMaster1.xml" Id="R5f51fd6cbf474a7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2924bf6719f4dc3" /><Relationship Type="http://schemas.openxmlformats.org/officeDocument/2006/relationships/notesMaster" Target="/ppt/notesMasters/notesMaster1.xml" Id="Rb8ed83df793b42a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66b1d090bc24635" /><Relationship Type="http://schemas.openxmlformats.org/officeDocument/2006/relationships/notesMaster" Target="/ppt/notesMasters/notesMaster1.xml" Id="Rb42aa8b82e0f4e2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6f7ee68c8aa412d" /><Relationship Type="http://schemas.openxmlformats.org/officeDocument/2006/relationships/notesMaster" Target="/ppt/notesMasters/notesMaster1.xml" Id="Rf6c8a5787c164e0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8ee76f769674487" /><Relationship Type="http://schemas.openxmlformats.org/officeDocument/2006/relationships/notesMaster" Target="/ppt/notesMasters/notesMaster1.xml" Id="R9c38218e8f8f4bf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8abbd41799a4e36" /><Relationship Type="http://schemas.openxmlformats.org/officeDocument/2006/relationships/notesMaster" Target="/ppt/notesMasters/notesMaster1.xml" Id="Rec7c57314147498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46f6cdc2bf5408d" /><Relationship Type="http://schemas.openxmlformats.org/officeDocument/2006/relationships/notesMaster" Target="/ppt/notesMasters/notesMaster1.xml" Id="Ra0dd38c5a89641a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9470c91776c4031" /><Relationship Type="http://schemas.openxmlformats.org/officeDocument/2006/relationships/notesMaster" Target="/ppt/notesMasters/notesMaster1.xml" Id="Rec79a1624607456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2aaa83e086f4e93" /><Relationship Type="http://schemas.openxmlformats.org/officeDocument/2006/relationships/notesMaster" Target="/ppt/notesMasters/notesMaster1.xml" Id="R62771f08135c44a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e13f6f6f18d4b6c" /><Relationship Type="http://schemas.openxmlformats.org/officeDocument/2006/relationships/notesMaster" Target="/ppt/notesMasters/notesMaster1.xml" Id="R08570cbcb7de4c9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fb70d8ca6054c9f" /><Relationship Type="http://schemas.openxmlformats.org/officeDocument/2006/relationships/notesMaster" Target="/ppt/notesMasters/notesMaster1.xml" Id="R2f282200758546a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c1b6fcce6534256" /><Relationship Type="http://schemas.openxmlformats.org/officeDocument/2006/relationships/notesMaster" Target="/ppt/notesMasters/notesMaster1.xml" Id="R2f12a8f53f1842f5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94a28966f317474c" /><Relationship Type="http://schemas.openxmlformats.org/officeDocument/2006/relationships/notesMaster" Target="/ppt/notesMasters/notesMaster1.xml" Id="R2281808e4abe4b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開場先建立課程目標：這堂不是要背指令，而是要理解容器為什麼存在，然後親手跑起第一個 Web 伺服器。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讓學生知道節奏：先概念、再安裝、最後跑 Nginx。每一段都應該搭配現場操作或檢查。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用講義的搬家比喻或自己的部署經驗帶入。重點是 Docker 不只是方便，而是降低環境差異造成的部署失敗。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不要過度深入 Linux kernel；初學者只要記住容器不是 VM，它共用主機核心，所以比較輕、比較快。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堂概念題 Q1。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這頁很適合補充 Apple Silicon 的案例。講義的目標學生使用 Windows，因此課堂上不會是主要問題，但實務上一定要知道。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堂概念題 Q3。答案是 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避免把 Docker 講成銀彈。這頁是建立工程判斷：Docker 優點大，但使用時要知道代價。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這是後面所有指令的核心模型。docker pull 對 Image，docker run 產生 Container。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堂概念題 Q2 與 Q4。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這頁可以請學生現場打開工作管理員看虛擬化狀態。先排除環境問題，後面實作會順很多。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 WSL 2 平常不用手動啟動，Docker Desktop 啟動時會自己使用它。遇到卡住時再用 wsl --shutdown。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這頁幫學生建立 GUI 與 CLI 的定位。GUI 不是不能用，但課程要培養能在伺服器與 CI/CD 中工作的能力。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hello-world 是第一個完整 Docker 流程，雖然看起來簡單，但已經包含 pull、create、start、stop。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這頁先鋪陳後面 Dockerfile 的 build cache。今天只需要學生理解 Image 不是一個大檔案，而是分層。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這頁重點是養成查 Docker Hub 官方文件的習慣。不同 Image 的環境變數、路徑、啟動方式都不一樣。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 rmi 會失敗的常見原因：還有 container 使用該 Image，不管 container 是執行中或停止狀態。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堂實作題 P1。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不要花太多時間講 Nginx 歷史，重點是它在正式上線架構中常站在後端應用前面。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這頁是防止初學者誤解 localhost。正式上線還需要網域、憑證、部署和長時間運行的伺服器。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 -p 和 -v 都是主機:容器。Windows 路徑使用 -v 時要用雙引號，這在後續 Volume 會很重要。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這頁建議現場直接執行。先讓學生理解每個參數，再貼上完整指令。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如果看不到頁面，優先檢查 Docker Desktop 是否正在執行、容器是否 Up、8080 port 是否被其他程式佔用。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Nginx image 使用 sh 而不是 bash。這裡讓學生知道容器可以進去看，但它的檔案系統和 Windows 是分開的。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堂實作題 P2。也對應 docker-course-examples/session-01-basics/p2-nginx-custom-page。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這頁收斂成日常排查流程。初學者最常見問題是容器名稱重複、port 被佔用、Image 刪不掉。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練習題來自 exercises.md 第 1 堂實作題 P3 與挑戰題 C1。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d388fb3b7e48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70acac3edb4e34" /><Relationship Type="http://schemas.openxmlformats.org/officeDocument/2006/relationships/slideLayout" Target="/ppt/slideLayouts/slideLayout1.xml" Id="Re56b90e3d4544c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6b90e3d4544c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d1661c1b04e38" /><Relationship Type="http://schemas.openxmlformats.org/officeDocument/2006/relationships/image" Target="/ppt/media/image.png" Id="R12c4a6b3dbc845f2" /><Relationship Type="http://schemas.openxmlformats.org/officeDocument/2006/relationships/notesSlide" Target="/ppt/notesSlides/notesSlide1.xml" Id="R8c0a1367132f4e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4f3e5328274d44" /><Relationship Type="http://schemas.openxmlformats.org/officeDocument/2006/relationships/notesSlide" Target="/ppt/notesSlides/notesSlide2.xml" Id="R7ecf49231e9c40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9e73720df4f99" /><Relationship Type="http://schemas.openxmlformats.org/officeDocument/2006/relationships/notesSlide" Target="/ppt/notesSlides/notesSlide3.xml" Id="Rbb022d778cac411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0278d55014c24" /><Relationship Type="http://schemas.openxmlformats.org/officeDocument/2006/relationships/notesSlide" Target="/ppt/notesSlides/notesSlide4.xml" Id="R2823e1c3413146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0ea57b36e493a" /><Relationship Type="http://schemas.openxmlformats.org/officeDocument/2006/relationships/notesSlide" Target="/ppt/notesSlides/notesSlide5.xml" Id="R03374c5b396245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957ebc96145cc" /><Relationship Type="http://schemas.openxmlformats.org/officeDocument/2006/relationships/notesSlide" Target="/ppt/notesSlides/notesSlide6.xml" Id="Re1f9b3efd58c41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42e874cc614321" /><Relationship Type="http://schemas.openxmlformats.org/officeDocument/2006/relationships/notesSlide" Target="/ppt/notesSlides/notesSlide7.xml" Id="R649ec159650d42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edc1fcd7304b89" /><Relationship Type="http://schemas.openxmlformats.org/officeDocument/2006/relationships/notesSlide" Target="/ppt/notesSlides/notesSlide8.xml" Id="Rdc6bf26f91004a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13b19580564020" /><Relationship Type="http://schemas.openxmlformats.org/officeDocument/2006/relationships/image" Target="/ppt/media/image2.png" Id="Raa8b74676f6740c9" /><Relationship Type="http://schemas.openxmlformats.org/officeDocument/2006/relationships/notesSlide" Target="/ppt/notesSlides/notesSlide9.xml" Id="R937b9a6a62494dd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2147135f84f4a" /><Relationship Type="http://schemas.openxmlformats.org/officeDocument/2006/relationships/notesSlide" Target="/ppt/notesSlides/notesSlide10.xml" Id="R04966e71317346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53d8c288d44d0a" /><Relationship Type="http://schemas.openxmlformats.org/officeDocument/2006/relationships/notesSlide" Target="/ppt/notesSlides/notesSlide11.xml" Id="R92a9dd98e1094cf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e29068641a4745" /><Relationship Type="http://schemas.openxmlformats.org/officeDocument/2006/relationships/notesSlide" Target="/ppt/notesSlides/notesSlide12.xml" Id="Rea1f43f41bb14fa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c3eae4d7c34c6a" /><Relationship Type="http://schemas.openxmlformats.org/officeDocument/2006/relationships/notesSlide" Target="/ppt/notesSlides/notesSlide13.xml" Id="R8630af975102473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b17e821794c8d" /><Relationship Type="http://schemas.openxmlformats.org/officeDocument/2006/relationships/notesSlide" Target="/ppt/notesSlides/notesSlide14.xml" Id="Raed78f25e229403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f1c76ee8248e3" /><Relationship Type="http://schemas.openxmlformats.org/officeDocument/2006/relationships/notesSlide" Target="/ppt/notesSlides/notesSlide15.xml" Id="R196040cda3ba4e6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9f651b3f84fec" /><Relationship Type="http://schemas.openxmlformats.org/officeDocument/2006/relationships/notesSlide" Target="/ppt/notesSlides/notesSlide16.xml" Id="R1183e59a27014d5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5bfb2b1f740ce" /><Relationship Type="http://schemas.openxmlformats.org/officeDocument/2006/relationships/notesSlide" Target="/ppt/notesSlides/notesSlide17.xml" Id="R2416b9c7e8ec4ce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1f0479a2d7471d" /><Relationship Type="http://schemas.openxmlformats.org/officeDocument/2006/relationships/notesSlide" Target="/ppt/notesSlides/notesSlide18.xml" Id="Rea151a32866d403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35f2851544769" /><Relationship Type="http://schemas.openxmlformats.org/officeDocument/2006/relationships/notesSlide" Target="/ppt/notesSlides/notesSlide19.xml" Id="R57fe4407337e4ec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ebe4322dff40fc" /><Relationship Type="http://schemas.openxmlformats.org/officeDocument/2006/relationships/notesSlide" Target="/ppt/notesSlides/notesSlide20.xml" Id="Rf284ca8f22884e2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eb9fa576e2418f" /><Relationship Type="http://schemas.openxmlformats.org/officeDocument/2006/relationships/notesSlide" Target="/ppt/notesSlides/notesSlide21.xml" Id="Re51f13c7381c4cf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0e04f60ca4d7a" /><Relationship Type="http://schemas.openxmlformats.org/officeDocument/2006/relationships/notesSlide" Target="/ppt/notesSlides/notesSlide22.xml" Id="Rb4156bea78514da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2a291cb8f74160" /><Relationship Type="http://schemas.openxmlformats.org/officeDocument/2006/relationships/notesSlide" Target="/ppt/notesSlides/notesSlide23.xml" Id="R19b9beffadb5428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dc6b37c1a64126" /><Relationship Type="http://schemas.openxmlformats.org/officeDocument/2006/relationships/notesSlide" Target="/ppt/notesSlides/notesSlide24.xml" Id="Rf5c12425451d4eb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8c484816984d17" /><Relationship Type="http://schemas.openxmlformats.org/officeDocument/2006/relationships/notesSlide" Target="/ppt/notesSlides/notesSlide25.xml" Id="Rffda7b6fdd6b465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f954807f7644b1" /><Relationship Type="http://schemas.openxmlformats.org/officeDocument/2006/relationships/notesSlide" Target="/ppt/notesSlides/notesSlide26.xml" Id="Rd21ced9e708c40d3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6b77e18cbd43af" /><Relationship Type="http://schemas.openxmlformats.org/officeDocument/2006/relationships/notesSlide" Target="/ppt/notesSlides/notesSlide27.xml" Id="Rce72787e2c6c4d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D23777-F608-4017-85DF-390B9022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c4a6b3dbc845f2"/>
          <a:srcRect xmlns:a="http://schemas.openxmlformats.org/drawingml/2006/main" l="20297" t="0" r="202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53000" y="0"/>
            <a:ext cx="7239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F32A5-982A-455A-BC87-3A135014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3000">
                <a:srgbClr val="07111F">
                  <a:alpha val="96000"/>
                </a:srgbClr>
              </a:gs>
              <a:gs pos="63000">
                <a:srgbClr val="07111F">
                  <a:alpha val="46000"/>
                </a:srgbClr>
              </a:gs>
              <a:gs pos="100000">
                <a:srgbClr val="07111F">
                  <a:alpha val="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F62570-EEA7-4468-8A63-E53856FE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-857250"/>
            <a:ext cx="3905250" cy="390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2A4E2-1049-400F-A9D4-88D99B3B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95750"/>
            <a:ext cx="32385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>
              <a:alpha val="1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3D126-174C-4501-845F-29808061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095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AB8BE0-FF95-4D44-BDAD-0ED31AC1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18 小時 Docker 基礎教學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6EE50-8276-400A-AEE2-6D0B7882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71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概念、安裝與第一個容器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26B9C0-6BBF-4CE3-831F-5CE34DF8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第 1 堂 | Windows + WSL 2 + Docker Desktop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821FAE-B4C3-42E2-A11C-99D9F38A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7810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7F2F65-37F3-417A-B535-F845695F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今天完成：知道 Docker 解決什麼問題、完成安裝檢查、用一行指令跑起 Nginx。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93427D-B398-4D45-8EC5-65EA6B3A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session1.md</a:t>
            </a:r>
          </a:p>
        </p:txBody>
      </p:sp>
    </p:spTree>
    <p:extLst>
      <p:ext uri="{BB962C8B-B14F-4D97-AF65-F5344CB8AC3E}">
        <p14:creationId xmlns:p14="http://schemas.microsoft.com/office/powerpoint/2010/main" val="12116490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F6B009-6CE0-4592-BBE1-A32006B7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A07351-4B51-47EB-8F83-5A9B74A9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三小時學習地圖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11866-73F3-41E7-9C53-34467629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E6FF67-4E97-4485-8251-198E6FBA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4819C-FE3F-4F7F-951C-62A0A13D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0B442-EF46-46EE-BF36-B25AE9C6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概念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B43EAF-590D-42FB-B639-805445F60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04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可攜、隔離、一致；理解容器比 VM 輕量在哪裡。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5649E-76FE-4C20-9B11-615770D8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785D7-6A51-4D81-AC38-945578D3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52925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504548-3577-4DBE-9123-D04BD35C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D29ED-23A1-4C52-B9F5-4A753DB6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07969D-8388-45D8-9D54-C6249687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B2FB8F-FC6E-4A2D-A8D6-70945738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0510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安裝環境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2681C8-5FF4-40F8-B1DB-2EC7A270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004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Windows、WSL 2、Docker Desktop，並跑過 hello-world。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95F6AC-5D7E-4447-9C2D-D506A63B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60F38B-B110-45A5-A343-BECB5AC2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52925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03767B-DA35-46B7-AFBF-72ED5FF2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EFDD2-623D-4032-BD42-7FF047E1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43427F-E3D0-4816-9D60-39F2DE77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AA20BD-A768-4B3B-93C3-4687865E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0510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第一個容器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330FA5-947A-4D80-9068-07E1C9FE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004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Docker Hub 拉 Nginx，透過 port mapping 在瀏覽器看到結果。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2F6B77-324C-4C09-B73A-D067ECC6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0DEC3B-E0A3-4E94-86F7-3E866655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52925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53EC1A-1D3B-40D1-BAF6-4919F017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每一段都會先講概念，再進到可執行的命令列操作。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795D74-E872-4D6E-BD3D-42C32810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5B13B8-D010-4525-82A1-05A0CD8E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97AA0F-818E-4B33-A597-9F3FAEE0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675973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21CBB5-812B-4316-8B29-64A4AA56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DOCKER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A4EA0B-3CA4-442F-8DF4-2187DC98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解決的是「環境不一致」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810321-BFB7-4A7D-8AC1-B6CB3368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4095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850176-3334-4F6B-98C0-41115140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383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C0050-9878-420A-B938-9FA86D46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28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Python 版本不同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6AE636-4F00-42A7-BC3C-E7052BA4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86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系統套件缺少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3BBA90-A24C-4AD0-9F3B-DC60E78E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433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設定檔漏改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5C5983-37E9-4E90-853F-8316408E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本機能跑，上線失敗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BF1A48-DD28-4117-B2FD-14C6F1AB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90850"/>
            <a:ext cx="1066800" cy="495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F1CFFC-D33D-444D-9597-76AC619B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14500"/>
            <a:ext cx="4095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C3EEA0-2A45-4342-82E5-716D7E3C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383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的做法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492D7-D359-48CF-95D7-0C49875B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24150"/>
            <a:ext cx="3238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把應用程式、套件、設定與執行環境一起打包成 Image，再用同一份 Image 建立 Container。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2F684C-7B50-446C-A740-571EA91A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91000"/>
            <a:ext cx="2628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668170-6618-4470-AD21-5AB148B8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238625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同一包，到哪裡都用同一種方式跑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BC7B3-DF1E-4088-A2C0-3A4F4AD5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63CFD8-9C8B-4D74-8420-0C3FC21B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F2FB0C-4458-4FBF-8E09-65CB500B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06313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3B5832-6BDD-4615-ACF0-9652360B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ARCHITECTURE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55BF0E-BB3F-4B58-B7A7-093ABE40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三種部署模型差在哪裡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7AE030-3DD3-4335-9B41-CF8B7D3B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9F8DD-B46E-4D6D-AD52-9F7BDAAD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7810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B6036D-7279-4683-9C56-0D5851CE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389AA-8AD2-459C-AE2C-EFEB0660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28900"/>
            <a:ext cx="32385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72232-5A63-4E4E-A704-92CC2542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038350"/>
            <a:ext cx="7810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9AAECC-E7E0-4278-8058-1CFFFA11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2288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16EE0D-77A7-4CCD-B992-33F8BD85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628900"/>
            <a:ext cx="32385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6ADA5-CAA5-417C-A31A-718C18F9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38350"/>
            <a:ext cx="7810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533F5B-9E15-4268-8FF5-4C20C418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2288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A5669-A4F4-44C8-B492-A48E9526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28900"/>
            <a:ext cx="32385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B8DED0-7EEA-4A8B-A1A0-98C2BFB3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26289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89816D-AC1F-487F-9E01-8176DCFA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71800"/>
            <a:ext cx="2171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Bins / Libs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8F938F-B3B5-4BFF-8BA5-FD39B2B5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71850"/>
            <a:ext cx="217170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E1DE24-3AAD-4D76-B2EE-A197E374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26289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913A7D-E767-4A61-93FF-BFB347DA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95700"/>
            <a:ext cx="2171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D4517C-202B-4B9A-97B6-0C93EDEF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217170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B3A657-027D-47E7-9810-38D4BFB5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26289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437FB8-EA86-4199-A77D-00DD432E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19600"/>
            <a:ext cx="2171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3B800C-5F60-4594-87BF-5A00395C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9650"/>
            <a:ext cx="217170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C5990E-E998-4D77-86C0-8B896EBC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57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App 直接共用 OS 與函式庫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933BBF-19A7-4515-9226-30690F4F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97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C2410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EEBE2F-C07F-4AAB-95F9-7E3D3F85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673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隔離性弱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ECB317-4C87-42B3-93A8-6DB72C37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04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部署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3AEB42-4D3A-42F1-8411-DFAADE79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38350"/>
            <a:ext cx="1066800" cy="12573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FFAB6B-C326-4C9D-899C-153981AF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2885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B3D20A-AA97-4FDA-BD16-A64B2F59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2890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978240-973A-4956-BCCF-129429F1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8350"/>
            <a:ext cx="1066800" cy="12573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553E-C768-4132-98D5-05F84307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2885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C75ED2-CD5A-43ED-AD8A-54235208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2890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A9C322-4557-48A3-BD0D-02233AE2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24765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F29B15-4022-4878-A96A-8EB58C78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95700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Hypervisor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A7756F-D40D-46A3-82F9-73C34A6F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95750"/>
            <a:ext cx="201930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5E4E59-862E-4CF8-BAB5-F6104C66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171950"/>
            <a:ext cx="24765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6F9C70-043E-467D-949D-AFDB7C6B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62450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B71B9C-9835-42C9-9A82-8A047A6F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62500"/>
            <a:ext cx="201930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ED601F-AB96-4FE7-AA85-E6B98FF9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57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每台 VM 都有完整 Guest OS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B176AB-7CAE-4E2C-8B80-D3956FD8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6197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338C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CBAD08-8635-4BD5-9376-98BDFB51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6673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4338C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38CA"/>
                </a:solidFill>
                <a:latin typeface="Aptos"/>
                <a:ea typeface="Aptos"/>
                <a:cs typeface="Aptos"/>
              </a:rPr>
              <a:t>隔離強但重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49200B-6B30-41C4-A8D8-0E9AFB32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504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容器化部署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91ADF2-1749-4163-83AC-2997D915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38350"/>
            <a:ext cx="819150" cy="9334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185196F-2672-48FE-A3F4-2DA8F5EF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28850"/>
            <a:ext cx="36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931204-FE8C-4299-A856-3E01FB90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28900"/>
            <a:ext cx="361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29C7E6-8E1D-4037-957E-0BCFA49E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38350"/>
            <a:ext cx="819150" cy="9334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50BCD0-A927-46B0-8243-ACBAC235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28850"/>
            <a:ext cx="36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7F22707-3138-4A5E-B21D-E3ABEF60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28900"/>
            <a:ext cx="361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FF06AD8-E146-4B4E-A2D5-2D1AF600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38350"/>
            <a:ext cx="819150" cy="9334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BCDC8C7-DA26-4098-ACC3-D5068540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228850"/>
            <a:ext cx="36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578FFD-959C-4D2D-9206-F957E05F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628900"/>
            <a:ext cx="361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E106F9A-75B2-40CF-9A10-D27ADEB2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57550"/>
            <a:ext cx="26860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390672-DD08-46C4-AC52-6158845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48050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9106112-322C-4007-B3B3-32002B7E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48100"/>
            <a:ext cx="222885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8B6AF89-FB0E-453E-A2FB-3DECEC74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24300"/>
            <a:ext cx="26860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3CA520B-D1FB-4AA1-AA7E-DB1B7075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14800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B55ED62-12E4-4B2A-8E33-B046AB6C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14850"/>
            <a:ext cx="222885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BB278A2-8AA1-458C-8D6A-276060A3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91050"/>
            <a:ext cx="26860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CC42C7E-6677-4B4A-81B3-59A9F4B9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CC3E4EA-31CB-45F7-A129-FABB4D8F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181600"/>
            <a:ext cx="2228850" cy="-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40C18F-E621-43E0-AF22-1E2DC42A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57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容器共用 Host OS 核心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0BC4521-0F35-470A-A77F-D629FB40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6197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AEA57E3-B7BB-4163-BA4B-D4C86372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6673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秒級啟動、資源少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BA67FD7-0747-44AA-9B01-1CC59EE7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B2D7B1A-54D5-4BBA-85BD-6E412B97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ED1BDB-A287-4371-844E-0CA886A8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545142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28DE1D-1331-4290-A2FA-07AB3689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5508DC-817C-4CEA-90E5-53989CC1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1：Container 和 VM 差在哪？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F2D77-17F0-4B2B-B6A1-7CFD9DA6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3815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818CF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0838D-E0FC-4690-9AB8-00370B7E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00250"/>
            <a:ext cx="392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rPr>
              <a:t>VM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4AD2E-913B-4860-9782-53EF1695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00300"/>
            <a:ext cx="39243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每台 VM 都有完整 Guest OS。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隔離強，但啟動慢、資源佔用高。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12A17-2D1D-4C45-861C-CE3B511E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3815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89229-B87D-4177-9FBF-674A2116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0250"/>
            <a:ext cx="392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58A57-324A-4BD4-BE88-E7B11A3C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39243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共用主機 OS 核心。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程序級隔離，啟動快、資源少。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44001F-4DEE-4DFA-A234-7FECC9E3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57750"/>
            <a:ext cx="8267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3BA612-E62F-4A38-B18D-623F263F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067300"/>
            <a:ext cx="765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回答目標：能說出「共用核心、不跑完整 OS、所以更快更輕」。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1E4261-DFB0-4EEC-BF46-CDF60A2A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E24150-8610-48B1-A1B9-F7DD6B29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C64108-E296-4716-B0D7-C4104130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677333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08340E-3604-4ED0-9B94-EAC05BAC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CORE PROMISE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00046-58EA-43C0-8811-38946B72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的三個承諾，以及一個現實限制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1CAD4-BBBE-4980-B86E-9D833738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CB0DB-6EB0-4805-AF87-119739B2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可攜性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1EB7F6-62D1-4CD4-86E4-40EAB660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09800"/>
            <a:ext cx="2781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打包成 Image 後，只要有 Docker 就能用同一種方式運行。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E3F679-B153-4555-82B4-94B30EA0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36858C-7924-4480-98FC-99329724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隔離性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A4EA42-B27E-45EC-9F9D-96258B18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9800"/>
            <a:ext cx="2781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不同應用各自待在容器裡，降低版本與套件互相干擾。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C7B337-09B4-4CDB-950B-F790520F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19250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FE2369-EE4D-4AF7-84ED-C8363ED0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一致性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D0644-A390-4311-B829-1FEB1E25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09800"/>
            <a:ext cx="2781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開發、測試、部署都用同一份環境，減少本機正常、上線失敗。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72542C-74D2-486E-98E9-2ABCD6C4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62450"/>
            <a:ext cx="8991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8001D9-F0ED-4B6F-90E2-7D94A5B3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59105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現實限制：CPU 架構仍然會影響 Image 能不能直接跑。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E271DC-3856-44BC-B292-F5157508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95300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amd64 與 arm64 的機器碼不同；Mac Apple Silicon 建構的 Image 要特別注意目標平台。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EF7B81-9857-431F-83AE-23ADAF7A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CEBC75-9A71-458B-9297-33A2DB14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5014D-C824-4C2A-8438-A9BEFBDA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479811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1B4708-D5C5-4DD2-918C-C1ABED41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6E54B-DDF4-4797-AF31-AA5D39B2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概念快問 2：哪個情況一致性不成立？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92CFB4-3B62-4D15-B6F4-99F03723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431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E6E406-71D2-4314-BBF6-213F0492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980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300" b="1">
                <a:solidFill>
                  <a:srgbClr val="00A97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0A97F"/>
                </a:solidFill>
                <a:latin typeface="Aptos Display"/>
                <a:ea typeface="Aptos Display"/>
                <a:cs typeface="Aptos Display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F5C5E7-3E1F-4421-9467-224E6C5A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36220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94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Windows amd64 build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放到 Linux amd64 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ABBFF-4399-4294-8E9C-290E508B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409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0A97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97F"/>
                </a:solidFill>
                <a:latin typeface="Aptos"/>
                <a:ea typeface="Aptos"/>
                <a:cs typeface="Aptos"/>
              </a:rPr>
              <a:t>可行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BB777-94F3-45A1-A8DD-9524A3FD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431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281116-6907-4392-A77F-2401E5F4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20980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30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EE7BBC-D8DD-44DB-8DD7-82D7206F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36220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4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Mac M2 arm64 build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放到 Windows amd64 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6C9DA9-8AFD-43A7-B8AB-D966955E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409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1776B-E324-4C8B-8C0B-7B228ED1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431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B8740-02C1-4DDC-ACD8-E409FE95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0980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300" b="1">
                <a:solidFill>
                  <a:srgbClr val="00A97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0A97F"/>
                </a:solidFill>
                <a:latin typeface="Aptos Display"/>
                <a:ea typeface="Aptos Display"/>
                <a:cs typeface="Aptos Display"/>
              </a:rPr>
              <a:t>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B2CE27-7170-4415-8F18-8E0D37F1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6220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28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Ubuntu amd64 build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放到 Ubuntu amd64 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2BD75E-42AE-4EB0-8D7F-64833224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409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0A97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97F"/>
                </a:solidFill>
                <a:latin typeface="Aptos"/>
                <a:ea typeface="Aptos"/>
                <a:cs typeface="Aptos"/>
              </a:rPr>
              <a:t>可行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584EFC-B5BC-4773-9783-7A06F929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435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抽象的是軟體環境，不會讓不同 CPU 指令集自動相容。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FAEB40-98C8-4E80-A4EA-D129194F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B3A7F1-2F6B-4694-9C35-FA84079C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E138C0-6BC0-4511-8D35-D4B54F57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868108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BF7C43-C4A1-482F-80C1-94B2CECB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BC6149-CFEB-4528-A5E7-4DE79C74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很實用，但不是萬能工具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7A7B2-708C-4A1A-A97E-9137D564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4A47A-5CE3-4C00-83E8-BCCAB906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學習曲線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7AD63D-3BF5-4C37-9EA0-CB033B74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431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Image、Container、Volume、Network 概念多。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BEBFB-DCE4-4535-8B96-C4191258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2D87AE-82F5-4BE7-A79D-707AC9F2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安全性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FFB005-CF20-41E2-A853-7438559F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容器隔離不是完整 VM，預設 root 也要留意。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99982-32EB-431A-B484-3C56B695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145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8BADE-6C7E-43B4-ACA7-D4475D4B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有狀態服務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EE440-E8B2-43AF-9E56-E4814C33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431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資料庫需要持久化與備份，正式環境常用託管服務。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2395C-5C1F-49E9-8EF2-4219A449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481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FD7F37-0F08-4845-8C0A-F5F4C93C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磁碟空間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A75EA2-A09A-4AFC-BB57-418FD859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767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/ Container 會越積越多，需要定期清理。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EDD718-CC67-4AF8-B609-686AA314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EA0C03-D34A-4D1C-B3B0-75458721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除錯複雜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7806BD-F244-428B-8783-530BE1DF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767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網路、log、跨容器問題需要工具與流程。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657373-CF5D-437D-B34A-9F9D256F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76900"/>
            <a:ext cx="956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重點不是避開 Docker，而是知道什麼問題要補上 Volume、權限、監控與清理流程。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B53CBD-505F-4608-8251-34E92756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3B8851-5C66-4046-83B3-4B4980C0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3960E5-C7D1-45BD-94CB-5FC401DF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181793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8F161E-F89E-43C7-9BFE-6583AAB5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BC0268-3B6C-4A67-88F5-ED9882DB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的三個核心名詞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8b74676f6740c9"/>
          <a:srcRect xmlns:a="http://schemas.openxmlformats.org/drawingml/2006/main" l="106" t="0" r="10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1504950"/>
            <a:ext cx="4762500" cy="2686050"/>
          </a:xfrm>
          <a:prstGeom xmlns:a="http://schemas.openxmlformats.org/drawingml/2006/main" prst="roundRect">
            <a:avLst>
              <a:gd name="adj" fmla="val 4965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CF23C-AF82-48D4-8FA3-9164C861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762500" cy="2686050"/>
          </a:xfrm>
          <a:prstGeom xmlns:a="http://schemas.openxmlformats.org/drawingml/2006/main" prst="roundRect">
            <a:avLst>
              <a:gd name="adj" fmla="val 4965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87D6B3-5032-4840-A4B8-5C530A8E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4191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AA1587-762B-4867-B7BD-4A3A8524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098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Registry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5DAA03-45C4-4D56-AA37-0E6C271D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2288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Hub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存放 Image 的倉庫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9F0F83-42F1-4BFB-B752-0A0EAA63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924175"/>
            <a:ext cx="361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B79D5-372A-43B8-8CCA-A66CBC2C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4191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425EE7-E663-4095-A50F-0C84A3B2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718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D6D3A-8F72-480D-B3EA-F3A6D800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9090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唯讀模板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包含程式與環境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73973C-F022-4A09-9A2B-E1771D28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86225"/>
            <a:ext cx="361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62EA80-0F90-4720-8B73-21F43FFD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4191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C66211-1AC3-4E7D-B878-721E25EF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5FACDC-87C9-402F-A6C1-F5E06298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529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跑起來後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正在執行的實體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C51B9A-5829-475D-85B2-79184081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19700"/>
            <a:ext cx="868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從 Registry 下載 Image，用 Image 啟動 Container。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6583B3-3E97-4665-99D0-FC84E537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A40B14-0E35-408D-8BC4-D584551A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E9CFE-B018-4CAB-81DC-8DDB8D88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917640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647509-A94C-40B4-9A3F-AE7CEB1D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3ADBA9-006A-4DCD-8D23-C0757F35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3：把 Docker 流程說出來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D03FC-AE75-482F-8EFC-8490DBED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44767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2685C8-948B-4DE3-B9E3-CB2AE365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09750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Q2：三者一句話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54C0C1-242A-48F0-8CCE-C2578EA3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09800"/>
            <a:ext cx="4019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從 Registry 下載 Image，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再用 Image 啟動 Container。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FE2263-5317-4CF1-8EAC-742C9D49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1925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A0DD79-802F-4EFB-9DFD-25C1DE84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Q4：hello-world 做了什麼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8FED6E-F780-4C52-AF67-653A0B83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209800"/>
            <a:ext cx="40195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找本機 Image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沒有就 pull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建立 Container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啟動並輸出訊息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5. 程式結束後停止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E50DBE-D484-4471-AA4E-DFC718E2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14900"/>
            <a:ext cx="89916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DC8BA2-C8EE-434F-882A-588C529D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886403-C896-4A6C-A733-D0AD1EB0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1596E-AAD0-4D6F-AFD8-676061E1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FE3521-8365-4039-82BD-7AA0B205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72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88C61D-FC84-4CDD-A95F-C2D87109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1A6E8C-83CE-4B61-8645-02526482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E3EA0-9677-4AF2-9A72-24255147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249952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A90A9F-CC0E-4688-9F64-4C55B1BF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SETUP CHECKLIST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AC74D-8593-415A-956F-FB597A82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安裝前先確認四件事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418761-2B0A-49BB-B13F-14B1C085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EEDEB-89FC-44BB-8DB5-B33F9B50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839CF0-1FB7-4644-BB41-17CD75C02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955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D9C98B-CA7E-4C25-8F71-9C62CFCE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9621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10/11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F5EEA2-5014-4F85-A557-CC446E79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622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64-bit，Windows 10 21H2 以上或 Windows 11。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F8FFE0-6028-4349-AADD-F390E43A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954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E830D-0538-4C7F-861B-BF3164D63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44EC2E-069B-475E-903A-2E172D7C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955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911082-A89E-4B92-9D99-10E21222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621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98CD6-8EA3-4F9A-A1E7-F83F5DF1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622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Desktop 在 Windows 上建議使用 WSL 2 後端。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D187A5-4A1C-4D5B-921A-E2E0BC95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528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B58670-9E09-4B25-AB98-0980011A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38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661189-7306-4C14-A9C3-63732A28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52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BE20F3-D18D-4FEE-96ED-27CD8D14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0195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至少 4 GB RAM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E81347-6824-4601-8663-A70D7DA0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196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 GB 電腦建議不要把超過 4 GB 分給 Docker。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29AABF-E314-4E93-ADF2-79CC7E7F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528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ACF997-9893-47E9-B55D-6FD828BF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38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C88DDE-1F8D-4CCE-84D4-DBE93C31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52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D8AC27-F9AE-44F2-89CD-63CD5721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195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虛擬化開啟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B8BBD1-1AEE-4017-A988-7A629218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196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工作管理員 &gt; 效能 &gt; CPU &gt; 虛擬化：已啟用。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C958AF-5857-4EE1-A391-D089CAB5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BBD437-61C2-4FB6-83C3-B23A4A80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FE4AB9-4222-412F-8D61-EFD7B66E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628104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969390-5E01-4FAC-8D63-D6EB1768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WINDOWS SUBSYSTEM FOR LINUX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A1C21-82D1-4866-8646-BF1EE684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 安裝流程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1A5176-881D-4BA4-B803-9F2A406A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62021-0E33-4A51-BFD4-1277D765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5B62F0-803B-42E4-9DFE-5EFDCE53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32EE0-4489-4E1D-B8D2-76C36DBF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管理員 PowerShell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181617-1E08-4189-A24A-ADA41558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右鍵以系統管理員身分執行。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36A342-B6AF-4B6E-B357-9EE53044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AF1CE-8985-445C-B5B9-A0D700D4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24CA93-E8BE-4832-BAFE-0EFCDF84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910E73-D086-4180-8283-32BA627F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--install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B7962C-67BA-4226-A849-D4F06337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啟用 WSL 與虛擬機平台，安裝 Ubuntu。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8FDFCB-C803-4DB8-9517-417E5C0C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90CB9D-BAFA-465E-88DA-8192E266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1C3371-E6B8-4968-8DD9-D91CE3B7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2C5ACF-E284-4FFC-9157-8922246C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重新開機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6957D7-D047-4647-B92A-C9DC84CB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 Windows 完成系統功能變更。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972D7-5321-43EC-880A-6C44178E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E2A867-6C37-44A7-9D7B-80D7B457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03E2A8-F74D-4F8D-9D47-EFE1C3B9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937E25-D99C-4B59-91D1-FB6DF9C7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設定 Ubuntu 使用者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04FED2-839F-43E2-AAC1-16812F60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使用小寫英文帳號；密碼輸入時不會顯示。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9C2D9F-B0E8-499D-979D-2D088266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425B39-3680-4DC8-B24C-4D24B887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D0BEDF-F4BC-4DF7-AAE6-93BD5335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 VERSION = 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48DDB3-5EA5-4EC7-896F-726BAAF8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wsl --list --verbose 檢查。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48F788-B726-407B-9E5B-0931A5A8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62500"/>
            <a:ext cx="76962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1DD982-849B-43B2-AAD4-1079B8FA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8C4C0C-E576-4FFE-A8D1-6A84F33E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DA4123-E70D-4B47-9150-CD52264F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2B7B1-3D74-44B1-B831-55EB0D89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181600"/>
            <a:ext cx="727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0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--install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--version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--list --verbose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--shutdown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59A061-7FC9-479C-A333-008BF53E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122047-0A6A-4531-B40A-D8A2480C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2B7A6C-3638-4659-913A-AD155F05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697354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EB9C72-86EC-4885-B1B5-7C8BBF3D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DESKTOP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E227A-84B6-4F1D-9E48-88A65992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Desktop 不只是 GUI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F207B9-FC5A-4920-871F-0796D5FE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954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06C14-B7A2-47FB-88FE-D70E962F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859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C7D58-3F50-4150-A27F-3BBF84C3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真正負責建立與執行容器的核心引擎。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61E796-92E2-4621-A5A7-4A054424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954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87C13-CB79-40A2-90EA-3D92987E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859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9CBE9-6A8B-4AD9-97E2-EC44E187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860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命令列工具；後面實作主要用它。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1A253D-DF37-4C8B-95DA-FF14B79B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480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E800DF-1471-4D77-B158-D2E927B1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28DF0-52ED-405D-86D3-E00940AB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386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多容器管理工具，後面課程會用。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BA8A30-F8BC-4B6F-BEE0-A41C68FB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480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A91C2-3200-496A-B03D-1DBC0F13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GUI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5114DF-CEC1-4747-AB6E-213B14E7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386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Containers、Images、Volumes 與資源設定。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9DAF96-B7FA-4B7B-862D-BD4D2FCC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19700"/>
            <a:ext cx="899160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B12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8F41A6-9B6D-4B6E-B03F-78909914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81625"/>
            <a:ext cx="842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建議：用 GUI 學概念，用 CLI 做操作。伺服器與 CI/CD 幾乎都靠指令。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793A1A-76D7-4694-853A-FCE5A4B7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0F584A-4E62-44DB-96BD-C644637F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CCCD77-567E-42A6-BDB3-0A4E64F5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414545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14FA96-C56B-42E5-8421-71C1B4D2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A3A269-969A-4AF5-AA30-5204763B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安裝成功的最小驗證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CCB3DF-2AA2-45AD-818F-AD87EF5F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4857750" cy="17145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59F1F-CD8A-4BB5-8C0D-40A92499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98560-50D9-4724-A3C5-0F2915F8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D53BEA-3D52-47AD-A537-43AFAE30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44242D-1E70-412E-9CFB-B7646B2E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33600"/>
            <a:ext cx="44386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--version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67CAFD-D0F2-4128-B75B-24AEF5C0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62A544-3C85-47DA-8C40-2358DA35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09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B91210-65F4-4CED-A2B3-4627DDAC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5430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本機找不到 hello-world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4A3B07-299F-4A60-BE6D-3C30ACD4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86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8FAABF-2379-4628-9275-79CB4D37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907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CE441-0215-42D6-8DC9-B949845E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241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自動從 Docker Hub 下載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4269AB-CCF2-42DA-8553-77EEF4B2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67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15F445-9F76-4A29-B286-424CD738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718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E87D2E-FAFE-458F-AF92-2FF81EB7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05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用 Image 建立 Container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975F8C-4DCD-4BD9-B655-1AACCE64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48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8D61D0-7AAB-4309-9CF3-3B2E3CBC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528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9D1987-C486-4263-8109-0C62D398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862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印出歡迎訊息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48148-43C8-443B-A44C-4781DB2C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E532C6-C958-4E1D-A4A5-6488FD63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339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E8C740-81F1-4495-B2EC-4782467B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6672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程式結束，Container 自動停止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C6CFFA-33D9-4C93-8A7C-0A1D0563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5BB718-D453-4366-8A60-FF4D9AAD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C3B678-71D0-4244-8FA7-113C7F69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2467192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937F1E-8BBC-465D-AB99-F5E36A24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0D7B1-E891-4AE6-B658-940D0E5C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是分層的唯讀模板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9C67B1-993A-48A5-A373-6752BD39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619250"/>
            <a:ext cx="6762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D6954-15C0-4108-B3DC-6C8BB0B0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78117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你的應用程式程式碼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2F83C-5C3D-4136-8F0C-F5D360C5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79070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最常變動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4C0BD-E4FE-447A-AEA9-823EE5C1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38400"/>
            <a:ext cx="6229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E940AF-A205-4AEB-A151-B89DCC9D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0032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pip install 安裝的套件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27625D-37D5-49D7-B928-637B7FDF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0985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依賴層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91DA60-0492-48E3-8E49-C7F47712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257550"/>
            <a:ext cx="56959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B49F2E-7F6D-4B65-B7CB-7BB01C8A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41947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Python 3.11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2A641-C4BF-4645-A47C-D94858B1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2900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執行環境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9F2ABB-B471-4065-B9AE-4344E70B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76700"/>
            <a:ext cx="5162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BF0CC7-95E7-4565-B21E-64FAC6AC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23862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Ubuntu / Alpine Linux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BF01F1-57D4-45DA-A395-C7012209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4815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基礎系統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DD3634-A196-4649-A2BE-A6CBC70E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34000"/>
            <a:ext cx="98679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62B0B1-3CBE-486D-9DAC-CFE65D73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76875"/>
            <a:ext cx="925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分層的好處：共用底層節省空間，只有變動的層需要重新下載或建構。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DAA610-29D4-4753-8E2F-305E87D3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C46CA4-D327-4F7A-B341-389FC9F6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158B77-E9CE-42D5-BCB2-00E6B864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1211533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ECC77D-5DD6-4A43-B585-BB70382C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AND TAGS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2CE4C7-31F4-40D3-BA6B-47DDA8DE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Hub 是 Image 的倉庫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54A974-F24C-4EBF-BFDE-80569900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3238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25314-94AC-49D4-ABF3-F2441AE4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搜尋官方映像檔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B4326-0AF9-4224-8E57-6733A772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09800"/>
            <a:ext cx="27813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搜尋 python、nginx、mysql 時，優先看官方映像檔與 Overview 文件。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F2E69-5E7A-4A34-87EB-7BAC0DBA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3238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B73CAC-1A41-4298-BE77-4215B00E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Tag 是版本標籤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0B120-7620-4716-9441-D0F1ECA2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09800"/>
            <a:ext cx="27813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python:3.11、python:3.11-slim、python:3.11-alpine 都是不同 tag。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B2299-5630-488E-BD1C-457BCD93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619250"/>
            <a:ext cx="3238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9B0D1C-A2A4-47C6-BB28-234224D2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不要依賴 latest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69505A-790A-4C58-8F13-F7D10584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09800"/>
            <a:ext cx="27813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生產環境應指定具體版本，避免某天重建時拿到不同內容。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475C0D-A5C2-46D7-B142-3CD6242D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95750"/>
            <a:ext cx="89535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D89E29-3309-4A06-8894-1C1A88FE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257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929C8-F7E1-4507-82C6-118CEC10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257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47F4DC-81B1-4216-8852-CC771462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57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4CD7AC-CD0F-43FC-9F31-330E4732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14850"/>
            <a:ext cx="8534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python:3.11          # 完整版，基於 Debian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python:3.11-slim     # 精簡版，移除不常用套件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python:3.11-alpine   # 超輕量，但可能有相容性問題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9D09AD-E5C3-40BA-BABB-E5B07704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83B340-38D9-4113-9F79-0E7C4060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2E9418-DF1F-481E-9AF7-823295DD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962093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9DC56D-058C-4622-A1B7-1DE6C3F1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991CB9-89EB-4CE4-8F06-95C3A158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今天先掌握四種 Image 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3F1CE-7D1F-4B5D-A75A-2D368541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5095875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BC04E-6B75-4AB8-AD4E-BB90B63E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FE2FFA-99A4-4E25-8DF7-DCC9B42A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0A033-8297-4079-8E2A-C6CDBC7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81F1D7-6507-4C84-9C83-497AD9DE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9300"/>
            <a:ext cx="4676775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拉取映像檔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查看本機映像檔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9FE56-CC23-4866-9C03-5C582464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00200"/>
            <a:ext cx="5095875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E5422-61D7-4074-9829-D790B171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6AFB1-6F0B-495D-93EB-DDCF2D3B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C009DC-887F-48EF-A591-6FF2056B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55AE8D-80BF-48EA-9B1F-5A304083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19300"/>
            <a:ext cx="4676775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搜尋映像檔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search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刪除映像檔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abc123def456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BBA69-79A7-403F-9FFA-B66886B5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4386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 輸出怎麼讀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6A8064-A59D-4001-8A1B-BFC82248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8577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8ED531-D773-4D2F-89FC-10797C77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577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1B343F-E5E1-4950-A7E4-9547CC03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1490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REPOSITORY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FBCA2F-4D03-4390-A80E-26D87E25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91490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映像檔名稱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8B0C08-61E8-4097-9BA6-ADCCF858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1816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2B5E4F-F103-4616-9CA2-0A930473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816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97CA2F-7D56-4B4A-98B1-8B9DC1DE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23875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0F9D03-1DF0-4330-9E24-6C5F7DBC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3875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版本標籤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A071A9-8DD4-4DD5-8861-5A6E08D9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5054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C63333-168A-4DAC-8979-EB5B343A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5054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C1B88A-88C9-4BC3-9346-0A6F3AC8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56260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 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B30AA9-85DE-4639-9F70-8725B9CB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56260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唯一識別碼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FA415E-93D0-4D2F-9B2B-E33996B7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8293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3D98DF-9118-4CE1-AB53-9E8E375E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8293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5169BC-1FD3-4718-A757-1097E044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88645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SIZE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D49EF0-04EB-4A63-9B7B-04DD0636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88645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映像檔大小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35FD8C-D018-40B7-8087-9872393D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59F1D6-7343-4001-8C43-FF5E8961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C12906-5B40-452C-B031-965FAC79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04657397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D00132-D554-43D1-B919-01B30868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4710F-1E13-4983-B407-54520F8A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P1：拉取並比較 Image 大小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4F64F-198D-41C8-B8FD-6A080023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24000"/>
            <a:ext cx="5905500" cy="2343150"/>
          </a:xfrm>
          <a:prstGeom xmlns:a="http://schemas.openxmlformats.org/drawingml/2006/main" prst="roundRect">
            <a:avLst>
              <a:gd name="adj" fmla="val 406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061BD-3FB3-4D04-AD2A-C3C3B2E4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389E0-3120-4574-B40F-44CBA405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90839-55CC-4684-93F0-D4559AC3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06171-E4C9-4FEA-BCD7-7867A9C7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5486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python:3.11-alpine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 | findstr python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AC68C7-65FE-4BBE-95D6-3936ECA6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57350"/>
            <a:ext cx="34290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FEB4B0-5BF2-4764-899D-482B1C49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7907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E7295-8194-427B-9357-E77883F6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0022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完整環境，體積最大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2AF311-A401-4463-89D1-580CCCA6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52700"/>
            <a:ext cx="34290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244723-9A0E-464F-907D-0123CFA7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860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771EC6-85DA-4D5B-B7D1-9D602731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95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1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精簡 Debian，常用折衷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155652-FA24-4B23-8A8F-FC464E95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34290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A197D3-B080-4828-B033-F8392536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814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python:3.11-alpine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34C94E-4C1C-43CB-83BC-F08BD6B0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9092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20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最小，但可能遇到相容性問題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49052D-43BC-4D88-8658-C5945D5C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14900"/>
            <a:ext cx="9029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18C841-3D15-4F7D-8121-D4F78A10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124450"/>
            <a:ext cx="842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完成標準：記錄三個 SIZE，並能說出為什麼 tag 不同，大小會差很多。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2D0645-7F38-40BF-B42B-CC59BD53D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7D1FE5-E56A-4676-A15D-A917356B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94CD2B-4A67-4DFF-BDA7-A9393AEA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9297452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40D1CD-CDA7-49AE-82CD-AF418B9E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NGINX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01B84-13CD-409D-8082-997BCC78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 Web 容器選 Nginx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4B6848-BB7F-4F08-AAB8-13E55F97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Nginx 是常見的 Web 伺服器，適合用來示範「一行指令架起網站服務」。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44D37-C80B-4973-A26E-C413CFF9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30861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3DE97-73A6-443C-8876-BC2770DD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84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靜態檔案伺服器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082FF-B72E-4DAC-85F9-0083BA4D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384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直接傳送 HTML、CSS、JS、圖片。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D39C5B-2286-42B6-BB40-27AB851F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30861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70D078-7DB6-47B2-8BB2-0A0F2B99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384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反向代理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DC8595-5018-4955-ABB6-BB527C7C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384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把外部請求轉發給 Flask / Django。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C79345-FFAD-4A07-BAF8-64717016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47900"/>
            <a:ext cx="30861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4C3A66-4B90-4F5E-B8A1-48B7D5A9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384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負載均衡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83A5C8-8D68-4E0C-B01B-97DD2E35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384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把大量請求分散到多台後端。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ADCA3-D156-43A4-AAE6-A4A7E0BB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38650"/>
            <a:ext cx="8191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B12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1CDC5D-0278-4538-BCF5-4A78B125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101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使用者 -&gt; Nginx (80/443) -&gt; Flask (5000)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53E42E-42DD-419E-9794-A51FD7AC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3C9ACF-57B5-477A-AB7E-7460A169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00B248-98AC-4340-8159-0B5B4526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971107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901BB1-F80C-4F4D-9C07-77D63BC7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LOCALHOST VS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7107D-1F8A-4E55-8556-A770616B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localhost 能跑，不代表網站已上線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A5414-B436-4567-AD0E-C41CF8F2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4381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72802-9953-453B-B9DC-CDE45321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812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0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CDBFD-7141-46FC-8095-F0CE798C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71750"/>
            <a:ext cx="342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`http://localhost:5000`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只有你自己的電腦能連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電腦關機服務就中斷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通常沒有 HTTPS 與正式防護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644A6C-EBCB-4B9C-B66F-BF462744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28950"/>
            <a:ext cx="9525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1F1D4-7F8A-4508-B12B-AB7A0A98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657350"/>
            <a:ext cx="4381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49FC39-BF76-4AC4-9A54-0A0AEBB0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0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正式上線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B9E6EA-E570-42DA-8EF2-EF0377DB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71750"/>
            <a:ext cx="342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網域與公開 IP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Web 伺服器處理流量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HTTPS 憑證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伺服器 24 小時不中斷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538B8E-1C20-42FD-83C8-9EA657D4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29250"/>
            <a:ext cx="925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這堂先把本機的 Nginx 跑起來，理解 Web 服務與 port mapping。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6A961F-FBC7-4FCA-99B4-54F7D8E7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333EAA-C88F-4609-BB7A-8C67B8A6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AC0DAD-C2E9-4178-BC87-CA262830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6791253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9B2343-247C-4793-B7F8-8913EFDB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HOST, CONTAINER, 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E0EC5-0946-4154-A5B4-0B94A5C5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宿主機和容器是隔離的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9AD0CA-FDE5-4708-BA4C-C0AD075F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0200"/>
            <a:ext cx="10058400" cy="3733800"/>
          </a:xfrm>
          <a:prstGeom xmlns:a="http://schemas.openxmlformats.org/drawingml/2006/main" prst="roundRect">
            <a:avLst>
              <a:gd name="adj" fmla="val 3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2E34D9-09F4-4C31-BED0-91B96016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9431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68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宿主機：你的 Windows 電腦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76A26-884A-4854-A394-5F4351F3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781300"/>
            <a:ext cx="2571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DBBDDC-B318-4A06-9A74-0070BFCD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95650"/>
            <a:ext cx="226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localhost:8080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B6BC11-D7C7-4D23-AE12-1416DEBB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276600"/>
            <a:ext cx="131445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9EC5F2-B3A7-4DE7-83E9-E7EF3E4B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38400"/>
            <a:ext cx="2800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B5DEE-D1D4-4ACA-A54C-79D9C061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24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容器：Nginx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1308A5-6EFE-48FB-AF74-CAD23DE3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337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1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80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99C0B-6E1B-4BFB-A45E-571B4CF1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5CAD"/>
                </a:solidFill>
                <a:latin typeface="Aptos"/>
                <a:ea typeface="Aptos"/>
                <a:cs typeface="Aptos"/>
              </a:rPr>
              <a:t>容器內部 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25177-8E99-4824-9078-35B3354B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762500"/>
            <a:ext cx="46101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A9FDCF-CB53-472E-8A2C-3DBC81F9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514A67-8BB4-44B0-9432-0D6A9C95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E62B17-F2D9-4DAE-AFA9-1301C074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FEEA30-3155-409D-B55C-6B678CCE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8160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3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-p 8080:80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主機:容器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FFBECA-02A5-4167-849F-556DAEE55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09DE75-F51E-4EF7-9885-1D250844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57E42B-BAAD-4263-A4AB-FDEBFD09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8538972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F0B875-88F9-4C42-81A5-7F93AC5E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FIRST CONTAINER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0102B7-7679-4B33-B651-6D6D48A3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一行指令跑起 Nginx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5E232-9EA6-4FD6-A86F-8FAE676D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062990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6ADA78-404C-4011-A4BA-8FCD2B95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C9E834-9B1D-4859-A1AA-66BC5B26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D407C8-0DEF-4080-8FBE-B4DD8F5A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04501C-FAD7-4105-90FD-069C6B6F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22C580-33BF-4BBA-BF01-53F32CE5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EB12A3-9B5B-4103-B723-8EFF93CB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docker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01A3B-4E79-4AD9-BFDB-B9E9BD4E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Image 建立並啟動 Container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2BFA7B-5552-4ADD-A27E-E5292A7D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C7A9E7-04C0-4243-A1D4-99F06A17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9FF07-705D-437A-AA2D-E8BDE073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 Web 伺服器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669DB9-5F81-4429-9909-92C80C20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C2E766-8D96-4AD4-B6F7-46ACF639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 my-web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660590-A31E-47C8-9B3E-3E426B0D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幫容器取名字，後續指令好操作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86563C-BD9B-4550-AA2E-E1906130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D621C3-3260-468F-B528-AEB42E2D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8080:80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618F41-0AFC-4278-8462-00B4BD7C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8080 對到容器 80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23167B-AC4E-4DE8-B935-C5D92D0E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5C58FF-D156-478B-AB7D-D00FF684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03536D-8C9D-4A72-B470-06C7107E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要使用的 Image 名稱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A0306F-7D1B-4E07-B6FB-6DCB4F6F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B5EFB7-35A2-4E3F-97FD-0F0F9F05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B05121-9523-42FF-A662-0AC657C9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7577713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AA409E-CE05-4C5E-ADC8-C18832D5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BROWSER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49600-EA76-4FC1-A448-29A2F53C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成功訊號：瀏覽器看到 Welcome to nginx!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70196-28A1-454D-A8E6-1C3772C6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38300"/>
            <a:ext cx="71628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33BD5A-864B-4D98-9E4C-0BBA5D5F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00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4D0D86-8670-46C1-8F9A-8378E225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00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4D9DC6-9A33-4EC6-969A-C2B3791C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800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68836-6ED9-448B-915E-6F349126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57400"/>
            <a:ext cx="674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http://localhost:8080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43CBF9-E613-4335-B3ED-8C9B1051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62300"/>
            <a:ext cx="8191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5C6897-D7D2-4E57-B20F-E7ADB998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623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5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Welcome to nginx!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FE8F9F-ECCF-4A01-B472-F63475F6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19100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你剛剛用一行指令建立了一個正在運行的 Web 伺服器。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51D968-F2D8-4B6D-AFFF-B4ACC7E3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976A5F-7DD3-4A6D-93C6-B3A6A89E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A59756-AC03-4A36-BD02-3D8FF9CA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9186575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884C80-27E7-4DF1-A847-3C7EAE8B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EXEC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79223-5DA5-45C5-A0A0-2F497DC3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進入容器，理解檔案系統隔離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7CF8C7-B49E-4650-B910-8B38FF1B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43050"/>
            <a:ext cx="4953000" cy="3676650"/>
          </a:xfrm>
          <a:prstGeom xmlns:a="http://schemas.openxmlformats.org/drawingml/2006/main" prst="roundRect">
            <a:avLst>
              <a:gd name="adj" fmla="val 259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B16EC9-B22F-4056-A1A7-9EED172D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E91711-1E54-4371-9D3F-9305972C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5D37DE-FBE8-4A9A-AA88-06CDE2AB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6C357-E1A7-49E4-B932-B064F143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45339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C9449-7A61-447C-AC3A-496B252C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38300"/>
            <a:ext cx="4362450" cy="3219450"/>
          </a:xfrm>
          <a:prstGeom xmlns:a="http://schemas.openxmlformats.org/drawingml/2006/main" prst="roundRect">
            <a:avLst>
              <a:gd name="adj" fmla="val 41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9C80B-31D6-41BD-A75F-84305AB5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47900"/>
            <a:ext cx="3600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1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/usr/share/nginx/html/index.html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4F034-D9CD-4F2C-A288-92F18262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2575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這就是剛才瀏覽器看到的歡迎頁面。容器內部有自己的檔案系統，和宿主機分開。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0084B-D2FA-4B19-9458-21DCD443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D6D50C-EC23-491F-AFF7-A632F9C5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B06481-8D38-4633-8F83-E6CA0BF4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20934695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85A105-2B81-4B56-AE1D-EA18C41A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B3B6A-D03E-46B2-B8A4-08F608B7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P2：啟動 Nginx 並自訂歡迎頁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65FCA-FFE9-4F18-A159-749E7EA5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335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22F91-AE3E-4429-947D-2A20D3E7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573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EEF8C-527C-4AFC-97B9-453F2A2C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5811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my-html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281EF3-17F6-4C62-8598-A960C19B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9621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資料夾內放 index.html，內容寫自己的名字。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6BBCFB-6B21-46DD-BF50-32EF745D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335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2B7A77-9158-4F1B-B9E9-33BCF94B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910725-E66C-410D-955D-E5ABA643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811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掛載到 Nginx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0B8307-1F3D-4DA2-870E-483B88B6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621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my-html 掛到 /usr/share/nginx/html。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E36071-EFC3-4BB2-9935-32567E6F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057127-868A-4BDB-9D8B-5DE6B72D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99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E0B583-8B59-407D-81C2-384A709A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3337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1FE4F8-9DE1-421D-9687-62475803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147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打開 localhost:8080，看到自己的內容。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A81235-B0D1-4A90-BA75-954D4F5F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86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B85B9D-D89F-461F-B9F5-B3192BE0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099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187838-CB06-46F3-A419-7D3D1D1E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37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進容器檢查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522391-7AB7-460E-8EBF-B63511E4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147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/usr/share/nginx/html/index.html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A4247D-FE4D-4C10-9306-9B618288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29200"/>
            <a:ext cx="9677400" cy="952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76ADCA-5B68-44C2-8873-802D7546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91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D713CB-4C14-4FC8-AECF-EF51C148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91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64F389-F718-4829-A8B5-667B2A8E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91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F2CCEE-4655-4079-95F9-EB8F7183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48300"/>
            <a:ext cx="925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1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course-nginx -p 8080:80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"${PWD}\my-html:/usr/share/nginx/html:ro" nginx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3B7D36-7886-4218-AC77-8A79E6E1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5C4E82-71DD-4AA6-84F4-6B20CDE7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C55653-9566-4AC5-8B34-CF732B7D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80739868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D72500-4ECE-4EF4-AF6D-1C7103D5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79AA9D-1CB6-4577-A990-F24C3203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第一堂必會的容器生命週期指令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928344-03DB-4672-B876-34232894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4762500" cy="3886200"/>
          </a:xfrm>
          <a:prstGeom xmlns:a="http://schemas.openxmlformats.org/drawingml/2006/main" prst="roundRect">
            <a:avLst>
              <a:gd name="adj" fmla="val 245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E50CD-71DD-40D9-B178-2A8691AC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868E7-6A8E-4112-B19C-9640F368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A1AE3-6308-40AC-9AE7-EE9D5F5F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A930BD-E992-46A3-9E91-7EC14975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3434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查看狀態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停止與啟動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654F34-82C4-4FE2-A051-FC002A93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42862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3EB925-1B76-451F-A4FA-62ECFF47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09750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卡住時先查三件事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0DB7A-83F3-46B9-A4D4-D908FD6F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3829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Docker Desktop 是否啟動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容器是否真的 Up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8080 port 是否被佔用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A5C67-8EC2-4D03-BF3E-19FF1B2C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42862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8E021A-0BBC-4BE3-9D6F-FF53DCD0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 Image 前先刪 Container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5416C-6397-4945-BAE5-1B45BFBA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05300"/>
            <a:ext cx="3829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只要還有容器使用某個 Image，不管容器是否停止，docker rmi 都可能失敗。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5C2FE-A7DA-4BB7-8191-A2A1861C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78135E-EC87-4A4B-B5DC-67A73CA3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7E8EB5-2C0A-40C2-A148-0F79CE92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507245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C7E7D4-B893-4462-9810-1E279C5F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CHALLENGE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ED1CD1-FB83-4277-AB4B-4A6C645F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 + 挑戰題：清理與 Apache/httpd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D4DD0C-AB44-4DB1-A664-313AB63A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4762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E48D5-BF1E-49DD-B337-8A74A519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430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P3：清理練習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B7213-19A9-4E3D-BB39-5993C645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66950"/>
            <a:ext cx="4305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course-nginx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rmi python:3.11 python:3.11-alpine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確認 docker ps -a 和 docker images。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695BE6-9D9D-442C-8186-97915C2E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24D3E-6F01-4956-B8C7-0DB447A0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30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C1：Apache/httpd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266A0B-9CBD-475D-ABB6-8F2798F0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66950"/>
            <a:ext cx="4305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到 Docker Hub 查 httpd 官方文件，把它跑起來並在瀏覽器看到頁面。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比較 Nginx 和 httpd 的靜態頁目錄。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A694D-E621-4177-98CF-3E0B2FEC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857750"/>
            <a:ext cx="80010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639150-D833-424C-9874-5B77D0CA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29200"/>
            <a:ext cx="739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9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下一堂：Flask 容器、容器管理與 Volume。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6290D6-6784-4055-926C-618888BB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86612F-89D9-4D26-83B0-C466220F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2C9CC0-E593-440A-8016-F499F9E3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9259169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2026-06-16T15:40:54.1150000Z</dcterms:created>
  <dcterms:modified xsi:type="dcterms:W3CDTF">2026-06-16T15:40:54.1150000Z</dcterms:modified>
</coreProperties>
</file>