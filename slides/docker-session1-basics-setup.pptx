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2300532e1d9434c" /><Relationship Type="http://schemas.openxmlformats.org/officeDocument/2006/relationships/extended-properties" Target="/docProps/app.xml" Id="R00c312784a4b43c3" /><Relationship Type="http://schemas.openxmlformats.org/officeDocument/2006/relationships/officeDocument" Target="/ppt/presentation.xml" Id="R508b2b5cb2b846a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3e294b9c21b4e9b"/>
  </p:sldMasterIdLst>
  <p:sldIdLst>
    <p:sldId xmlns:r="http://schemas.openxmlformats.org/officeDocument/2006/relationships" id="256" r:id="Rafb80402c4b64a15"/>
    <p:sldId xmlns:r="http://schemas.openxmlformats.org/officeDocument/2006/relationships" id="257" r:id="R4ff45aacb81d4ff7"/>
    <p:sldId xmlns:r="http://schemas.openxmlformats.org/officeDocument/2006/relationships" id="258" r:id="Rc55a6fa3ff404697"/>
    <p:sldId xmlns:r="http://schemas.openxmlformats.org/officeDocument/2006/relationships" id="259" r:id="Reaf9421e1633459a"/>
    <p:sldId xmlns:r="http://schemas.openxmlformats.org/officeDocument/2006/relationships" id="260" r:id="R78c477f96b4f48e5"/>
    <p:sldId xmlns:r="http://schemas.openxmlformats.org/officeDocument/2006/relationships" id="261" r:id="R9ef852f5343b4d6d"/>
    <p:sldId xmlns:r="http://schemas.openxmlformats.org/officeDocument/2006/relationships" id="262" r:id="R5905056220ce454a"/>
    <p:sldId xmlns:r="http://schemas.openxmlformats.org/officeDocument/2006/relationships" id="263" r:id="R83c6540a0a0748b7"/>
    <p:sldId xmlns:r="http://schemas.openxmlformats.org/officeDocument/2006/relationships" id="264" r:id="Rd003a8696a4648cf"/>
    <p:sldId xmlns:r="http://schemas.openxmlformats.org/officeDocument/2006/relationships" id="265" r:id="R897320a0158f4872"/>
    <p:sldId xmlns:r="http://schemas.openxmlformats.org/officeDocument/2006/relationships" id="266" r:id="R1bb31d5399c24aef"/>
    <p:sldId xmlns:r="http://schemas.openxmlformats.org/officeDocument/2006/relationships" id="267" r:id="R16e547b4c3ea4e7c"/>
    <p:sldId xmlns:r="http://schemas.openxmlformats.org/officeDocument/2006/relationships" id="268" r:id="Rd4a4d234627c4f1e"/>
    <p:sldId xmlns:r="http://schemas.openxmlformats.org/officeDocument/2006/relationships" id="269" r:id="Rb02cb25556e44831"/>
    <p:sldId xmlns:r="http://schemas.openxmlformats.org/officeDocument/2006/relationships" id="270" r:id="Rc2ae40f3cdb440b5"/>
    <p:sldId xmlns:r="http://schemas.openxmlformats.org/officeDocument/2006/relationships" id="271" r:id="R74dde4a93c1044d0"/>
    <p:sldId xmlns:r="http://schemas.openxmlformats.org/officeDocument/2006/relationships" id="272" r:id="R087ac154a8e14c2d"/>
    <p:sldId xmlns:r="http://schemas.openxmlformats.org/officeDocument/2006/relationships" id="273" r:id="Rd2896612a69d4967"/>
    <p:sldId xmlns:r="http://schemas.openxmlformats.org/officeDocument/2006/relationships" id="274" r:id="R099d9a79a18040cb"/>
    <p:sldId xmlns:r="http://schemas.openxmlformats.org/officeDocument/2006/relationships" id="275" r:id="R631de70a9b524f2a"/>
    <p:sldId xmlns:r="http://schemas.openxmlformats.org/officeDocument/2006/relationships" id="276" r:id="R76ea71f2b5e3436c"/>
    <p:sldId xmlns:r="http://schemas.openxmlformats.org/officeDocument/2006/relationships" id="277" r:id="Re3ccc8fe3f194967"/>
    <p:sldId xmlns:r="http://schemas.openxmlformats.org/officeDocument/2006/relationships" id="278" r:id="R997c7a3e7fe94727"/>
    <p:sldId xmlns:r="http://schemas.openxmlformats.org/officeDocument/2006/relationships" id="279" r:id="R523e56ed19ca4939"/>
    <p:sldId xmlns:r="http://schemas.openxmlformats.org/officeDocument/2006/relationships" id="280" r:id="R17667690b9224814"/>
    <p:sldId xmlns:r="http://schemas.openxmlformats.org/officeDocument/2006/relationships" id="281" r:id="Ra5f29b033f154389"/>
    <p:sldId xmlns:r="http://schemas.openxmlformats.org/officeDocument/2006/relationships" id="282" r:id="R43390519fc5949a8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6d5a646f5e84a1d" /><Relationship Type="http://schemas.openxmlformats.org/officeDocument/2006/relationships/slideMaster" Target="/ppt/slideMasters/slideMaster1.xml" Id="R43e294b9c21b4e9b" /><Relationship Type="http://schemas.openxmlformats.org/officeDocument/2006/relationships/presProps" Target="/ppt/presProps.xml" Id="R33eeb8048c834ced" /><Relationship Type="http://schemas.openxmlformats.org/officeDocument/2006/relationships/tableStyles" Target="/ppt/tableStyles.xml" Id="Rec57a9deeb104a2c" /><Relationship Type="http://schemas.openxmlformats.org/officeDocument/2006/relationships/slide" Target="/ppt/slides/slide1.xml" Id="Rafb80402c4b64a15" /><Relationship Type="http://schemas.openxmlformats.org/officeDocument/2006/relationships/slide" Target="/ppt/slides/slide2.xml" Id="R4ff45aacb81d4ff7" /><Relationship Type="http://schemas.openxmlformats.org/officeDocument/2006/relationships/slide" Target="/ppt/slides/slide3.xml" Id="Rc55a6fa3ff404697" /><Relationship Type="http://schemas.openxmlformats.org/officeDocument/2006/relationships/slide" Target="/ppt/slides/slide4.xml" Id="Reaf9421e1633459a" /><Relationship Type="http://schemas.openxmlformats.org/officeDocument/2006/relationships/slide" Target="/ppt/slides/slide5.xml" Id="R78c477f96b4f48e5" /><Relationship Type="http://schemas.openxmlformats.org/officeDocument/2006/relationships/slide" Target="/ppt/slides/slide6.xml" Id="R9ef852f5343b4d6d" /><Relationship Type="http://schemas.openxmlformats.org/officeDocument/2006/relationships/slide" Target="/ppt/slides/slide7.xml" Id="R5905056220ce454a" /><Relationship Type="http://schemas.openxmlformats.org/officeDocument/2006/relationships/slide" Target="/ppt/slides/slide8.xml" Id="R83c6540a0a0748b7" /><Relationship Type="http://schemas.openxmlformats.org/officeDocument/2006/relationships/slide" Target="/ppt/slides/slide9.xml" Id="Rd003a8696a4648cf" /><Relationship Type="http://schemas.openxmlformats.org/officeDocument/2006/relationships/slide" Target="/ppt/slides/slide10.xml" Id="R897320a0158f4872" /><Relationship Type="http://schemas.openxmlformats.org/officeDocument/2006/relationships/slide" Target="/ppt/slides/slide11.xml" Id="R1bb31d5399c24aef" /><Relationship Type="http://schemas.openxmlformats.org/officeDocument/2006/relationships/slide" Target="/ppt/slides/slide12.xml" Id="R16e547b4c3ea4e7c" /><Relationship Type="http://schemas.openxmlformats.org/officeDocument/2006/relationships/slide" Target="/ppt/slides/slide13.xml" Id="Rd4a4d234627c4f1e" /><Relationship Type="http://schemas.openxmlformats.org/officeDocument/2006/relationships/slide" Target="/ppt/slides/slide14.xml" Id="Rb02cb25556e44831" /><Relationship Type="http://schemas.openxmlformats.org/officeDocument/2006/relationships/slide" Target="/ppt/slides/slide15.xml" Id="Rc2ae40f3cdb440b5" /><Relationship Type="http://schemas.openxmlformats.org/officeDocument/2006/relationships/slide" Target="/ppt/slides/slide16.xml" Id="R74dde4a93c1044d0" /><Relationship Type="http://schemas.openxmlformats.org/officeDocument/2006/relationships/slide" Target="/ppt/slides/slide17.xml" Id="R087ac154a8e14c2d" /><Relationship Type="http://schemas.openxmlformats.org/officeDocument/2006/relationships/slide" Target="/ppt/slides/slide18.xml" Id="Rd2896612a69d4967" /><Relationship Type="http://schemas.openxmlformats.org/officeDocument/2006/relationships/slide" Target="/ppt/slides/slide19.xml" Id="R099d9a79a18040cb" /><Relationship Type="http://schemas.openxmlformats.org/officeDocument/2006/relationships/slide" Target="/ppt/slides/slide20.xml" Id="R631de70a9b524f2a" /><Relationship Type="http://schemas.openxmlformats.org/officeDocument/2006/relationships/slide" Target="/ppt/slides/slide21.xml" Id="R76ea71f2b5e3436c" /><Relationship Type="http://schemas.openxmlformats.org/officeDocument/2006/relationships/slide" Target="/ppt/slides/slide22.xml" Id="Re3ccc8fe3f194967" /><Relationship Type="http://schemas.openxmlformats.org/officeDocument/2006/relationships/slide" Target="/ppt/slides/slide23.xml" Id="R997c7a3e7fe94727" /><Relationship Type="http://schemas.openxmlformats.org/officeDocument/2006/relationships/slide" Target="/ppt/slides/slide24.xml" Id="R523e56ed19ca4939" /><Relationship Type="http://schemas.openxmlformats.org/officeDocument/2006/relationships/slide" Target="/ppt/slides/slide25.xml" Id="R17667690b9224814" /><Relationship Type="http://schemas.openxmlformats.org/officeDocument/2006/relationships/slide" Target="/ppt/slides/slide26.xml" Id="Ra5f29b033f154389" /><Relationship Type="http://schemas.openxmlformats.org/officeDocument/2006/relationships/slide" Target="/ppt/slides/slide27.xml" Id="R43390519fc5949a8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30fbda3a8c7414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bb2f3bf51e047ba" /><Relationship Type="http://schemas.openxmlformats.org/officeDocument/2006/relationships/slideLayout" Target="/ppt/slideLayouts/slideLayout1.xml" Id="R18d424fa0a364d7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8d424fa0a364d7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b56cbb168243c6" /><Relationship Type="http://schemas.openxmlformats.org/officeDocument/2006/relationships/image" Target="/ppt/media/image.png" Id="R825bada15ef54c7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097544e8a94a5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560481e88a46c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6bc25845f24dd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c5232fe4964f5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8ffcbd819d4e7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0a3cc114a1481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02ab47b20e412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835c0832294ddf" /><Relationship Type="http://schemas.openxmlformats.org/officeDocument/2006/relationships/image" Target="/ppt/media/image2.png" Id="R678addf24761433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e0c3c44c3c445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4f1f9502014f40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cce6d89d0f4c9c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bfe0e50d394db0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282e7f8cf84c16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71d0d9ac2454157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37941ae64a4b43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9cdf972ac6458a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019174ee2c4a02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501ef6168644b3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1b66f2028b47f6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3d24fed59542f0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fe7132614e48fe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76ebbc1411465e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5c30d3d0e34e50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dbddfecbcb4f71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5ee7247bd94dfe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0e63cfb3a743f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CD23777-F608-4017-85DF-390B90220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7111F"/>
              </a:gs>
              <a:gs pos="52000">
                <a:srgbClr val="123E68"/>
              </a:gs>
              <a:gs pos="100000">
                <a:srgbClr val="2496ED"/>
              </a:gs>
            </a:gsLst>
            <a:lin ang="8100000"/>
          </a:gradFill>
          <a:ln xmlns:a="http://schemas.openxmlformats.org/drawingml/2006/main" w="0">
            <a:noFill/>
            <a:prstDash val="solid"/>
          </a:ln>
        </p:spPr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5bada15ef54c72"/>
          <a:srcRect xmlns:a="http://schemas.openxmlformats.org/drawingml/2006/main" l="20297" t="0" r="20297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953000" y="0"/>
            <a:ext cx="723900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6F32A5-982A-455A-BC87-3A135014E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7111F"/>
              </a:gs>
              <a:gs pos="33000">
                <a:srgbClr val="07111F">
                  <a:alpha val="96000"/>
                </a:srgbClr>
              </a:gs>
              <a:gs pos="63000">
                <a:srgbClr val="07111F">
                  <a:alpha val="46000"/>
                </a:srgbClr>
              </a:gs>
              <a:gs pos="100000">
                <a:srgbClr val="07111F">
                  <a:alpha val="5000"/>
                </a:srgbClr>
              </a:gs>
            </a:gsLst>
            <a:lin ang="5400000"/>
          </a:gra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3F62570-EEA7-4468-8A63-E53856FEB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-857250"/>
            <a:ext cx="3905250" cy="390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8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E2A4E2-1049-400F-A9D4-88D99B3BE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4095750"/>
            <a:ext cx="3238500" cy="3238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97F">
              <a:alpha val="1300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6B3D126-174C-4501-845F-298080619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20955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2AB8BE0-FF95-4D44-BDAD-0ED31AC1A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14375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05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18 小時 Docker 基礎教學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46EE50-8276-400A-AEE2-6D0B78820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09700"/>
            <a:ext cx="77152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4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4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Docker 概念、安裝與第一個容器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E26B9C0-6BBF-4CE3-831F-5CE34DF88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162300"/>
            <a:ext cx="647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DCEBFF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DCEBFF"/>
                </a:solidFill>
                <a:latin typeface="Aptos"/>
                <a:ea typeface="Aptos"/>
                <a:cs typeface="Aptos"/>
              </a:rPr>
              <a:t>第 1 堂 | Windows + WSL 2 + Docker Desktop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D821FAE-B4C3-42E2-A11C-99D9F38A3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0"/>
            <a:ext cx="7810500" cy="10668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>
              <a:alpha val="10000"/>
            </a:srgbClr>
          </a:solidFill>
          <a:ln xmlns:a="http://schemas.openxmlformats.org/drawingml/2006/main" w="9525">
            <a:solidFill>
              <a:srgbClr val="FFFFFF">
                <a:alpha val="24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17F2F65-37F3-417A-B535-F845695F5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476750"/>
            <a:ext cx="7239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28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今天完成：知道 Docker 解決什麼問題、完成安裝檢查、用一行指令跑起 Nginx。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693427D-B398-4D45-8EC5-65EA6B3A5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600075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050" b="0">
                <a:solidFill>
                  <a:srgbClr val="DCEBFF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DCEBFF"/>
                </a:solidFill>
                <a:latin typeface="Aptos"/>
                <a:ea typeface="Aptos"/>
                <a:cs typeface="Aptos"/>
              </a:rPr>
              <a:t>session1.md</a:t>
            </a:r>
          </a:p>
        </p:txBody>
      </p:sp>
    </p:spTree>
    <p:extLst>
      <p:ext uri="{BB962C8B-B14F-4D97-AF65-F5344CB8AC3E}">
        <p14:creationId xmlns:p14="http://schemas.microsoft.com/office/powerpoint/2010/main" val="121164907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0F6B009-6CE0-4592-BBE1-A32006B72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LEARNING MAP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A07351-4B51-47EB-8F83-5A9B74A91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三小時學習地圖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5111866-73F3-41E7-9C53-344676297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3238500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E6FF67-4E97-4485-8251-198E6FBA0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9431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0B5CA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E4819C-FE3F-4F7F-951C-62A0A13D4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057400"/>
            <a:ext cx="514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F0B442-EF46-46EE-BF36-B25AE9C65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05100"/>
            <a:ext cx="2743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概念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B43EAF-590D-42FB-B639-805445F60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00400"/>
            <a:ext cx="2743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可攜、隔離、一致；理解容器比 VM 輕量在哪裡。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D65649E-76FE-4C20-9B11-615770D81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05300"/>
            <a:ext cx="11620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0B5CA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0A785D7-6A51-4D81-AC38-945578D38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52925"/>
            <a:ext cx="1162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975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約 1 小時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3504548-3577-4DBE-9123-D04BD35C6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695450"/>
            <a:ext cx="3238500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DCD29ED-23A1-4C52-B9F5-4A753DB6D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9431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407969D-8388-45D8-9D54-C62496874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057400"/>
            <a:ext cx="514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B2FB8F-FC6E-4A2D-A8D6-709457387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705100"/>
            <a:ext cx="2743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安裝環境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12681C8-5FF4-40F8-B1DB-2EC7A270E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200400"/>
            <a:ext cx="2743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確認 Windows、WSL 2、Docker Desktop，並跑過 hello-world。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C95F6AC-5D7E-4447-9C2D-D506A63B3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305300"/>
            <a:ext cx="11620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860F38B-B110-45A5-A343-BECB5AC2D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352925"/>
            <a:ext cx="1162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975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約 1 小時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203767B-DA35-46B7-AFBF-72ED5FF27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695450"/>
            <a:ext cx="3238500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D2EFDD2-623D-4032-BD42-7FF047E1A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9431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B45309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543427F-E3D0-4816-9D60-39F2DE778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057400"/>
            <a:ext cx="514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EAA20BD-A768-4B3B-93C3-4687865EF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705100"/>
            <a:ext cx="2743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第一個容器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E330FA5-947A-4D80-9068-07E1C9FE2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200400"/>
            <a:ext cx="2743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從 Docker Hub 拉 Nginx，透過 port mapping 在瀏覽器看到結果。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D2F6B77-324C-4C09-B73A-D067ECC64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305300"/>
            <a:ext cx="11620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B45309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70DEC3B-E0A3-4E94-86F7-3E8666557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352925"/>
            <a:ext cx="11620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97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約 1 小時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D53EC1A-1D3B-40D1-BAF6-4919F0176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34000"/>
            <a:ext cx="781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每一段都會先講概念，再進到可執行的命令列操作。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5795D74-E872-4D6E-BD3D-42C328101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95B13B8-D010-4525-82A1-05A0CD8E4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D97AA0F-818E-4B33-A597-9F3FAEE03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56759739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121CBB5-812B-4316-8B29-64A4AA562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WHY DOCKER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9A4EA0B-3CA4-442F-8DF4-2187DC98B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解決的是「環境不一致」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E810321-BFB7-4A7D-8AC1-B6CB3368A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14500"/>
            <a:ext cx="4095750" cy="3048000"/>
          </a:xfrm>
          <a:prstGeom xmlns:a="http://schemas.openxmlformats.org/drawingml/2006/main" prst="roundRect">
            <a:avLst>
              <a:gd name="adj" fmla="val 37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850176-3334-4F6B-98C0-411151409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038350"/>
            <a:ext cx="2095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2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傳統部署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EC0050-9878-420A-B938-9FA86D462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6289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 Python 版本不同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46AE636-4F00-42A7-BC3C-E7052BA4E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0861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 系統套件缺少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3BBA90-A24C-4AD0-9F3B-DC60E78E6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5433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 設定檔漏改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C5C5983-37E9-4E90-853F-8316408E9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0005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 本機能跑，上線失敗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BF1A48-DD28-4117-B2FD-14C6F1ABD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990850"/>
            <a:ext cx="1066800" cy="495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0">
            <a:solidFill>
              <a:srgbClr val="2496ED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AF1CFFC-D33D-444D-9597-76AC619B8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714500"/>
            <a:ext cx="4095750" cy="3048000"/>
          </a:xfrm>
          <a:prstGeom xmlns:a="http://schemas.openxmlformats.org/drawingml/2006/main" prst="roundRect">
            <a:avLst>
              <a:gd name="adj" fmla="val 3750"/>
            </a:avLst>
          </a:prstGeom>
          <a:solidFill xmlns:a="http://schemas.openxmlformats.org/drawingml/2006/main">
            <a:srgbClr val="F8FB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1C3EEA0-2A45-4342-82E5-716D7E3C5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038350"/>
            <a:ext cx="2381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Docker 的做法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B8492D7-D359-48CF-95D7-0C49875B4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724150"/>
            <a:ext cx="32385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把應用程式、套件、設定與執行環境一起打包成 Image，再用同一份 Image 建立 Container。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62F684C-7B50-446C-A740-571EA91AF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191000"/>
            <a:ext cx="2628900" cy="3048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E668170-6618-4470-AD21-5AB148B8B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238625"/>
            <a:ext cx="2628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05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同一包，到哪裡都用同一種方式跑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4CBC7B3-DF1E-4088-A2C0-3A4F4AD5D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963CFD8-9C8B-4D74-8420-0C3FC21B5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4F2FB0C-4458-4FBF-8E09-65CB500BC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91063136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73B5832-6BDD-4615-ACF0-9652360B0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ARCHITECTURE COMPARISON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55BF0E-BB3F-4B58-B7A7-093ABE40E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三種部署模型差在哪裡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F7AE030-3DD3-4335-9B41-CF8B7D3BB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3238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025" b="1">
                <a:solidFill>
                  <a:srgbClr val="C2410C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C2410C"/>
                </a:solidFill>
                <a:latin typeface="Aptos Display"/>
                <a:ea typeface="Aptos Display"/>
                <a:cs typeface="Aptos Display"/>
              </a:rPr>
              <a:t>傳統部署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C9F8DD-B46E-4D6D-AD52-9F7BDAADB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38350"/>
            <a:ext cx="78105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B6036D-7279-4683-9C56-0D5851CE9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228850"/>
            <a:ext cx="3238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936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>
                <a:solidFill>
                  <a:srgbClr val="C2410C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C2410C"/>
                </a:solidFill>
                <a:latin typeface="Aptos Display"/>
                <a:ea typeface="Aptos Display"/>
                <a:cs typeface="Aptos Display"/>
              </a:rPr>
              <a:t>App 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D389AA-8AD2-459C-AE2C-EFEB0660C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628900"/>
            <a:ext cx="323850" cy="-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172232-5A63-4E4E-A704-92CC2542E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2038350"/>
            <a:ext cx="78105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9AAECC-E7E0-4278-8058-1CFFFA11D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2228850"/>
            <a:ext cx="3238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936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>
                <a:solidFill>
                  <a:srgbClr val="C2410C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C2410C"/>
                </a:solidFill>
                <a:latin typeface="Aptos Display"/>
                <a:ea typeface="Aptos Display"/>
                <a:cs typeface="Aptos Display"/>
              </a:rPr>
              <a:t>App B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016EE0D-77A7-4CCD-B992-33F8BD858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2628900"/>
            <a:ext cx="323850" cy="-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1E6ADA5-CAA5-417C-A31A-718C18F97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2038350"/>
            <a:ext cx="78105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9533F5B-9E15-4268-8FF5-4C20C418E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228850"/>
            <a:ext cx="3238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936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>
                <a:solidFill>
                  <a:srgbClr val="C2410C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C2410C"/>
                </a:solidFill>
                <a:latin typeface="Aptos Display"/>
                <a:ea typeface="Aptos Display"/>
                <a:cs typeface="Aptos Display"/>
              </a:rPr>
              <a:t>App C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A6A5669-A4F4-44C8-B492-A48E95261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628900"/>
            <a:ext cx="323850" cy="-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EB8DED0-7EEA-4A8B-A1A0-98C2BFB30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81300"/>
            <a:ext cx="26289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189816D-AC1F-487F-9E01-8176DCFAB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971800"/>
            <a:ext cx="2171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Bins / Libs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78F938F-B3B5-4BFF-8BA5-FD39B2B54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371850"/>
            <a:ext cx="2171700" cy="-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2E1DE24-3AAD-4D76-B2EE-A197E3740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505200"/>
            <a:ext cx="26289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B913A7D-E767-4A61-93FF-BFB347DAF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695700"/>
            <a:ext cx="2171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Host OS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2D4517C-202B-4B9A-97B6-0C93EDEF3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095750"/>
            <a:ext cx="2171700" cy="-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8B3A657-027D-47E7-9810-38D4BFB5E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29100"/>
            <a:ext cx="26289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2437FB8-EA86-4199-A77D-00DD432E4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419600"/>
            <a:ext cx="2171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Hardware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B3B800C-5F60-4594-87BF-5A00395CB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819650"/>
            <a:ext cx="2171700" cy="-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EC5990E-E998-4D77-86C0-8B896EBC8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2578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App 直接共用 OS 與函式庫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0933BBF-19A7-4515-9226-30690F4F6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619750"/>
            <a:ext cx="16192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C2410C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DEEBE2F-C07F-4AAB-95F9-7E3D3F852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667375"/>
            <a:ext cx="161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975" b="1">
                <a:solidFill>
                  <a:srgbClr val="C2410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C2410C"/>
                </a:solidFill>
                <a:latin typeface="Aptos"/>
                <a:ea typeface="Aptos"/>
                <a:cs typeface="Aptos"/>
              </a:rPr>
              <a:t>隔離性弱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6ECB317-4C87-42B3-93A8-6DB72C370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504950"/>
            <a:ext cx="3238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025" b="1">
                <a:solidFill>
                  <a:srgbClr val="4338CA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4338CA"/>
                </a:solidFill>
                <a:latin typeface="Aptos Display"/>
                <a:ea typeface="Aptos Display"/>
                <a:cs typeface="Aptos Display"/>
              </a:rPr>
              <a:t>VM 部署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63AEB42-4D3A-42F1-8411-DFAADE793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038350"/>
            <a:ext cx="1066800" cy="12573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AFFAB6B-C326-4C9D-899C-153981AFC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228850"/>
            <a:ext cx="609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1">
                <a:solidFill>
                  <a:srgbClr val="4338CA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4338CA"/>
                </a:solidFill>
                <a:latin typeface="Aptos Display"/>
                <a:ea typeface="Aptos Display"/>
                <a:cs typeface="Aptos Display"/>
              </a:rPr>
              <a:t>VM 1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7B3D20A-AA97-4FDA-BD16-A64B2F59E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628900"/>
            <a:ext cx="609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18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Guest OS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App + 依賴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A978240-973A-4956-BCCF-129429F16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2038350"/>
            <a:ext cx="1066800" cy="12573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9CE553E-C768-4132-98D5-05F843072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228850"/>
            <a:ext cx="609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75" b="1">
                <a:solidFill>
                  <a:srgbClr val="4338CA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4338CA"/>
                </a:solidFill>
                <a:latin typeface="Aptos Display"/>
                <a:ea typeface="Aptos Display"/>
                <a:cs typeface="Aptos Display"/>
              </a:rPr>
              <a:t>VM 2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4C75ED2-CD5A-43ED-AD8A-54235208E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628900"/>
            <a:ext cx="609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18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Guest OS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App + 依賴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1A9C322-4557-48A3-BD0D-02233AE2F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505200"/>
            <a:ext cx="24765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5F29B15-4022-4878-A96A-8EB58C78C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3695700"/>
            <a:ext cx="2019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Hypervisor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5A7756F-D40D-46A3-82F9-73C34A6F2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4095750"/>
            <a:ext cx="2019300" cy="-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45E4E59-862E-4CF8-BAB5-F6104C66E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171950"/>
            <a:ext cx="24765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16F9C70-043E-467D-949D-AFDB7C6B8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4362450"/>
            <a:ext cx="2019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Host OS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5B71B9C-9835-42C9-9A82-8A047A6F8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4762500"/>
            <a:ext cx="2019300" cy="-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2ED601F-AB96-4FE7-AA85-E6B98FF9A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52578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每台 VM 都有完整 Guest OS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AB176AB-7CAE-4E2C-8B80-D3956FD81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5619750"/>
            <a:ext cx="16192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EF2FF"/>
          </a:solidFill>
          <a:ln xmlns:a="http://schemas.openxmlformats.org/drawingml/2006/main" w="9525">
            <a:solidFill>
              <a:srgbClr val="4338CA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DCBAD08-8635-4BD5-9376-98BDFB51E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5667375"/>
            <a:ext cx="161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975" b="1">
                <a:solidFill>
                  <a:srgbClr val="4338C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4338CA"/>
                </a:solidFill>
                <a:latin typeface="Aptos"/>
                <a:ea typeface="Aptos"/>
                <a:cs typeface="Aptos"/>
              </a:rPr>
              <a:t>隔離強但重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549200B-6B30-41C4-A8D8-0E9AFB327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504950"/>
            <a:ext cx="3238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0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容器化部署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591ADF2-1749-4163-83AC-2997D9156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038350"/>
            <a:ext cx="819150" cy="9334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185196F-2672-48FE-A3F4-2DA8F5EF0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228850"/>
            <a:ext cx="361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380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容器 1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3931204-FE8C-4299-A856-3E01FB909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628900"/>
            <a:ext cx="3619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5441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App + 依賴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229C7E6-8E1D-4037-957E-0BCFA49E2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038350"/>
            <a:ext cx="819150" cy="9334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850BCD0-A927-46B0-8243-ACBAC2354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228850"/>
            <a:ext cx="361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380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容器 2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7F22707-3138-4A5E-B21D-E3ABEF601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628900"/>
            <a:ext cx="3619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5441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App + 依賴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FF06AD8-E146-4B4E-A2D5-2D1AF6006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038350"/>
            <a:ext cx="819150" cy="933450"/>
          </a:xfrm>
          <a:prstGeom xmlns:a="http://schemas.openxmlformats.org/drawingml/2006/main" prst="roundRect">
            <a:avLst>
              <a:gd name="adj" fmla="val 13953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BCDC8C7-DA26-4098-ACC3-D50685401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2228850"/>
            <a:ext cx="361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380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2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容器 3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63578FFD-959C-4D2D-9206-F957E05F4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2628900"/>
            <a:ext cx="3619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5441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App + 依賴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EE106F9A-75B2-40CF-9A10-D27ADEB29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257550"/>
            <a:ext cx="268605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D9390672-DD08-46C4-AC52-61588458C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448050"/>
            <a:ext cx="22288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Engine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A9106112-322C-4007-B3B3-32002B7E8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848100"/>
            <a:ext cx="2228850" cy="-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68B6AF89-FB0E-453E-A2FB-3DECEC747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924300"/>
            <a:ext cx="268605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43CA520B-D1FB-4AA1-AA7E-DB1B70750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114800"/>
            <a:ext cx="22288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Host OS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BB55ED62-12E4-4B2A-8E33-B046AB6C3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514850"/>
            <a:ext cx="2228850" cy="-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DBB278A2-8AA1-458C-8D6A-276060A3D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591050"/>
            <a:ext cx="268605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FCC42C7E-6677-4B4A-81B3-59A9F4B98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781550"/>
            <a:ext cx="22288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Hardware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1CC3E4EA-31CB-45F7-A129-FABB4D8F8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5181600"/>
            <a:ext cx="2228850" cy="-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A540C18F-E621-43E0-AF22-1E2DC42A6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52578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容器共用 Host OS 核心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B0BC4521-0F35-470A-A77F-D629FB402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5619750"/>
            <a:ext cx="16192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0B5CAD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8AEA57E3-B7BB-4163-BA4B-D4C863724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5667375"/>
            <a:ext cx="161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975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秒級啟動、資源少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EBA67FD7-0747-44AA-9B01-1CC59EE75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0B2D7B1A-54D5-4BBA-85BD-6E412B970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F5ED1BDB-A287-4371-844E-0CA886A88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45451428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628DE1D-1331-4290-A2FA-07AB3689D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Q1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E5508DC-817C-4CEA-90E5-53989CC1A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概念快問 1：Container 和 VM 差在哪？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BFF2D77-17F0-4B2B-B6A1-7CFD9DA6C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809750"/>
            <a:ext cx="4381500" cy="2266950"/>
          </a:xfrm>
          <a:prstGeom xmlns:a="http://schemas.openxmlformats.org/drawingml/2006/main" prst="roundRect">
            <a:avLst>
              <a:gd name="adj" fmla="val 5042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818CF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40838D-E0FC-4690-9AB8-00370B7EC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000250"/>
            <a:ext cx="3924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469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550" b="1">
                <a:solidFill>
                  <a:srgbClr val="C4B5FD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C4B5FD"/>
                </a:solidFill>
                <a:latin typeface="Aptos Display"/>
                <a:ea typeface="Aptos Display"/>
                <a:cs typeface="Aptos Display"/>
              </a:rPr>
              <a:t>VM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64AD2E-913B-4860-9782-53EF16956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400300"/>
            <a:ext cx="392430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每台 VM 都有完整 Guest OS。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隔離強，但啟動慢、資源佔用高。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112A17-2D1D-4C45-861C-CE3B511EE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809750"/>
            <a:ext cx="4381500" cy="2266950"/>
          </a:xfrm>
          <a:prstGeom xmlns:a="http://schemas.openxmlformats.org/drawingml/2006/main" prst="roundRect">
            <a:avLst>
              <a:gd name="adj" fmla="val 5042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60A5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489229-B87D-4177-9FBF-674A21169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000250"/>
            <a:ext cx="3924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469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55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Container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7158A57-324A-4BD4-BE88-E7B11A3C8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400300"/>
            <a:ext cx="392430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共用主機 OS 核心。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程序級隔離，啟動快、資源少。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344001F-4DEE-4DFA-A234-7FECC9E3B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4857750"/>
            <a:ext cx="82677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FFFF">
              <a:alpha val="8000"/>
            </a:srgbClr>
          </a:solidFill>
          <a:ln xmlns:a="http://schemas.openxmlformats.org/drawingml/2006/main" w="9525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3BA612-E62F-4A38-B18D-623F263F0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5067300"/>
            <a:ext cx="7658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070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回答目標：能說出「共用核心、不跑完整 OS、所以更快更輕」。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41E4261-DFB0-4EEC-BF46-CDF60A2AC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E24150-8610-48B1-A1B9-F7DD6B294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8C64108-E296-4716-B0D7-C41041302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16773334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808340E-3604-4ED0-9B94-EAC05BAC5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CORE PROMISE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7800046-58EA-43C0-8811-38946B728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的三個承諾，以及一個現實限制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D1CAD4-BBBE-4980-B86E-9D8337388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19250"/>
            <a:ext cx="323850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0B5CA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ECB0DB-6EB0-4805-AF87-119739B23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809750"/>
            <a:ext cx="2781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070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可攜性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1EB7F6-62D1-4CD4-86E4-40EAB6607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209800"/>
            <a:ext cx="278130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打包成 Image 後，只要有 Docker 就能用同一種方式運行。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E3F679-B153-4555-82B4-94B30EA0C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1619250"/>
            <a:ext cx="323850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36858C-7924-4480-98FC-993297240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1809750"/>
            <a:ext cx="2781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070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隔離性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A4EA42-B27E-45EC-9F9D-96258B180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209800"/>
            <a:ext cx="278130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不同應用各自待在容器裡，降低版本與套件互相干擾。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8C7B337-09B4-4CDB-950B-F790520F2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619250"/>
            <a:ext cx="323850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B4530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AFE2369-EE4D-4AF7-84ED-C8363ED01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809750"/>
            <a:ext cx="2781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070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一致性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3ED0644-A390-4311-B829-1FEB1E257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209800"/>
            <a:ext cx="278130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開發、測試、部署都用同一份環境，減少本機正常、上線失敗。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972542C-74D2-486E-98E9-2ABCD6C43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362450"/>
            <a:ext cx="89916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18001D9-F0ED-4B6F-90E2-7D94A5B39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4591050"/>
            <a:ext cx="7810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06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現實限制：CPU 架構仍然會影響 Image 能不能直接跑。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0E271DC-3856-44BC-B292-F51575086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4953000"/>
            <a:ext cx="800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amd64 與 arm64 的機器碼不同；Mac Apple Silicon 建構的 Image 要特別注意目標平台。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DEF7B81-9857-431F-83AE-23ADAF7AD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8CEBC75-9A71-458B-9297-33A2DB14A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AA5014D-C824-4C2A-8438-A9BEFBDAD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44798119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41B4708-D5C5-4DD2-918C-C1ABED417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EXERCISE Q3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156E54B-DDF4-4797-AF31-AA5D39B2F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概念快問 2：哪個情況一致性不成立？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792CFB4-3B62-4D15-B6F4-99F03723C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943100"/>
            <a:ext cx="3048000" cy="2095500"/>
          </a:xfrm>
          <a:prstGeom xmlns:a="http://schemas.openxmlformats.org/drawingml/2006/main" prst="roundRect">
            <a:avLst>
              <a:gd name="adj" fmla="val 5455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E6E406-71D2-4314-BBF6-213F0492F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209800"/>
            <a:ext cx="571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379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3300" b="1">
                <a:solidFill>
                  <a:srgbClr val="00A97F"/>
                </a:solidFill>
                <a:latin typeface="Aptos Display"/>
                <a:ea typeface="Aptos Display"/>
                <a:cs typeface="Aptos Display"/>
              </a:defRPr>
            </a:pPr>
            <a:r>
              <a:rPr sz="3300" b="1">
                <a:solidFill>
                  <a:srgbClr val="00A97F"/>
                </a:solidFill>
                <a:latin typeface="Aptos Display"/>
                <a:ea typeface="Aptos Display"/>
                <a:cs typeface="Aptos Display"/>
              </a:rPr>
              <a:t>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F5C5E7-3E1F-4421-9467-224E6C5A2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2362200"/>
            <a:ext cx="1809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594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7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Windows amd64 build</a:t>
            </a:r>
          </a:p>
          <a:p xmlns:a="http://schemas.openxmlformats.org/drawingml/2006/main">
            <a:pPr algn="ctr">
              <a:lnSpc>
                <a:spcPct val="104000"/>
              </a:lnSpc>
              <a:buNone/>
              <a:defRPr sz="17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放到 Linux amd64 跑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9ABBFF-4399-4294-8E9C-290E508BF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3409950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>
                <a:solidFill>
                  <a:srgbClr val="00A97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0A97F"/>
                </a:solidFill>
                <a:latin typeface="Aptos"/>
                <a:ea typeface="Aptos"/>
                <a:cs typeface="Aptos"/>
              </a:rPr>
              <a:t>可行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E0BB777-94F3-45A1-A8DD-9524A3FD2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1943100"/>
            <a:ext cx="3048000" cy="2095500"/>
          </a:xfrm>
          <a:prstGeom xmlns:a="http://schemas.openxmlformats.org/drawingml/2006/main" prst="roundRect">
            <a:avLst>
              <a:gd name="adj" fmla="val 5455"/>
            </a:avLst>
          </a:prstGeom>
          <a:solidFill xmlns:a="http://schemas.openxmlformats.org/drawingml/2006/main">
            <a:srgbClr val="FFE4E6"/>
          </a:solidFill>
          <a:ln xmlns:a="http://schemas.openxmlformats.org/drawingml/2006/main" w="9525">
            <a:solidFill>
              <a:srgbClr val="E11D4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E281116-6907-4392-A77F-2401E5F4B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650" y="2209800"/>
            <a:ext cx="571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379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3300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defRPr>
            </a:pPr>
            <a:r>
              <a:rPr sz="3300" b="1">
                <a:solidFill>
                  <a:srgbClr val="E11D48"/>
                </a:solidFill>
                <a:latin typeface="Aptos Display"/>
                <a:ea typeface="Aptos Display"/>
                <a:cs typeface="Aptos Display"/>
              </a:rPr>
              <a:t>B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EEE7BBC-D8DD-44DB-8DD7-82D7206FF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2362200"/>
            <a:ext cx="1809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548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7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Mac M2 arm64 build</a:t>
            </a:r>
          </a:p>
          <a:p xmlns:a="http://schemas.openxmlformats.org/drawingml/2006/main">
            <a:pPr algn="ctr">
              <a:lnSpc>
                <a:spcPct val="104000"/>
              </a:lnSpc>
              <a:buNone/>
              <a:defRPr sz="17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放到 Windows amd64 跑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06C9DA9-8AFD-43A7-B8AB-D966955E6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3409950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>
                <a:solidFill>
                  <a:srgbClr val="E11D4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E11D48"/>
                </a:solidFill>
                <a:latin typeface="Aptos"/>
                <a:ea typeface="Aptos"/>
                <a:cs typeface="Aptos"/>
              </a:rPr>
              <a:t>答案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A81776B-E324-4C8B-8C0B-7B228ED12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943100"/>
            <a:ext cx="3048000" cy="2095500"/>
          </a:xfrm>
          <a:prstGeom xmlns:a="http://schemas.openxmlformats.org/drawingml/2006/main" prst="roundRect">
            <a:avLst>
              <a:gd name="adj" fmla="val 5455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10B8740-02C1-4DDC-ACD8-E409FE95B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209800"/>
            <a:ext cx="571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379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3300" b="1">
                <a:solidFill>
                  <a:srgbClr val="00A97F"/>
                </a:solidFill>
                <a:latin typeface="Aptos Display"/>
                <a:ea typeface="Aptos Display"/>
                <a:cs typeface="Aptos Display"/>
              </a:defRPr>
            </a:pPr>
            <a:r>
              <a:rPr sz="3300" b="1">
                <a:solidFill>
                  <a:srgbClr val="00A97F"/>
                </a:solidFill>
                <a:latin typeface="Aptos Display"/>
                <a:ea typeface="Aptos Display"/>
                <a:cs typeface="Aptos Display"/>
              </a:rPr>
              <a:t>C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3B2CE27-7170-4415-8F18-8E0D37F16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362200"/>
            <a:ext cx="1809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28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4000"/>
              </a:lnSpc>
              <a:buNone/>
              <a:defRPr sz="17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Ubuntu amd64 build</a:t>
            </a:r>
          </a:p>
          <a:p xmlns:a="http://schemas.openxmlformats.org/drawingml/2006/main">
            <a:pPr algn="ctr">
              <a:lnSpc>
                <a:spcPct val="104000"/>
              </a:lnSpc>
              <a:buNone/>
              <a:defRPr sz="17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放到 Ubuntu amd64 跑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D2BD75E-42AE-4EB0-8D7F-648332246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409950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>
                <a:solidFill>
                  <a:srgbClr val="00A97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0A97F"/>
                </a:solidFill>
                <a:latin typeface="Aptos"/>
                <a:ea typeface="Aptos"/>
                <a:cs typeface="Aptos"/>
              </a:rPr>
              <a:t>可行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2584EFC-B5BC-4773-9783-7A06F9292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143500"/>
            <a:ext cx="895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920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Docker 抽象的是軟體環境，不會讓不同 CPU 指令集自動相容。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8FAEB40-98C8-4E80-A4EA-D129194FA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6B3A7F1-2F6B-4694-9C35-FA84079CE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5E138C0-6BC0-4511-8D35-D4B54F575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98681082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ABF7C43-C4A1-482F-80C1-94B2CECB3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TRADEOFFS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3BC6149-CFEB-4528-A5E7-4DE79C741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很實用，但不是萬能工具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1F7A7B2-708C-4A1A-A97E-9137D5642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714500"/>
            <a:ext cx="2952750" cy="13906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B4A47A-5CE3-4C00-83E8-BCCAB9061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9431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59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學習曲線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7AD63D-3BF5-4C37-9EA0-CB033B74E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43150"/>
            <a:ext cx="24003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Image、Container、Volume、Network 概念多。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03BEBFB-DCE4-4535-8B96-C41912580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714500"/>
            <a:ext cx="2952750" cy="13906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2D87AE-82F5-4BE7-A79D-707AC9F2B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9431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59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安全性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FFB005-CF20-41E2-A853-7438559FF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343150"/>
            <a:ext cx="24003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容器隔離不是完整 VM，預設 root 也要留意。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6B99982-32EB-431A-B484-3C56B695E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1714500"/>
            <a:ext cx="2952750" cy="13906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5A8BADE-6C7E-43B4-ACA7-D4475D4B1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9431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59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有狀態服務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8CEE440-E8B2-43AF-9E56-E4814C339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343150"/>
            <a:ext cx="24003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資料庫需要持久化與備份，正式環境常用託管服務。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B72395C-5C1F-49E9-8EF2-4219A4494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848100"/>
            <a:ext cx="2952750" cy="13906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3FD7F37-0F08-4845-8C0A-F5F4C93C0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40767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59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磁碟空間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AA75EA2-A09A-4AFC-BB57-418FD8595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4476750"/>
            <a:ext cx="24003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Image / Container 會越積越多，需要定期清理。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0EDD718-CC67-4AF8-B609-686AA314A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848100"/>
            <a:ext cx="2952750" cy="13906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6EA0C03-D34A-4D1C-B3B0-75458721F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0767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59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除錯複雜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27806BD-F244-428B-8783-530BE1DF4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476750"/>
            <a:ext cx="24003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網路、log、跨容器問題需要工具與流程。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6657373-CF5D-437D-B34A-9F9D256F7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5676900"/>
            <a:ext cx="9563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重點不是避開 Docker，而是知道什麼問題要補上 Volume、權限、監控與清理流程。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5B53CBD-505F-4608-8251-34E927562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13B8851-5C66-4046-83B3-4B4980C02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F3960E5-C7D1-45BD-94CB-5FC401DF6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91817937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08F161E-F89E-43C7-9BFE-6583AAB5D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MENTAL MODEL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BBC0268-3B6C-4A67-88F5-ED9882DBC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的三個核心名詞</a:t>
            </a:r>
          </a:p>
        </p:txBody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8addf24761433b"/>
          <a:srcRect xmlns:a="http://schemas.openxmlformats.org/drawingml/2006/main" l="106" t="0" r="106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77000" y="1504950"/>
            <a:ext cx="4762500" cy="2686050"/>
          </a:xfrm>
          <a:prstGeom xmlns:a="http://schemas.openxmlformats.org/drawingml/2006/main" prst="round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DCF23C-AF82-48D4-8FA3-9164C8616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504950"/>
            <a:ext cx="4762500" cy="2686050"/>
          </a:xfrm>
          <a:prstGeom xmlns:a="http://schemas.openxmlformats.org/drawingml/2006/main" prst="roundRect">
            <a:avLst>
              <a:gd name="adj" fmla="val 4965"/>
            </a:avLst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287D6B3-5032-4840-A4B8-5C530A8E5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38350"/>
            <a:ext cx="41910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B4530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FAA1587-762B-4867-B7BD-4A3A85246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20980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157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9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Registry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15DAA03-45C4-4D56-AA37-0E6C271DE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228850"/>
            <a:ext cx="1943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00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Docker Hub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存放 Image 的倉庫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E9F0F83-42F1-4BFB-B752-0A0EAA637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2924175"/>
            <a:ext cx="3619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0">
            <a:solidFill>
              <a:srgbClr val="2496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7B79D5-372A-43B8-8CCA-A66CBC2CF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00400"/>
            <a:ext cx="41910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0B5CA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9425EE7-E663-4095-A50F-0C84A3B2B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37185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157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9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Image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AD6D3A-8F72-480D-B3EA-F3A6D8007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3390900"/>
            <a:ext cx="1943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00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唯讀模板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包含程式與環境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173973C-F022-4A09-9A2B-E1771D28E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086225"/>
            <a:ext cx="361950" cy="3238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0">
            <a:solidFill>
              <a:srgbClr val="2496E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62EA80-0F90-4720-8B73-21F43FFDA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62450"/>
            <a:ext cx="41910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8C66211-1AC3-4E7D-B878-721E25EFC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53390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157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9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Container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A5FACDC-87C9-402F-A6C1-F5E062983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4552950"/>
            <a:ext cx="1943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00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Image 跑起來後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正在執行的實體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5C51B9A-5829-475D-85B2-79184081F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219700"/>
            <a:ext cx="8686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2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從 Registry 下載 Image，用 Image 啟動 Container。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96583B3-3E97-4665-99D0-FC84E537B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7A40B14-0E35-408D-8BC4-D584551A9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24E9CFE-B018-4CAB-81DC-8DDB8D883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79176403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5647509-A94C-40B4-9A3F-AE7CEB1D6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Q2-Q4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03ADBA9-006A-4DCD-8D23-C0757F35F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概念快問 3：把 Docker 流程說出來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0D03FC-AE75-482F-8EFC-8490DBEDE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619250"/>
            <a:ext cx="4476750" cy="16764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60A5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82685C8-948B-4DE3-B9E3-CB2AE365C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1809750"/>
            <a:ext cx="4019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757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17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Q2：三者一句話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754C0C1-242A-48F0-8CCE-C2578EA36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209800"/>
            <a:ext cx="40195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從 Registry 下載 Image，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再用 Image 啟動 Container。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8FE2263-5317-4CF1-8EAC-742C9D493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619250"/>
            <a:ext cx="4476750" cy="28575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A0DD79-802F-4EFB-9DFD-25C1DE841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1809750"/>
            <a:ext cx="4019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757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17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Q4：hello-world 做了什麼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A8FED6E-F780-4C52-AF67-653A0B835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209800"/>
            <a:ext cx="4019550" cy="2076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1. 找本機 Image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2. 沒有就 pull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3. 建立 Container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4. 啟動並輸出訊息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5. 程式結束後停止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E50DBE-D484-4471-AA4E-DFC718E2F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914900"/>
            <a:ext cx="8991600" cy="742950"/>
          </a:xfrm>
          <a:prstGeom xmlns:a="http://schemas.openxmlformats.org/drawingml/2006/main" prst="roundRect">
            <a:avLst>
              <a:gd name="adj" fmla="val 12821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BDC8BA2-C8EE-434F-882A-588C529D1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50768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1886403-C896-4A6C-A733-D0AD1EB01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0768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C01596E-AAD0-4D6F-AFD8-676061E1C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50768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2FE3521-8365-4039-82BD-7AA0B2059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334000"/>
            <a:ext cx="857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5723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1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21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hello-world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F88C61D-FC84-4CDD-A95F-C2D871097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41A6E8C-83CE-4B61-8645-025264825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5FE3EA0-9677-4AF2-9A72-242551475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12499525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9A90A9F-CC0E-4688-9F64-4C55B1BFC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SETUP CHECKLIST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AFAC74D-8593-415A-956F-FB597A82A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Windows 安裝前先確認四件事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6418761-2B0A-49BB-B13F-14B1C0854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695450"/>
            <a:ext cx="4762500" cy="1447800"/>
          </a:xfrm>
          <a:prstGeom xmlns:a="http://schemas.openxmlformats.org/drawingml/2006/main" prst="roundRect">
            <a:avLst>
              <a:gd name="adj" fmla="val 789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AEEDEB-89FC-44BB-8DB5-B33F9B50C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198120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839CF0-1FB7-4644-BB41-17CD75C02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095500"/>
            <a:ext cx="419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975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OK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D9C98B-CA7E-4C25-8F71-9C62CFCE2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1962150"/>
            <a:ext cx="342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Windows 10/11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BF5EEA2-5014-4F85-A557-CC446E797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362200"/>
            <a:ext cx="3429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64-bit，Windows 10 21H2 以上或 Windows 11。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F8FFE0-6028-4349-AADD-F390E43A2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1695450"/>
            <a:ext cx="4762500" cy="1447800"/>
          </a:xfrm>
          <a:prstGeom xmlns:a="http://schemas.openxmlformats.org/drawingml/2006/main" prst="roundRect">
            <a:avLst>
              <a:gd name="adj" fmla="val 789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D3E830D-0538-4C7F-861B-BF3164D63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98120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744EC2E-069B-475E-903A-2E172D7C4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095500"/>
            <a:ext cx="419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975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OK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2911082-A89E-4B92-9D99-10E21222D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1962150"/>
            <a:ext cx="342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WSL 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F098CD6-8EA3-4F9A-A1E7-F83F5DF17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362200"/>
            <a:ext cx="3429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Docker Desktop 在 Windows 上建議使用 WSL 2 後端。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3D187A5-4A1C-4D5B-921A-E2E0BC959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752850"/>
            <a:ext cx="4762500" cy="1447800"/>
          </a:xfrm>
          <a:prstGeom xmlns:a="http://schemas.openxmlformats.org/drawingml/2006/main" prst="roundRect">
            <a:avLst>
              <a:gd name="adj" fmla="val 789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DB58670-9E09-4B25-AB98-0980011A0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03860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B661189-7306-4C14-A9C3-63732A285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152900"/>
            <a:ext cx="419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975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OK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4BE20F3-D18D-4FEE-96ED-27CD8D148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019550"/>
            <a:ext cx="342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至少 4 GB RAM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8E81347-6824-4601-8663-A70D7DA0B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419600"/>
            <a:ext cx="3429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8 GB 電腦建議不要把超過 4 GB 分給 Docker。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C29AABF-E314-4E93-ADF2-79CC7E7F3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752850"/>
            <a:ext cx="4762500" cy="1447800"/>
          </a:xfrm>
          <a:prstGeom xmlns:a="http://schemas.openxmlformats.org/drawingml/2006/main" prst="roundRect">
            <a:avLst>
              <a:gd name="adj" fmla="val 789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AACF997-9893-47E9-B55D-6FD828BFF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038600"/>
            <a:ext cx="419100" cy="419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DC88DDE-1F8D-4CCE-84D4-DBE93C312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152900"/>
            <a:ext cx="419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975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OK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6D8AC27-F9AE-44F2-89CD-63CD5721C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4019550"/>
            <a:ext cx="342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虛擬化開啟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EB8BBD1-1AEE-4017-A988-7A6292186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4419600"/>
            <a:ext cx="3429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工作管理員 &gt; 效能 &gt; CPU &gt; 虛擬化：已啟用。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EC958AF-5857-4EE1-A391-D089CAB58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7BBD437-61C2-4FB6-83C3-B23A4A806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5FE4AB9-4222-412F-8D61-EFD7B66E8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16281045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6969390-5E01-4FAC-8D63-D6EB1768D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WINDOWS SUBSYSTEM FOR LINUX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00A1C21-82D1-4866-8646-BF1EE6849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WSL 2 安裝流程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1A5176-881D-4BA4-B803-9F2A406A2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8097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9525">
            <a:solidFill>
              <a:srgbClr val="2496E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A62021-0E33-4A51-BFD4-1277D7654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952625"/>
            <a:ext cx="55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61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7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5B62F0-803B-42E4-9DFE-5EFDCE53D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1981200"/>
            <a:ext cx="78105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94A3B8"/>
          </a:solidFill>
          <a:ln xmlns:a="http://schemas.openxmlformats.org/drawingml/2006/main" w="0">
            <a:solidFill>
              <a:srgbClr val="94A3B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B432EE0-4489-4E1D-B8D2-76C36DBFE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705100"/>
            <a:ext cx="1352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920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管理員 PowerShell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5181617-1E08-4189-A24A-ADA415584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" y="3276600"/>
            <a:ext cx="18478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右鍵以系統管理員身分執行。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836A342-B6AF-4B6E-B357-9EE53044E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18097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9525">
            <a:solidFill>
              <a:srgbClr val="2496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3BAF1CE-8985-445C-B5B9-A0D700D43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1952625"/>
            <a:ext cx="55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61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7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D24CA93-E8BE-4832-BAFE-0EFCDF84B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1981200"/>
            <a:ext cx="78105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94A3B8"/>
          </a:solidFill>
          <a:ln xmlns:a="http://schemas.openxmlformats.org/drawingml/2006/main" w="0">
            <a:solidFill>
              <a:srgbClr val="94A3B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4910E73-D086-4180-8283-32BA627F7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2705100"/>
            <a:ext cx="1352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wsl --install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B7962C-67BA-4226-A849-D4F063379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3276600"/>
            <a:ext cx="18478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啟用 WSL 與虛擬機平台，安裝 Ubuntu。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98FDFCB-C803-4DB8-9517-417E5C0CB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18097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9525">
            <a:solidFill>
              <a:srgbClr val="2496E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590CB9D-BAFA-465E-88DA-8192E266D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1952625"/>
            <a:ext cx="55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61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7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B1C3371-E6B8-4968-8DD9-D91CE3B7A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981200"/>
            <a:ext cx="78105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94A3B8"/>
          </a:solidFill>
          <a:ln xmlns:a="http://schemas.openxmlformats.org/drawingml/2006/main" w="0">
            <a:solidFill>
              <a:srgbClr val="94A3B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D2C5ACF-E284-4FFC-9157-8922246C3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705100"/>
            <a:ext cx="1352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重新開機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C6957D7-D047-4647-B92A-C9DC84CBC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276600"/>
            <a:ext cx="18478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讓 Windows 完成系統功能變更。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3F972D7-5321-43EC-880A-6C44178E7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18097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9525">
            <a:solidFill>
              <a:srgbClr val="2496ED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DE2A867-6C37-44A7-9D7B-80D7B4573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1952625"/>
            <a:ext cx="55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61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7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603E2A8-F74D-4F8D-9D47-EFE1C3B9E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1981200"/>
            <a:ext cx="78105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94A3B8"/>
          </a:solidFill>
          <a:ln xmlns:a="http://schemas.openxmlformats.org/drawingml/2006/main" w="0">
            <a:solidFill>
              <a:srgbClr val="94A3B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9937E25-D99C-4B59-91D1-FB6DF9C70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705100"/>
            <a:ext cx="1352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920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設定 Ubuntu 使用者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704FED2-839F-43E2-AAC1-16812F60D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276600"/>
            <a:ext cx="18478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使用小寫英文帳號；密碼輸入時不會顯示。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29C2D9F-B0E8-499D-979D-2D0882662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18097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9525">
            <a:solidFill>
              <a:srgbClr val="2496ED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2425B39-3680-4DC8-B24C-4D24B887B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1952625"/>
            <a:ext cx="552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61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7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72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5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7D0BEDF-F4BC-4DF7-AAE6-93BD5335F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705100"/>
            <a:ext cx="1352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920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確認 VERSION = 2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148DDB3-5EA5-4EC7-896F-726BAAF88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276600"/>
            <a:ext cx="18478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用 wsl --list --verbose 檢查。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248F788-B726-407B-9E5B-0931A5A83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4762500"/>
            <a:ext cx="7696200" cy="1123950"/>
          </a:xfrm>
          <a:prstGeom xmlns:a="http://schemas.openxmlformats.org/drawingml/2006/main" prst="roundRect">
            <a:avLst>
              <a:gd name="adj" fmla="val 8475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61DD982-849B-43B2-AAD4-1079B8FA4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49244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18C4C0C-E576-4FFE-A8D1-6A84F33E0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49244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7DA4123-E70D-4B47-9150-CD52264FC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49244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E72B7B1-3D74-44B1-B831-55EB0D897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5181600"/>
            <a:ext cx="7277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6009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wsl --install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wsl --version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wsl --list --verbose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wsl --shutdown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559A061-7FC9-479C-A333-008BF53EB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2122047-0A6A-4531-B40A-D8A2480CB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A2B7A6C-3638-4659-913A-AD155F056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806973548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1EB9C72-86EC-4885-B1B5-7C8BBF3DE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DOCKER DESKTOP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EEE227A-84B6-4F1D-9E48-88A659926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Desktop 不只是 GUI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F207B9-FC5A-4920-871F-0796D5FE3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695450"/>
            <a:ext cx="434340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306C14-B7A2-47FB-88FE-D70E962F0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885950"/>
            <a:ext cx="3886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06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Engine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EC7D58-3F50-4150-A27F-3BBF84C3F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286000"/>
            <a:ext cx="38862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真正負責建立與執行容器的核心引擎。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661E796-92E2-4621-A5A7-4A0544249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1695450"/>
            <a:ext cx="434340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E87C13-CB79-40A2-90EA-3D92987ED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885950"/>
            <a:ext cx="3886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06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Docker CLI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009CBE9-6A8B-4AD9-97E2-EC44E187B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286000"/>
            <a:ext cx="38862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命令列工具；後面實作主要用它。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41A253D-DF37-4C8B-95DA-FF14B79B4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448050"/>
            <a:ext cx="434340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3E800DF-1471-4D77-B158-D2E927B10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638550"/>
            <a:ext cx="3886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06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Compose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A628DF0-52ED-405D-86D3-E00940AB7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38600"/>
            <a:ext cx="38862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多容器管理工具，後面課程會用。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BBA8A30-F8BC-4B6F-BEE0-A41C68FB5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3448050"/>
            <a:ext cx="434340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E1A91C2-3200-496A-B03D-1DBC0F138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638550"/>
            <a:ext cx="3886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06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GUI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75114DF-CEC1-4747-AB6E-213B14E73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4038600"/>
            <a:ext cx="38862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920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觀察 Containers、Images、Volumes 與資源設定。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99DAF96-B7FA-4B7B-862D-BD4D2FCCE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219700"/>
            <a:ext cx="8991600" cy="533400"/>
          </a:xfrm>
          <a:prstGeom xmlns:a="http://schemas.openxmlformats.org/drawingml/2006/main" prst="roundRect">
            <a:avLst>
              <a:gd name="adj" fmla="val 17857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solidFill>
              <a:srgbClr val="0B122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38F41A6-9B6D-4B6E-B03F-789099144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5381625"/>
            <a:ext cx="8420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070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建議：用 GUI 學概念，用 CLI 做操作。伺服器與 CI/CD 幾乎都靠指令。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C793A1A-76D7-4694-853A-FCE5A4B79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50F584A-4E62-44DB-96BD-C644637F9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BCCCD77-567E-42A6-BDB3-0A4E64F5A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441454557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C14FA96-C56B-42E5-8421-71C1B4D22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VERIFICATION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BA3A269-969A-4AF5-AA30-5204763BA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安裝成功的最小驗證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CCB3DF-2AA2-45AD-818F-AD87EF5F6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714500"/>
            <a:ext cx="4857750" cy="1714500"/>
          </a:xfrm>
          <a:prstGeom xmlns:a="http://schemas.openxmlformats.org/drawingml/2006/main" prst="roundRect">
            <a:avLst>
              <a:gd name="adj" fmla="val 5556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159F1F-CD8A-4BB5-8C0D-40A924998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8764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A98560-50D9-4724-A3C5-0F2915F82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18764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D53BEA-3D52-47AD-A537-43AFAE307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8764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844242D-1E70-412E-9CFB-B7646B2E4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133600"/>
            <a:ext cx="443865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--version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hello-world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E67CAFD-D0F2-4128-B75B-24AEF5C04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5049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2496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862A544-3C85-47DA-8C40-2358DA353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609725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920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BB91210-65F4-4CED-A2B3-4627DDACE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15430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本機找不到 hello-world Image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F4A3B07-299F-4A60-BE6D-3C30ACD43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2860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2496ED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98FAABF-2379-4628-9275-79CB4D37E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390775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920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53CE441-0215-42D6-8DC9-B949845E9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32410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自動從 Docker Hub 下載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34269AB-CCF2-42DA-8553-77EEF4B22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0670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2496ED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E15F445-9F76-4A29-B286-424CD738D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171825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920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5E87D2E-FAFE-458F-AF92-2FF81EB7A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105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用 Image 建立 Container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0975F8C-4DCD-4BD9-B655-1AACCE642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8481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2496ED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08D61D0-7AAB-4309-9CF3-3B2E3CBC7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952875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920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C9D1987-C486-4263-8109-0C62D398E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88620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Container 印出歡迎訊息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B948148-43C8-443B-A44C-4781DB2C0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6291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2496ED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AE532C6-C958-4E1D-A4A5-6488FD636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733925"/>
            <a:ext cx="400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9206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AE8C740-81F1-4495-B2EC-4782467BB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46672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650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程式結束，Container 自動停止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3C6CFFA-33D9-4C93-8A7C-0A1D0563F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55BB718-D453-4366-8A60-FF4D9AADB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0C3B678-71D0-4244-8FA7-113C7F693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924671920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1937F1E-8BBC-465D-AB99-F5E36A244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IMAGE LAYERS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00D7B1-E891-4AE6-B658-940D0E5C2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Image 是分層的唯讀模板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99C67B1-993A-48A5-A373-6752BD394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1619250"/>
            <a:ext cx="67627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0B5CA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77D6954-15C0-4108-B3DC-6C8BB0B03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1781175"/>
            <a:ext cx="3714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61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你的應用程式程式碼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72F83C-5C3D-4136-8F0C-F5D360C5E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1790700"/>
            <a:ext cx="167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275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最常變動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E14C0BD-E4FE-447A-AEA9-823EE5C16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3200" y="2438400"/>
            <a:ext cx="62293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5E940AF-A205-4AEB-A151-B89DCC9D9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600325"/>
            <a:ext cx="3714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61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pip install 安裝的套件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B27625D-37D5-49D7-B928-637B7FDF0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2609850"/>
            <a:ext cx="167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275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依賴層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391DA60-0492-48E3-8E49-C7F47712F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257550"/>
            <a:ext cx="56959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B4530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0B49F2E-7F6D-4B65-B7CB-7BB01C8AB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3419475"/>
            <a:ext cx="3714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61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Python 3.11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72A641-C4BF-4645-A47C-D94858B1A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429000"/>
            <a:ext cx="167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27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執行環境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A9F2ABB-B471-4065-B9AE-4344E70B9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4076700"/>
            <a:ext cx="51625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47556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0BF0CC7-95E7-4565-B21E-64FAC6AC8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4238625"/>
            <a:ext cx="3714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61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7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Ubuntu / Alpine Linux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8BF01F1-57D4-45DA-A395-C70122091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248150"/>
            <a:ext cx="167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275" b="1">
                <a:solidFill>
                  <a:srgbClr val="475569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475569"/>
                </a:solidFill>
                <a:latin typeface="Aptos"/>
                <a:ea typeface="Aptos"/>
                <a:cs typeface="Aptos"/>
              </a:rPr>
              <a:t>基礎系統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6DD3634-A196-4649-A2BE-A6CBC70E6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5334000"/>
            <a:ext cx="9867900" cy="495300"/>
          </a:xfrm>
          <a:prstGeom xmlns:a="http://schemas.openxmlformats.org/drawingml/2006/main" prst="roundRect">
            <a:avLst>
              <a:gd name="adj" fmla="val 1923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B62B0B1-3CBE-486D-9DAC-CFE65D733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5476875"/>
            <a:ext cx="9258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070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7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分層的好處：共用底層節省空間，只有變動的層需要重新下載或建構。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6DAA610-29D4-4753-8E2F-305E87D39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7C46CA4-D327-4F7A-B341-389FC9F6A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3158B77-E9CE-42D5-BCB2-00E6B864D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712115332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4ECC77D-5DD6-4A43-B585-BB70382C0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REGISTRY AND TAGS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2CE4C7-31F4-40D3-BA6B-47DDA8DE2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Hub 是 Image 的倉庫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54A974-F24C-4EBF-BFDE-805699003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619250"/>
            <a:ext cx="323850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F25314-94AC-49D4-ABF3-F2441AE47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809750"/>
            <a:ext cx="2781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搜尋官方映像檔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DB4326-0AF9-4224-8E57-6733A7720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209800"/>
            <a:ext cx="27813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搜尋 python、nginx、mysql 時，優先看官方映像檔與 Overview 文件。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93F2E69-5E7A-4A34-87EB-7BAC0DBAE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619250"/>
            <a:ext cx="323850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1B73CAC-1A41-4298-BE77-4215B00E1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1809750"/>
            <a:ext cx="2781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Tag 是版本標籤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50B120-7620-4716-9441-D0F1ECA21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2209800"/>
            <a:ext cx="27813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python:3.11、python:3.11-slim、python:3.11-alpine 都是不同 tag。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8B2299-5630-488E-BD1C-457BCD93F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1619250"/>
            <a:ext cx="323850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9B0D1C-A2A4-47C6-BB28-234224D24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809750"/>
            <a:ext cx="2781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不要依賴 latest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69505A-790A-4C58-8F13-F7D105849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209800"/>
            <a:ext cx="27813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生產環境應指定具體版本，避免某天重建時拿到不同內容。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475C0D-A5C2-46D7-B142-3CD6242DD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095750"/>
            <a:ext cx="8953500" cy="1257300"/>
          </a:xfrm>
          <a:prstGeom xmlns:a="http://schemas.openxmlformats.org/drawingml/2006/main" prst="roundRect">
            <a:avLst>
              <a:gd name="adj" fmla="val 7576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FD89E29-3309-4A06-8894-1C1A88FE7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42576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85929C8-F7E1-4507-82C6-118CEC10C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42576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247F4DC-81B1-4216-8852-CC7714620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42576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D4CD7AC-CD0F-43FC-9F31-330E4732B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4514850"/>
            <a:ext cx="8534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984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python:3.11          # 完整版，基於 Debian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python:3.11-slim     # 精簡版，移除不常用套件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python:3.11-alpine   # 超輕量，但可能有相容性問題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59D09AD-E5C3-40BA-BABB-E5B077045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683B340-38D9-4113-9F79-0E7C40608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62E9418-DF1F-481E-9AF7-823295DDE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96209360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D9DC56D-058C-4622-A1B7-1DE6C3F14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IMAGE COMMANDS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991CB9-89EB-4CE4-8F06-95C3A1581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今天先掌握四種 Image 指令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1D3F1CE-7D1F-4B5D-A75A-2D3685410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00200"/>
            <a:ext cx="5095875" cy="228600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BBC04E-6B75-4AB8-AD4E-BB90B63EA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621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FE2FFA-99A4-4E25-8DF7-DCC9B42AA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621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460A033-8297-4079-8E2A-C6CDBC73E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7621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E81F1D7-6507-4C84-9C83-497AD9DEE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19300"/>
            <a:ext cx="4676775" cy="1733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拉取映像檔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pull python:3.11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pull python:3.11-slim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查看本機映像檔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images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3C9FE56-CC23-4866-9C03-5C5824648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600200"/>
            <a:ext cx="5095875" cy="228600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5E5422-61D7-4074-9829-D790B1712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17621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F6AFB1-6F0B-495D-93EB-DDCF2D3B8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7621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2C009DC-887F-48EF-A591-6FF2056B2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17621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055AE8D-80BF-48EA-9B1F-5A304083D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019300"/>
            <a:ext cx="4676775" cy="1733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搜尋映像檔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search nginx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刪除映像檔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rmi python:3.11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rmi abc123def456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76BBA69-79A7-403F-9FFA-B66886B59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4438650"/>
            <a:ext cx="323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259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images 輸出怎麼讀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46A8064-A59D-4001-8A1B-BFC822484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4857750"/>
            <a:ext cx="2095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98ED531-D773-4D2F-89FC-10797C77A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857750"/>
            <a:ext cx="4000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91B343F-E5E1-4950-A7E4-9547CC038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4914900"/>
            <a:ext cx="1714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465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REPOSITORY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3FBCA2F-4D03-4390-A80E-26D87E25C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914900"/>
            <a:ext cx="361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465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映像檔名稱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78B0C08-61E8-4097-9BA6-ADCCF858E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5181600"/>
            <a:ext cx="2095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92B5E4F-F103-4616-9CA2-0A930473E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5181600"/>
            <a:ext cx="4000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697CA2F-7D56-4B4A-98B1-8B9DC1DEB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5238750"/>
            <a:ext cx="1714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465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TAG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C0F9D03-1DF0-4330-9E24-6C5F7DBC1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5238750"/>
            <a:ext cx="361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465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版本標籤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4A071A9-8DD4-4DD5-8861-5A6E08D98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5505450"/>
            <a:ext cx="2095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AC63333-168A-4DAC-8979-EB5B343AF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5505450"/>
            <a:ext cx="4000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6C1B88A-88C9-4BC3-9346-0A6F3AC8B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5562600"/>
            <a:ext cx="1714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465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IMAGE ID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4B30AA9-85DE-4639-9F70-8725B9CB5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5562600"/>
            <a:ext cx="361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465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唯一識別碼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9FA415E-93D0-4D2F-9B2B-E33996B7F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5829300"/>
            <a:ext cx="2095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03D98DF-9118-4CE1-AB53-9E8E375E1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5829300"/>
            <a:ext cx="4000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85169BC-1FD3-4718-A757-1097E0448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850" y="5886450"/>
            <a:ext cx="1714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465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SIZE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5D49EF0-04EB-4A63-9B7B-04DD06369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5886450"/>
            <a:ext cx="361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465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映像檔大小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A35FD8C-D018-40B7-8087-9872393D5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B59F1D6-7343-4001-8C43-FF5E89616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3C12906-5B40-452C-B031-965FAC79B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2046573979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4D00132-D554-43D1-B919-01B308681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EXERCISE P1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B84710F-1E13-4983-B407-54520F8AD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實作題 P1：拉取並比較 Image 大小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EE4F64F-198D-41C8-B8FD-6A0800237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24000"/>
            <a:ext cx="5905500" cy="2343150"/>
          </a:xfrm>
          <a:prstGeom xmlns:a="http://schemas.openxmlformats.org/drawingml/2006/main" prst="roundRect">
            <a:avLst>
              <a:gd name="adj" fmla="val 4065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1061BD-3FB3-4D04-AD2A-C3C3B2E42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6859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0389E0-3120-4574-B40F-44CBA4054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16859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D90839-55CC-4684-93F0-D4559AC3B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6859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506171-E4C9-4FEA-BCD7-7867A9C78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943100"/>
            <a:ext cx="54864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pull python:3.11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pull python:3.11-slim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pull python:3.11-alpine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images | findstr python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CAC68C7-65FE-4BBE-95D6-3936ECA6F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1657350"/>
            <a:ext cx="3429000" cy="66675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9FEB4B0-5BF2-4764-899D-482B1C49E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1790700"/>
            <a:ext cx="1562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python:3.11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AEE7295-8194-427B-9357-E77883F61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80022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完整環境，體積最大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92AF311-A401-4463-89D1-580CCCA66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552700"/>
            <a:ext cx="3429000" cy="66675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D244723-9A0E-464F-907D-0123CFA76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686050"/>
            <a:ext cx="1562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python:3.11-slim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2771EC6-85DA-4D5B-B7D1-9D6027315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69557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7516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精簡 Debian，常用折衷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2155652-FA24-4B23-8A8F-FC464E958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448050"/>
            <a:ext cx="3429000" cy="66675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BA197D3-B080-4828-B033-F83925360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3581400"/>
            <a:ext cx="1562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python:3.11-alpine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334C94E-4C1C-43CB-83BC-F08BD6B06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590925"/>
            <a:ext cx="1390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70203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最小，但可能遇到相容性問題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349052D-43BC-4D88-8658-C5945D5CD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4914900"/>
            <a:ext cx="90297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118C841-3D15-4F7D-8121-D4F78A101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5124450"/>
            <a:ext cx="8420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070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57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完成標準：記錄三個 SIZE，並能說出為什麼 tag 不同，大小會差很多。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F2D0645-7F38-40BF-B42B-CC59BD53D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17D1FE5-E56A-4676-A15D-A917356B1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E94CD2B-4A67-4DFF-BDA7-A9393AEA5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592974525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640D1CD-CDA7-49AE-82CD-AF418B9EB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NGINX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001B84-13CD-409D-8082-997BCC788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第一個 Web 容器選 Nginx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4B6848-BB7F-4F08-AAB8-13E55F971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28750"/>
            <a:ext cx="9906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Nginx 是常見的 Web 伺服器，適合用來示範「一行指令架起網站服務」。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244D37-C80B-4973-A26E-C413CFF9D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47900"/>
            <a:ext cx="3086100" cy="1447800"/>
          </a:xfrm>
          <a:prstGeom xmlns:a="http://schemas.openxmlformats.org/drawingml/2006/main" prst="roundRect">
            <a:avLst>
              <a:gd name="adj" fmla="val 789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23DE97-73A6-443C-8876-BC2770DD3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438400"/>
            <a:ext cx="2628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靜態檔案伺服器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D082FF-B72E-4DAC-85F9-0083BA4DF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838450"/>
            <a:ext cx="2628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直接傳送 HTML、CSS、JS、圖片。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D39C5B-2286-42B6-BB40-27AB851FD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247900"/>
            <a:ext cx="3086100" cy="1447800"/>
          </a:xfrm>
          <a:prstGeom xmlns:a="http://schemas.openxmlformats.org/drawingml/2006/main" prst="roundRect">
            <a:avLst>
              <a:gd name="adj" fmla="val 7895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D70D078-7DB6-47B2-8BB2-0A0F2B99B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438400"/>
            <a:ext cx="2628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反向代理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DDC8595-5018-4955-ABB6-BB527C7C7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838450"/>
            <a:ext cx="2628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把外部請求轉發給 Flask / Django。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7C79345-FFAD-4A07-BAF8-64717016D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247900"/>
            <a:ext cx="3086100" cy="1447800"/>
          </a:xfrm>
          <a:prstGeom xmlns:a="http://schemas.openxmlformats.org/drawingml/2006/main" prst="roundRect">
            <a:avLst>
              <a:gd name="adj" fmla="val 789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84C3A66-4B90-4F5E-B8A1-48B7D5A95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438400"/>
            <a:ext cx="2628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負載均衡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E83A5C8-8D68-4E0C-B01B-97DD2E353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838450"/>
            <a:ext cx="2628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把大量請求分散到多台後端。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CEADCA3-D156-43A4-AAE6-A4A7E0BBA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4438650"/>
            <a:ext cx="819150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0">
            <a:solidFill>
              <a:srgbClr val="0B1220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81CDC5D-0278-4538-BCF5-4A78B125B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610100"/>
            <a:ext cx="7429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372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2100" b="1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21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使用者 -&gt; Nginx (80/443) -&gt; Flask (5000)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853E42E-42DD-419E-9794-A51FD7ACA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B3C9ACF-57B5-477A-AB7E-7460A1696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F00B248-98AC-4340-8159-0B5B45264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1497110790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0901BB1-F80C-4F4D-9C07-77D63BC71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LOCALHOST VS PRODUCTION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947107D-1F8A-4E55-8556-A770616B5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localhost 能跑，不代表網站已上線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DFA5414-B436-4567-AD0E-C41CF8F2F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657350"/>
            <a:ext cx="4381500" cy="3219450"/>
          </a:xfrm>
          <a:prstGeom xmlns:a="http://schemas.openxmlformats.org/drawingml/2006/main" prst="roundRect">
            <a:avLst>
              <a:gd name="adj" fmla="val 35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B72802-9953-453B-B9DC-CDE453217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98120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304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1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開發環境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DCDBFD-7141-46FC-8095-F0CE798CE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571750"/>
            <a:ext cx="3429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`http://localhost:5000`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7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只有你自己的電腦能連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7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電腦關機服務就中斷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7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通常沒有 HTTPS 與正式防護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C644A6C-EBCB-4B9C-B66F-BF4627444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028950"/>
            <a:ext cx="952500" cy="4572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0">
            <a:solidFill>
              <a:srgbClr val="2496ED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B1F1D4-7F8A-4508-B12B-AB7A0A988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1657350"/>
            <a:ext cx="4381500" cy="3219450"/>
          </a:xfrm>
          <a:prstGeom xmlns:a="http://schemas.openxmlformats.org/drawingml/2006/main" prst="roundRect">
            <a:avLst>
              <a:gd name="adj" fmla="val 3550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849FC39-BF76-4AC4-9A54-0A0AEBB01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98120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304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1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正式上線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2B9E6EA-E570-42DA-8EF2-EF0377DBC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571750"/>
            <a:ext cx="3429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網域與公開 IP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725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Web 伺服器處理流量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725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HTTPS 憑證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725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伺服器 24 小時不中斷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D538B8E-1C20-42FD-83C8-9EA657D46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5429250"/>
            <a:ext cx="9258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這堂先把本機的 Nginx 跑起來，理解 Web 服務與 port mapping。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66A961F-FBC7-4FCA-99B4-54F7D8E79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5333EAA-C88F-4609-BB7A-8C67B8A6E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5AC0DAD-C2E9-4178-BC87-CA262830E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1467912537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E9B2343-247C-4793-B7F8-8913EFDB2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HOST, CONTAINER, PORT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4E0EC5-0946-4154-A5B4-0B94A5C54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宿主機和容器是隔離的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49AD0CA-FDE5-4708-BA4C-C0AD075FD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600200"/>
            <a:ext cx="10058400" cy="3733800"/>
          </a:xfrm>
          <a:prstGeom xmlns:a="http://schemas.openxmlformats.org/drawingml/2006/main" prst="roundRect">
            <a:avLst>
              <a:gd name="adj" fmla="val 3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2E34D9-09F4-4C31-BED0-91B96016C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1943100"/>
            <a:ext cx="342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68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宿主機：你的 Windows 電腦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476A26-884A-4854-A394-5F4351F31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2781300"/>
            <a:ext cx="2571750" cy="1390650"/>
          </a:xfrm>
          <a:prstGeom xmlns:a="http://schemas.openxmlformats.org/drawingml/2006/main" prst="roundRect">
            <a:avLst>
              <a:gd name="adj" fmla="val 8219"/>
            </a:avLst>
          </a:prstGeom>
          <a:solidFill xmlns:a="http://schemas.openxmlformats.org/drawingml/2006/main">
            <a:srgbClr val="F6F8FB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6DBBDDC-B318-4A06-9A74-0070BFCD1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3295650"/>
            <a:ext cx="2266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23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75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875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localhost:8080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B6BC11-D7C7-4D23-AE12-1416DEBB9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3276600"/>
            <a:ext cx="1314450" cy="4191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96ED"/>
          </a:solidFill>
          <a:ln xmlns:a="http://schemas.openxmlformats.org/drawingml/2006/main" w="0">
            <a:solidFill>
              <a:srgbClr val="2496E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19EC5F2-B3A7-4DE7-83E9-E7EF3E4BE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438400"/>
            <a:ext cx="2800350" cy="2038350"/>
          </a:xfrm>
          <a:prstGeom xmlns:a="http://schemas.openxmlformats.org/drawingml/2006/main" prst="roundRect">
            <a:avLst>
              <a:gd name="adj" fmla="val 6542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2496E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95B5DEE-D1D4-4ACA-A54C-79D9C0611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72415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157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9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容器：Nginx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51308A5-6EFE-48FB-AF74-CAD23DE3D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333750"/>
            <a:ext cx="1428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314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31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80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AB99C0B-6E1B-4BFB-A45E-571B4CF15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90525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7002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350" b="0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0B5CAD"/>
                </a:solidFill>
                <a:latin typeface="Aptos"/>
                <a:ea typeface="Aptos"/>
                <a:cs typeface="Aptos"/>
              </a:rPr>
              <a:t>容器內部 port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0325177-8E99-4824-9078-35B3354B9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4762500"/>
            <a:ext cx="4610100" cy="914400"/>
          </a:xfrm>
          <a:prstGeom xmlns:a="http://schemas.openxmlformats.org/drawingml/2006/main" prst="roundRect">
            <a:avLst>
              <a:gd name="adj" fmla="val 10417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8A9FDCF-CB53-472E-8A2C-3DBC81F9C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62400" y="49244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5514A67-8BB4-44B0-9432-0D6A9C956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49244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BE62B17-F2D9-4DAE-AFA9-1301C0746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9244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AFEEA30-3155-409D-B55C-6B678CCE2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5181600"/>
            <a:ext cx="4191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5437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1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21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-p 8080:80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21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21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主機:容器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6FFBECA-02A5-4167-849F-556DAEE55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009DE75-F51E-4EF7-9885-1D250844A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057E42B-BAAD-4263-A4AB-FDEBFD099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1085389725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0F0B875-88F9-4C42-81A5-7F93AC5E0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FIRST CONTAINER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90102B7-7679-4B33-B651-6D6D48A38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一行指令跑起 Nginx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F5E232-9EA6-4FD6-A86F-8FAE676D1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95450"/>
            <a:ext cx="10629900" cy="1162050"/>
          </a:xfrm>
          <a:prstGeom xmlns:a="http://schemas.openxmlformats.org/drawingml/2006/main" prst="roundRect">
            <a:avLst>
              <a:gd name="adj" fmla="val 8197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46ADA78-404C-4011-A4BA-8FCD2B952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8573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C9E834-9B1D-4859-A1AA-66BC5B26B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8573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4D407C8-0DEF-4080-8FBE-B4DD8F5A3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8573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B04501C-FAD7-4105-90FD-069C6B6F5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14550"/>
            <a:ext cx="10210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1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21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my-web -p 8080:80 nginx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222C580-33BF-4BBA-BF01-53F32CE56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43300"/>
            <a:ext cx="1962150" cy="1257300"/>
          </a:xfrm>
          <a:prstGeom xmlns:a="http://schemas.openxmlformats.org/drawingml/2006/main" prst="roundRect">
            <a:avLst>
              <a:gd name="adj" fmla="val 7576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EB12A3-9B5B-4103-B723-8EFF93CB1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752850"/>
            <a:ext cx="1657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docker run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0201A3B-4E79-4AD9-BFDB-B9E9BD4E9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171950"/>
            <a:ext cx="16573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用 Image 建立並啟動 Container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82BFA7B-5552-4ADD-A27E-E5292A7DB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543300"/>
            <a:ext cx="1962150" cy="1257300"/>
          </a:xfrm>
          <a:prstGeom xmlns:a="http://schemas.openxmlformats.org/drawingml/2006/main" prst="roundRect">
            <a:avLst>
              <a:gd name="adj" fmla="val 7576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3C7A9E7-04C0-4243-A1D4-99F06A17E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3752850"/>
            <a:ext cx="1657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-d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C99FF07-705D-437A-AA2D-E8BDE073B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4171950"/>
            <a:ext cx="16573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背景執行，適合 Web 伺服器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3669DB9-5F81-4429-9909-92C80C20E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3543300"/>
            <a:ext cx="1962150" cy="1257300"/>
          </a:xfrm>
          <a:prstGeom xmlns:a="http://schemas.openxmlformats.org/drawingml/2006/main" prst="roundRect">
            <a:avLst>
              <a:gd name="adj" fmla="val 7576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2C2E766-8D96-4AD4-B6F7-46ACF639C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3752850"/>
            <a:ext cx="1657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--name my-web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E660590-A31E-47C8-9B3E-3E426B0DF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4171950"/>
            <a:ext cx="16573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幫容器取名字，後續指令好操作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586563C-BD9B-4550-AA2E-E19061308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543300"/>
            <a:ext cx="1962150" cy="1257300"/>
          </a:xfrm>
          <a:prstGeom xmlns:a="http://schemas.openxmlformats.org/drawingml/2006/main" prst="roundRect">
            <a:avLst>
              <a:gd name="adj" fmla="val 7576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ED621C3-3260-468F-B528-AEB42E2D8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3752850"/>
            <a:ext cx="1657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-p 8080:80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4618F41-0AFC-4278-8462-00B4BD7C1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4171950"/>
            <a:ext cx="16573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主機 8080 對到容器 80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723167B-AC4E-4DE8-B935-C5D92D0EA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3543300"/>
            <a:ext cx="1962150" cy="1257300"/>
          </a:xfrm>
          <a:prstGeom xmlns:a="http://schemas.openxmlformats.org/drawingml/2006/main" prst="roundRect">
            <a:avLst>
              <a:gd name="adj" fmla="val 7576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34155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A5C58FF-D156-478B-AB7D-D00FF6842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3752850"/>
            <a:ext cx="1657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nginx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303536D-8C9D-4A72-B470-06C7107EB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4171950"/>
            <a:ext cx="16573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要使用的 Image 名稱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AA0306F-7D1B-4E07-B6FB-6DCB4F6FE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2B5EFB7-35A2-4E3F-97FD-0F0F9F05C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9B05121-9523-42FF-A662-0AC657C9B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575777130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CAA409E-CE05-4C5E-ADC8-C18832D50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BROWSER CHECK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A49600-EA76-4FC1-A448-29A2F53CA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成功訊號：瀏覽器看到 Welcome to nginx!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F370196-28A1-454D-A8E6-1C3772C6D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1638300"/>
            <a:ext cx="7162800" cy="990600"/>
          </a:xfrm>
          <a:prstGeom xmlns:a="http://schemas.openxmlformats.org/drawingml/2006/main" prst="roundRect">
            <a:avLst>
              <a:gd name="adj" fmla="val 9615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33BD5A-864B-4D98-9E4C-0BBA5D5F5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18002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4D0D86-8670-46C1-8F9A-8378E225A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8002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4D9DC6-9A33-4EC6-969A-C2B3791CD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8002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768836-6ED9-448B-915E-6F349126A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057400"/>
            <a:ext cx="67437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24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24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http://localhost:8080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543CBF9-E613-4335-B3ED-8C9B10512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3162300"/>
            <a:ext cx="8191500" cy="165735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F5C6897-D7D2-4E57-B20F-E7ADB9988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562350"/>
            <a:ext cx="7429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658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33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33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Welcome to nginx!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8FE8F9F-ECCF-4A01-B472-F63475F6F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191000"/>
            <a:ext cx="742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你剛剛用一行指令建立了一個正在運行的 Web 伺服器。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B51D968-F2D8-4B6D-AFFF-B4ACC7E3D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8976A5F-7DD3-4A6D-93C6-B3A6A89E9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8A59756-AC03-4A36-BD02-3D8FF9CA9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791865755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3884C80-27E7-4DF1-A847-3C7EAE8B3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DOCKER EXEC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4079223-5DA5-45C5-A0A0-2F497DC39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進入容器，理解檔案系統隔離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37CF8C7-B49E-4650-B910-8B38FF1B3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543050"/>
            <a:ext cx="4953000" cy="3676650"/>
          </a:xfrm>
          <a:prstGeom xmlns:a="http://schemas.openxmlformats.org/drawingml/2006/main" prst="roundRect">
            <a:avLst>
              <a:gd name="adj" fmla="val 2591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BB16EC9-B22F-4056-A1A7-9EED172DA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049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E91711-1E54-4371-9D3F-9305972C9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7049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75D37DE-FBE8-4A9A-AA88-06CDE2ABF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7049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3D6C357-E1A7-49E4-B932-B064F143A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962150"/>
            <a:ext cx="4533900" cy="3124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exec -it my-web sh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pwd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ls /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cd /usr/share/nginx/html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ls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cat index.html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exit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EC9449-7A61-447C-AC3A-496B252CC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638300"/>
            <a:ext cx="4362450" cy="3219450"/>
          </a:xfrm>
          <a:prstGeom xmlns:a="http://schemas.openxmlformats.org/drawingml/2006/main" prst="roundRect">
            <a:avLst>
              <a:gd name="adj" fmla="val 4142"/>
            </a:avLst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B7D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119C80B-31D6-41BD-A75F-84305AB57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247900"/>
            <a:ext cx="36004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6000"/>
              </a:lnSpc>
              <a:buNone/>
              <a:defRPr sz="210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210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/usr/share/nginx/html/index.html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94F034-D9CD-4F2C-A288-92F182626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257550"/>
            <a:ext cx="3429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650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這就是剛才瀏覽器看到的歡迎頁面。容器內部有自己的檔案系統，和宿主機分開。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DF0084B-D2FA-4B19-9458-21DCD4438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0D6D50C-EC23-491F-AFF7-A632F9C5D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0B06481-8D38-4633-8F83-E6CA0BF44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1209346954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785A105-2B81-4B56-AE1D-EA18C41AC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EXERCISE P2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CDB3B6A-D03E-46B2-B8A4-08F608B7F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實作題 P2：啟動 Nginx 並自訂歡迎頁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065FCA-FFE9-4F18-A159-749E7EA57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335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2496ED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ED22F91-AE3E-4429-947D-2A20D3E7C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857375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337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4EEF8C-527C-4AFC-97B9-453F2A2C1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1581150"/>
            <a:ext cx="3905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建立 my-html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281EF3-17F6-4C62-8598-A960C19B7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1962150"/>
            <a:ext cx="3905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資料夾內放 index.html，內容寫自己的名字。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C6BBCFB-6B21-46DD-BF50-32EF745D6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17335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F3FF"/>
          </a:solidFill>
          <a:ln xmlns:a="http://schemas.openxmlformats.org/drawingml/2006/main" w="9525">
            <a:solidFill>
              <a:srgbClr val="2496E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2B7A77-9158-4F1B-B9E9-33BCF94B2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1857375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337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3910725-E66C-410D-955D-E5ABA6437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581150"/>
            <a:ext cx="3905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掛載到 Nginx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50B8307-1F3D-4DA2-870E-483B88B6C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1962150"/>
            <a:ext cx="3905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把 my-html 掛到 /usr/share/nginx/html。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FE36071-EFC3-4BB2-9935-32567E6F6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4861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9057127-868A-4BDB-9D8B-5DE6B72DB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609975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337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0E0B583-8B59-407D-81C2-384A709A0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333750"/>
            <a:ext cx="3905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瀏覽器確認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21FE4F8-9DE1-421D-9687-624758034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714750"/>
            <a:ext cx="3905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打開 localhost:8080，看到自己的內容。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CA81235-B0D1-4A90-BA75-954D4F5F9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48615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7F8F2"/>
          </a:solidFill>
          <a:ln xmlns:a="http://schemas.openxmlformats.org/drawingml/2006/main" w="9525">
            <a:solidFill>
              <a:srgbClr val="00A97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FB85B9D-D89F-461F-B9F5-B3192BE0E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609975"/>
            <a:ext cx="457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337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C187838-CB06-46F3-A419-7D3D1D1E5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333750"/>
            <a:ext cx="3905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進容器檢查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C522391-7AB7-460E-8EBF-B63511E48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714750"/>
            <a:ext cx="3905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cat /usr/share/nginx/html/index.html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8A4247D-FE4D-4C10-9306-9B618288D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029200"/>
            <a:ext cx="9677400" cy="952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A76ADCA-5B68-44C2-8873-802D75467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911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FD713CB-4C14-4FC8-AECF-EF51C148C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1911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364F389-F718-4829-A8B5-667B2A8E1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519112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4F2CCEE-4655-4079-95F9-EB8F71838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5448300"/>
            <a:ext cx="9258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012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course-nginx -p 8080:80 \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-v "${PWD}\my-html:/usr/share/nginx/html:ro" nginx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93B7D36-7886-4218-AC77-8A79E6E1B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05C4E82-71DD-4AA6-84F4-6B20CDE78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1C55653-9566-4AC5-8B34-CF732B7D9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1807398680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6F8F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2D72500-4ECE-4EF4-AF6D-1C7103D55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CONTAINER LIFECYCLE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79AA9D-1CB6-4577-A990-F24C3203D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第一堂必會的容器生命週期指令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928344-03DB-4672-B876-342328948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04950"/>
            <a:ext cx="4762500" cy="3886200"/>
          </a:xfrm>
          <a:prstGeom xmlns:a="http://schemas.openxmlformats.org/drawingml/2006/main" prst="roundRect">
            <a:avLst>
              <a:gd name="adj" fmla="val 2451"/>
            </a:avLst>
          </a:prstGeom>
          <a:solidFill xmlns:a="http://schemas.openxmlformats.org/drawingml/2006/main">
            <a:srgbClr val="0B1220"/>
          </a:solidFill>
          <a:ln xmlns:a="http://schemas.openxmlformats.org/drawingml/2006/main" w="9525">
            <a:solidFill>
              <a:srgbClr val="1E293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1E50CD-71DD-40D9-B178-2A8691ACD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668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718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A868E7-6A8E-4112-B19C-9640F368C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16668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BBF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CA1AE3-6308-40AC-9AE7-EE9D5F5FD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16668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4D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A930BD-E992-46A3-9E91-7EC14975E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924050"/>
            <a:ext cx="4343400" cy="3333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查看狀態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查看 log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logs my-web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停止與啟動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stop my-web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start my-web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用完後刪除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 -f my-web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2654F34-82C4-4FE2-A051-FC002A93F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619250"/>
            <a:ext cx="4286250" cy="16764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6DD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73EB925-1B76-451F-A4FA-62ECFF471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809750"/>
            <a:ext cx="3829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06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2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卡住時先查三件事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C60DB7A-83F3-46B9-A4D4-D908FD6F7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209800"/>
            <a:ext cx="38290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1. Docker Desktop 是否啟動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2. 容器是否真的 Up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3. 8080 port 是否被佔用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09A5C67-8EC2-4D03-BF3E-19FF1B2CC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714750"/>
            <a:ext cx="4286250" cy="1466850"/>
          </a:xfrm>
          <a:prstGeom xmlns:a="http://schemas.openxmlformats.org/drawingml/2006/main" prst="roundRect">
            <a:avLst>
              <a:gd name="adj" fmla="val 77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2E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F8E021A-0BBC-4BE3-9D6F-FF53DCD01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905250"/>
            <a:ext cx="38290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06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刪 Image 前先刪 Container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A15416C-6397-4945-BAE5-1B45BFBA8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305300"/>
            <a:ext cx="38290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23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只要還有容器使用某個 Image，不管容器是否停止，docker rmi 都可能失敗。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C65C2FE-A7DA-4BB7-8191-A2A1861C1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2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F78135E-EC87-4A4B-B5DC-67A73CA39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37E8EB5-2C0A-40C2-A148-0F79CE92C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105072459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0B122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2C7E7D4-B893-4462-9810-1E279C5F2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P3 / CHALLENGE C1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ED1CD1-FB83-4277-AB4B-4A6C645FB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8572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實作題 P3 + 挑戰題：清理與 Apache/httpd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AD4DD0C-AB44-4DB1-A664-313AB63A2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76400"/>
            <a:ext cx="476250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60A5F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9E48D5-BF1E-49DD-B337-8A74A5193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866900"/>
            <a:ext cx="4305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070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P3：清理練習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AB7213-19A9-4E3D-BB39-5993C645C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266950"/>
            <a:ext cx="4305300" cy="169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docker rm -f course-nginx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docker rmi python:3.11 python:3.11-alpine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確認 docker ps -a 和 docker images。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695BE6-9D9D-442C-8186-97915C2EB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676400"/>
            <a:ext cx="476250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34D399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F24D3E-6F01-4956-B8C7-0DB447A0F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866900"/>
            <a:ext cx="4305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070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C1：Apache/httpd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4266A0B-9CBD-475D-ABB6-8F2798F07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266950"/>
            <a:ext cx="4305300" cy="169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到 Docker Hub 查 httpd 官方文件，把它跑起來並在瀏覽器看到頁面。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5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比較 Nginx 和 httpd 的靜態頁目錄。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87A694D-E621-4177-98CF-3E0B2FEC8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4857750"/>
            <a:ext cx="8001000" cy="571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FFFFFF">
              <a:alpha val="8000"/>
            </a:srgbClr>
          </a:solidFill>
          <a:ln xmlns:a="http://schemas.openxmlformats.org/drawingml/2006/main" w="9525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E639150-D833-424C-9874-5B77D0CAE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5029200"/>
            <a:ext cx="7391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597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下一堂：Flask 容器、容器管理與 Volume。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A6290D6-6784-4055-926C-618888BB8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05550"/>
            <a:ext cx="99060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3415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086612F-89D9-4D26-83B0-C466220FB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0080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A2C9CC0-E593-440A-8016-F499F9E3D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81750"/>
            <a:ext cx="571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5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192591698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2026-06-19T07:49:00.2460000Z</dcterms:created>
  <dcterms:modified xsi:type="dcterms:W3CDTF">2026-06-19T07:49:00.2460000Z</dcterms:modified>
</coreProperties>
</file>