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f1da5ea2fdb34683" /><ns0:Relationship Type="http://schemas.openxmlformats.org/officeDocument/2006/relationships/extended-properties" Target="/docProps/app.xml" Id="R513b682bd1e44b4a" /><ns0:Relationship Type="http://schemas.openxmlformats.org/officeDocument/2006/relationships/officeDocument" Target="/ppt/presentation.xml" Id="R6003ce180e574f8f" /></ns0: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9d95461ccd5a435d"/>
  </p:sldMasterIdLst>
  <p:sldIdLst>
    <p:sldId id="256" r:id="R534a20be6a554624"/>
    <p:sldId id="257" r:id="R85c70f84879a4812"/>
    <p:sldId id="258" r:id="R7874a43df70e48cb"/>
    <p:sldId id="259" r:id="Re99b3704889f4d49"/>
    <p:sldId id="260" r:id="R3236acdfcab64870"/>
    <p:sldId id="261" r:id="R64bbdd81cd314281"/>
    <p:sldId id="262" r:id="R6d3793b2232145df"/>
    <p:sldId id="263" r:id="Rc0ae04078daa441c"/>
    <p:sldId id="264" r:id="R3a357448888548ed"/>
    <p:sldId id="265" r:id="Rc8b84611a13249ad"/>
    <p:sldId id="266" r:id="R13a519ccef9e4d67"/>
    <p:sldId id="267" r:id="Rfab575397dc2490f"/>
    <p:sldId id="268" r:id="R41cb82ad261f454c"/>
    <p:sldId id="269" r:id="R51dc3817afe045b5"/>
    <p:sldId id="270" r:id="Re8af338f0f9e4a6d"/>
    <p:sldId id="271" r:id="Rdb3f5a3796534bd7"/>
    <p:sldId id="272" r:id="R6ee63b6ecda0406c"/>
    <p:sldId id="273" r:id="R32181bae7ddf4814"/>
    <p:sldId id="274" r:id="R280fb19bbba24d46"/>
    <p:sldId id="275" r:id="Re7909a35720f4790"/>
    <p:sldId id="276" r:id="Rad7faa5a408b4e58"/>
    <p:sldId id="277" r:id="R48e424fea76c4627"/>
    <p:sldId id="283" r:id="rId1"/>
    <p:sldId id="278" r:id="Rf14069a11143499b"/>
    <p:sldId id="279" r:id="R8c2bfe1ccc954101"/>
    <p:sldId id="284" r:id="rId2"/>
    <p:sldId id="285" r:id="rId3"/>
    <p:sldId id="280" r:id="R8b3293098fd74ef5"/>
    <p:sldId id="281" r:id="Reb2a6ab6c203454b"/>
    <p:sldId id="286" r:id="rId4"/>
    <p:sldId id="282" r:id="Rbd1f54cec190419b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cfe55e569e904312" /><ns0:Relationship Type="http://schemas.openxmlformats.org/officeDocument/2006/relationships/slideMaster" Target="/ppt/slideMasters/slideMaster1.xml" Id="R9d95461ccd5a435d" /><ns0:Relationship Type="http://schemas.openxmlformats.org/officeDocument/2006/relationships/presProps" Target="/ppt/presProps.xml" Id="R656f31f095f7482f" /><ns0:Relationship Type="http://schemas.openxmlformats.org/officeDocument/2006/relationships/tableStyles" Target="/ppt/tableStyles.xml" Id="Rdd76de7e196b43ef" /><ns0:Relationship Type="http://schemas.openxmlformats.org/officeDocument/2006/relationships/slide" Target="/ppt/slides/slide1.xml" Id="R534a20be6a554624" /><ns0:Relationship Type="http://schemas.openxmlformats.org/officeDocument/2006/relationships/slide" Target="/ppt/slides/slide2.xml" Id="R85c70f84879a4812" /><ns0:Relationship Type="http://schemas.openxmlformats.org/officeDocument/2006/relationships/slide" Target="/ppt/slides/slide3.xml" Id="R7874a43df70e48cb" /><ns0:Relationship Type="http://schemas.openxmlformats.org/officeDocument/2006/relationships/slide" Target="/ppt/slides/slide4.xml" Id="Re99b3704889f4d49" /><ns0:Relationship Type="http://schemas.openxmlformats.org/officeDocument/2006/relationships/slide" Target="/ppt/slides/slide5.xml" Id="R3236acdfcab64870" /><ns0:Relationship Type="http://schemas.openxmlformats.org/officeDocument/2006/relationships/slide" Target="/ppt/slides/slide6.xml" Id="R64bbdd81cd314281" /><ns0:Relationship Type="http://schemas.openxmlformats.org/officeDocument/2006/relationships/slide" Target="/ppt/slides/slide7.xml" Id="R6d3793b2232145df" /><ns0:Relationship Type="http://schemas.openxmlformats.org/officeDocument/2006/relationships/slide" Target="/ppt/slides/slide8.xml" Id="Rc0ae04078daa441c" /><ns0:Relationship Type="http://schemas.openxmlformats.org/officeDocument/2006/relationships/slide" Target="/ppt/slides/slide9.xml" Id="R3a357448888548ed" /><ns0:Relationship Type="http://schemas.openxmlformats.org/officeDocument/2006/relationships/slide" Target="/ppt/slides/slide10.xml" Id="Rc8b84611a13249ad" /><ns0:Relationship Type="http://schemas.openxmlformats.org/officeDocument/2006/relationships/slide" Target="/ppt/slides/slide11.xml" Id="R13a519ccef9e4d67" /><ns0:Relationship Type="http://schemas.openxmlformats.org/officeDocument/2006/relationships/slide" Target="/ppt/slides/slide12.xml" Id="Rfab575397dc2490f" /><ns0:Relationship Type="http://schemas.openxmlformats.org/officeDocument/2006/relationships/slide" Target="/ppt/slides/slide13.xml" Id="R41cb82ad261f454c" /><ns0:Relationship Type="http://schemas.openxmlformats.org/officeDocument/2006/relationships/slide" Target="/ppt/slides/slide14.xml" Id="R51dc3817afe045b5" /><ns0:Relationship Type="http://schemas.openxmlformats.org/officeDocument/2006/relationships/slide" Target="/ppt/slides/slide15.xml" Id="Re8af338f0f9e4a6d" /><ns0:Relationship Type="http://schemas.openxmlformats.org/officeDocument/2006/relationships/slide" Target="/ppt/slides/slide16.xml" Id="Rdb3f5a3796534bd7" /><ns0:Relationship Type="http://schemas.openxmlformats.org/officeDocument/2006/relationships/slide" Target="/ppt/slides/slide17.xml" Id="R6ee63b6ecda0406c" /><ns0:Relationship Type="http://schemas.openxmlformats.org/officeDocument/2006/relationships/slide" Target="/ppt/slides/slide18.xml" Id="R32181bae7ddf4814" /><ns0:Relationship Type="http://schemas.openxmlformats.org/officeDocument/2006/relationships/slide" Target="/ppt/slides/slide19.xml" Id="R280fb19bbba24d46" /><ns0:Relationship Type="http://schemas.openxmlformats.org/officeDocument/2006/relationships/slide" Target="/ppt/slides/slide20.xml" Id="Re7909a35720f4790" /><ns0:Relationship Type="http://schemas.openxmlformats.org/officeDocument/2006/relationships/slide" Target="/ppt/slides/slide21.xml" Id="Rad7faa5a408b4e58" /><ns0:Relationship Type="http://schemas.openxmlformats.org/officeDocument/2006/relationships/slide" Target="/ppt/slides/slide22.xml" Id="R48e424fea76c4627" /><ns0:Relationship Type="http://schemas.openxmlformats.org/officeDocument/2006/relationships/slide" Target="/ppt/slides/slide23.xml" Id="Rf14069a11143499b" /><ns0:Relationship Type="http://schemas.openxmlformats.org/officeDocument/2006/relationships/slide" Target="/ppt/slides/slide24.xml" Id="R8c2bfe1ccc954101" /><ns0:Relationship Type="http://schemas.openxmlformats.org/officeDocument/2006/relationships/slide" Target="/ppt/slides/slide25.xml" Id="R8b3293098fd74ef5" /><ns0:Relationship Type="http://schemas.openxmlformats.org/officeDocument/2006/relationships/slide" Target="/ppt/slides/slide26.xml" Id="Reb2a6ab6c203454b" /><ns0:Relationship Type="http://schemas.openxmlformats.org/officeDocument/2006/relationships/slide" Target="/ppt/slides/slide27.xml" Id="Rbd1f54cec190419b" /><ns0:Relationship Type="http://schemas.openxmlformats.org/officeDocument/2006/relationships/slide" Target="/ppt/slides/slide28.xml" Id="rId1" /><ns0:Relationship Type="http://schemas.openxmlformats.org/officeDocument/2006/relationships/slide" Target="/ppt/slides/slide29.xml" Id="rId2" /><ns0:Relationship Type="http://schemas.openxmlformats.org/officeDocument/2006/relationships/slide" Target="/ppt/slides/slide30.xml" Id="rId3" /><ns0:Relationship Type="http://schemas.openxmlformats.org/officeDocument/2006/relationships/slide" Target="/ppt/slides/slide31.xml" Id="rId4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980300ee4edf4649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979aa49a344146d3" /><ns0:Relationship Type="http://schemas.openxmlformats.org/officeDocument/2006/relationships/slideLayout" Target="/ppt/slideLayouts/slideLayout1.xml" Id="R20204951928248db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204951928248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0e7b6c1a514448c" /><ns0:Relationship Type="http://schemas.openxmlformats.org/officeDocument/2006/relationships/image" Target="/ppt/media/image.png" Id="R7cc59e1cf8f44cda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3d52537bb440ef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a5e82f274004fc4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5bf33782a9043df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2db1bda33d943dc" /><ns0:Relationship Type="http://schemas.openxmlformats.org/officeDocument/2006/relationships/image" Target="/ppt/media/image2.png" Id="R1ebfd9e80c5140ef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19e185bbba4eb6" /><ns0:Relationship Type="http://schemas.openxmlformats.org/officeDocument/2006/relationships/image" Target="/ppt/media/image3.png" Id="R3708d1e214e04e4a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a47ea9c4173423f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712c87b2ee427f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55d2d18ed84e36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8737caaee8049d8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899ca8f42604984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c1b73e11e84a26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286c2a3cf94955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459cb54771c4f49" /><ns0:Relationship Type="http://schemas.openxmlformats.org/officeDocument/2006/relationships/image" Target="/ppt/media/image4.png" Id="Re9930037aae14927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3c4a0a88175476e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36913dcd8374618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6dae9d64889499b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584866a7d14a47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6ba17963b744a95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2891771f974252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3c0b48d86234a7f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b891ccff98e46d7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1d5a4c24eb41a7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b52778df80400a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302ce89a184695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bac301bd754efa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b9b41d5412b45b4" /></ns0: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CD23777-F608-4017-85DF-390B902202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5" name=""/>
          <p:cNvPicPr>
            <a:picLocks noChangeAspect="1"/>
          </p:cNvPicPr>
          <p:nvPr/>
        </p:nvPicPr>
        <p:blipFill>
          <a:blip r:embed="R7cc59e1cf8f44cda"/>
          <a:srcRect l="20297" t="0" r="20297" b="0"/>
          <a:stretch>
            <a:fillRect l="0" t="0" r="0" b="0"/>
          </a:stretch>
        </p:blipFill>
        <p:spPr>
          <a:xfrm>
            <a:off x="4953000" y="0"/>
            <a:ext cx="7239000" cy="68580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496F32A5-982A-455A-BC87-3A135014EC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3000">
                <a:srgbClr val="07111F">
                  <a:alpha val="96000"/>
                </a:srgbClr>
              </a:gs>
              <a:gs pos="63000">
                <a:srgbClr val="07111F">
                  <a:alpha val="46000"/>
                </a:srgbClr>
              </a:gs>
              <a:gs pos="100000">
                <a:srgbClr val="07111F">
                  <a:alpha val="5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23F62570-EEA7-4468-8A63-E53856FEBA75}"/>
              </a:ext>
            </a:extLst>
          </p:cNvPr>
          <p:cNvSpPr>
            <a:spLocks noGrp="1"/>
          </p:cNvSpPr>
          <p:nvPr/>
        </p:nvSpPr>
        <p:spPr>
          <a:xfrm>
            <a:off x="7715250" y="-857250"/>
            <a:ext cx="3905250" cy="3905250"/>
          </a:xfrm>
          <a:prstGeom prst="ellipse">
            <a:avLst/>
          </a:prstGeom>
          <a:solidFill>
            <a:srgbClr val="FFFFFF">
              <a:alpha val="8000"/>
            </a:srgbClr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5E2A4E2-1049-400F-A9D4-88D99B3BE6CB}"/>
              </a:ext>
            </a:extLst>
          </p:cNvPr>
          <p:cNvSpPr>
            <a:spLocks noGrp="1"/>
          </p:cNvSpPr>
          <p:nvPr/>
        </p:nvSpPr>
        <p:spPr>
          <a:xfrm>
            <a:off x="9525000" y="4095750"/>
            <a:ext cx="3238500" cy="3238500"/>
          </a:xfrm>
          <a:prstGeom prst="ellipse">
            <a:avLst/>
          </a:prstGeom>
          <a:solidFill>
            <a:srgbClr val="00A97F">
              <a:alpha val="13000"/>
            </a:srgbClr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6B3D126-174C-4501-845F-298080619A55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0955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32AB8BE0-FF95-4D44-BDAD-0ED31AC1AACA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18 小時 Docker 基礎教學</a:t>
            </a:r>
          </a:p>
        </p:txBody>
      </p:sp>
      <p:sp>
        <p:nvSpPr>
          <p:cNvPr id="8" name="">
            <a:extLst>
              <a:ext uri="{FF2B5EF4-FFF2-40B4-BE49-F238E27FC236}">
                <ns2:creationId id="{3046EE50-8276-400A-AEE2-6D0B7882005A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71525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先安裝，再理解 Docker</a:t>
            </a:r>
          </a:p>
        </p:txBody>
      </p:sp>
      <p:sp>
        <p:nvSpPr>
          <p:cNvPr id="9" name="">
            <a:extLst>
              <a:ext uri="{FF2B5EF4-FFF2-40B4-BE49-F238E27FC236}">
                <ns2:creationId id="{AE26B9C0-6BBF-4CE3-831F-5CE34DF88650}"/>
              </a:ext>
            </a:extLst>
          </p:cNvPr>
          <p:cNvSpPr>
            <a:spLocks noGrp="1"/>
          </p:cNvSpPr>
          <p:nvPr/>
        </p:nvSpPr>
        <p:spPr>
          <a:xfrm>
            <a:off x="723900" y="3162300"/>
            <a:ext cx="647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第 1 堂 | Windows + WSL 2 + Docker Desktop</a:t>
            </a:r>
          </a:p>
        </p:txBody>
      </p:sp>
      <p:sp>
        <p:nvSpPr>
          <p:cNvPr id="10" name="">
            <a:extLst>
              <a:ext uri="{FF2B5EF4-FFF2-40B4-BE49-F238E27FC236}">
                <ns2:creationId id="{FD821FAE-B4C3-42E2-A11C-99D9F38A3CC5}"/>
              </a:ext>
            </a:extLst>
          </p:cNvPr>
          <p:cNvSpPr>
            <a:spLocks noGrp="1"/>
          </p:cNvSpPr>
          <p:nvPr/>
        </p:nvSpPr>
        <p:spPr>
          <a:xfrm>
            <a:off x="685800" y="419100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917F2F65-37F3-417A-B535-F845695F53B0}"/>
              </a:ext>
            </a:extLst>
          </p:cNvPr>
          <p:cNvSpPr>
            <a:spLocks noGrp="1"/>
          </p:cNvSpPr>
          <p:nvPr/>
        </p:nvSpPr>
        <p:spPr>
          <a:xfrm>
            <a:off x="990600" y="4476750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286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今天完成：先完成安裝檢查，再理解 Docker 解決什麼問題，最後用一行指令跑起 Nginx。</a:t>
            </a:r>
          </a:p>
        </p:txBody>
      </p:sp>
      <p:sp>
        <p:nvSpPr>
          <p:cNvPr id="12" name="">
            <a:extLst>
              <a:ext uri="{FF2B5EF4-FFF2-40B4-BE49-F238E27FC236}">
                <ns2:creationId id="{6693427D-B398-4D45-8EC5-65EA6B3A53EA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ns4:creationId val="1211649079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0F6B009-6CE0-4592-BBE1-A32006B7269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>
              <a:ext uri="{FF2B5EF4-FFF2-40B4-BE49-F238E27FC236}">
                <ns2:creationId id="{B7A07351-4B51-47EB-8F83-5A9B74A915C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三小時學習地圖</a:t>
            </a:r>
          </a:p>
        </p:txBody>
      </p:sp>
      <p:sp>
        <p:nvSpPr>
          <p:cNvPr id="3" name="">
            <a:extLst>
              <a:ext uri="{FF2B5EF4-FFF2-40B4-BE49-F238E27FC236}">
                <ns2:creationId id="{C5111866-73F3-41E7-9C53-344676297BA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DCE6FF67-4E97-4485-8251-198E6FBA006F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EE4819C-FE3F-4F7F-951C-62A0A13D4B1C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05F0B442-EF46-46EE-BF36-B25AE9C65CB8}"/>
              </a:ext>
            </a:extLst>
          </p:cNvPr>
          <p:cNvSpPr>
            <a:spLocks noGrp="1"/>
          </p:cNvSpPr>
          <p:nvPr/>
        </p:nvSpPr>
        <p:spPr>
          <a:xfrm>
            <a:off x="83820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安裝環境</a:t>
            </a:r>
          </a:p>
        </p:txBody>
      </p:sp>
      <p:sp>
        <p:nvSpPr>
          <p:cNvPr id="7" name="">
            <a:extLst>
              <a:ext uri="{FF2B5EF4-FFF2-40B4-BE49-F238E27FC236}">
                <ns2:creationId id="{91B43EAF-590D-42FB-B639-805445F608C4}"/>
              </a:ext>
            </a:extLst>
          </p:cNvPr>
          <p:cNvSpPr>
            <a:spLocks noGrp="1"/>
          </p:cNvSpPr>
          <p:nvPr/>
        </p:nvSpPr>
        <p:spPr>
          <a:xfrm>
            <a:off x="83820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Windows、WSL 2、Docker Desktop，先跑過 hello-world。</a:t>
            </a:r>
          </a:p>
        </p:txBody>
      </p:sp>
      <p:sp>
        <p:nvSpPr>
          <p:cNvPr id="8" name="">
            <a:extLst>
              <a:ext uri="{FF2B5EF4-FFF2-40B4-BE49-F238E27FC236}">
                <ns2:creationId id="{9D65649E-76FE-4C20-9B11-615770D815FB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00A785D7-6A51-4D81-AC38-945578D380BA}"/>
              </a:ext>
            </a:extLst>
          </p:cNvPr>
          <p:cNvSpPr>
            <a:spLocks noGrp="1"/>
          </p:cNvSpPr>
          <p:nvPr/>
        </p:nvSpPr>
        <p:spPr>
          <a:xfrm>
            <a:off x="83820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>
              <a:ext uri="{FF2B5EF4-FFF2-40B4-BE49-F238E27FC236}">
                <ns2:creationId id="{33504548-3577-4DBE-9123-D04BD35C68AB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6DCD29ED-23A1-4C52-B9F5-4A753DB6D77D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9407969D-8388-45D8-9D54-C62496874076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DBB2FB8F-FC6E-4A2D-A8D6-709457387C9E}"/>
              </a:ext>
            </a:extLst>
          </p:cNvPr>
          <p:cNvSpPr>
            <a:spLocks noGrp="1"/>
          </p:cNvSpPr>
          <p:nvPr/>
        </p:nvSpPr>
        <p:spPr>
          <a:xfrm>
            <a:off x="451485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概念</a:t>
            </a:r>
          </a:p>
        </p:txBody>
      </p:sp>
      <p:sp>
        <p:nvSpPr>
          <p:cNvPr id="14" name="">
            <a:extLst>
              <a:ext uri="{FF2B5EF4-FFF2-40B4-BE49-F238E27FC236}">
                <ns2:creationId id="{E12681C8-5FF4-40F8-B1DB-2EC7A270E9D3}"/>
              </a:ext>
            </a:extLst>
          </p:cNvPr>
          <p:cNvSpPr>
            <a:spLocks noGrp="1"/>
          </p:cNvSpPr>
          <p:nvPr/>
        </p:nvSpPr>
        <p:spPr>
          <a:xfrm>
            <a:off x="451485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hello-world 回頭理解 Image、Container、Registry，與容器比 VM 輕量在哪裡。</a:t>
            </a:r>
          </a:p>
        </p:txBody>
      </p:sp>
      <p:sp>
        <p:nvSpPr>
          <p:cNvPr id="15" name="">
            <a:extLst>
              <a:ext uri="{FF2B5EF4-FFF2-40B4-BE49-F238E27FC236}">
                <ns2:creationId id="{4C95F6AC-5D7E-4447-9C2D-D506A63B3953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5860F38B-B110-45A5-A343-BECB5AC2D8CF}"/>
              </a:ext>
            </a:extLst>
          </p:cNvPr>
          <p:cNvSpPr>
            <a:spLocks noGrp="1"/>
          </p:cNvSpPr>
          <p:nvPr/>
        </p:nvSpPr>
        <p:spPr>
          <a:xfrm>
            <a:off x="451485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>
              <a:ext uri="{FF2B5EF4-FFF2-40B4-BE49-F238E27FC236}">
                <ns2:creationId id="{9203767B-DA35-46B7-AFBF-72ED5FF27E93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ED2EFDD2-623D-4032-BD42-7FF047E1A0C8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A543427F-E3D0-4816-9D60-39F2DE778455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>
              <a:ext uri="{FF2B5EF4-FFF2-40B4-BE49-F238E27FC236}">
                <ns2:creationId id="{AEAA20BD-A768-4B3B-93C3-4687865EF848}"/>
              </a:ext>
            </a:extLst>
          </p:cNvPr>
          <p:cNvSpPr>
            <a:spLocks noGrp="1"/>
          </p:cNvSpPr>
          <p:nvPr/>
        </p:nvSpPr>
        <p:spPr>
          <a:xfrm>
            <a:off x="819150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第一個容器</a:t>
            </a:r>
          </a:p>
        </p:txBody>
      </p:sp>
      <p:sp>
        <p:nvSpPr>
          <p:cNvPr id="21" name="">
            <a:extLst>
              <a:ext uri="{FF2B5EF4-FFF2-40B4-BE49-F238E27FC236}">
                <ns2:creationId id="{FE330FA5-947A-4D80-9068-07E1C9FE2631}"/>
              </a:ext>
            </a:extLst>
          </p:cNvPr>
          <p:cNvSpPr>
            <a:spLocks noGrp="1"/>
          </p:cNvSpPr>
          <p:nvPr/>
        </p:nvSpPr>
        <p:spPr>
          <a:xfrm>
            <a:off x="819150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從 Docker Hub 拉 Nginx，透過 port mapping 在瀏覽器看到結果。</a:t>
            </a:r>
          </a:p>
        </p:txBody>
      </p:sp>
      <p:sp>
        <p:nvSpPr>
          <p:cNvPr id="22" name="">
            <a:extLst>
              <a:ext uri="{FF2B5EF4-FFF2-40B4-BE49-F238E27FC236}">
                <ns2:creationId id="{AD2F6B77-324C-4C09-B73A-D067ECC647F8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C70DEC3B-E0A3-4E94-86F7-3E8666557294}"/>
              </a:ext>
            </a:extLst>
          </p:cNvPr>
          <p:cNvSpPr>
            <a:spLocks noGrp="1"/>
          </p:cNvSpPr>
          <p:nvPr/>
        </p:nvSpPr>
        <p:spPr>
          <a:xfrm>
            <a:off x="819150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>
              <a:ext uri="{FF2B5EF4-FFF2-40B4-BE49-F238E27FC236}">
                <ns2:creationId id="{AD53EC1A-1D3B-40D1-BAF6-4919F01762D9}"/>
              </a:ext>
            </a:extLst>
          </p:cNvPr>
          <p:cNvSpPr>
            <a:spLocks noGrp="1"/>
          </p:cNvSpPr>
          <p:nvPr/>
        </p:nvSpPr>
        <p:spPr>
          <a:xfrm>
            <a:off x="762000" y="5334000"/>
            <a:ext cx="781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先把環境裝起來，再用剛跑過的指令理解 Docker，最後進到可執行的容器操作。</a:t>
            </a:r>
          </a:p>
        </p:txBody>
      </p:sp>
      <p:sp>
        <p:nvSpPr>
          <p:cNvPr id="25" name="">
            <a:extLst>
              <a:ext uri="{FF2B5EF4-FFF2-40B4-BE49-F238E27FC236}">
                <ns2:creationId id="{85795D74-E872-4D6E-BD3D-42C3281010B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595B13B8-D010-4525-82A1-05A0CD8E405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7" name="">
            <a:extLst>
              <a:ext uri="{FF2B5EF4-FFF2-40B4-BE49-F238E27FC236}">
                <ns2:creationId id="{AD97AA0F-818E-4B33-A597-9F3FAEE03F9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1567597398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9A90A9F-CC0E-4688-9F64-4C55B1BFC87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SETUP CHECKLIST</a:t>
            </a:r>
          </a:p>
        </p:txBody>
      </p:sp>
      <p:sp>
        <p:nvSpPr>
          <p:cNvPr id="2" name="">
            <a:extLst>
              <a:ext uri="{FF2B5EF4-FFF2-40B4-BE49-F238E27FC236}">
                <ns2:creationId id="{2AFAC74D-8593-415A-956F-FB597A82ACD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安裝前先確認四件事</a:t>
            </a:r>
          </a:p>
        </p:txBody>
      </p:sp>
      <p:sp>
        <p:nvSpPr>
          <p:cNvPr id="3" name="">
            <a:extLst>
              <a:ext uri="{FF2B5EF4-FFF2-40B4-BE49-F238E27FC236}">
                <ns2:creationId id="{96418761-2B0A-49BB-B13F-14B1C0854BCA}"/>
              </a:ext>
            </a:extLst>
          </p:cNvPr>
          <p:cNvSpPr>
            <a:spLocks noGrp="1"/>
          </p:cNvSpPr>
          <p:nvPr/>
        </p:nvSpPr>
        <p:spPr>
          <a:xfrm>
            <a:off x="933450" y="16954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B8AEEDEB-89FC-44BB-8DB5-B33F9B50C5D0}"/>
              </a:ext>
            </a:extLst>
          </p:cNvPr>
          <p:cNvSpPr>
            <a:spLocks noGrp="1"/>
          </p:cNvSpPr>
          <p:nvPr/>
        </p:nvSpPr>
        <p:spPr>
          <a:xfrm>
            <a:off x="1181100" y="19812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2839CF0-1FB7-4644-BB41-17CD75C02C45}"/>
              </a:ext>
            </a:extLst>
          </p:cNvPr>
          <p:cNvSpPr>
            <a:spLocks noGrp="1"/>
          </p:cNvSpPr>
          <p:nvPr/>
        </p:nvSpPr>
        <p:spPr>
          <a:xfrm>
            <a:off x="1181100" y="20955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6" name="">
            <a:extLst>
              <a:ext uri="{FF2B5EF4-FFF2-40B4-BE49-F238E27FC236}">
                <ns2:creationId id="{1ED9C98B-CA7E-4C25-8F71-9C62CFCE2FCC}"/>
              </a:ext>
            </a:extLst>
          </p:cNvPr>
          <p:cNvSpPr>
            <a:spLocks noGrp="1"/>
          </p:cNvSpPr>
          <p:nvPr/>
        </p:nvSpPr>
        <p:spPr>
          <a:xfrm>
            <a:off x="1809750" y="19621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10/11</a:t>
            </a:r>
          </a:p>
        </p:txBody>
      </p:sp>
      <p:sp>
        <p:nvSpPr>
          <p:cNvPr id="7" name="">
            <a:extLst>
              <a:ext uri="{FF2B5EF4-FFF2-40B4-BE49-F238E27FC236}">
                <ns2:creationId id="{3BF5EEA2-5014-4F85-A557-CC446E797A4D}"/>
              </a:ext>
            </a:extLst>
          </p:cNvPr>
          <p:cNvSpPr>
            <a:spLocks noGrp="1"/>
          </p:cNvSpPr>
          <p:nvPr/>
        </p:nvSpPr>
        <p:spPr>
          <a:xfrm>
            <a:off x="1809750" y="23622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64-bit，Windows 10 21H2 以上或 Windows 11。</a:t>
            </a:r>
          </a:p>
        </p:txBody>
      </p:sp>
      <p:sp>
        <p:nvSpPr>
          <p:cNvPr id="8" name="">
            <a:extLst>
              <a:ext uri="{FF2B5EF4-FFF2-40B4-BE49-F238E27FC236}">
                <ns2:creationId id="{1FF8FFE0-6028-4349-AADD-F390E43A2870}"/>
              </a:ext>
            </a:extLst>
          </p:cNvPr>
          <p:cNvSpPr>
            <a:spLocks noGrp="1"/>
          </p:cNvSpPr>
          <p:nvPr/>
        </p:nvSpPr>
        <p:spPr>
          <a:xfrm>
            <a:off x="6496050" y="16954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D3E830D-0538-4C7F-861B-BF3164D63DB0}"/>
              </a:ext>
            </a:extLst>
          </p:cNvPr>
          <p:cNvSpPr>
            <a:spLocks noGrp="1"/>
          </p:cNvSpPr>
          <p:nvPr/>
        </p:nvSpPr>
        <p:spPr>
          <a:xfrm>
            <a:off x="6743700" y="19812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C744EC2E-069B-475E-903A-2E172D7C43CC}"/>
              </a:ext>
            </a:extLst>
          </p:cNvPr>
          <p:cNvSpPr>
            <a:spLocks noGrp="1"/>
          </p:cNvSpPr>
          <p:nvPr/>
        </p:nvSpPr>
        <p:spPr>
          <a:xfrm>
            <a:off x="6743700" y="20955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1" name="">
            <a:extLst>
              <a:ext uri="{FF2B5EF4-FFF2-40B4-BE49-F238E27FC236}">
                <ns2:creationId id="{F2911082-A89E-4B92-9D99-10E21222D5E5}"/>
              </a:ext>
            </a:extLst>
          </p:cNvPr>
          <p:cNvSpPr>
            <a:spLocks noGrp="1"/>
          </p:cNvSpPr>
          <p:nvPr/>
        </p:nvSpPr>
        <p:spPr>
          <a:xfrm>
            <a:off x="7372350" y="19621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</a:t>
            </a:r>
          </a:p>
        </p:txBody>
      </p:sp>
      <p:sp>
        <p:nvSpPr>
          <p:cNvPr id="12" name="">
            <a:extLst>
              <a:ext uri="{FF2B5EF4-FFF2-40B4-BE49-F238E27FC236}">
                <ns2:creationId id="{5F098CD6-8EA3-4F9A-A1E7-F83F5DF1797E}"/>
              </a:ext>
            </a:extLst>
          </p:cNvPr>
          <p:cNvSpPr>
            <a:spLocks noGrp="1"/>
          </p:cNvSpPr>
          <p:nvPr/>
        </p:nvSpPr>
        <p:spPr>
          <a:xfrm>
            <a:off x="7372350" y="23622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Desktop 在 Windows 上建議使用 WSL 2 後端。</a:t>
            </a:r>
          </a:p>
        </p:txBody>
      </p:sp>
      <p:sp>
        <p:nvSpPr>
          <p:cNvPr id="13" name="">
            <a:extLst>
              <a:ext uri="{FF2B5EF4-FFF2-40B4-BE49-F238E27FC236}">
                <ns2:creationId id="{63D187A5-4A1C-4D5B-921A-E2E0BC959A32}"/>
              </a:ext>
            </a:extLst>
          </p:cNvPr>
          <p:cNvSpPr>
            <a:spLocks noGrp="1"/>
          </p:cNvSpPr>
          <p:nvPr/>
        </p:nvSpPr>
        <p:spPr>
          <a:xfrm>
            <a:off x="933450" y="37528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5DB58670-9E09-4B25-AB98-0980011A0681}"/>
              </a:ext>
            </a:extLst>
          </p:cNvPr>
          <p:cNvSpPr>
            <a:spLocks noGrp="1"/>
          </p:cNvSpPr>
          <p:nvPr/>
        </p:nvSpPr>
        <p:spPr>
          <a:xfrm>
            <a:off x="1181100" y="40386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4B661189-7306-4C14-A9C3-63732A285979}"/>
              </a:ext>
            </a:extLst>
          </p:cNvPr>
          <p:cNvSpPr>
            <a:spLocks noGrp="1"/>
          </p:cNvSpPr>
          <p:nvPr/>
        </p:nvSpPr>
        <p:spPr>
          <a:xfrm>
            <a:off x="1181100" y="4152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6" name="">
            <a:extLst>
              <a:ext uri="{FF2B5EF4-FFF2-40B4-BE49-F238E27FC236}">
                <ns2:creationId id="{84BE20F3-D18D-4FEE-96ED-27CD8D148DA3}"/>
              </a:ext>
            </a:extLst>
          </p:cNvPr>
          <p:cNvSpPr>
            <a:spLocks noGrp="1"/>
          </p:cNvSpPr>
          <p:nvPr/>
        </p:nvSpPr>
        <p:spPr>
          <a:xfrm>
            <a:off x="1809750" y="40195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至少 4 GB RAM</a:t>
            </a:r>
          </a:p>
        </p:txBody>
      </p:sp>
      <p:sp>
        <p:nvSpPr>
          <p:cNvPr id="17" name="">
            <a:extLst>
              <a:ext uri="{FF2B5EF4-FFF2-40B4-BE49-F238E27FC236}">
                <ns2:creationId id="{28E81347-6824-4601-8663-A70D7DA0BCA1}"/>
              </a:ext>
            </a:extLst>
          </p:cNvPr>
          <p:cNvSpPr>
            <a:spLocks noGrp="1"/>
          </p:cNvSpPr>
          <p:nvPr/>
        </p:nvSpPr>
        <p:spPr>
          <a:xfrm>
            <a:off x="1809750" y="44196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 GB 電腦建議不要把超過 4 GB 分給 Docker。</a:t>
            </a:r>
          </a:p>
        </p:txBody>
      </p:sp>
      <p:sp>
        <p:nvSpPr>
          <p:cNvPr id="18" name="">
            <a:extLst>
              <a:ext uri="{FF2B5EF4-FFF2-40B4-BE49-F238E27FC236}">
                <ns2:creationId id="{4C29AABF-E314-4E93-ADF2-79CC7E7F3CF2}"/>
              </a:ext>
            </a:extLst>
          </p:cNvPr>
          <p:cNvSpPr>
            <a:spLocks noGrp="1"/>
          </p:cNvSpPr>
          <p:nvPr/>
        </p:nvSpPr>
        <p:spPr>
          <a:xfrm>
            <a:off x="6496050" y="37528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8AACF997-9893-47E9-B55D-6FD828BFFB4F}"/>
              </a:ext>
            </a:extLst>
          </p:cNvPr>
          <p:cNvSpPr>
            <a:spLocks noGrp="1"/>
          </p:cNvSpPr>
          <p:nvPr/>
        </p:nvSpPr>
        <p:spPr>
          <a:xfrm>
            <a:off x="6743700" y="40386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4DC88DDE-1F8D-4CCE-84D4-DBE93C3126D9}"/>
              </a:ext>
            </a:extLst>
          </p:cNvPr>
          <p:cNvSpPr>
            <a:spLocks noGrp="1"/>
          </p:cNvSpPr>
          <p:nvPr/>
        </p:nvSpPr>
        <p:spPr>
          <a:xfrm>
            <a:off x="6743700" y="4152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21" name="">
            <a:extLst>
              <a:ext uri="{FF2B5EF4-FFF2-40B4-BE49-F238E27FC236}">
                <ns2:creationId id="{E6D8AC27-F9AE-44F2-89CD-63CD5721CC63}"/>
              </a:ext>
            </a:extLst>
          </p:cNvPr>
          <p:cNvSpPr>
            <a:spLocks noGrp="1"/>
          </p:cNvSpPr>
          <p:nvPr/>
        </p:nvSpPr>
        <p:spPr>
          <a:xfrm>
            <a:off x="7372350" y="40195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虛擬化開啟</a:t>
            </a:r>
          </a:p>
        </p:txBody>
      </p:sp>
      <p:sp>
        <p:nvSpPr>
          <p:cNvPr id="22" name="">
            <a:extLst>
              <a:ext uri="{FF2B5EF4-FFF2-40B4-BE49-F238E27FC236}">
                <ns2:creationId id="{FEB8BBD1-1AEE-4017-A988-7A62921863B4}"/>
              </a:ext>
            </a:extLst>
          </p:cNvPr>
          <p:cNvSpPr>
            <a:spLocks noGrp="1"/>
          </p:cNvSpPr>
          <p:nvPr/>
        </p:nvSpPr>
        <p:spPr>
          <a:xfrm>
            <a:off x="7372350" y="44196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工作管理員 &gt; 效能 &gt; CPU &gt; 虛擬化：已啟用。</a:t>
            </a:r>
          </a:p>
        </p:txBody>
      </p:sp>
      <p:sp>
        <p:nvSpPr>
          <p:cNvPr id="23" name="">
            <a:extLst>
              <a:ext uri="{FF2B5EF4-FFF2-40B4-BE49-F238E27FC236}">
                <ns2:creationId id="{1EC958AF-5857-4EE1-A391-D089CAB5881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67BBD437-61C2-4FB6-83C3-B23A4A80623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>
              <a:ext uri="{FF2B5EF4-FFF2-40B4-BE49-F238E27FC236}">
                <ns2:creationId id="{45FE4AB9-4222-412F-8D61-EFD7B66E80B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ns3:creationId val="1162810450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D6969390-5E01-4FAC-8D63-D6EB1768DA7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WINDOWS SUBSYSTEM FOR LINUX</a:t>
            </a:r>
          </a:p>
        </p:txBody>
      </p:sp>
      <p:sp>
        <p:nvSpPr>
          <p:cNvPr id="2" name="">
            <a:extLst>
              <a:ext uri="{FF2B5EF4-FFF2-40B4-BE49-F238E27FC236}">
                <ns2:creationId id="{A00A1C21-82D1-4866-8646-BF1EE68491F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 安裝流程</a:t>
            </a:r>
          </a:p>
        </p:txBody>
      </p:sp>
      <p:sp>
        <p:nvSpPr>
          <p:cNvPr id="3" name="">
            <a:extLst>
              <a:ext uri="{FF2B5EF4-FFF2-40B4-BE49-F238E27FC236}">
                <ns2:creationId id="{8F1A5176-881D-4BA4-B803-9F2A406A2729}"/>
              </a:ext>
            </a:extLst>
          </p:cNvPr>
          <p:cNvSpPr>
            <a:spLocks noGrp="1"/>
          </p:cNvSpPr>
          <p:nvPr/>
        </p:nvSpPr>
        <p:spPr>
          <a:xfrm>
            <a:off x="819150" y="1809750"/>
            <a:ext cx="552450" cy="55245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07A62021-0E33-4A51-BFD4-1277D7654DD6}"/>
              </a:ext>
            </a:extLst>
          </p:cNvPr>
          <p:cNvSpPr>
            <a:spLocks noGrp="1"/>
          </p:cNvSpPr>
          <p:nvPr/>
        </p:nvSpPr>
        <p:spPr>
          <a:xfrm>
            <a:off x="819150" y="195262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955B62F0-803B-42E4-9DFE-5EFDCE53DD07}"/>
              </a:ext>
            </a:extLst>
          </p:cNvPr>
          <p:cNvSpPr>
            <a:spLocks noGrp="1"/>
          </p:cNvSpPr>
          <p:nvPr/>
        </p:nvSpPr>
        <p:spPr>
          <a:xfrm>
            <a:off x="1543050" y="1981200"/>
            <a:ext cx="781050" cy="2286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B432EE0-4489-4E1D-B8D2-76C36DBFEA1B}"/>
              </a:ext>
            </a:extLst>
          </p:cNvPr>
          <p:cNvSpPr>
            <a:spLocks noGrp="1"/>
          </p:cNvSpPr>
          <p:nvPr/>
        </p:nvSpPr>
        <p:spPr>
          <a:xfrm>
            <a:off x="419100" y="270510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管理員 PowerShell</a:t>
            </a:r>
          </a:p>
        </p:txBody>
      </p:sp>
      <p:sp>
        <p:nvSpPr>
          <p:cNvPr id="7" name="">
            <a:extLst>
              <a:ext uri="{FF2B5EF4-FFF2-40B4-BE49-F238E27FC236}">
                <ns2:creationId id="{55181617-1E08-4189-A24A-ADA415584490}"/>
              </a:ext>
            </a:extLst>
          </p:cNvPr>
          <p:cNvSpPr>
            <a:spLocks noGrp="1"/>
          </p:cNvSpPr>
          <p:nvPr/>
        </p:nvSpPr>
        <p:spPr>
          <a:xfrm>
            <a:off x="171450" y="3276600"/>
            <a:ext cx="1847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右鍵以系統管理員身分執行。</a:t>
            </a:r>
          </a:p>
        </p:txBody>
      </p:sp>
      <p:sp>
        <p:nvSpPr>
          <p:cNvPr id="8" name="">
            <a:extLst>
              <a:ext uri="{FF2B5EF4-FFF2-40B4-BE49-F238E27FC236}">
                <ns2:creationId id="{E836A342-B6AF-4B6E-B357-9EE53044E900}"/>
              </a:ext>
            </a:extLst>
          </p:cNvPr>
          <p:cNvSpPr>
            <a:spLocks noGrp="1"/>
          </p:cNvSpPr>
          <p:nvPr/>
        </p:nvSpPr>
        <p:spPr>
          <a:xfrm>
            <a:off x="2952750" y="1809750"/>
            <a:ext cx="552450" cy="55245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03BAF1CE-8985-445C-B5B9-A0D700D43EAE}"/>
              </a:ext>
            </a:extLst>
          </p:cNvPr>
          <p:cNvSpPr>
            <a:spLocks noGrp="1"/>
          </p:cNvSpPr>
          <p:nvPr/>
        </p:nvSpPr>
        <p:spPr>
          <a:xfrm>
            <a:off x="2952750" y="195262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CD24CA93-E8BE-4832-BAFE-0EFCDF84B670}"/>
              </a:ext>
            </a:extLst>
          </p:cNvPr>
          <p:cNvSpPr>
            <a:spLocks noGrp="1"/>
          </p:cNvSpPr>
          <p:nvPr/>
        </p:nvSpPr>
        <p:spPr>
          <a:xfrm>
            <a:off x="3676650" y="1981200"/>
            <a:ext cx="781050" cy="2286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4910E73-D086-4180-8283-32BA627F7A44}"/>
              </a:ext>
            </a:extLst>
          </p:cNvPr>
          <p:cNvSpPr>
            <a:spLocks noGrp="1"/>
          </p:cNvSpPr>
          <p:nvPr/>
        </p:nvSpPr>
        <p:spPr>
          <a:xfrm>
            <a:off x="2552700" y="270510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--install</a:t>
            </a:r>
          </a:p>
        </p:txBody>
      </p:sp>
      <p:sp>
        <p:nvSpPr>
          <p:cNvPr id="12" name="">
            <a:extLst>
              <a:ext uri="{FF2B5EF4-FFF2-40B4-BE49-F238E27FC236}">
                <ns2:creationId id="{21B7962C-67BA-4226-A849-D4F063379187}"/>
              </a:ext>
            </a:extLst>
          </p:cNvPr>
          <p:cNvSpPr>
            <a:spLocks noGrp="1"/>
          </p:cNvSpPr>
          <p:nvPr/>
        </p:nvSpPr>
        <p:spPr>
          <a:xfrm>
            <a:off x="2305050" y="3276600"/>
            <a:ext cx="1847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啟用 WSL 與虛擬機平台，安裝 Ubuntu。</a:t>
            </a:r>
          </a:p>
        </p:txBody>
      </p:sp>
      <p:sp>
        <p:nvSpPr>
          <p:cNvPr id="13" name="">
            <a:extLst>
              <a:ext uri="{FF2B5EF4-FFF2-40B4-BE49-F238E27FC236}">
                <ns2:creationId id="{298FDFCB-C803-4DB8-9517-417E5C0CBB66}"/>
              </a:ext>
            </a:extLst>
          </p:cNvPr>
          <p:cNvSpPr>
            <a:spLocks noGrp="1"/>
          </p:cNvSpPr>
          <p:nvPr/>
        </p:nvSpPr>
        <p:spPr>
          <a:xfrm>
            <a:off x="5086350" y="1809750"/>
            <a:ext cx="552450" cy="55245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0590CB9D-BAFA-465E-88DA-8192E266D946}"/>
              </a:ext>
            </a:extLst>
          </p:cNvPr>
          <p:cNvSpPr>
            <a:spLocks noGrp="1"/>
          </p:cNvSpPr>
          <p:nvPr/>
        </p:nvSpPr>
        <p:spPr>
          <a:xfrm>
            <a:off x="5086350" y="195262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>
              <a:ext uri="{FF2B5EF4-FFF2-40B4-BE49-F238E27FC236}">
                <ns2:creationId id="{EB1C3371-E6B8-4968-8DD9-D91CE3B7AA18}"/>
              </a:ext>
            </a:extLst>
          </p:cNvPr>
          <p:cNvSpPr>
            <a:spLocks noGrp="1"/>
          </p:cNvSpPr>
          <p:nvPr/>
        </p:nvSpPr>
        <p:spPr>
          <a:xfrm>
            <a:off x="5810250" y="1981200"/>
            <a:ext cx="781050" cy="2286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2D2C5ACF-E284-4FFC-9157-8922246C36BB}"/>
              </a:ext>
            </a:extLst>
          </p:cNvPr>
          <p:cNvSpPr>
            <a:spLocks noGrp="1"/>
          </p:cNvSpPr>
          <p:nvPr/>
        </p:nvSpPr>
        <p:spPr>
          <a:xfrm>
            <a:off x="4686300" y="270510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重新開機</a:t>
            </a:r>
          </a:p>
        </p:txBody>
      </p:sp>
      <p:sp>
        <p:nvSpPr>
          <p:cNvPr id="17" name="">
            <a:extLst>
              <a:ext uri="{FF2B5EF4-FFF2-40B4-BE49-F238E27FC236}">
                <ns2:creationId id="{5C6957D7-D047-4647-B92A-C9DC84CBC9E4}"/>
              </a:ext>
            </a:extLst>
          </p:cNvPr>
          <p:cNvSpPr>
            <a:spLocks noGrp="1"/>
          </p:cNvSpPr>
          <p:nvPr/>
        </p:nvSpPr>
        <p:spPr>
          <a:xfrm>
            <a:off x="4438650" y="3276600"/>
            <a:ext cx="1847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 Windows 完成系統功能變更。</a:t>
            </a:r>
          </a:p>
        </p:txBody>
      </p:sp>
      <p:sp>
        <p:nvSpPr>
          <p:cNvPr id="18" name="">
            <a:extLst>
              <a:ext uri="{FF2B5EF4-FFF2-40B4-BE49-F238E27FC236}">
                <ns2:creationId id="{33F972D7-5321-43EC-880A-6C44178E7C68}"/>
              </a:ext>
            </a:extLst>
          </p:cNvPr>
          <p:cNvSpPr>
            <a:spLocks noGrp="1"/>
          </p:cNvSpPr>
          <p:nvPr/>
        </p:nvSpPr>
        <p:spPr>
          <a:xfrm>
            <a:off x="7219950" y="1809750"/>
            <a:ext cx="552450" cy="55245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3DE2A867-6C37-44A7-9D7B-80D7B4573092}"/>
              </a:ext>
            </a:extLst>
          </p:cNvPr>
          <p:cNvSpPr>
            <a:spLocks noGrp="1"/>
          </p:cNvSpPr>
          <p:nvPr/>
        </p:nvSpPr>
        <p:spPr>
          <a:xfrm>
            <a:off x="7219950" y="195262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>
              <a:ext uri="{FF2B5EF4-FFF2-40B4-BE49-F238E27FC236}">
                <ns2:creationId id="{4603E2A8-F74D-4F8D-9D47-EFE1C3B9EB12}"/>
              </a:ext>
            </a:extLst>
          </p:cNvPr>
          <p:cNvSpPr>
            <a:spLocks noGrp="1"/>
          </p:cNvSpPr>
          <p:nvPr/>
        </p:nvSpPr>
        <p:spPr>
          <a:xfrm>
            <a:off x="7943850" y="1981200"/>
            <a:ext cx="781050" cy="2286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E9937E25-D99C-4B59-91D1-FB6DF9C70A25}"/>
              </a:ext>
            </a:extLst>
          </p:cNvPr>
          <p:cNvSpPr>
            <a:spLocks noGrp="1"/>
          </p:cNvSpPr>
          <p:nvPr/>
        </p:nvSpPr>
        <p:spPr>
          <a:xfrm>
            <a:off x="6819900" y="270510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設定 Ubuntu 使用者</a:t>
            </a:r>
          </a:p>
        </p:txBody>
      </p:sp>
      <p:sp>
        <p:nvSpPr>
          <p:cNvPr id="22" name="">
            <a:extLst>
              <a:ext uri="{FF2B5EF4-FFF2-40B4-BE49-F238E27FC236}">
                <ns2:creationId id="{9704FED2-839F-43E2-AAC1-16812F60D84E}"/>
              </a:ext>
            </a:extLst>
          </p:cNvPr>
          <p:cNvSpPr>
            <a:spLocks noGrp="1"/>
          </p:cNvSpPr>
          <p:nvPr/>
        </p:nvSpPr>
        <p:spPr>
          <a:xfrm>
            <a:off x="6572250" y="3276600"/>
            <a:ext cx="1847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使用小寫英文帳號；密碼輸入時不會顯示。</a:t>
            </a:r>
          </a:p>
        </p:txBody>
      </p:sp>
      <p:sp>
        <p:nvSpPr>
          <p:cNvPr id="23" name="">
            <a:extLst>
              <a:ext uri="{FF2B5EF4-FFF2-40B4-BE49-F238E27FC236}">
                <ns2:creationId id="{129C2D9F-B0E8-499D-979D-2D0882662BAF}"/>
              </a:ext>
            </a:extLst>
          </p:cNvPr>
          <p:cNvSpPr>
            <a:spLocks noGrp="1"/>
          </p:cNvSpPr>
          <p:nvPr/>
        </p:nvSpPr>
        <p:spPr>
          <a:xfrm>
            <a:off x="9353550" y="1809750"/>
            <a:ext cx="552450" cy="55245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82425B39-3680-4DC8-B24C-4D24B887BFA2}"/>
              </a:ext>
            </a:extLst>
          </p:cNvPr>
          <p:cNvSpPr>
            <a:spLocks noGrp="1"/>
          </p:cNvSpPr>
          <p:nvPr/>
        </p:nvSpPr>
        <p:spPr>
          <a:xfrm>
            <a:off x="9353550" y="195262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5" name="">
            <a:extLst>
              <a:ext uri="{FF2B5EF4-FFF2-40B4-BE49-F238E27FC236}">
                <ns2:creationId id="{07D0BEDF-F4BC-4DF7-AAE6-93BD5335F275}"/>
              </a:ext>
            </a:extLst>
          </p:cNvPr>
          <p:cNvSpPr>
            <a:spLocks noGrp="1"/>
          </p:cNvSpPr>
          <p:nvPr/>
        </p:nvSpPr>
        <p:spPr>
          <a:xfrm>
            <a:off x="8953500" y="270510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確認 VERSION = 2</a:t>
            </a:r>
          </a:p>
        </p:txBody>
      </p:sp>
      <p:sp>
        <p:nvSpPr>
          <p:cNvPr id="26" name="">
            <a:extLst>
              <a:ext uri="{FF2B5EF4-FFF2-40B4-BE49-F238E27FC236}">
                <ns2:creationId id="{9148DDB3-5EA5-4EC7-896F-726BAAF88040}"/>
              </a:ext>
            </a:extLst>
          </p:cNvPr>
          <p:cNvSpPr>
            <a:spLocks noGrp="1"/>
          </p:cNvSpPr>
          <p:nvPr/>
        </p:nvSpPr>
        <p:spPr>
          <a:xfrm>
            <a:off x="8705850" y="3276600"/>
            <a:ext cx="1847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wsl --list --verbose 檢查。</a:t>
            </a:r>
          </a:p>
        </p:txBody>
      </p:sp>
      <p:sp>
        <p:nvSpPr>
          <p:cNvPr id="27" name="">
            <a:extLst>
              <a:ext uri="{FF2B5EF4-FFF2-40B4-BE49-F238E27FC236}">
                <ns2:creationId id="{E248F788-B726-407B-9E5B-0931A5A83526}"/>
              </a:ext>
            </a:extLst>
          </p:cNvPr>
          <p:cNvSpPr>
            <a:spLocks noGrp="1"/>
          </p:cNvSpPr>
          <p:nvPr/>
        </p:nvSpPr>
        <p:spPr>
          <a:xfrm>
            <a:off x="2247900" y="4762500"/>
            <a:ext cx="7696200" cy="1123950"/>
          </a:xfrm>
          <a:prstGeom prst="roundRect">
            <a:avLst>
              <a:gd name="adj" fmla="val 84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8" name="">
            <a:extLst>
              <a:ext uri="{FF2B5EF4-FFF2-40B4-BE49-F238E27FC236}">
                <ns2:creationId id="{F61DD982-849B-43B2-AAD4-1079B8FA47C8}"/>
              </a:ext>
            </a:extLst>
          </p:cNvPr>
          <p:cNvSpPr>
            <a:spLocks noGrp="1"/>
          </p:cNvSpPr>
          <p:nvPr/>
        </p:nvSpPr>
        <p:spPr>
          <a:xfrm>
            <a:off x="241935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018C4C0C-E576-4FFE-A8D1-6A84F33E086B}"/>
              </a:ext>
            </a:extLst>
          </p:cNvPr>
          <p:cNvSpPr>
            <a:spLocks noGrp="1"/>
          </p:cNvSpPr>
          <p:nvPr/>
        </p:nvSpPr>
        <p:spPr>
          <a:xfrm>
            <a:off x="259080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B7DA4123-E70D-4B47-9150-CD52264FC156}"/>
              </a:ext>
            </a:extLst>
          </p:cNvPr>
          <p:cNvSpPr>
            <a:spLocks noGrp="1"/>
          </p:cNvSpPr>
          <p:nvPr/>
        </p:nvSpPr>
        <p:spPr>
          <a:xfrm>
            <a:off x="276225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31" name="">
            <a:extLst>
              <a:ext uri="{FF2B5EF4-FFF2-40B4-BE49-F238E27FC236}">
                <ns2:creationId id="{CE72B7B1-3D74-44B1-B831-55EB0D897BC3}"/>
              </a:ext>
            </a:extLst>
          </p:cNvPr>
          <p:cNvSpPr>
            <a:spLocks noGrp="1"/>
          </p:cNvSpPr>
          <p:nvPr/>
        </p:nvSpPr>
        <p:spPr>
          <a:xfrm>
            <a:off x="2457450" y="5181600"/>
            <a:ext cx="727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0096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--install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--version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--list --verbose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--shutdown</a:t>
            </a:r>
          </a:p>
        </p:txBody>
      </p:sp>
      <p:sp>
        <p:nvSpPr>
          <p:cNvPr id="32" name="">
            <a:extLst>
              <a:ext uri="{FF2B5EF4-FFF2-40B4-BE49-F238E27FC236}">
                <ns2:creationId id="{1559A061-7FC9-479C-A333-008BF53EB25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3" name="">
            <a:extLst>
              <a:ext uri="{FF2B5EF4-FFF2-40B4-BE49-F238E27FC236}">
                <ns2:creationId id="{A2122047-0A6A-4531-B40A-D8A2480CB2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4" name="">
            <a:extLst>
              <a:ext uri="{FF2B5EF4-FFF2-40B4-BE49-F238E27FC236}">
                <ns2:creationId id="{5A2B7A6C-3638-4659-913A-AD155F05606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ns3:creationId val="806973548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2756D5B-075D-4826-9E18-0B8A16E85DE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DOWNLOAD</a:t>
            </a:r>
          </a:p>
        </p:txBody>
      </p:sp>
      <p:sp>
        <p:nvSpPr>
          <p:cNvPr id="2" name="">
            <a:extLst>
              <a:ext uri="{FF2B5EF4-FFF2-40B4-BE49-F238E27FC236}">
                <ns2:creationId id="{2C0CC722-F5FA-4072-B290-76C810DD52F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先下載對的 Docker Desktop</a:t>
            </a:r>
          </a:p>
        </p:txBody>
      </p:sp>
      <p:sp>
        <p:nvSpPr>
          <p:cNvPr id="3" name="">
            <a:extLst>
              <a:ext uri="{FF2B5EF4-FFF2-40B4-BE49-F238E27FC236}">
                <ns2:creationId id="{DE8F1E5A-C307-4242-AB23-BBA71637B034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這裡選的是安裝檔，不是 Docker Image 平台。</a:t>
            </a:r>
          </a:p>
        </p:txBody>
      </p:sp>
      <p:sp>
        <p:nvSpPr>
          <p:cNvPr id="4" name="">
            <a:extLst>
              <a:ext uri="{FF2B5EF4-FFF2-40B4-BE49-F238E27FC236}">
                <ns2:creationId id="{8C23261B-5008-44CB-B840-F9CBEF7F7E35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5A419CEE-1DAD-400F-B0CC-33DD1E4D6DB9}"/>
              </a:ext>
            </a:extLst>
          </p:cNvPr>
          <p:cNvSpPr>
            <a:spLocks noGrp="1"/>
          </p:cNvSpPr>
          <p:nvPr/>
        </p:nvSpPr>
        <p:spPr>
          <a:xfrm>
            <a:off x="723900" y="218122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FD6318F3-1DB0-4273-9A15-5DCF22B9A42B}"/>
              </a:ext>
            </a:extLst>
          </p:cNvPr>
          <p:cNvSpPr>
            <a:spLocks noGrp="1"/>
          </p:cNvSpPr>
          <p:nvPr/>
        </p:nvSpPr>
        <p:spPr>
          <a:xfrm>
            <a:off x="1200150" y="2143125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一般 Windows：選 AMD64</a:t>
            </a:r>
          </a:p>
        </p:txBody>
      </p:sp>
      <p:sp>
        <p:nvSpPr>
          <p:cNvPr id="7" name="">
            <a:extLst>
              <a:ext uri="{FF2B5EF4-FFF2-40B4-BE49-F238E27FC236}">
                <ns2:creationId id="{93384155-7329-487F-B668-552EE1A2C11F}"/>
              </a:ext>
            </a:extLst>
          </p:cNvPr>
          <p:cNvSpPr>
            <a:spLocks noGrp="1"/>
          </p:cNvSpPr>
          <p:nvPr/>
        </p:nvSpPr>
        <p:spPr>
          <a:xfrm>
            <a:off x="1200150" y="2524125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Intel / AMD CPU 的 Windows 電腦，多數都是這個選項。</a:t>
            </a:r>
          </a:p>
        </p:txBody>
      </p:sp>
      <p:sp>
        <p:nvSpPr>
          <p:cNvPr id="8" name="">
            <a:extLst>
              <a:ext uri="{FF2B5EF4-FFF2-40B4-BE49-F238E27FC236}">
                <ns2:creationId id="{1421EDCE-CE59-4BA0-A65D-DDF846DA03E2}"/>
              </a:ext>
            </a:extLst>
          </p:cNvPr>
          <p:cNvSpPr>
            <a:spLocks noGrp="1"/>
          </p:cNvSpPr>
          <p:nvPr/>
        </p:nvSpPr>
        <p:spPr>
          <a:xfrm>
            <a:off x="723900" y="334327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87F1CEA3-EF10-4A9F-9B32-30926EBB6DEF}"/>
              </a:ext>
            </a:extLst>
          </p:cNvPr>
          <p:cNvSpPr>
            <a:spLocks noGrp="1"/>
          </p:cNvSpPr>
          <p:nvPr/>
        </p:nvSpPr>
        <p:spPr>
          <a:xfrm>
            <a:off x="723900" y="33718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066C98F9-9C7D-48E3-91F8-351FDE10EDC7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Windows on ARM：選 ARM64</a:t>
            </a:r>
          </a:p>
        </p:txBody>
      </p:sp>
      <p:sp>
        <p:nvSpPr>
          <p:cNvPr id="11" name="">
            <a:extLst>
              <a:ext uri="{FF2B5EF4-FFF2-40B4-BE49-F238E27FC236}">
                <ns2:creationId id="{F08CA2F8-686D-422F-B1DD-21844F1EC7C3}"/>
              </a:ext>
            </a:extLst>
          </p:cNvPr>
          <p:cNvSpPr>
            <a:spLocks noGrp="1"/>
          </p:cNvSpPr>
          <p:nvPr/>
        </p:nvSpPr>
        <p:spPr>
          <a:xfrm>
            <a:off x="1200150" y="3714750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例如部分 Snapdragon / ARM 裝置，才需要選這個。</a:t>
            </a:r>
          </a:p>
        </p:txBody>
      </p:sp>
      <p:sp>
        <p:nvSpPr>
          <p:cNvPr id="12" name="">
            <a:extLst>
              <a:ext uri="{FF2B5EF4-FFF2-40B4-BE49-F238E27FC236}">
                <ns2:creationId id="{6AE13876-8A1B-4902-AD60-DF844451DFBD}"/>
              </a:ext>
            </a:extLst>
          </p:cNvPr>
          <p:cNvSpPr>
            <a:spLocks noGrp="1"/>
          </p:cNvSpPr>
          <p:nvPr/>
        </p:nvSpPr>
        <p:spPr>
          <a:xfrm>
            <a:off x="723900" y="453390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3FBD2B24-29C6-4E03-ABA6-BBD98B3084F1}"/>
              </a:ext>
            </a:extLst>
          </p:cNvPr>
          <p:cNvSpPr>
            <a:spLocks noGrp="1"/>
          </p:cNvSpPr>
          <p:nvPr/>
        </p:nvSpPr>
        <p:spPr>
          <a:xfrm>
            <a:off x="723900" y="456247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">
            <a:extLst>
              <a:ext uri="{FF2B5EF4-FFF2-40B4-BE49-F238E27FC236}">
                <ns2:creationId id="{2672DA91-096E-41AE-B44B-7EBC182F772A}"/>
              </a:ext>
            </a:extLst>
          </p:cNvPr>
          <p:cNvSpPr>
            <a:spLocks noGrp="1"/>
          </p:cNvSpPr>
          <p:nvPr/>
        </p:nvSpPr>
        <p:spPr>
          <a:xfrm>
            <a:off x="1200150" y="4524375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不確定就查系統類型</a:t>
            </a:r>
          </a:p>
        </p:txBody>
      </p:sp>
      <p:sp>
        <p:nvSpPr>
          <p:cNvPr id="15" name="">
            <a:extLst>
              <a:ext uri="{FF2B5EF4-FFF2-40B4-BE49-F238E27FC236}">
                <ns2:creationId id="{FB4C8473-96F5-4AC6-9C8B-DB8317817FE3}"/>
              </a:ext>
            </a:extLst>
          </p:cNvPr>
          <p:cNvSpPr>
            <a:spLocks noGrp="1"/>
          </p:cNvSpPr>
          <p:nvPr/>
        </p:nvSpPr>
        <p:spPr>
          <a:xfrm>
            <a:off x="1200150" y="4905375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設定 &gt; 系統 &gt; 關於 &gt; 系統類型；先把安裝檔選對即可。</a:t>
            </a:r>
          </a:p>
        </p:txBody>
      </p:sp>
      <p:sp>
        <p:nvSpPr>
          <p:cNvPr id="16" name="">
            <a:extLst>
              <a:ext uri="{FF2B5EF4-FFF2-40B4-BE49-F238E27FC236}">
                <ns2:creationId id="{E2F8A280-BA0F-4875-8FF9-156335E3110F}"/>
              </a:ext>
            </a:extLst>
          </p:cNvPr>
          <p:cNvSpPr>
            <a:spLocks noGrp="1"/>
          </p:cNvSpPr>
          <p:nvPr/>
        </p:nvSpPr>
        <p:spPr>
          <a:xfrm>
            <a:off x="5886450" y="1828800"/>
            <a:ext cx="5715000" cy="390525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pic>
        <p:nvPicPr>
          <p:cNvPr id="39" name=""/>
          <p:cNvPicPr>
            <a:picLocks noChangeAspect="1"/>
          </p:cNvPicPr>
          <p:nvPr/>
        </p:nvPicPr>
        <p:blipFill>
          <a:blip r:embed="R1ebfd9e80c5140ef"/>
          <a:srcRect l="0" t="16" r="0" b="16"/>
          <a:stretch>
            <a:fillRect l="0" t="0" r="0" b="0"/>
          </a:stretch>
        </p:blipFill>
        <p:spPr>
          <a:xfrm>
            <a:off x="6019800" y="1990725"/>
            <a:ext cx="5448300" cy="3524250"/>
          </a:xfrm>
          <a:prstGeom prst="rect">
            <a:avLst/>
          </a:prstGeom>
        </p:spPr>
      </p:pic>
      <p:sp>
        <p:nvSpPr>
          <p:cNvPr id="18" name="">
            <a:extLst>
              <a:ext uri="{FF2B5EF4-FFF2-40B4-BE49-F238E27FC236}">
                <ns2:creationId id="{9E41197F-95DF-47CC-8A87-4C9A9C91D997}"/>
              </a:ext>
            </a:extLst>
          </p:cNvPr>
          <p:cNvSpPr>
            <a:spLocks noGrp="1"/>
          </p:cNvSpPr>
          <p:nvPr/>
        </p:nvSpPr>
        <p:spPr>
          <a:xfrm>
            <a:off x="6400800" y="4219575"/>
            <a:ext cx="2076450" cy="323850"/>
          </a:xfrm>
          <a:prstGeom prst="roundRect">
            <a:avLst>
              <a:gd name="adj" fmla="val 11765"/>
            </a:avLst>
          </a:prstGeom>
          <a:noFill/>
          <a:ln w="28575">
            <a:solidFill>
              <a:srgbClr val="F59E0B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5C75E58A-3870-4BAB-A843-3772204CA559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F9EA129E-62CC-4E0F-858E-5C88D240752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1" name="">
            <a:extLst>
              <a:ext uri="{FF2B5EF4-FFF2-40B4-BE49-F238E27FC236}">
                <ns2:creationId id="{6EA1BB66-668F-4853-855A-6A165374456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ns4:creationId val="2131902067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650C515-B4B7-44FC-B4FA-95CCF2635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SETUP</a:t>
            </a:r>
          </a:p>
        </p:txBody>
      </p:sp>
      <p:sp>
        <p:nvSpPr>
          <p:cNvPr id="2" name="">
            <a:extLst>
              <a:ext uri="{FF2B5EF4-FFF2-40B4-BE49-F238E27FC236}">
                <ns2:creationId id="{40071B16-A298-449E-9D88-E5CD82C466F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144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Docker Desktop 安裝設定這樣選</a:t>
            </a:r>
          </a:p>
        </p:txBody>
      </p:sp>
      <p:sp>
        <p:nvSpPr>
          <p:cNvPr id="3" name="">
            <a:extLst>
              <a:ext uri="{FF2B5EF4-FFF2-40B4-BE49-F238E27FC236}">
                <ns2:creationId id="{F7F5479D-A7CD-4967-9C27-DA2216A70738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4953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看到這個畫面時，照預設方向做就好；不用切到 Windows Containers。</a:t>
            </a:r>
          </a:p>
        </p:txBody>
      </p:sp>
      <p:sp>
        <p:nvSpPr>
          <p:cNvPr id="4" name="">
            <a:extLst>
              <a:ext uri="{FF2B5EF4-FFF2-40B4-BE49-F238E27FC236}">
                <ns2:creationId id="{1016DAC2-B264-4EE7-945A-F1144D150F0F}"/>
              </a:ext>
            </a:extLst>
          </p:cNvPr>
          <p:cNvSpPr>
            <a:spLocks noGrp="1"/>
          </p:cNvSpPr>
          <p:nvPr/>
        </p:nvSpPr>
        <p:spPr>
          <a:xfrm>
            <a:off x="723900" y="216217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33E2F89-D669-4215-897D-F00F7451EBF8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ADBB8227-E068-469E-972B-1C52284571FA}"/>
              </a:ext>
            </a:extLst>
          </p:cNvPr>
          <p:cNvSpPr>
            <a:spLocks noGrp="1"/>
          </p:cNvSpPr>
          <p:nvPr/>
        </p:nvSpPr>
        <p:spPr>
          <a:xfrm>
            <a:off x="1200150" y="214312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勾選 Use WSL 2 instead of Hyper-V</a:t>
            </a:r>
          </a:p>
        </p:txBody>
      </p:sp>
      <p:sp>
        <p:nvSpPr>
          <p:cNvPr id="7" name="">
            <a:extLst>
              <a:ext uri="{FF2B5EF4-FFF2-40B4-BE49-F238E27FC236}">
                <ns2:creationId id="{83BE8C58-BF70-4158-82B6-B1C5241D20F0}"/>
              </a:ext>
            </a:extLst>
          </p:cNvPr>
          <p:cNvSpPr>
            <a:spLocks noGrp="1"/>
          </p:cNvSpPr>
          <p:nvPr/>
        </p:nvSpPr>
        <p:spPr>
          <a:xfrm>
            <a:off x="1200150" y="252412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這堂課使用 WSL 2 後端，和後面 Linux container 操作一致。</a:t>
            </a:r>
          </a:p>
        </p:txBody>
      </p:sp>
      <p:sp>
        <p:nvSpPr>
          <p:cNvPr id="8" name="">
            <a:extLst>
              <a:ext uri="{FF2B5EF4-FFF2-40B4-BE49-F238E27FC236}">
                <ns2:creationId id="{DE35AC74-0014-4275-B4EA-DBEF6F833C25}"/>
              </a:ext>
            </a:extLst>
          </p:cNvPr>
          <p:cNvSpPr>
            <a:spLocks noGrp="1"/>
          </p:cNvSpPr>
          <p:nvPr/>
        </p:nvSpPr>
        <p:spPr>
          <a:xfrm>
            <a:off x="723900" y="335280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B209B443-4B2C-46FD-B192-E13BD4377408}"/>
              </a:ext>
            </a:extLst>
          </p:cNvPr>
          <p:cNvSpPr>
            <a:spLocks noGrp="1"/>
          </p:cNvSpPr>
          <p:nvPr/>
        </p:nvSpPr>
        <p:spPr>
          <a:xfrm>
            <a:off x="723900" y="338137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9405B977-30BF-4FF6-B4E7-CF2170530D01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不要勾 Allow Windows Containers</a:t>
            </a:r>
          </a:p>
        </p:txBody>
      </p:sp>
      <p:sp>
        <p:nvSpPr>
          <p:cNvPr id="11" name="">
            <a:extLst>
              <a:ext uri="{FF2B5EF4-FFF2-40B4-BE49-F238E27FC236}">
                <ns2:creationId id="{70741E47-1763-425A-B36F-E1F44BC6E7CB}"/>
              </a:ext>
            </a:extLst>
          </p:cNvPr>
          <p:cNvSpPr>
            <a:spLocks noGrp="1"/>
          </p:cNvSpPr>
          <p:nvPr/>
        </p:nvSpPr>
        <p:spPr>
          <a:xfrm>
            <a:off x="1200150" y="3714750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新手先維持 Linux containers；Windows containers 是不同路線。</a:t>
            </a:r>
          </a:p>
        </p:txBody>
      </p:sp>
      <p:sp>
        <p:nvSpPr>
          <p:cNvPr id="12" name="">
            <a:extLst>
              <a:ext uri="{FF2B5EF4-FFF2-40B4-BE49-F238E27FC236}">
                <ns2:creationId id="{A738CE96-5D41-4F23-BC90-A9AB13B61EE0}"/>
              </a:ext>
            </a:extLst>
          </p:cNvPr>
          <p:cNvSpPr>
            <a:spLocks noGrp="1"/>
          </p:cNvSpPr>
          <p:nvPr/>
        </p:nvSpPr>
        <p:spPr>
          <a:xfrm>
            <a:off x="723900" y="454342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2C6FD728-C085-4936-B44A-5FD312ECD96F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">
            <a:extLst>
              <a:ext uri="{FF2B5EF4-FFF2-40B4-BE49-F238E27FC236}">
                <ns2:creationId id="{BFE7745F-9D38-4B89-A672-E234F551C448}"/>
              </a:ext>
            </a:extLst>
          </p:cNvPr>
          <p:cNvSpPr>
            <a:spLocks noGrp="1"/>
          </p:cNvSpPr>
          <p:nvPr/>
        </p:nvSpPr>
        <p:spPr>
          <a:xfrm>
            <a:off x="1200150" y="452437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Add shortcut 可保留</a:t>
            </a:r>
          </a:p>
        </p:txBody>
      </p:sp>
      <p:sp>
        <p:nvSpPr>
          <p:cNvPr id="15" name="">
            <a:extLst>
              <a:ext uri="{FF2B5EF4-FFF2-40B4-BE49-F238E27FC236}">
                <ns2:creationId id="{29F637EB-CF1A-442E-B350-AAFB4FCB0187}"/>
              </a:ext>
            </a:extLst>
          </p:cNvPr>
          <p:cNvSpPr>
            <a:spLocks noGrp="1"/>
          </p:cNvSpPr>
          <p:nvPr/>
        </p:nvSpPr>
        <p:spPr>
          <a:xfrm>
            <a:off x="1200150" y="490537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All-users installation 需要管理員密碼；照畫面或預設安裝即可。</a:t>
            </a:r>
          </a:p>
        </p:txBody>
      </p:sp>
      <p:sp>
        <p:nvSpPr>
          <p:cNvPr id="16" name="">
            <a:extLst>
              <a:ext uri="{FF2B5EF4-FFF2-40B4-BE49-F238E27FC236}">
                <ns2:creationId id="{E03A3163-0339-4F84-BD9A-09516E92501C}"/>
              </a:ext>
            </a:extLst>
          </p:cNvPr>
          <p:cNvSpPr>
            <a:spLocks noGrp="1"/>
          </p:cNvSpPr>
          <p:nvPr/>
        </p:nvSpPr>
        <p:spPr>
          <a:xfrm>
            <a:off x="5981700" y="1619250"/>
            <a:ext cx="5619750" cy="4152900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pic>
        <p:nvPicPr>
          <p:cNvPr id="38" name=""/>
          <p:cNvPicPr>
            <a:picLocks noChangeAspect="1"/>
          </p:cNvPicPr>
          <p:nvPr/>
        </p:nvPicPr>
        <p:blipFill>
          <a:blip r:embed="R3708d1e214e04e4a"/>
          <a:srcRect l="2500" t="3000" r="2500" b="3500"/>
          <a:stretch/>
        </p:blipFill>
        <p:spPr>
          <a:xfrm>
            <a:off x="6191537" y="1828800"/>
            <a:ext cx="5200076" cy="3819525"/>
          </a:xfrm>
          <a:prstGeom prst="rect">
            <a:avLst/>
          </a:prstGeom>
        </p:spPr>
      </p:pic>
      <p:sp>
        <p:nvSpPr>
          <p:cNvPr id="18" name="">
            <a:extLst>
              <a:ext uri="{FF2B5EF4-FFF2-40B4-BE49-F238E27FC236}">
                <ns2:creationId id="{4B2B4557-ABA1-418A-932E-0B72FAF3ADE0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6C9B68DE-F4E8-46B9-A7E8-00D1004DC6C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0" name="">
            <a:extLst>
              <a:ext uri="{FF2B5EF4-FFF2-40B4-BE49-F238E27FC236}">
                <ns2:creationId id="{3529EA0A-B5F8-4687-AE81-63B177C6DFC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ns4:creationId val="846947588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D1EB9C72-86EC-4885-B1B5-7C8BBF3DEAB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DESKTOP</a:t>
            </a:r>
          </a:p>
        </p:txBody>
      </p:sp>
      <p:sp>
        <p:nvSpPr>
          <p:cNvPr id="2" name="">
            <a:extLst>
              <a:ext uri="{FF2B5EF4-FFF2-40B4-BE49-F238E27FC236}">
                <ns2:creationId id="{2EEE227A-84B6-4F1D-9E48-88A65992666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Desktop 不只是 GUI</a:t>
            </a:r>
          </a:p>
        </p:txBody>
      </p:sp>
      <p:sp>
        <p:nvSpPr>
          <p:cNvPr id="3" name="">
            <a:extLst>
              <a:ext uri="{FF2B5EF4-FFF2-40B4-BE49-F238E27FC236}">
                <ns2:creationId id="{71F207B9-FC5A-4920-871F-0796D5FE3BA3}"/>
              </a:ext>
            </a:extLst>
          </p:cNvPr>
          <p:cNvSpPr>
            <a:spLocks noGrp="1"/>
          </p:cNvSpPr>
          <p:nvPr/>
        </p:nvSpPr>
        <p:spPr>
          <a:xfrm>
            <a:off x="990600" y="16954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B306C14-B7A2-47FB-88FE-D70E962F042D}"/>
              </a:ext>
            </a:extLst>
          </p:cNvPr>
          <p:cNvSpPr>
            <a:spLocks noGrp="1"/>
          </p:cNvSpPr>
          <p:nvPr/>
        </p:nvSpPr>
        <p:spPr>
          <a:xfrm>
            <a:off x="1219200" y="18859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" name="">
            <a:extLst>
              <a:ext uri="{FF2B5EF4-FFF2-40B4-BE49-F238E27FC236}">
                <ns2:creationId id="{38EC7D58-3F50-4150-A27F-3BBF84C3F0A8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真正負責建立與執行容器的核心引擎。</a:t>
            </a:r>
          </a:p>
        </p:txBody>
      </p:sp>
      <p:sp>
        <p:nvSpPr>
          <p:cNvPr id="6" name="">
            <a:extLst>
              <a:ext uri="{FF2B5EF4-FFF2-40B4-BE49-F238E27FC236}">
                <ns2:creationId id="{3661E796-92E2-4621-A5A7-4A0544249097}"/>
              </a:ext>
            </a:extLst>
          </p:cNvPr>
          <p:cNvSpPr>
            <a:spLocks noGrp="1"/>
          </p:cNvSpPr>
          <p:nvPr/>
        </p:nvSpPr>
        <p:spPr>
          <a:xfrm>
            <a:off x="5943600" y="16954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42E87C13-CB79-40A2-90EA-3D92987EDC5B}"/>
              </a:ext>
            </a:extLst>
          </p:cNvPr>
          <p:cNvSpPr>
            <a:spLocks noGrp="1"/>
          </p:cNvSpPr>
          <p:nvPr/>
        </p:nvSpPr>
        <p:spPr>
          <a:xfrm>
            <a:off x="6172200" y="18859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CLI</a:t>
            </a:r>
          </a:p>
        </p:txBody>
      </p:sp>
      <p:sp>
        <p:nvSpPr>
          <p:cNvPr id="8" name="">
            <a:extLst>
              <a:ext uri="{FF2B5EF4-FFF2-40B4-BE49-F238E27FC236}">
                <ns2:creationId id="{6009CBE9-6A8B-4AD9-97E2-EC44E187B1D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命令列工具；後面實作主要用它。</a:t>
            </a:r>
          </a:p>
        </p:txBody>
      </p:sp>
      <p:sp>
        <p:nvSpPr>
          <p:cNvPr id="9" name="">
            <a:extLst>
              <a:ext uri="{FF2B5EF4-FFF2-40B4-BE49-F238E27FC236}">
                <ns2:creationId id="{F41A253D-DF37-4C8B-95DA-FF14B79B48CB}"/>
              </a:ext>
            </a:extLst>
          </p:cNvPr>
          <p:cNvSpPr>
            <a:spLocks noGrp="1"/>
          </p:cNvSpPr>
          <p:nvPr/>
        </p:nvSpPr>
        <p:spPr>
          <a:xfrm>
            <a:off x="990600" y="34480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E3E800DF-1471-4D77-B158-D2E927B10D0F}"/>
              </a:ext>
            </a:extLst>
          </p:cNvPr>
          <p:cNvSpPr>
            <a:spLocks noGrp="1"/>
          </p:cNvSpPr>
          <p:nvPr/>
        </p:nvSpPr>
        <p:spPr>
          <a:xfrm>
            <a:off x="1219200" y="36385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1" name="">
            <a:extLst>
              <a:ext uri="{FF2B5EF4-FFF2-40B4-BE49-F238E27FC236}">
                <ns2:creationId id="{7A628DF0-52ED-405D-86D3-E00940AB7CBB}"/>
              </a:ext>
            </a:extLst>
          </p:cNvPr>
          <p:cNvSpPr>
            <a:spLocks noGrp="1"/>
          </p:cNvSpPr>
          <p:nvPr/>
        </p:nvSpPr>
        <p:spPr>
          <a:xfrm>
            <a:off x="1219200" y="40386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多容器管理工具，後面課程會用。</a:t>
            </a:r>
          </a:p>
        </p:txBody>
      </p:sp>
      <p:sp>
        <p:nvSpPr>
          <p:cNvPr id="12" name="">
            <a:extLst>
              <a:ext uri="{FF2B5EF4-FFF2-40B4-BE49-F238E27FC236}">
                <ns2:creationId id="{9BBA8A30-F8BC-4B6F-BEE0-A41C68FB5980}"/>
              </a:ext>
            </a:extLst>
          </p:cNvPr>
          <p:cNvSpPr>
            <a:spLocks noGrp="1"/>
          </p:cNvSpPr>
          <p:nvPr/>
        </p:nvSpPr>
        <p:spPr>
          <a:xfrm>
            <a:off x="5943600" y="34480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CE1A91C2-3200-496A-B03D-1DBC0F138534}"/>
              </a:ext>
            </a:extLst>
          </p:cNvPr>
          <p:cNvSpPr>
            <a:spLocks noGrp="1"/>
          </p:cNvSpPr>
          <p:nvPr/>
        </p:nvSpPr>
        <p:spPr>
          <a:xfrm>
            <a:off x="6172200" y="36385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GUI</a:t>
            </a:r>
          </a:p>
        </p:txBody>
      </p:sp>
      <p:sp>
        <p:nvSpPr>
          <p:cNvPr id="14" name="">
            <a:extLst>
              <a:ext uri="{FF2B5EF4-FFF2-40B4-BE49-F238E27FC236}">
                <ns2:creationId id="{875114DF-CEC1-4747-AB6E-213B14E73AEF}"/>
              </a:ext>
            </a:extLst>
          </p:cNvPr>
          <p:cNvSpPr>
            <a:spLocks noGrp="1"/>
          </p:cNvSpPr>
          <p:nvPr/>
        </p:nvSpPr>
        <p:spPr>
          <a:xfrm>
            <a:off x="6172200" y="40386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觀察 Containers、Images、Volumes 與資源設定。</a:t>
            </a:r>
          </a:p>
        </p:txBody>
      </p:sp>
      <p:sp>
        <p:nvSpPr>
          <p:cNvPr id="15" name="">
            <a:extLst>
              <a:ext uri="{FF2B5EF4-FFF2-40B4-BE49-F238E27FC236}">
                <ns2:creationId id="{599DAF96-B7FA-4B7B-862D-BD4D2FCCEF17}"/>
              </a:ext>
            </a:extLst>
          </p:cNvPr>
          <p:cNvSpPr>
            <a:spLocks noGrp="1"/>
          </p:cNvSpPr>
          <p:nvPr/>
        </p:nvSpPr>
        <p:spPr>
          <a:xfrm>
            <a:off x="1600200" y="5219700"/>
            <a:ext cx="8991600" cy="533400"/>
          </a:xfrm>
          <a:prstGeom prst="roundRect">
            <a:avLst>
              <a:gd name="adj" fmla="val 17857"/>
            </a:avLst>
          </a:prstGeom>
          <a:solidFill>
            <a:srgbClr val="0B1220"/>
          </a:solidFill>
          <a:ln w="0">
            <a:solidFill>
              <a:srgbClr val="0B1220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638F41A6-9B6D-4B6E-B03F-789099144144}"/>
              </a:ext>
            </a:extLst>
          </p:cNvPr>
          <p:cNvSpPr>
            <a:spLocks noGrp="1"/>
          </p:cNvSpPr>
          <p:nvPr/>
        </p:nvSpPr>
        <p:spPr>
          <a:xfrm>
            <a:off x="1885950" y="5381625"/>
            <a:ext cx="842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建議：用 GUI 學概念，用 CLI 做操作。伺服器與 CI/CD 幾乎都靠指令。</a:t>
            </a:r>
          </a:p>
        </p:txBody>
      </p:sp>
      <p:sp>
        <p:nvSpPr>
          <p:cNvPr id="17" name="">
            <a:extLst>
              <a:ext uri="{FF2B5EF4-FFF2-40B4-BE49-F238E27FC236}">
                <ns2:creationId id="{2C793A1A-76D7-4694-853A-FCE5A4B797A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050F584A-4E62-44DB-96BD-C644637F9F3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>
              <a:ext uri="{FF2B5EF4-FFF2-40B4-BE49-F238E27FC236}">
                <ns2:creationId id="{5BCCCD77-567E-42A6-BDB3-0A4E64F5AAC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ns3:creationId val="441454557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C14FA96-C56B-42E5-8421-71C1B4D2273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VERIFICATION</a:t>
            </a:r>
          </a:p>
        </p:txBody>
      </p:sp>
      <p:sp>
        <p:nvSpPr>
          <p:cNvPr id="2" name="">
            <a:extLst>
              <a:ext uri="{FF2B5EF4-FFF2-40B4-BE49-F238E27FC236}">
                <ns2:creationId id="{2BA3A269-969A-4AF5-AA30-5204763BA72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安裝成功的最小驗證</a:t>
            </a:r>
          </a:p>
        </p:txBody>
      </p:sp>
      <p:sp>
        <p:nvSpPr>
          <p:cNvPr id="3" name="">
            <a:extLst>
              <a:ext uri="{FF2B5EF4-FFF2-40B4-BE49-F238E27FC236}">
                <ns2:creationId id="{10CCB3DF-2AA2-45AD-818F-AD87EF5F68FE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4857750" cy="1714500"/>
          </a:xfrm>
          <a:prstGeom prst="roundRect">
            <a:avLst>
              <a:gd name="adj" fmla="val 555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C0159F1F-CD8A-4BB5-8C0D-40A924998B65}"/>
              </a:ext>
            </a:extLst>
          </p:cNvPr>
          <p:cNvSpPr>
            <a:spLocks noGrp="1"/>
          </p:cNvSpPr>
          <p:nvPr/>
        </p:nvSpPr>
        <p:spPr>
          <a:xfrm>
            <a:off x="990600" y="1876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15A98560-50D9-4724-A3C5-0F2915F82DD7}"/>
              </a:ext>
            </a:extLst>
          </p:cNvPr>
          <p:cNvSpPr>
            <a:spLocks noGrp="1"/>
          </p:cNvSpPr>
          <p:nvPr/>
        </p:nvSpPr>
        <p:spPr>
          <a:xfrm>
            <a:off x="1162050" y="1876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E5D53BEA-3D52-47AD-A537-43AFAE30703B}"/>
              </a:ext>
            </a:extLst>
          </p:cNvPr>
          <p:cNvSpPr>
            <a:spLocks noGrp="1"/>
          </p:cNvSpPr>
          <p:nvPr/>
        </p:nvSpPr>
        <p:spPr>
          <a:xfrm>
            <a:off x="1333500" y="1876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844242D-1E70-412E-9CFB-B7646B2E4370}"/>
              </a:ext>
            </a:extLst>
          </p:cNvPr>
          <p:cNvSpPr>
            <a:spLocks noGrp="1"/>
          </p:cNvSpPr>
          <p:nvPr/>
        </p:nvSpPr>
        <p:spPr>
          <a:xfrm>
            <a:off x="1028700" y="2133600"/>
            <a:ext cx="443865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--version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8" name="">
            <a:extLst>
              <a:ext uri="{FF2B5EF4-FFF2-40B4-BE49-F238E27FC236}">
                <ns2:creationId id="{CE67CAFD-D0F2-4128-B75B-24AEF5C04BAE}"/>
              </a:ext>
            </a:extLst>
          </p:cNvPr>
          <p:cNvSpPr>
            <a:spLocks noGrp="1"/>
          </p:cNvSpPr>
          <p:nvPr/>
        </p:nvSpPr>
        <p:spPr>
          <a:xfrm>
            <a:off x="6477000" y="15049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B862A544-3C85-47DA-8C40-2358DA353D40}"/>
              </a:ext>
            </a:extLst>
          </p:cNvPr>
          <p:cNvSpPr>
            <a:spLocks noGrp="1"/>
          </p:cNvSpPr>
          <p:nvPr/>
        </p:nvSpPr>
        <p:spPr>
          <a:xfrm>
            <a:off x="6477000" y="16097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>
              <a:ext uri="{FF2B5EF4-FFF2-40B4-BE49-F238E27FC236}">
                <ns2:creationId id="{6BB91210-65F4-4CED-A2B3-4627DDACEE84}"/>
              </a:ext>
            </a:extLst>
          </p:cNvPr>
          <p:cNvSpPr>
            <a:spLocks noGrp="1"/>
          </p:cNvSpPr>
          <p:nvPr/>
        </p:nvSpPr>
        <p:spPr>
          <a:xfrm>
            <a:off x="7086600" y="15430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本機找不到 hello-world Image</a:t>
            </a:r>
          </a:p>
        </p:txBody>
      </p:sp>
      <p:sp>
        <p:nvSpPr>
          <p:cNvPr id="11" name="">
            <a:extLst>
              <a:ext uri="{FF2B5EF4-FFF2-40B4-BE49-F238E27FC236}">
                <ns2:creationId id="{8F4A3B07-299F-4A60-BE6D-3C30ACD437D3}"/>
              </a:ext>
            </a:extLst>
          </p:cNvPr>
          <p:cNvSpPr>
            <a:spLocks noGrp="1"/>
          </p:cNvSpPr>
          <p:nvPr/>
        </p:nvSpPr>
        <p:spPr>
          <a:xfrm>
            <a:off x="6477000" y="22860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C98FAABF-2379-4628-9275-79CB4D37EBD9}"/>
              </a:ext>
            </a:extLst>
          </p:cNvPr>
          <p:cNvSpPr>
            <a:spLocks noGrp="1"/>
          </p:cNvSpPr>
          <p:nvPr/>
        </p:nvSpPr>
        <p:spPr>
          <a:xfrm>
            <a:off x="6477000" y="239077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753CE441-0215-42D6-8DC9-B949845E9AC4}"/>
              </a:ext>
            </a:extLst>
          </p:cNvPr>
          <p:cNvSpPr>
            <a:spLocks noGrp="1"/>
          </p:cNvSpPr>
          <p:nvPr/>
        </p:nvSpPr>
        <p:spPr>
          <a:xfrm>
            <a:off x="7086600" y="23241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自動從 Docker Hub 下載</a:t>
            </a:r>
          </a:p>
        </p:txBody>
      </p:sp>
      <p:sp>
        <p:nvSpPr>
          <p:cNvPr id="14" name="">
            <a:extLst>
              <a:ext uri="{FF2B5EF4-FFF2-40B4-BE49-F238E27FC236}">
                <ns2:creationId id="{534269AB-CCF2-42DA-8553-77EEF4B224CA}"/>
              </a:ext>
            </a:extLst>
          </p:cNvPr>
          <p:cNvSpPr>
            <a:spLocks noGrp="1"/>
          </p:cNvSpPr>
          <p:nvPr/>
        </p:nvSpPr>
        <p:spPr>
          <a:xfrm>
            <a:off x="6477000" y="30670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DE15F445-9F76-4A29-B286-424CD738DF28}"/>
              </a:ext>
            </a:extLst>
          </p:cNvPr>
          <p:cNvSpPr>
            <a:spLocks noGrp="1"/>
          </p:cNvSpPr>
          <p:nvPr/>
        </p:nvSpPr>
        <p:spPr>
          <a:xfrm>
            <a:off x="6477000" y="31718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>
              <a:ext uri="{FF2B5EF4-FFF2-40B4-BE49-F238E27FC236}">
                <ns2:creationId id="{95E87D2E-FAFE-458F-AF92-2FF81EB7A879}"/>
              </a:ext>
            </a:extLst>
          </p:cNvPr>
          <p:cNvSpPr>
            <a:spLocks noGrp="1"/>
          </p:cNvSpPr>
          <p:nvPr/>
        </p:nvSpPr>
        <p:spPr>
          <a:xfrm>
            <a:off x="7086600" y="31051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用 Image 建立 Container</a:t>
            </a:r>
          </a:p>
        </p:txBody>
      </p:sp>
      <p:sp>
        <p:nvSpPr>
          <p:cNvPr id="17" name="">
            <a:extLst>
              <a:ext uri="{FF2B5EF4-FFF2-40B4-BE49-F238E27FC236}">
                <ns2:creationId id="{E0975F8C-4DCD-4BD9-B655-1AACCE642F28}"/>
              </a:ext>
            </a:extLst>
          </p:cNvPr>
          <p:cNvSpPr>
            <a:spLocks noGrp="1"/>
          </p:cNvSpPr>
          <p:nvPr/>
        </p:nvSpPr>
        <p:spPr>
          <a:xfrm>
            <a:off x="6477000" y="38481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A08D61D0-7AAB-4309-9CF3-3B2E3CBC7027}"/>
              </a:ext>
            </a:extLst>
          </p:cNvPr>
          <p:cNvSpPr>
            <a:spLocks noGrp="1"/>
          </p:cNvSpPr>
          <p:nvPr/>
        </p:nvSpPr>
        <p:spPr>
          <a:xfrm>
            <a:off x="6477000" y="395287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">
            <a:extLst>
              <a:ext uri="{FF2B5EF4-FFF2-40B4-BE49-F238E27FC236}">
                <ns2:creationId id="{AC9D1987-C486-4263-8109-0C62D398E568}"/>
              </a:ext>
            </a:extLst>
          </p:cNvPr>
          <p:cNvSpPr>
            <a:spLocks noGrp="1"/>
          </p:cNvSpPr>
          <p:nvPr/>
        </p:nvSpPr>
        <p:spPr>
          <a:xfrm>
            <a:off x="7086600" y="38862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印出歡迎訊息</a:t>
            </a:r>
          </a:p>
        </p:txBody>
      </p:sp>
      <p:sp>
        <p:nvSpPr>
          <p:cNvPr id="20" name="">
            <a:extLst>
              <a:ext uri="{FF2B5EF4-FFF2-40B4-BE49-F238E27FC236}">
                <ns2:creationId id="{CB948148-43C8-443B-A44C-4781DB2C060E}"/>
              </a:ext>
            </a:extLst>
          </p:cNvPr>
          <p:cNvSpPr>
            <a:spLocks noGrp="1"/>
          </p:cNvSpPr>
          <p:nvPr/>
        </p:nvSpPr>
        <p:spPr>
          <a:xfrm>
            <a:off x="6477000" y="46291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4AE532C6-C958-4E1D-A4A5-6488FD636BBB}"/>
              </a:ext>
            </a:extLst>
          </p:cNvPr>
          <p:cNvSpPr>
            <a:spLocks noGrp="1"/>
          </p:cNvSpPr>
          <p:nvPr/>
        </p:nvSpPr>
        <p:spPr>
          <a:xfrm>
            <a:off x="6477000" y="47339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">
            <a:extLst>
              <a:ext uri="{FF2B5EF4-FFF2-40B4-BE49-F238E27FC236}">
                <ns2:creationId id="{7AE8C740-81F1-4495-B2EC-4782467BBC84}"/>
              </a:ext>
            </a:extLst>
          </p:cNvPr>
          <p:cNvSpPr>
            <a:spLocks noGrp="1"/>
          </p:cNvSpPr>
          <p:nvPr/>
        </p:nvSpPr>
        <p:spPr>
          <a:xfrm>
            <a:off x="7086600" y="46672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程式結束，Container 自動停止</a:t>
            </a:r>
          </a:p>
        </p:txBody>
      </p:sp>
      <p:sp>
        <p:nvSpPr>
          <p:cNvPr id="23" name="">
            <a:extLst>
              <a:ext uri="{FF2B5EF4-FFF2-40B4-BE49-F238E27FC236}">
                <ns2:creationId id="{B3C6CFFA-33D9-4C93-8A7C-0A1D0563F17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155BB718-D453-4366-8A60-FF4D9AADBBE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>
              <a:ext uri="{FF2B5EF4-FFF2-40B4-BE49-F238E27FC236}">
                <ns2:creationId id="{B0C3B678-71D0-4244-8FA7-113C7F69316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ns3:creationId val="1924671920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121CBB5-812B-4316-8B29-64A4AA5621E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DOCKER</a:t>
            </a:r>
          </a:p>
        </p:txBody>
      </p:sp>
      <p:sp>
        <p:nvSpPr>
          <p:cNvPr id="2" name="">
            <a:extLst>
              <a:ext uri="{FF2B5EF4-FFF2-40B4-BE49-F238E27FC236}">
                <ns2:creationId id="{B9A4EA0B-3CA4-442F-8DF4-2187DC98B152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解決的是「環境不一致」</a:t>
            </a:r>
          </a:p>
        </p:txBody>
      </p:sp>
      <p:sp>
        <p:nvSpPr>
          <p:cNvPr id="3" name="">
            <a:extLst>
              <a:ext uri="{FF2B5EF4-FFF2-40B4-BE49-F238E27FC236}">
                <ns2:creationId id="{EE810321-BFB7-4A7D-8AC1-B6CB3368AFF0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4095750" cy="30480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75850176-3334-4F6B-98C0-411151409524}"/>
              </a:ext>
            </a:extLst>
          </p:cNvPr>
          <p:cNvSpPr>
            <a:spLocks noGrp="1"/>
          </p:cNvSpPr>
          <p:nvPr/>
        </p:nvSpPr>
        <p:spPr>
          <a:xfrm>
            <a:off x="1104900" y="20383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5" name="">
            <a:extLst>
              <a:ext uri="{FF2B5EF4-FFF2-40B4-BE49-F238E27FC236}">
                <ns2:creationId id="{A8EC0050-9878-420A-B938-9FA86D4628AF}"/>
              </a:ext>
            </a:extLst>
          </p:cNvPr>
          <p:cNvSpPr>
            <a:spLocks noGrp="1"/>
          </p:cNvSpPr>
          <p:nvPr/>
        </p:nvSpPr>
        <p:spPr>
          <a:xfrm>
            <a:off x="1162050" y="26289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Python 版本不同</a:t>
            </a:r>
          </a:p>
        </p:txBody>
      </p:sp>
      <p:sp>
        <p:nvSpPr>
          <p:cNvPr id="6" name="">
            <a:extLst>
              <a:ext uri="{FF2B5EF4-FFF2-40B4-BE49-F238E27FC236}">
                <ns2:creationId id="{346AE636-4F00-42A7-BC3C-E7052BA4E0CE}"/>
              </a:ext>
            </a:extLst>
          </p:cNvPr>
          <p:cNvSpPr>
            <a:spLocks noGrp="1"/>
          </p:cNvSpPr>
          <p:nvPr/>
        </p:nvSpPr>
        <p:spPr>
          <a:xfrm>
            <a:off x="1162050" y="30861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系統套件缺少</a:t>
            </a:r>
          </a:p>
        </p:txBody>
      </p:sp>
      <p:sp>
        <p:nvSpPr>
          <p:cNvPr id="7" name="">
            <a:extLst>
              <a:ext uri="{FF2B5EF4-FFF2-40B4-BE49-F238E27FC236}">
                <ns2:creationId id="{DC3BBA90-A24C-4AD0-9F3B-DC60E78E614B}"/>
              </a:ext>
            </a:extLst>
          </p:cNvPr>
          <p:cNvSpPr>
            <a:spLocks noGrp="1"/>
          </p:cNvSpPr>
          <p:nvPr/>
        </p:nvSpPr>
        <p:spPr>
          <a:xfrm>
            <a:off x="1162050" y="35433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設定檔漏改</a:t>
            </a:r>
          </a:p>
        </p:txBody>
      </p:sp>
      <p:sp>
        <p:nvSpPr>
          <p:cNvPr id="8" name="">
            <a:extLst>
              <a:ext uri="{FF2B5EF4-FFF2-40B4-BE49-F238E27FC236}">
                <ns2:creationId id="{4C5C5983-37E9-4E90-853F-8316408E9591}"/>
              </a:ext>
            </a:extLst>
          </p:cNvPr>
          <p:cNvSpPr>
            <a:spLocks noGrp="1"/>
          </p:cNvSpPr>
          <p:nvPr/>
        </p:nvSpPr>
        <p:spPr>
          <a:xfrm>
            <a:off x="1162050" y="40005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本機能跑，上線失敗</a:t>
            </a:r>
          </a:p>
        </p:txBody>
      </p:sp>
      <p:sp>
        <p:nvSpPr>
          <p:cNvPr id="9" name="">
            <a:extLst>
              <a:ext uri="{FF2B5EF4-FFF2-40B4-BE49-F238E27FC236}">
                <ns2:creationId id="{5BBF1A48-DD28-4117-B2FD-14C6F1ABD8B3}"/>
              </a:ext>
            </a:extLst>
          </p:cNvPr>
          <p:cNvSpPr>
            <a:spLocks noGrp="1"/>
          </p:cNvSpPr>
          <p:nvPr/>
        </p:nvSpPr>
        <p:spPr>
          <a:xfrm>
            <a:off x="5334000" y="2990850"/>
            <a:ext cx="1066800" cy="4953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8AF1CFFC-D33D-444D-9597-76AC619B8838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4095750" cy="3048000"/>
          </a:xfrm>
          <a:prstGeom prst="roundRect">
            <a:avLst>
              <a:gd name="adj" fmla="val 3750"/>
            </a:avLst>
          </a:prstGeom>
          <a:solidFill>
            <a:srgbClr val="F8FB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C1C3EEA0-2A45-4342-82E5-716D7E3C5AE3}"/>
              </a:ext>
            </a:extLst>
          </p:cNvPr>
          <p:cNvSpPr>
            <a:spLocks noGrp="1"/>
          </p:cNvSpPr>
          <p:nvPr/>
        </p:nvSpPr>
        <p:spPr>
          <a:xfrm>
            <a:off x="7162800" y="2038350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的做法</a:t>
            </a:r>
          </a:p>
        </p:txBody>
      </p:sp>
      <p:sp>
        <p:nvSpPr>
          <p:cNvPr id="12" name="">
            <a:extLst>
              <a:ext uri="{FF2B5EF4-FFF2-40B4-BE49-F238E27FC236}">
                <ns2:creationId id="{8B8492D7-D359-48CF-95D7-0C49875B45FC}"/>
              </a:ext>
            </a:extLst>
          </p:cNvPr>
          <p:cNvSpPr>
            <a:spLocks noGrp="1"/>
          </p:cNvSpPr>
          <p:nvPr/>
        </p:nvSpPr>
        <p:spPr>
          <a:xfrm>
            <a:off x="7162800" y="2724150"/>
            <a:ext cx="3238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把應用程式、套件、設定與執行環境一起打包成 Image，再用同一份 Image 建立 Container。</a:t>
            </a:r>
          </a:p>
        </p:txBody>
      </p:sp>
      <p:sp>
        <p:nvSpPr>
          <p:cNvPr id="13" name="">
            <a:extLst>
              <a:ext uri="{FF2B5EF4-FFF2-40B4-BE49-F238E27FC236}">
                <ns2:creationId id="{262F684C-7B50-446C-A740-571EA91AFEDF}"/>
              </a:ext>
            </a:extLst>
          </p:cNvPr>
          <p:cNvSpPr>
            <a:spLocks noGrp="1"/>
          </p:cNvSpPr>
          <p:nvPr/>
        </p:nvSpPr>
        <p:spPr>
          <a:xfrm>
            <a:off x="7162800" y="4191000"/>
            <a:ext cx="2628900" cy="30480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2E668170-6618-4470-AD21-5AB148B8B83E}"/>
              </a:ext>
            </a:extLst>
          </p:cNvPr>
          <p:cNvSpPr>
            <a:spLocks noGrp="1"/>
          </p:cNvSpPr>
          <p:nvPr/>
        </p:nvSpPr>
        <p:spPr>
          <a:xfrm>
            <a:off x="7162800" y="4238625"/>
            <a:ext cx="2628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同一包，到哪裡都用同一種方式跑</a:t>
            </a:r>
          </a:p>
        </p:txBody>
      </p:sp>
      <p:sp>
        <p:nvSpPr>
          <p:cNvPr id="15" name="">
            <a:extLst>
              <a:ext uri="{FF2B5EF4-FFF2-40B4-BE49-F238E27FC236}">
                <ns2:creationId id="{F4CBC7B3-DF1E-4088-A2C0-3A4F4AD5D45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F963CFD8-9C8B-4D74-8420-0C3FC21B543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>
              <a:ext uri="{FF2B5EF4-FFF2-40B4-BE49-F238E27FC236}">
                <ns2:creationId id="{F4F2FB0C-4458-4FBF-8E09-65CB500BC56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ns3:creationId val="1910631368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73B5832-6BDD-4615-ACF0-9652360B044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ARCHITECTURE COMPARISON</a:t>
            </a:r>
          </a:p>
        </p:txBody>
      </p:sp>
      <p:sp>
        <p:nvSpPr>
          <p:cNvPr id="2" name="">
            <a:extLst>
              <a:ext uri="{FF2B5EF4-FFF2-40B4-BE49-F238E27FC236}">
                <ns2:creationId id="{D955BF0E-BB3F-4B58-B7A7-093ABE40EA7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三種部署模型差在哪裡</a:t>
            </a:r>
          </a:p>
        </p:txBody>
      </p:sp>
      <p:sp>
        <p:nvSpPr>
          <p:cNvPr id="3" name="">
            <a:extLst>
              <a:ext uri="{FF2B5EF4-FFF2-40B4-BE49-F238E27FC236}">
                <ns2:creationId id="{7F7AE030-3DD3-4335-9B41-CF8B7D3BB32F}"/>
              </a:ext>
            </a:extLst>
          </p:cNvPr>
          <p:cNvSpPr>
            <a:spLocks noGrp="1"/>
          </p:cNvSpPr>
          <p:nvPr/>
        </p:nvSpPr>
        <p:spPr>
          <a:xfrm>
            <a:off x="60960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4" name="">
            <a:extLst>
              <a:ext uri="{FF2B5EF4-FFF2-40B4-BE49-F238E27FC236}">
                <ns2:creationId id="{0BC9F8DD-B46E-4D6D-AD52-9F7BDAADB404}"/>
              </a:ext>
            </a:extLst>
          </p:cNvPr>
          <p:cNvSpPr>
            <a:spLocks noGrp="1"/>
          </p:cNvSpPr>
          <p:nvPr/>
        </p:nvSpPr>
        <p:spPr>
          <a:xfrm>
            <a:off x="8191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" name="">
            <a:extLst>
              <a:ext uri="{FF2B5EF4-FFF2-40B4-BE49-F238E27FC236}">
                <ns2:creationId id="{41B6036D-7279-4683-9C56-0D5851CE9922}"/>
              </a:ext>
            </a:extLst>
          </p:cNvPr>
          <p:cNvSpPr>
            <a:spLocks noGrp="1"/>
          </p:cNvSpPr>
          <p:nvPr/>
        </p:nvSpPr>
        <p:spPr>
          <a:xfrm>
            <a:off x="10477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93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A</a:t>
            </a:r>
          </a:p>
        </p:txBody>
      </p:sp>
      <p:sp>
        <p:nvSpPr>
          <p:cNvPr id="6" name="">
            <a:extLst>
              <a:ext uri="{FF2B5EF4-FFF2-40B4-BE49-F238E27FC236}">
                <ns2:creationId id="{8AD389AA-8AD2-459C-AE2C-EFEB0660C5DE}"/>
              </a:ext>
            </a:extLst>
          </p:cNvPr>
          <p:cNvSpPr>
            <a:spLocks noGrp="1"/>
          </p:cNvSpPr>
          <p:nvPr/>
        </p:nvSpPr>
        <p:spPr>
          <a:xfrm>
            <a:off x="10477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7" name="">
            <a:extLst>
              <a:ext uri="{FF2B5EF4-FFF2-40B4-BE49-F238E27FC236}">
                <ns2:creationId id="{DA172232-5A63-4E4E-A704-92CC2542E4B9}"/>
              </a:ext>
            </a:extLst>
          </p:cNvPr>
          <p:cNvSpPr>
            <a:spLocks noGrp="1"/>
          </p:cNvSpPr>
          <p:nvPr/>
        </p:nvSpPr>
        <p:spPr>
          <a:xfrm>
            <a:off x="17335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1A9AAECC-E7E0-4278-8058-1CFFFA11DD32}"/>
              </a:ext>
            </a:extLst>
          </p:cNvPr>
          <p:cNvSpPr>
            <a:spLocks noGrp="1"/>
          </p:cNvSpPr>
          <p:nvPr/>
        </p:nvSpPr>
        <p:spPr>
          <a:xfrm>
            <a:off x="19621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93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B</a:t>
            </a:r>
          </a:p>
        </p:txBody>
      </p:sp>
      <p:sp>
        <p:nvSpPr>
          <p:cNvPr id="9" name="">
            <a:extLst>
              <a:ext uri="{FF2B5EF4-FFF2-40B4-BE49-F238E27FC236}">
                <ns2:creationId id="{7016EE0D-77A7-4CCD-B992-33F8BD858DAE}"/>
              </a:ext>
            </a:extLst>
          </p:cNvPr>
          <p:cNvSpPr>
            <a:spLocks noGrp="1"/>
          </p:cNvSpPr>
          <p:nvPr/>
        </p:nvSpPr>
        <p:spPr>
          <a:xfrm>
            <a:off x="19621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10" name="">
            <a:extLst>
              <a:ext uri="{FF2B5EF4-FFF2-40B4-BE49-F238E27FC236}">
                <ns2:creationId id="{D1E6ADA5-CAA5-417C-A31A-718C18F97BCB}"/>
              </a:ext>
            </a:extLst>
          </p:cNvPr>
          <p:cNvSpPr>
            <a:spLocks noGrp="1"/>
          </p:cNvSpPr>
          <p:nvPr/>
        </p:nvSpPr>
        <p:spPr>
          <a:xfrm>
            <a:off x="26479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09533F5B-9E15-4268-8FF5-4C20C418E5A0}"/>
              </a:ext>
            </a:extLst>
          </p:cNvPr>
          <p:cNvSpPr>
            <a:spLocks noGrp="1"/>
          </p:cNvSpPr>
          <p:nvPr/>
        </p:nvSpPr>
        <p:spPr>
          <a:xfrm>
            <a:off x="28765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93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C</a:t>
            </a:r>
          </a:p>
        </p:txBody>
      </p:sp>
      <p:sp>
        <p:nvSpPr>
          <p:cNvPr id="12" name="">
            <a:extLst>
              <a:ext uri="{FF2B5EF4-FFF2-40B4-BE49-F238E27FC236}">
                <ns2:creationId id="{FA6A5669-A4F4-44C8-B492-A48E95261C56}"/>
              </a:ext>
            </a:extLst>
          </p:cNvPr>
          <p:cNvSpPr>
            <a:spLocks noGrp="1"/>
          </p:cNvSpPr>
          <p:nvPr/>
        </p:nvSpPr>
        <p:spPr>
          <a:xfrm>
            <a:off x="28765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13" name="">
            <a:extLst>
              <a:ext uri="{FF2B5EF4-FFF2-40B4-BE49-F238E27FC236}">
                <ns2:creationId id="{7EB8DED0-7EEA-4A8B-A1A0-98C2BFB3015F}"/>
              </a:ext>
            </a:extLst>
          </p:cNvPr>
          <p:cNvSpPr>
            <a:spLocks noGrp="1"/>
          </p:cNvSpPr>
          <p:nvPr/>
        </p:nvSpPr>
        <p:spPr>
          <a:xfrm>
            <a:off x="819150" y="27813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6189816D-AC1F-487F-9E01-8176DCFAB414}"/>
              </a:ext>
            </a:extLst>
          </p:cNvPr>
          <p:cNvSpPr>
            <a:spLocks noGrp="1"/>
          </p:cNvSpPr>
          <p:nvPr/>
        </p:nvSpPr>
        <p:spPr>
          <a:xfrm>
            <a:off x="1047750" y="29718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Bins / Libs</a:t>
            </a:r>
          </a:p>
        </p:txBody>
      </p:sp>
      <p:sp>
        <p:nvSpPr>
          <p:cNvPr id="15" name="">
            <a:extLst>
              <a:ext uri="{FF2B5EF4-FFF2-40B4-BE49-F238E27FC236}">
                <ns2:creationId id="{878F938F-B3B5-4BFF-8BA5-FD39B2B543E0}"/>
              </a:ext>
            </a:extLst>
          </p:cNvPr>
          <p:cNvSpPr>
            <a:spLocks noGrp="1"/>
          </p:cNvSpPr>
          <p:nvPr/>
        </p:nvSpPr>
        <p:spPr>
          <a:xfrm>
            <a:off x="1047750" y="31813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16" name="">
            <a:extLst>
              <a:ext uri="{FF2B5EF4-FFF2-40B4-BE49-F238E27FC236}">
                <ns2:creationId id="{E2E1DE24-3AAD-4D76-B2EE-A197E3740F18}"/>
              </a:ext>
            </a:extLst>
          </p:cNvPr>
          <p:cNvSpPr>
            <a:spLocks noGrp="1"/>
          </p:cNvSpPr>
          <p:nvPr/>
        </p:nvSpPr>
        <p:spPr>
          <a:xfrm>
            <a:off x="819150" y="35052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7" name="">
            <a:extLst>
              <a:ext uri="{FF2B5EF4-FFF2-40B4-BE49-F238E27FC236}">
                <ns2:creationId id="{6B913A7D-E767-4A61-93FF-BFB347DAFF8B}"/>
              </a:ext>
            </a:extLst>
          </p:cNvPr>
          <p:cNvSpPr>
            <a:spLocks noGrp="1"/>
          </p:cNvSpPr>
          <p:nvPr/>
        </p:nvSpPr>
        <p:spPr>
          <a:xfrm>
            <a:off x="1047750" y="36957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18" name="">
            <a:extLst>
              <a:ext uri="{FF2B5EF4-FFF2-40B4-BE49-F238E27FC236}">
                <ns2:creationId id="{A2D4517C-202B-4B9A-97B6-0C93EDEF39BF}"/>
              </a:ext>
            </a:extLst>
          </p:cNvPr>
          <p:cNvSpPr>
            <a:spLocks noGrp="1"/>
          </p:cNvSpPr>
          <p:nvPr/>
        </p:nvSpPr>
        <p:spPr>
          <a:xfrm>
            <a:off x="1047750" y="39052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19" name="">
            <a:extLst>
              <a:ext uri="{FF2B5EF4-FFF2-40B4-BE49-F238E27FC236}">
                <ns2:creationId id="{C8B3A657-027D-47E7-9810-38D4BFB5EFA8}"/>
              </a:ext>
            </a:extLst>
          </p:cNvPr>
          <p:cNvSpPr>
            <a:spLocks noGrp="1"/>
          </p:cNvSpPr>
          <p:nvPr/>
        </p:nvSpPr>
        <p:spPr>
          <a:xfrm>
            <a:off x="819150" y="42291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0" name="">
            <a:extLst>
              <a:ext uri="{FF2B5EF4-FFF2-40B4-BE49-F238E27FC236}">
                <ns2:creationId id="{42437FB8-EA86-4199-A77D-00DD432E4EB2}"/>
              </a:ext>
            </a:extLst>
          </p:cNvPr>
          <p:cNvSpPr>
            <a:spLocks noGrp="1"/>
          </p:cNvSpPr>
          <p:nvPr/>
        </p:nvSpPr>
        <p:spPr>
          <a:xfrm>
            <a:off x="1047750" y="44196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21" name="">
            <a:extLst>
              <a:ext uri="{FF2B5EF4-FFF2-40B4-BE49-F238E27FC236}">
                <ns2:creationId id="{0B3B800C-5F60-4594-87BF-5A00395CB288}"/>
              </a:ext>
            </a:extLst>
          </p:cNvPr>
          <p:cNvSpPr>
            <a:spLocks noGrp="1"/>
          </p:cNvSpPr>
          <p:nvPr/>
        </p:nvSpPr>
        <p:spPr>
          <a:xfrm>
            <a:off x="1047750" y="46291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22" name="">
            <a:extLst>
              <a:ext uri="{FF2B5EF4-FFF2-40B4-BE49-F238E27FC236}">
                <ns2:creationId id="{1EC5990E-E998-4D77-86C0-8B896EBC84C7}"/>
              </a:ext>
            </a:extLst>
          </p:cNvPr>
          <p:cNvSpPr>
            <a:spLocks noGrp="1"/>
          </p:cNvSpPr>
          <p:nvPr/>
        </p:nvSpPr>
        <p:spPr>
          <a:xfrm>
            <a:off x="78105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App 直接共用 OS 與函式庫</a:t>
            </a:r>
          </a:p>
        </p:txBody>
      </p:sp>
      <p:sp>
        <p:nvSpPr>
          <p:cNvPr id="23" name="">
            <a:extLst>
              <a:ext uri="{FF2B5EF4-FFF2-40B4-BE49-F238E27FC236}">
                <ns2:creationId id="{60933BBF-19A7-4515-9226-30690F4F6580}"/>
              </a:ext>
            </a:extLst>
          </p:cNvPr>
          <p:cNvSpPr>
            <a:spLocks noGrp="1"/>
          </p:cNvSpPr>
          <p:nvPr/>
        </p:nvSpPr>
        <p:spPr>
          <a:xfrm>
            <a:off x="142875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C2410C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EDEEBE2F-C07F-4AAB-95F9-7E3D3F852B67}"/>
              </a:ext>
            </a:extLst>
          </p:cNvPr>
          <p:cNvSpPr>
            <a:spLocks noGrp="1"/>
          </p:cNvSpPr>
          <p:nvPr/>
        </p:nvSpPr>
        <p:spPr>
          <a:xfrm>
            <a:off x="142875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C241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2410C"/>
                </a:solidFill>
                <a:latin typeface="Aptos"/>
                <a:ea typeface="Aptos"/>
                <a:cs typeface="Aptos"/>
              </a:rPr>
              <a:t>隔離性弱</a:t>
            </a:r>
          </a:p>
        </p:txBody>
      </p:sp>
      <p:sp>
        <p:nvSpPr>
          <p:cNvPr id="25" name="">
            <a:extLst>
              <a:ext uri="{FF2B5EF4-FFF2-40B4-BE49-F238E27FC236}">
                <ns2:creationId id="{96ECB317-4C87-42B3-93A8-6DB72C370021}"/>
              </a:ext>
            </a:extLst>
          </p:cNvPr>
          <p:cNvSpPr>
            <a:spLocks noGrp="1"/>
          </p:cNvSpPr>
          <p:nvPr/>
        </p:nvSpPr>
        <p:spPr>
          <a:xfrm>
            <a:off x="428625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部署</a:t>
            </a:r>
          </a:p>
        </p:txBody>
      </p:sp>
      <p:sp>
        <p:nvSpPr>
          <p:cNvPr id="26" name="">
            <a:extLst>
              <a:ext uri="{FF2B5EF4-FFF2-40B4-BE49-F238E27FC236}">
                <ns2:creationId id="{C63AEB42-4D3A-42F1-8411-DFAADE793404}"/>
              </a:ext>
            </a:extLst>
          </p:cNvPr>
          <p:cNvSpPr>
            <a:spLocks noGrp="1"/>
          </p:cNvSpPr>
          <p:nvPr/>
        </p:nvSpPr>
        <p:spPr>
          <a:xfrm>
            <a:off x="4667250" y="2038350"/>
            <a:ext cx="1066800" cy="1257300"/>
          </a:xfrm>
          <a:prstGeom prst="roundRect">
            <a:avLst>
              <a:gd name="adj" fmla="val 10714"/>
            </a:avLst>
          </a:prstGeom>
          <a:solidFill>
            <a:srgbClr val="EEF2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7" name="">
            <a:extLst>
              <a:ext uri="{FF2B5EF4-FFF2-40B4-BE49-F238E27FC236}">
                <ns2:creationId id="{AAFFAB6B-C326-4C9D-899C-153981AFC254}"/>
              </a:ext>
            </a:extLst>
          </p:cNvPr>
          <p:cNvSpPr>
            <a:spLocks noGrp="1"/>
          </p:cNvSpPr>
          <p:nvPr/>
        </p:nvSpPr>
        <p:spPr>
          <a:xfrm>
            <a:off x="4895850" y="2228850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1</a:t>
            </a:r>
          </a:p>
        </p:txBody>
      </p:sp>
      <p:sp>
        <p:nvSpPr>
          <p:cNvPr id="28" name="">
            <a:extLst>
              <a:ext uri="{FF2B5EF4-FFF2-40B4-BE49-F238E27FC236}">
                <ns2:creationId id="{37B3D20A-AA97-4FDA-BD16-A64B2F59E2AA}"/>
              </a:ext>
            </a:extLst>
          </p:cNvPr>
          <p:cNvSpPr>
            <a:spLocks noGrp="1"/>
          </p:cNvSpPr>
          <p:nvPr/>
        </p:nvSpPr>
        <p:spPr>
          <a:xfrm>
            <a:off x="4895850" y="2628900"/>
            <a:ext cx="609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183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29" name="">
            <a:extLst>
              <a:ext uri="{FF2B5EF4-FFF2-40B4-BE49-F238E27FC236}">
                <ns2:creationId id="{4A978240-973A-4956-BCCF-129429F16A06}"/>
              </a:ext>
            </a:extLst>
          </p:cNvPr>
          <p:cNvSpPr>
            <a:spLocks noGrp="1"/>
          </p:cNvSpPr>
          <p:nvPr/>
        </p:nvSpPr>
        <p:spPr>
          <a:xfrm>
            <a:off x="6000750" y="2038350"/>
            <a:ext cx="1066800" cy="1257300"/>
          </a:xfrm>
          <a:prstGeom prst="roundRect">
            <a:avLst>
              <a:gd name="adj" fmla="val 10714"/>
            </a:avLst>
          </a:prstGeom>
          <a:solidFill>
            <a:srgbClr val="EEF2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30" name="">
            <a:extLst>
              <a:ext uri="{FF2B5EF4-FFF2-40B4-BE49-F238E27FC236}">
                <ns2:creationId id="{39CE553E-C768-4132-98D5-05F843072A0F}"/>
              </a:ext>
            </a:extLst>
          </p:cNvPr>
          <p:cNvSpPr>
            <a:spLocks noGrp="1"/>
          </p:cNvSpPr>
          <p:nvPr/>
        </p:nvSpPr>
        <p:spPr>
          <a:xfrm>
            <a:off x="6229350" y="2228850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2</a:t>
            </a:r>
          </a:p>
        </p:txBody>
      </p:sp>
      <p:sp>
        <p:nvSpPr>
          <p:cNvPr id="31" name="">
            <a:extLst>
              <a:ext uri="{FF2B5EF4-FFF2-40B4-BE49-F238E27FC236}">
                <ns2:creationId id="{C4C75ED2-CD5A-43ED-AD8A-54235208E71F}"/>
              </a:ext>
            </a:extLst>
          </p:cNvPr>
          <p:cNvSpPr>
            <a:spLocks noGrp="1"/>
          </p:cNvSpPr>
          <p:nvPr/>
        </p:nvSpPr>
        <p:spPr>
          <a:xfrm>
            <a:off x="6229350" y="2628900"/>
            <a:ext cx="609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183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32" name="">
            <a:extLst>
              <a:ext uri="{FF2B5EF4-FFF2-40B4-BE49-F238E27FC236}">
                <ns2:creationId id="{D1A9C322-4557-48A3-BD0D-02233AE2F3A8}"/>
              </a:ext>
            </a:extLst>
          </p:cNvPr>
          <p:cNvSpPr>
            <a:spLocks noGrp="1"/>
          </p:cNvSpPr>
          <p:nvPr/>
        </p:nvSpPr>
        <p:spPr>
          <a:xfrm>
            <a:off x="4610100" y="3505200"/>
            <a:ext cx="247650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33" name="">
            <a:extLst>
              <a:ext uri="{FF2B5EF4-FFF2-40B4-BE49-F238E27FC236}">
                <ns2:creationId id="{95F29B15-4022-4878-A96A-8EB58C78C529}"/>
              </a:ext>
            </a:extLst>
          </p:cNvPr>
          <p:cNvSpPr>
            <a:spLocks noGrp="1"/>
          </p:cNvSpPr>
          <p:nvPr/>
        </p:nvSpPr>
        <p:spPr>
          <a:xfrm>
            <a:off x="4838700" y="3695700"/>
            <a:ext cx="2019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Hypervisor</a:t>
            </a:r>
          </a:p>
        </p:txBody>
      </p:sp>
      <p:sp>
        <p:nvSpPr>
          <p:cNvPr id="34" name="">
            <a:extLst>
              <a:ext uri="{FF2B5EF4-FFF2-40B4-BE49-F238E27FC236}">
                <ns2:creationId id="{C5A7756F-D40D-46A3-82F9-73C34A6F28CB}"/>
              </a:ext>
            </a:extLst>
          </p:cNvPr>
          <p:cNvSpPr>
            <a:spLocks noGrp="1"/>
          </p:cNvSpPr>
          <p:nvPr/>
        </p:nvSpPr>
        <p:spPr>
          <a:xfrm>
            <a:off x="4838700" y="3848100"/>
            <a:ext cx="2019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35" name="">
            <a:extLst>
              <a:ext uri="{FF2B5EF4-FFF2-40B4-BE49-F238E27FC236}">
                <ns2:creationId id="{345E4E59-862E-4CF8-BAB5-F6104C66E063}"/>
              </a:ext>
            </a:extLst>
          </p:cNvPr>
          <p:cNvSpPr>
            <a:spLocks noGrp="1"/>
          </p:cNvSpPr>
          <p:nvPr/>
        </p:nvSpPr>
        <p:spPr>
          <a:xfrm>
            <a:off x="4610100" y="4171950"/>
            <a:ext cx="247650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36" name="">
            <a:extLst>
              <a:ext uri="{FF2B5EF4-FFF2-40B4-BE49-F238E27FC236}">
                <ns2:creationId id="{C16F9C70-043E-467D-949D-AFDB7C6B8D38}"/>
              </a:ext>
            </a:extLst>
          </p:cNvPr>
          <p:cNvSpPr>
            <a:spLocks noGrp="1"/>
          </p:cNvSpPr>
          <p:nvPr/>
        </p:nvSpPr>
        <p:spPr>
          <a:xfrm>
            <a:off x="4838700" y="4362450"/>
            <a:ext cx="2019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37" name="">
            <a:extLst>
              <a:ext uri="{FF2B5EF4-FFF2-40B4-BE49-F238E27FC236}">
                <ns2:creationId id="{F5B71B9C-9835-42C9-9A82-8A047A6F87A5}"/>
              </a:ext>
            </a:extLst>
          </p:cNvPr>
          <p:cNvSpPr>
            <a:spLocks noGrp="1"/>
          </p:cNvSpPr>
          <p:nvPr/>
        </p:nvSpPr>
        <p:spPr>
          <a:xfrm>
            <a:off x="4838700" y="4514850"/>
            <a:ext cx="2019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38" name="">
            <a:extLst>
              <a:ext uri="{FF2B5EF4-FFF2-40B4-BE49-F238E27FC236}">
                <ns2:creationId id="{A2ED601F-AB96-4FE7-AA85-E6B98FF9AEEA}"/>
              </a:ext>
            </a:extLst>
          </p:cNvPr>
          <p:cNvSpPr>
            <a:spLocks noGrp="1"/>
          </p:cNvSpPr>
          <p:nvPr/>
        </p:nvSpPr>
        <p:spPr>
          <a:xfrm>
            <a:off x="445770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每台 VM 都有完整 Guest OS</a:t>
            </a:r>
          </a:p>
        </p:txBody>
      </p:sp>
      <p:sp>
        <p:nvSpPr>
          <p:cNvPr id="39" name="">
            <a:extLst>
              <a:ext uri="{FF2B5EF4-FFF2-40B4-BE49-F238E27FC236}">
                <ns2:creationId id="{BAB176AB-7CAE-4E2C-8B80-D3956FD81BF4}"/>
              </a:ext>
            </a:extLst>
          </p:cNvPr>
          <p:cNvSpPr>
            <a:spLocks noGrp="1"/>
          </p:cNvSpPr>
          <p:nvPr/>
        </p:nvSpPr>
        <p:spPr>
          <a:xfrm>
            <a:off x="510540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338CA"/>
            </a:solidFill>
            <a:prstDash val="solid"/>
          </a:ln>
        </p:spPr>
      </p:sp>
      <p:sp>
        <p:nvSpPr>
          <p:cNvPr id="40" name="">
            <a:extLst>
              <a:ext uri="{FF2B5EF4-FFF2-40B4-BE49-F238E27FC236}">
                <ns2:creationId id="{CDCBAD08-8635-4BD5-9376-98BDFB51ED76}"/>
              </a:ext>
            </a:extLst>
          </p:cNvPr>
          <p:cNvSpPr>
            <a:spLocks noGrp="1"/>
          </p:cNvSpPr>
          <p:nvPr/>
        </p:nvSpPr>
        <p:spPr>
          <a:xfrm>
            <a:off x="510540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4338C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38CA"/>
                </a:solidFill>
                <a:latin typeface="Aptos"/>
                <a:ea typeface="Aptos"/>
                <a:cs typeface="Aptos"/>
              </a:rPr>
              <a:t>隔離強但重</a:t>
            </a:r>
          </a:p>
        </p:txBody>
      </p:sp>
      <p:sp>
        <p:nvSpPr>
          <p:cNvPr id="41" name="">
            <a:extLst>
              <a:ext uri="{FF2B5EF4-FFF2-40B4-BE49-F238E27FC236}">
                <ns2:creationId id="{7549200B-6B30-41C4-A8D8-0E9AFB327A0A}"/>
              </a:ext>
            </a:extLst>
          </p:cNvPr>
          <p:cNvSpPr>
            <a:spLocks noGrp="1"/>
          </p:cNvSpPr>
          <p:nvPr/>
        </p:nvSpPr>
        <p:spPr>
          <a:xfrm>
            <a:off x="796290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容器化部署</a:t>
            </a:r>
          </a:p>
        </p:txBody>
      </p:sp>
      <p:sp>
        <p:nvSpPr>
          <p:cNvPr id="42" name="">
            <a:extLst>
              <a:ext uri="{FF2B5EF4-FFF2-40B4-BE49-F238E27FC236}">
                <ns2:creationId id="{1591ADF2-1749-4163-83AC-2997D91563C7}"/>
              </a:ext>
            </a:extLst>
          </p:cNvPr>
          <p:cNvSpPr>
            <a:spLocks noGrp="1"/>
          </p:cNvSpPr>
          <p:nvPr/>
        </p:nvSpPr>
        <p:spPr>
          <a:xfrm>
            <a:off x="807720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3" name="">
            <a:extLst>
              <a:ext uri="{FF2B5EF4-FFF2-40B4-BE49-F238E27FC236}">
                <ns2:creationId id="{C185196F-2672-48FE-A3F4-2DA8F5EF020A}"/>
              </a:ext>
            </a:extLst>
          </p:cNvPr>
          <p:cNvSpPr>
            <a:spLocks noGrp="1"/>
          </p:cNvSpPr>
          <p:nvPr/>
        </p:nvSpPr>
        <p:spPr>
          <a:xfrm>
            <a:off x="830580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03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1</a:t>
            </a:r>
          </a:p>
        </p:txBody>
      </p:sp>
      <p:sp>
        <p:nvSpPr>
          <p:cNvPr id="44" name="">
            <a:extLst>
              <a:ext uri="{FF2B5EF4-FFF2-40B4-BE49-F238E27FC236}">
                <ns2:creationId id="{63931204-FE8C-4299-A856-3E01FB9095B4}"/>
              </a:ext>
            </a:extLst>
          </p:cNvPr>
          <p:cNvSpPr>
            <a:spLocks noGrp="1"/>
          </p:cNvSpPr>
          <p:nvPr/>
        </p:nvSpPr>
        <p:spPr>
          <a:xfrm>
            <a:off x="830580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5" name="">
            <a:extLst>
              <a:ext uri="{FF2B5EF4-FFF2-40B4-BE49-F238E27FC236}">
                <ns2:creationId id="{E229C7E6-8E1D-4037-957E-0BCFA49E29F8}"/>
              </a:ext>
            </a:extLst>
          </p:cNvPr>
          <p:cNvSpPr>
            <a:spLocks noGrp="1"/>
          </p:cNvSpPr>
          <p:nvPr/>
        </p:nvSpPr>
        <p:spPr>
          <a:xfrm>
            <a:off x="901065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6" name="">
            <a:extLst>
              <a:ext uri="{FF2B5EF4-FFF2-40B4-BE49-F238E27FC236}">
                <ns2:creationId id="{7850BCD0-A927-46B0-8243-ACBAC2354482}"/>
              </a:ext>
            </a:extLst>
          </p:cNvPr>
          <p:cNvSpPr>
            <a:spLocks noGrp="1"/>
          </p:cNvSpPr>
          <p:nvPr/>
        </p:nvSpPr>
        <p:spPr>
          <a:xfrm>
            <a:off x="923925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03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2</a:t>
            </a:r>
          </a:p>
        </p:txBody>
      </p:sp>
      <p:sp>
        <p:nvSpPr>
          <p:cNvPr id="47" name="">
            <a:extLst>
              <a:ext uri="{FF2B5EF4-FFF2-40B4-BE49-F238E27FC236}">
                <ns2:creationId id="{67F22707-3138-4A5E-B21D-E3ABEF601E12}"/>
              </a:ext>
            </a:extLst>
          </p:cNvPr>
          <p:cNvSpPr>
            <a:spLocks noGrp="1"/>
          </p:cNvSpPr>
          <p:nvPr/>
        </p:nvSpPr>
        <p:spPr>
          <a:xfrm>
            <a:off x="923925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8" name="">
            <a:extLst>
              <a:ext uri="{FF2B5EF4-FFF2-40B4-BE49-F238E27FC236}">
                <ns2:creationId id="{9FF06AD8-E146-4B4E-A2D5-2D1AF6006CB0}"/>
              </a:ext>
            </a:extLst>
          </p:cNvPr>
          <p:cNvSpPr>
            <a:spLocks noGrp="1"/>
          </p:cNvSpPr>
          <p:nvPr/>
        </p:nvSpPr>
        <p:spPr>
          <a:xfrm>
            <a:off x="994410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9" name="">
            <a:extLst>
              <a:ext uri="{FF2B5EF4-FFF2-40B4-BE49-F238E27FC236}">
                <ns2:creationId id="{9BCDC8C7-DA26-4098-ACC3-D506854012B4}"/>
              </a:ext>
            </a:extLst>
          </p:cNvPr>
          <p:cNvSpPr>
            <a:spLocks noGrp="1"/>
          </p:cNvSpPr>
          <p:nvPr/>
        </p:nvSpPr>
        <p:spPr>
          <a:xfrm>
            <a:off x="1017270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03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3</a:t>
            </a:r>
          </a:p>
        </p:txBody>
      </p:sp>
      <p:sp>
        <p:nvSpPr>
          <p:cNvPr id="50" name="">
            <a:extLst>
              <a:ext uri="{FF2B5EF4-FFF2-40B4-BE49-F238E27FC236}">
                <ns2:creationId id="{63578FFD-959C-4D2D-9206-F957E05F4ACA}"/>
              </a:ext>
            </a:extLst>
          </p:cNvPr>
          <p:cNvSpPr>
            <a:spLocks noGrp="1"/>
          </p:cNvSpPr>
          <p:nvPr/>
        </p:nvSpPr>
        <p:spPr>
          <a:xfrm>
            <a:off x="1017270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51" name="">
            <a:extLst>
              <a:ext uri="{FF2B5EF4-FFF2-40B4-BE49-F238E27FC236}">
                <ns2:creationId id="{EE106F9A-75B2-40CF-9A10-D27ADEB29F95}"/>
              </a:ext>
            </a:extLst>
          </p:cNvPr>
          <p:cNvSpPr>
            <a:spLocks noGrp="1"/>
          </p:cNvSpPr>
          <p:nvPr/>
        </p:nvSpPr>
        <p:spPr>
          <a:xfrm>
            <a:off x="8134350" y="3257550"/>
            <a:ext cx="268605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2" name="">
            <a:extLst>
              <a:ext uri="{FF2B5EF4-FFF2-40B4-BE49-F238E27FC236}">
                <ns2:creationId id="{D9390672-DD08-46C4-AC52-61588458C188}"/>
              </a:ext>
            </a:extLst>
          </p:cNvPr>
          <p:cNvSpPr>
            <a:spLocks noGrp="1"/>
          </p:cNvSpPr>
          <p:nvPr/>
        </p:nvSpPr>
        <p:spPr>
          <a:xfrm>
            <a:off x="8362950" y="344805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3" name="">
            <a:extLst>
              <a:ext uri="{FF2B5EF4-FFF2-40B4-BE49-F238E27FC236}">
                <ns2:creationId id="{A9106112-322C-4007-B3B3-32002B7E8CF1}"/>
              </a:ext>
            </a:extLst>
          </p:cNvPr>
          <p:cNvSpPr>
            <a:spLocks noGrp="1"/>
          </p:cNvSpPr>
          <p:nvPr/>
        </p:nvSpPr>
        <p:spPr>
          <a:xfrm>
            <a:off x="8362950" y="3600450"/>
            <a:ext cx="2228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54" name="">
            <a:extLst>
              <a:ext uri="{FF2B5EF4-FFF2-40B4-BE49-F238E27FC236}">
                <ns2:creationId id="{68B6AF89-FB0E-453E-A2FB-3DECEC747566}"/>
              </a:ext>
            </a:extLst>
          </p:cNvPr>
          <p:cNvSpPr>
            <a:spLocks noGrp="1"/>
          </p:cNvSpPr>
          <p:nvPr/>
        </p:nvSpPr>
        <p:spPr>
          <a:xfrm>
            <a:off x="8134350" y="3924300"/>
            <a:ext cx="268605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5" name="">
            <a:extLst>
              <a:ext uri="{FF2B5EF4-FFF2-40B4-BE49-F238E27FC236}">
                <ns2:creationId id="{43CA520B-D1FB-4AA1-AA7E-DB1B70750063}"/>
              </a:ext>
            </a:extLst>
          </p:cNvPr>
          <p:cNvSpPr>
            <a:spLocks noGrp="1"/>
          </p:cNvSpPr>
          <p:nvPr/>
        </p:nvSpPr>
        <p:spPr>
          <a:xfrm>
            <a:off x="8362950" y="411480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56" name="">
            <a:extLst>
              <a:ext uri="{FF2B5EF4-FFF2-40B4-BE49-F238E27FC236}">
                <ns2:creationId id="{BB55ED62-12E4-4B2A-8E33-B046AB6C3294}"/>
              </a:ext>
            </a:extLst>
          </p:cNvPr>
          <p:cNvSpPr>
            <a:spLocks noGrp="1"/>
          </p:cNvSpPr>
          <p:nvPr/>
        </p:nvSpPr>
        <p:spPr>
          <a:xfrm>
            <a:off x="8362950" y="4267200"/>
            <a:ext cx="2228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57" name="">
            <a:extLst>
              <a:ext uri="{FF2B5EF4-FFF2-40B4-BE49-F238E27FC236}">
                <ns2:creationId id="{DBB278A2-8AA1-458C-8D6A-276060A3D07A}"/>
              </a:ext>
            </a:extLst>
          </p:cNvPr>
          <p:cNvSpPr>
            <a:spLocks noGrp="1"/>
          </p:cNvSpPr>
          <p:nvPr/>
        </p:nvSpPr>
        <p:spPr>
          <a:xfrm>
            <a:off x="8134350" y="4591050"/>
            <a:ext cx="268605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8" name="">
            <a:extLst>
              <a:ext uri="{FF2B5EF4-FFF2-40B4-BE49-F238E27FC236}">
                <ns2:creationId id="{FCC42C7E-6677-4B4A-81B3-59A9F4B98E32}"/>
              </a:ext>
            </a:extLst>
          </p:cNvPr>
          <p:cNvSpPr>
            <a:spLocks noGrp="1"/>
          </p:cNvSpPr>
          <p:nvPr/>
        </p:nvSpPr>
        <p:spPr>
          <a:xfrm>
            <a:off x="8362950" y="478155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59" name="">
            <a:extLst>
              <a:ext uri="{FF2B5EF4-FFF2-40B4-BE49-F238E27FC236}">
                <ns2:creationId id="{1CC3E4EA-31CB-45F7-A129-FABB4D8F85A9}"/>
              </a:ext>
            </a:extLst>
          </p:cNvPr>
          <p:cNvSpPr>
            <a:spLocks noGrp="1"/>
          </p:cNvSpPr>
          <p:nvPr/>
        </p:nvSpPr>
        <p:spPr>
          <a:xfrm>
            <a:off x="8362950" y="48577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60" name="">
            <a:extLst>
              <a:ext uri="{FF2B5EF4-FFF2-40B4-BE49-F238E27FC236}">
                <ns2:creationId id="{A540C18F-E621-43E0-AF22-1E2DC42A6E20}"/>
              </a:ext>
            </a:extLst>
          </p:cNvPr>
          <p:cNvSpPr>
            <a:spLocks noGrp="1"/>
          </p:cNvSpPr>
          <p:nvPr/>
        </p:nvSpPr>
        <p:spPr>
          <a:xfrm>
            <a:off x="813435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容器共用 Host OS 核心</a:t>
            </a:r>
          </a:p>
        </p:txBody>
      </p:sp>
      <p:sp>
        <p:nvSpPr>
          <p:cNvPr id="61" name="">
            <a:extLst>
              <a:ext uri="{FF2B5EF4-FFF2-40B4-BE49-F238E27FC236}">
                <ns2:creationId id="{B0BC4521-0F35-470A-A77F-D629FB402551}"/>
              </a:ext>
            </a:extLst>
          </p:cNvPr>
          <p:cNvSpPr>
            <a:spLocks noGrp="1"/>
          </p:cNvSpPr>
          <p:nvPr/>
        </p:nvSpPr>
        <p:spPr>
          <a:xfrm>
            <a:off x="878205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62" name="">
            <a:extLst>
              <a:ext uri="{FF2B5EF4-FFF2-40B4-BE49-F238E27FC236}">
                <ns2:creationId id="{8AEA57E3-B7BB-4163-BA4B-D4C863724E97}"/>
              </a:ext>
            </a:extLst>
          </p:cNvPr>
          <p:cNvSpPr>
            <a:spLocks noGrp="1"/>
          </p:cNvSpPr>
          <p:nvPr/>
        </p:nvSpPr>
        <p:spPr>
          <a:xfrm>
            <a:off x="878205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秒級啟動、資源少</a:t>
            </a:r>
          </a:p>
        </p:txBody>
      </p:sp>
      <p:sp>
        <p:nvSpPr>
          <p:cNvPr id="63" name="">
            <a:extLst>
              <a:ext uri="{FF2B5EF4-FFF2-40B4-BE49-F238E27FC236}">
                <ns2:creationId id="{EBA67FD7-0747-44AA-9B01-1CC59EE75BD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64" name="">
            <a:extLst>
              <a:ext uri="{FF2B5EF4-FFF2-40B4-BE49-F238E27FC236}">
                <ns2:creationId id="{0B2D7B1A-54D5-4BBA-85BD-6E412B9702C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65" name="">
            <a:extLst>
              <a:ext uri="{FF2B5EF4-FFF2-40B4-BE49-F238E27FC236}">
                <ns2:creationId id="{F5ED1BDB-A287-4371-844E-0CA886A888D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ns3:creationId val="454514286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628DE1D-1331-4290-A2FA-07AB3689DA3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>
              <a:ext uri="{FF2B5EF4-FFF2-40B4-BE49-F238E27FC236}">
                <ns2:creationId id="{2E5508DC-817C-4CEA-90E5-53989CC1A36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1：Container 和 VM 差在哪？</a:t>
            </a:r>
          </a:p>
        </p:txBody>
      </p:sp>
      <p:sp>
        <p:nvSpPr>
          <p:cNvPr id="3" name="">
            <a:extLst>
              <a:ext uri="{FF2B5EF4-FFF2-40B4-BE49-F238E27FC236}">
                <ns2:creationId id="{CBFF2D77-17F0-4B2B-B6A1-7CFD9DA6C2C0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4381500" cy="2266950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9525">
            <a:solidFill>
              <a:srgbClr val="818CF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40838D-E0FC-4690-9AB8-00370B7EC6B8}"/>
              </a:ext>
            </a:extLst>
          </p:cNvPr>
          <p:cNvSpPr>
            <a:spLocks noGrp="1"/>
          </p:cNvSpPr>
          <p:nvPr/>
        </p:nvSpPr>
        <p:spPr>
          <a:xfrm>
            <a:off x="1276350" y="2000250"/>
            <a:ext cx="3924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697"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rPr>
              <a:t>VM</a:t>
            </a:r>
          </a:p>
        </p:txBody>
      </p:sp>
      <p:sp>
        <p:nvSpPr>
          <p:cNvPr id="5" name="">
            <a:extLst>
              <a:ext uri="{FF2B5EF4-FFF2-40B4-BE49-F238E27FC236}">
                <ns2:creationId id="{0664AD2E-913B-4860-9782-53EF1695687C}"/>
              </a:ext>
            </a:extLst>
          </p:cNvPr>
          <p:cNvSpPr>
            <a:spLocks noGrp="1"/>
          </p:cNvSpPr>
          <p:nvPr/>
        </p:nvSpPr>
        <p:spPr>
          <a:xfrm>
            <a:off x="1276350" y="2400300"/>
            <a:ext cx="39243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每台 VM 都有完整 Guest OS。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隔離強，但啟動慢、資源佔用高。</a:t>
            </a:r>
          </a:p>
        </p:txBody>
      </p:sp>
      <p:sp>
        <p:nvSpPr>
          <p:cNvPr id="6" name="">
            <a:extLst>
              <a:ext uri="{FF2B5EF4-FFF2-40B4-BE49-F238E27FC236}">
                <ns2:creationId id="{2E112A17-2D1D-4C45-861C-CE3B511EE6EE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381500" cy="2266950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D2489229-B87D-4177-9FBF-674A2116921E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924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697"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8" name="">
            <a:extLst>
              <a:ext uri="{FF2B5EF4-FFF2-40B4-BE49-F238E27FC236}">
                <ns2:creationId id="{97158A57-324A-4BD4-BE88-E7B11A3C8C61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9243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共用主機 OS 核心。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程序級隔離，啟動快、資源少。</a:t>
            </a:r>
          </a:p>
        </p:txBody>
      </p:sp>
      <p:sp>
        <p:nvSpPr>
          <p:cNvPr id="9" name="">
            <a:extLst>
              <a:ext uri="{FF2B5EF4-FFF2-40B4-BE49-F238E27FC236}">
                <ns2:creationId id="{2344001F-4DEE-4DFA-A234-7FECC9E3B44A}"/>
              </a:ext>
            </a:extLst>
          </p:cNvPr>
          <p:cNvSpPr>
            <a:spLocks noGrp="1"/>
          </p:cNvSpPr>
          <p:nvPr/>
        </p:nvSpPr>
        <p:spPr>
          <a:xfrm>
            <a:off x="1962150" y="4857750"/>
            <a:ext cx="82677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653BA612-E62F-4A38-B18D-623F263F089B}"/>
              </a:ext>
            </a:extLst>
          </p:cNvPr>
          <p:cNvSpPr>
            <a:spLocks noGrp="1"/>
          </p:cNvSpPr>
          <p:nvPr/>
        </p:nvSpPr>
        <p:spPr>
          <a:xfrm>
            <a:off x="2266950" y="5067300"/>
            <a:ext cx="7658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回答目標：能說出「共用核心、不跑完整 OS、所以更快更輕」。</a:t>
            </a:r>
          </a:p>
        </p:txBody>
      </p:sp>
      <p:sp>
        <p:nvSpPr>
          <p:cNvPr id="11" name="">
            <a:extLst>
              <a:ext uri="{FF2B5EF4-FFF2-40B4-BE49-F238E27FC236}">
                <ns2:creationId id="{C41E4261-DFB0-4EEC-BF46-CDF60A2AC2A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25E24150-8610-48B1-A1B9-F7DD6B29499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>
              <a:ext uri="{FF2B5EF4-FFF2-40B4-BE49-F238E27FC236}">
                <ns2:creationId id="{98C64108-E296-4716-B0D7-C4104130202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ns3:creationId val="1167733342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808340E-3604-4ED0-9B94-EAC05BAC5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CORE PROMISE</a:t>
            </a:r>
          </a:p>
        </p:txBody>
      </p:sp>
      <p:sp>
        <p:nvSpPr>
          <p:cNvPr id="2" name="">
            <a:extLst>
              <a:ext uri="{FF2B5EF4-FFF2-40B4-BE49-F238E27FC236}">
                <ns2:creationId id="{F7800046-58EA-43C0-8811-38946B72883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的三個承諾，以及一個補充提醒</a:t>
            </a:r>
          </a:p>
        </p:txBody>
      </p:sp>
      <p:sp>
        <p:nvSpPr>
          <p:cNvPr id="3" name="">
            <a:extLst>
              <a:ext uri="{FF2B5EF4-FFF2-40B4-BE49-F238E27FC236}">
                <ns2:creationId id="{88D1CAD4-BBBE-4980-B86E-9D83373887AF}"/>
              </a:ext>
            </a:extLst>
          </p:cNvPr>
          <p:cNvSpPr>
            <a:spLocks noGrp="1"/>
          </p:cNvSpPr>
          <p:nvPr/>
        </p:nvSpPr>
        <p:spPr>
          <a:xfrm>
            <a:off x="70485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05ECB0DB-6EB0-4805-AF87-119739B234BC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可攜性</a:t>
            </a:r>
          </a:p>
        </p:txBody>
      </p:sp>
      <p:sp>
        <p:nvSpPr>
          <p:cNvPr id="5" name="">
            <a:extLst>
              <a:ext uri="{FF2B5EF4-FFF2-40B4-BE49-F238E27FC236}">
                <ns2:creationId id="{9A1EB7F6-62D1-4CD4-86E4-40EAB6607216}"/>
              </a:ext>
            </a:extLst>
          </p:cNvPr>
          <p:cNvSpPr>
            <a:spLocks noGrp="1"/>
          </p:cNvSpPr>
          <p:nvPr/>
        </p:nvSpPr>
        <p:spPr>
          <a:xfrm>
            <a:off x="93345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打包成 Image 後，只要有 Docker 就能用同一種方式運行。</a:t>
            </a:r>
          </a:p>
        </p:txBody>
      </p:sp>
      <p:sp>
        <p:nvSpPr>
          <p:cNvPr id="6" name="">
            <a:extLst>
              <a:ext uri="{FF2B5EF4-FFF2-40B4-BE49-F238E27FC236}">
                <ns2:creationId id="{C1E3F679-B153-4555-82B4-94B30EA0C35D}"/>
              </a:ext>
            </a:extLst>
          </p:cNvPr>
          <p:cNvSpPr>
            <a:spLocks noGrp="1"/>
          </p:cNvSpPr>
          <p:nvPr/>
        </p:nvSpPr>
        <p:spPr>
          <a:xfrm>
            <a:off x="438150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5236858C-7924-4480-98FC-99329724064C}"/>
              </a:ext>
            </a:extLst>
          </p:cNvPr>
          <p:cNvSpPr>
            <a:spLocks noGrp="1"/>
          </p:cNvSpPr>
          <p:nvPr/>
        </p:nvSpPr>
        <p:spPr>
          <a:xfrm>
            <a:off x="461010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隔離性</a:t>
            </a:r>
          </a:p>
        </p:txBody>
      </p:sp>
      <p:sp>
        <p:nvSpPr>
          <p:cNvPr id="8" name="">
            <a:extLst>
              <a:ext uri="{FF2B5EF4-FFF2-40B4-BE49-F238E27FC236}">
                <ns2:creationId id="{DEA4EA42-B27E-45EC-9F9D-96258B180D78}"/>
              </a:ext>
            </a:extLst>
          </p:cNvPr>
          <p:cNvSpPr>
            <a:spLocks noGrp="1"/>
          </p:cNvSpPr>
          <p:nvPr/>
        </p:nvSpPr>
        <p:spPr>
          <a:xfrm>
            <a:off x="461010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不同應用各自待在容器裡，降低版本與套件互相干擾。</a:t>
            </a:r>
          </a:p>
        </p:txBody>
      </p:sp>
      <p:sp>
        <p:nvSpPr>
          <p:cNvPr id="9" name="">
            <a:extLst>
              <a:ext uri="{FF2B5EF4-FFF2-40B4-BE49-F238E27FC236}">
                <ns2:creationId id="{08C7B337-09B4-4CDB-950B-F790520F218E}"/>
              </a:ext>
            </a:extLst>
          </p:cNvPr>
          <p:cNvSpPr>
            <a:spLocks noGrp="1"/>
          </p:cNvSpPr>
          <p:nvPr/>
        </p:nvSpPr>
        <p:spPr>
          <a:xfrm>
            <a:off x="805815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1AFE2369-EE4D-4AF7-84ED-C8363ED01C09}"/>
              </a:ext>
            </a:extLst>
          </p:cNvPr>
          <p:cNvSpPr>
            <a:spLocks noGrp="1"/>
          </p:cNvSpPr>
          <p:nvPr/>
        </p:nvSpPr>
        <p:spPr>
          <a:xfrm>
            <a:off x="828675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一致性</a:t>
            </a:r>
          </a:p>
        </p:txBody>
      </p:sp>
      <p:sp>
        <p:nvSpPr>
          <p:cNvPr id="11" name="">
            <a:extLst>
              <a:ext uri="{FF2B5EF4-FFF2-40B4-BE49-F238E27FC236}">
                <ns2:creationId id="{F3ED0644-A390-4311-B829-1FEB1E257FB7}"/>
              </a:ext>
            </a:extLst>
          </p:cNvPr>
          <p:cNvSpPr>
            <a:spLocks noGrp="1"/>
          </p:cNvSpPr>
          <p:nvPr/>
        </p:nvSpPr>
        <p:spPr>
          <a:xfrm>
            <a:off x="828675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開發、測試、部署都用同一份環境，減少本機正常、上線失敗。</a:t>
            </a:r>
          </a:p>
        </p:txBody>
      </p:sp>
      <p:sp>
        <p:nvSpPr>
          <p:cNvPr id="12" name="">
            <a:extLst>
              <a:ext uri="{FF2B5EF4-FFF2-40B4-BE49-F238E27FC236}">
                <ns2:creationId id="{C972542C-74D2-486E-98E9-2ABCD6C43FCD}"/>
              </a:ext>
            </a:extLst>
          </p:cNvPr>
          <p:cNvSpPr>
            <a:spLocks noGrp="1"/>
          </p:cNvSpPr>
          <p:nvPr/>
        </p:nvSpPr>
        <p:spPr>
          <a:xfrm>
            <a:off x="1600200" y="4362450"/>
            <a:ext cx="8991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318001D9-F0ED-4B6F-90E2-7D94A5B3964A}"/>
              </a:ext>
            </a:extLst>
          </p:cNvPr>
          <p:cNvSpPr>
            <a:spLocks noGrp="1"/>
          </p:cNvSpPr>
          <p:nvPr/>
        </p:nvSpPr>
        <p:spPr>
          <a:xfrm>
            <a:off x="1943100" y="4591050"/>
            <a:ext cx="781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現況：Docker 通常會自動選對 Image 版本。</a:t>
            </a:r>
          </a:p>
        </p:txBody>
      </p:sp>
      <p:sp>
        <p:nvSpPr>
          <p:cNvPr id="14" name="">
            <a:extLst>
              <a:ext uri="{FF2B5EF4-FFF2-40B4-BE49-F238E27FC236}">
                <ns2:creationId id="{20E271DC-3856-44BC-B292-F51575086BC8}"/>
              </a:ext>
            </a:extLst>
          </p:cNvPr>
          <p:cNvSpPr>
            <a:spLocks noGrp="1"/>
          </p:cNvSpPr>
          <p:nvPr/>
        </p:nvSpPr>
        <p:spPr>
          <a:xfrm>
            <a:off x="1943100" y="49530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多數官方 Image 已支援多架構；只有遇到錯誤時才需要檢查平台相容性。</a:t>
            </a:r>
          </a:p>
        </p:txBody>
      </p:sp>
      <p:sp>
        <p:nvSpPr>
          <p:cNvPr id="15" name="">
            <a:extLst>
              <a:ext uri="{FF2B5EF4-FFF2-40B4-BE49-F238E27FC236}">
                <ns2:creationId id="{0DEF7B81-9857-431F-83AE-23ADAF7ADBB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A8CEBC75-9A71-458B-9297-33A2DB14A84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>
              <a:ext uri="{FF2B5EF4-FFF2-40B4-BE49-F238E27FC236}">
                <ns2:creationId id="{4AA5014D-C824-4C2A-8438-A9BEFBDAD3B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ns3:creationId val="447981192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ABF7C43-C4A1-482F-80C1-94B2CECB3B7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TRADEOFFS</a:t>
            </a:r>
          </a:p>
        </p:txBody>
      </p:sp>
      <p:sp>
        <p:nvSpPr>
          <p:cNvPr id="2" name="">
            <a:extLst>
              <a:ext uri="{FF2B5EF4-FFF2-40B4-BE49-F238E27FC236}">
                <ns2:creationId id="{F3BC6149-CFEB-4528-A5E7-4DE79C741C6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很實用，但不是萬能工具</a:t>
            </a:r>
          </a:p>
        </p:txBody>
      </p:sp>
      <p:sp>
        <p:nvSpPr>
          <p:cNvPr id="3" name="">
            <a:extLst>
              <a:ext uri="{FF2B5EF4-FFF2-40B4-BE49-F238E27FC236}">
                <ns2:creationId id="{A1F7A7B2-708C-4A1A-A97E-9137D5642B18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32B4A47A-5CE3-4C00-83E8-BCCAB906154F}"/>
              </a:ext>
            </a:extLst>
          </p:cNvPr>
          <p:cNvSpPr>
            <a:spLocks noGrp="1"/>
          </p:cNvSpPr>
          <p:nvPr/>
        </p:nvSpPr>
        <p:spPr>
          <a:xfrm>
            <a:off x="104775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學習曲線</a:t>
            </a:r>
          </a:p>
        </p:txBody>
      </p:sp>
      <p:sp>
        <p:nvSpPr>
          <p:cNvPr id="5" name="">
            <a:extLst>
              <a:ext uri="{FF2B5EF4-FFF2-40B4-BE49-F238E27FC236}">
                <ns2:creationId id="{967AD63D-3BF5-4C37-9EA0-CB033B74E25F}"/>
              </a:ext>
            </a:extLst>
          </p:cNvPr>
          <p:cNvSpPr>
            <a:spLocks noGrp="1"/>
          </p:cNvSpPr>
          <p:nvPr/>
        </p:nvSpPr>
        <p:spPr>
          <a:xfrm>
            <a:off x="104775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Image、Container、Volume、Network 概念多。</a:t>
            </a:r>
          </a:p>
        </p:txBody>
      </p:sp>
      <p:sp>
        <p:nvSpPr>
          <p:cNvPr id="6" name="">
            <a:extLst>
              <a:ext uri="{FF2B5EF4-FFF2-40B4-BE49-F238E27FC236}">
                <ns2:creationId id="{F03BEBFB-DCE4-4535-8B96-C419125803B0}"/>
              </a:ext>
            </a:extLst>
          </p:cNvPr>
          <p:cNvSpPr>
            <a:spLocks noGrp="1"/>
          </p:cNvSpPr>
          <p:nvPr/>
        </p:nvSpPr>
        <p:spPr>
          <a:xfrm>
            <a:off x="434340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6C2D87AE-82F5-4BE7-A79D-707AC9F2B992}"/>
              </a:ext>
            </a:extLst>
          </p:cNvPr>
          <p:cNvSpPr>
            <a:spLocks noGrp="1"/>
          </p:cNvSpPr>
          <p:nvPr/>
        </p:nvSpPr>
        <p:spPr>
          <a:xfrm>
            <a:off x="457200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安全性</a:t>
            </a:r>
          </a:p>
        </p:txBody>
      </p:sp>
      <p:sp>
        <p:nvSpPr>
          <p:cNvPr id="8" name="">
            <a:extLst>
              <a:ext uri="{FF2B5EF4-FFF2-40B4-BE49-F238E27FC236}">
                <ns2:creationId id="{7AFFB005-CF20-41E2-A853-7438559FFC85}"/>
              </a:ext>
            </a:extLst>
          </p:cNvPr>
          <p:cNvSpPr>
            <a:spLocks noGrp="1"/>
          </p:cNvSpPr>
          <p:nvPr/>
        </p:nvSpPr>
        <p:spPr>
          <a:xfrm>
            <a:off x="457200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容器隔離不是完整 VM，預設 root 也要留意。</a:t>
            </a:r>
          </a:p>
        </p:txBody>
      </p:sp>
      <p:sp>
        <p:nvSpPr>
          <p:cNvPr id="9" name="">
            <a:extLst>
              <a:ext uri="{FF2B5EF4-FFF2-40B4-BE49-F238E27FC236}">
                <ns2:creationId id="{26B99982-32EB-431A-B484-3C56B695EB9D}"/>
              </a:ext>
            </a:extLst>
          </p:cNvPr>
          <p:cNvSpPr>
            <a:spLocks noGrp="1"/>
          </p:cNvSpPr>
          <p:nvPr/>
        </p:nvSpPr>
        <p:spPr>
          <a:xfrm>
            <a:off x="786765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45A8BADE-6C7E-43B4-ACA7-D4475D4B1991}"/>
              </a:ext>
            </a:extLst>
          </p:cNvPr>
          <p:cNvSpPr>
            <a:spLocks noGrp="1"/>
          </p:cNvSpPr>
          <p:nvPr/>
        </p:nvSpPr>
        <p:spPr>
          <a:xfrm>
            <a:off x="809625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有狀態服務</a:t>
            </a:r>
          </a:p>
        </p:txBody>
      </p:sp>
      <p:sp>
        <p:nvSpPr>
          <p:cNvPr id="11" name="">
            <a:extLst>
              <a:ext uri="{FF2B5EF4-FFF2-40B4-BE49-F238E27FC236}">
                <ns2:creationId id="{B8CEE440-E8B2-43AF-9E56-E4814C339AAB}"/>
              </a:ext>
            </a:extLst>
          </p:cNvPr>
          <p:cNvSpPr>
            <a:spLocks noGrp="1"/>
          </p:cNvSpPr>
          <p:nvPr/>
        </p:nvSpPr>
        <p:spPr>
          <a:xfrm>
            <a:off x="809625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資料庫需要持久化與備份，正式環境常用託管服務。</a:t>
            </a:r>
          </a:p>
        </p:txBody>
      </p:sp>
      <p:sp>
        <p:nvSpPr>
          <p:cNvPr id="12" name="">
            <a:extLst>
              <a:ext uri="{FF2B5EF4-FFF2-40B4-BE49-F238E27FC236}">
                <ns2:creationId id="{1B72395C-5C1F-49E9-8EF2-4219A44940AB}"/>
              </a:ext>
            </a:extLst>
          </p:cNvPr>
          <p:cNvSpPr>
            <a:spLocks noGrp="1"/>
          </p:cNvSpPr>
          <p:nvPr/>
        </p:nvSpPr>
        <p:spPr>
          <a:xfrm>
            <a:off x="2571750" y="38481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93FD7F37-0F08-4845-8C0A-F5F4C93C0D94}"/>
              </a:ext>
            </a:extLst>
          </p:cNvPr>
          <p:cNvSpPr>
            <a:spLocks noGrp="1"/>
          </p:cNvSpPr>
          <p:nvPr/>
        </p:nvSpPr>
        <p:spPr>
          <a:xfrm>
            <a:off x="2800350" y="4076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磁碟空間</a:t>
            </a:r>
          </a:p>
        </p:txBody>
      </p:sp>
      <p:sp>
        <p:nvSpPr>
          <p:cNvPr id="14" name="">
            <a:extLst>
              <a:ext uri="{FF2B5EF4-FFF2-40B4-BE49-F238E27FC236}">
                <ns2:creationId id="{8AA75EA2-A09A-4AFC-BB57-418FD8595709}"/>
              </a:ext>
            </a:extLst>
          </p:cNvPr>
          <p:cNvSpPr>
            <a:spLocks noGrp="1"/>
          </p:cNvSpPr>
          <p:nvPr/>
        </p:nvSpPr>
        <p:spPr>
          <a:xfrm>
            <a:off x="2800350" y="44767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/ Container 會越積越多，需要定期清理。</a:t>
            </a:r>
          </a:p>
        </p:txBody>
      </p:sp>
      <p:sp>
        <p:nvSpPr>
          <p:cNvPr id="15" name="">
            <a:extLst>
              <a:ext uri="{FF2B5EF4-FFF2-40B4-BE49-F238E27FC236}">
                <ns2:creationId id="{50EDD718-CC67-4AF8-B609-686AA314A1D6}"/>
              </a:ext>
            </a:extLst>
          </p:cNvPr>
          <p:cNvSpPr>
            <a:spLocks noGrp="1"/>
          </p:cNvSpPr>
          <p:nvPr/>
        </p:nvSpPr>
        <p:spPr>
          <a:xfrm>
            <a:off x="6191250" y="38481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B6EA0C03-D34A-4D1C-B3B0-75458721F41E}"/>
              </a:ext>
            </a:extLst>
          </p:cNvPr>
          <p:cNvSpPr>
            <a:spLocks noGrp="1"/>
          </p:cNvSpPr>
          <p:nvPr/>
        </p:nvSpPr>
        <p:spPr>
          <a:xfrm>
            <a:off x="6419850" y="4076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除錯複雜</a:t>
            </a:r>
          </a:p>
        </p:txBody>
      </p:sp>
      <p:sp>
        <p:nvSpPr>
          <p:cNvPr id="17" name="">
            <a:extLst>
              <a:ext uri="{FF2B5EF4-FFF2-40B4-BE49-F238E27FC236}">
                <ns2:creationId id="{B27806BD-F244-428B-8783-530BE1DF49AD}"/>
              </a:ext>
            </a:extLst>
          </p:cNvPr>
          <p:cNvSpPr>
            <a:spLocks noGrp="1"/>
          </p:cNvSpPr>
          <p:nvPr/>
        </p:nvSpPr>
        <p:spPr>
          <a:xfrm>
            <a:off x="6419850" y="44767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網路、log、跨容器問題需要工具與流程。</a:t>
            </a:r>
          </a:p>
        </p:txBody>
      </p:sp>
      <p:sp>
        <p:nvSpPr>
          <p:cNvPr id="18" name="">
            <a:extLst>
              <a:ext uri="{FF2B5EF4-FFF2-40B4-BE49-F238E27FC236}">
                <ns2:creationId id="{36657373-CF5D-437D-B34A-9F9D256F7972}"/>
              </a:ext>
            </a:extLst>
          </p:cNvPr>
          <p:cNvSpPr>
            <a:spLocks noGrp="1"/>
          </p:cNvSpPr>
          <p:nvPr/>
        </p:nvSpPr>
        <p:spPr>
          <a:xfrm>
            <a:off x="1314450" y="5676900"/>
            <a:ext cx="9563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重點不是避開 Docker，而是知道什麼問題要補上 Volume、權限、監控與清理流程。</a:t>
            </a:r>
          </a:p>
        </p:txBody>
      </p:sp>
      <p:sp>
        <p:nvSpPr>
          <p:cNvPr id="19" name="">
            <a:extLst>
              <a:ext uri="{FF2B5EF4-FFF2-40B4-BE49-F238E27FC236}">
                <ns2:creationId id="{85B53CBD-505F-4608-8251-34E927562B2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C13B8851-5C66-4046-83B3-4B4980C025B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">
            <a:extLst>
              <a:ext uri="{FF2B5EF4-FFF2-40B4-BE49-F238E27FC236}">
                <ns2:creationId id="{BF3960E5-C7D1-45BD-94CB-5FC401DF68B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ns3:creationId val="918179373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08F161E-F89E-43C7-9BFE-6583AAB5D57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>
              <a:ext uri="{FF2B5EF4-FFF2-40B4-BE49-F238E27FC236}">
                <ns2:creationId id="{DBBC0268-3B6C-4A67-88F5-ED9882DBC3BE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的三個核心名詞</a:t>
            </a:r>
          </a:p>
        </p:txBody>
      </p:sp>
      <p:pic>
        <p:nvPicPr>
          <p:cNvPr id="23" name=""/>
          <p:cNvPicPr>
            <a:picLocks noChangeAspect="1"/>
          </p:cNvPicPr>
          <p:nvPr/>
        </p:nvPicPr>
        <p:blipFill>
          <a:blip r:embed="Re9930037aae14927"/>
          <a:srcRect l="106" t="0" r="106" b="0"/>
          <a:stretch>
            <a:fillRect l="0" t="0" r="0" b="0"/>
          </a:stretch>
        </p:blipFill>
        <p:spPr>
          <a:xfrm>
            <a:off x="6477000" y="1504950"/>
            <a:ext cx="4762500" cy="2686050"/>
          </a:xfrm>
          <a:prstGeom prst="roundRect">
            <a:avLst/>
          </a:prstGeom>
        </p:spPr>
      </p:pic>
      <p:sp>
        <p:nvSpPr>
          <p:cNvPr id="4" name="">
            <a:extLst>
              <a:ext uri="{FF2B5EF4-FFF2-40B4-BE49-F238E27FC236}">
                <ns2:creationId id="{C4DCF23C-AF82-48D4-8FA3-9164C86166B0}"/>
              </a:ext>
            </a:extLst>
          </p:cNvPr>
          <p:cNvSpPr>
            <a:spLocks noGrp="1"/>
          </p:cNvSpPr>
          <p:nvPr/>
        </p:nvSpPr>
        <p:spPr>
          <a:xfrm>
            <a:off x="6477000" y="1504950"/>
            <a:ext cx="4762500" cy="2686050"/>
          </a:xfrm>
          <a:prstGeom prst="roundRect">
            <a:avLst>
              <a:gd name="adj" fmla="val 4965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287D6B3-5032-4840-A4B8-5C530A8E5CCC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3FAA1587-762B-4867-B7BD-4A3A8524630C}"/>
              </a:ext>
            </a:extLst>
          </p:cNvPr>
          <p:cNvSpPr>
            <a:spLocks noGrp="1"/>
          </p:cNvSpPr>
          <p:nvPr/>
        </p:nvSpPr>
        <p:spPr>
          <a:xfrm>
            <a:off x="1104900" y="22098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Registry</a:t>
            </a:r>
          </a:p>
        </p:txBody>
      </p:sp>
      <p:sp>
        <p:nvSpPr>
          <p:cNvPr id="7" name="">
            <a:extLst>
              <a:ext uri="{FF2B5EF4-FFF2-40B4-BE49-F238E27FC236}">
                <ns2:creationId id="{C15DAA03-45C4-4D56-AA37-0E6C271DE90C}"/>
              </a:ext>
            </a:extLst>
          </p:cNvPr>
          <p:cNvSpPr>
            <a:spLocks noGrp="1"/>
          </p:cNvSpPr>
          <p:nvPr/>
        </p:nvSpPr>
        <p:spPr>
          <a:xfrm>
            <a:off x="2743200" y="22288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Hub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存放 Image 的倉庫</a:t>
            </a:r>
          </a:p>
        </p:txBody>
      </p:sp>
      <p:sp>
        <p:nvSpPr>
          <p:cNvPr id="8" name="">
            <a:extLst>
              <a:ext uri="{FF2B5EF4-FFF2-40B4-BE49-F238E27FC236}">
                <ns2:creationId id="{7E9F0F83-42F1-4BFB-B752-0A0EAA637E4E}"/>
              </a:ext>
            </a:extLst>
          </p:cNvPr>
          <p:cNvSpPr>
            <a:spLocks noGrp="1"/>
          </p:cNvSpPr>
          <p:nvPr/>
        </p:nvSpPr>
        <p:spPr>
          <a:xfrm>
            <a:off x="2552700" y="2924175"/>
            <a:ext cx="36195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047B79D5-372A-43B8-8CCA-A66CBC2CFC11}"/>
              </a:ext>
            </a:extLst>
          </p:cNvPr>
          <p:cNvSpPr>
            <a:spLocks noGrp="1"/>
          </p:cNvSpPr>
          <p:nvPr/>
        </p:nvSpPr>
        <p:spPr>
          <a:xfrm>
            <a:off x="876300" y="320040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89425EE7-E663-4095-A50F-0C84A3B2B9E2}"/>
              </a:ext>
            </a:extLst>
          </p:cNvPr>
          <p:cNvSpPr>
            <a:spLocks noGrp="1"/>
          </p:cNvSpPr>
          <p:nvPr/>
        </p:nvSpPr>
        <p:spPr>
          <a:xfrm>
            <a:off x="1104900" y="33718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11" name="">
            <a:extLst>
              <a:ext uri="{FF2B5EF4-FFF2-40B4-BE49-F238E27FC236}">
                <ns2:creationId id="{97AD6D3A-8F72-480D-B3EA-F3A6D80078EC}"/>
              </a:ext>
            </a:extLst>
          </p:cNvPr>
          <p:cNvSpPr>
            <a:spLocks noGrp="1"/>
          </p:cNvSpPr>
          <p:nvPr/>
        </p:nvSpPr>
        <p:spPr>
          <a:xfrm>
            <a:off x="2743200" y="339090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唯讀模板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包含程式與環境</a:t>
            </a:r>
          </a:p>
        </p:txBody>
      </p:sp>
      <p:sp>
        <p:nvSpPr>
          <p:cNvPr id="12" name="">
            <a:extLst>
              <a:ext uri="{FF2B5EF4-FFF2-40B4-BE49-F238E27FC236}">
                <ns2:creationId id="{9173973C-F022-4A09-9A2B-E1771D28E10B}"/>
              </a:ext>
            </a:extLst>
          </p:cNvPr>
          <p:cNvSpPr>
            <a:spLocks noGrp="1"/>
          </p:cNvSpPr>
          <p:nvPr/>
        </p:nvSpPr>
        <p:spPr>
          <a:xfrm>
            <a:off x="2552700" y="4086225"/>
            <a:ext cx="36195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C162EA80-0F90-4720-8B73-21F43FFDAF91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68C66211-1AC3-4E7D-B878-721E25EFCF08}"/>
              </a:ext>
            </a:extLst>
          </p:cNvPr>
          <p:cNvSpPr>
            <a:spLocks noGrp="1"/>
          </p:cNvSpPr>
          <p:nvPr/>
        </p:nvSpPr>
        <p:spPr>
          <a:xfrm>
            <a:off x="1104900" y="45339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5" name="">
            <a:extLst>
              <a:ext uri="{FF2B5EF4-FFF2-40B4-BE49-F238E27FC236}">
                <ns2:creationId id="{7A5FACDC-87C9-402F-A6C1-F5E062983106}"/>
              </a:ext>
            </a:extLst>
          </p:cNvPr>
          <p:cNvSpPr>
            <a:spLocks noGrp="1"/>
          </p:cNvSpPr>
          <p:nvPr/>
        </p:nvSpPr>
        <p:spPr>
          <a:xfrm>
            <a:off x="2743200" y="45529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跑起來後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正在執行的實體</a:t>
            </a:r>
          </a:p>
        </p:txBody>
      </p:sp>
      <p:sp>
        <p:nvSpPr>
          <p:cNvPr id="16" name="">
            <a:extLst>
              <a:ext uri="{FF2B5EF4-FFF2-40B4-BE49-F238E27FC236}">
                <ns2:creationId id="{25C51B9A-5829-475D-85B2-79184081F6AB}"/>
              </a:ext>
            </a:extLst>
          </p:cNvPr>
          <p:cNvSpPr>
            <a:spLocks noGrp="1"/>
          </p:cNvSpPr>
          <p:nvPr/>
        </p:nvSpPr>
        <p:spPr>
          <a:xfrm>
            <a:off x="1752600" y="5219700"/>
            <a:ext cx="8686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從 Registry 下載 Image，用 Image 啟動 Container。</a:t>
            </a:r>
          </a:p>
        </p:txBody>
      </p:sp>
      <p:sp>
        <p:nvSpPr>
          <p:cNvPr id="17" name="">
            <a:extLst>
              <a:ext uri="{FF2B5EF4-FFF2-40B4-BE49-F238E27FC236}">
                <ns2:creationId id="{B96583B3-3E97-4665-99D0-FC84E537BD0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D7A40B14-0E35-408D-8BC4-D584551A916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>
              <a:ext uri="{FF2B5EF4-FFF2-40B4-BE49-F238E27FC236}">
                <ns2:creationId id="{C24E9CFE-B018-4CAB-81DC-8DDB8D8836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ns4:creationId val="791764038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5647509-A94C-40B4-9A3F-AE7CEB1D68E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Q2-Q4</a:t>
            </a:r>
          </a:p>
        </p:txBody>
      </p:sp>
      <p:sp>
        <p:nvSpPr>
          <p:cNvPr id="2" name="">
            <a:extLst>
              <a:ext uri="{FF2B5EF4-FFF2-40B4-BE49-F238E27FC236}">
                <ns2:creationId id="{803ADBA9-006A-4DCD-8D23-C0757F35F7F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3：把 Docker 流程說出來</a:t>
            </a:r>
          </a:p>
        </p:txBody>
      </p:sp>
      <p:sp>
        <p:nvSpPr>
          <p:cNvPr id="3" name="">
            <a:extLst>
              <a:ext uri="{FF2B5EF4-FFF2-40B4-BE49-F238E27FC236}">
                <ns2:creationId id="{E00D03FC-AE75-482F-8EFC-8490DBEDE133}"/>
              </a:ext>
            </a:extLst>
          </p:cNvPr>
          <p:cNvSpPr>
            <a:spLocks noGrp="1"/>
          </p:cNvSpPr>
          <p:nvPr/>
        </p:nvSpPr>
        <p:spPr>
          <a:xfrm>
            <a:off x="952500" y="1619250"/>
            <a:ext cx="4476750" cy="167640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82685C8-948B-4DE3-B9E3-CB2AE365C6FB}"/>
              </a:ext>
            </a:extLst>
          </p:cNvPr>
          <p:cNvSpPr>
            <a:spLocks noGrp="1"/>
          </p:cNvSpPr>
          <p:nvPr/>
        </p:nvSpPr>
        <p:spPr>
          <a:xfrm>
            <a:off x="1181100" y="1809750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575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Q2：三者一句話</a:t>
            </a:r>
          </a:p>
        </p:txBody>
      </p:sp>
      <p:sp>
        <p:nvSpPr>
          <p:cNvPr id="5" name="">
            <a:extLst>
              <a:ext uri="{FF2B5EF4-FFF2-40B4-BE49-F238E27FC236}">
                <ns2:creationId id="{E754C0C1-242A-48F0-8CCE-C2578EA3654F}"/>
              </a:ext>
            </a:extLst>
          </p:cNvPr>
          <p:cNvSpPr>
            <a:spLocks noGrp="1"/>
          </p:cNvSpPr>
          <p:nvPr/>
        </p:nvSpPr>
        <p:spPr>
          <a:xfrm>
            <a:off x="1181100" y="2209800"/>
            <a:ext cx="40195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從 Registry 下載 Image，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再用 Image 啟動 Container。</a:t>
            </a:r>
          </a:p>
        </p:txBody>
      </p:sp>
      <p:sp>
        <p:nvSpPr>
          <p:cNvPr id="6" name="">
            <a:extLst>
              <a:ext uri="{FF2B5EF4-FFF2-40B4-BE49-F238E27FC236}">
                <ns2:creationId id="{88FE2263-5317-4CF1-8EAC-742C9D493FF1}"/>
              </a:ext>
            </a:extLst>
          </p:cNvPr>
          <p:cNvSpPr>
            <a:spLocks noGrp="1"/>
          </p:cNvSpPr>
          <p:nvPr/>
        </p:nvSpPr>
        <p:spPr>
          <a:xfrm>
            <a:off x="6762750" y="161925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3EA0DD79-802F-4EFB-9DFD-25C1DE841C92}"/>
              </a:ext>
            </a:extLst>
          </p:cNvPr>
          <p:cNvSpPr>
            <a:spLocks noGrp="1"/>
          </p:cNvSpPr>
          <p:nvPr/>
        </p:nvSpPr>
        <p:spPr>
          <a:xfrm>
            <a:off x="6991350" y="1809750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575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Q4：hello-world 做了什麼</a:t>
            </a:r>
          </a:p>
        </p:txBody>
      </p:sp>
      <p:sp>
        <p:nvSpPr>
          <p:cNvPr id="8" name="">
            <a:extLst>
              <a:ext uri="{FF2B5EF4-FFF2-40B4-BE49-F238E27FC236}">
                <ns2:creationId id="{BA8FED6E-F780-4C52-AF67-653A0B835AC2}"/>
              </a:ext>
            </a:extLst>
          </p:cNvPr>
          <p:cNvSpPr>
            <a:spLocks noGrp="1"/>
          </p:cNvSpPr>
          <p:nvPr/>
        </p:nvSpPr>
        <p:spPr>
          <a:xfrm>
            <a:off x="6991350" y="2209800"/>
            <a:ext cx="4019550" cy="2076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找本機 Image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沒有就 pull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建立 Container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4. 啟動並輸出訊息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5. 程式結束後停止</a:t>
            </a:r>
          </a:p>
        </p:txBody>
      </p:sp>
      <p:sp>
        <p:nvSpPr>
          <p:cNvPr id="9" name="">
            <a:extLst>
              <a:ext uri="{FF2B5EF4-FFF2-40B4-BE49-F238E27FC236}">
                <ns2:creationId id="{BDE50DBE-D484-4471-AA4E-DFC718E2F551}"/>
              </a:ext>
            </a:extLst>
          </p:cNvPr>
          <p:cNvSpPr>
            <a:spLocks noGrp="1"/>
          </p:cNvSpPr>
          <p:nvPr/>
        </p:nvSpPr>
        <p:spPr>
          <a:xfrm>
            <a:off x="1600200" y="4914900"/>
            <a:ext cx="8991600" cy="742950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ABDC8BA2-C8EE-434F-882A-588C529D1CC0}"/>
              </a:ext>
            </a:extLst>
          </p:cNvPr>
          <p:cNvSpPr>
            <a:spLocks noGrp="1"/>
          </p:cNvSpPr>
          <p:nvPr/>
        </p:nvSpPr>
        <p:spPr>
          <a:xfrm>
            <a:off x="177165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F1886403-C896-4A6C-A733-D0AD1EB01C41}"/>
              </a:ext>
            </a:extLst>
          </p:cNvPr>
          <p:cNvSpPr>
            <a:spLocks noGrp="1"/>
          </p:cNvSpPr>
          <p:nvPr/>
        </p:nvSpPr>
        <p:spPr>
          <a:xfrm>
            <a:off x="194310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DC01596E-AAD0-4D6F-AFD8-676061E1CA26}"/>
              </a:ext>
            </a:extLst>
          </p:cNvPr>
          <p:cNvSpPr>
            <a:spLocks noGrp="1"/>
          </p:cNvSpPr>
          <p:nvPr/>
        </p:nvSpPr>
        <p:spPr>
          <a:xfrm>
            <a:off x="211455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42FE3521-8365-4039-82BD-7AA0B2059A24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7234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14" name="">
            <a:extLst>
              <a:ext uri="{FF2B5EF4-FFF2-40B4-BE49-F238E27FC236}">
                <ns2:creationId id="{2F88C61D-FC84-4CDD-A95F-C2D87109747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641A6E8C-83CE-4B61-8645-0252648255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">
            <a:extLst>
              <a:ext uri="{FF2B5EF4-FFF2-40B4-BE49-F238E27FC236}">
                <ns2:creationId id="{35FE3EA0-9677-4AF2-9A72-24255147576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ns3:creationId val="1124995252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D9DC56D-058C-4622-A1B7-1DE6C3F14C8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88991CB9-89EB-4CE4-8F06-95C3A158181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今天先掌握四種 Image 指令</a:t>
            </a:r>
          </a:p>
        </p:txBody>
      </p:sp>
      <p:sp>
        <p:nvSpPr>
          <p:cNvPr id="3" name="">
            <a:extLst>
              <a:ext uri="{FF2B5EF4-FFF2-40B4-BE49-F238E27FC236}">
                <ns2:creationId id="{71D3F1CE-7D1F-4B5D-A75A-2D3685410ECC}"/>
              </a:ext>
            </a:extLst>
          </p:cNvPr>
          <p:cNvSpPr>
            <a:spLocks noGrp="1"/>
          </p:cNvSpPr>
          <p:nvPr/>
        </p:nvSpPr>
        <p:spPr>
          <a:xfrm>
            <a:off x="704850" y="1600200"/>
            <a:ext cx="5095875" cy="2286000"/>
          </a:xfrm>
          <a:prstGeom prst="roundRect">
            <a:avLst>
              <a:gd name="adj" fmla="val 41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2FBBC04E-6B75-4AB8-AD4E-BB90B63EAE8F}"/>
              </a:ext>
            </a:extLst>
          </p:cNvPr>
          <p:cNvSpPr>
            <a:spLocks noGrp="1"/>
          </p:cNvSpPr>
          <p:nvPr/>
        </p:nvSpPr>
        <p:spPr>
          <a:xfrm>
            <a:off x="8763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EFE2FFA-99A4-4E25-8DF7-DCC9B42AADC6}"/>
              </a:ext>
            </a:extLst>
          </p:cNvPr>
          <p:cNvSpPr>
            <a:spLocks noGrp="1"/>
          </p:cNvSpPr>
          <p:nvPr/>
        </p:nvSpPr>
        <p:spPr>
          <a:xfrm>
            <a:off x="10477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460A033-8297-4079-8E2A-C6CDBC73EE6C}"/>
              </a:ext>
            </a:extLst>
          </p:cNvPr>
          <p:cNvSpPr>
            <a:spLocks noGrp="1"/>
          </p:cNvSpPr>
          <p:nvPr/>
        </p:nvSpPr>
        <p:spPr>
          <a:xfrm>
            <a:off x="12192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5E81F1D7-6507-4C84-9C83-497AD9DEE3E7}"/>
              </a:ext>
            </a:extLst>
          </p:cNvPr>
          <p:cNvSpPr>
            <a:spLocks noGrp="1"/>
          </p:cNvSpPr>
          <p:nvPr/>
        </p:nvSpPr>
        <p:spPr>
          <a:xfrm>
            <a:off x="914400" y="2019300"/>
            <a:ext cx="46767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拉取映像檔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查看本機映像檔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</a:t>
            </a:r>
          </a:p>
        </p:txBody>
      </p:sp>
      <p:sp>
        <p:nvSpPr>
          <p:cNvPr id="8" name="">
            <a:extLst>
              <a:ext uri="{FF2B5EF4-FFF2-40B4-BE49-F238E27FC236}">
                <ns2:creationId id="{F3C9FE56-CC23-4866-9C03-5C582464879E}"/>
              </a:ext>
            </a:extLst>
          </p:cNvPr>
          <p:cNvSpPr>
            <a:spLocks noGrp="1"/>
          </p:cNvSpPr>
          <p:nvPr/>
        </p:nvSpPr>
        <p:spPr>
          <a:xfrm>
            <a:off x="6419850" y="1600200"/>
            <a:ext cx="5095875" cy="2286000"/>
          </a:xfrm>
          <a:prstGeom prst="roundRect">
            <a:avLst>
              <a:gd name="adj" fmla="val 41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9" name="">
            <a:extLst>
              <a:ext uri="{FF2B5EF4-FFF2-40B4-BE49-F238E27FC236}">
                <ns2:creationId id="{385E5422-61D7-4074-9829-D790B1712815}"/>
              </a:ext>
            </a:extLst>
          </p:cNvPr>
          <p:cNvSpPr>
            <a:spLocks noGrp="1"/>
          </p:cNvSpPr>
          <p:nvPr/>
        </p:nvSpPr>
        <p:spPr>
          <a:xfrm>
            <a:off x="65913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DEF6AFB1-6F0B-495D-93EB-DDCF2D3B8A68}"/>
              </a:ext>
            </a:extLst>
          </p:cNvPr>
          <p:cNvSpPr>
            <a:spLocks noGrp="1"/>
          </p:cNvSpPr>
          <p:nvPr/>
        </p:nvSpPr>
        <p:spPr>
          <a:xfrm>
            <a:off x="67627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02C009DC-887F-48EF-A591-6FF2056B2024}"/>
              </a:ext>
            </a:extLst>
          </p:cNvPr>
          <p:cNvSpPr>
            <a:spLocks noGrp="1"/>
          </p:cNvSpPr>
          <p:nvPr/>
        </p:nvSpPr>
        <p:spPr>
          <a:xfrm>
            <a:off x="69342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8055AE8D-80BF-48EA-9B1F-5A304083DF39}"/>
              </a:ext>
            </a:extLst>
          </p:cNvPr>
          <p:cNvSpPr>
            <a:spLocks noGrp="1"/>
          </p:cNvSpPr>
          <p:nvPr/>
        </p:nvSpPr>
        <p:spPr>
          <a:xfrm>
            <a:off x="6629400" y="2019300"/>
            <a:ext cx="46767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搜尋映像檔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search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刪除映像檔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python:3.11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abc123def456</a:t>
            </a:r>
          </a:p>
        </p:txBody>
      </p:sp>
      <p:sp>
        <p:nvSpPr>
          <p:cNvPr id="13" name="">
            <a:extLst>
              <a:ext uri="{FF2B5EF4-FFF2-40B4-BE49-F238E27FC236}">
                <ns2:creationId id="{076BBA69-79A7-403F-9FFA-B66886B59274}"/>
              </a:ext>
            </a:extLst>
          </p:cNvPr>
          <p:cNvSpPr>
            <a:spLocks noGrp="1"/>
          </p:cNvSpPr>
          <p:nvPr/>
        </p:nvSpPr>
        <p:spPr>
          <a:xfrm>
            <a:off x="2114550" y="4438650"/>
            <a:ext cx="323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images 輸出怎麼讀</a:t>
            </a:r>
          </a:p>
        </p:txBody>
      </p:sp>
      <p:sp>
        <p:nvSpPr>
          <p:cNvPr id="14" name="">
            <a:extLst>
              <a:ext uri="{FF2B5EF4-FFF2-40B4-BE49-F238E27FC236}">
                <ns2:creationId id="{E46A8064-A59D-4001-8A1B-BFC82248420E}"/>
              </a:ext>
            </a:extLst>
          </p:cNvPr>
          <p:cNvSpPr>
            <a:spLocks noGrp="1"/>
          </p:cNvSpPr>
          <p:nvPr/>
        </p:nvSpPr>
        <p:spPr>
          <a:xfrm>
            <a:off x="2114550" y="4857750"/>
            <a:ext cx="2095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798ED531-D773-4D2F-89FC-10797C77A59E}"/>
              </a:ext>
            </a:extLst>
          </p:cNvPr>
          <p:cNvSpPr>
            <a:spLocks noGrp="1"/>
          </p:cNvSpPr>
          <p:nvPr/>
        </p:nvSpPr>
        <p:spPr>
          <a:xfrm>
            <a:off x="4210050" y="4857750"/>
            <a:ext cx="4000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391B343F-E5E1-4950-A7E4-9547CC038260}"/>
              </a:ext>
            </a:extLst>
          </p:cNvPr>
          <p:cNvSpPr>
            <a:spLocks noGrp="1"/>
          </p:cNvSpPr>
          <p:nvPr/>
        </p:nvSpPr>
        <p:spPr>
          <a:xfrm>
            <a:off x="2228850" y="491490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REPOSITORY</a:t>
            </a:r>
          </a:p>
        </p:txBody>
      </p:sp>
      <p:sp>
        <p:nvSpPr>
          <p:cNvPr id="17" name="">
            <a:extLst>
              <a:ext uri="{FF2B5EF4-FFF2-40B4-BE49-F238E27FC236}">
                <ns2:creationId id="{63FBCA2F-4D03-4390-A80E-26D87E25C2F6}"/>
              </a:ext>
            </a:extLst>
          </p:cNvPr>
          <p:cNvSpPr>
            <a:spLocks noGrp="1"/>
          </p:cNvSpPr>
          <p:nvPr/>
        </p:nvSpPr>
        <p:spPr>
          <a:xfrm>
            <a:off x="4343400" y="491490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映像檔名稱</a:t>
            </a:r>
          </a:p>
        </p:txBody>
      </p:sp>
      <p:sp>
        <p:nvSpPr>
          <p:cNvPr id="18" name="">
            <a:extLst>
              <a:ext uri="{FF2B5EF4-FFF2-40B4-BE49-F238E27FC236}">
                <ns2:creationId id="{578B0C08-61E8-4097-9BA6-ADCCF858EF48}"/>
              </a:ext>
            </a:extLst>
          </p:cNvPr>
          <p:cNvSpPr>
            <a:spLocks noGrp="1"/>
          </p:cNvSpPr>
          <p:nvPr/>
        </p:nvSpPr>
        <p:spPr>
          <a:xfrm>
            <a:off x="2114550" y="5181600"/>
            <a:ext cx="2095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592B5E4F-F103-4616-9CA2-0A930473EB0E}"/>
              </a:ext>
            </a:extLst>
          </p:cNvPr>
          <p:cNvSpPr>
            <a:spLocks noGrp="1"/>
          </p:cNvSpPr>
          <p:nvPr/>
        </p:nvSpPr>
        <p:spPr>
          <a:xfrm>
            <a:off x="4210050" y="5181600"/>
            <a:ext cx="4000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A697CA2F-7D56-4B4A-98B1-8B9DC1DEBF94}"/>
              </a:ext>
            </a:extLst>
          </p:cNvPr>
          <p:cNvSpPr>
            <a:spLocks noGrp="1"/>
          </p:cNvSpPr>
          <p:nvPr/>
        </p:nvSpPr>
        <p:spPr>
          <a:xfrm>
            <a:off x="2228850" y="523875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21" name="">
            <a:extLst>
              <a:ext uri="{FF2B5EF4-FFF2-40B4-BE49-F238E27FC236}">
                <ns2:creationId id="{8C0F9D03-1DF0-4330-9E24-6C5F7DBC1D3C}"/>
              </a:ext>
            </a:extLst>
          </p:cNvPr>
          <p:cNvSpPr>
            <a:spLocks noGrp="1"/>
          </p:cNvSpPr>
          <p:nvPr/>
        </p:nvSpPr>
        <p:spPr>
          <a:xfrm>
            <a:off x="4343400" y="523875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版本標籤</a:t>
            </a:r>
          </a:p>
        </p:txBody>
      </p:sp>
      <p:sp>
        <p:nvSpPr>
          <p:cNvPr id="22" name="">
            <a:extLst>
              <a:ext uri="{FF2B5EF4-FFF2-40B4-BE49-F238E27FC236}">
                <ns2:creationId id="{44A071A9-8DD4-4DD5-8861-5A6E08D98770}"/>
              </a:ext>
            </a:extLst>
          </p:cNvPr>
          <p:cNvSpPr>
            <a:spLocks noGrp="1"/>
          </p:cNvSpPr>
          <p:nvPr/>
        </p:nvSpPr>
        <p:spPr>
          <a:xfrm>
            <a:off x="2114550" y="5505450"/>
            <a:ext cx="2095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3AC63333-168A-4DAC-8979-EB5B343AF173}"/>
              </a:ext>
            </a:extLst>
          </p:cNvPr>
          <p:cNvSpPr>
            <a:spLocks noGrp="1"/>
          </p:cNvSpPr>
          <p:nvPr/>
        </p:nvSpPr>
        <p:spPr>
          <a:xfrm>
            <a:off x="4210050" y="5505450"/>
            <a:ext cx="4000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16C1B88A-88C9-4BC3-9346-0A6F3AC8BEB9}"/>
              </a:ext>
            </a:extLst>
          </p:cNvPr>
          <p:cNvSpPr>
            <a:spLocks noGrp="1"/>
          </p:cNvSpPr>
          <p:nvPr/>
        </p:nvSpPr>
        <p:spPr>
          <a:xfrm>
            <a:off x="2228850" y="556260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 ID</a:t>
            </a:r>
          </a:p>
        </p:txBody>
      </p:sp>
      <p:sp>
        <p:nvSpPr>
          <p:cNvPr id="25" name="">
            <a:extLst>
              <a:ext uri="{FF2B5EF4-FFF2-40B4-BE49-F238E27FC236}">
                <ns2:creationId id="{14B30AA9-85DE-4639-9F70-8725B9CB54D5}"/>
              </a:ext>
            </a:extLst>
          </p:cNvPr>
          <p:cNvSpPr>
            <a:spLocks noGrp="1"/>
          </p:cNvSpPr>
          <p:nvPr/>
        </p:nvSpPr>
        <p:spPr>
          <a:xfrm>
            <a:off x="4343400" y="556260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唯一識別碼</a:t>
            </a:r>
          </a:p>
        </p:txBody>
      </p:sp>
      <p:sp>
        <p:nvSpPr>
          <p:cNvPr id="26" name="">
            <a:extLst>
              <a:ext uri="{FF2B5EF4-FFF2-40B4-BE49-F238E27FC236}">
                <ns2:creationId id="{C9FA415E-93D0-4D2F-9B2B-E33996B7F625}"/>
              </a:ext>
            </a:extLst>
          </p:cNvPr>
          <p:cNvSpPr>
            <a:spLocks noGrp="1"/>
          </p:cNvSpPr>
          <p:nvPr/>
        </p:nvSpPr>
        <p:spPr>
          <a:xfrm>
            <a:off x="2114550" y="5829300"/>
            <a:ext cx="2095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7" name="">
            <a:extLst>
              <a:ext uri="{FF2B5EF4-FFF2-40B4-BE49-F238E27FC236}">
                <ns2:creationId id="{F03D98DF-9118-4CE1-AB53-9E8E375E1909}"/>
              </a:ext>
            </a:extLst>
          </p:cNvPr>
          <p:cNvSpPr>
            <a:spLocks noGrp="1"/>
          </p:cNvSpPr>
          <p:nvPr/>
        </p:nvSpPr>
        <p:spPr>
          <a:xfrm>
            <a:off x="4210050" y="5829300"/>
            <a:ext cx="4000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A85169BC-1FD3-4718-A757-1097E0448EFD}"/>
              </a:ext>
            </a:extLst>
          </p:cNvPr>
          <p:cNvSpPr>
            <a:spLocks noGrp="1"/>
          </p:cNvSpPr>
          <p:nvPr/>
        </p:nvSpPr>
        <p:spPr>
          <a:xfrm>
            <a:off x="2228850" y="588645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SIZE</a:t>
            </a:r>
          </a:p>
        </p:txBody>
      </p:sp>
      <p:sp>
        <p:nvSpPr>
          <p:cNvPr id="29" name="">
            <a:extLst>
              <a:ext uri="{FF2B5EF4-FFF2-40B4-BE49-F238E27FC236}">
                <ns2:creationId id="{05D49EF0-04EB-4A63-9B7B-04DD06369A7A}"/>
              </a:ext>
            </a:extLst>
          </p:cNvPr>
          <p:cNvSpPr>
            <a:spLocks noGrp="1"/>
          </p:cNvSpPr>
          <p:nvPr/>
        </p:nvSpPr>
        <p:spPr>
          <a:xfrm>
            <a:off x="4343400" y="588645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映像檔大小</a:t>
            </a:r>
          </a:p>
        </p:txBody>
      </p:sp>
      <p:sp>
        <p:nvSpPr>
          <p:cNvPr id="30" name="">
            <a:extLst>
              <a:ext uri="{FF2B5EF4-FFF2-40B4-BE49-F238E27FC236}">
                <ns2:creationId id="{7A35FD8C-D018-40B7-8087-9872393D5DC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1" name="">
            <a:extLst>
              <a:ext uri="{FF2B5EF4-FFF2-40B4-BE49-F238E27FC236}">
                <ns2:creationId id="{EB59F1D6-7343-4001-8C43-FF5E89616BA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2" name="">
            <a:extLst>
              <a:ext uri="{FF2B5EF4-FFF2-40B4-BE49-F238E27FC236}">
                <ns2:creationId id="{93C12906-5B40-452C-B031-965FAC79BBC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ns3:creationId val="2046573979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4D00132-D554-43D1-B919-01B308681F9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>
              <a:ext uri="{FF2B5EF4-FFF2-40B4-BE49-F238E27FC236}">
                <ns2:creationId id="{9B84710F-1E13-4983-B407-54520F8AD30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P1：拉取並比較 Image 大小</a:t>
            </a:r>
          </a:p>
        </p:txBody>
      </p:sp>
      <p:sp>
        <p:nvSpPr>
          <p:cNvPr id="3" name="">
            <a:extLst>
              <a:ext uri="{FF2B5EF4-FFF2-40B4-BE49-F238E27FC236}">
                <ns2:creationId id="{FEE4F64F-198D-41C8-B8FD-6A0800237F43}"/>
              </a:ext>
            </a:extLst>
          </p:cNvPr>
          <p:cNvSpPr>
            <a:spLocks noGrp="1"/>
          </p:cNvSpPr>
          <p:nvPr/>
        </p:nvSpPr>
        <p:spPr>
          <a:xfrm>
            <a:off x="819150" y="1524000"/>
            <a:ext cx="5905500" cy="2343150"/>
          </a:xfrm>
          <a:prstGeom prst="roundRect">
            <a:avLst>
              <a:gd name="adj" fmla="val 40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91061BD-3FB3-4D04-AD2A-C3C3B2E42C12}"/>
              </a:ext>
            </a:extLst>
          </p:cNvPr>
          <p:cNvSpPr>
            <a:spLocks noGrp="1"/>
          </p:cNvSpPr>
          <p:nvPr/>
        </p:nvSpPr>
        <p:spPr>
          <a:xfrm>
            <a:off x="990600" y="16859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80389E0-3120-4574-B40F-44CBA405423B}"/>
              </a:ext>
            </a:extLst>
          </p:cNvPr>
          <p:cNvSpPr>
            <a:spLocks noGrp="1"/>
          </p:cNvSpPr>
          <p:nvPr/>
        </p:nvSpPr>
        <p:spPr>
          <a:xfrm>
            <a:off x="1162050" y="16859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BD90839-55CC-4684-93F0-D4559AC3B4E1}"/>
              </a:ext>
            </a:extLst>
          </p:cNvPr>
          <p:cNvSpPr>
            <a:spLocks noGrp="1"/>
          </p:cNvSpPr>
          <p:nvPr/>
        </p:nvSpPr>
        <p:spPr>
          <a:xfrm>
            <a:off x="1333500" y="16859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C0506171-E4C9-4FEA-BCD7-7867A9C788F7}"/>
              </a:ext>
            </a:extLst>
          </p:cNvPr>
          <p:cNvSpPr>
            <a:spLocks noGrp="1"/>
          </p:cNvSpPr>
          <p:nvPr/>
        </p:nvSpPr>
        <p:spPr>
          <a:xfrm>
            <a:off x="1028700" y="1943100"/>
            <a:ext cx="548640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python:3.11-alpine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 | findstr python</a:t>
            </a:r>
          </a:p>
        </p:txBody>
      </p:sp>
      <p:sp>
        <p:nvSpPr>
          <p:cNvPr id="8" name="">
            <a:extLst>
              <a:ext uri="{FF2B5EF4-FFF2-40B4-BE49-F238E27FC236}">
                <ns2:creationId id="{6CAC68C7-65FE-4BBE-95D6-3936ECA6FDC9}"/>
              </a:ext>
            </a:extLst>
          </p:cNvPr>
          <p:cNvSpPr>
            <a:spLocks noGrp="1"/>
          </p:cNvSpPr>
          <p:nvPr/>
        </p:nvSpPr>
        <p:spPr>
          <a:xfrm>
            <a:off x="7334250" y="1657350"/>
            <a:ext cx="3429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69FEB4B0-5BF2-4764-899D-482B1C49ED00}"/>
              </a:ext>
            </a:extLst>
          </p:cNvPr>
          <p:cNvSpPr>
            <a:spLocks noGrp="1"/>
          </p:cNvSpPr>
          <p:nvPr/>
        </p:nvSpPr>
        <p:spPr>
          <a:xfrm>
            <a:off x="7562850" y="17907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</a:t>
            </a:r>
          </a:p>
        </p:txBody>
      </p:sp>
      <p:sp>
        <p:nvSpPr>
          <p:cNvPr id="10" name="">
            <a:extLst>
              <a:ext uri="{FF2B5EF4-FFF2-40B4-BE49-F238E27FC236}">
                <ns2:creationId id="{DAEE7295-8194-427B-9357-E77883F619FB}"/>
              </a:ext>
            </a:extLst>
          </p:cNvPr>
          <p:cNvSpPr>
            <a:spLocks noGrp="1"/>
          </p:cNvSpPr>
          <p:nvPr/>
        </p:nvSpPr>
        <p:spPr>
          <a:xfrm>
            <a:off x="9144000" y="1800225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完整環境，體積最大</a:t>
            </a:r>
          </a:p>
        </p:txBody>
      </p:sp>
      <p:sp>
        <p:nvSpPr>
          <p:cNvPr id="11" name="">
            <a:extLst>
              <a:ext uri="{FF2B5EF4-FFF2-40B4-BE49-F238E27FC236}">
                <ns2:creationId id="{292AF311-A401-4463-89D1-580CCCA66B9C}"/>
              </a:ext>
            </a:extLst>
          </p:cNvPr>
          <p:cNvSpPr>
            <a:spLocks noGrp="1"/>
          </p:cNvSpPr>
          <p:nvPr/>
        </p:nvSpPr>
        <p:spPr>
          <a:xfrm>
            <a:off x="7334250" y="2552700"/>
            <a:ext cx="3429000" cy="666750"/>
          </a:xfrm>
          <a:prstGeom prst="roundRect">
            <a:avLst>
              <a:gd name="adj" fmla="val 1428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7D244723-9A0E-464F-907D-0123CFA76693}"/>
              </a:ext>
            </a:extLst>
          </p:cNvPr>
          <p:cNvSpPr>
            <a:spLocks noGrp="1"/>
          </p:cNvSpPr>
          <p:nvPr/>
        </p:nvSpPr>
        <p:spPr>
          <a:xfrm>
            <a:off x="7562850" y="26860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">
            <a:extLst>
              <a:ext uri="{FF2B5EF4-FFF2-40B4-BE49-F238E27FC236}">
                <ns2:creationId id="{B2771EC6-85DA-4D5B-B7D1-9D602731580F}"/>
              </a:ext>
            </a:extLst>
          </p:cNvPr>
          <p:cNvSpPr>
            <a:spLocks noGrp="1"/>
          </p:cNvSpPr>
          <p:nvPr/>
        </p:nvSpPr>
        <p:spPr>
          <a:xfrm>
            <a:off x="9144000" y="2695575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516"/>
          </a:bodyPr>
          <a:lstStyle/>
          <a:p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精簡 Debian，常用折衷</a:t>
            </a:r>
          </a:p>
        </p:txBody>
      </p:sp>
      <p:sp>
        <p:nvSpPr>
          <p:cNvPr id="14" name="">
            <a:extLst>
              <a:ext uri="{FF2B5EF4-FFF2-40B4-BE49-F238E27FC236}">
                <ns2:creationId id="{D2155652-FA24-4B23-8A8F-FC464E9583CA}"/>
              </a:ext>
            </a:extLst>
          </p:cNvPr>
          <p:cNvSpPr>
            <a:spLocks noGrp="1"/>
          </p:cNvSpPr>
          <p:nvPr/>
        </p:nvSpPr>
        <p:spPr>
          <a:xfrm>
            <a:off x="7334250" y="3448050"/>
            <a:ext cx="3429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DBA197D3-B080-4828-B033-F8392536053B}"/>
              </a:ext>
            </a:extLst>
          </p:cNvPr>
          <p:cNvSpPr>
            <a:spLocks noGrp="1"/>
          </p:cNvSpPr>
          <p:nvPr/>
        </p:nvSpPr>
        <p:spPr>
          <a:xfrm>
            <a:off x="7562850" y="35814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python:3.11-alpine</a:t>
            </a:r>
          </a:p>
        </p:txBody>
      </p:sp>
      <p:sp>
        <p:nvSpPr>
          <p:cNvPr id="16" name="">
            <a:extLst>
              <a:ext uri="{FF2B5EF4-FFF2-40B4-BE49-F238E27FC236}">
                <ns2:creationId id="{9334C94E-4C1C-43CB-83BC-F08BD6B06858}"/>
              </a:ext>
            </a:extLst>
          </p:cNvPr>
          <p:cNvSpPr>
            <a:spLocks noGrp="1"/>
          </p:cNvSpPr>
          <p:nvPr/>
        </p:nvSpPr>
        <p:spPr>
          <a:xfrm>
            <a:off x="9144000" y="3590925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203"/>
          </a:bodyPr>
          <a:lstStyle/>
          <a:p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最小，但可能遇到相容性問題</a:t>
            </a:r>
          </a:p>
        </p:txBody>
      </p:sp>
      <p:sp>
        <p:nvSpPr>
          <p:cNvPr id="17" name="">
            <a:extLst>
              <a:ext uri="{FF2B5EF4-FFF2-40B4-BE49-F238E27FC236}">
                <ns2:creationId id="{C349052D-43BC-4D88-8658-C5945D5CD0EC}"/>
              </a:ext>
            </a:extLst>
          </p:cNvPr>
          <p:cNvSpPr>
            <a:spLocks noGrp="1"/>
          </p:cNvSpPr>
          <p:nvPr/>
        </p:nvSpPr>
        <p:spPr>
          <a:xfrm>
            <a:off x="1581150" y="4914900"/>
            <a:ext cx="9029700" cy="62865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5118C841-3D15-4F7D-8121-D4F78A101B4D}"/>
              </a:ext>
            </a:extLst>
          </p:cNvPr>
          <p:cNvSpPr>
            <a:spLocks noGrp="1"/>
          </p:cNvSpPr>
          <p:nvPr/>
        </p:nvSpPr>
        <p:spPr>
          <a:xfrm>
            <a:off x="1885950" y="5124450"/>
            <a:ext cx="842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完成標準：記錄三個 SIZE，並能說出為什麼 tag 不同，大小會差很多。</a:t>
            </a:r>
          </a:p>
        </p:txBody>
      </p:sp>
      <p:sp>
        <p:nvSpPr>
          <p:cNvPr id="19" name="">
            <a:extLst>
              <a:ext uri="{FF2B5EF4-FFF2-40B4-BE49-F238E27FC236}">
                <ns2:creationId id="{EF2D0645-7F38-40BF-B42B-CC59BD53DE8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917D1FE5-E56A-4676-A15D-A917356B18F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">
            <a:extLst>
              <a:ext uri="{FF2B5EF4-FFF2-40B4-BE49-F238E27FC236}">
                <ns2:creationId id="{BE94CD2B-4A67-4DFF-BDA7-A9393AEA5CB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ns3:creationId val="592974525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65241C9-DD2A-4D02-AE3F-74960F6755E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IMAGE LAYERS</a:t>
            </a:r>
          </a:p>
        </p:txBody>
      </p:sp>
      <p:sp>
        <p:nvSpPr>
          <p:cNvPr id="2" name="">
            <a:extLst>
              <a:ext uri="{FF2B5EF4-FFF2-40B4-BE49-F238E27FC236}">
                <ns2:creationId id="{76529A76-5B0B-40CC-8DF9-E6706A5F074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334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剛剛的大小差異，其實來自分層</a:t>
            </a:r>
          </a:p>
        </p:txBody>
      </p:sp>
      <p:sp>
        <p:nvSpPr>
          <p:cNvPr id="3" name="">
            <a:extLst>
              <a:ext uri="{FF2B5EF4-FFF2-40B4-BE49-F238E27FC236}">
                <ns2:creationId id="{9E52083B-483F-4EDD-BDD1-63DE370E0E75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876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Image 不是一個大檔案，而是多個 layer 疊起來；不同 tag 會選不同底層與工具。</a:t>
            </a:r>
          </a:p>
        </p:txBody>
      </p:sp>
      <p:sp>
        <p:nvSpPr>
          <p:cNvPr id="4" name="">
            <a:extLst>
              <a:ext uri="{FF2B5EF4-FFF2-40B4-BE49-F238E27FC236}">
                <ns2:creationId id="{26E19EF4-4BCA-494E-B08D-DC46DB80BE3F}"/>
              </a:ext>
            </a:extLst>
          </p:cNvPr>
          <p:cNvSpPr>
            <a:spLocks noGrp="1"/>
          </p:cNvSpPr>
          <p:nvPr/>
        </p:nvSpPr>
        <p:spPr>
          <a:xfrm>
            <a:off x="933450" y="210502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剛剛看到</a:t>
            </a:r>
          </a:p>
        </p:txBody>
      </p:sp>
      <p:sp>
        <p:nvSpPr>
          <p:cNvPr id="5" name="">
            <a:extLst>
              <a:ext uri="{FF2B5EF4-FFF2-40B4-BE49-F238E27FC236}">
                <ns2:creationId id="{C5E292BF-03D4-42C1-8E72-55720C989F2A}"/>
              </a:ext>
            </a:extLst>
          </p:cNvPr>
          <p:cNvSpPr>
            <a:spLocks noGrp="1"/>
          </p:cNvSpPr>
          <p:nvPr/>
        </p:nvSpPr>
        <p:spPr>
          <a:xfrm>
            <a:off x="2286000" y="2076450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python:3.11  &gt;  python:3.11-slim  &gt;  python:3.11-alpine</a:t>
            </a:r>
          </a:p>
        </p:txBody>
      </p:sp>
      <p:sp>
        <p:nvSpPr>
          <p:cNvPr id="6" name="">
            <a:extLst>
              <a:ext uri="{FF2B5EF4-FFF2-40B4-BE49-F238E27FC236}">
                <ns2:creationId id="{04D3BFAD-60D5-41A8-808D-CAB0ECDBDCBD}"/>
              </a:ext>
            </a:extLst>
          </p:cNvPr>
          <p:cNvSpPr>
            <a:spLocks noGrp="1"/>
          </p:cNvSpPr>
          <p:nvPr/>
        </p:nvSpPr>
        <p:spPr>
          <a:xfrm>
            <a:off x="971550" y="2667000"/>
            <a:ext cx="5334000" cy="552450"/>
          </a:xfrm>
          <a:prstGeom prst="roundRect">
            <a:avLst>
              <a:gd name="adj" fmla="val 13793"/>
            </a:avLst>
          </a:prstGeom>
          <a:solidFill>
            <a:srgbClr val="E8F3FF"/>
          </a:solidFill>
          <a:ln w="12383">
            <a:solidFill>
              <a:srgbClr val="1F73D0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ED98C0F1-778A-48EB-BFE9-667ECF846AD8}"/>
              </a:ext>
            </a:extLst>
          </p:cNvPr>
          <p:cNvSpPr>
            <a:spLocks noGrp="1"/>
          </p:cNvSpPr>
          <p:nvPr/>
        </p:nvSpPr>
        <p:spPr>
          <a:xfrm>
            <a:off x="1257300" y="2828925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你的應用程式程式碼</a:t>
            </a:r>
          </a:p>
        </p:txBody>
      </p:sp>
      <p:sp>
        <p:nvSpPr>
          <p:cNvPr id="8" name="">
            <a:extLst>
              <a:ext uri="{FF2B5EF4-FFF2-40B4-BE49-F238E27FC236}">
                <ns2:creationId id="{57B92F79-9F47-4E24-AB75-B02F6C2380A5}"/>
              </a:ext>
            </a:extLst>
          </p:cNvPr>
          <p:cNvSpPr>
            <a:spLocks noGrp="1"/>
          </p:cNvSpPr>
          <p:nvPr/>
        </p:nvSpPr>
        <p:spPr>
          <a:xfrm>
            <a:off x="4495800" y="28575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1F73D0"/>
                </a:solidFill>
              </a:defRPr>
            </a:pPr>
            <a:r>
              <a:rPr sz="1125" b="1">
                <a:solidFill>
                  <a:srgbClr val="1F73D0"/>
                </a:solidFill>
              </a:rPr>
              <a:t>最常變</a:t>
            </a:r>
          </a:p>
        </p:txBody>
      </p:sp>
      <p:sp>
        <p:nvSpPr>
          <p:cNvPr id="9" name="">
            <a:extLst>
              <a:ext uri="{FF2B5EF4-FFF2-40B4-BE49-F238E27FC236}">
                <ns2:creationId id="{B8A92D82-9729-41AD-8EDC-81D0A8104AE7}"/>
              </a:ext>
            </a:extLst>
          </p:cNvPr>
          <p:cNvSpPr>
            <a:spLocks noGrp="1"/>
          </p:cNvSpPr>
          <p:nvPr/>
        </p:nvSpPr>
        <p:spPr>
          <a:xfrm>
            <a:off x="1181100" y="3390900"/>
            <a:ext cx="4914900" cy="552450"/>
          </a:xfrm>
          <a:prstGeom prst="roundRect">
            <a:avLst>
              <a:gd name="adj" fmla="val 13793"/>
            </a:avLst>
          </a:prstGeom>
          <a:solidFill>
            <a:srgbClr val="E8F7F1"/>
          </a:solidFill>
          <a:ln w="12383">
            <a:solidFill>
              <a:srgbClr val="0F8F6B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2B893B41-0FCA-4ABC-8679-6DF3D8B8903B}"/>
              </a:ext>
            </a:extLst>
          </p:cNvPr>
          <p:cNvSpPr>
            <a:spLocks noGrp="1"/>
          </p:cNvSpPr>
          <p:nvPr/>
        </p:nvSpPr>
        <p:spPr>
          <a:xfrm>
            <a:off x="1466850" y="3552825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pip install 的套件</a:t>
            </a:r>
          </a:p>
        </p:txBody>
      </p:sp>
      <p:sp>
        <p:nvSpPr>
          <p:cNvPr id="11" name="">
            <a:extLst>
              <a:ext uri="{FF2B5EF4-FFF2-40B4-BE49-F238E27FC236}">
                <ns2:creationId id="{DFD7957C-B2BD-42E3-AE97-785BD07AB654}"/>
              </a:ext>
            </a:extLst>
          </p:cNvPr>
          <p:cNvSpPr>
            <a:spLocks noGrp="1"/>
          </p:cNvSpPr>
          <p:nvPr/>
        </p:nvSpPr>
        <p:spPr>
          <a:xfrm>
            <a:off x="4286250" y="35814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0F8F6B"/>
                </a:solidFill>
              </a:defRPr>
            </a:pPr>
            <a:r>
              <a:rPr sz="1125" b="1">
                <a:solidFill>
                  <a:srgbClr val="0F8F6B"/>
                </a:solidFill>
              </a:rPr>
              <a:t>依賴層</a:t>
            </a:r>
          </a:p>
        </p:txBody>
      </p:sp>
      <p:sp>
        <p:nvSpPr>
          <p:cNvPr id="12" name="">
            <a:extLst>
              <a:ext uri="{FF2B5EF4-FFF2-40B4-BE49-F238E27FC236}">
                <ns2:creationId id="{A9FCF34C-A8BC-4E74-B61A-BDD8A8FA8EBE}"/>
              </a:ext>
            </a:extLst>
          </p:cNvPr>
          <p:cNvSpPr>
            <a:spLocks noGrp="1"/>
          </p:cNvSpPr>
          <p:nvPr/>
        </p:nvSpPr>
        <p:spPr>
          <a:xfrm>
            <a:off x="1390650" y="4114800"/>
            <a:ext cx="4495800" cy="552450"/>
          </a:xfrm>
          <a:prstGeom prst="roundRect">
            <a:avLst>
              <a:gd name="adj" fmla="val 13793"/>
            </a:avLst>
          </a:prstGeom>
          <a:solidFill>
            <a:srgbClr val="FFF4D6"/>
          </a:solidFill>
          <a:ln w="12383">
            <a:solidFill>
              <a:srgbClr val="C56A09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98DD0672-C29F-4AE3-B231-A48A96427744}"/>
              </a:ext>
            </a:extLst>
          </p:cNvPr>
          <p:cNvSpPr>
            <a:spLocks noGrp="1"/>
          </p:cNvSpPr>
          <p:nvPr/>
        </p:nvSpPr>
        <p:spPr>
          <a:xfrm>
            <a:off x="1676400" y="4276725"/>
            <a:ext cx="2305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Python 3.11</a:t>
            </a:r>
          </a:p>
        </p:txBody>
      </p:sp>
      <p:sp>
        <p:nvSpPr>
          <p:cNvPr id="14" name="">
            <a:extLst>
              <a:ext uri="{FF2B5EF4-FFF2-40B4-BE49-F238E27FC236}">
                <ns2:creationId id="{4A579B4F-900D-46C6-8998-1244D7D428BC}"/>
              </a:ext>
            </a:extLst>
          </p:cNvPr>
          <p:cNvSpPr>
            <a:spLocks noGrp="1"/>
          </p:cNvSpPr>
          <p:nvPr/>
        </p:nvSpPr>
        <p:spPr>
          <a:xfrm>
            <a:off x="4076700" y="43053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C56A09"/>
                </a:solidFill>
              </a:defRPr>
            </a:pPr>
            <a:r>
              <a:rPr sz="1125" b="1">
                <a:solidFill>
                  <a:srgbClr val="C56A09"/>
                </a:solidFill>
              </a:rPr>
              <a:t>執行環境</a:t>
            </a:r>
          </a:p>
        </p:txBody>
      </p:sp>
      <p:sp>
        <p:nvSpPr>
          <p:cNvPr id="15" name="">
            <a:extLst>
              <a:ext uri="{FF2B5EF4-FFF2-40B4-BE49-F238E27FC236}">
                <ns2:creationId id="{F4F86E0C-DD67-4082-97AA-A49B24E72497}"/>
              </a:ext>
            </a:extLst>
          </p:cNvPr>
          <p:cNvSpPr>
            <a:spLocks noGrp="1"/>
          </p:cNvSpPr>
          <p:nvPr/>
        </p:nvSpPr>
        <p:spPr>
          <a:xfrm>
            <a:off x="1600200" y="4838700"/>
            <a:ext cx="4076700" cy="552450"/>
          </a:xfrm>
          <a:prstGeom prst="roundRect">
            <a:avLst>
              <a:gd name="adj" fmla="val 13793"/>
            </a:avLst>
          </a:prstGeom>
          <a:solidFill>
            <a:srgbClr val="EEF2F7"/>
          </a:solidFill>
          <a:ln w="12383">
            <a:solidFill>
              <a:srgbClr val="64748B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C7708463-0F45-4F32-A975-FA8CFB12182E}"/>
              </a:ext>
            </a:extLst>
          </p:cNvPr>
          <p:cNvSpPr>
            <a:spLocks noGrp="1"/>
          </p:cNvSpPr>
          <p:nvPr/>
        </p:nvSpPr>
        <p:spPr>
          <a:xfrm>
            <a:off x="1885950" y="5000625"/>
            <a:ext cx="1885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Debian / Alpine</a:t>
            </a:r>
          </a:p>
        </p:txBody>
      </p:sp>
      <p:sp>
        <p:nvSpPr>
          <p:cNvPr id="17" name="">
            <a:extLst>
              <a:ext uri="{FF2B5EF4-FFF2-40B4-BE49-F238E27FC236}">
                <ns2:creationId id="{BD3D94FA-FB7D-4E0E-AD21-69EDFCA0CECD}"/>
              </a:ext>
            </a:extLst>
          </p:cNvPr>
          <p:cNvSpPr>
            <a:spLocks noGrp="1"/>
          </p:cNvSpPr>
          <p:nvPr/>
        </p:nvSpPr>
        <p:spPr>
          <a:xfrm>
            <a:off x="3867150" y="50292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基礎系統</a:t>
            </a:r>
          </a:p>
        </p:txBody>
      </p:sp>
      <p:sp>
        <p:nvSpPr>
          <p:cNvPr id="18" name="">
            <a:extLst>
              <a:ext uri="{FF2B5EF4-FFF2-40B4-BE49-F238E27FC236}">
                <ns2:creationId id="{558974CB-6A09-4D6D-BB3A-B2DA8AC48167}"/>
              </a:ext>
            </a:extLst>
          </p:cNvPr>
          <p:cNvSpPr>
            <a:spLocks noGrp="1"/>
          </p:cNvSpPr>
          <p:nvPr/>
        </p:nvSpPr>
        <p:spPr>
          <a:xfrm>
            <a:off x="7239000" y="2647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1F235711-67A5-43AB-9793-09371484879A}"/>
              </a:ext>
            </a:extLst>
          </p:cNvPr>
          <p:cNvSpPr>
            <a:spLocks noGrp="1"/>
          </p:cNvSpPr>
          <p:nvPr/>
        </p:nvSpPr>
        <p:spPr>
          <a:xfrm>
            <a:off x="7239000" y="2676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">
            <a:extLst>
              <a:ext uri="{FF2B5EF4-FFF2-40B4-BE49-F238E27FC236}">
                <ns2:creationId id="{EC77F303-143A-4FCA-BE81-6088C100DC62}"/>
              </a:ext>
            </a:extLst>
          </p:cNvPr>
          <p:cNvSpPr>
            <a:spLocks noGrp="1"/>
          </p:cNvSpPr>
          <p:nvPr/>
        </p:nvSpPr>
        <p:spPr>
          <a:xfrm>
            <a:off x="7677150" y="2628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先看結果，不先查內部</a:t>
            </a:r>
          </a:p>
        </p:txBody>
      </p:sp>
      <p:sp>
        <p:nvSpPr>
          <p:cNvPr id="21" name="">
            <a:extLst>
              <a:ext uri="{FF2B5EF4-FFF2-40B4-BE49-F238E27FC236}">
                <ns2:creationId id="{FAC8862B-8553-4D46-9414-448F5C6370D3}"/>
              </a:ext>
            </a:extLst>
          </p:cNvPr>
          <p:cNvSpPr>
            <a:spLocks noGrp="1"/>
          </p:cNvSpPr>
          <p:nvPr/>
        </p:nvSpPr>
        <p:spPr>
          <a:xfrm>
            <a:off x="7677150" y="2990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第一堂只要會用 docker images 看 SIZE，知道 tag 會影響內容。</a:t>
            </a:r>
          </a:p>
        </p:txBody>
      </p:sp>
      <p:sp>
        <p:nvSpPr>
          <p:cNvPr id="22" name="">
            <a:extLst>
              <a:ext uri="{FF2B5EF4-FFF2-40B4-BE49-F238E27FC236}">
                <ns2:creationId id="{EBF0BE25-8345-48D2-B1A7-40BF4BC9A100}"/>
              </a:ext>
            </a:extLst>
          </p:cNvPr>
          <p:cNvSpPr>
            <a:spLocks noGrp="1"/>
          </p:cNvSpPr>
          <p:nvPr/>
        </p:nvSpPr>
        <p:spPr>
          <a:xfrm>
            <a:off x="7239000" y="3790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37C7F573-A6F8-4DE3-A101-0EC1CCC12498}"/>
              </a:ext>
            </a:extLst>
          </p:cNvPr>
          <p:cNvSpPr>
            <a:spLocks noGrp="1"/>
          </p:cNvSpPr>
          <p:nvPr/>
        </p:nvSpPr>
        <p:spPr>
          <a:xfrm>
            <a:off x="7239000" y="3819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">
            <a:extLst>
              <a:ext uri="{FF2B5EF4-FFF2-40B4-BE49-F238E27FC236}">
                <ns2:creationId id="{130577F8-09F0-4406-BEBE-53AF4253206D}"/>
              </a:ext>
            </a:extLst>
          </p:cNvPr>
          <p:cNvSpPr>
            <a:spLocks noGrp="1"/>
          </p:cNvSpPr>
          <p:nvPr/>
        </p:nvSpPr>
        <p:spPr>
          <a:xfrm>
            <a:off x="7677150" y="3771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底層不同，大小就會不同</a:t>
            </a:r>
          </a:p>
        </p:txBody>
      </p:sp>
      <p:sp>
        <p:nvSpPr>
          <p:cNvPr id="25" name="">
            <a:extLst>
              <a:ext uri="{FF2B5EF4-FFF2-40B4-BE49-F238E27FC236}">
                <ns2:creationId id="{709C574C-A2EA-4C84-B011-3F5149623E72}"/>
              </a:ext>
            </a:extLst>
          </p:cNvPr>
          <p:cNvSpPr>
            <a:spLocks noGrp="1"/>
          </p:cNvSpPr>
          <p:nvPr/>
        </p:nvSpPr>
        <p:spPr>
          <a:xfrm>
            <a:off x="7677150" y="4133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完整 Debian、slim、Alpine 的基礎系統和工具量不同。</a:t>
            </a:r>
          </a:p>
        </p:txBody>
      </p:sp>
      <p:sp>
        <p:nvSpPr>
          <p:cNvPr id="26" name="">
            <a:extLst>
              <a:ext uri="{FF2B5EF4-FFF2-40B4-BE49-F238E27FC236}">
                <ns2:creationId id="{DD5FCD00-9537-4A6C-AC80-0316DEE7DD4E}"/>
              </a:ext>
            </a:extLst>
          </p:cNvPr>
          <p:cNvSpPr>
            <a:spLocks noGrp="1"/>
          </p:cNvSpPr>
          <p:nvPr/>
        </p:nvSpPr>
        <p:spPr>
          <a:xfrm>
            <a:off x="7239000" y="4933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27" name="">
            <a:extLst>
              <a:ext uri="{FF2B5EF4-FFF2-40B4-BE49-F238E27FC236}">
                <ns2:creationId id="{30478685-5388-407F-9F92-CDE3033DC7AC}"/>
              </a:ext>
            </a:extLst>
          </p:cNvPr>
          <p:cNvSpPr>
            <a:spLocks noGrp="1"/>
          </p:cNvSpPr>
          <p:nvPr/>
        </p:nvSpPr>
        <p:spPr>
          <a:xfrm>
            <a:off x="7239000" y="4962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">
            <a:extLst>
              <a:ext uri="{FF2B5EF4-FFF2-40B4-BE49-F238E27FC236}">
                <ns2:creationId id="{B70F5E21-752C-4CD1-A686-8D869C9D5165}"/>
              </a:ext>
            </a:extLst>
          </p:cNvPr>
          <p:cNvSpPr>
            <a:spLocks noGrp="1"/>
          </p:cNvSpPr>
          <p:nvPr/>
        </p:nvSpPr>
        <p:spPr>
          <a:xfrm>
            <a:off x="7677150" y="4914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沒變的 layer 可以重用</a:t>
            </a:r>
          </a:p>
        </p:txBody>
      </p:sp>
      <p:sp>
        <p:nvSpPr>
          <p:cNvPr id="29" name="">
            <a:extLst>
              <a:ext uri="{FF2B5EF4-FFF2-40B4-BE49-F238E27FC236}">
                <ns2:creationId id="{09EC7DAF-34A2-4954-A14D-C4C853796BD3}"/>
              </a:ext>
            </a:extLst>
          </p:cNvPr>
          <p:cNvSpPr>
            <a:spLocks noGrp="1"/>
          </p:cNvSpPr>
          <p:nvPr/>
        </p:nvSpPr>
        <p:spPr>
          <a:xfrm>
            <a:off x="7677150" y="5276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這會讓下載與之後建構更快；Dockerfile 課再深入 build cache。</a:t>
            </a:r>
          </a:p>
        </p:txBody>
      </p:sp>
      <p:sp>
        <p:nvSpPr>
          <p:cNvPr id="30" name="">
            <a:extLst>
              <a:ext uri="{FF2B5EF4-FFF2-40B4-BE49-F238E27FC236}">
                <ns2:creationId id="{D71B0908-5BAB-4787-9AA9-D6CFA93BB659}"/>
              </a:ext>
            </a:extLst>
          </p:cNvPr>
          <p:cNvSpPr>
            <a:spLocks noGrp="1"/>
          </p:cNvSpPr>
          <p:nvPr/>
        </p:nvSpPr>
        <p:spPr>
          <a:xfrm>
            <a:off x="1638300" y="5772150"/>
            <a:ext cx="89154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31" name="">
            <a:extLst>
              <a:ext uri="{FF2B5EF4-FFF2-40B4-BE49-F238E27FC236}">
                <ns2:creationId id="{752393F9-992A-467E-9EA0-F0F81EC5FB6B}"/>
              </a:ext>
            </a:extLst>
          </p:cNvPr>
          <p:cNvSpPr>
            <a:spLocks noGrp="1"/>
          </p:cNvSpPr>
          <p:nvPr/>
        </p:nvSpPr>
        <p:spPr>
          <a:xfrm>
            <a:off x="1962150" y="5857875"/>
            <a:ext cx="826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學生目標：理解 Image 是層疊出來的；不需要看懂每一個 layer ID 或建構歷史。</a:t>
            </a:r>
          </a:p>
        </p:txBody>
      </p:sp>
      <p:sp>
        <p:nvSpPr>
          <p:cNvPr id="32" name="">
            <a:extLst>
              <a:ext uri="{FF2B5EF4-FFF2-40B4-BE49-F238E27FC236}">
                <ns2:creationId id="{B1F564CA-8C23-48E7-AF8A-C39262D11AAF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>
              <a:ext uri="{FF2B5EF4-FFF2-40B4-BE49-F238E27FC236}">
                <ns2:creationId id="{53E67825-B183-4762-9337-DE1903EE608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34" name="">
            <a:extLst>
              <a:ext uri="{FF2B5EF4-FFF2-40B4-BE49-F238E27FC236}">
                <ns2:creationId id="{3F811F49-D2F4-4CB1-9D4B-5742BF5FF51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ns3:creationId val="1298833828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640D1CD-CDA7-49AE-82CD-AF418B9EB42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NGINX</a:t>
            </a:r>
          </a:p>
        </p:txBody>
      </p:sp>
      <p:sp>
        <p:nvSpPr>
          <p:cNvPr id="2" name="">
            <a:extLst>
              <a:ext uri="{FF2B5EF4-FFF2-40B4-BE49-F238E27FC236}">
                <ns2:creationId id="{98001B84-13CD-409D-8082-997BCC788F6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 Web 容器選 Nginx</a:t>
            </a:r>
          </a:p>
        </p:txBody>
      </p:sp>
      <p:sp>
        <p:nvSpPr>
          <p:cNvPr id="3" name="">
            <a:extLst>
              <a:ext uri="{FF2B5EF4-FFF2-40B4-BE49-F238E27FC236}">
                <ns2:creationId id="{6A4B6848-BB7F-4F08-AAB8-13E55F971E36}"/>
              </a:ext>
            </a:extLst>
          </p:cNvPr>
          <p:cNvSpPr>
            <a:spLocks noGrp="1"/>
          </p:cNvSpPr>
          <p:nvPr/>
        </p:nvSpPr>
        <p:spPr>
          <a:xfrm>
            <a:off x="723900" y="142875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Nginx 是常見的 Web 伺服器，適合用來示範「一行指令架起網站服務」。</a:t>
            </a:r>
          </a:p>
        </p:txBody>
      </p:sp>
      <p:sp>
        <p:nvSpPr>
          <p:cNvPr id="4" name="">
            <a:extLst>
              <a:ext uri="{FF2B5EF4-FFF2-40B4-BE49-F238E27FC236}">
                <ns2:creationId id="{38244D37-C80B-4973-A26E-C413CFF9DAC1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" name="">
            <a:extLst>
              <a:ext uri="{FF2B5EF4-FFF2-40B4-BE49-F238E27FC236}">
                <ns2:creationId id="{0A23DE97-73A6-443C-8876-BC2770DD3A29}"/>
              </a:ext>
            </a:extLst>
          </p:cNvPr>
          <p:cNvSpPr>
            <a:spLocks noGrp="1"/>
          </p:cNvSpPr>
          <p:nvPr/>
        </p:nvSpPr>
        <p:spPr>
          <a:xfrm>
            <a:off x="11049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靜態檔案伺服器</a:t>
            </a:r>
          </a:p>
        </p:txBody>
      </p:sp>
      <p:sp>
        <p:nvSpPr>
          <p:cNvPr id="6" name="">
            <a:extLst>
              <a:ext uri="{FF2B5EF4-FFF2-40B4-BE49-F238E27FC236}">
                <ns2:creationId id="{00D082FF-B72E-4DAC-85F9-0083BA4DFAC9}"/>
              </a:ext>
            </a:extLst>
          </p:cNvPr>
          <p:cNvSpPr>
            <a:spLocks noGrp="1"/>
          </p:cNvSpPr>
          <p:nvPr/>
        </p:nvSpPr>
        <p:spPr>
          <a:xfrm>
            <a:off x="11049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直接傳送 HTML、CSS、JS、圖片。</a:t>
            </a:r>
          </a:p>
        </p:txBody>
      </p:sp>
      <p:sp>
        <p:nvSpPr>
          <p:cNvPr id="7" name="">
            <a:extLst>
              <a:ext uri="{FF2B5EF4-FFF2-40B4-BE49-F238E27FC236}">
                <ns2:creationId id="{4CD39C5B-2286-42B6-BB40-27AB851FD7A4}"/>
              </a:ext>
            </a:extLst>
          </p:cNvPr>
          <p:cNvSpPr>
            <a:spLocks noGrp="1"/>
          </p:cNvSpPr>
          <p:nvPr/>
        </p:nvSpPr>
        <p:spPr>
          <a:xfrm>
            <a:off x="44958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AD70D078-7DB6-47B2-8BB2-0A0F2B99B8BA}"/>
              </a:ext>
            </a:extLst>
          </p:cNvPr>
          <p:cNvSpPr>
            <a:spLocks noGrp="1"/>
          </p:cNvSpPr>
          <p:nvPr/>
        </p:nvSpPr>
        <p:spPr>
          <a:xfrm>
            <a:off x="47244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反向代理</a:t>
            </a:r>
          </a:p>
        </p:txBody>
      </p:sp>
      <p:sp>
        <p:nvSpPr>
          <p:cNvPr id="9" name="">
            <a:extLst>
              <a:ext uri="{FF2B5EF4-FFF2-40B4-BE49-F238E27FC236}">
                <ns2:creationId id="{9DDC8595-5018-4955-ABB6-BB527C7C755D}"/>
              </a:ext>
            </a:extLst>
          </p:cNvPr>
          <p:cNvSpPr>
            <a:spLocks noGrp="1"/>
          </p:cNvSpPr>
          <p:nvPr/>
        </p:nvSpPr>
        <p:spPr>
          <a:xfrm>
            <a:off x="47244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把外部請求轉發給 Flask / Django。</a:t>
            </a:r>
          </a:p>
        </p:txBody>
      </p:sp>
      <p:sp>
        <p:nvSpPr>
          <p:cNvPr id="10" name="">
            <a:extLst>
              <a:ext uri="{FF2B5EF4-FFF2-40B4-BE49-F238E27FC236}">
                <ns2:creationId id="{87C79345-FFAD-4A07-BAF8-64717016D813}"/>
              </a:ext>
            </a:extLst>
          </p:cNvPr>
          <p:cNvSpPr>
            <a:spLocks noGrp="1"/>
          </p:cNvSpPr>
          <p:nvPr/>
        </p:nvSpPr>
        <p:spPr>
          <a:xfrm>
            <a:off x="81153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184C3A66-4B90-4F5E-B8A1-48B7D5A95425}"/>
              </a:ext>
            </a:extLst>
          </p:cNvPr>
          <p:cNvSpPr>
            <a:spLocks noGrp="1"/>
          </p:cNvSpPr>
          <p:nvPr/>
        </p:nvSpPr>
        <p:spPr>
          <a:xfrm>
            <a:off x="83439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負載均衡</a:t>
            </a:r>
          </a:p>
        </p:txBody>
      </p:sp>
      <p:sp>
        <p:nvSpPr>
          <p:cNvPr id="12" name="">
            <a:extLst>
              <a:ext uri="{FF2B5EF4-FFF2-40B4-BE49-F238E27FC236}">
                <ns2:creationId id="{EE83A5C8-8D68-4E0C-B01B-97DD2E353AE4}"/>
              </a:ext>
            </a:extLst>
          </p:cNvPr>
          <p:cNvSpPr>
            <a:spLocks noGrp="1"/>
          </p:cNvSpPr>
          <p:nvPr/>
        </p:nvSpPr>
        <p:spPr>
          <a:xfrm>
            <a:off x="83439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把大量請求分散到多台後端。</a:t>
            </a:r>
          </a:p>
        </p:txBody>
      </p:sp>
      <p:sp>
        <p:nvSpPr>
          <p:cNvPr id="13" name="">
            <a:extLst>
              <a:ext uri="{FF2B5EF4-FFF2-40B4-BE49-F238E27FC236}">
                <ns2:creationId id="{8CEADCA3-D156-43A4-AAE6-A4A7E0BBA73F}"/>
              </a:ext>
            </a:extLst>
          </p:cNvPr>
          <p:cNvSpPr>
            <a:spLocks noGrp="1"/>
          </p:cNvSpPr>
          <p:nvPr/>
        </p:nvSpPr>
        <p:spPr>
          <a:xfrm>
            <a:off x="2000250" y="4438650"/>
            <a:ext cx="8191500" cy="704850"/>
          </a:xfrm>
          <a:prstGeom prst="roundRect">
            <a:avLst>
              <a:gd name="adj" fmla="val 16216"/>
            </a:avLst>
          </a:prstGeom>
          <a:solidFill>
            <a:srgbClr val="0B1220"/>
          </a:solidFill>
          <a:ln w="0">
            <a:solidFill>
              <a:srgbClr val="0B1220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081CDC5D-0278-4538-BCF5-4A78B125B5BB}"/>
              </a:ext>
            </a:extLst>
          </p:cNvPr>
          <p:cNvSpPr>
            <a:spLocks noGrp="1"/>
          </p:cNvSpPr>
          <p:nvPr/>
        </p:nvSpPr>
        <p:spPr>
          <a:xfrm>
            <a:off x="2381250" y="461010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372"/>
          </a:bodyPr>
          <a:lstStyle/>
          <a:p>
            <a:pPr algn="ctr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使用者 -&gt; Nginx (80/443) -&gt; Flask (5000)</a:t>
            </a:r>
          </a:p>
        </p:txBody>
      </p:sp>
      <p:sp>
        <p:nvSpPr>
          <p:cNvPr id="15" name="">
            <a:extLst>
              <a:ext uri="{FF2B5EF4-FFF2-40B4-BE49-F238E27FC236}">
                <ns2:creationId id="{0853E42E-42DD-419E-9794-A51FD7ACAD2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EB3C9ACF-57B5-477A-AB7E-7460A1696C9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>
              <a:ext uri="{FF2B5EF4-FFF2-40B4-BE49-F238E27FC236}">
                <ns2:creationId id="{5F00B248-98AC-4340-8159-0B5B4526416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ns3:creationId val="1497110790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90901BB1-F80C-4F4D-9C07-77D63BC71FD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LOCALHOST VS PRODUCTION</a:t>
            </a:r>
          </a:p>
        </p:txBody>
      </p:sp>
      <p:sp>
        <p:nvSpPr>
          <p:cNvPr id="2" name="">
            <a:extLst>
              <a:ext uri="{FF2B5EF4-FFF2-40B4-BE49-F238E27FC236}">
                <ns2:creationId id="{8947107D-1F8A-4E55-8556-A770616B508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localhost 能跑，不代表網站已上線</a:t>
            </a:r>
          </a:p>
        </p:txBody>
      </p:sp>
      <p:sp>
        <p:nvSpPr>
          <p:cNvPr id="3" name="">
            <a:extLst>
              <a:ext uri="{FF2B5EF4-FFF2-40B4-BE49-F238E27FC236}">
                <ns2:creationId id="{7DFA5414-B436-4567-AD0E-C41CF8F2F938}"/>
              </a:ext>
            </a:extLst>
          </p:cNvPr>
          <p:cNvSpPr>
            <a:spLocks noGrp="1"/>
          </p:cNvSpPr>
          <p:nvPr/>
        </p:nvSpPr>
        <p:spPr>
          <a:xfrm>
            <a:off x="819150" y="1657350"/>
            <a:ext cx="4381500" cy="3219450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2B72802-9953-453B-B9DC-CDE45321741C}"/>
              </a:ext>
            </a:extLst>
          </p:cNvPr>
          <p:cNvSpPr>
            <a:spLocks noGrp="1"/>
          </p:cNvSpPr>
          <p:nvPr/>
        </p:nvSpPr>
        <p:spPr>
          <a:xfrm>
            <a:off x="1123950" y="19812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49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5" name="">
            <a:extLst>
              <a:ext uri="{FF2B5EF4-FFF2-40B4-BE49-F238E27FC236}">
                <ns2:creationId id="{44DCDBFD-7141-46FC-8095-F0CE798CE558}"/>
              </a:ext>
            </a:extLst>
          </p:cNvPr>
          <p:cNvSpPr>
            <a:spLocks noGrp="1"/>
          </p:cNvSpPr>
          <p:nvPr/>
        </p:nvSpPr>
        <p:spPr>
          <a:xfrm>
            <a:off x="1123950" y="2571750"/>
            <a:ext cx="3429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`http://localhost:5000`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只有你自己的電腦能連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電腦關機服務就中斷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通常沒有 HTTPS 與正式防護</a:t>
            </a:r>
          </a:p>
        </p:txBody>
      </p:sp>
      <p:sp>
        <p:nvSpPr>
          <p:cNvPr id="6" name="">
            <a:extLst>
              <a:ext uri="{FF2B5EF4-FFF2-40B4-BE49-F238E27FC236}">
                <ns2:creationId id="{DC644A6C-EBCB-4B9C-B66F-BF46274440B6}"/>
              </a:ext>
            </a:extLst>
          </p:cNvPr>
          <p:cNvSpPr>
            <a:spLocks noGrp="1"/>
          </p:cNvSpPr>
          <p:nvPr/>
        </p:nvSpPr>
        <p:spPr>
          <a:xfrm>
            <a:off x="5619750" y="3028950"/>
            <a:ext cx="952500" cy="4572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4B1F1D4-7F8A-4508-B12B-AB7A0A988AAF}"/>
              </a:ext>
            </a:extLst>
          </p:cNvPr>
          <p:cNvSpPr>
            <a:spLocks noGrp="1"/>
          </p:cNvSpPr>
          <p:nvPr/>
        </p:nvSpPr>
        <p:spPr>
          <a:xfrm>
            <a:off x="7010400" y="1657350"/>
            <a:ext cx="4381500" cy="3219450"/>
          </a:xfrm>
          <a:prstGeom prst="roundRect">
            <a:avLst>
              <a:gd name="adj" fmla="val 355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B849FC39-BF76-4AC4-9A54-0A0AEBB01FD6}"/>
              </a:ext>
            </a:extLst>
          </p:cNvPr>
          <p:cNvSpPr>
            <a:spLocks noGrp="1"/>
          </p:cNvSpPr>
          <p:nvPr/>
        </p:nvSpPr>
        <p:spPr>
          <a:xfrm>
            <a:off x="7315200" y="19812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49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正式上線</a:t>
            </a:r>
          </a:p>
        </p:txBody>
      </p:sp>
      <p:sp>
        <p:nvSpPr>
          <p:cNvPr id="9" name="">
            <a:extLst>
              <a:ext uri="{FF2B5EF4-FFF2-40B4-BE49-F238E27FC236}">
                <ns2:creationId id="{22B9E6EA-E570-42DA-8EF2-EF0377DBC051}"/>
              </a:ext>
            </a:extLst>
          </p:cNvPr>
          <p:cNvSpPr>
            <a:spLocks noGrp="1"/>
          </p:cNvSpPr>
          <p:nvPr/>
        </p:nvSpPr>
        <p:spPr>
          <a:xfrm>
            <a:off x="7315200" y="2571750"/>
            <a:ext cx="3429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網域與公開 IP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Web 伺服器處理流量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HTTPS 憑證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伺服器 24 小時不中斷</a:t>
            </a:r>
          </a:p>
        </p:txBody>
      </p:sp>
      <p:sp>
        <p:nvSpPr>
          <p:cNvPr id="10" name="">
            <a:extLst>
              <a:ext uri="{FF2B5EF4-FFF2-40B4-BE49-F238E27FC236}">
                <ns2:creationId id="{DD538B8E-1C20-42FD-83C8-9EA657D46A82}"/>
              </a:ext>
            </a:extLst>
          </p:cNvPr>
          <p:cNvSpPr>
            <a:spLocks noGrp="1"/>
          </p:cNvSpPr>
          <p:nvPr/>
        </p:nvSpPr>
        <p:spPr>
          <a:xfrm>
            <a:off x="1466850" y="5429250"/>
            <a:ext cx="925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這堂先把本機的 Nginx 跑起來，理解 Web 服務與 port mapping。</a:t>
            </a:r>
          </a:p>
        </p:txBody>
      </p:sp>
      <p:sp>
        <p:nvSpPr>
          <p:cNvPr id="11" name="">
            <a:extLst>
              <a:ext uri="{FF2B5EF4-FFF2-40B4-BE49-F238E27FC236}">
                <ns2:creationId id="{866A961F-FBC7-4FCA-99B4-54F7D8E79AF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5333EAA-C88F-4609-BB7A-8C67B8A6E25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>
              <a:ext uri="{FF2B5EF4-FFF2-40B4-BE49-F238E27FC236}">
                <ns2:creationId id="{95AC0DAD-C2E9-4178-BC87-CA262830EB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ns3:creationId val="1467912537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E9B2343-247C-4793-B7F8-8913EFDB2E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HOST, CONTAINER, PORT</a:t>
            </a:r>
          </a:p>
        </p:txBody>
      </p:sp>
      <p:sp>
        <p:nvSpPr>
          <p:cNvPr id="2" name="">
            <a:extLst>
              <a:ext uri="{FF2B5EF4-FFF2-40B4-BE49-F238E27FC236}">
                <ns2:creationId id="{9A4E0EC5-0946-4154-A5B4-0B94A5C54BC7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宿主機和容器是隔離的</a:t>
            </a:r>
          </a:p>
        </p:txBody>
      </p:sp>
      <p:sp>
        <p:nvSpPr>
          <p:cNvPr id="3" name="">
            <a:extLst>
              <a:ext uri="{FF2B5EF4-FFF2-40B4-BE49-F238E27FC236}">
                <ns2:creationId id="{549AD0CA-FDE5-4708-BA4C-C0AD075FD918}"/>
              </a:ext>
            </a:extLst>
          </p:cNvPr>
          <p:cNvSpPr>
            <a:spLocks noGrp="1"/>
          </p:cNvSpPr>
          <p:nvPr/>
        </p:nvSpPr>
        <p:spPr>
          <a:xfrm>
            <a:off x="1066800" y="1600200"/>
            <a:ext cx="10058400" cy="373380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492E34D9-09F4-4C31-BED0-91B96016C3DA}"/>
              </a:ext>
            </a:extLst>
          </p:cNvPr>
          <p:cNvSpPr>
            <a:spLocks noGrp="1"/>
          </p:cNvSpPr>
          <p:nvPr/>
        </p:nvSpPr>
        <p:spPr>
          <a:xfrm>
            <a:off x="1409700" y="19431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680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宿主機：你的 Windows 電腦</a:t>
            </a:r>
          </a:p>
        </p:txBody>
      </p:sp>
      <p:sp>
        <p:nvSpPr>
          <p:cNvPr id="5" name="">
            <a:extLst>
              <a:ext uri="{FF2B5EF4-FFF2-40B4-BE49-F238E27FC236}">
                <ns2:creationId id="{B5476A26-884A-4854-A394-5F4351F316F8}"/>
              </a:ext>
            </a:extLst>
          </p:cNvPr>
          <p:cNvSpPr>
            <a:spLocks noGrp="1"/>
          </p:cNvSpPr>
          <p:nvPr/>
        </p:nvSpPr>
        <p:spPr>
          <a:xfrm>
            <a:off x="2000250" y="2781300"/>
            <a:ext cx="2571750" cy="1390650"/>
          </a:xfrm>
          <a:prstGeom prst="roundRect">
            <a:avLst>
              <a:gd name="adj" fmla="val 8219"/>
            </a:avLst>
          </a:prstGeom>
          <a:solidFill>
            <a:srgbClr val="F6F8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66DBBDDC-B318-4A06-9A74-0070BFCD1353}"/>
              </a:ext>
            </a:extLst>
          </p:cNvPr>
          <p:cNvSpPr>
            <a:spLocks noGrp="1"/>
          </p:cNvSpPr>
          <p:nvPr/>
        </p:nvSpPr>
        <p:spPr>
          <a:xfrm>
            <a:off x="2152650" y="329565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localhost:8080</a:t>
            </a:r>
          </a:p>
        </p:txBody>
      </p:sp>
      <p:sp>
        <p:nvSpPr>
          <p:cNvPr id="7" name="">
            <a:extLst>
              <a:ext uri="{FF2B5EF4-FFF2-40B4-BE49-F238E27FC236}">
                <ns2:creationId id="{C5B6BC11-D7C7-4D23-AE12-1416DEBB960E}"/>
              </a:ext>
            </a:extLst>
          </p:cNvPr>
          <p:cNvSpPr>
            <a:spLocks noGrp="1"/>
          </p:cNvSpPr>
          <p:nvPr/>
        </p:nvSpPr>
        <p:spPr>
          <a:xfrm>
            <a:off x="5200650" y="3276600"/>
            <a:ext cx="1314450" cy="4191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919EC5F2-B3A7-4DE7-83E9-E7EF3E4BEF81}"/>
              </a:ext>
            </a:extLst>
          </p:cNvPr>
          <p:cNvSpPr>
            <a:spLocks noGrp="1"/>
          </p:cNvSpPr>
          <p:nvPr/>
        </p:nvSpPr>
        <p:spPr>
          <a:xfrm>
            <a:off x="7124700" y="2438400"/>
            <a:ext cx="2800350" cy="2038350"/>
          </a:xfrm>
          <a:prstGeom prst="roundRect">
            <a:avLst>
              <a:gd name="adj" fmla="val 6542"/>
            </a:avLst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A95B5DEE-D1D4-4ACA-A54C-79D9C06118F2}"/>
              </a:ext>
            </a:extLst>
          </p:cNvPr>
          <p:cNvSpPr>
            <a:spLocks noGrp="1"/>
          </p:cNvSpPr>
          <p:nvPr/>
        </p:nvSpPr>
        <p:spPr>
          <a:xfrm>
            <a:off x="7429500" y="27241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容器：Nginx</a:t>
            </a:r>
          </a:p>
        </p:txBody>
      </p:sp>
      <p:sp>
        <p:nvSpPr>
          <p:cNvPr id="10" name="">
            <a:extLst>
              <a:ext uri="{FF2B5EF4-FFF2-40B4-BE49-F238E27FC236}">
                <ns2:creationId id="{851308A5-6EFE-48FB-AF74-CAD23DE3DD79}"/>
              </a:ext>
            </a:extLst>
          </p:cNvPr>
          <p:cNvSpPr>
            <a:spLocks noGrp="1"/>
          </p:cNvSpPr>
          <p:nvPr/>
        </p:nvSpPr>
        <p:spPr>
          <a:xfrm>
            <a:off x="7772400" y="333375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144"/>
          </a:bodyPr>
          <a:lstStyle/>
          <a:p>
            <a:pPr algn="ctr">
              <a:lnSpc>
                <a:spcPct val="105000"/>
              </a:lnSpc>
              <a:buNone/>
              <a:def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80</a:t>
            </a:r>
          </a:p>
        </p:txBody>
      </p:sp>
      <p:sp>
        <p:nvSpPr>
          <p:cNvPr id="11" name="">
            <a:extLst>
              <a:ext uri="{FF2B5EF4-FFF2-40B4-BE49-F238E27FC236}">
                <ns2:creationId id="{DAB99C0B-6E1B-4BFB-A45E-571B4CF15445}"/>
              </a:ext>
            </a:extLst>
          </p:cNvPr>
          <p:cNvSpPr>
            <a:spLocks noGrp="1"/>
          </p:cNvSpPr>
          <p:nvPr/>
        </p:nvSpPr>
        <p:spPr>
          <a:xfrm>
            <a:off x="7658100" y="390525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ctr">
              <a:lnSpc>
                <a:spcPct val="105000"/>
              </a:lnSpc>
              <a:buNone/>
              <a:defRPr sz="1350" b="0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5CAD"/>
                </a:solidFill>
                <a:latin typeface="Aptos"/>
                <a:ea typeface="Aptos"/>
                <a:cs typeface="Aptos"/>
              </a:rPr>
              <a:t>容器內部 port</a:t>
            </a:r>
          </a:p>
        </p:txBody>
      </p:sp>
      <p:sp>
        <p:nvSpPr>
          <p:cNvPr id="12" name="">
            <a:extLst>
              <a:ext uri="{FF2B5EF4-FFF2-40B4-BE49-F238E27FC236}">
                <ns2:creationId id="{50325177-8E99-4824-9078-35B3354B9A81}"/>
              </a:ext>
            </a:extLst>
          </p:cNvPr>
          <p:cNvSpPr>
            <a:spLocks noGrp="1"/>
          </p:cNvSpPr>
          <p:nvPr/>
        </p:nvSpPr>
        <p:spPr>
          <a:xfrm>
            <a:off x="3790950" y="4762500"/>
            <a:ext cx="4610100" cy="914400"/>
          </a:xfrm>
          <a:prstGeom prst="roundRect">
            <a:avLst>
              <a:gd name="adj" fmla="val 1041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3" name="">
            <a:extLst>
              <a:ext uri="{FF2B5EF4-FFF2-40B4-BE49-F238E27FC236}">
                <ns2:creationId id="{58A9FDCF-CB53-472E-8A2C-3DBC81F9C069}"/>
              </a:ext>
            </a:extLst>
          </p:cNvPr>
          <p:cNvSpPr>
            <a:spLocks noGrp="1"/>
          </p:cNvSpPr>
          <p:nvPr/>
        </p:nvSpPr>
        <p:spPr>
          <a:xfrm>
            <a:off x="396240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F5514A67-8BB4-44B0-9432-0D6A9C956B7B}"/>
              </a:ext>
            </a:extLst>
          </p:cNvPr>
          <p:cNvSpPr>
            <a:spLocks noGrp="1"/>
          </p:cNvSpPr>
          <p:nvPr/>
        </p:nvSpPr>
        <p:spPr>
          <a:xfrm>
            <a:off x="413385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8BE62B17-F2D9-4DAE-AFA9-1301C07469D3}"/>
              </a:ext>
            </a:extLst>
          </p:cNvPr>
          <p:cNvSpPr>
            <a:spLocks noGrp="1"/>
          </p:cNvSpPr>
          <p:nvPr/>
        </p:nvSpPr>
        <p:spPr>
          <a:xfrm>
            <a:off x="430530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4AFEEA30-3155-409D-B55C-6B678CCE2C2F}"/>
              </a:ext>
            </a:extLst>
          </p:cNvPr>
          <p:cNvSpPr>
            <a:spLocks noGrp="1"/>
          </p:cNvSpPr>
          <p:nvPr/>
        </p:nvSpPr>
        <p:spPr>
          <a:xfrm>
            <a:off x="4000500" y="5181600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373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-p 8080:80</a:t>
            </a:r>
          </a:p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主機:容器</a:t>
            </a:r>
          </a:p>
        </p:txBody>
      </p:sp>
      <p:sp>
        <p:nvSpPr>
          <p:cNvPr id="17" name="">
            <a:extLst>
              <a:ext uri="{FF2B5EF4-FFF2-40B4-BE49-F238E27FC236}">
                <ns2:creationId id="{D6FFBECA-02A5-4167-849F-556DAEE5501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7009DE75-F51E-4EF7-9885-1D250844A05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>
              <a:ext uri="{FF2B5EF4-FFF2-40B4-BE49-F238E27FC236}">
                <ns2:creationId id="{5057E42B-BAAD-4263-A4AB-FDEBFD09925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085389725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0F0B875-88F9-4C42-81A5-7F93AC5E0F8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FIRST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890102B7-7679-4B33-B651-6D6D48A38B8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一行指令跑起 Nginx</a:t>
            </a:r>
          </a:p>
        </p:txBody>
      </p:sp>
      <p:sp>
        <p:nvSpPr>
          <p:cNvPr id="3" name="">
            <a:extLst>
              <a:ext uri="{FF2B5EF4-FFF2-40B4-BE49-F238E27FC236}">
                <ns2:creationId id="{BCF5E232-9EA6-4FD6-A86F-8FAE676D1BA8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106299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46ADA78-404C-4011-A4BA-8FCD2B952621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3C9E834-9B1D-4859-A1AA-66BC5B26B766}"/>
              </a:ext>
            </a:extLst>
          </p:cNvPr>
          <p:cNvSpPr>
            <a:spLocks noGrp="1"/>
          </p:cNvSpPr>
          <p:nvPr/>
        </p:nvSpPr>
        <p:spPr>
          <a:xfrm>
            <a:off x="11239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4D407C8-0DEF-4080-8FBE-B4DD8F5A30E5}"/>
              </a:ext>
            </a:extLst>
          </p:cNvPr>
          <p:cNvSpPr>
            <a:spLocks noGrp="1"/>
          </p:cNvSpPr>
          <p:nvPr/>
        </p:nvSpPr>
        <p:spPr>
          <a:xfrm>
            <a:off x="12954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0B04501C-FAD7-4105-90FD-069C6B6F5E53}"/>
              </a:ext>
            </a:extLst>
          </p:cNvPr>
          <p:cNvSpPr>
            <a:spLocks noGrp="1"/>
          </p:cNvSpPr>
          <p:nvPr/>
        </p:nvSpPr>
        <p:spPr>
          <a:xfrm>
            <a:off x="990600" y="2114550"/>
            <a:ext cx="10210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</p:txBody>
      </p:sp>
      <p:sp>
        <p:nvSpPr>
          <p:cNvPr id="8" name="">
            <a:extLst>
              <a:ext uri="{FF2B5EF4-FFF2-40B4-BE49-F238E27FC236}">
                <ns2:creationId id="{1222C580-33BF-4BBA-BF01-53F32CE5642C}"/>
              </a:ext>
            </a:extLst>
          </p:cNvPr>
          <p:cNvSpPr>
            <a:spLocks noGrp="1"/>
          </p:cNvSpPr>
          <p:nvPr/>
        </p:nvSpPr>
        <p:spPr>
          <a:xfrm>
            <a:off x="6667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8EB12A3-9B5B-4103-B723-8EFF93CB18AE}"/>
              </a:ext>
            </a:extLst>
          </p:cNvPr>
          <p:cNvSpPr>
            <a:spLocks noGrp="1"/>
          </p:cNvSpPr>
          <p:nvPr/>
        </p:nvSpPr>
        <p:spPr>
          <a:xfrm>
            <a:off x="8191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docker run</a:t>
            </a:r>
          </a:p>
        </p:txBody>
      </p:sp>
      <p:sp>
        <p:nvSpPr>
          <p:cNvPr id="10" name="">
            <a:extLst>
              <a:ext uri="{FF2B5EF4-FFF2-40B4-BE49-F238E27FC236}">
                <ns2:creationId id="{30201A3B-4E79-4AD9-BFDB-B9E9BD4E9BF1}"/>
              </a:ext>
            </a:extLst>
          </p:cNvPr>
          <p:cNvSpPr>
            <a:spLocks noGrp="1"/>
          </p:cNvSpPr>
          <p:nvPr/>
        </p:nvSpPr>
        <p:spPr>
          <a:xfrm>
            <a:off x="8191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Image 建立並啟動 Container</a:t>
            </a:r>
          </a:p>
        </p:txBody>
      </p:sp>
      <p:sp>
        <p:nvSpPr>
          <p:cNvPr id="11" name="">
            <a:extLst>
              <a:ext uri="{FF2B5EF4-FFF2-40B4-BE49-F238E27FC236}">
                <ns2:creationId id="{F82BFA7B-5552-4ADD-A27E-E5292A7DB1F3}"/>
              </a:ext>
            </a:extLst>
          </p:cNvPr>
          <p:cNvSpPr>
            <a:spLocks noGrp="1"/>
          </p:cNvSpPr>
          <p:nvPr/>
        </p:nvSpPr>
        <p:spPr>
          <a:xfrm>
            <a:off x="29146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F3C7A9E7-04C0-4243-A1D4-99F06A17E9E7}"/>
              </a:ext>
            </a:extLst>
          </p:cNvPr>
          <p:cNvSpPr>
            <a:spLocks noGrp="1"/>
          </p:cNvSpPr>
          <p:nvPr/>
        </p:nvSpPr>
        <p:spPr>
          <a:xfrm>
            <a:off x="30670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3" name="">
            <a:extLst>
              <a:ext uri="{FF2B5EF4-FFF2-40B4-BE49-F238E27FC236}">
                <ns2:creationId id="{8C99FF07-705D-437A-AA2D-E8BDE073B271}"/>
              </a:ext>
            </a:extLst>
          </p:cNvPr>
          <p:cNvSpPr>
            <a:spLocks noGrp="1"/>
          </p:cNvSpPr>
          <p:nvPr/>
        </p:nvSpPr>
        <p:spPr>
          <a:xfrm>
            <a:off x="30670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 Web 伺服器</a:t>
            </a:r>
          </a:p>
        </p:txBody>
      </p:sp>
      <p:sp>
        <p:nvSpPr>
          <p:cNvPr id="14" name="">
            <a:extLst>
              <a:ext uri="{FF2B5EF4-FFF2-40B4-BE49-F238E27FC236}">
                <ns2:creationId id="{D3669DB9-5F81-4429-9909-92C80C20EE4B}"/>
              </a:ext>
            </a:extLst>
          </p:cNvPr>
          <p:cNvSpPr>
            <a:spLocks noGrp="1"/>
          </p:cNvSpPr>
          <p:nvPr/>
        </p:nvSpPr>
        <p:spPr>
          <a:xfrm>
            <a:off x="51625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C2C2E766-8D96-4AD4-B6F7-46ACF639CD4E}"/>
              </a:ext>
            </a:extLst>
          </p:cNvPr>
          <p:cNvSpPr>
            <a:spLocks noGrp="1"/>
          </p:cNvSpPr>
          <p:nvPr/>
        </p:nvSpPr>
        <p:spPr>
          <a:xfrm>
            <a:off x="53149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 my-web</a:t>
            </a:r>
          </a:p>
        </p:txBody>
      </p:sp>
      <p:sp>
        <p:nvSpPr>
          <p:cNvPr id="16" name="">
            <a:extLst>
              <a:ext uri="{FF2B5EF4-FFF2-40B4-BE49-F238E27FC236}">
                <ns2:creationId id="{7E660590-A31E-47C8-9B3E-3E426B0DF3CF}"/>
              </a:ext>
            </a:extLst>
          </p:cNvPr>
          <p:cNvSpPr>
            <a:spLocks noGrp="1"/>
          </p:cNvSpPr>
          <p:nvPr/>
        </p:nvSpPr>
        <p:spPr>
          <a:xfrm>
            <a:off x="53149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幫容器取名字，後續指令好操作</a:t>
            </a:r>
          </a:p>
        </p:txBody>
      </p:sp>
      <p:sp>
        <p:nvSpPr>
          <p:cNvPr id="17" name="">
            <a:extLst>
              <a:ext uri="{FF2B5EF4-FFF2-40B4-BE49-F238E27FC236}">
                <ns2:creationId id="{0586563C-BD9B-4550-AA2E-E19061308738}"/>
              </a:ext>
            </a:extLst>
          </p:cNvPr>
          <p:cNvSpPr>
            <a:spLocks noGrp="1"/>
          </p:cNvSpPr>
          <p:nvPr/>
        </p:nvSpPr>
        <p:spPr>
          <a:xfrm>
            <a:off x="74104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8ED621C3-3260-468F-B528-AEB42E2D8298}"/>
              </a:ext>
            </a:extLst>
          </p:cNvPr>
          <p:cNvSpPr>
            <a:spLocks noGrp="1"/>
          </p:cNvSpPr>
          <p:nvPr/>
        </p:nvSpPr>
        <p:spPr>
          <a:xfrm>
            <a:off x="75628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8080:80</a:t>
            </a:r>
          </a:p>
        </p:txBody>
      </p:sp>
      <p:sp>
        <p:nvSpPr>
          <p:cNvPr id="19" name="">
            <a:extLst>
              <a:ext uri="{FF2B5EF4-FFF2-40B4-BE49-F238E27FC236}">
                <ns2:creationId id="{C4618F41-0AFC-4278-8462-00B4BD7C1A31}"/>
              </a:ext>
            </a:extLst>
          </p:cNvPr>
          <p:cNvSpPr>
            <a:spLocks noGrp="1"/>
          </p:cNvSpPr>
          <p:nvPr/>
        </p:nvSpPr>
        <p:spPr>
          <a:xfrm>
            <a:off x="75628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8080 對到容器 80</a:t>
            </a:r>
          </a:p>
        </p:txBody>
      </p:sp>
      <p:sp>
        <p:nvSpPr>
          <p:cNvPr id="20" name="">
            <a:extLst>
              <a:ext uri="{FF2B5EF4-FFF2-40B4-BE49-F238E27FC236}">
                <ns2:creationId id="{E723167B-AC4E-4DE8-B935-C5D92D0EA4F6}"/>
              </a:ext>
            </a:extLst>
          </p:cNvPr>
          <p:cNvSpPr>
            <a:spLocks noGrp="1"/>
          </p:cNvSpPr>
          <p:nvPr/>
        </p:nvSpPr>
        <p:spPr>
          <a:xfrm>
            <a:off x="96583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" name="">
            <a:extLst>
              <a:ext uri="{FF2B5EF4-FFF2-40B4-BE49-F238E27FC236}">
                <ns2:creationId id="{6A5C58FF-D156-478B-AB7D-D00FF68425B3}"/>
              </a:ext>
            </a:extLst>
          </p:cNvPr>
          <p:cNvSpPr>
            <a:spLocks noGrp="1"/>
          </p:cNvSpPr>
          <p:nvPr/>
        </p:nvSpPr>
        <p:spPr>
          <a:xfrm>
            <a:off x="98107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nginx</a:t>
            </a:r>
          </a:p>
        </p:txBody>
      </p:sp>
      <p:sp>
        <p:nvSpPr>
          <p:cNvPr id="22" name="">
            <a:extLst>
              <a:ext uri="{FF2B5EF4-FFF2-40B4-BE49-F238E27FC236}">
                <ns2:creationId id="{4303536D-8C9D-4A72-B470-06C7107EBBE7}"/>
              </a:ext>
            </a:extLst>
          </p:cNvPr>
          <p:cNvSpPr>
            <a:spLocks noGrp="1"/>
          </p:cNvSpPr>
          <p:nvPr/>
        </p:nvSpPr>
        <p:spPr>
          <a:xfrm>
            <a:off x="98107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要使用的 Image 名稱</a:t>
            </a:r>
          </a:p>
        </p:txBody>
      </p:sp>
      <p:sp>
        <p:nvSpPr>
          <p:cNvPr id="23" name="">
            <a:extLst>
              <a:ext uri="{FF2B5EF4-FFF2-40B4-BE49-F238E27FC236}">
                <ns2:creationId id="{9AA0306F-7D1B-4E07-B6FB-6DCB4F6FEB1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72B5EFB7-35A2-4E3F-97FD-0F0F9F05C9D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>
              <a:ext uri="{FF2B5EF4-FFF2-40B4-BE49-F238E27FC236}">
                <ns2:creationId id="{D9B05121-9523-42FF-A662-0AC657C9BD3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575777130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CAA409E-CE05-4C5E-ADC8-C18832D504A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BROWSER CHECK</a:t>
            </a:r>
          </a:p>
        </p:txBody>
      </p:sp>
      <p:sp>
        <p:nvSpPr>
          <p:cNvPr id="2" name="">
            <a:extLst>
              <a:ext uri="{FF2B5EF4-FFF2-40B4-BE49-F238E27FC236}">
                <ns2:creationId id="{79A49600-EA76-4FC1-A448-29A2F53CA2E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成功訊號：瀏覽器看到 Welcome to nginx!</a:t>
            </a:r>
          </a:p>
        </p:txBody>
      </p:sp>
      <p:sp>
        <p:nvSpPr>
          <p:cNvPr id="3" name="">
            <a:extLst>
              <a:ext uri="{FF2B5EF4-FFF2-40B4-BE49-F238E27FC236}">
                <ns2:creationId id="{9F370196-28A1-454D-A8E6-1C3772C6D1ED}"/>
              </a:ext>
            </a:extLst>
          </p:cNvPr>
          <p:cNvSpPr>
            <a:spLocks noGrp="1"/>
          </p:cNvSpPr>
          <p:nvPr/>
        </p:nvSpPr>
        <p:spPr>
          <a:xfrm>
            <a:off x="2514600" y="1638300"/>
            <a:ext cx="71628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333BD5A-864B-4D98-9E4C-0BBA5D5F551C}"/>
              </a:ext>
            </a:extLst>
          </p:cNvPr>
          <p:cNvSpPr>
            <a:spLocks noGrp="1"/>
          </p:cNvSpPr>
          <p:nvPr/>
        </p:nvSpPr>
        <p:spPr>
          <a:xfrm>
            <a:off x="2686050" y="1800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44D0D86-8670-46C1-8F9A-8378E225AAE2}"/>
              </a:ext>
            </a:extLst>
          </p:cNvPr>
          <p:cNvSpPr>
            <a:spLocks noGrp="1"/>
          </p:cNvSpPr>
          <p:nvPr/>
        </p:nvSpPr>
        <p:spPr>
          <a:xfrm>
            <a:off x="2857500" y="1800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8B4D9DC6-9A33-4EC6-969A-C2B3791CD1A6}"/>
              </a:ext>
            </a:extLst>
          </p:cNvPr>
          <p:cNvSpPr>
            <a:spLocks noGrp="1"/>
          </p:cNvSpPr>
          <p:nvPr/>
        </p:nvSpPr>
        <p:spPr>
          <a:xfrm>
            <a:off x="3028950" y="1800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2768836-6ED9-448B-915E-6F349126A820}"/>
              </a:ext>
            </a:extLst>
          </p:cNvPr>
          <p:cNvSpPr>
            <a:spLocks noGrp="1"/>
          </p:cNvSpPr>
          <p:nvPr/>
        </p:nvSpPr>
        <p:spPr>
          <a:xfrm>
            <a:off x="2724150" y="2057400"/>
            <a:ext cx="67437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4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4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http://localhost:8080</a:t>
            </a:r>
          </a:p>
        </p:txBody>
      </p:sp>
      <p:sp>
        <p:nvSpPr>
          <p:cNvPr id="8" name="">
            <a:extLst>
              <a:ext uri="{FF2B5EF4-FFF2-40B4-BE49-F238E27FC236}">
                <ns2:creationId id="{C543CBF9-E613-4335-B3ED-8C9B10512C55}"/>
              </a:ext>
            </a:extLst>
          </p:cNvPr>
          <p:cNvSpPr>
            <a:spLocks noGrp="1"/>
          </p:cNvSpPr>
          <p:nvPr/>
        </p:nvSpPr>
        <p:spPr>
          <a:xfrm>
            <a:off x="2000250" y="3162300"/>
            <a:ext cx="8191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F5C6897-D7D2-4E57-B20F-E7ADB998834D}"/>
              </a:ext>
            </a:extLst>
          </p:cNvPr>
          <p:cNvSpPr>
            <a:spLocks noGrp="1"/>
          </p:cNvSpPr>
          <p:nvPr/>
        </p:nvSpPr>
        <p:spPr>
          <a:xfrm>
            <a:off x="2381250" y="3562350"/>
            <a:ext cx="742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580"/>
          </a:bodyPr>
          <a:lstStyle/>
          <a:p>
            <a:pPr algn="ctr">
              <a:lnSpc>
                <a:spcPct val="105000"/>
              </a:lnSpc>
              <a:buNone/>
              <a:def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Welcome to nginx!</a:t>
            </a:r>
          </a:p>
        </p:txBody>
      </p:sp>
      <p:sp>
        <p:nvSpPr>
          <p:cNvPr id="10" name="">
            <a:extLst>
              <a:ext uri="{FF2B5EF4-FFF2-40B4-BE49-F238E27FC236}">
                <ns2:creationId id="{D8FE8F9F-ECCF-4A01-B472-F63475F6FEB9}"/>
              </a:ext>
            </a:extLst>
          </p:cNvPr>
          <p:cNvSpPr>
            <a:spLocks noGrp="1"/>
          </p:cNvSpPr>
          <p:nvPr/>
        </p:nvSpPr>
        <p:spPr>
          <a:xfrm>
            <a:off x="2381250" y="4191000"/>
            <a:ext cx="7429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你剛剛用一行指令建立了一個正在運行的 Web 伺服器。</a:t>
            </a:r>
          </a:p>
        </p:txBody>
      </p:sp>
      <p:sp>
        <p:nvSpPr>
          <p:cNvPr id="11" name="">
            <a:extLst>
              <a:ext uri="{FF2B5EF4-FFF2-40B4-BE49-F238E27FC236}">
                <ns2:creationId id="{FB51D968-F2D8-4B6D-AFFF-B4ACC7E3DFD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8976A5F-7DD3-4A6D-93C6-B3A6A89E9B6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>
              <a:ext uri="{FF2B5EF4-FFF2-40B4-BE49-F238E27FC236}">
                <ns2:creationId id="{98A59756-AC03-4A36-BD02-3D8FF9CA931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ns3:creationId val="791865755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3884C80-27E7-4DF1-A847-3C7EAE8B31F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EXEC</a:t>
            </a:r>
          </a:p>
        </p:txBody>
      </p:sp>
      <p:sp>
        <p:nvSpPr>
          <p:cNvPr id="2" name="">
            <a:extLst>
              <a:ext uri="{FF2B5EF4-FFF2-40B4-BE49-F238E27FC236}">
                <ns2:creationId id="{94079223-5DA5-45C5-A0A0-2F497DC39BE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進入容器，理解檔案系統隔離</a:t>
            </a:r>
          </a:p>
        </p:txBody>
      </p:sp>
      <p:sp>
        <p:nvSpPr>
          <p:cNvPr id="3" name="">
            <a:extLst>
              <a:ext uri="{FF2B5EF4-FFF2-40B4-BE49-F238E27FC236}">
                <ns2:creationId id="{237CF8C7-B49E-4650-B910-8B38FF1B332B}"/>
              </a:ext>
            </a:extLst>
          </p:cNvPr>
          <p:cNvSpPr>
            <a:spLocks noGrp="1"/>
          </p:cNvSpPr>
          <p:nvPr/>
        </p:nvSpPr>
        <p:spPr>
          <a:xfrm>
            <a:off x="781050" y="1543050"/>
            <a:ext cx="4953000" cy="3676650"/>
          </a:xfrm>
          <a:prstGeom prst="roundRect">
            <a:avLst>
              <a:gd name="adj" fmla="val 259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ABB16EC9-B22F-4056-A1A7-9EED172DACC8}"/>
              </a:ext>
            </a:extLst>
          </p:cNvPr>
          <p:cNvSpPr>
            <a:spLocks noGrp="1"/>
          </p:cNvSpPr>
          <p:nvPr/>
        </p:nvSpPr>
        <p:spPr>
          <a:xfrm>
            <a:off x="952500" y="1704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7E91711-1E54-4371-9D3F-9305972C9D40}"/>
              </a:ext>
            </a:extLst>
          </p:cNvPr>
          <p:cNvSpPr>
            <a:spLocks noGrp="1"/>
          </p:cNvSpPr>
          <p:nvPr/>
        </p:nvSpPr>
        <p:spPr>
          <a:xfrm>
            <a:off x="1123950" y="1704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F75D37DE-FBE8-4A9A-AA88-06CDE2ABF7F6}"/>
              </a:ext>
            </a:extLst>
          </p:cNvPr>
          <p:cNvSpPr>
            <a:spLocks noGrp="1"/>
          </p:cNvSpPr>
          <p:nvPr/>
        </p:nvSpPr>
        <p:spPr>
          <a:xfrm>
            <a:off x="1295400" y="1704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3D6C357-E1A7-49E4-B932-B064F143A7FB}"/>
              </a:ext>
            </a:extLst>
          </p:cNvPr>
          <p:cNvSpPr>
            <a:spLocks noGrp="1"/>
          </p:cNvSpPr>
          <p:nvPr/>
        </p:nvSpPr>
        <p:spPr>
          <a:xfrm>
            <a:off x="990600" y="1962150"/>
            <a:ext cx="45339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sh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>
              <a:ext uri="{FF2B5EF4-FFF2-40B4-BE49-F238E27FC236}">
                <ns2:creationId id="{47EC9449-7A61-447C-AC3A-496B252CC0EE}"/>
              </a:ext>
            </a:extLst>
          </p:cNvPr>
          <p:cNvSpPr>
            <a:spLocks noGrp="1"/>
          </p:cNvSpPr>
          <p:nvPr/>
        </p:nvSpPr>
        <p:spPr>
          <a:xfrm>
            <a:off x="6419850" y="1638300"/>
            <a:ext cx="4362450" cy="3219450"/>
          </a:xfrm>
          <a:prstGeom prst="roundRect">
            <a:avLst>
              <a:gd name="adj" fmla="val 4142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119C80B-31D6-41BD-A75F-84305AB57EA6}"/>
              </a:ext>
            </a:extLst>
          </p:cNvPr>
          <p:cNvSpPr>
            <a:spLocks noGrp="1"/>
          </p:cNvSpPr>
          <p:nvPr/>
        </p:nvSpPr>
        <p:spPr>
          <a:xfrm>
            <a:off x="6800850" y="2247900"/>
            <a:ext cx="36004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6000"/>
              </a:lnSpc>
              <a:buNone/>
              <a:defRPr sz="21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/usr/share/nginx/html/index.html</a:t>
            </a:r>
          </a:p>
        </p:txBody>
      </p:sp>
      <p:sp>
        <p:nvSpPr>
          <p:cNvPr id="10" name="">
            <a:extLst>
              <a:ext uri="{FF2B5EF4-FFF2-40B4-BE49-F238E27FC236}">
                <ns2:creationId id="{0E94F034-D9CD-4F2C-A288-92F1826265D5}"/>
              </a:ext>
            </a:extLst>
          </p:cNvPr>
          <p:cNvSpPr>
            <a:spLocks noGrp="1"/>
          </p:cNvSpPr>
          <p:nvPr/>
        </p:nvSpPr>
        <p:spPr>
          <a:xfrm>
            <a:off x="6877050" y="3257550"/>
            <a:ext cx="3429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這就是剛才瀏覽器看到的歡迎頁面。容器內部有自己的檔案系統，和宿主機分開。</a:t>
            </a:r>
          </a:p>
        </p:txBody>
      </p:sp>
      <p:sp>
        <p:nvSpPr>
          <p:cNvPr id="11" name="">
            <a:extLst>
              <a:ext uri="{FF2B5EF4-FFF2-40B4-BE49-F238E27FC236}">
                <ns2:creationId id="{5DF0084B-D2FA-4B19-9458-21DCD443849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40D6D50C-EC23-491F-AFF7-A632F9C5D91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>
              <a:ext uri="{FF2B5EF4-FFF2-40B4-BE49-F238E27FC236}">
                <ns2:creationId id="{90B06481-8D38-4633-8F83-E6CA0BF449E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ns3:creationId val="1209346954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785A105-2B81-4B56-AE1D-EA18C41AC84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>
              <a:ext uri="{FF2B5EF4-FFF2-40B4-BE49-F238E27FC236}">
                <ns2:creationId id="{6CDB3B6A-D03E-46B2-B8A4-08F608B7F1A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P2：啟動 Nginx 並自訂歡迎頁</a:t>
            </a:r>
          </a:p>
        </p:txBody>
      </p:sp>
      <p:sp>
        <p:nvSpPr>
          <p:cNvPr id="3" name="">
            <a:extLst>
              <a:ext uri="{FF2B5EF4-FFF2-40B4-BE49-F238E27FC236}">
                <ns2:creationId id="{F5065FCA-FFE9-4F18-A159-749E7EA57CF9}"/>
              </a:ext>
            </a:extLst>
          </p:cNvPr>
          <p:cNvSpPr>
            <a:spLocks noGrp="1"/>
          </p:cNvSpPr>
          <p:nvPr/>
        </p:nvSpPr>
        <p:spPr>
          <a:xfrm>
            <a:off x="952500" y="1733550"/>
            <a:ext cx="457200" cy="45720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5ED22F91-AE3E-4429-947D-2A20D3E7CEB1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71"/>
          </a:bodyPr>
          <a:lstStyle/>
          <a:p>
            <a:pPr algn="ct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654EEF8C-527C-4AFC-97B9-453F2A2C1957}"/>
              </a:ext>
            </a:extLst>
          </p:cNvPr>
          <p:cNvSpPr>
            <a:spLocks noGrp="1"/>
          </p:cNvSpPr>
          <p:nvPr/>
        </p:nvSpPr>
        <p:spPr>
          <a:xfrm>
            <a:off x="1600200" y="15811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my-html</a:t>
            </a:r>
          </a:p>
        </p:txBody>
      </p:sp>
      <p:sp>
        <p:nvSpPr>
          <p:cNvPr id="6" name="">
            <a:extLst>
              <a:ext uri="{FF2B5EF4-FFF2-40B4-BE49-F238E27FC236}">
                <ns2:creationId id="{47281EF3-17F6-4C62-8598-A960C19B733C}"/>
              </a:ext>
            </a:extLst>
          </p:cNvPr>
          <p:cNvSpPr>
            <a:spLocks noGrp="1"/>
          </p:cNvSpPr>
          <p:nvPr/>
        </p:nvSpPr>
        <p:spPr>
          <a:xfrm>
            <a:off x="1600200" y="1962150"/>
            <a:ext cx="3905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資料夾內放 index.html，內容寫自己的名字。</a:t>
            </a:r>
          </a:p>
        </p:txBody>
      </p:sp>
      <p:sp>
        <p:nvSpPr>
          <p:cNvPr id="7" name="">
            <a:extLst>
              <a:ext uri="{FF2B5EF4-FFF2-40B4-BE49-F238E27FC236}">
                <ns2:creationId id="{BC6BBCFB-6B21-46DD-BF50-32EF745D6392}"/>
              </a:ext>
            </a:extLst>
          </p:cNvPr>
          <p:cNvSpPr>
            <a:spLocks noGrp="1"/>
          </p:cNvSpPr>
          <p:nvPr/>
        </p:nvSpPr>
        <p:spPr>
          <a:xfrm>
            <a:off x="6496050" y="1733550"/>
            <a:ext cx="457200" cy="45720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E52B7A77-9158-4F1B-B9E9-33BCF94B29DD}"/>
              </a:ext>
            </a:extLst>
          </p:cNvPr>
          <p:cNvSpPr>
            <a:spLocks noGrp="1"/>
          </p:cNvSpPr>
          <p:nvPr/>
        </p:nvSpPr>
        <p:spPr>
          <a:xfrm>
            <a:off x="6496050" y="1857375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71"/>
          </a:bodyPr>
          <a:lstStyle/>
          <a:p>
            <a:pPr algn="ct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9" name="">
            <a:extLst>
              <a:ext uri="{FF2B5EF4-FFF2-40B4-BE49-F238E27FC236}">
                <ns2:creationId id="{B3910725-E66C-410D-955D-E5ABA6437A68}"/>
              </a:ext>
            </a:extLst>
          </p:cNvPr>
          <p:cNvSpPr>
            <a:spLocks noGrp="1"/>
          </p:cNvSpPr>
          <p:nvPr/>
        </p:nvSpPr>
        <p:spPr>
          <a:xfrm>
            <a:off x="7143750" y="15811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掛載到 Nginx</a:t>
            </a:r>
          </a:p>
        </p:txBody>
      </p:sp>
      <p:sp>
        <p:nvSpPr>
          <p:cNvPr id="10" name="">
            <a:extLst>
              <a:ext uri="{FF2B5EF4-FFF2-40B4-BE49-F238E27FC236}">
                <ns2:creationId id="{150B8307-1F3D-4DA2-870E-483B88B6C864}"/>
              </a:ext>
            </a:extLst>
          </p:cNvPr>
          <p:cNvSpPr>
            <a:spLocks noGrp="1"/>
          </p:cNvSpPr>
          <p:nvPr/>
        </p:nvSpPr>
        <p:spPr>
          <a:xfrm>
            <a:off x="7143750" y="1962150"/>
            <a:ext cx="3905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my-html 掛到 /usr/share/nginx/html。</a:t>
            </a:r>
          </a:p>
        </p:txBody>
      </p:sp>
      <p:sp>
        <p:nvSpPr>
          <p:cNvPr id="11" name="">
            <a:extLst>
              <a:ext uri="{FF2B5EF4-FFF2-40B4-BE49-F238E27FC236}">
                <ns2:creationId id="{8FE36071-EFC3-4BB2-9935-32567E6F6670}"/>
              </a:ext>
            </a:extLst>
          </p:cNvPr>
          <p:cNvSpPr>
            <a:spLocks noGrp="1"/>
          </p:cNvSpPr>
          <p:nvPr/>
        </p:nvSpPr>
        <p:spPr>
          <a:xfrm>
            <a:off x="952500" y="3486150"/>
            <a:ext cx="457200" cy="4572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9057127-868A-4BDB-9D8B-5DE6B72DBC54}"/>
              </a:ext>
            </a:extLst>
          </p:cNvPr>
          <p:cNvSpPr>
            <a:spLocks noGrp="1"/>
          </p:cNvSpPr>
          <p:nvPr/>
        </p:nvSpPr>
        <p:spPr>
          <a:xfrm>
            <a:off x="952500" y="3609975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71"/>
          </a:bodyPr>
          <a:lstStyle/>
          <a:p>
            <a:pPr algn="ct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3" name="">
            <a:extLst>
              <a:ext uri="{FF2B5EF4-FFF2-40B4-BE49-F238E27FC236}">
                <ns2:creationId id="{40E0B583-8B59-407D-81C2-384A709A0D48}"/>
              </a:ext>
            </a:extLst>
          </p:cNvPr>
          <p:cNvSpPr>
            <a:spLocks noGrp="1"/>
          </p:cNvSpPr>
          <p:nvPr/>
        </p:nvSpPr>
        <p:spPr>
          <a:xfrm>
            <a:off x="1600200" y="33337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瀏覽器確認</a:t>
            </a:r>
          </a:p>
        </p:txBody>
      </p:sp>
      <p:sp>
        <p:nvSpPr>
          <p:cNvPr id="14" name="">
            <a:extLst>
              <a:ext uri="{FF2B5EF4-FFF2-40B4-BE49-F238E27FC236}">
                <ns2:creationId id="{D21FE4F8-9DE1-421D-9687-6247580343E9}"/>
              </a:ext>
            </a:extLst>
          </p:cNvPr>
          <p:cNvSpPr>
            <a:spLocks noGrp="1"/>
          </p:cNvSpPr>
          <p:nvPr/>
        </p:nvSpPr>
        <p:spPr>
          <a:xfrm>
            <a:off x="1600200" y="3714750"/>
            <a:ext cx="3905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打開 localhost:8080，看到自己的內容。</a:t>
            </a:r>
          </a:p>
        </p:txBody>
      </p:sp>
      <p:sp>
        <p:nvSpPr>
          <p:cNvPr id="15" name="">
            <a:extLst>
              <a:ext uri="{FF2B5EF4-FFF2-40B4-BE49-F238E27FC236}">
                <ns2:creationId id="{8CA81235-B0D1-4A90-BA75-954D4F5F9107}"/>
              </a:ext>
            </a:extLst>
          </p:cNvPr>
          <p:cNvSpPr>
            <a:spLocks noGrp="1"/>
          </p:cNvSpPr>
          <p:nvPr/>
        </p:nvSpPr>
        <p:spPr>
          <a:xfrm>
            <a:off x="6496050" y="3486150"/>
            <a:ext cx="457200" cy="4572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DFB85B9D-D89F-461F-B9F5-B3192BE0E2FF}"/>
              </a:ext>
            </a:extLst>
          </p:cNvPr>
          <p:cNvSpPr>
            <a:spLocks noGrp="1"/>
          </p:cNvSpPr>
          <p:nvPr/>
        </p:nvSpPr>
        <p:spPr>
          <a:xfrm>
            <a:off x="6496050" y="3609975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71"/>
          </a:bodyPr>
          <a:lstStyle/>
          <a:p>
            <a:pPr algn="ct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">
            <a:extLst>
              <a:ext uri="{FF2B5EF4-FFF2-40B4-BE49-F238E27FC236}">
                <ns2:creationId id="{CC187838-CB06-46F3-A419-7D3D1D1E5071}"/>
              </a:ext>
            </a:extLst>
          </p:cNvPr>
          <p:cNvSpPr>
            <a:spLocks noGrp="1"/>
          </p:cNvSpPr>
          <p:nvPr/>
        </p:nvSpPr>
        <p:spPr>
          <a:xfrm>
            <a:off x="7143750" y="33337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進容器檢查</a:t>
            </a:r>
          </a:p>
        </p:txBody>
      </p:sp>
      <p:sp>
        <p:nvSpPr>
          <p:cNvPr id="18" name="">
            <a:extLst>
              <a:ext uri="{FF2B5EF4-FFF2-40B4-BE49-F238E27FC236}">
                <ns2:creationId id="{AC522391-7AB7-460E-8EBF-B63511E485DD}"/>
              </a:ext>
            </a:extLst>
          </p:cNvPr>
          <p:cNvSpPr>
            <a:spLocks noGrp="1"/>
          </p:cNvSpPr>
          <p:nvPr/>
        </p:nvSpPr>
        <p:spPr>
          <a:xfrm>
            <a:off x="7143750" y="3714750"/>
            <a:ext cx="3905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/usr/share/nginx/html/index.html</a:t>
            </a:r>
          </a:p>
        </p:txBody>
      </p:sp>
      <p:sp>
        <p:nvSpPr>
          <p:cNvPr id="19" name="">
            <a:extLst>
              <a:ext uri="{FF2B5EF4-FFF2-40B4-BE49-F238E27FC236}">
                <ns2:creationId id="{98A4247D-FE4D-4C10-9306-9B618288D947}"/>
              </a:ext>
            </a:extLst>
          </p:cNvPr>
          <p:cNvSpPr>
            <a:spLocks noGrp="1"/>
          </p:cNvSpPr>
          <p:nvPr/>
        </p:nvSpPr>
        <p:spPr>
          <a:xfrm>
            <a:off x="1257300" y="5029200"/>
            <a:ext cx="9677400" cy="95250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0" name="">
            <a:extLst>
              <a:ext uri="{FF2B5EF4-FFF2-40B4-BE49-F238E27FC236}">
                <ns2:creationId id="{CA76ADCA-5B68-44C2-8873-802D754678F4}"/>
              </a:ext>
            </a:extLst>
          </p:cNvPr>
          <p:cNvSpPr>
            <a:spLocks noGrp="1"/>
          </p:cNvSpPr>
          <p:nvPr/>
        </p:nvSpPr>
        <p:spPr>
          <a:xfrm>
            <a:off x="1428750" y="5191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CFD713CB-4C14-4FC8-AECF-EF51C148CAAB}"/>
              </a:ext>
            </a:extLst>
          </p:cNvPr>
          <p:cNvSpPr>
            <a:spLocks noGrp="1"/>
          </p:cNvSpPr>
          <p:nvPr/>
        </p:nvSpPr>
        <p:spPr>
          <a:xfrm>
            <a:off x="1600200" y="5191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F364F389-F718-4829-A8B5-667B2A8E1E96}"/>
              </a:ext>
            </a:extLst>
          </p:cNvPr>
          <p:cNvSpPr>
            <a:spLocks noGrp="1"/>
          </p:cNvSpPr>
          <p:nvPr/>
        </p:nvSpPr>
        <p:spPr>
          <a:xfrm>
            <a:off x="1771650" y="5191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14F2CCEE-4655-4079-95F9-EB8F71838538}"/>
              </a:ext>
            </a:extLst>
          </p:cNvPr>
          <p:cNvSpPr>
            <a:spLocks noGrp="1"/>
          </p:cNvSpPr>
          <p:nvPr/>
        </p:nvSpPr>
        <p:spPr>
          <a:xfrm>
            <a:off x="1466850" y="5448300"/>
            <a:ext cx="9258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128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course-nginx -p 8080:80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"${PWD}\my-html:/usr/share/nginx/html:ro" nginx</a:t>
            </a:r>
          </a:p>
        </p:txBody>
      </p:sp>
      <p:sp>
        <p:nvSpPr>
          <p:cNvPr id="24" name="">
            <a:extLst>
              <a:ext uri="{FF2B5EF4-FFF2-40B4-BE49-F238E27FC236}">
                <ns2:creationId id="{793B7D36-7886-4218-AC77-8A79E6E1B05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E05C4E82-71DD-4AA6-84F4-6B20CDE78B9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6" name="">
            <a:extLst>
              <a:ext uri="{FF2B5EF4-FFF2-40B4-BE49-F238E27FC236}">
                <ns2:creationId id="{61C55653-9566-4AC5-8B34-CF732B7D971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ns3:creationId val="1807398680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2D72500-4ECE-4EF4-AF6D-1C7103D552A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LIFECYCLE</a:t>
            </a:r>
          </a:p>
        </p:txBody>
      </p:sp>
      <p:sp>
        <p:nvSpPr>
          <p:cNvPr id="2" name="">
            <a:extLst>
              <a:ext uri="{FF2B5EF4-FFF2-40B4-BE49-F238E27FC236}">
                <ns2:creationId id="{7279AA9D-1CB6-4577-A990-F24C3203D30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第一堂必會的容器生命週期指令</a:t>
            </a:r>
          </a:p>
        </p:txBody>
      </p:sp>
      <p:sp>
        <p:nvSpPr>
          <p:cNvPr id="3" name="">
            <a:extLst>
              <a:ext uri="{FF2B5EF4-FFF2-40B4-BE49-F238E27FC236}">
                <ns2:creationId id="{01928344-03DB-4672-B876-342328948AFC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4762500" cy="3886200"/>
          </a:xfrm>
          <a:prstGeom prst="roundRect">
            <a:avLst>
              <a:gd name="adj" fmla="val 245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831E50CD-71DD-40D9-B178-2A8691ACD8F2}"/>
              </a:ext>
            </a:extLst>
          </p:cNvPr>
          <p:cNvSpPr>
            <a:spLocks noGrp="1"/>
          </p:cNvSpPr>
          <p:nvPr/>
        </p:nvSpPr>
        <p:spPr>
          <a:xfrm>
            <a:off x="83820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6A868E7-6A8E-4112-B19C-9640F368C799}"/>
              </a:ext>
            </a:extLst>
          </p:cNvPr>
          <p:cNvSpPr>
            <a:spLocks noGrp="1"/>
          </p:cNvSpPr>
          <p:nvPr/>
        </p:nvSpPr>
        <p:spPr>
          <a:xfrm>
            <a:off x="100965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1CA1AE3-6308-40AC-9AE7-EE9D5F5FD19D}"/>
              </a:ext>
            </a:extLst>
          </p:cNvPr>
          <p:cNvSpPr>
            <a:spLocks noGrp="1"/>
          </p:cNvSpPr>
          <p:nvPr/>
        </p:nvSpPr>
        <p:spPr>
          <a:xfrm>
            <a:off x="118110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CAA930BD-E992-46A3-9E91-7EC14975E052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4343400" cy="3333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查看狀態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停止與啟動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8" name="">
            <a:extLst>
              <a:ext uri="{FF2B5EF4-FFF2-40B4-BE49-F238E27FC236}">
                <ns2:creationId id="{A2654F34-82C4-4FE2-A051-FC002A93F6C1}"/>
              </a:ext>
            </a:extLst>
          </p:cNvPr>
          <p:cNvSpPr>
            <a:spLocks noGrp="1"/>
          </p:cNvSpPr>
          <p:nvPr/>
        </p:nvSpPr>
        <p:spPr>
          <a:xfrm>
            <a:off x="6191250" y="1619250"/>
            <a:ext cx="4286250" cy="1676400"/>
          </a:xfrm>
          <a:prstGeom prst="roundRect">
            <a:avLst>
              <a:gd name="adj" fmla="val 6818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E73EB925-1B76-451F-A4FA-62ECFF471FEB}"/>
              </a:ext>
            </a:extLst>
          </p:cNvPr>
          <p:cNvSpPr>
            <a:spLocks noGrp="1"/>
          </p:cNvSpPr>
          <p:nvPr/>
        </p:nvSpPr>
        <p:spPr>
          <a:xfrm>
            <a:off x="6419850" y="1809750"/>
            <a:ext cx="3829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卡住時先查三件事</a:t>
            </a:r>
          </a:p>
        </p:txBody>
      </p:sp>
      <p:sp>
        <p:nvSpPr>
          <p:cNvPr id="10" name="">
            <a:extLst>
              <a:ext uri="{FF2B5EF4-FFF2-40B4-BE49-F238E27FC236}">
                <ns2:creationId id="{6C60DB7A-83F3-46B9-A4D4-D908FD6F7262}"/>
              </a:ext>
            </a:extLst>
          </p:cNvPr>
          <p:cNvSpPr>
            <a:spLocks noGrp="1"/>
          </p:cNvSpPr>
          <p:nvPr/>
        </p:nvSpPr>
        <p:spPr>
          <a:xfrm>
            <a:off x="6419850" y="2209800"/>
            <a:ext cx="38290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Docker Desktop 是否啟動</a:t>
            </a: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容器是否真的 Up</a:t>
            </a: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8080 port 是否被佔用</a:t>
            </a:r>
          </a:p>
        </p:txBody>
      </p:sp>
      <p:sp>
        <p:nvSpPr>
          <p:cNvPr id="11" name="">
            <a:extLst>
              <a:ext uri="{FF2B5EF4-FFF2-40B4-BE49-F238E27FC236}">
                <ns2:creationId id="{709A5C67-8EC2-4D03-BF3E-19FF1B2CC5FF}"/>
              </a:ext>
            </a:extLst>
          </p:cNvPr>
          <p:cNvSpPr>
            <a:spLocks noGrp="1"/>
          </p:cNvSpPr>
          <p:nvPr/>
        </p:nvSpPr>
        <p:spPr>
          <a:xfrm>
            <a:off x="6191250" y="3714750"/>
            <a:ext cx="42862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EF8E021A-0BBC-4BE3-9D6F-FF53DCD01990}"/>
              </a:ext>
            </a:extLst>
          </p:cNvPr>
          <p:cNvSpPr>
            <a:spLocks noGrp="1"/>
          </p:cNvSpPr>
          <p:nvPr/>
        </p:nvSpPr>
        <p:spPr>
          <a:xfrm>
            <a:off x="6419850" y="3905250"/>
            <a:ext cx="3829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 Image 前先刪 Container</a:t>
            </a:r>
          </a:p>
        </p:txBody>
      </p:sp>
      <p:sp>
        <p:nvSpPr>
          <p:cNvPr id="13" name="">
            <a:extLst>
              <a:ext uri="{FF2B5EF4-FFF2-40B4-BE49-F238E27FC236}">
                <ns2:creationId id="{EA15416C-6397-4945-BAE5-1B45BFBA8037}"/>
              </a:ext>
            </a:extLst>
          </p:cNvPr>
          <p:cNvSpPr>
            <a:spLocks noGrp="1"/>
          </p:cNvSpPr>
          <p:nvPr/>
        </p:nvSpPr>
        <p:spPr>
          <a:xfrm>
            <a:off x="6419850" y="4305300"/>
            <a:ext cx="38290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只要還有容器使用某個 Image，不管容器是否停止，docker rmi 都可能失敗。</a:t>
            </a:r>
          </a:p>
        </p:txBody>
      </p:sp>
      <p:sp>
        <p:nvSpPr>
          <p:cNvPr id="14" name="">
            <a:extLst>
              <a:ext uri="{FF2B5EF4-FFF2-40B4-BE49-F238E27FC236}">
                <ns2:creationId id="{8C65C2FE-A7DA-4BB7-8191-A2A1861C197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5F78135E-EC87-4A4B-B5DC-67A73CA3960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">
            <a:extLst>
              <a:ext uri="{FF2B5EF4-FFF2-40B4-BE49-F238E27FC236}">
                <ns2:creationId id="{337E8EB5-2C0A-40C2-A148-0F79CE92CBC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ns3:creationId val="105072459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2C7E7D4-B893-4462-9810-1E279C5F270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 / BONUS C1</a:t>
            </a:r>
          </a:p>
        </p:txBody>
      </p:sp>
      <p:sp>
        <p:nvSpPr>
          <p:cNvPr id="2" name="">
            <a:extLst>
              <a:ext uri="{FF2B5EF4-FFF2-40B4-BE49-F238E27FC236}">
                <ns2:creationId id="{8FED1CD1-FB83-4277-AB4B-4A6C645FB1A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 + Bonus：清理與 Nginx 自我檢查</a:t>
            </a:r>
          </a:p>
        </p:txBody>
      </p:sp>
      <p:sp>
        <p:nvSpPr>
          <p:cNvPr id="3" name="">
            <a:extLst>
              <a:ext uri="{FF2B5EF4-FFF2-40B4-BE49-F238E27FC236}">
                <ns2:creationId id="{BAD4DD0C-AB44-4DB1-A664-313AB63A2C32}"/>
              </a:ext>
            </a:extLst>
          </p:cNvPr>
          <p:cNvSpPr>
            <a:spLocks noGrp="1"/>
          </p:cNvSpPr>
          <p:nvPr/>
        </p:nvSpPr>
        <p:spPr>
          <a:xfrm>
            <a:off x="914400" y="1676400"/>
            <a:ext cx="4762500" cy="2476500"/>
          </a:xfrm>
          <a:prstGeom prst="roundRect">
            <a:avLst>
              <a:gd name="adj" fmla="val 4615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79E48D5-BF1E-49DD-B337-8A74A5193B3F}"/>
              </a:ext>
            </a:extLst>
          </p:cNvPr>
          <p:cNvSpPr>
            <a:spLocks noGrp="1"/>
          </p:cNvSpPr>
          <p:nvPr/>
        </p:nvSpPr>
        <p:spPr>
          <a:xfrm>
            <a:off x="1143000" y="1866900"/>
            <a:ext cx="430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P3：清理練習</a:t>
            </a:r>
          </a:p>
        </p:txBody>
      </p:sp>
      <p:sp>
        <p:nvSpPr>
          <p:cNvPr id="5" name="">
            <a:extLst>
              <a:ext uri="{FF2B5EF4-FFF2-40B4-BE49-F238E27FC236}">
                <ns2:creationId id="{93AB7213-19A9-4E3D-BB39-5993C645C901}"/>
              </a:ext>
            </a:extLst>
          </p:cNvPr>
          <p:cNvSpPr>
            <a:spLocks noGrp="1"/>
          </p:cNvSpPr>
          <p:nvPr/>
        </p:nvSpPr>
        <p:spPr>
          <a:xfrm>
            <a:off x="1143000" y="2266950"/>
            <a:ext cx="430530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course-nginx</a:t>
            </a:r>
          </a:p>
          <a:p>
            <a:r>
              <a:t/>
            </a:r>
          </a:p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rmi python:3.11 python:3.11-alpine</a:t>
            </a:r>
          </a:p>
          <a:p>
            <a:r>
              <a:t/>
            </a:r>
          </a:p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確認 docker ps -a 和 docker images。</a:t>
            </a:r>
          </a:p>
        </p:txBody>
      </p:sp>
      <p:sp>
        <p:nvSpPr>
          <p:cNvPr id="6" name="">
            <a:extLst>
              <a:ext uri="{FF2B5EF4-FFF2-40B4-BE49-F238E27FC236}">
                <ns2:creationId id="{1E695BE6-9D9D-442C-8186-97915C2EB928}"/>
              </a:ext>
            </a:extLst>
          </p:cNvPr>
          <p:cNvSpPr>
            <a:spLocks noGrp="1"/>
          </p:cNvSpPr>
          <p:nvPr/>
        </p:nvSpPr>
        <p:spPr>
          <a:xfrm>
            <a:off x="6515100" y="1676400"/>
            <a:ext cx="4762500" cy="2476500"/>
          </a:xfrm>
          <a:prstGeom prst="roundRect">
            <a:avLst>
              <a:gd name="adj" fmla="val 4615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A0F24D3E-6F01-4956-B8C7-0DB447A0F6EA}"/>
              </a:ext>
            </a:extLst>
          </p:cNvPr>
          <p:cNvSpPr>
            <a:spLocks noGrp="1"/>
          </p:cNvSpPr>
          <p:nvPr/>
        </p:nvSpPr>
        <p:spPr>
          <a:xfrm>
            <a:off x="6743700" y="1866900"/>
            <a:ext cx="430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Bonus：Nginx 自我檢查</a:t>
            </a:r>
          </a:p>
        </p:txBody>
      </p:sp>
      <p:sp>
        <p:nvSpPr>
          <p:cNvPr id="8" name="">
            <a:extLst>
              <a:ext uri="{FF2B5EF4-FFF2-40B4-BE49-F238E27FC236}">
                <ns2:creationId id="{54266A0B-9CBD-475D-ABB6-8F2798F07920}"/>
              </a:ext>
            </a:extLst>
          </p:cNvPr>
          <p:cNvSpPr>
            <a:spLocks noGrp="1"/>
          </p:cNvSpPr>
          <p:nvPr/>
        </p:nvSpPr>
        <p:spPr>
          <a:xfrm>
            <a:off x="6743700" y="2266950"/>
            <a:ext cx="430530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照著附錄指令，重新跑一次 Nginx 容器。</a:t>
            </a:r>
          </a:p>
          <a:p>
            <a:r>
              <a:t/>
            </a:r>
          </a:p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換成 course-nginx-check / 8081:80，確認頁面、ps/logs 後清理。</a:t>
            </a:r>
          </a:p>
        </p:txBody>
      </p:sp>
      <p:sp>
        <p:nvSpPr>
          <p:cNvPr id="9" name="">
            <a:extLst>
              <a:ext uri="{FF2B5EF4-FFF2-40B4-BE49-F238E27FC236}">
                <ns2:creationId id="{D87A694D-E621-4177-98CF-3E0B2FEC89D8}"/>
              </a:ext>
            </a:extLst>
          </p:cNvPr>
          <p:cNvSpPr>
            <a:spLocks noGrp="1"/>
          </p:cNvSpPr>
          <p:nvPr/>
        </p:nvSpPr>
        <p:spPr>
          <a:xfrm>
            <a:off x="2095500" y="4857750"/>
            <a:ext cx="8001000" cy="571500"/>
          </a:xfrm>
          <a:prstGeom prst="roundRect">
            <a:avLst>
              <a:gd name="adj" fmla="val 2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BE639150-D833-424C-9874-5B77D0CAEF12}"/>
              </a:ext>
            </a:extLst>
          </p:cNvPr>
          <p:cNvSpPr>
            <a:spLocks noGrp="1"/>
          </p:cNvSpPr>
          <p:nvPr/>
        </p:nvSpPr>
        <p:spPr>
          <a:xfrm>
            <a:off x="2400300" y="5029200"/>
            <a:ext cx="7391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979"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下一堂：Flask 容器、容器管理與 Volume。</a:t>
            </a:r>
          </a:p>
        </p:txBody>
      </p:sp>
      <p:sp>
        <p:nvSpPr>
          <p:cNvPr id="11" name="">
            <a:extLst>
              <a:ext uri="{FF2B5EF4-FFF2-40B4-BE49-F238E27FC236}">
                <ns2:creationId id="{FA6290D6-6784-4055-926C-618888BB8EF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8086612F-89D9-4D26-83B0-C466220FB5B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>
              <a:ext uri="{FF2B5EF4-FFF2-40B4-BE49-F238E27FC236}">
                <ns2:creationId id="{6A2C9CC0-E593-440A-8016-F499F9E3DA1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ns3:creationId val="1925916989"/>
      </p:ext>
    </p:extLst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Nginx 起手式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 起手式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進入 Nginx 容器檢查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範例程式碼：進入 Nginx 容器檢查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進入 Nginx 容器（Nginx 用的是 sh，不是 bash）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sh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現在你已經「進入」容器內部了，來探索一下：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```sh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1. 看看現在在哪裡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2. 看看根目錄有什麼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3. 去找 Nginx 的網頁檔案在哪裡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4. 看看有哪些檔案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5. 看看歡迎頁面的內容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進入 Nginx 容器檢查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範例程式碼：進入 Nginx 容器檢查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6. 離開容器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狀態查看與清理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範例程式碼：狀態查看與清理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查看容器狀態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重新啟動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2026-06-21T16:11:39.9630000Z</dcterms:created>
  <dcterms:modified xsi:type="dcterms:W3CDTF">2026-06-21T16:11:39.9630000Z</dcterms:modified>
</coreProperties>
</file>