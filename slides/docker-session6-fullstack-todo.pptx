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088add243a40ec" /><Relationship Type="http://schemas.openxmlformats.org/officeDocument/2006/relationships/extended-properties" Target="/docProps/app.xml" Id="R85e1f38837184c62" /><Relationship Type="http://schemas.openxmlformats.org/officeDocument/2006/relationships/officeDocument" Target="/ppt/presentation.xml" Id="Rbd6adf740d49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b8f123e5e4459"/>
  </p:sldMasterIdLst>
  <p:notesMasterIdLst>
    <p:notesMasterId xmlns:r="http://schemas.openxmlformats.org/officeDocument/2006/relationships" r:id="Rb9cc0dae0e054e7d"/>
  </p:notesMasterIdLst>
  <p:sldIdLst>
    <p:sldId xmlns:r="http://schemas.openxmlformats.org/officeDocument/2006/relationships" id="256" r:id="Rb05ff4d035c347d0"/>
    <p:sldId xmlns:r="http://schemas.openxmlformats.org/officeDocument/2006/relationships" id="257" r:id="Rce62374a027d4f98"/>
    <p:sldId xmlns:r="http://schemas.openxmlformats.org/officeDocument/2006/relationships" id="258" r:id="Rd8286d53230e4bd2"/>
    <p:sldId xmlns:r="http://schemas.openxmlformats.org/officeDocument/2006/relationships" id="259" r:id="Rb5687e5ff46c48a8"/>
    <p:sldId xmlns:r="http://schemas.openxmlformats.org/officeDocument/2006/relationships" id="260" r:id="R57e4dba987ff4600"/>
    <p:sldId xmlns:r="http://schemas.openxmlformats.org/officeDocument/2006/relationships" id="261" r:id="R60983aa39cc54368"/>
    <p:sldId xmlns:r="http://schemas.openxmlformats.org/officeDocument/2006/relationships" id="262" r:id="R505afd6e76824828"/>
    <p:sldId xmlns:r="http://schemas.openxmlformats.org/officeDocument/2006/relationships" id="263" r:id="R62a01bea38a748e6"/>
    <p:sldId xmlns:r="http://schemas.openxmlformats.org/officeDocument/2006/relationships" id="264" r:id="Rd1c1787bf3854863"/>
    <p:sldId xmlns:r="http://schemas.openxmlformats.org/officeDocument/2006/relationships" id="265" r:id="R5781590e9e464878"/>
    <p:sldId xmlns:r="http://schemas.openxmlformats.org/officeDocument/2006/relationships" id="266" r:id="R3b172b3833934dae"/>
    <p:sldId xmlns:r="http://schemas.openxmlformats.org/officeDocument/2006/relationships" id="267" r:id="Ra67c9973821e479c"/>
    <p:sldId xmlns:r="http://schemas.openxmlformats.org/officeDocument/2006/relationships" id="268" r:id="R6a184f29a63d4ac3"/>
    <p:sldId xmlns:r="http://schemas.openxmlformats.org/officeDocument/2006/relationships" id="269" r:id="Rfe389686ce224bc3"/>
    <p:sldId xmlns:r="http://schemas.openxmlformats.org/officeDocument/2006/relationships" id="270" r:id="R38fbad4c6ba34a26"/>
    <p:sldId xmlns:r="http://schemas.openxmlformats.org/officeDocument/2006/relationships" id="271" r:id="Radd6d9f9062942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32a143daef4f04" /><Relationship Type="http://schemas.openxmlformats.org/officeDocument/2006/relationships/slideMaster" Target="/ppt/slideMasters/slideMaster1.xml" Id="R0c0b8f123e5e4459" /><Relationship Type="http://schemas.openxmlformats.org/officeDocument/2006/relationships/notesMaster" Target="/ppt/notesMasters/notesMaster1.xml" Id="Rb9cc0dae0e054e7d" /><Relationship Type="http://schemas.openxmlformats.org/officeDocument/2006/relationships/presProps" Target="/ppt/presProps.xml" Id="R0567856971d64a49" /><Relationship Type="http://schemas.openxmlformats.org/officeDocument/2006/relationships/tableStyles" Target="/ppt/tableStyles.xml" Id="Ra14924897b7343dc" /><Relationship Type="http://schemas.openxmlformats.org/officeDocument/2006/relationships/slide" Target="/ppt/slides/slide1.xml" Id="Rb05ff4d035c347d0" /><Relationship Type="http://schemas.openxmlformats.org/officeDocument/2006/relationships/slide" Target="/ppt/slides/slide2.xml" Id="Rce62374a027d4f98" /><Relationship Type="http://schemas.openxmlformats.org/officeDocument/2006/relationships/slide" Target="/ppt/slides/slide3.xml" Id="Rd8286d53230e4bd2" /><Relationship Type="http://schemas.openxmlformats.org/officeDocument/2006/relationships/slide" Target="/ppt/slides/slide4.xml" Id="Rb5687e5ff46c48a8" /><Relationship Type="http://schemas.openxmlformats.org/officeDocument/2006/relationships/slide" Target="/ppt/slides/slide5.xml" Id="R57e4dba987ff4600" /><Relationship Type="http://schemas.openxmlformats.org/officeDocument/2006/relationships/slide" Target="/ppt/slides/slide6.xml" Id="R60983aa39cc54368" /><Relationship Type="http://schemas.openxmlformats.org/officeDocument/2006/relationships/slide" Target="/ppt/slides/slide7.xml" Id="R505afd6e76824828" /><Relationship Type="http://schemas.openxmlformats.org/officeDocument/2006/relationships/slide" Target="/ppt/slides/slide8.xml" Id="R62a01bea38a748e6" /><Relationship Type="http://schemas.openxmlformats.org/officeDocument/2006/relationships/slide" Target="/ppt/slides/slide9.xml" Id="Rd1c1787bf3854863" /><Relationship Type="http://schemas.openxmlformats.org/officeDocument/2006/relationships/slide" Target="/ppt/slides/slide10.xml" Id="R5781590e9e464878" /><Relationship Type="http://schemas.openxmlformats.org/officeDocument/2006/relationships/slide" Target="/ppt/slides/slide11.xml" Id="R3b172b3833934dae" /><Relationship Type="http://schemas.openxmlformats.org/officeDocument/2006/relationships/slide" Target="/ppt/slides/slide12.xml" Id="Ra67c9973821e479c" /><Relationship Type="http://schemas.openxmlformats.org/officeDocument/2006/relationships/slide" Target="/ppt/slides/slide13.xml" Id="R6a184f29a63d4ac3" /><Relationship Type="http://schemas.openxmlformats.org/officeDocument/2006/relationships/slide" Target="/ppt/slides/slide14.xml" Id="Rfe389686ce224bc3" /><Relationship Type="http://schemas.openxmlformats.org/officeDocument/2006/relationships/slide" Target="/ppt/slides/slide15.xml" Id="R38fbad4c6ba34a26" /><Relationship Type="http://schemas.openxmlformats.org/officeDocument/2006/relationships/slide" Target="/ppt/slides/slide16.xml" Id="Radd6d9f90629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6265f1c73746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bf28f3a0a04495" /><Relationship Type="http://schemas.openxmlformats.org/officeDocument/2006/relationships/notesMaster" Target="/ppt/notesMasters/notesMaster1.xml" Id="R2bd15b62cf4547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072c26d414a8c" /><Relationship Type="http://schemas.openxmlformats.org/officeDocument/2006/relationships/notesMaster" Target="/ppt/notesMasters/notesMaster1.xml" Id="Reed9588335e5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3929196fb44e8" /><Relationship Type="http://schemas.openxmlformats.org/officeDocument/2006/relationships/notesMaster" Target="/ppt/notesMasters/notesMaster1.xml" Id="Rc95075d7695a46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70bc63bdfc47ad" /><Relationship Type="http://schemas.openxmlformats.org/officeDocument/2006/relationships/notesMaster" Target="/ppt/notesMasters/notesMaster1.xml" Id="Rbefaab440f56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b45960a21b4005" /><Relationship Type="http://schemas.openxmlformats.org/officeDocument/2006/relationships/notesMaster" Target="/ppt/notesMasters/notesMaster1.xml" Id="R49f51f7943cf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d53e962414eda" /><Relationship Type="http://schemas.openxmlformats.org/officeDocument/2006/relationships/notesMaster" Target="/ppt/notesMasters/notesMaster1.xml" Id="R3f26ef97381f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896797caf0410c" /><Relationship Type="http://schemas.openxmlformats.org/officeDocument/2006/relationships/notesMaster" Target="/ppt/notesMasters/notesMaster1.xml" Id="Rc88214ad790948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f3bd13ca7e4873" /><Relationship Type="http://schemas.openxmlformats.org/officeDocument/2006/relationships/notesMaster" Target="/ppt/notesMasters/notesMaster1.xml" Id="R1643965fbd344d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86c7d3ba784755" /><Relationship Type="http://schemas.openxmlformats.org/officeDocument/2006/relationships/notesMaster" Target="/ppt/notesMasters/notesMaster1.xml" Id="R054694adbc0b42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72e42d776e4c5b" /><Relationship Type="http://schemas.openxmlformats.org/officeDocument/2006/relationships/notesMaster" Target="/ppt/notesMasters/notesMaster1.xml" Id="Re2ff541ad09b41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e4355cd9984c44" /><Relationship Type="http://schemas.openxmlformats.org/officeDocument/2006/relationships/notesMaster" Target="/ppt/notesMasters/notesMaster1.xml" Id="Rf0ec09655ebc4e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f8f382ed054b03" /><Relationship Type="http://schemas.openxmlformats.org/officeDocument/2006/relationships/notesMaster" Target="/ppt/notesMasters/notesMaster1.xml" Id="Rd032bb8b89a8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e793b16c364620" /><Relationship Type="http://schemas.openxmlformats.org/officeDocument/2006/relationships/notesMaster" Target="/ppt/notesMasters/notesMaster1.xml" Id="Rf74feccf30af4b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991a0b46fb419b" /><Relationship Type="http://schemas.openxmlformats.org/officeDocument/2006/relationships/notesMaster" Target="/ppt/notesMasters/notesMaster1.xml" Id="Rc35bb5aa827f47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2a5fcc80624af3" /><Relationship Type="http://schemas.openxmlformats.org/officeDocument/2006/relationships/notesMaster" Target="/ppt/notesMasters/notesMaster1.xml" Id="R4ff9ccb1866e49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835bdaa5774cc7" /><Relationship Type="http://schemas.openxmlformats.org/officeDocument/2006/relationships/notesMaster" Target="/ppt/notesMasters/notesMaster1.xml" Id="Rce1383e1c06b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e952a89c841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cf4e6be71145be" /><Relationship Type="http://schemas.openxmlformats.org/officeDocument/2006/relationships/slideLayout" Target="/ppt/slideLayouts/slideLayout1.xml" Id="Rd2b64b50102b48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64b50102b48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ae71dd4cf4919" /><Relationship Type="http://schemas.openxmlformats.org/officeDocument/2006/relationships/notesSlide" Target="/ppt/notesSlides/notesSlide1.xml" Id="R185e60f50e56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7d966c47543a7" /><Relationship Type="http://schemas.openxmlformats.org/officeDocument/2006/relationships/notesSlide" Target="/ppt/notesSlides/notesSlide2.xml" Id="R6d1f8cb1f860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933a1b0f34688" /><Relationship Type="http://schemas.openxmlformats.org/officeDocument/2006/relationships/notesSlide" Target="/ppt/notesSlides/notesSlide3.xml" Id="R7cc5344b75ac4a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10ecc6a1b47aa" /><Relationship Type="http://schemas.openxmlformats.org/officeDocument/2006/relationships/notesSlide" Target="/ppt/notesSlides/notesSlide4.xml" Id="R0d1e75a91aae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fc2409ab44605" /><Relationship Type="http://schemas.openxmlformats.org/officeDocument/2006/relationships/notesSlide" Target="/ppt/notesSlides/notesSlide5.xml" Id="R2459885bfa47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274610f1b47d3" /><Relationship Type="http://schemas.openxmlformats.org/officeDocument/2006/relationships/notesSlide" Target="/ppt/notesSlides/notesSlide6.xml" Id="R0d7d920311ac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af94fdb8f47ab" /><Relationship Type="http://schemas.openxmlformats.org/officeDocument/2006/relationships/notesSlide" Target="/ppt/notesSlides/notesSlide7.xml" Id="R635c63be29864e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328520bbe40a9" /><Relationship Type="http://schemas.openxmlformats.org/officeDocument/2006/relationships/notesSlide" Target="/ppt/notesSlides/notesSlide8.xml" Id="R17a4ab7d1f4348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3c6b3f10c4cab" /><Relationship Type="http://schemas.openxmlformats.org/officeDocument/2006/relationships/notesSlide" Target="/ppt/notesSlides/notesSlide9.xml" Id="R3b834414b71842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c728ba0d6476d" /><Relationship Type="http://schemas.openxmlformats.org/officeDocument/2006/relationships/notesSlide" Target="/ppt/notesSlides/notesSlide10.xml" Id="R4db47b58373748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12fbbcefa4ea5" /><Relationship Type="http://schemas.openxmlformats.org/officeDocument/2006/relationships/notesSlide" Target="/ppt/notesSlides/notesSlide11.xml" Id="R80f2bd82e5fe45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6b62ba8fd458e" /><Relationship Type="http://schemas.openxmlformats.org/officeDocument/2006/relationships/notesSlide" Target="/ppt/notesSlides/notesSlide12.xml" Id="R4411cdb7e56443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0eb06a71549cc" /><Relationship Type="http://schemas.openxmlformats.org/officeDocument/2006/relationships/notesSlide" Target="/ppt/notesSlides/notesSlide13.xml" Id="R2dc56dfa66d842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129b19c034749" /><Relationship Type="http://schemas.openxmlformats.org/officeDocument/2006/relationships/notesSlide" Target="/ppt/notesSlides/notesSlide14.xml" Id="Rb61108468ad747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2eb50f056407b" /><Relationship Type="http://schemas.openxmlformats.org/officeDocument/2006/relationships/notesSlide" Target="/ppt/notesSlides/notesSlide15.xml" Id="R5e248355980842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f8d5499384cb8" /><Relationship Type="http://schemas.openxmlformats.org/officeDocument/2006/relationships/notesSlide" Target="/ppt/notesSlides/notesSlide16.xml" Id="Rb7bf0d4aac0246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EFE3F-8A94-4E94-8CA6-FE104E88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63EB"/>
                </a:solidFill>
              </a:defRPr>
            </a:pPr>
            <a:r>
              <a:rPr sz="1500" b="1">
                <a:solidFill>
                  <a:srgbClr val="4263EB"/>
                </a:solidFill>
              </a:rPr>
              <a:t>Docker 基礎教學 第 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AE6BD-84CC-4003-A3E6-4FAD8002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Docker Compose</a:t>
            </a:r>
          </a:p>
          <a:p xmlns:a="http://schemas.openxmlformats.org/drawingml/2006/main"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全端專題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77E40-CEAB-4515-B0ED-04BC9609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174"/>
                </a:solidFill>
              </a:defRPr>
            </a:pPr>
            <a:r>
              <a:rPr sz="1875" b="0">
                <a:solidFill>
                  <a:srgbClr val="586174"/>
                </a:solidFill>
              </a:rPr>
              <a:t>React + Flask + MySQL 三層架構，由 Docker Compose 一鍵啟動與管理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1F81F-FDBF-419F-8980-FFE88E2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frontend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React + Nginx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B27B4-ABC9-4CF9-9FB8-FC73AF9C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263EB"/>
                </a:solidFill>
              </a:defRPr>
            </a:pPr>
            <a:r>
              <a:rPr sz="2550" b="1">
                <a:solidFill>
                  <a:srgbClr val="4263EB"/>
                </a:solidFill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7C026-16FD-49A7-9387-CB87DB44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backend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Flask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96A3B-F87D-4A73-A0F2-8BED2A2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76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A5A"/>
                </a:solidFill>
              </a:defRPr>
            </a:pPr>
            <a:r>
              <a:rPr sz="2550" b="1">
                <a:solidFill>
                  <a:srgbClr val="168A5A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BA224-6C0D-4EFE-9AF3-9C112A4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D7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database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MySQL +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58D5E-F00C-4309-8A59-85973BB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堂｜01</a:t>
            </a:r>
          </a:p>
        </p:txBody>
      </p:sp>
    </p:spTree>
    <p:extLst>
      <p:ext uri="{BB962C8B-B14F-4D97-AF65-F5344CB8AC3E}">
        <p14:creationId xmlns:p14="http://schemas.microsoft.com/office/powerpoint/2010/main" val="856278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223E0-5EE0-40BF-98FB-7BF5C1B1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本堂課定位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DD8CC-7C4D-4701-AFDA-AE5CF3C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最後一堂不是再學語法，而是做出一套系統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A253F-C460-4A8F-BEC0-3C3B7909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A3ABC-85BA-4706-8CE2-08C7D86A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01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React 只做最簡單的 Todo 畫面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DB9B-CDFE-446F-878D-D7805B5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C653C-7C3D-4DF2-8475-44B847E1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901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Flask 只做 REST API，負責連資料庫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A8B6F-32BE-4400-ADE6-80D0E93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907A5-0FD7-472B-8247-D01BCFE7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901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MySQL 用 volume 保存資料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EAA1D-688E-43D2-9F3F-01529CBE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5EDD5-CEA7-4283-9573-0BB6361A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901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Docker Compose 一鍵啟動整套系統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7568-BB97-4418-8AFA-ACD2BE7F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4033B-20D8-4E35-B8DA-72CEFCE2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901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CI/CD 自動測試、build、push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C93D5-8ED7-4907-8C21-1A2D3AE6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堂｜02</a:t>
            </a:r>
          </a:p>
        </p:txBody>
      </p:sp>
    </p:spTree>
    <p:extLst>
      <p:ext uri="{BB962C8B-B14F-4D97-AF65-F5344CB8AC3E}">
        <p14:creationId xmlns:p14="http://schemas.microsoft.com/office/powerpoint/2010/main" val="853340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60918-359B-4540-81F3-A53F39F6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標準三層架構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5CE98-1A9B-4A44-9E5F-9BD579D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Browser 到 database 的請求路徑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ABF1B-D3EE-49D9-9951-25A3B55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Browser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使用者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E3C66-1EDE-49C1-B1A9-AC3A32C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954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263EB"/>
                </a:solidFill>
              </a:defRPr>
            </a:pPr>
            <a:r>
              <a:rPr sz="2850" b="1">
                <a:solidFill>
                  <a:srgbClr val="4263EB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21D1C-49B6-4356-806E-2C0CDDA4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573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A9B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frontend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React + Nginx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05FC2-7569-4A6D-A063-F87A7B3F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954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8A5A"/>
                </a:solidFill>
              </a:defRPr>
            </a:pPr>
            <a:r>
              <a:rPr sz="2850" b="1">
                <a:solidFill>
                  <a:srgbClr val="168A5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63B76-3CF6-4ABA-9429-69C8F1C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573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backend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Flask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9E0E8-92FA-4485-9D49-E9A1805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954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7706"/>
                </a:solidFill>
              </a:defRPr>
            </a:pPr>
            <a:r>
              <a:rPr sz="2850" b="1">
                <a:solidFill>
                  <a:srgbClr val="D9770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A0ABF-76D9-4FF4-B357-E30AB3C3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573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MySQL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0C727-CA10-49C1-A0A8-8B1CA73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3714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Nginx 把 /api proxy 到 backend:5000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F9FD1-447C-4A1F-94A5-5407FDFB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3714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Flask 用 MYSQL_HOST=db 連資料庫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8725F-E97C-4E51-B140-ABC8154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核心能力：知道每個 container 負責什麼，並讓它們透過 service name 正確溝通。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C7BA7-5928-412E-AE1A-FE7C2B64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堂｜03</a:t>
            </a:r>
          </a:p>
        </p:txBody>
      </p:sp>
    </p:spTree>
    <p:extLst>
      <p:ext uri="{BB962C8B-B14F-4D97-AF65-F5344CB8AC3E}">
        <p14:creationId xmlns:p14="http://schemas.microsoft.com/office/powerpoint/2010/main" val="1954631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8DBE1-BC42-4F60-89D0-11C6180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Nginx 的角色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697F5-A427-44CF-8583-94623EF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這裡用 Nginx，但不是所有部署都必備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D7663-FCBF-4C6D-ABD5-A9AD98A9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240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本章採用</a:t>
            </a:r>
          </a:p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React build + Nginx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9AB19-8A23-402A-9811-5DAB65F9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自租 VM 常見</a:t>
            </a:r>
          </a:p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GCP VM / EC2 / VPS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BFEC6-E256-4681-B1D3-ED5B2C75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240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Managed service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可能不需要自管 Nginx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7093A-A5D6-4FF9-9AB1-B956F83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B6137-7366-465D-9132-6F471D0F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920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Nginx 在 frontend container 裡 serve React 靜態檔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2EA03-BC31-458E-8352-4356D3D6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55067-3BF4-4907-B55A-2C5B67E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0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Nginx 把 /api proxy 到 backend:5000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2CDDA-1179-4A5F-A1AF-B7496D4E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51D64-DEBE-4C52-9DFD-2421527C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20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這可以避免前端直接處理 CORS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CD3ED-1B42-40A3-8235-76D960A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4460B-B4D7-4CB4-A858-49A45E81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20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Cloud Run、Render、Railway 等平台前面可能已有 proxy / load balancer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2F26F-B89B-4AB2-96CE-A5BF5D4A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00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A093F-75EB-4BBA-867C-ED73673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20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本章重點仍是 Compose 如何管理多個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0A8DD-A8FA-4DE0-A52A-62279A49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堂｜04</a:t>
            </a:r>
          </a:p>
        </p:txBody>
      </p:sp>
    </p:spTree>
    <p:extLst>
      <p:ext uri="{BB962C8B-B14F-4D97-AF65-F5344CB8AC3E}">
        <p14:creationId xmlns:p14="http://schemas.microsoft.com/office/powerpoint/2010/main" val="1160798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CE915-C54B-4F43-8BBE-7A87AE74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專案骨架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FF065-8A48-43A2-BCB4-7739D1D0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讓學生看到真實專案長相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0A62B-3277-47E4-BB3A-02E3004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28750"/>
            <a:ext cx="4572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todo-fullstack/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compose.yaml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.env.example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frontend/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Dockerfile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nginx.conf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src/App.jsx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backend/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Dockerfile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app.py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test_app.py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db/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  init.sql</a:t>
            </a:r>
          </a:p>
          <a:p xmlns:a="http://schemas.openxmlformats.org/drawingml/2006/main">
            <a:pPr algn="l">
              <a:defRPr sz="1575">
                <a:solidFill>
                  <a:srgbClr val="F8FAFC"/>
                </a:solidFill>
              </a:defRPr>
            </a:pPr>
            <a:r>
              <a:rPr sz="1575">
                <a:solidFill>
                  <a:srgbClr val="F8FAFC"/>
                </a:solidFill>
              </a:rPr>
              <a:t>  .github/workflows/cicd.yml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580F3-CC4F-41FD-9AB1-A6362325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EE14F-8402-4C66-961A-18994F21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前端、後端、資料庫分開管理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D6274-2ED9-4D2A-B4C6-DE45AAAA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F3C4E-ECFD-4CC5-905E-2813FF24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Dockerfile 放在各自服務目錄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D2C97-649B-4902-A7AF-8782517B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50372-2197-4E61-920B-FEE7B2F7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compose.yaml 負責把三個服務串起來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82FB5-9DE2-4C38-AC02-0582F0F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0084E-5C1F-4381-A48D-320B9152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CI/CD workflow 放在 repository 根目錄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E32A1-1F56-40C9-B224-F8530F7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堂｜05</a:t>
            </a:r>
          </a:p>
        </p:txBody>
      </p:sp>
    </p:spTree>
    <p:extLst>
      <p:ext uri="{BB962C8B-B14F-4D97-AF65-F5344CB8AC3E}">
        <p14:creationId xmlns:p14="http://schemas.microsoft.com/office/powerpoint/2010/main" val="1028360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224C1-3B5C-46FA-A395-7733C7DA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18822-8494-4E9B-9B53-14BB9AE9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Flask API 負責資料操作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6AC90-6802-4B4D-9AC5-043B0ACD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GET /api/health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健康檢查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7C888-C5F6-4BDC-A68B-4BF7EB4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GET /api/todos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讀取清單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6B142-B805-4675-A642-831B7222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POST /api/todos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新增任務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B1938-A36F-464A-85AD-FDB53E1D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811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PATCH / DELETE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更新與刪除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93587-439A-4340-AD2F-DF10A65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F8FAFC"/>
                </a:solidFill>
              </a:defRPr>
            </a:pPr>
            <a:r>
              <a:rPr sz="1725">
                <a:solidFill>
                  <a:srgbClr val="F8FAFC"/>
                </a:solidFill>
              </a:rPr>
              <a:t>MYSQL_HOST=db</a:t>
            </a:r>
          </a:p>
          <a:p xmlns:a="http://schemas.openxmlformats.org/drawingml/2006/main">
            <a:pPr algn="l">
              <a:defRPr sz="1725">
                <a:solidFill>
                  <a:srgbClr val="F8FAFC"/>
                </a:solidFill>
              </a:defRPr>
            </a:pPr>
            <a:r>
              <a:rPr sz="1725">
                <a:solidFill>
                  <a:srgbClr val="F8FAFC"/>
                </a:solidFill>
              </a:rPr>
              <a:t>MYSQL_DATABASE=todo_app</a:t>
            </a:r>
          </a:p>
          <a:p xmlns:a="http://schemas.openxmlformats.org/drawingml/2006/main">
            <a:pPr algn="l">
              <a:defRPr sz="1725">
                <a:solidFill>
                  <a:srgbClr val="F8FAFC"/>
                </a:solidFill>
              </a:defRPr>
            </a:pPr>
            <a:r>
              <a:rPr sz="1725">
                <a:solidFill>
                  <a:srgbClr val="F8FAFC"/>
                </a:solidFill>
              </a:rPr>
              <a:t>MYSQL_USER=todo_user</a:t>
            </a:r>
          </a:p>
          <a:p xmlns:a="http://schemas.openxmlformats.org/drawingml/2006/main">
            <a:pPr algn="l">
              <a:defRPr sz="1725">
                <a:solidFill>
                  <a:srgbClr val="F8FAFC"/>
                </a:solidFill>
              </a:defRPr>
            </a:pPr>
            <a:r>
              <a:rPr sz="1725">
                <a:solidFill>
                  <a:srgbClr val="F8FAFC"/>
                </a:solidFill>
              </a:rPr>
              <a:t>MYSQL_PASSWORD=...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9F8FB-6AF6-4909-896F-8FA1846C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C7EDE-09B6-444E-AC07-0CCBE2B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Flask listen 0.0.0.0:5000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B49A-527C-4446-BEFF-E82DF08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86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BEF39-D3C0-44B4-BD2F-4BB2236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不用 localhost 找 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8A62F-FEAA-4413-921B-6F16157B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9F061-72B2-4935-BB63-B5DFBFD9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pytest 先測不依賴 DB 的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FBCEC-2B8A-4E19-8BC7-C62D146C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堂｜06</a:t>
            </a:r>
          </a:p>
        </p:txBody>
      </p:sp>
    </p:spTree>
    <p:extLst>
      <p:ext uri="{BB962C8B-B14F-4D97-AF65-F5344CB8AC3E}">
        <p14:creationId xmlns:p14="http://schemas.microsoft.com/office/powerpoint/2010/main" val="1010863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411EA-809D-4F86-96AD-8CF20B67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37219-2AB2-435A-8D9C-EF5DA98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React 只負責畫面，Nginx 負責交付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32DED-8AF8-4B51-8BCD-CB5204F9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React</a:t>
            </a:r>
          </a:p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顯示 Todo + fetch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1C9D-1D68-46B5-A0BA-F8849D8C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63EB"/>
                </a:solidFill>
              </a:defRPr>
            </a:pPr>
            <a:r>
              <a:rPr sz="2100" b="1">
                <a:solidFill>
                  <a:srgbClr val="4263EB"/>
                </a:solidFill>
              </a:rPr>
              <a:t>→ npm run build 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F063A-F2AD-4822-A75C-A545DA46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dist/</a:t>
            </a:r>
          </a:p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HTML CSS 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9107B-FBBF-4F1F-9A8C-002B5BF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A5A"/>
                </a:solidFill>
              </a:defRPr>
            </a:pPr>
            <a:r>
              <a:rPr sz="2550" b="1">
                <a:solidFill>
                  <a:srgbClr val="168A5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2C258-55F9-4BA7-A80B-76A6E403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954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Nginx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serve static + proxy /api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70395-4BED-47EB-960E-ACE6FAEA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95700"/>
            <a:ext cx="7981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location /api/ {</a:t>
            </a:r>
          </a:p>
          <a:p xmlns:a="http://schemas.openxmlformats.org/drawingml/2006/main">
            <a:pPr algn="l"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proxy_pass http://backend:5000/api/;</a:t>
            </a:r>
          </a:p>
          <a:p xmlns:a="http://schemas.openxmlformats.org/drawingml/2006/main">
            <a:pPr algn="l"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3CEFC-1179-464B-BBF5-76482CA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174"/>
                </a:solidFill>
              </a:defRPr>
            </a:pPr>
            <a:r>
              <a:rPr sz="1800" b="0">
                <a:solidFill>
                  <a:srgbClr val="586174"/>
                </a:solidFill>
              </a:rPr>
              <a:t>前端不直接知道資料庫，也不需要處理 CORS；瀏覽器只打 frontend，Nginx 轉發 API。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7562A-F7FB-484D-9FF4-110DF177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堂｜07</a:t>
            </a:r>
          </a:p>
        </p:txBody>
      </p:sp>
    </p:spTree>
    <p:extLst>
      <p:ext uri="{BB962C8B-B14F-4D97-AF65-F5344CB8AC3E}">
        <p14:creationId xmlns:p14="http://schemas.microsoft.com/office/powerpoint/2010/main" val="1255156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912B3-F9DB-4E15-AE61-791CBF5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88115-83AC-4E42-BC25-8D3EC8F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兩個服務各自 build 成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CC899-19DB-41CE-B2D8-90E01469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4953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backend/Dockerfile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FROM python:3.11-slim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WORKDIR /app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COPY requirements.txt 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RUN pip install --no-cache-dir -r requirements.txt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COPY . 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CMD ["python", "app.py"]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4DB3-C97B-4BB0-AAF9-024723DF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4953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frontend/Dockerfile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FROM node:20-alpine AS build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COPY package.json .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RUN npm install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RUN npm run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FROM nginx:1.27-alpine</a:t>
            </a:r>
          </a:p>
          <a:p xmlns:a="http://schemas.openxmlformats.org/drawingml/2006/main">
            <a:pPr algn="l">
              <a:defRPr sz="1350">
                <a:solidFill>
                  <a:srgbClr val="F8FAFC"/>
                </a:solidFill>
              </a:defRPr>
            </a:pPr>
            <a:r>
              <a:rPr sz="1350">
                <a:solidFill>
                  <a:srgbClr val="F8FAFC"/>
                </a:solidFill>
              </a:rPr>
              <a:t>COPY --from=build /app/dist /usr/share/nginx/html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664DE-26D5-417E-8376-3AB7FDA5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重點：backend 用 Python image；frontend 用 multi-stage build，最後 image 只留下 Nginx 和靜態檔。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12479-DF1E-4E4A-A401-AE4DF7F6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堂｜08</a:t>
            </a:r>
          </a:p>
        </p:txBody>
      </p:sp>
    </p:spTree>
    <p:extLst>
      <p:ext uri="{BB962C8B-B14F-4D97-AF65-F5344CB8AC3E}">
        <p14:creationId xmlns:p14="http://schemas.microsoft.com/office/powerpoint/2010/main" val="1321074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32B8F-3F3D-404B-8463-BD64FBF6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Compose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3E04-1D3F-484F-AB0A-64A77C7B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一個檔案啟動 frontend、backend、db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C2C54-DD90-4853-9D0E-F5C8C5A3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56197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services: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frontend: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build: ./frontend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ports: ["8080:80"]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depends_on: [backend]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backend: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build: ./backend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environment: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MYSQL_HOST: db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depends_on: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db: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  condition: service_healthy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db: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image: mysql:8.0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volumes:</a:t>
            </a:r>
          </a:p>
          <a:p xmlns:a="http://schemas.openxmlformats.org/drawingml/2006/main">
            <a:pPr algn="l"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      - todo-db-data:/var/lib/mysql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F0DEA-7FA3-4D2A-AC0D-98FA151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57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35391-3A90-439A-A232-C33AD4FD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020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frontend 對 host 開 8080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85D9D-2AFF-4EE9-BB74-CDD069ED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6E96B-795B-4B7B-A183-A3F2E299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backend 在 compose network 裡給 frontend 呼叫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04BBF-F925-44DB-83E3-1C10D0C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9B1DB-4002-40EB-8324-4EED4F9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1940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db 不需要暴露給瀏覽器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57A1F-58ED-42B9-9B7C-18DC44CA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DEEE2-9F10-4243-9D13-F9C91BC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depends_on + healthcheck 降低啟動順序問題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3F9F3-BAFC-43E2-A5EE-9229B495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96851-1B36-45C5-9D97-28CD2BB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volume 保存 MySQL 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BC1C1-9B8B-4AC7-968F-A4971DB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堂｜09</a:t>
            </a:r>
          </a:p>
        </p:txBody>
      </p:sp>
    </p:spTree>
    <p:extLst>
      <p:ext uri="{BB962C8B-B14F-4D97-AF65-F5344CB8AC3E}">
        <p14:creationId xmlns:p14="http://schemas.microsoft.com/office/powerpoint/2010/main" val="467604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0FA69-65E5-4D93-851D-4D7EEA36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Volume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0AEE9-047B-4FB5-B7B5-A2E8FD4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container 可重建，資料要留下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58A80-559A-4705-B131-1D6DF23E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docker compose down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container 被刪掉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F111D-F2B6-435B-B9C5-0C21C7C6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A4A"/>
                </a:solidFill>
              </a:defRPr>
            </a:pPr>
            <a:r>
              <a:rPr sz="2550" b="1">
                <a:solidFill>
                  <a:srgbClr val="D94A4A"/>
                </a:solidFill>
              </a:rPr>
              <a:t>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6B1A5-2B57-4C2F-89AE-1965FC71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todo-db-data volume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MySQL 資料仍存在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F24EA-8348-4909-848C-B57EB783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直到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A73FF-46C7-4187-8BBB-8531A5E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99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docker compose down -v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volume 被刪掉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94976-CF9D-48ED-A899-9FADB70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init.sql 重新執行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資料回到初始狀態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2E78F-AFC2-4E9A-B56F-0F6940C9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197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這是 Docker 基本功：知道什麼可以丟、什麼必須保存。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A5FD4-F80D-4F32-B775-7B3C74F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堂｜10</a:t>
            </a:r>
          </a:p>
        </p:txBody>
      </p:sp>
    </p:spTree>
    <p:extLst>
      <p:ext uri="{BB962C8B-B14F-4D97-AF65-F5344CB8AC3E}">
        <p14:creationId xmlns:p14="http://schemas.microsoft.com/office/powerpoint/2010/main" val="193560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CF331-7891-4A3F-98EC-91AD82C8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除錯基本功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1ABCB-151A-43A5-B307-3D2968A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不是背指令，而是知道去哪裡看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150B4-3A3B-4B31-B586-B160E00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5429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logs frontend</a:t>
            </a:r>
          </a:p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logs backend</a:t>
            </a:r>
          </a:p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logs 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exec backend sh</a:t>
            </a:r>
          </a:p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exec db mysql -u todo_user -p todo_app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F8FAFC"/>
                </a:solidFill>
              </a:defRPr>
            </a:pPr>
            <a:r>
              <a:rPr sz="1650">
                <a:solidFill>
                  <a:srgbClr val="F8FAFC"/>
                </a:solidFill>
              </a:rPr>
              <a:t>docker compose build --no-cache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EB49B-9099-4388-9F22-C17A606F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47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BBEF5-80D8-4D67-8303-1EABFCD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358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前端問題：先看 Nginx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CE51D-30AC-475D-95A0-654E8D87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092BD-F482-4CAC-A174-E45E556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358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API 問題：看 backend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B97CB-8FC3-412A-9B67-5AF70F6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70F58-2723-49B6-A6CF-58AEEE45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62300"/>
            <a:ext cx="358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DB 問題：exec 進 MySQL 查資料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D323D-B7E0-45FF-8120-5591FF94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3C5CB-66F6-4269-9B5B-0696D243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48100"/>
            <a:ext cx="358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程式碼改了沒生效：重新 build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D3EAA-C8D9-4EA6-B3E8-98F83DF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堂｜11</a:t>
            </a:r>
          </a:p>
        </p:txBody>
      </p:sp>
    </p:spTree>
    <p:extLst>
      <p:ext uri="{BB962C8B-B14F-4D97-AF65-F5344CB8AC3E}">
        <p14:creationId xmlns:p14="http://schemas.microsoft.com/office/powerpoint/2010/main" val="508353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0C7DE-976E-4F9F-BB14-554F6B9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EDF3-803E-4396-AD7E-DAB57C1B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第五堂的能力，套到全端專題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40FD6-A580-43D6-8B22-4EB09628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test-backend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pytest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FADD3-77A3-43CF-841C-A9690FA9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263EB"/>
                </a:solidFill>
              </a:defRPr>
            </a:pPr>
            <a:r>
              <a:rPr sz="2700" b="1">
                <a:solidFill>
                  <a:srgbClr val="4263EB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BCE42-E752-426D-A0B3-3D5A67A3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compose-check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build + up +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3D916-D877-4388-89FF-A75D09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8A5A"/>
                </a:solidFill>
              </a:defRPr>
            </a:pPr>
            <a:r>
              <a:rPr sz="2700" b="1">
                <a:solidFill>
                  <a:srgbClr val="168A5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4F410-B336-45B9-AAB7-22F943CE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push-images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frontend/backend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CAE7F-5574-4578-9CBE-ECBC0E50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ABE8B-80F6-4789-B268-4F03C60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29000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PR：測試 + compose health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B784F-6573-4ADE-8A10-991F21A5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FD9B7-CF76-4777-9873-C1A8B9A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81450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push main：才 push Docker 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789C3-0962-4768-8171-E1D82709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99721-B2E8-4101-B674-D479DDD1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33900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CI 會抓到 backend、Nginx proxy、Compose 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0FB30-C5DE-4912-9B46-F3C15996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9C19B-2E7C-4FA6-9E04-110BADC0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86350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真正部署前，至少確定 image 能啟動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37451-0962-4ED2-9220-9203436C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堂｜12</a:t>
            </a:r>
          </a:p>
        </p:txBody>
      </p:sp>
    </p:spTree>
    <p:extLst>
      <p:ext uri="{BB962C8B-B14F-4D97-AF65-F5344CB8AC3E}">
        <p14:creationId xmlns:p14="http://schemas.microsoft.com/office/powerpoint/2010/main" val="2072200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7A77D3-8119-4D71-9388-EBEE5E56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常見錯誤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26FAF-CB9B-4C1A-91F1-0063A57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最後一堂要刻意練排錯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E0B49-6321-479C-B68C-8042C365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MYSQL_HOST=localhost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backend 找不到 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39A21-8E74-4955-BA88-667815AA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proxy_pass 寫錯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React 打 API 失敗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525F3-3C28-45F0-8FFF-935C6D8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改 init.sql 沒效果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volume 已存在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40D9A-CE78-428C-965E-9063766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D2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改前端沒重 build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Nginx 還在 serve 舊 dist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D9077-56DD-4830-91D4-C091AF41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每個錯誤都要搭配 logs、curl、exec、rebuild 去驗證，不只看紅字猜原因。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40B94-E88F-415B-93CB-78328DBD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堂｜13</a:t>
            </a:r>
          </a:p>
        </p:txBody>
      </p:sp>
    </p:spTree>
    <p:extLst>
      <p:ext uri="{BB962C8B-B14F-4D97-AF65-F5344CB8AC3E}">
        <p14:creationId xmlns:p14="http://schemas.microsoft.com/office/powerpoint/2010/main" val="1656944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F57C9-C163-48E4-90BF-2D8CC41D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最終成果檢查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1DBA5-7000-45D4-BEFB-2CF9A8C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完成這份 checklist 才算有基本 Docker 實力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47551-33A6-47BF-A511-757F720D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24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EFC0B-CB8A-4DE1-87CE-218E7386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6685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docker compose up -d --build 能啟動三個服務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EA3E8-BA10-4658-BE6A-75D51FF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F07B3-6C28-4932-B995-1126AD96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1930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瀏覽器打開 http://localhost:8080 看得到 Todo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40E32-E684-4731-BEAA-BB471478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D54CD-0956-4BAA-BA36-765520C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新增、完成、刪除 Todo 都會寫入 MySQL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0A2A0-D2E5-4DE3-BDE3-A536B0D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13D70-A0C9-4C1A-B83B-575690F3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docker compose down 後重啟，資料仍存在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CC732-B967-4AC2-9CCD-1165C72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914D6-21FE-467F-BD96-EC9DFE4E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能看 frontend/backend/db logs 找問題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8681E-EF9A-4BA5-A6CE-42BCAAC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1C24C-131F-4475-8A2D-E6A59596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GitHub Actions 綠燈，Docker Hub 有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66E22-1E28-4E7F-95C5-7C6974D6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堂｜14</a:t>
            </a:r>
          </a:p>
        </p:txBody>
      </p:sp>
    </p:spTree>
    <p:extLst>
      <p:ext uri="{BB962C8B-B14F-4D97-AF65-F5344CB8AC3E}">
        <p14:creationId xmlns:p14="http://schemas.microsoft.com/office/powerpoint/2010/main" val="882814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30810-390E-416D-876B-0FE4D1D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課程收尾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0F876-119B-4325-9DEA-67E4BFF6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這堂課代表的能力邊界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245A6-B9D8-430F-AE9D-B31EED88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4305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BDD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你已經會的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EE8FF-7634-4CB9-8591-4754549A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14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C3AAA-BEDD-4554-B77C-93D0AD2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拆服務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47778-9744-4F7B-9477-DBB86BCA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03147-128F-4F80-9953-7B4DC5FF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146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寫 Dockerfile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42927-7B4B-469C-BFF6-458F1A77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C7F99-1043-40BD-823B-EDC5628F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寫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A1719-4764-47BE-AD2D-F5CA11B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86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44F60-4D1D-42EC-A090-00744E6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保留資料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0364B-B24A-4EE9-9FF9-8300366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43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9D8E3-9E72-471D-B6C0-BC81DE38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看 logs 排錯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497CC-6922-4693-82C3-8D6B3C1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A"/>
          </a:solidFill>
          <a:ln xmlns:a="http://schemas.openxmlformats.org/drawingml/2006/main" w="9525">
            <a:solidFill>
              <a:srgbClr val="16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B9D15-31BB-4A43-BAD3-A9A9FCDD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接 CI/CD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BE71A-89D1-4417-AD47-AC20286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4305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ED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下一步再學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F0865-1B3D-4C59-89D5-00D61D3A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09C6B-948B-4E63-AC5E-4C91DB34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Gunicorn / production Flask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63985-A136-4650-8E46-D214547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7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E4813-6430-45DF-9DB5-F4C695A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DB migration / backup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3C4E4-E585-4D72-9BCA-3C44369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EEE06-3233-4E17-8A91-A4970B8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HTTPS / reverse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3B17C-717C-4523-B92B-1A23B78B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86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0A83C-9AB0-41A9-86B0-EC500961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29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Image scan / secrets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B5FED-1570-4D10-9749-1838F4F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CF2FB-78E2-4611-883A-7B0E82D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Cloud Run / ECS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8DF542-2F48-41E5-8D47-E66C530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00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3EB"/>
          </a:solidFill>
          <a:ln xmlns:a="http://schemas.openxmlformats.org/drawingml/2006/main" w="9525">
            <a:solidFill>
              <a:srgbClr val="42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D24E0-1794-44A3-B640-266BA1CE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Kubernetes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BFDBA-4ABC-4F9E-8E64-EBCD3540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堂｜15</a:t>
            </a:r>
          </a:p>
        </p:txBody>
      </p:sp>
    </p:spTree>
    <p:extLst>
      <p:ext uri="{BB962C8B-B14F-4D97-AF65-F5344CB8AC3E}">
        <p14:creationId xmlns:p14="http://schemas.microsoft.com/office/powerpoint/2010/main" val="20858384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C84FC-2337-46C1-8C83-287F785D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63EB"/>
                </a:solidFill>
              </a:defRPr>
            </a:pPr>
            <a:r>
              <a:rPr sz="1050" b="1">
                <a:solidFill>
                  <a:srgbClr val="4263EB"/>
                </a:solidFill>
              </a:rPr>
              <a:t>練習題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3333F-C313-433F-B6B4-CBC6DEF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用小改動確認架構真的懂了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5E377-6E68-4B89-972A-B6C3EE3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68C26-AD99-4F8D-90FF-B1D89103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8115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新增 priority 欄位：理解 init.sql 與 volume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CA09A-2A89-41F3-BBB8-5E3C21B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1A3DC-DD90-41A0-B24B-AA05747A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讓 /api/health 真的檢查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438EC-694D-4B8D-9E9A-2FD579D0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6A19E-6E9D-4C8D-B401-FF5E3036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移除 backend 對外 port，只透過 frontend 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F0C7A-88F2-4D31-9BC4-B796EF3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38032-3929-4EF1-8644-387E5F63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故意寫錯 Nginx proxy，讓 CI 抓到錯誤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76A82-5BB7-4A11-9AD8-522F418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2BB5E-C931-4BA1-B6D9-C387E813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完成 README：啟動、停止、除錯、CI badge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3C974-4AAE-4BBC-A10A-9E0E859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4A6"/>
                </a:solidFill>
              </a:defRPr>
            </a:pPr>
            <a:r>
              <a:rPr sz="900" b="0">
                <a:solidFill>
                  <a:srgbClr val="8A94A6"/>
                </a:solidFill>
              </a:rPr>
              <a:t>Docker 基礎教學｜第 6 堂｜16</a:t>
            </a:r>
          </a:p>
        </p:txBody>
      </p:sp>
    </p:spTree>
    <p:extLst>
      <p:ext uri="{BB962C8B-B14F-4D97-AF65-F5344CB8AC3E}">
        <p14:creationId xmlns:p14="http://schemas.microsoft.com/office/powerpoint/2010/main" val="731025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2026-06-22T08:36:57.4730000Z</dcterms:created>
  <dcterms:modified xsi:type="dcterms:W3CDTF">2026-06-22T08:36:57.4730000Z</dcterms:modified>
</coreProperties>
</file>