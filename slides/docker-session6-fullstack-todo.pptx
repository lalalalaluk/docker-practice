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72" r:id="rId7"/>
    <p:sldId id="273" r:id="rId8"/>
    <p:sldId id="287" r:id="rId9"/>
    <p:sldId id="289" r:id="rId10"/>
    <p:sldId id="290" r:id="rId11"/>
    <p:sldId id="291" r:id="rId12"/>
    <p:sldId id="292" r:id="rId13"/>
    <p:sldId id="293" r:id="rId14"/>
    <p:sldId id="294" r:id="rId15"/>
    <p:sldId id="295" r:id="rId16"/>
    <p:sldId id="296" r:id="rId17"/>
    <p:sldId id="297" r:id="rId18"/>
    <p:sldId id="304" r:id="rId19"/>
    <p:sldId id="305" r:id="rId20"/>
    <p:sldId id="306" r:id="rId2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23"/>
    <p:restoredTop sz="94621"/>
  </p:normalViewPr>
  <p:slideViewPr>
    <p:cSldViewPr snapToGrid="0">
      <p:cViewPr varScale="1">
        <p:scale>
          <a:sx n="125" d="100"/>
          <a:sy n="125" d="100"/>
        </p:scale>
        <p:origin x="168" y="1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6A5EFE3F-8A94-4E94-8CA6-FE104E88A80B}"/>
              </a:ext>
            </a:extLst>
          </p:cNvPr>
          <p:cNvSpPr>
            <a:spLocks noGrp="1"/>
          </p:cNvSpPr>
          <p:nvPr/>
        </p:nvSpPr>
        <p:spPr>
          <a:xfrm>
            <a:off x="742950" y="609600"/>
            <a:ext cx="571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4263EB"/>
                </a:solidFill>
              </a:defRPr>
            </a:pPr>
            <a:r>
              <a:rPr sz="1500" b="1">
                <a:solidFill>
                  <a:srgbClr val="4263EB"/>
                </a:solidFill>
              </a:rPr>
              <a:t>Docker 基礎教學 第 6 堂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0DAE6BD-84CC-4003-A3E6-4FAD80029F0D}"/>
              </a:ext>
            </a:extLst>
          </p:cNvPr>
          <p:cNvSpPr>
            <a:spLocks noGrp="1"/>
          </p:cNvSpPr>
          <p:nvPr/>
        </p:nvSpPr>
        <p:spPr>
          <a:xfrm>
            <a:off x="723900" y="1371600"/>
            <a:ext cx="685800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4050" b="1">
                <a:solidFill>
                  <a:srgbClr val="172033"/>
                </a:solidFill>
              </a:defRPr>
            </a:pPr>
            <a:r>
              <a:rPr sz="4050" b="1">
                <a:solidFill>
                  <a:srgbClr val="172033"/>
                </a:solidFill>
              </a:rPr>
              <a:t>Docker Compose</a:t>
            </a:r>
          </a:p>
          <a:p>
            <a:pPr algn="l">
              <a:buNone/>
              <a:defRPr sz="4050" b="1">
                <a:solidFill>
                  <a:srgbClr val="172033"/>
                </a:solidFill>
              </a:defRPr>
            </a:pPr>
            <a:r>
              <a:rPr sz="4050" b="1">
                <a:solidFill>
                  <a:srgbClr val="172033"/>
                </a:solidFill>
              </a:rPr>
              <a:t>全端專題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EC77E40-CEAB-4515-B0ED-04BC96096FC4}"/>
              </a:ext>
            </a:extLst>
          </p:cNvPr>
          <p:cNvSpPr>
            <a:spLocks noGrp="1"/>
          </p:cNvSpPr>
          <p:nvPr/>
        </p:nvSpPr>
        <p:spPr>
          <a:xfrm>
            <a:off x="762000" y="3314700"/>
            <a:ext cx="6762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586174"/>
                </a:solidFill>
              </a:defRPr>
            </a:pPr>
            <a:r>
              <a:rPr sz="1875" b="0">
                <a:solidFill>
                  <a:srgbClr val="586174"/>
                </a:solidFill>
              </a:rPr>
              <a:t>React + Flask + MySQL 三層架構，由 Docker Compose 一鍵啟動與管理</a:t>
            </a: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191F81F-FDBF-419F-8980-FFE88E2C8D03}"/>
              </a:ext>
            </a:extLst>
          </p:cNvPr>
          <p:cNvSpPr>
            <a:spLocks noGrp="1"/>
          </p:cNvSpPr>
          <p:nvPr/>
        </p:nvSpPr>
        <p:spPr>
          <a:xfrm>
            <a:off x="8096250" y="1200150"/>
            <a:ext cx="247650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BED1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</a:t>
            </a:r>
          </a:p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React + Nginx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F0B27B4-ABC9-4CF9-9FB8-FC73AF9C2F0A}"/>
              </a:ext>
            </a:extLst>
          </p:cNvPr>
          <p:cNvSpPr>
            <a:spLocks noGrp="1"/>
          </p:cNvSpPr>
          <p:nvPr/>
        </p:nvSpPr>
        <p:spPr>
          <a:xfrm>
            <a:off x="9191625" y="2190750"/>
            <a:ext cx="381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550" b="1">
                <a:solidFill>
                  <a:srgbClr val="4263EB"/>
                </a:solidFill>
              </a:defRPr>
            </a:pPr>
            <a:r>
              <a:rPr sz="2550" b="1">
                <a:solidFill>
                  <a:srgbClr val="4263EB"/>
                </a:solidFill>
              </a:rPr>
              <a:t>↓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B0C7C026-16FD-49A7-9387-CB87DB445B20}"/>
              </a:ext>
            </a:extLst>
          </p:cNvPr>
          <p:cNvSpPr>
            <a:spLocks noGrp="1"/>
          </p:cNvSpPr>
          <p:nvPr/>
        </p:nvSpPr>
        <p:spPr>
          <a:xfrm>
            <a:off x="8096250" y="2686050"/>
            <a:ext cx="247650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C9E8D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backend</a:t>
            </a:r>
          </a:p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API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0596A3B-F87D-4A73-A0F2-8BED2A22D527}"/>
              </a:ext>
            </a:extLst>
          </p:cNvPr>
          <p:cNvSpPr>
            <a:spLocks noGrp="1"/>
          </p:cNvSpPr>
          <p:nvPr/>
        </p:nvSpPr>
        <p:spPr>
          <a:xfrm>
            <a:off x="9191625" y="3676650"/>
            <a:ext cx="381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550" b="1">
                <a:solidFill>
                  <a:srgbClr val="168A5A"/>
                </a:solidFill>
              </a:defRPr>
            </a:pPr>
            <a:r>
              <a:rPr sz="2550" b="1">
                <a:solidFill>
                  <a:srgbClr val="168A5A"/>
                </a:solidFill>
              </a:rPr>
              <a:t>↓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061BA224-6C0D-4EFE-9AF3-9C112A4A2337}"/>
              </a:ext>
            </a:extLst>
          </p:cNvPr>
          <p:cNvSpPr>
            <a:spLocks noGrp="1"/>
          </p:cNvSpPr>
          <p:nvPr/>
        </p:nvSpPr>
        <p:spPr>
          <a:xfrm>
            <a:off x="8096250" y="4171950"/>
            <a:ext cx="247650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FFD7A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database</a:t>
            </a:r>
          </a:p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MySQL + Volume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4258D5E-F00C-4309-8A59-85973BB985D9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堂｜01</a:t>
            </a:r>
          </a:p>
        </p:txBody>
      </p:sp>
    </p:spTree>
    <p:extLst>
      <p:ext uri="{BB962C8B-B14F-4D97-AF65-F5344CB8AC3E}">
        <p14:creationId xmlns:p14="http://schemas.microsoft.com/office/powerpoint/2010/main" val="856278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CD1223E0-5EE0-40BF-98FB-7BF5C1B12547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從第五堂課接到第六堂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B4DD8CC-7C4D-4701-AFDA-AE5CF3C39B64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上一堂完成：單一 Flask app 的 CI/CD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380A253F-C460-4A8F-BEC0-3C3B7909487F}"/>
              </a:ext>
            </a:extLst>
          </p:cNvPr>
          <p:cNvSpPr>
            <a:spLocks noGrp="1"/>
          </p:cNvSpPr>
          <p:nvPr/>
        </p:nvSpPr>
        <p:spPr>
          <a:xfrm>
            <a:off x="1123950" y="16764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80A3ABC-85BA-4706-8CE2-08C7D86A7382}"/>
              </a:ext>
            </a:extLst>
          </p:cNvPr>
          <p:cNvSpPr>
            <a:spLocks noGrp="1"/>
          </p:cNvSpPr>
          <p:nvPr/>
        </p:nvSpPr>
        <p:spPr>
          <a:xfrm>
            <a:off x="1447800" y="1619250"/>
            <a:ext cx="9010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GitHub Actions 綠燈，Docker Hub 有 image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CE62DB9B-CDFE-446F-878D-D7805B5B85A0}"/>
              </a:ext>
            </a:extLst>
          </p:cNvPr>
          <p:cNvSpPr>
            <a:spLocks noGrp="1"/>
          </p:cNvSpPr>
          <p:nvPr/>
        </p:nvSpPr>
        <p:spPr>
          <a:xfrm>
            <a:off x="1123950" y="2266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EBC653C-7C3D-4DF2-8475-44B847E1E6D4}"/>
              </a:ext>
            </a:extLst>
          </p:cNvPr>
          <p:cNvSpPr>
            <a:spLocks noGrp="1"/>
          </p:cNvSpPr>
          <p:nvPr/>
        </p:nvSpPr>
        <p:spPr>
          <a:xfrm>
            <a:off x="1447800" y="2209800"/>
            <a:ext cx="9010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本機可以 pull/run，也知道怎麼看失敗 log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310A8B6F-32BE-4400-ADE6-80D0E9331D0D}"/>
              </a:ext>
            </a:extLst>
          </p:cNvPr>
          <p:cNvSpPr>
            <a:spLocks noGrp="1"/>
          </p:cNvSpPr>
          <p:nvPr/>
        </p:nvSpPr>
        <p:spPr>
          <a:xfrm>
            <a:off x="1123950" y="28575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85907A5-0FD7-472B-8247-D01BCFE7E499}"/>
              </a:ext>
            </a:extLst>
          </p:cNvPr>
          <p:cNvSpPr>
            <a:spLocks noGrp="1"/>
          </p:cNvSpPr>
          <p:nvPr/>
        </p:nvSpPr>
        <p:spPr>
          <a:xfrm>
            <a:off x="1447800" y="2800350"/>
            <a:ext cx="9010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今天放大成：frontend + backend + MySQL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88EEAA1D-688E-43D2-9F3F-01529CBE0F47}"/>
              </a:ext>
            </a:extLst>
          </p:cNvPr>
          <p:cNvSpPr>
            <a:spLocks noGrp="1"/>
          </p:cNvSpPr>
          <p:nvPr/>
        </p:nvSpPr>
        <p:spPr>
          <a:xfrm>
            <a:off x="1123950" y="34480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7A5EDD5-CEA7-4283-9573-0BB6361AF8C5}"/>
              </a:ext>
            </a:extLst>
          </p:cNvPr>
          <p:cNvSpPr>
            <a:spLocks noGrp="1"/>
          </p:cNvSpPr>
          <p:nvPr/>
        </p:nvSpPr>
        <p:spPr>
          <a:xfrm>
            <a:off x="1447800" y="3390900"/>
            <a:ext cx="9010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每完成一個服務，就接 Dockerfile / Compose 驗證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AD137568-BB97-4418-8AFA-ACD2BE7FD8E6}"/>
              </a:ext>
            </a:extLst>
          </p:cNvPr>
          <p:cNvSpPr>
            <a:spLocks noGrp="1"/>
          </p:cNvSpPr>
          <p:nvPr/>
        </p:nvSpPr>
        <p:spPr>
          <a:xfrm>
            <a:off x="1123950" y="40386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64033B-20D8-4E35-B8DA-72CEFCE2FC5D}"/>
              </a:ext>
            </a:extLst>
          </p:cNvPr>
          <p:cNvSpPr>
            <a:spLocks noGrp="1"/>
          </p:cNvSpPr>
          <p:nvPr/>
        </p:nvSpPr>
        <p:spPr>
          <a:xfrm>
            <a:off x="1447800" y="3981450"/>
            <a:ext cx="9010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最後再接回第五堂的 CI/CD，自動驗證整套系統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5EC93D5-8ED7-4907-8C21-1A2D3AE605AC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堂｜02</a:t>
            </a:r>
          </a:p>
        </p:txBody>
      </p:sp>
    </p:spTree>
    <p:extLst>
      <p:ext uri="{BB962C8B-B14F-4D97-AF65-F5344CB8AC3E}">
        <p14:creationId xmlns:p14="http://schemas.microsoft.com/office/powerpoint/2010/main" val="853340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93160918-359B-4540-81F3-A53F39F6EABD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標準三層架構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D35CE98-1A9B-4A44-9E5F-9BD579DD1130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Browser 到 database 的請求路徑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79EABF1B-D3EE-49D9-9951-25A3B552DD9E}"/>
              </a:ext>
            </a:extLst>
          </p:cNvPr>
          <p:cNvSpPr>
            <a:spLocks noGrp="1"/>
          </p:cNvSpPr>
          <p:nvPr/>
        </p:nvSpPr>
        <p:spPr>
          <a:xfrm>
            <a:off x="1200150" y="1657350"/>
            <a:ext cx="219075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Browser</a:t>
            </a:r>
          </a:p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使用者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94E3C66-1EDE-49C1-B1A9-AC3A32C0593F}"/>
              </a:ext>
            </a:extLst>
          </p:cNvPr>
          <p:cNvSpPr>
            <a:spLocks noGrp="1"/>
          </p:cNvSpPr>
          <p:nvPr/>
        </p:nvSpPr>
        <p:spPr>
          <a:xfrm>
            <a:off x="3657600" y="1895475"/>
            <a:ext cx="571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850" b="1">
                <a:solidFill>
                  <a:srgbClr val="4263EB"/>
                </a:solidFill>
              </a:defRPr>
            </a:pPr>
            <a:r>
              <a:rPr sz="2850" b="1">
                <a:solidFill>
                  <a:srgbClr val="4263EB"/>
                </a:solidFill>
              </a:rPr>
              <a:t>→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54621D1C-49B6-4356-806E-2C0CDDA4BF99}"/>
              </a:ext>
            </a:extLst>
          </p:cNvPr>
          <p:cNvSpPr>
            <a:spLocks noGrp="1"/>
          </p:cNvSpPr>
          <p:nvPr/>
        </p:nvSpPr>
        <p:spPr>
          <a:xfrm>
            <a:off x="4248150" y="1657350"/>
            <a:ext cx="2190750" cy="876300"/>
          </a:xfrm>
          <a:prstGeom prst="roundRect">
            <a:avLst>
              <a:gd name="adj" fmla="val 8696"/>
            </a:avLst>
          </a:prstGeom>
          <a:solidFill>
            <a:srgbClr val="EEF3FF"/>
          </a:solidFill>
          <a:ln w="9525">
            <a:solidFill>
              <a:srgbClr val="A9BD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</a:t>
            </a:r>
          </a:p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React + Nginx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7305FC2-7569-4A6D-A063-F87A7B3F4DBE}"/>
              </a:ext>
            </a:extLst>
          </p:cNvPr>
          <p:cNvSpPr>
            <a:spLocks noGrp="1"/>
          </p:cNvSpPr>
          <p:nvPr/>
        </p:nvSpPr>
        <p:spPr>
          <a:xfrm>
            <a:off x="6705600" y="1895475"/>
            <a:ext cx="571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850" b="1">
                <a:solidFill>
                  <a:srgbClr val="168A5A"/>
                </a:solidFill>
              </a:defRPr>
            </a:pPr>
            <a:r>
              <a:rPr sz="285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3B963B76-3CF6-4ABA-9429-69C8F1C80595}"/>
              </a:ext>
            </a:extLst>
          </p:cNvPr>
          <p:cNvSpPr>
            <a:spLocks noGrp="1"/>
          </p:cNvSpPr>
          <p:nvPr/>
        </p:nvSpPr>
        <p:spPr>
          <a:xfrm>
            <a:off x="7296150" y="1657350"/>
            <a:ext cx="2190750" cy="876300"/>
          </a:xfrm>
          <a:prstGeom prst="roundRect">
            <a:avLst>
              <a:gd name="adj" fmla="val 8696"/>
            </a:avLst>
          </a:prstGeom>
          <a:solidFill>
            <a:srgbClr val="ECFDF5"/>
          </a:solidFill>
          <a:ln w="9525">
            <a:solidFill>
              <a:srgbClr val="9BDDB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backend</a:t>
            </a:r>
          </a:p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API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89E0E8-92FA-4485-9D49-E9A18054BB44}"/>
              </a:ext>
            </a:extLst>
          </p:cNvPr>
          <p:cNvSpPr>
            <a:spLocks noGrp="1"/>
          </p:cNvSpPr>
          <p:nvPr/>
        </p:nvSpPr>
        <p:spPr>
          <a:xfrm>
            <a:off x="9753600" y="1895475"/>
            <a:ext cx="571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850" b="1">
                <a:solidFill>
                  <a:srgbClr val="D97706"/>
                </a:solidFill>
              </a:defRPr>
            </a:pPr>
            <a:r>
              <a:rPr sz="2850" b="1">
                <a:solidFill>
                  <a:srgbClr val="D97706"/>
                </a:solidFill>
              </a:rPr>
              <a:t>→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85AA0ABF-76D9-4FF4-B357-E30AB3C34A72}"/>
              </a:ext>
            </a:extLst>
          </p:cNvPr>
          <p:cNvSpPr>
            <a:spLocks noGrp="1"/>
          </p:cNvSpPr>
          <p:nvPr/>
        </p:nvSpPr>
        <p:spPr>
          <a:xfrm>
            <a:off x="10344150" y="1657350"/>
            <a:ext cx="1428750" cy="876300"/>
          </a:xfrm>
          <a:prstGeom prst="roundRect">
            <a:avLst>
              <a:gd name="adj" fmla="val 8696"/>
            </a:avLst>
          </a:prstGeom>
          <a:solidFill>
            <a:srgbClr val="FFF7ED"/>
          </a:solidFill>
          <a:ln w="9525">
            <a:solidFill>
              <a:srgbClr val="FFD2A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db</a:t>
            </a:r>
          </a:p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MySQL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1AD0C727-CA10-49C1-A0A8-8B1CA73A6D1F}"/>
              </a:ext>
            </a:extLst>
          </p:cNvPr>
          <p:cNvSpPr>
            <a:spLocks noGrp="1"/>
          </p:cNvSpPr>
          <p:nvPr/>
        </p:nvSpPr>
        <p:spPr>
          <a:xfrm>
            <a:off x="2000250" y="3371850"/>
            <a:ext cx="37147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BED1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Nginx 把 /api proxy 到 backend:5000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06DF9FD1-447C-4A1F-94A5-5407FDFBF2CD}"/>
              </a:ext>
            </a:extLst>
          </p:cNvPr>
          <p:cNvSpPr>
            <a:spLocks noGrp="1"/>
          </p:cNvSpPr>
          <p:nvPr/>
        </p:nvSpPr>
        <p:spPr>
          <a:xfrm>
            <a:off x="6496050" y="3371850"/>
            <a:ext cx="37147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C9E8D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用 MYSQL_HOST=db 連資料庫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028725F-E97C-4E51-B140-ABC81548DBC9}"/>
              </a:ext>
            </a:extLst>
          </p:cNvPr>
          <p:cNvSpPr>
            <a:spLocks noGrp="1"/>
          </p:cNvSpPr>
          <p:nvPr/>
        </p:nvSpPr>
        <p:spPr>
          <a:xfrm>
            <a:off x="1390650" y="4838700"/>
            <a:ext cx="9429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核心能力：知道每個 container 負責什麼，並讓它們透過 service name 正確溝通。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5FC7BA7-5928-412E-AE1A-FE7C2B6470FB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堂｜03</a:t>
            </a:r>
          </a:p>
        </p:txBody>
      </p:sp>
    </p:spTree>
    <p:extLst>
      <p:ext uri="{BB962C8B-B14F-4D97-AF65-F5344CB8AC3E}">
        <p14:creationId xmlns:p14="http://schemas.microsoft.com/office/powerpoint/2010/main" val="1954631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7EB8DBE1-BC42-4F60-89D0-11C618071F16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Nginx 的角色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73697F5-A427-44CF-8583-94623EF9879B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這裡用 Nginx，但不是所有部署都必備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665D7663-FCBF-4C6D-ABD5-A9AD98A94C3D}"/>
              </a:ext>
            </a:extLst>
          </p:cNvPr>
          <p:cNvSpPr>
            <a:spLocks noGrp="1"/>
          </p:cNvSpPr>
          <p:nvPr/>
        </p:nvSpPr>
        <p:spPr>
          <a:xfrm>
            <a:off x="990600" y="1524000"/>
            <a:ext cx="2857500" cy="1066800"/>
          </a:xfrm>
          <a:prstGeom prst="roundRect">
            <a:avLst>
              <a:gd name="adj" fmla="val 7143"/>
            </a:avLst>
          </a:prstGeom>
          <a:solidFill>
            <a:srgbClr val="EEF3FF"/>
          </a:solidFill>
          <a:ln w="9525">
            <a:solidFill>
              <a:srgbClr val="BED1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本章採用</a:t>
            </a:r>
          </a:p>
          <a:p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React build + Nginx</a:t>
            </a: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4749AB19-8A23-402A-9811-5DAB65F9347D}"/>
              </a:ext>
            </a:extLst>
          </p:cNvPr>
          <p:cNvSpPr>
            <a:spLocks noGrp="1"/>
          </p:cNvSpPr>
          <p:nvPr/>
        </p:nvSpPr>
        <p:spPr>
          <a:xfrm>
            <a:off x="4667250" y="1524000"/>
            <a:ext cx="2857500" cy="1066800"/>
          </a:xfrm>
          <a:prstGeom prst="roundRect">
            <a:avLst>
              <a:gd name="adj" fmla="val 7143"/>
            </a:avLst>
          </a:prstGeom>
          <a:solidFill>
            <a:srgbClr val="ECFDF5"/>
          </a:solidFill>
          <a:ln w="9525">
            <a:solidFill>
              <a:srgbClr val="9BDDB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自租 VM 常見</a:t>
            </a:r>
          </a:p>
          <a:p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GCP VM / EC2 / VPS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64EBFEC6-E256-4681-B1D3-ED5B2C75DF01}"/>
              </a:ext>
            </a:extLst>
          </p:cNvPr>
          <p:cNvSpPr>
            <a:spLocks noGrp="1"/>
          </p:cNvSpPr>
          <p:nvPr/>
        </p:nvSpPr>
        <p:spPr>
          <a:xfrm>
            <a:off x="8343900" y="1524000"/>
            <a:ext cx="2857500" cy="1066800"/>
          </a:xfrm>
          <a:prstGeom prst="roundRect">
            <a:avLst>
              <a:gd name="adj" fmla="val 7143"/>
            </a:avLst>
          </a:prstGeom>
          <a:solidFill>
            <a:srgbClr val="FFF7ED"/>
          </a:solidFill>
          <a:ln w="9525">
            <a:solidFill>
              <a:srgbClr val="FFD2A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Managed service</a:t>
            </a:r>
          </a:p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可能不需要自管 Nginx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62E7093A-A5D6-4FF9-9AB1-B956F83BBD69}"/>
              </a:ext>
            </a:extLst>
          </p:cNvPr>
          <p:cNvSpPr>
            <a:spLocks noGrp="1"/>
          </p:cNvSpPr>
          <p:nvPr/>
        </p:nvSpPr>
        <p:spPr>
          <a:xfrm>
            <a:off x="1200150" y="32956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04B6137-7366-465D-9132-6F471D0F1E76}"/>
              </a:ext>
            </a:extLst>
          </p:cNvPr>
          <p:cNvSpPr>
            <a:spLocks noGrp="1"/>
          </p:cNvSpPr>
          <p:nvPr/>
        </p:nvSpPr>
        <p:spPr>
          <a:xfrm>
            <a:off x="1524000" y="3238500"/>
            <a:ext cx="9201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Nginx 在 frontend container 裡 serve React 靜態檔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E332EA03-BC31-458E-8352-4356D3D68E41}"/>
              </a:ext>
            </a:extLst>
          </p:cNvPr>
          <p:cNvSpPr>
            <a:spLocks noGrp="1"/>
          </p:cNvSpPr>
          <p:nvPr/>
        </p:nvSpPr>
        <p:spPr>
          <a:xfrm>
            <a:off x="1200150" y="37719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9F55067-3BF4-4907-B55A-2C5B67EB056D}"/>
              </a:ext>
            </a:extLst>
          </p:cNvPr>
          <p:cNvSpPr>
            <a:spLocks noGrp="1"/>
          </p:cNvSpPr>
          <p:nvPr/>
        </p:nvSpPr>
        <p:spPr>
          <a:xfrm>
            <a:off x="1524000" y="3714750"/>
            <a:ext cx="9201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Nginx 把 /api proxy 到 backend:5000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A552CDDA-1179-4A5F-A1AF-B7496D4E9876}"/>
              </a:ext>
            </a:extLst>
          </p:cNvPr>
          <p:cNvSpPr>
            <a:spLocks noGrp="1"/>
          </p:cNvSpPr>
          <p:nvPr/>
        </p:nvSpPr>
        <p:spPr>
          <a:xfrm>
            <a:off x="1200150" y="42481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F651D64-DEBE-4C52-9DFD-2421527C7BDA}"/>
              </a:ext>
            </a:extLst>
          </p:cNvPr>
          <p:cNvSpPr>
            <a:spLocks noGrp="1"/>
          </p:cNvSpPr>
          <p:nvPr/>
        </p:nvSpPr>
        <p:spPr>
          <a:xfrm>
            <a:off x="1524000" y="4191000"/>
            <a:ext cx="9201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這可以避免前端直接處理 CORS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C7DCD3ED-1B42-40A3-8235-76D960ABF4D3}"/>
              </a:ext>
            </a:extLst>
          </p:cNvPr>
          <p:cNvSpPr>
            <a:spLocks noGrp="1"/>
          </p:cNvSpPr>
          <p:nvPr/>
        </p:nvSpPr>
        <p:spPr>
          <a:xfrm>
            <a:off x="1200150" y="47244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684460B-B4D7-4CB4-A858-49A45E81079F}"/>
              </a:ext>
            </a:extLst>
          </p:cNvPr>
          <p:cNvSpPr>
            <a:spLocks noGrp="1"/>
          </p:cNvSpPr>
          <p:nvPr/>
        </p:nvSpPr>
        <p:spPr>
          <a:xfrm>
            <a:off x="1524000" y="4667250"/>
            <a:ext cx="9201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Cloud Run、Render、Railway 等平台前面可能已有 proxy / load balancer</a:t>
            </a: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E3E2F26F-B89B-4AB2-96CE-A5BF5D4A90CC}"/>
              </a:ext>
            </a:extLst>
          </p:cNvPr>
          <p:cNvSpPr>
            <a:spLocks noGrp="1"/>
          </p:cNvSpPr>
          <p:nvPr/>
        </p:nvSpPr>
        <p:spPr>
          <a:xfrm>
            <a:off x="1200150" y="52006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33A093F-75EB-4BBA-867C-ED736738D93D}"/>
              </a:ext>
            </a:extLst>
          </p:cNvPr>
          <p:cNvSpPr>
            <a:spLocks noGrp="1"/>
          </p:cNvSpPr>
          <p:nvPr/>
        </p:nvSpPr>
        <p:spPr>
          <a:xfrm>
            <a:off x="1524000" y="5143500"/>
            <a:ext cx="9201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本章重點仍是 Compose 如何管理多個 service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0B0A8DD-A8FA-4DE0-A52A-62279A499A17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堂｜04</a:t>
            </a:r>
          </a:p>
        </p:txBody>
      </p:sp>
    </p:spTree>
    <p:extLst>
      <p:ext uri="{BB962C8B-B14F-4D97-AF65-F5344CB8AC3E}">
        <p14:creationId xmlns:p14="http://schemas.microsoft.com/office/powerpoint/2010/main" val="11607987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30FCE915-C54B-4F43-8BBE-7A87AE74B5AE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教材資料夾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27FF065-8A48-43A2-BCB4-7739D1D025DB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不要從 PPT 複製完整 app 程式碼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0050A62B-3277-47E4-BB3A-02E3004DF4E6}"/>
              </a:ext>
            </a:extLst>
          </p:cNvPr>
          <p:cNvSpPr>
            <a:spLocks noGrp="1"/>
          </p:cNvSpPr>
          <p:nvPr/>
        </p:nvSpPr>
        <p:spPr>
          <a:xfrm>
            <a:off x="971550" y="1428750"/>
            <a:ext cx="4572000" cy="4095750"/>
          </a:xfrm>
          <a:prstGeom prst="roundRect">
            <a:avLst>
              <a:gd name="adj" fmla="val 1860"/>
            </a:avLst>
          </a:prstGeom>
          <a:solidFill>
            <a:srgbClr val="101828"/>
          </a:solidFill>
          <a:ln w="9525">
            <a:solidFill>
              <a:srgbClr val="26324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session-06-fullstack-todo/</a:t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starter/     學生練習用</a:t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frontend/  React 程式碼已提供</a:t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backend/   Flask API 已提供</a:t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db/init.sql 範例資料已提供</a:t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solution/    完整解答</a:t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endParaRPr sz="1575">
              <a:solidFill>
                <a:srgbClr val="F8FAFC"/>
              </a:solidFill>
            </a:endParaRP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endParaRPr sz="1575">
              <a:solidFill>
                <a:srgbClr val="F8FAFC"/>
              </a:solidFill>
            </a:endParaRP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endParaRPr sz="1575">
              <a:solidFill>
                <a:srgbClr val="F8FAFC"/>
              </a:solidFill>
            </a:endParaRP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endParaRPr sz="1575">
              <a:solidFill>
                <a:srgbClr val="F8FAFC"/>
              </a:solidFill>
            </a:endParaRP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endParaRPr sz="1575">
              <a:solidFill>
                <a:srgbClr val="F8FAFC"/>
              </a:solidFill>
            </a:endParaRP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endParaRPr sz="1575">
              <a:solidFill>
                <a:srgbClr val="F8FAFC"/>
              </a:solidFill>
            </a:endParaRP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endParaRPr sz="1575">
              <a:solidFill>
                <a:srgbClr val="F8FAFC"/>
              </a:solidFill>
            </a:endParaRP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endParaRPr sz="1575">
              <a:solidFill>
                <a:srgbClr val="F8FAFC"/>
              </a:solidFill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3F6580F3-CC4F-41FD-9AB1-A636232521B4}"/>
              </a:ext>
            </a:extLst>
          </p:cNvPr>
          <p:cNvSpPr>
            <a:spLocks noGrp="1"/>
          </p:cNvSpPr>
          <p:nvPr/>
        </p:nvSpPr>
        <p:spPr>
          <a:xfrm>
            <a:off x="6305550" y="17907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25EE14F-8402-4C66-961A-18994F21AB52}"/>
              </a:ext>
            </a:extLst>
          </p:cNvPr>
          <p:cNvSpPr>
            <a:spLocks noGrp="1"/>
          </p:cNvSpPr>
          <p:nvPr/>
        </p:nvSpPr>
        <p:spPr>
          <a:xfrm>
            <a:off x="6629400" y="1733550"/>
            <a:ext cx="41529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PPT 只放 Docker 關鍵片段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158D6274-2ED9-4D2A-B4C6-DE45AAAA343F}"/>
              </a:ext>
            </a:extLst>
          </p:cNvPr>
          <p:cNvSpPr>
            <a:spLocks noGrp="1"/>
          </p:cNvSpPr>
          <p:nvPr/>
        </p:nvSpPr>
        <p:spPr>
          <a:xfrm>
            <a:off x="6305550" y="24574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8F3C4E-ECFD-4CC5-905E-2813FF241FC1}"/>
              </a:ext>
            </a:extLst>
          </p:cNvPr>
          <p:cNvSpPr>
            <a:spLocks noGrp="1"/>
          </p:cNvSpPr>
          <p:nvPr/>
        </p:nvSpPr>
        <p:spPr>
          <a:xfrm>
            <a:off x="6629400" y="2400300"/>
            <a:ext cx="41529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學生補 Dockerfile / .dockerignore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A03D2C97-649B-4902-A7AF-8782517B79D7}"/>
              </a:ext>
            </a:extLst>
          </p:cNvPr>
          <p:cNvSpPr>
            <a:spLocks noGrp="1"/>
          </p:cNvSpPr>
          <p:nvPr/>
        </p:nvSpPr>
        <p:spPr>
          <a:xfrm>
            <a:off x="6305550" y="31242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1F50372-2197-4E61-920B-FEE7B2F7A13E}"/>
              </a:ext>
            </a:extLst>
          </p:cNvPr>
          <p:cNvSpPr>
            <a:spLocks noGrp="1"/>
          </p:cNvSpPr>
          <p:nvPr/>
        </p:nvSpPr>
        <p:spPr>
          <a:xfrm>
            <a:off x="6629400" y="3067050"/>
            <a:ext cx="41529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學生補 nginx.conf / compose.yaml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D8482FB5-9DE2-4C38-AC02-0582F0FBEB1F}"/>
              </a:ext>
            </a:extLst>
          </p:cNvPr>
          <p:cNvSpPr>
            <a:spLocks noGrp="1"/>
          </p:cNvSpPr>
          <p:nvPr/>
        </p:nvSpPr>
        <p:spPr>
          <a:xfrm>
            <a:off x="6305550" y="3790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640084E-5C1F-4381-A48D-320B91521F35}"/>
              </a:ext>
            </a:extLst>
          </p:cNvPr>
          <p:cNvSpPr>
            <a:spLocks noGrp="1"/>
          </p:cNvSpPr>
          <p:nvPr/>
        </p:nvSpPr>
        <p:spPr>
          <a:xfrm>
            <a:off x="6629400" y="3733800"/>
            <a:ext cx="41529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學生補 GitHub Actions workflow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ABE32A1-1F56-40C9-B224-F8530F76D811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堂｜05</a:t>
            </a:r>
          </a:p>
        </p:txBody>
      </p:sp>
    </p:spTree>
    <p:extLst>
      <p:ext uri="{BB962C8B-B14F-4D97-AF65-F5344CB8AC3E}">
        <p14:creationId xmlns:p14="http://schemas.microsoft.com/office/powerpoint/2010/main" val="1028360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ppendixLabel">
            <a:extLst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重點程式碼：backend/Dockerfile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學生要完成的關鍵檔案</a:t>
            </a:r>
          </a:p>
        </p:txBody>
      </p:sp>
      <p:sp>
        <p:nvSpPr>
          <p:cNvPr id="4" name="CodeBackground">
            <a:extLst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0972800" cy="438150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noGrp="1"/>
          </p:cNvSpPr>
          <p:nvPr/>
        </p:nvSpPr>
        <p:spPr>
          <a:xfrm>
            <a:off x="914400" y="1943100"/>
            <a:ext cx="10363200" cy="3676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rmAutofit/>
          </a:bodyPr>
          <a:lstStyle/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666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noGrp="1"/>
          </p:cNvSpPr>
          <p:nvPr/>
        </p:nvSpPr>
        <p:spPr>
          <a:xfrm>
            <a:off x="10934700" y="640080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1B3411EA-809D-4F86-96AD-8CF20B67955D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Frontend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9537219-2AB2-435A-8D9C-EF5DA9823672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React 只負責畫面，Nginx 負責交付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08632DED-8AF8-4B51-8BCD-CB5204F9B039}"/>
              </a:ext>
            </a:extLst>
          </p:cNvPr>
          <p:cNvSpPr>
            <a:spLocks noGrp="1"/>
          </p:cNvSpPr>
          <p:nvPr/>
        </p:nvSpPr>
        <p:spPr>
          <a:xfrm>
            <a:off x="1123950" y="1695450"/>
            <a:ext cx="2857500" cy="1104900"/>
          </a:xfrm>
          <a:prstGeom prst="roundRect">
            <a:avLst>
              <a:gd name="adj" fmla="val 6897"/>
            </a:avLst>
          </a:prstGeom>
          <a:solidFill>
            <a:srgbClr val="EEF3FF"/>
          </a:solidFill>
          <a:ln w="9525">
            <a:solidFill>
              <a:srgbClr val="BED1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React</a:t>
            </a:r>
          </a:p>
          <a:p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顯示 Product + fetch API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C791C9D-1D68-46B5-A0BA-F8849D8CDFE9}"/>
              </a:ext>
            </a:extLst>
          </p:cNvPr>
          <p:cNvSpPr>
            <a:spLocks noGrp="1"/>
          </p:cNvSpPr>
          <p:nvPr/>
        </p:nvSpPr>
        <p:spPr>
          <a:xfrm>
            <a:off x="4286250" y="2038350"/>
            <a:ext cx="2476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100" b="1">
                <a:solidFill>
                  <a:srgbClr val="4263EB"/>
                </a:solidFill>
              </a:defRPr>
            </a:pPr>
            <a:r>
              <a:rPr sz="2100" b="1">
                <a:solidFill>
                  <a:srgbClr val="4263EB"/>
                </a:solidFill>
              </a:rPr>
              <a:t>→ npm run build →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7A5F063A-F2AD-4822-A75C-A545DA46F2B8}"/>
              </a:ext>
            </a:extLst>
          </p:cNvPr>
          <p:cNvSpPr>
            <a:spLocks noGrp="1"/>
          </p:cNvSpPr>
          <p:nvPr/>
        </p:nvSpPr>
        <p:spPr>
          <a:xfrm>
            <a:off x="7067550" y="1695450"/>
            <a:ext cx="20955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dist/</a:t>
            </a:r>
          </a:p>
          <a:p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HTML CSS JS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119107B-FBBF-4F1F-9A8C-002B5BFCA830}"/>
              </a:ext>
            </a:extLst>
          </p:cNvPr>
          <p:cNvSpPr>
            <a:spLocks noGrp="1"/>
          </p:cNvSpPr>
          <p:nvPr/>
        </p:nvSpPr>
        <p:spPr>
          <a:xfrm>
            <a:off x="9353550" y="2038350"/>
            <a:ext cx="5143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550" b="1">
                <a:solidFill>
                  <a:srgbClr val="168A5A"/>
                </a:solidFill>
              </a:defRPr>
            </a:pPr>
            <a:r>
              <a:rPr sz="255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FDB2C258-55F9-4BA7-A80B-76A6E40370DF}"/>
              </a:ext>
            </a:extLst>
          </p:cNvPr>
          <p:cNvSpPr>
            <a:spLocks noGrp="1"/>
          </p:cNvSpPr>
          <p:nvPr/>
        </p:nvSpPr>
        <p:spPr>
          <a:xfrm>
            <a:off x="10001250" y="1695450"/>
            <a:ext cx="1524000" cy="1104900"/>
          </a:xfrm>
          <a:prstGeom prst="roundRect">
            <a:avLst>
              <a:gd name="adj" fmla="val 6897"/>
            </a:avLst>
          </a:prstGeom>
          <a:solidFill>
            <a:srgbClr val="ECFDF5"/>
          </a:solidFill>
          <a:ln w="9525">
            <a:solidFill>
              <a:srgbClr val="9BDDB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Nginx</a:t>
            </a:r>
          </a:p>
          <a:p>
            <a:pPr algn="ctr">
              <a:buNone/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serve static + proxy /api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D1370395-4BED-47EB-960E-ACE6FAEAA6E6}"/>
              </a:ext>
            </a:extLst>
          </p:cNvPr>
          <p:cNvSpPr>
            <a:spLocks noGrp="1"/>
          </p:cNvSpPr>
          <p:nvPr/>
        </p:nvSpPr>
        <p:spPr>
          <a:xfrm>
            <a:off x="2114550" y="3695700"/>
            <a:ext cx="7981950" cy="1123950"/>
          </a:xfrm>
          <a:prstGeom prst="roundRect">
            <a:avLst>
              <a:gd name="adj" fmla="val 6780"/>
            </a:avLst>
          </a:prstGeom>
          <a:solidFill>
            <a:srgbClr val="101828"/>
          </a:solidFill>
          <a:ln w="9525">
            <a:solidFill>
              <a:srgbClr val="26324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l">
              <a:buNone/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location /api/ {</a:t>
            </a:r>
          </a:p>
          <a:p>
            <a:pPr algn="l">
              <a:buNone/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  proxy_pass http://backend:5000/api/;</a:t>
            </a:r>
          </a:p>
          <a:p>
            <a:pPr algn="l">
              <a:buNone/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}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E13CEFC-1179-464B-BBF5-76482CAA8726}"/>
              </a:ext>
            </a:extLst>
          </p:cNvPr>
          <p:cNvSpPr>
            <a:spLocks noGrp="1"/>
          </p:cNvSpPr>
          <p:nvPr/>
        </p:nvSpPr>
        <p:spPr>
          <a:xfrm>
            <a:off x="1428750" y="5219700"/>
            <a:ext cx="933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00" b="0">
                <a:solidFill>
                  <a:srgbClr val="586174"/>
                </a:solidFill>
              </a:defRPr>
            </a:pPr>
            <a:r>
              <a:rPr sz="1800" b="0">
                <a:solidFill>
                  <a:srgbClr val="586174"/>
                </a:solidFill>
              </a:rPr>
              <a:t>前端不直接知道資料庫，也不需要處理 CORS；瀏覽器只打 frontend，Nginx 轉發 API。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057562A-F7FB-484D-9FF4-110DF177B7C8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堂｜07</a:t>
            </a:r>
          </a:p>
        </p:txBody>
      </p:sp>
    </p:spTree>
    <p:extLst>
      <p:ext uri="{BB962C8B-B14F-4D97-AF65-F5344CB8AC3E}">
        <p14:creationId xmlns:p14="http://schemas.microsoft.com/office/powerpoint/2010/main" val="12551563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ppendixLabel">
            <a:extLst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重點程式碼：frontend/nginx.conf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學生要完成的關鍵檔案</a:t>
            </a:r>
          </a:p>
        </p:txBody>
      </p:sp>
      <p:sp>
        <p:nvSpPr>
          <p:cNvPr id="4" name="CodeBackground">
            <a:extLst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0972800" cy="438150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noGrp="1"/>
          </p:cNvSpPr>
          <p:nvPr/>
        </p:nvSpPr>
        <p:spPr>
          <a:xfrm>
            <a:off x="914400" y="1943100"/>
            <a:ext cx="10363200" cy="3676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rmAutofit/>
          </a:bodyPr>
          <a:lstStyle/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listen 80;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server_name _;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root /usr/share/nginx/html;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index index.html;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location / {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try_files $uri /index.html;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}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location /api/ {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proxy_pass http://backend:5000/api/;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proxy_set_header Host $host;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proxy_set_header X-Real-IP $remote_addr;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}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666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noGrp="1"/>
          </p:cNvSpPr>
          <p:nvPr/>
        </p:nvSpPr>
        <p:spPr>
          <a:xfrm>
            <a:off x="10934700" y="640080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ppendixLabel">
            <a:extLst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重點程式碼：frontend/Dockerfile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學生要完成的關鍵檔案</a:t>
            </a:r>
          </a:p>
        </p:txBody>
      </p:sp>
      <p:sp>
        <p:nvSpPr>
          <p:cNvPr id="4" name="CodeBackground">
            <a:extLst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0972800" cy="438150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noGrp="1"/>
          </p:cNvSpPr>
          <p:nvPr/>
        </p:nvSpPr>
        <p:spPr>
          <a:xfrm>
            <a:off x="914400" y="1943100"/>
            <a:ext cx="10363200" cy="3676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rmAutofit/>
          </a:bodyPr>
          <a:lstStyle/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node:20-alpine AS build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package.json .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npm install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npm run build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nginx:1.27-alpine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nginx.conf /etc/nginx/conf.d/default.conf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--from=build /app/dist /usr/share/nginx/html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80</a:t>
            </a:r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666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noGrp="1"/>
          </p:cNvSpPr>
          <p:nvPr/>
        </p:nvSpPr>
        <p:spPr>
          <a:xfrm>
            <a:off x="10934700" y="640080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E7912B3-F9DB-4E15-AE61-791CBF59FEE2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Dockerfile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3688115-83AC-4E42-BC25-8D3EC8F7F7B7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兩個服務各自 build 成 image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52ECC899-19DB-41CE-B2D8-90E01469FCA8}"/>
              </a:ext>
            </a:extLst>
          </p:cNvPr>
          <p:cNvSpPr>
            <a:spLocks noGrp="1"/>
          </p:cNvSpPr>
          <p:nvPr/>
        </p:nvSpPr>
        <p:spPr>
          <a:xfrm>
            <a:off x="857250" y="1504950"/>
            <a:ext cx="4953000" cy="3390900"/>
          </a:xfrm>
          <a:prstGeom prst="roundRect">
            <a:avLst>
              <a:gd name="adj" fmla="val 2247"/>
            </a:avLst>
          </a:prstGeom>
          <a:solidFill>
            <a:srgbClr val="101828"/>
          </a:solidFill>
          <a:ln w="9525">
            <a:solidFill>
              <a:srgbClr val="26324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backend/Dockerfile</a:t>
            </a:r>
          </a:p>
          <a:p>
            <a:endParaRPr sz="1350">
              <a:solidFill>
                <a:srgbClr val="F8FAFC"/>
              </a:solidFill>
            </a:endParaRP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python:3.11-slim</a:t>
            </a: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WORKDIR /app</a:t>
            </a: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requirements.txt .</a:t>
            </a: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pip install --no-cache-dir -r requirements.txt</a:t>
            </a: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. .</a:t>
            </a: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CMD ["python", "app.py"]</a:t>
            </a: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21A54DB3-C97B-4BB0-AAF9-024723DF9DFB}"/>
              </a:ext>
            </a:extLst>
          </p:cNvPr>
          <p:cNvSpPr>
            <a:spLocks noGrp="1"/>
          </p:cNvSpPr>
          <p:nvPr/>
        </p:nvSpPr>
        <p:spPr>
          <a:xfrm>
            <a:off x="6381750" y="1504950"/>
            <a:ext cx="4953000" cy="3390900"/>
          </a:xfrm>
          <a:prstGeom prst="roundRect">
            <a:avLst>
              <a:gd name="adj" fmla="val 2247"/>
            </a:avLst>
          </a:prstGeom>
          <a:solidFill>
            <a:srgbClr val="101828"/>
          </a:solidFill>
          <a:ln w="9525">
            <a:solidFill>
              <a:srgbClr val="26324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frontend/Dockerfile</a:t>
            </a:r>
          </a:p>
          <a:p>
            <a:endParaRPr sz="1350">
              <a:solidFill>
                <a:srgbClr val="F8FAFC"/>
              </a:solidFill>
            </a:endParaRP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node:20-alpine AS build</a:t>
            </a: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package.json .</a:t>
            </a: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npm install</a:t>
            </a: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npm run build</a:t>
            </a:r>
          </a:p>
          <a:p>
            <a:endParaRPr sz="1350">
              <a:solidFill>
                <a:srgbClr val="F8FAFC"/>
              </a:solidFill>
            </a:endParaRP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nginx:1.27-alpine</a:t>
            </a: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--from=build /app/dist /usr/share/nginx/html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08664DE-26D5-417E-8376-3AB7FDA57ACF}"/>
              </a:ext>
            </a:extLst>
          </p:cNvPr>
          <p:cNvSpPr>
            <a:spLocks noGrp="1"/>
          </p:cNvSpPr>
          <p:nvPr/>
        </p:nvSpPr>
        <p:spPr>
          <a:xfrm>
            <a:off x="1219200" y="5314950"/>
            <a:ext cx="9753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重點：backend 用 Python image；frontend 用 multi-stage build，最後 image 只留下 Nginx 和靜態檔。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F412479-DF1E-4E4A-A401-AE4DF7F6093E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堂｜08</a:t>
            </a:r>
          </a:p>
        </p:txBody>
      </p:sp>
    </p:spTree>
    <p:extLst>
      <p:ext uri="{BB962C8B-B14F-4D97-AF65-F5344CB8AC3E}">
        <p14:creationId xmlns:p14="http://schemas.microsoft.com/office/powerpoint/2010/main" val="13210745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6DA32B8F-3F3D-404B-8463-BD64FBF6900F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Compose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2CC3E04-1D3F-484F-AB0A-64A77C7BC9B4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一個檔案啟動 frontend、backend、db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DA7C2C54-DD90-4853-9D0E-F5C8C5A39EF6}"/>
              </a:ext>
            </a:extLst>
          </p:cNvPr>
          <p:cNvSpPr>
            <a:spLocks noGrp="1"/>
          </p:cNvSpPr>
          <p:nvPr/>
        </p:nvSpPr>
        <p:spPr>
          <a:xfrm>
            <a:off x="952500" y="1371600"/>
            <a:ext cx="5619750" cy="4343400"/>
          </a:xfrm>
          <a:prstGeom prst="roundRect">
            <a:avLst>
              <a:gd name="adj" fmla="val 1754"/>
            </a:avLst>
          </a:prstGeom>
          <a:solidFill>
            <a:srgbClr val="101828"/>
          </a:solidFill>
          <a:ln w="9525">
            <a:solidFill>
              <a:srgbClr val="26324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services: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frontend: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image: product-frontend:1.0.0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build: ./frontend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ports: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- "8080:80"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depends_on: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- backend</a:t>
            </a:r>
          </a:p>
          <a:p>
            <a:endParaRPr sz="1100">
              <a:solidFill>
                <a:srgbClr val="F8FAFC"/>
              </a:solidFill>
            </a:endParaRP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backend: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image: product-backend:1.0.0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build: ./backend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environment: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MYSQL_HOST: db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depends_on: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db: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  condition: service_healthy</a:t>
            </a:r>
          </a:p>
          <a:p>
            <a:endParaRPr sz="1100">
              <a:solidFill>
                <a:srgbClr val="F8FAFC"/>
              </a:solidFill>
            </a:endParaRP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db: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image: mysql:8.0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volumes: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- product-db-data:/var/lib/mysql</a:t>
            </a: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D86F0DEA-7FA3-4D2A-AC0D-98FA15141359}"/>
              </a:ext>
            </a:extLst>
          </p:cNvPr>
          <p:cNvSpPr>
            <a:spLocks noGrp="1"/>
          </p:cNvSpPr>
          <p:nvPr/>
        </p:nvSpPr>
        <p:spPr>
          <a:xfrm>
            <a:off x="7143750" y="16573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9525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D435391-3A90-439A-A232-C33AD4FD61FC}"/>
              </a:ext>
            </a:extLst>
          </p:cNvPr>
          <p:cNvSpPr>
            <a:spLocks noGrp="1"/>
          </p:cNvSpPr>
          <p:nvPr/>
        </p:nvSpPr>
        <p:spPr>
          <a:xfrm>
            <a:off x="7467600" y="1600200"/>
            <a:ext cx="3581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frontend 對 host 開 8080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BC885D9D-2AFF-4EE9-BB74-CDD069EDA747}"/>
              </a:ext>
            </a:extLst>
          </p:cNvPr>
          <p:cNvSpPr>
            <a:spLocks noGrp="1"/>
          </p:cNvSpPr>
          <p:nvPr/>
        </p:nvSpPr>
        <p:spPr>
          <a:xfrm>
            <a:off x="7143750" y="2266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9525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446E96B-795B-4B7B-A183-A3F2E2990886}"/>
              </a:ext>
            </a:extLst>
          </p:cNvPr>
          <p:cNvSpPr>
            <a:spLocks noGrp="1"/>
          </p:cNvSpPr>
          <p:nvPr/>
        </p:nvSpPr>
        <p:spPr>
          <a:xfrm>
            <a:off x="7467600" y="2209800"/>
            <a:ext cx="3581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backend 在 compose network 裡給 frontend 呼叫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39B04BBF-F925-44DB-83E3-1C10D0CFE2C7}"/>
              </a:ext>
            </a:extLst>
          </p:cNvPr>
          <p:cNvSpPr>
            <a:spLocks noGrp="1"/>
          </p:cNvSpPr>
          <p:nvPr/>
        </p:nvSpPr>
        <p:spPr>
          <a:xfrm>
            <a:off x="7143750" y="28765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9525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C79B1DB-4002-40EB-8324-4EED4F93CFC0}"/>
              </a:ext>
            </a:extLst>
          </p:cNvPr>
          <p:cNvSpPr>
            <a:spLocks noGrp="1"/>
          </p:cNvSpPr>
          <p:nvPr/>
        </p:nvSpPr>
        <p:spPr>
          <a:xfrm>
            <a:off x="7467600" y="2819400"/>
            <a:ext cx="3581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db 不需要暴露給瀏覽器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F4357A1F-58ED-42B9-9B7C-18DC44CA0607}"/>
              </a:ext>
            </a:extLst>
          </p:cNvPr>
          <p:cNvSpPr>
            <a:spLocks noGrp="1"/>
          </p:cNvSpPr>
          <p:nvPr/>
        </p:nvSpPr>
        <p:spPr>
          <a:xfrm>
            <a:off x="7143750" y="34861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9525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ADEEE2-9F10-4243-9D13-F9C91BC83EDA}"/>
              </a:ext>
            </a:extLst>
          </p:cNvPr>
          <p:cNvSpPr>
            <a:spLocks noGrp="1"/>
          </p:cNvSpPr>
          <p:nvPr/>
        </p:nvSpPr>
        <p:spPr>
          <a:xfrm>
            <a:off x="7467600" y="3429000"/>
            <a:ext cx="3581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depends_on + healthcheck 降低啟動順序問題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1B53F9F3-BAFC-43E2-A5EE-9229B4951016}"/>
              </a:ext>
            </a:extLst>
          </p:cNvPr>
          <p:cNvSpPr>
            <a:spLocks noGrp="1"/>
          </p:cNvSpPr>
          <p:nvPr/>
        </p:nvSpPr>
        <p:spPr>
          <a:xfrm>
            <a:off x="7143750" y="40957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9525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D096851-1B36-45C5-9D97-28CD2BBF0248}"/>
              </a:ext>
            </a:extLst>
          </p:cNvPr>
          <p:cNvSpPr>
            <a:spLocks noGrp="1"/>
          </p:cNvSpPr>
          <p:nvPr/>
        </p:nvSpPr>
        <p:spPr>
          <a:xfrm>
            <a:off x="7467600" y="4038600"/>
            <a:ext cx="3581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volume 保存 MySQL 資料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51BC1C1-9B8B-4AC7-968F-A4971DB57D3B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堂｜09</a:t>
            </a:r>
          </a:p>
        </p:txBody>
      </p:sp>
    </p:spTree>
    <p:extLst>
      <p:ext uri="{BB962C8B-B14F-4D97-AF65-F5344CB8AC3E}">
        <p14:creationId xmlns:p14="http://schemas.microsoft.com/office/powerpoint/2010/main" val="467604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ppendixLabel">
            <a:extLst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重點程式碼：compose.yaml (1/2)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學生要完成的關鍵檔案</a:t>
            </a:r>
          </a:p>
        </p:txBody>
      </p:sp>
      <p:sp>
        <p:nvSpPr>
          <p:cNvPr id="4" name="CodeBackground">
            <a:extLst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0972800" cy="438150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noGrp="1"/>
          </p:cNvSpPr>
          <p:nvPr/>
        </p:nvSpPr>
        <p:spPr>
          <a:xfrm>
            <a:off x="914400" y="1943100"/>
            <a:ext cx="10363200" cy="3676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rmAutofit fontScale="97475"/>
          </a:bodyPr>
          <a:lstStyle/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frontend: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build: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context: ./frontend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backend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backend: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build: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context: ./backend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"5000:5000"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MYSQL_HOST: db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MYSQL_PORT: 3306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${MYSQL_DATABASE}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${MYSQL_USER}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${MYSQL_PASSWORD}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db:</a:t>
            </a:r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666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noGrp="1"/>
          </p:cNvSpPr>
          <p:nvPr/>
        </p:nvSpPr>
        <p:spPr>
          <a:xfrm>
            <a:off x="10934700" y="640080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ppendixLabel">
            <a:extLst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重點程式碼：compose.yaml (2/2)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學生要完成的關鍵檔案</a:t>
            </a:r>
          </a:p>
        </p:txBody>
      </p:sp>
      <p:sp>
        <p:nvSpPr>
          <p:cNvPr id="4" name="CodeBackground">
            <a:extLst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0972800" cy="438150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noGrp="1"/>
          </p:cNvSpPr>
          <p:nvPr/>
        </p:nvSpPr>
        <p:spPr>
          <a:xfrm>
            <a:off x="914400" y="1943100"/>
            <a:ext cx="10363200" cy="3676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rmAutofit fontScale="85778"/>
          </a:bodyPr>
          <a:lstStyle/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condition: service_healthy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${MYSQL_ROOT_PASSWORD}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${MYSQL_DATABASE}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${MYSQL_USER}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${MYSQL_PASSWORD}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product-db-data:/var/lib/mysql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./db/init.sql:/docker-entrypoint-initdb.d/init.sql:ro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healthcheck: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test: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- CMD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- mysqladmin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- ping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- "-h"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- localhost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interval: 5s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timeout: 5s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retries: 10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product-db-data:</a:t>
            </a:r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666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noGrp="1"/>
          </p:cNvSpPr>
          <p:nvPr/>
        </p:nvSpPr>
        <p:spPr>
          <a:xfrm>
            <a:off x="10934700" y="640080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F9BBFE1-CE2B-4877-BC38-52762959A854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TAGGING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A76CEBB-5151-4A23-9FCD-E3926D6018CD}"/>
              </a:ext>
            </a:extLst>
          </p:cNvPr>
          <p:cNvSpPr>
            <a:spLocks noGrp="1"/>
          </p:cNvSpPr>
          <p:nvPr/>
        </p:nvSpPr>
        <p:spPr>
          <a:xfrm>
            <a:off x="6858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裡版本號該寫在哪裡？</a:t>
            </a: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92EA8061-0372-49EE-AB9F-250537E5A2C8}"/>
              </a:ext>
            </a:extLst>
          </p:cNvPr>
          <p:cNvSpPr>
            <a:spLocks noGrp="1"/>
          </p:cNvSpPr>
          <p:nvPr/>
        </p:nvSpPr>
        <p:spPr>
          <a:xfrm>
            <a:off x="685800" y="1457325"/>
            <a:ext cx="3238500" cy="247650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209550" tIns="209550" rIns="209550" bIns="20955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Compose 檔案</a:t>
            </a:r>
          </a:p>
          <a:p>
            <a:pPr>
              <a:buNone/>
              <a:defRPr sz="500"/>
            </a:pPr>
            <a:endParaRPr sz="1700" b="1">
              <a:solidFill>
                <a:srgbClr val="0B5CAD"/>
              </a:solidFill>
              <a:latin typeface="Aptos Display"/>
              <a:ea typeface="Aptos Display"/>
              <a:cs typeface="Aptos Display"/>
            </a:endParaRPr>
          </a:p>
          <a:p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不要再寫舊式頂層 version: "3.8"</a:t>
            </a:r>
          </a:p>
          <a:p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 Compose V2 會用 Compose Specification。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C1785721-D847-470F-8FFB-F4048810CD6B}"/>
              </a:ext>
            </a:extLst>
          </p:cNvPr>
          <p:cNvSpPr>
            <a:spLocks noGrp="1"/>
          </p:cNvSpPr>
          <p:nvPr/>
        </p:nvSpPr>
        <p:spPr>
          <a:xfrm>
            <a:off x="4457700" y="1457325"/>
            <a:ext cx="3238500" cy="2476500"/>
          </a:xfrm>
          <a:prstGeom prst="roundRect">
            <a:avLst>
              <a:gd name="adj" fmla="val 8000"/>
            </a:avLst>
          </a:prstGeom>
          <a:solidFill>
            <a:srgbClr val="EAF7EF"/>
          </a:solidFill>
          <a:ln w="9525">
            <a:solidFill>
              <a:srgbClr val="B7E4C7"/>
            </a:solidFill>
            <a:prstDash val="solid"/>
          </a:ln>
        </p:spPr>
        <p:txBody>
          <a:bodyPr lIns="209550" tIns="209550" rIns="209550" bIns="20955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Service image</a:t>
            </a:r>
          </a:p>
          <a:p>
            <a:pPr>
              <a:buNone/>
              <a:defRPr sz="500"/>
            </a:pPr>
            <a:endParaRPr sz="1700" b="1">
              <a:solidFill>
                <a:srgbClr val="087F5B"/>
              </a:solidFill>
              <a:latin typeface="Aptos Display"/>
              <a:ea typeface="Aptos Display"/>
              <a:cs typeface="Aptos Display"/>
            </a:endParaRPr>
          </a:p>
          <a:p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要寫明確 tag</a:t>
            </a:r>
          </a:p>
          <a:p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rPr>
              <a:t>mysql:8.0</a:t>
            </a:r>
          </a:p>
          <a:p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rPr>
              <a:t>product-backend:1.0.0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4D961EE2-CDFD-48D1-A398-6AA252F6B3CA}"/>
              </a:ext>
            </a:extLst>
          </p:cNvPr>
          <p:cNvSpPr>
            <a:spLocks noGrp="1"/>
          </p:cNvSpPr>
          <p:nvPr/>
        </p:nvSpPr>
        <p:spPr>
          <a:xfrm>
            <a:off x="8229600" y="1457325"/>
            <a:ext cx="3238500" cy="24765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9525">
            <a:solidFill>
              <a:srgbClr val="FFD999"/>
            </a:solidFill>
            <a:prstDash val="solid"/>
          </a:ln>
        </p:spPr>
        <p:txBody>
          <a:bodyPr lIns="209550" tIns="209550" rIns="209550" bIns="20955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Build 服務</a:t>
            </a:r>
          </a:p>
          <a:p>
            <a:pPr>
              <a:buNone/>
              <a:defRPr sz="500"/>
            </a:pPr>
            <a:endParaRPr sz="1700" b="1">
              <a:solidFill>
                <a:srgbClr val="A16207"/>
              </a:solidFill>
              <a:latin typeface="Aptos Display"/>
              <a:ea typeface="Aptos Display"/>
              <a:cs typeface="Aptos Display"/>
            </a:endParaRPr>
          </a:p>
          <a:p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image + build 可以同時寫</a:t>
            </a:r>
          </a:p>
          <a:p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build 負責建立；image 負責命名與版本。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45E5C696-F4F9-479A-AA1A-0443D72796AA}"/>
              </a:ext>
            </a:extLst>
          </p:cNvPr>
          <p:cNvSpPr>
            <a:spLocks noGrp="1"/>
          </p:cNvSpPr>
          <p:nvPr/>
        </p:nvSpPr>
        <p:spPr>
          <a:xfrm>
            <a:off x="1143000" y="4324350"/>
            <a:ext cx="9144000" cy="6286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lIns="152400" tIns="152400" rIns="152400" bIns="1524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教學口訣：Compose 不寫舊 version；Image 不靠 latest。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1499A7DF-B9BE-46B2-A69E-47D8CC098394}"/>
              </a:ext>
            </a:extLst>
          </p:cNvPr>
          <p:cNvSpPr>
            <a:spLocks noGrp="1"/>
          </p:cNvSpPr>
          <p:nvPr/>
        </p:nvSpPr>
        <p:spPr>
          <a:xfrm>
            <a:off x="1714500" y="5156200"/>
            <a:ext cx="8001000" cy="51435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fontScale="97699"/>
          </a:bodyPr>
          <a:lstStyle/>
          <a:p>
            <a:pPr algn="ctr">
              <a:lnSpc>
                <a:spcPct val="106000"/>
              </a:lnSpc>
              <a:buNone/>
              <a:defRPr sz="1175" b="1">
                <a:solidFill>
                  <a:srgbClr val="0B1220"/>
                </a:solidFill>
                <a:latin typeface="Aptos Mono"/>
                <a:ea typeface="Aptos Mono"/>
                <a:cs typeface="Aptos Mono"/>
              </a:defRPr>
            </a:pPr>
            <a:r>
              <a:rPr sz="1175" b="1">
                <a:solidFill>
                  <a:srgbClr val="0B1220"/>
                </a:solidFill>
                <a:latin typeface="Aptos Mono"/>
                <a:ea typeface="Aptos Mono"/>
                <a:cs typeface="Aptos Mono"/>
              </a:rPr>
              <a:t>services:  frontend:  image: product-frontend:1.0.0  build: ./frontend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5D609B40-3C20-4A63-9C98-4AC2A0362D77}"/>
              </a:ext>
            </a:extLst>
          </p:cNvPr>
          <p:cNvSpPr>
            <a:spLocks noGrp="1"/>
          </p:cNvSpPr>
          <p:nvPr/>
        </p:nvSpPr>
        <p:spPr>
          <a:xfrm>
            <a:off x="6858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E5CD8663-95F9-409A-A8D9-D4B2749D56ED}"/>
              </a:ext>
            </a:extLst>
          </p:cNvPr>
          <p:cNvSpPr>
            <a:spLocks noGrp="1"/>
          </p:cNvSpPr>
          <p:nvPr/>
        </p:nvSpPr>
        <p:spPr>
          <a:xfrm>
            <a:off x="6858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基礎教學｜第 6 堂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FF4B62F3-41F6-44CB-8AF9-F783D2D1D590}"/>
              </a:ext>
            </a:extLst>
          </p:cNvPr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09B</a:t>
            </a:r>
          </a:p>
        </p:txBody>
      </p:sp>
    </p:spTree>
    <p:extLst>
      <p:ext uri="{BB962C8B-B14F-4D97-AF65-F5344CB8AC3E}">
        <p14:creationId xmlns:p14="http://schemas.microsoft.com/office/powerpoint/2010/main" val="17959819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B660FA69-65E5-4D93-851D-4D7EEA360199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Volume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6D0AEE9-047B-4FB5-B7B5-A2E8FD4B68B1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container 可重建，資料要留下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25958A80-559A-4705-B131-1D6DF23E9D07}"/>
              </a:ext>
            </a:extLst>
          </p:cNvPr>
          <p:cNvSpPr>
            <a:spLocks noGrp="1"/>
          </p:cNvSpPr>
          <p:nvPr/>
        </p:nvSpPr>
        <p:spPr>
          <a:xfrm>
            <a:off x="1371600" y="1676400"/>
            <a:ext cx="2857500" cy="1047750"/>
          </a:xfrm>
          <a:prstGeom prst="roundRect">
            <a:avLst>
              <a:gd name="adj" fmla="val 7273"/>
            </a:avLst>
          </a:prstGeom>
          <a:solidFill>
            <a:srgbClr val="FFF1F2"/>
          </a:solidFill>
          <a:ln w="9525">
            <a:solidFill>
              <a:srgbClr val="FECDD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docker compose down</a:t>
            </a:r>
          </a:p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container 被刪掉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D1F111D-F2B6-435B-B9C5-0C21C7C69C65}"/>
              </a:ext>
            </a:extLst>
          </p:cNvPr>
          <p:cNvSpPr>
            <a:spLocks noGrp="1"/>
          </p:cNvSpPr>
          <p:nvPr/>
        </p:nvSpPr>
        <p:spPr>
          <a:xfrm>
            <a:off x="4629150" y="1981200"/>
            <a:ext cx="666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550" b="1">
                <a:solidFill>
                  <a:srgbClr val="D94A4A"/>
                </a:solidFill>
              </a:defRPr>
            </a:pPr>
            <a:r>
              <a:rPr sz="2550" b="1">
                <a:solidFill>
                  <a:srgbClr val="D94A4A"/>
                </a:solidFill>
              </a:rPr>
              <a:t>但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0826B1A5-2B57-4C2F-89AE-1965FC71B7D8}"/>
              </a:ext>
            </a:extLst>
          </p:cNvPr>
          <p:cNvSpPr>
            <a:spLocks noGrp="1"/>
          </p:cNvSpPr>
          <p:nvPr/>
        </p:nvSpPr>
        <p:spPr>
          <a:xfrm>
            <a:off x="5715000" y="1676400"/>
            <a:ext cx="3238500" cy="1047750"/>
          </a:xfrm>
          <a:prstGeom prst="roundRect">
            <a:avLst>
              <a:gd name="adj" fmla="val 7273"/>
            </a:avLst>
          </a:prstGeom>
          <a:solidFill>
            <a:srgbClr val="ECFDF5"/>
          </a:solidFill>
          <a:ln w="9525">
            <a:solidFill>
              <a:srgbClr val="9BDDB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product-db-data volume</a:t>
            </a:r>
          </a:p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MySQL 資料仍存在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1DF24EA-8348-4909-848C-B57EB783DF0A}"/>
              </a:ext>
            </a:extLst>
          </p:cNvPr>
          <p:cNvSpPr>
            <a:spLocks noGrp="1"/>
          </p:cNvSpPr>
          <p:nvPr/>
        </p:nvSpPr>
        <p:spPr>
          <a:xfrm>
            <a:off x="9353550" y="1981200"/>
            <a:ext cx="76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550" b="1">
                <a:solidFill>
                  <a:srgbClr val="D97706"/>
                </a:solidFill>
              </a:defRPr>
            </a:pPr>
            <a:r>
              <a:rPr sz="2550" b="1">
                <a:solidFill>
                  <a:srgbClr val="D97706"/>
                </a:solidFill>
              </a:rPr>
              <a:t>直到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42AA73FF-46C7-4187-8BBB-8531A5E75ACD}"/>
              </a:ext>
            </a:extLst>
          </p:cNvPr>
          <p:cNvSpPr>
            <a:spLocks noGrp="1"/>
          </p:cNvSpPr>
          <p:nvPr/>
        </p:nvSpPr>
        <p:spPr>
          <a:xfrm>
            <a:off x="1371600" y="3409950"/>
            <a:ext cx="2857500" cy="1047750"/>
          </a:xfrm>
          <a:prstGeom prst="roundRect">
            <a:avLst>
              <a:gd name="adj" fmla="val 7273"/>
            </a:avLst>
          </a:prstGeom>
          <a:solidFill>
            <a:srgbClr val="FFF7ED"/>
          </a:solidFill>
          <a:ln w="9525">
            <a:solidFill>
              <a:srgbClr val="FFD2A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docker compose down -v</a:t>
            </a:r>
          </a:p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volume 被刪掉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7EE94976-CF9D-48ED-A899-9FADB70EF4CD}"/>
              </a:ext>
            </a:extLst>
          </p:cNvPr>
          <p:cNvSpPr>
            <a:spLocks noGrp="1"/>
          </p:cNvSpPr>
          <p:nvPr/>
        </p:nvSpPr>
        <p:spPr>
          <a:xfrm>
            <a:off x="5715000" y="3409950"/>
            <a:ext cx="3238500" cy="1047750"/>
          </a:xfrm>
          <a:prstGeom prst="roundRect">
            <a:avLst>
              <a:gd name="adj" fmla="val 7273"/>
            </a:avLst>
          </a:prstGeom>
          <a:solidFill>
            <a:srgbClr val="EEF3FF"/>
          </a:solidFill>
          <a:ln w="9525">
            <a:solidFill>
              <a:srgbClr val="BED1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init.sql 重新執行</a:t>
            </a:r>
          </a:p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資料回到初始狀態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FC2E78F-AFC2-4E9A-B56F-0F6940C9D69B}"/>
              </a:ext>
            </a:extLst>
          </p:cNvPr>
          <p:cNvSpPr>
            <a:spLocks noGrp="1"/>
          </p:cNvSpPr>
          <p:nvPr/>
        </p:nvSpPr>
        <p:spPr>
          <a:xfrm>
            <a:off x="1638300" y="5219700"/>
            <a:ext cx="8953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025" b="1">
                <a:solidFill>
                  <a:srgbClr val="172033"/>
                </a:solidFill>
              </a:defRPr>
            </a:pPr>
            <a:r>
              <a:rPr sz="2025" b="1">
                <a:solidFill>
                  <a:srgbClr val="172033"/>
                </a:solidFill>
              </a:rPr>
              <a:t>這是 Docker 基本功：知道什麼可以丟、什麼必須保存。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B4A5FD4-F80D-4F32-B775-7B3C74F331FC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堂｜10</a:t>
            </a:r>
          </a:p>
        </p:txBody>
      </p:sp>
    </p:spTree>
    <p:extLst>
      <p:ext uri="{BB962C8B-B14F-4D97-AF65-F5344CB8AC3E}">
        <p14:creationId xmlns:p14="http://schemas.microsoft.com/office/powerpoint/2010/main" val="1935602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334CF331-7891-4A3F-98EC-91AD82C8899A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除錯基本功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C51ABCB-151A-43A5-B307-3D2968A5636B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不是背指令，而是知道去哪裡看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C4A150B4-3A3B-4B31-B586-B160E002A939}"/>
              </a:ext>
            </a:extLst>
          </p:cNvPr>
          <p:cNvSpPr>
            <a:spLocks noGrp="1"/>
          </p:cNvSpPr>
          <p:nvPr/>
        </p:nvSpPr>
        <p:spPr>
          <a:xfrm>
            <a:off x="914400" y="1543050"/>
            <a:ext cx="5429250" cy="3524250"/>
          </a:xfrm>
          <a:prstGeom prst="roundRect">
            <a:avLst>
              <a:gd name="adj" fmla="val 2162"/>
            </a:avLst>
          </a:prstGeom>
          <a:solidFill>
            <a:srgbClr val="101828"/>
          </a:solidFill>
          <a:ln w="9525">
            <a:solidFill>
              <a:srgbClr val="26324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ps</a:t>
            </a:r>
          </a:p>
          <a:p>
            <a:endParaRPr sz="1650">
              <a:solidFill>
                <a:srgbClr val="F8FAFC"/>
              </a:solidFill>
            </a:endParaRPr>
          </a:p>
          <a:p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frontend</a:t>
            </a:r>
          </a:p>
          <a:p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backend</a:t>
            </a:r>
          </a:p>
          <a:p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db</a:t>
            </a:r>
          </a:p>
          <a:p>
            <a:endParaRPr sz="1650">
              <a:solidFill>
                <a:srgbClr val="F8FAFC"/>
              </a:solidFill>
            </a:endParaRPr>
          </a:p>
          <a:p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exec backend bash</a:t>
            </a:r>
          </a:p>
          <a:p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exec db mysql -u product_user -p product_app</a:t>
            </a:r>
          </a:p>
          <a:p>
            <a:endParaRPr sz="1650">
              <a:solidFill>
                <a:srgbClr val="F8FAFC"/>
              </a:solidFill>
            </a:endParaRPr>
          </a:p>
          <a:p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build --no-cache</a:t>
            </a: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A3EB49B-9099-4388-9F22-C17A606F4C7B}"/>
              </a:ext>
            </a:extLst>
          </p:cNvPr>
          <p:cNvSpPr>
            <a:spLocks noGrp="1"/>
          </p:cNvSpPr>
          <p:nvPr/>
        </p:nvSpPr>
        <p:spPr>
          <a:xfrm>
            <a:off x="6953250" y="18478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8BBBEF5-80D8-4D67-8303-1EABFCDF9AE8}"/>
              </a:ext>
            </a:extLst>
          </p:cNvPr>
          <p:cNvSpPr>
            <a:spLocks noGrp="1"/>
          </p:cNvSpPr>
          <p:nvPr/>
        </p:nvSpPr>
        <p:spPr>
          <a:xfrm>
            <a:off x="7277100" y="1790700"/>
            <a:ext cx="35814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前端問題：先看 Nginx logs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97DCE51D-30AC-475D-95A0-654E8D87210B}"/>
              </a:ext>
            </a:extLst>
          </p:cNvPr>
          <p:cNvSpPr>
            <a:spLocks noGrp="1"/>
          </p:cNvSpPr>
          <p:nvPr/>
        </p:nvSpPr>
        <p:spPr>
          <a:xfrm>
            <a:off x="6953250" y="25336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60092BD-F482-4CAC-A174-E45E55680777}"/>
              </a:ext>
            </a:extLst>
          </p:cNvPr>
          <p:cNvSpPr>
            <a:spLocks noGrp="1"/>
          </p:cNvSpPr>
          <p:nvPr/>
        </p:nvSpPr>
        <p:spPr>
          <a:xfrm>
            <a:off x="7277100" y="2476500"/>
            <a:ext cx="35814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API 問題：看 backend logs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E32B97CB-8FC3-412A-9B67-5AF70F6620A9}"/>
              </a:ext>
            </a:extLst>
          </p:cNvPr>
          <p:cNvSpPr>
            <a:spLocks noGrp="1"/>
          </p:cNvSpPr>
          <p:nvPr/>
        </p:nvSpPr>
        <p:spPr>
          <a:xfrm>
            <a:off x="6953250" y="32194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C570F58-2723-49B6-A6CF-58AEEE458929}"/>
              </a:ext>
            </a:extLst>
          </p:cNvPr>
          <p:cNvSpPr>
            <a:spLocks noGrp="1"/>
          </p:cNvSpPr>
          <p:nvPr/>
        </p:nvSpPr>
        <p:spPr>
          <a:xfrm>
            <a:off x="7277100" y="3162300"/>
            <a:ext cx="35814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DB 問題：exec 進 MySQL 查資料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182D323D-B7E0-45FF-8120-5591FF947924}"/>
              </a:ext>
            </a:extLst>
          </p:cNvPr>
          <p:cNvSpPr>
            <a:spLocks noGrp="1"/>
          </p:cNvSpPr>
          <p:nvPr/>
        </p:nvSpPr>
        <p:spPr>
          <a:xfrm>
            <a:off x="6953250" y="39052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193C5CB-66F6-4269-9B5B-0696D2439ABD}"/>
              </a:ext>
            </a:extLst>
          </p:cNvPr>
          <p:cNvSpPr>
            <a:spLocks noGrp="1"/>
          </p:cNvSpPr>
          <p:nvPr/>
        </p:nvSpPr>
        <p:spPr>
          <a:xfrm>
            <a:off x="7277100" y="3848100"/>
            <a:ext cx="35814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程式碼改了沒生效：重新 build image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D8D3EAA-C8D9-4EA6-B3E8-98F83DFE88AB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堂｜11</a:t>
            </a:r>
          </a:p>
        </p:txBody>
      </p:sp>
    </p:spTree>
    <p:extLst>
      <p:ext uri="{BB962C8B-B14F-4D97-AF65-F5344CB8AC3E}">
        <p14:creationId xmlns:p14="http://schemas.microsoft.com/office/powerpoint/2010/main" val="5083530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D910C7DE-976E-4F9F-BB14-554F6B9AD926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CI/CD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62CEDF3-803E-4396-AD7E-DAB57C1BA27E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第五堂的能力，套到全端專題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93240FD6-A580-43D6-8B22-4EB096282657}"/>
              </a:ext>
            </a:extLst>
          </p:cNvPr>
          <p:cNvSpPr>
            <a:spLocks noGrp="1"/>
          </p:cNvSpPr>
          <p:nvPr/>
        </p:nvSpPr>
        <p:spPr>
          <a:xfrm>
            <a:off x="1104900" y="1695450"/>
            <a:ext cx="2286000" cy="914400"/>
          </a:xfrm>
          <a:prstGeom prst="roundRect">
            <a:avLst>
              <a:gd name="adj" fmla="val 8333"/>
            </a:avLst>
          </a:prstGeom>
          <a:solidFill>
            <a:srgbClr val="EEF3FF"/>
          </a:solidFill>
          <a:ln w="9525">
            <a:solidFill>
              <a:srgbClr val="BED1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test-backend</a:t>
            </a:r>
          </a:p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pytest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47FADD3-77A3-43CF-841C-A9690FA98B40}"/>
              </a:ext>
            </a:extLst>
          </p:cNvPr>
          <p:cNvSpPr>
            <a:spLocks noGrp="1"/>
          </p:cNvSpPr>
          <p:nvPr/>
        </p:nvSpPr>
        <p:spPr>
          <a:xfrm>
            <a:off x="3562350" y="1943100"/>
            <a:ext cx="476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700" b="1">
                <a:solidFill>
                  <a:srgbClr val="4263EB"/>
                </a:solidFill>
              </a:defRPr>
            </a:pPr>
            <a:r>
              <a:rPr sz="2700" b="1">
                <a:solidFill>
                  <a:srgbClr val="4263EB"/>
                </a:solidFill>
              </a:rPr>
              <a:t>→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601BCE42-E752-426D-A0B3-3D5A67A326B3}"/>
              </a:ext>
            </a:extLst>
          </p:cNvPr>
          <p:cNvSpPr>
            <a:spLocks noGrp="1"/>
          </p:cNvSpPr>
          <p:nvPr/>
        </p:nvSpPr>
        <p:spPr>
          <a:xfrm>
            <a:off x="4229100" y="1695450"/>
            <a:ext cx="2762250" cy="91440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9525">
            <a:solidFill>
              <a:srgbClr val="9BDDB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compose-check</a:t>
            </a:r>
          </a:p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build + up + health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E03D916-D877-4388-89FF-A75D0980DDB9}"/>
              </a:ext>
            </a:extLst>
          </p:cNvPr>
          <p:cNvSpPr>
            <a:spLocks noGrp="1"/>
          </p:cNvSpPr>
          <p:nvPr/>
        </p:nvSpPr>
        <p:spPr>
          <a:xfrm>
            <a:off x="7200900" y="1943100"/>
            <a:ext cx="476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700" b="1">
                <a:solidFill>
                  <a:srgbClr val="168A5A"/>
                </a:solidFill>
              </a:defRPr>
            </a:pPr>
            <a:r>
              <a:rPr sz="270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C7C4F410-B336-45B9-AAB7-22F943CEA727}"/>
              </a:ext>
            </a:extLst>
          </p:cNvPr>
          <p:cNvSpPr>
            <a:spLocks noGrp="1"/>
          </p:cNvSpPr>
          <p:nvPr/>
        </p:nvSpPr>
        <p:spPr>
          <a:xfrm>
            <a:off x="7848600" y="1695450"/>
            <a:ext cx="2762250" cy="914400"/>
          </a:xfrm>
          <a:prstGeom prst="roundRect">
            <a:avLst>
              <a:gd name="adj" fmla="val 8333"/>
            </a:avLst>
          </a:prstGeom>
          <a:solidFill>
            <a:srgbClr val="FFF7ED"/>
          </a:solidFill>
          <a:ln w="9525">
            <a:solidFill>
              <a:srgbClr val="FFD2A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push-images</a:t>
            </a:r>
          </a:p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frontend/backend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2B6CAE7F-5574-4578-9CBE-ECBC0E50BFD1}"/>
              </a:ext>
            </a:extLst>
          </p:cNvPr>
          <p:cNvSpPr>
            <a:spLocks noGrp="1"/>
          </p:cNvSpPr>
          <p:nvPr/>
        </p:nvSpPr>
        <p:spPr>
          <a:xfrm>
            <a:off x="1638300" y="34861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C5ABE8B-80F6-4789-B268-4F03C60F6EBD}"/>
              </a:ext>
            </a:extLst>
          </p:cNvPr>
          <p:cNvSpPr>
            <a:spLocks noGrp="1"/>
          </p:cNvSpPr>
          <p:nvPr/>
        </p:nvSpPr>
        <p:spPr>
          <a:xfrm>
            <a:off x="1962150" y="3429000"/>
            <a:ext cx="8058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PR：測試 + compose health check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C5CB784F-6573-4ADE-8A10-991F21A52732}"/>
              </a:ext>
            </a:extLst>
          </p:cNvPr>
          <p:cNvSpPr>
            <a:spLocks noGrp="1"/>
          </p:cNvSpPr>
          <p:nvPr/>
        </p:nvSpPr>
        <p:spPr>
          <a:xfrm>
            <a:off x="1638300" y="40386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90FD9B7-CF76-4777-9873-C1A8B9A7AEF1}"/>
              </a:ext>
            </a:extLst>
          </p:cNvPr>
          <p:cNvSpPr>
            <a:spLocks noGrp="1"/>
          </p:cNvSpPr>
          <p:nvPr/>
        </p:nvSpPr>
        <p:spPr>
          <a:xfrm>
            <a:off x="1962150" y="3981450"/>
            <a:ext cx="8058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push main：才 push Docker Hub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2F0789C3-0962-4768-8171-E1D827096B7E}"/>
              </a:ext>
            </a:extLst>
          </p:cNvPr>
          <p:cNvSpPr>
            <a:spLocks noGrp="1"/>
          </p:cNvSpPr>
          <p:nvPr/>
        </p:nvSpPr>
        <p:spPr>
          <a:xfrm>
            <a:off x="1638300" y="45910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6D99721-B2E8-4101-B674-D479DDD10C0E}"/>
              </a:ext>
            </a:extLst>
          </p:cNvPr>
          <p:cNvSpPr>
            <a:spLocks noGrp="1"/>
          </p:cNvSpPr>
          <p:nvPr/>
        </p:nvSpPr>
        <p:spPr>
          <a:xfrm>
            <a:off x="1962150" y="4533900"/>
            <a:ext cx="8058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CI 會抓到 backend、Nginx proxy、Compose 問題</a:t>
            </a: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0930FB30-C5DE-4912-9B46-F3C159969959}"/>
              </a:ext>
            </a:extLst>
          </p:cNvPr>
          <p:cNvSpPr>
            <a:spLocks noGrp="1"/>
          </p:cNvSpPr>
          <p:nvPr/>
        </p:nvSpPr>
        <p:spPr>
          <a:xfrm>
            <a:off x="1638300" y="51435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BD9C19B-2E7C-4FA6-9E04-110BADC0AEE3}"/>
              </a:ext>
            </a:extLst>
          </p:cNvPr>
          <p:cNvSpPr>
            <a:spLocks noGrp="1"/>
          </p:cNvSpPr>
          <p:nvPr/>
        </p:nvSpPr>
        <p:spPr>
          <a:xfrm>
            <a:off x="1962150" y="5086350"/>
            <a:ext cx="8058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真正部署前，至少確定 image 能啟動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E337451-0962-4ED2-9220-9203436CB704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堂｜12</a:t>
            </a:r>
          </a:p>
        </p:txBody>
      </p:sp>
    </p:spTree>
    <p:extLst>
      <p:ext uri="{BB962C8B-B14F-4D97-AF65-F5344CB8AC3E}">
        <p14:creationId xmlns:p14="http://schemas.microsoft.com/office/powerpoint/2010/main" val="20722001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FC7A77D3-8119-4D71-9388-EBEE5E56D65D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常見錯誤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3026FAF-CB9B-4C1A-91F1-0063A57ABE61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最後一堂要刻意練排錯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ADFE0B49-6321-479C-B68C-8042C365C69A}"/>
              </a:ext>
            </a:extLst>
          </p:cNvPr>
          <p:cNvSpPr>
            <a:spLocks noGrp="1"/>
          </p:cNvSpPr>
          <p:nvPr/>
        </p:nvSpPr>
        <p:spPr>
          <a:xfrm>
            <a:off x="1238250" y="1600200"/>
            <a:ext cx="4000500" cy="1066800"/>
          </a:xfrm>
          <a:prstGeom prst="roundRect">
            <a:avLst>
              <a:gd name="adj" fmla="val 7143"/>
            </a:avLst>
          </a:prstGeom>
          <a:solidFill>
            <a:srgbClr val="FFF1F2"/>
          </a:solidFill>
          <a:ln w="9525">
            <a:solidFill>
              <a:srgbClr val="FECDD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服務名稱或連線設定錯誤</a:t>
            </a:r>
          </a:p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前端入口和 API 路徑不一致</a:t>
            </a: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04D39A21-8E74-4955-BA88-667815AAD388}"/>
              </a:ext>
            </a:extLst>
          </p:cNvPr>
          <p:cNvSpPr>
            <a:spLocks noGrp="1"/>
          </p:cNvSpPr>
          <p:nvPr/>
        </p:nvSpPr>
        <p:spPr>
          <a:xfrm>
            <a:off x="6191250" y="1600200"/>
            <a:ext cx="4000500" cy="1066800"/>
          </a:xfrm>
          <a:prstGeom prst="roundRect">
            <a:avLst>
              <a:gd name="adj" fmla="val 7143"/>
            </a:avLst>
          </a:prstGeom>
          <a:solidFill>
            <a:srgbClr val="FFF7ED"/>
          </a:solidFill>
          <a:ln w="9525">
            <a:solidFill>
              <a:srgbClr val="FFD2A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資料狀態和預期不同</a:t>
            </a:r>
          </a:p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原始碼改了但執行結果沒變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B08525F3-3C28-45F0-8FFF-935C6D83E05C}"/>
              </a:ext>
            </a:extLst>
          </p:cNvPr>
          <p:cNvSpPr>
            <a:spLocks noGrp="1"/>
          </p:cNvSpPr>
          <p:nvPr/>
        </p:nvSpPr>
        <p:spPr>
          <a:xfrm>
            <a:off x="1238250" y="3162300"/>
            <a:ext cx="4000500" cy="1066800"/>
          </a:xfrm>
          <a:prstGeom prst="roundRect">
            <a:avLst>
              <a:gd name="adj" fmla="val 7143"/>
            </a:avLst>
          </a:prstGeom>
          <a:solidFill>
            <a:srgbClr val="FFF1F2"/>
          </a:solidFill>
          <a:ln w="9525">
            <a:solidFill>
              <a:srgbClr val="FECDD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本機和 CI 執行環境不同</a:t>
            </a:r>
          </a:p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health check 過了但功能仍失敗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84640D9A-CE78-428C-965E-9063766619E9}"/>
              </a:ext>
            </a:extLst>
          </p:cNvPr>
          <p:cNvSpPr>
            <a:spLocks noGrp="1"/>
          </p:cNvSpPr>
          <p:nvPr/>
        </p:nvSpPr>
        <p:spPr>
          <a:xfrm>
            <a:off x="6191250" y="3162300"/>
            <a:ext cx="4000500" cy="1066800"/>
          </a:xfrm>
          <a:prstGeom prst="roundRect">
            <a:avLst>
              <a:gd name="adj" fmla="val 7143"/>
            </a:avLst>
          </a:prstGeom>
          <a:solidFill>
            <a:srgbClr val="FFF7ED"/>
          </a:solidFill>
          <a:ln w="9525">
            <a:solidFill>
              <a:srgbClr val="FFD2A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一次需求牽涉多層檔案</a:t>
            </a:r>
          </a:p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不要只看紅字，要建立固定排查流程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ECD9077-56DD-4830-91D4-C091AF4165E6}"/>
              </a:ext>
            </a:extLst>
          </p:cNvPr>
          <p:cNvSpPr>
            <a:spLocks noGrp="1"/>
          </p:cNvSpPr>
          <p:nvPr/>
        </p:nvSpPr>
        <p:spPr>
          <a:xfrm>
            <a:off x="1504950" y="5105400"/>
            <a:ext cx="9144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每個錯誤都要搭配 logs、curl、exec、rebuild 去驗證，不只看紅字猜原因。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F540B94-E88F-415B-93CB-78328DBD5DDD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堂｜13</a:t>
            </a:r>
          </a:p>
        </p:txBody>
      </p:sp>
    </p:spTree>
    <p:extLst>
      <p:ext uri="{BB962C8B-B14F-4D97-AF65-F5344CB8AC3E}">
        <p14:creationId xmlns:p14="http://schemas.microsoft.com/office/powerpoint/2010/main" val="16569449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CF0F57C9-C163-48E4-90BF-2D8CC41DD83F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最終成果檢查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9B1DBA5-7000-45D4-BEFB-2CF9A8C8ED8F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完成這份 checklist 才算有基本 Docker 實力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8F947551-33A6-47BF-A511-757F720DD1CF}"/>
              </a:ext>
            </a:extLst>
          </p:cNvPr>
          <p:cNvSpPr>
            <a:spLocks noGrp="1"/>
          </p:cNvSpPr>
          <p:nvPr/>
        </p:nvSpPr>
        <p:spPr>
          <a:xfrm>
            <a:off x="990600" y="15240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CBEFC0B-CB8A-4DE1-87CE-218E7386F697}"/>
              </a:ext>
            </a:extLst>
          </p:cNvPr>
          <p:cNvSpPr>
            <a:spLocks noGrp="1"/>
          </p:cNvSpPr>
          <p:nvPr/>
        </p:nvSpPr>
        <p:spPr>
          <a:xfrm>
            <a:off x="1314450" y="1466850"/>
            <a:ext cx="9582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docker compose up -d --build 能啟動三個服務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3CCEA3E8-BA10-4658-BE6A-75D51FF9854E}"/>
              </a:ext>
            </a:extLst>
          </p:cNvPr>
          <p:cNvSpPr>
            <a:spLocks noGrp="1"/>
          </p:cNvSpPr>
          <p:nvPr/>
        </p:nvSpPr>
        <p:spPr>
          <a:xfrm>
            <a:off x="990600" y="20764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26F07B3-6C28-4932-B995-1126AD964BB0}"/>
              </a:ext>
            </a:extLst>
          </p:cNvPr>
          <p:cNvSpPr>
            <a:spLocks noGrp="1"/>
          </p:cNvSpPr>
          <p:nvPr/>
        </p:nvSpPr>
        <p:spPr>
          <a:xfrm>
            <a:off x="1314450" y="2019300"/>
            <a:ext cx="9582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瀏覽器打開 http://localhost:8080 看得到 Product List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16B40E32-E684-4731-BEAA-BB4714781B82}"/>
              </a:ext>
            </a:extLst>
          </p:cNvPr>
          <p:cNvSpPr>
            <a:spLocks noGrp="1"/>
          </p:cNvSpPr>
          <p:nvPr/>
        </p:nvSpPr>
        <p:spPr>
          <a:xfrm>
            <a:off x="990600" y="26289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64D54CD-0956-4BAA-BA36-765520CA42B4}"/>
              </a:ext>
            </a:extLst>
          </p:cNvPr>
          <p:cNvSpPr>
            <a:spLocks noGrp="1"/>
          </p:cNvSpPr>
          <p:nvPr/>
        </p:nvSpPr>
        <p:spPr>
          <a:xfrm>
            <a:off x="1314450" y="2571750"/>
            <a:ext cx="9582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商品資料來自 MySQL 的 Product table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D300A2A0-D2E5-4DE3-BDE3-A536B0DDDDAD}"/>
              </a:ext>
            </a:extLst>
          </p:cNvPr>
          <p:cNvSpPr>
            <a:spLocks noGrp="1"/>
          </p:cNvSpPr>
          <p:nvPr/>
        </p:nvSpPr>
        <p:spPr>
          <a:xfrm>
            <a:off x="990600" y="31813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D513D70-A0C9-4C1A-B83B-575690F36693}"/>
              </a:ext>
            </a:extLst>
          </p:cNvPr>
          <p:cNvSpPr>
            <a:spLocks noGrp="1"/>
          </p:cNvSpPr>
          <p:nvPr/>
        </p:nvSpPr>
        <p:spPr>
          <a:xfrm>
            <a:off x="1314450" y="3124200"/>
            <a:ext cx="9582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docker compose down 後重啟，資料仍存在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668CC732-B967-4AC2-9CCD-1165C720BB72}"/>
              </a:ext>
            </a:extLst>
          </p:cNvPr>
          <p:cNvSpPr>
            <a:spLocks noGrp="1"/>
          </p:cNvSpPr>
          <p:nvPr/>
        </p:nvSpPr>
        <p:spPr>
          <a:xfrm>
            <a:off x="990600" y="37338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84914D6-21FE-467F-BD96-EC9DFE4E469D}"/>
              </a:ext>
            </a:extLst>
          </p:cNvPr>
          <p:cNvSpPr>
            <a:spLocks noGrp="1"/>
          </p:cNvSpPr>
          <p:nvPr/>
        </p:nvSpPr>
        <p:spPr>
          <a:xfrm>
            <a:off x="1314450" y="3676650"/>
            <a:ext cx="9582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能看 frontend/backend/db logs 找問題</a:t>
            </a: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66C8681E-EF9A-4BA5-A6CE-42BCAACE67FB}"/>
              </a:ext>
            </a:extLst>
          </p:cNvPr>
          <p:cNvSpPr>
            <a:spLocks noGrp="1"/>
          </p:cNvSpPr>
          <p:nvPr/>
        </p:nvSpPr>
        <p:spPr>
          <a:xfrm>
            <a:off x="990600" y="42862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831C24C-131F-4475-8A2D-E6A595962E26}"/>
              </a:ext>
            </a:extLst>
          </p:cNvPr>
          <p:cNvSpPr>
            <a:spLocks noGrp="1"/>
          </p:cNvSpPr>
          <p:nvPr/>
        </p:nvSpPr>
        <p:spPr>
          <a:xfrm>
            <a:off x="1314450" y="4229100"/>
            <a:ext cx="9582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GitHub Actions 綠燈，Docker Hub 有 images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6066E22-1E28-4E7F-95C5-7C6974D62670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堂｜14</a:t>
            </a:r>
          </a:p>
        </p:txBody>
      </p:sp>
    </p:spTree>
    <p:extLst>
      <p:ext uri="{BB962C8B-B14F-4D97-AF65-F5344CB8AC3E}">
        <p14:creationId xmlns:p14="http://schemas.microsoft.com/office/powerpoint/2010/main" val="8828140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B6530810-390E-416D-876B-0FE4D1D9EFA8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課程收尾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390F876-119B-4325-9DEA-67E4BFF6DBC1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這堂課代表的能力邊界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F81245A6-B9D8-430F-AE9D-B31EED884E54}"/>
              </a:ext>
            </a:extLst>
          </p:cNvPr>
          <p:cNvSpPr>
            <a:spLocks noGrp="1"/>
          </p:cNvSpPr>
          <p:nvPr/>
        </p:nvSpPr>
        <p:spPr>
          <a:xfrm>
            <a:off x="1257300" y="1543050"/>
            <a:ext cx="2190750" cy="647700"/>
          </a:xfrm>
          <a:prstGeom prst="roundRect">
            <a:avLst>
              <a:gd name="adj" fmla="val 11765"/>
            </a:avLst>
          </a:prstGeom>
          <a:solidFill>
            <a:srgbClr val="ECFDF5"/>
          </a:solidFill>
          <a:ln w="9525">
            <a:solidFill>
              <a:srgbClr val="9BDDB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你已經會的</a:t>
            </a: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565EE8FF-7634-4CB9-8591-4754549AF520}"/>
              </a:ext>
            </a:extLst>
          </p:cNvPr>
          <p:cNvSpPr>
            <a:spLocks noGrp="1"/>
          </p:cNvSpPr>
          <p:nvPr/>
        </p:nvSpPr>
        <p:spPr>
          <a:xfrm>
            <a:off x="1485900" y="25146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1EC3AAA-BEDD-4554-B77C-93D0AD28EF40}"/>
              </a:ext>
            </a:extLst>
          </p:cNvPr>
          <p:cNvSpPr>
            <a:spLocks noGrp="1"/>
          </p:cNvSpPr>
          <p:nvPr/>
        </p:nvSpPr>
        <p:spPr>
          <a:xfrm>
            <a:off x="1809750" y="2457450"/>
            <a:ext cx="2819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拆服務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8AB47778-9744-4F7B-9477-DBB86BCAF17F}"/>
              </a:ext>
            </a:extLst>
          </p:cNvPr>
          <p:cNvSpPr>
            <a:spLocks noGrp="1"/>
          </p:cNvSpPr>
          <p:nvPr/>
        </p:nvSpPr>
        <p:spPr>
          <a:xfrm>
            <a:off x="1485900" y="29718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0803147-128F-4F80-9953-7B4DC5FF3A86}"/>
              </a:ext>
            </a:extLst>
          </p:cNvPr>
          <p:cNvSpPr>
            <a:spLocks noGrp="1"/>
          </p:cNvSpPr>
          <p:nvPr/>
        </p:nvSpPr>
        <p:spPr>
          <a:xfrm>
            <a:off x="1809750" y="2914650"/>
            <a:ext cx="2819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寫 Dockerfile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CD942927-7B4B-469C-BFF6-458F1A775EE9}"/>
              </a:ext>
            </a:extLst>
          </p:cNvPr>
          <p:cNvSpPr>
            <a:spLocks noGrp="1"/>
          </p:cNvSpPr>
          <p:nvPr/>
        </p:nvSpPr>
        <p:spPr>
          <a:xfrm>
            <a:off x="1485900" y="34290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50C7F99-1043-40BD-823B-EDC5628FB30A}"/>
              </a:ext>
            </a:extLst>
          </p:cNvPr>
          <p:cNvSpPr>
            <a:spLocks noGrp="1"/>
          </p:cNvSpPr>
          <p:nvPr/>
        </p:nvSpPr>
        <p:spPr>
          <a:xfrm>
            <a:off x="1809750" y="3371850"/>
            <a:ext cx="2819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寫 Compose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B85A1719-4764-47BE-AD2D-F5CA11B14B32}"/>
              </a:ext>
            </a:extLst>
          </p:cNvPr>
          <p:cNvSpPr>
            <a:spLocks noGrp="1"/>
          </p:cNvSpPr>
          <p:nvPr/>
        </p:nvSpPr>
        <p:spPr>
          <a:xfrm>
            <a:off x="1485900" y="38862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A544F60-4D1D-42EC-A090-00744E678ADE}"/>
              </a:ext>
            </a:extLst>
          </p:cNvPr>
          <p:cNvSpPr>
            <a:spLocks noGrp="1"/>
          </p:cNvSpPr>
          <p:nvPr/>
        </p:nvSpPr>
        <p:spPr>
          <a:xfrm>
            <a:off x="1809750" y="3829050"/>
            <a:ext cx="2819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保留資料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1CB0364B-B24A-4EE9-9FF9-830036621952}"/>
              </a:ext>
            </a:extLst>
          </p:cNvPr>
          <p:cNvSpPr>
            <a:spLocks noGrp="1"/>
          </p:cNvSpPr>
          <p:nvPr/>
        </p:nvSpPr>
        <p:spPr>
          <a:xfrm>
            <a:off x="1485900" y="43434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429D8E3-9E72-471D-B6C0-BC81DE38D684}"/>
              </a:ext>
            </a:extLst>
          </p:cNvPr>
          <p:cNvSpPr>
            <a:spLocks noGrp="1"/>
          </p:cNvSpPr>
          <p:nvPr/>
        </p:nvSpPr>
        <p:spPr>
          <a:xfrm>
            <a:off x="1809750" y="4286250"/>
            <a:ext cx="2819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看 logs 排錯</a:t>
            </a: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44E497CC-6922-4693-82C3-8D6B3C10E471}"/>
              </a:ext>
            </a:extLst>
          </p:cNvPr>
          <p:cNvSpPr>
            <a:spLocks noGrp="1"/>
          </p:cNvSpPr>
          <p:nvPr/>
        </p:nvSpPr>
        <p:spPr>
          <a:xfrm>
            <a:off x="1485900" y="48006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E2B9D15-31BB-4A43-BAD3-A9A9FCDD783D}"/>
              </a:ext>
            </a:extLst>
          </p:cNvPr>
          <p:cNvSpPr>
            <a:spLocks noGrp="1"/>
          </p:cNvSpPr>
          <p:nvPr/>
        </p:nvSpPr>
        <p:spPr>
          <a:xfrm>
            <a:off x="1809750" y="4743450"/>
            <a:ext cx="2819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接 CI/CD</a:t>
            </a: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AEBBE71A-89D1-4417-AD47-AC20286E493A}"/>
              </a:ext>
            </a:extLst>
          </p:cNvPr>
          <p:cNvSpPr>
            <a:spLocks noGrp="1"/>
          </p:cNvSpPr>
          <p:nvPr/>
        </p:nvSpPr>
        <p:spPr>
          <a:xfrm>
            <a:off x="6877050" y="1543050"/>
            <a:ext cx="2190750" cy="647700"/>
          </a:xfrm>
          <a:prstGeom prst="roundRect">
            <a:avLst>
              <a:gd name="adj" fmla="val 11765"/>
            </a:avLst>
          </a:prstGeom>
          <a:solidFill>
            <a:srgbClr val="EEF3FF"/>
          </a:solidFill>
          <a:ln w="9525">
            <a:solidFill>
              <a:srgbClr val="BED1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下一步再學</a:t>
            </a: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BA8F0865-1B3D-4C59-89D5-00D61D3A7F78}"/>
              </a:ext>
            </a:extLst>
          </p:cNvPr>
          <p:cNvSpPr>
            <a:spLocks noGrp="1"/>
          </p:cNvSpPr>
          <p:nvPr/>
        </p:nvSpPr>
        <p:spPr>
          <a:xfrm>
            <a:off x="7105650" y="25146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7F09C6B-948B-4E63-AC5E-4C91DB345621}"/>
              </a:ext>
            </a:extLst>
          </p:cNvPr>
          <p:cNvSpPr>
            <a:spLocks noGrp="1"/>
          </p:cNvSpPr>
          <p:nvPr/>
        </p:nvSpPr>
        <p:spPr>
          <a:xfrm>
            <a:off x="7429500" y="245745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Gunicorn / production Flask</a:t>
            </a: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7DA63985-A136-4650-8E46-D2145471C458}"/>
              </a:ext>
            </a:extLst>
          </p:cNvPr>
          <p:cNvSpPr>
            <a:spLocks noGrp="1"/>
          </p:cNvSpPr>
          <p:nvPr/>
        </p:nvSpPr>
        <p:spPr>
          <a:xfrm>
            <a:off x="7105650" y="29718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AEE4813-6430-45DF-9DB5-F4C695A5130E}"/>
              </a:ext>
            </a:extLst>
          </p:cNvPr>
          <p:cNvSpPr>
            <a:spLocks noGrp="1"/>
          </p:cNvSpPr>
          <p:nvPr/>
        </p:nvSpPr>
        <p:spPr>
          <a:xfrm>
            <a:off x="7429500" y="291465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DB migration / backup</a:t>
            </a: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B7A3C4E4-E585-4D72-9BCA-3C443695A38E}"/>
              </a:ext>
            </a:extLst>
          </p:cNvPr>
          <p:cNvSpPr>
            <a:spLocks noGrp="1"/>
          </p:cNvSpPr>
          <p:nvPr/>
        </p:nvSpPr>
        <p:spPr>
          <a:xfrm>
            <a:off x="7105650" y="34290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B0EEE06-3233-4E17-8A91-A4970B82C394}"/>
              </a:ext>
            </a:extLst>
          </p:cNvPr>
          <p:cNvSpPr>
            <a:spLocks noGrp="1"/>
          </p:cNvSpPr>
          <p:nvPr/>
        </p:nvSpPr>
        <p:spPr>
          <a:xfrm>
            <a:off x="7429500" y="337185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HTTPS / reverse proxy</a:t>
            </a: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CD53B17C-717C-4523-B92B-1A23B78BB1EC}"/>
              </a:ext>
            </a:extLst>
          </p:cNvPr>
          <p:cNvSpPr>
            <a:spLocks noGrp="1"/>
          </p:cNvSpPr>
          <p:nvPr/>
        </p:nvSpPr>
        <p:spPr>
          <a:xfrm>
            <a:off x="7105650" y="38862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A00A83C-9AB0-41A9-86B0-EC500961C45B}"/>
              </a:ext>
            </a:extLst>
          </p:cNvPr>
          <p:cNvSpPr>
            <a:spLocks noGrp="1"/>
          </p:cNvSpPr>
          <p:nvPr/>
        </p:nvSpPr>
        <p:spPr>
          <a:xfrm>
            <a:off x="7429500" y="382905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Image scan / secrets</a:t>
            </a:r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2F5B5FED-1570-4D10-9749-1838F4FD4692}"/>
              </a:ext>
            </a:extLst>
          </p:cNvPr>
          <p:cNvSpPr>
            <a:spLocks noGrp="1"/>
          </p:cNvSpPr>
          <p:nvPr/>
        </p:nvSpPr>
        <p:spPr>
          <a:xfrm>
            <a:off x="7105650" y="43434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80CF2FB-78E2-4611-883A-7B0E82D48F31}"/>
              </a:ext>
            </a:extLst>
          </p:cNvPr>
          <p:cNvSpPr>
            <a:spLocks noGrp="1"/>
          </p:cNvSpPr>
          <p:nvPr/>
        </p:nvSpPr>
        <p:spPr>
          <a:xfrm>
            <a:off x="7429500" y="428625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Cloud Run / ECS</a:t>
            </a: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D88DF542-2F48-41E5-8D47-E66C53051CF7}"/>
              </a:ext>
            </a:extLst>
          </p:cNvPr>
          <p:cNvSpPr>
            <a:spLocks noGrp="1"/>
          </p:cNvSpPr>
          <p:nvPr/>
        </p:nvSpPr>
        <p:spPr>
          <a:xfrm>
            <a:off x="7105650" y="48006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CCD24E0-1794-44A3-B640-266BA1CEDBBC}"/>
              </a:ext>
            </a:extLst>
          </p:cNvPr>
          <p:cNvSpPr>
            <a:spLocks noGrp="1"/>
          </p:cNvSpPr>
          <p:nvPr/>
        </p:nvSpPr>
        <p:spPr>
          <a:xfrm>
            <a:off x="7429500" y="474345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Kubernetes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44BFDBA-4ABC-4F9E-8E64-EBCD3540C2F4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堂｜15</a:t>
            </a:r>
          </a:p>
        </p:txBody>
      </p:sp>
    </p:spTree>
    <p:extLst>
      <p:ext uri="{BB962C8B-B14F-4D97-AF65-F5344CB8AC3E}">
        <p14:creationId xmlns:p14="http://schemas.microsoft.com/office/powerpoint/2010/main" val="208583841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1506</Words>
  <Application>Microsoft Macintosh PowerPoint</Application>
  <DocSecurity>0</DocSecurity>
  <PresentationFormat>寬螢幕</PresentationFormat>
  <Paragraphs>357</Paragraphs>
  <Slides>20</Slides>
  <Notes>20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Aptos Mono</vt:lpstr>
      <vt:lpstr>Calibri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許哲綱</cp:lastModifiedBy>
  <cp:revision>1</cp:revision>
  <dcterms:created xsi:type="dcterms:W3CDTF">2026-06-30T07:04:48Z</dcterms:created>
  <dcterms:modified xsi:type="dcterms:W3CDTF">2026-07-01T15:45:47Z</dcterms:modified>
</cp:coreProperties>
</file>