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eb5856c3eac4b1b" /><Relationship Type="http://schemas.openxmlformats.org/officeDocument/2006/relationships/extended-properties" Target="/docProps/app.xml" Id="R2e487e3393784fd7" /><Relationship Type="http://schemas.openxmlformats.org/officeDocument/2006/relationships/officeDocument" Target="/ppt/presentation.xml" Id="R1ba0dd4b8a994c09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31444df2217e4b7e"/>
  </p:sldMasterIdLst>
  <p:notesMasterIdLst>
    <p:notesMasterId r:id="Rc45ecb6cc83b4c4b"/>
  </p:notesMasterIdLst>
  <p:sldIdLst>
    <p:sldId id="256" r:id="Rae73d44d766e48b1"/>
    <p:sldId id="257" r:id="R7ca534bfcfb847dc"/>
    <p:sldId id="258" r:id="R296501607af3493b"/>
    <p:sldId id="259" r:id="R226ce18aecc94500"/>
    <p:sldId id="260" r:id="R3bdddb0f8e694024"/>
    <p:sldId id="272" r:id="Rcf79a4bd11274a79"/>
    <p:sldId id="273" r:id="Rc602f9db7eb44cef"/>
    <p:sldId id="287" r:id="R72197fafd4e34e5e"/>
    <p:sldId id="289" r:id="Rfeb1e05025904b90"/>
    <p:sldId id="290" r:id="R91d2fac5f9d94f6b"/>
    <p:sldId id="291" r:id="R4784e1b72780454e"/>
    <p:sldId id="292" r:id="Ra4002e67fda4430b"/>
    <p:sldId id="293" r:id="R73a73091b71d4d57"/>
    <p:sldId id="294" r:id="R44342d559bc54449"/>
    <p:sldId id="295" r:id="R35318ab4eb86448a"/>
    <p:sldId id="296" r:id="Rfc314fbc7a63457f"/>
    <p:sldId id="297" r:id="R6d3b4b9610594171"/>
    <p:sldId id="304" r:id="R8a66d6aeef504974"/>
    <p:sldId id="305" r:id="Rce6e30e9a92e416c"/>
    <p:sldId id="306" r:id="R5003ec8b066f4493"/>
    <p:sldId id="307" r:id="R69b22ea441a846ad"/>
    <p:sldId id="308" r:id="Rbe587c4c691540bf"/>
    <p:sldId id="309" r:id="R49ce31ef87f14215"/>
    <p:sldId id="310" r:id="Reb435d3acba74f64"/>
    <p:sldId id="311" r:id="R40c4adc0634e4f01"/>
    <p:sldId id="312" r:id="R7769d5970799494a"/>
    <p:sldId id="313" r:id="Rf5d1362741de4267"/>
    <p:sldId id="314" r:id="R9dd9b731ed3045a1"/>
    <p:sldId id="315" r:id="Re57b537c05db4ba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b3678ed733b44788" /><ns0:Relationship Type="http://schemas.openxmlformats.org/officeDocument/2006/relationships/slideMaster" Target="/ppt/slideMasters/slideMaster1.xml" Id="R31444df2217e4b7e" /><ns0:Relationship Type="http://schemas.openxmlformats.org/officeDocument/2006/relationships/notesMaster" Target="/ppt/notesMasters/notesMaster1.xml" Id="Rc45ecb6cc83b4c4b" /><ns0:Relationship Type="http://schemas.openxmlformats.org/officeDocument/2006/relationships/presProps" Target="/ppt/presProps.xml" Id="R462b4543c06c41d9" /><ns0:Relationship Type="http://schemas.openxmlformats.org/officeDocument/2006/relationships/tableStyles" Target="/ppt/tableStyles.xml" Id="Rb7f05621e7ad4814" /><ns0:Relationship Type="http://schemas.openxmlformats.org/officeDocument/2006/relationships/slide" Target="/ppt/slides/slide1.xml" Id="Rae73d44d766e48b1" /><ns0:Relationship Type="http://schemas.openxmlformats.org/officeDocument/2006/relationships/slide" Target="/ppt/slides/slide2.xml" Id="R7ca534bfcfb847dc" /><ns0:Relationship Type="http://schemas.openxmlformats.org/officeDocument/2006/relationships/slide" Target="/ppt/slides/slide3.xml" Id="R296501607af3493b" /><ns0:Relationship Type="http://schemas.openxmlformats.org/officeDocument/2006/relationships/slide" Target="/ppt/slides/slide4.xml" Id="R226ce18aecc94500" /><ns0:Relationship Type="http://schemas.openxmlformats.org/officeDocument/2006/relationships/slide" Target="/ppt/slides/slide5.xml" Id="R3bdddb0f8e694024" /><ns0:Relationship Type="http://schemas.openxmlformats.org/officeDocument/2006/relationships/slide" Target="/ppt/slides/slide17.xml" Id="Rcf79a4bd11274a79" /><ns0:Relationship Type="http://schemas.openxmlformats.org/officeDocument/2006/relationships/slide" Target="/ppt/slides/slide18.xml" Id="Rc602f9db7eb44cef" /><ns0:Relationship Type="http://schemas.openxmlformats.org/officeDocument/2006/relationships/slide" Target="/ppt/slides/slide32.xml" Id="R72197fafd4e34e5e" /><ns0:Relationship Type="http://schemas.openxmlformats.org/officeDocument/2006/relationships/slide" Target="/ppt/slides/slide34.xml" Id="Rfeb1e05025904b90" /><ns0:Relationship Type="http://schemas.openxmlformats.org/officeDocument/2006/relationships/slide" Target="/ppt/slides/slide35.xml" Id="R91d2fac5f9d94f6b" /><ns0:Relationship Type="http://schemas.openxmlformats.org/officeDocument/2006/relationships/slide" Target="/ppt/slides/slide36.xml" Id="R4784e1b72780454e" /><ns0:Relationship Type="http://schemas.openxmlformats.org/officeDocument/2006/relationships/slide" Target="/ppt/slides/slide37.xml" Id="Ra4002e67fda4430b" /><ns0:Relationship Type="http://schemas.openxmlformats.org/officeDocument/2006/relationships/slide" Target="/ppt/slides/slide38.xml" Id="R73a73091b71d4d57" /><ns0:Relationship Type="http://schemas.openxmlformats.org/officeDocument/2006/relationships/slide" Target="/ppt/slides/slide39.xml" Id="R44342d559bc54449" /><ns0:Relationship Type="http://schemas.openxmlformats.org/officeDocument/2006/relationships/slide" Target="/ppt/slides/slide40.xml" Id="R35318ab4eb86448a" /><ns0:Relationship Type="http://schemas.openxmlformats.org/officeDocument/2006/relationships/slide" Target="/ppt/slides/slide41.xml" Id="Rfc314fbc7a63457f" /><ns0:Relationship Type="http://schemas.openxmlformats.org/officeDocument/2006/relationships/slide" Target="/ppt/slides/slide42.xml" Id="R6d3b4b9610594171" /><ns0:Relationship Type="http://schemas.openxmlformats.org/officeDocument/2006/relationships/slide" Target="/ppt/slides/slide49.xml" Id="R8a66d6aeef504974" /><ns0:Relationship Type="http://schemas.openxmlformats.org/officeDocument/2006/relationships/slide" Target="/ppt/slides/slide50.xml" Id="Rce6e30e9a92e416c" /><ns0:Relationship Type="http://schemas.openxmlformats.org/officeDocument/2006/relationships/slide" Target="/ppt/slides/slide51.xml" Id="R5003ec8b066f4493" /><ns0:Relationship Type="http://schemas.openxmlformats.org/officeDocument/2006/relationships/slide" Target="/ppt/slides/slide52.xml" Id="R69b22ea441a846ad" /><ns0:Relationship Type="http://schemas.openxmlformats.org/officeDocument/2006/relationships/slide" Target="/ppt/slides/slide53.xml" Id="Rbe587c4c691540bf" /><ns0:Relationship Type="http://schemas.openxmlformats.org/officeDocument/2006/relationships/slide" Target="/ppt/slides/slide54.xml" Id="R49ce31ef87f14215" /><ns0:Relationship Type="http://schemas.openxmlformats.org/officeDocument/2006/relationships/slide" Target="/ppt/slides/slide55.xml" Id="Reb435d3acba74f64" /><ns0:Relationship Type="http://schemas.openxmlformats.org/officeDocument/2006/relationships/slide" Target="/ppt/slides/slide56.xml" Id="R40c4adc0634e4f01" /><ns0:Relationship Type="http://schemas.openxmlformats.org/officeDocument/2006/relationships/slide" Target="/ppt/slides/slide57.xml" Id="R7769d5970799494a" /><ns0:Relationship Type="http://schemas.openxmlformats.org/officeDocument/2006/relationships/slide" Target="/ppt/slides/slide58.xml" Id="Rf5d1362741de4267" /><ns0:Relationship Type="http://schemas.openxmlformats.org/officeDocument/2006/relationships/slide" Target="/ppt/slides/slide59.xml" Id="R9dd9b731ed3045a1" /><ns0:Relationship Type="http://schemas.openxmlformats.org/officeDocument/2006/relationships/slide" Target="/ppt/slides/slide60.xml" Id="Re57b537c05db4ba7" /></ns0: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22911d6a68946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8678464e64e4140" /><Relationship Type="http://schemas.openxmlformats.org/officeDocument/2006/relationships/notesMaster" Target="/ppt/notesMasters/notesMaster1.xml" Id="Rd31cf298afeb43e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46d5fba04744b1d" /><Relationship Type="http://schemas.openxmlformats.org/officeDocument/2006/relationships/notesMaster" Target="/ppt/notesMasters/notesMaster1.xml" Id="R2d2c9e3055534be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0fe70646ac54845" /><Relationship Type="http://schemas.openxmlformats.org/officeDocument/2006/relationships/notesMaster" Target="/ppt/notesMasters/notesMaster1.xml" Id="Rf5bad518ab43490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58e1b627e734446" /><Relationship Type="http://schemas.openxmlformats.org/officeDocument/2006/relationships/notesMaster" Target="/ppt/notesMasters/notesMaster1.xml" Id="R169ff5448eaa439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fdbae46866347cf" /><Relationship Type="http://schemas.openxmlformats.org/officeDocument/2006/relationships/notesMaster" Target="/ppt/notesMasters/notesMaster1.xml" Id="R49e0fee153904bc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ffb5c9484db418b" /><Relationship Type="http://schemas.openxmlformats.org/officeDocument/2006/relationships/notesMaster" Target="/ppt/notesMasters/notesMaster1.xml" Id="R1ca93de8010a428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55174adec34d19" /><Relationship Type="http://schemas.openxmlformats.org/officeDocument/2006/relationships/notesMaster" Target="/ppt/notesMasters/notesMaster1.xml" Id="R2502d7382ae343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a19317389b646e6" /><Relationship Type="http://schemas.openxmlformats.org/officeDocument/2006/relationships/notesMaster" Target="/ppt/notesMasters/notesMaster1.xml" Id="R48dce4d817dc4f3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317f374505248f5" /><Relationship Type="http://schemas.openxmlformats.org/officeDocument/2006/relationships/notesMaster" Target="/ppt/notesMasters/notesMaster1.xml" Id="Rd029d674361e49b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73c76abfc1847c6" /><Relationship Type="http://schemas.openxmlformats.org/officeDocument/2006/relationships/notesMaster" Target="/ppt/notesMasters/notesMaster1.xml" Id="R9299b9fcfa92447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e1770c08bb143ff" /><Relationship Type="http://schemas.openxmlformats.org/officeDocument/2006/relationships/notesMaster" Target="/ppt/notesMasters/notesMaster1.xml" Id="Re7d06b5a0535451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8c14a902bb844ec" /><Relationship Type="http://schemas.openxmlformats.org/officeDocument/2006/relationships/notesMaster" Target="/ppt/notesMasters/notesMaster1.xml" Id="Rb3d2c7158c714db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b583ed31404410a" /><Relationship Type="http://schemas.openxmlformats.org/officeDocument/2006/relationships/notesMaster" Target="/ppt/notesMasters/notesMaster1.xml" Id="R918fcb861713499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0556cfe508f44e7" /><Relationship Type="http://schemas.openxmlformats.org/officeDocument/2006/relationships/notesMaster" Target="/ppt/notesMasters/notesMaster1.xml" Id="Rfbcb5229fc994ca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3e06f204efd4410" /><Relationship Type="http://schemas.openxmlformats.org/officeDocument/2006/relationships/notesMaster" Target="/ppt/notesMasters/notesMaster1.xml" Id="R20b1fb0f9e684d7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d5074aff1354696" /><Relationship Type="http://schemas.openxmlformats.org/officeDocument/2006/relationships/notesMaster" Target="/ppt/notesMasters/notesMaster1.xml" Id="R96edbb20ba724ca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2edbf59e838498e" /><Relationship Type="http://schemas.openxmlformats.org/officeDocument/2006/relationships/notesMaster" Target="/ppt/notesMasters/notesMaster1.xml" Id="Rcf219ffe948349f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2258f5f6ad9413f" /><Relationship Type="http://schemas.openxmlformats.org/officeDocument/2006/relationships/notesMaster" Target="/ppt/notesMasters/notesMaster1.xml" Id="Rc514014142b54e1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1414d7e7d0e4f03" /><Relationship Type="http://schemas.openxmlformats.org/officeDocument/2006/relationships/notesMaster" Target="/ppt/notesMasters/notesMaster1.xml" Id="Rd70e1beea529426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ce8dca4446d4c49" /><Relationship Type="http://schemas.openxmlformats.org/officeDocument/2006/relationships/notesMaster" Target="/ppt/notesMasters/notesMaster1.xml" Id="Rf526b48b104a473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48f62c744754f8b" /><Relationship Type="http://schemas.openxmlformats.org/officeDocument/2006/relationships/notesMaster" Target="/ppt/notesMasters/notesMaster1.xml" Id="R48e1457fdb1146d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c8c7184d7544517" /><Relationship Type="http://schemas.openxmlformats.org/officeDocument/2006/relationships/notesMaster" Target="/ppt/notesMasters/notesMaster1.xml" Id="Rb69f2b102eee4d6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af10bd941b24a93" /><Relationship Type="http://schemas.openxmlformats.org/officeDocument/2006/relationships/notesMaster" Target="/ppt/notesMasters/notesMaster1.xml" Id="Rb6f731969323494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833394acc5b456b" /><Relationship Type="http://schemas.openxmlformats.org/officeDocument/2006/relationships/notesMaster" Target="/ppt/notesMasters/notesMaster1.xml" Id="R080b5068e6664af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bc8fc800cf045cd" /><Relationship Type="http://schemas.openxmlformats.org/officeDocument/2006/relationships/notesMaster" Target="/ppt/notesMasters/notesMaster1.xml" Id="R4455685b8aa244f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b7660fa4fff4997" /><Relationship Type="http://schemas.openxmlformats.org/officeDocument/2006/relationships/notesMaster" Target="/ppt/notesMasters/notesMaster1.xml" Id="Rd340c39b51f74a7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6c872d292ca46b2" /><Relationship Type="http://schemas.openxmlformats.org/officeDocument/2006/relationships/notesMaster" Target="/ppt/notesMasters/notesMaster1.xml" Id="Rdf880df7d0d74bc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cbd4b05ede243d6" /><Relationship Type="http://schemas.openxmlformats.org/officeDocument/2006/relationships/notesMaster" Target="/ppt/notesMasters/notesMaster1.xml" Id="Rc436ae9a6ddb431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39dad96da0e46f4" /><Relationship Type="http://schemas.openxmlformats.org/officeDocument/2006/relationships/notesMaster" Target="/ppt/notesMasters/notesMaster1.xml" Id="Rff5ab88116f24f2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d50de6deb264bc2" /><Relationship Type="http://schemas.openxmlformats.org/officeDocument/2006/relationships/notesMaster" Target="/ppt/notesMasters/notesMaster1.xml" Id="Rbcd97d811fb64ca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04a3a01bf5946a8" /><Relationship Type="http://schemas.openxmlformats.org/officeDocument/2006/relationships/notesMaster" Target="/ppt/notesMasters/notesMaster1.xml" Id="Rd92f0bf7d5c84c08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117cfbd9693f4f57" /><Relationship Type="http://schemas.openxmlformats.org/officeDocument/2006/relationships/notesMaster" Target="/ppt/notesMasters/notesMaster1.xml" Id="Rc69387a1866f4c0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e7e9b4e72e744b3" /><Relationship Type="http://schemas.openxmlformats.org/officeDocument/2006/relationships/notesMaster" Target="/ppt/notesMasters/notesMaster1.xml" Id="R8fcb805fc59d4be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6362e4361541471c" /><Relationship Type="http://schemas.openxmlformats.org/officeDocument/2006/relationships/notesMaster" Target="/ppt/notesMasters/notesMaster1.xml" Id="Raa9ec2786ad14b48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b60873ae33eb4ba7" /><Relationship Type="http://schemas.openxmlformats.org/officeDocument/2006/relationships/notesMaster" Target="/ppt/notesMasters/notesMaster1.xml" Id="R06b5f2c161294996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2e2d404a0bf4491" /><Relationship Type="http://schemas.openxmlformats.org/officeDocument/2006/relationships/notesMaster" Target="/ppt/notesMasters/notesMaster1.xml" Id="R075c2e0f7d5b4682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ba905433414d4dde" /><Relationship Type="http://schemas.openxmlformats.org/officeDocument/2006/relationships/notesMaster" Target="/ppt/notesMasters/notesMaster1.xml" Id="R8479baead72047a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0afdc043540542a4" /><Relationship Type="http://schemas.openxmlformats.org/officeDocument/2006/relationships/notesMaster" Target="/ppt/notesMasters/notesMaster1.xml" Id="R76eb16ba7dd64656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890fa25abdfd43c1" /><Relationship Type="http://schemas.openxmlformats.org/officeDocument/2006/relationships/notesMaster" Target="/ppt/notesMasters/notesMaster1.xml" Id="R3e4e1f657fc64d7f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454870229dd4aa1" /><Relationship Type="http://schemas.openxmlformats.org/officeDocument/2006/relationships/notesMaster" Target="/ppt/notesMasters/notesMaster1.xml" Id="Ra4ea6564e7434ae5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7d0fd7cbdb854ccf" /><Relationship Type="http://schemas.openxmlformats.org/officeDocument/2006/relationships/notesMaster" Target="/ppt/notesMasters/notesMaster1.xml" Id="R0b62bbb387ae41c7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fab818ee964a468e" /><Relationship Type="http://schemas.openxmlformats.org/officeDocument/2006/relationships/notesMaster" Target="/ppt/notesMasters/notesMaster1.xml" Id="R60c6c5a851d944d5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c02d4b13e8164398" /><Relationship Type="http://schemas.openxmlformats.org/officeDocument/2006/relationships/notesMaster" Target="/ppt/notesMasters/notesMaster1.xml" Id="Rcce5795c0bac4317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44209868e65c46db" /><Relationship Type="http://schemas.openxmlformats.org/officeDocument/2006/relationships/notesMaster" Target="/ppt/notesMasters/notesMaster1.xml" Id="Rd90e7d0adccd4572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a3416d8390fe4e5c" /><Relationship Type="http://schemas.openxmlformats.org/officeDocument/2006/relationships/notesMaster" Target="/ppt/notesMasters/notesMaster1.xml" Id="R3ba73822e2ca41d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45c654a2710f4ff1" /><Relationship Type="http://schemas.openxmlformats.org/officeDocument/2006/relationships/notesMaster" Target="/ppt/notesMasters/notesMaster1.xml" Id="R14516aaf36894b0e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022572082e1544c4" /><Relationship Type="http://schemas.openxmlformats.org/officeDocument/2006/relationships/notesMaster" Target="/ppt/notesMasters/notesMaster1.xml" Id="Rc0995337fad84e59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b7e9a7dd752d41b1" /><Relationship Type="http://schemas.openxmlformats.org/officeDocument/2006/relationships/notesMaster" Target="/ppt/notesMasters/notesMaster1.xml" Id="Rce2e7dd76ba9460a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7302b63c41024f45" /><Relationship Type="http://schemas.openxmlformats.org/officeDocument/2006/relationships/notesMaster" Target="/ppt/notesMasters/notesMaster1.xml" Id="R54bd61ab54f947bc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34abdeca58864120" /><Relationship Type="http://schemas.openxmlformats.org/officeDocument/2006/relationships/notesMaster" Target="/ppt/notesMasters/notesMaster1.xml" Id="R881565d9aad64afa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e2e0bf64763748e2" /><Relationship Type="http://schemas.openxmlformats.org/officeDocument/2006/relationships/notesMaster" Target="/ppt/notesMasters/notesMaster1.xml" Id="R12de74815d4e46bd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c232c017db9540d6" /><Relationship Type="http://schemas.openxmlformats.org/officeDocument/2006/relationships/notesMaster" Target="/ppt/notesMasters/notesMaster1.xml" Id="R643c3c636cf84aa2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b07fce3a446d41cf" /><Relationship Type="http://schemas.openxmlformats.org/officeDocument/2006/relationships/notesMaster" Target="/ppt/notesMasters/notesMaster1.xml" Id="R70fc19a6a7144900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02c9f2e38f094ccb" /><Relationship Type="http://schemas.openxmlformats.org/officeDocument/2006/relationships/notesMaster" Target="/ppt/notesMasters/notesMaster1.xml" Id="R99823b4567354bb6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e691622994084466" /><Relationship Type="http://schemas.openxmlformats.org/officeDocument/2006/relationships/notesMaster" Target="/ppt/notesMasters/notesMaster1.xml" Id="R0bab380e2e7547f0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ebf447afba7f4c9b" /><Relationship Type="http://schemas.openxmlformats.org/officeDocument/2006/relationships/notesMaster" Target="/ppt/notesMasters/notesMaster1.xml" Id="R225fff6c8c634cc3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f1e3d6f35dcb42b0" /><Relationship Type="http://schemas.openxmlformats.org/officeDocument/2006/relationships/notesMaster" Target="/ppt/notesMasters/notesMaster1.xml" Id="Rb4fef655f86b467e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a99b9e54f0bc458f" /><Relationship Type="http://schemas.openxmlformats.org/officeDocument/2006/relationships/notesMaster" Target="/ppt/notesMasters/notesMaster1.xml" Id="R107987f02a204cad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08fa0313e5a441f1" /><Relationship Type="http://schemas.openxmlformats.org/officeDocument/2006/relationships/notesMaster" Target="/ppt/notesMasters/notesMaster1.xml" Id="R573ade7db0df4908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bc1811803f0447b1" /><Relationship Type="http://schemas.openxmlformats.org/officeDocument/2006/relationships/notesMaster" Target="/ppt/notesMasters/notesMaster1.xml" Id="R2b6e1d907dac40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eb27efbc754fa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d97c0e9fdf464a" /><Relationship Type="http://schemas.openxmlformats.org/officeDocument/2006/relationships/slideLayout" Target="/ppt/slideLayouts/slideLayout1.xml" Id="R0070fa6f02ab456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70fa6f02ab45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c0cc9c5fc04d6b" /><Relationship Type="http://schemas.openxmlformats.org/officeDocument/2006/relationships/notesSlide" Target="/ppt/notesSlides/notesSlide1.xml" Id="R0acbaf43aa04436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447bb0d8a8436a" /><Relationship Type="http://schemas.openxmlformats.org/officeDocument/2006/relationships/notesSlide" Target="/ppt/notesSlides/notesSlide2.xml" Id="R81502795fe2842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e215381e8347e6" /><Relationship Type="http://schemas.openxmlformats.org/officeDocument/2006/relationships/notesSlide" Target="/ppt/notesSlides/notesSlide3.xml" Id="R58418fdb957647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0b82d99ac448f4" /><Relationship Type="http://schemas.openxmlformats.org/officeDocument/2006/relationships/notesSlide" Target="/ppt/notesSlides/notesSlide4.xml" Id="R14235d0b42e140e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b301d60a1f4bf6" /><Relationship Type="http://schemas.openxmlformats.org/officeDocument/2006/relationships/notesSlide" Target="/ppt/notesSlides/notesSlide5.xml" Id="Rc960055a5df24cf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7b395cb06c409d" /><Relationship Type="http://schemas.openxmlformats.org/officeDocument/2006/relationships/notesSlide" Target="/ppt/notesSlides/notesSlide17.xml" Id="R47f663eda9864c3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c8479ec2a64d56" /><Relationship Type="http://schemas.openxmlformats.org/officeDocument/2006/relationships/notesSlide" Target="/ppt/notesSlides/notesSlide18.xml" Id="Rfac3f01e6f5a48e4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6e72bdf494cb9" /><Relationship Type="http://schemas.openxmlformats.org/officeDocument/2006/relationships/notesSlide" Target="/ppt/notesSlides/notesSlide32.xml" Id="R05a8c47c3f92428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aad19f46ce45ce" /><Relationship Type="http://schemas.openxmlformats.org/officeDocument/2006/relationships/notesSlide" Target="/ppt/notesSlides/notesSlide34.xml" Id="R96a2e879e8d74f4a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fa39ac0419455c" /><Relationship Type="http://schemas.openxmlformats.org/officeDocument/2006/relationships/notesSlide" Target="/ppt/notesSlides/notesSlide35.xml" Id="R228c5ebd382041c4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eae060ef254ade" /><Relationship Type="http://schemas.openxmlformats.org/officeDocument/2006/relationships/notesSlide" Target="/ppt/notesSlides/notesSlide36.xml" Id="Rf34783e5ae814b7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64a9e18cef4d82" /><Relationship Type="http://schemas.openxmlformats.org/officeDocument/2006/relationships/notesSlide" Target="/ppt/notesSlides/notesSlide37.xml" Id="R01075a3804ef4de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5f0d7896474c9d" /><Relationship Type="http://schemas.openxmlformats.org/officeDocument/2006/relationships/notesSlide" Target="/ppt/notesSlides/notesSlide38.xml" Id="R9080e318e89f4596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0e837e88ed48ab" /><Relationship Type="http://schemas.openxmlformats.org/officeDocument/2006/relationships/notesSlide" Target="/ppt/notesSlides/notesSlide39.xml" Id="Ra66b615c9af24d90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9e8a4de03b453c" /><Relationship Type="http://schemas.openxmlformats.org/officeDocument/2006/relationships/notesSlide" Target="/ppt/notesSlides/notesSlide40.xml" Id="R1f4926adeda44c50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14677604c548a8" /><Relationship Type="http://schemas.openxmlformats.org/officeDocument/2006/relationships/notesSlide" Target="/ppt/notesSlides/notesSlide41.xml" Id="R5aced50963914f2d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dbdc19314d41e3" /><Relationship Type="http://schemas.openxmlformats.org/officeDocument/2006/relationships/notesSlide" Target="/ppt/notesSlides/notesSlide42.xml" Id="R0e898b4467df4eb8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28e26cb217427f" /><Relationship Type="http://schemas.openxmlformats.org/officeDocument/2006/relationships/notesSlide" Target="/ppt/notesSlides/notesSlide49.xml" Id="Rb04edafdc3dd4c14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62b4625a0c4ec5" /><Relationship Type="http://schemas.openxmlformats.org/officeDocument/2006/relationships/notesSlide" Target="/ppt/notesSlides/notesSlide50.xml" Id="R0b5557916e08402d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2072d932ed497a" /><Relationship Type="http://schemas.openxmlformats.org/officeDocument/2006/relationships/notesSlide" Target="/ppt/notesSlides/notesSlide51.xml" Id="R411f70ab47834f55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cd6bb93e6143bf" /><Relationship Type="http://schemas.openxmlformats.org/officeDocument/2006/relationships/notesSlide" Target="/ppt/notesSlides/notesSlide52.xml" Id="R44dd06d037ef47b5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1a52b5030e4b22" /><Relationship Type="http://schemas.openxmlformats.org/officeDocument/2006/relationships/notesSlide" Target="/ppt/notesSlides/notesSlide53.xml" Id="Rf9b890dd39fe48b9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c0ecba43334c97" /><Relationship Type="http://schemas.openxmlformats.org/officeDocument/2006/relationships/notesSlide" Target="/ppt/notesSlides/notesSlide54.xml" Id="Rebce7038180047f8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bef5ede0734234" /><Relationship Type="http://schemas.openxmlformats.org/officeDocument/2006/relationships/notesSlide" Target="/ppt/notesSlides/notesSlide55.xml" Id="R59c7eb9ad4514a72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b6c383ebdc4cb6" /><Relationship Type="http://schemas.openxmlformats.org/officeDocument/2006/relationships/notesSlide" Target="/ppt/notesSlides/notesSlide56.xml" Id="R657491517add4b57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c4b9bb04f04f25" /><Relationship Type="http://schemas.openxmlformats.org/officeDocument/2006/relationships/notesSlide" Target="/ppt/notesSlides/notesSlide57.xml" Id="R616f04cbc183496b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4c00e3ad424d81" /><Relationship Type="http://schemas.openxmlformats.org/officeDocument/2006/relationships/notesSlide" Target="/ppt/notesSlides/notesSlide58.xml" Id="Rc90c34adfc484b28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7e1c3ba7f34229" /><Relationship Type="http://schemas.openxmlformats.org/officeDocument/2006/relationships/notesSlide" Target="/ppt/notesSlides/notesSlide59.xml" Id="Radddbc7dca184dd2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b202a45dc04e98" /><Relationship Type="http://schemas.openxmlformats.org/officeDocument/2006/relationships/notesSlide" Target="/ppt/notesSlides/notesSlide60.xml" Id="R9ce0550d579749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EE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5EFE3F-8A94-4E94-8CA6-FE104E88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96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4263EB"/>
                </a:solidFill>
              </a:defRPr>
            </a:pPr>
            <a:r>
              <a:rPr sz="1500" b="1">
                <a:solidFill>
                  <a:srgbClr val="4263EB"/>
                </a:solidFill>
              </a:rPr>
              <a:t>Docker 基礎教學 第 6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DAE6BD-84CC-4003-A3E6-4FAD8002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71600"/>
            <a:ext cx="685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72033"/>
                </a:solidFill>
              </a:defRPr>
            </a:pPr>
            <a:r>
              <a:rPr sz="4050" b="1">
                <a:solidFill>
                  <a:srgbClr val="172033"/>
                </a:solidFill>
              </a:rPr>
              <a:t>Docker Compose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172033"/>
                </a:solidFill>
              </a:defRPr>
            </a:pPr>
            <a:r>
              <a:rPr sz="4050" b="1">
                <a:solidFill>
                  <a:srgbClr val="172033"/>
                </a:solidFill>
              </a:rPr>
              <a:t>全端專題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C77E40-CEAB-4515-B0ED-04BC9609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676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86174"/>
                </a:solidFill>
              </a:defRPr>
            </a:pPr>
            <a:r>
              <a:rPr sz="1875" b="0">
                <a:solidFill>
                  <a:srgbClr val="586174"/>
                </a:solidFill>
              </a:rPr>
              <a:t>React + Flask + MySQL 三層架構，由 Docker Compose 一鍵啟動與管理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91F81F-FDBF-419F-8980-FFE88E2C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001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React + Nginx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B27B4-ABC9-4CF9-9FB8-FC73AF9C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907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4263EB"/>
                </a:solidFill>
              </a:defRPr>
            </a:pPr>
            <a:r>
              <a:rPr sz="2550" b="1">
                <a:solidFill>
                  <a:srgbClr val="4263EB"/>
                </a:solidFill>
              </a:rPr>
              <a:t>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7C026-16FD-49A7-9387-CB87DB44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E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backend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API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596A3B-F87D-4A73-A0F2-8BED2A22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68A5A"/>
                </a:solidFill>
              </a:defRPr>
            </a:pPr>
            <a:r>
              <a:rPr sz="2550" b="1">
                <a:solidFill>
                  <a:srgbClr val="168A5A"/>
                </a:solidFill>
              </a:rPr>
              <a:t>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1BA224-6C0D-4EFE-9AF3-9C112A4A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D7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database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MySQL + Volume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258D5E-F00C-4309-8A59-85973BB9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堂｜01</a:t>
            </a:r>
          </a:p>
        </p:txBody>
      </p:sp>
    </p:spTree>
    <p:extLst>
      <p:ext uri="{BB962C8B-B14F-4D97-AF65-F5344CB8AC3E}">
        <p14:creationId xmlns:p14="http://schemas.microsoft.com/office/powerpoint/2010/main" val="8562789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1223E0-5EE0-40BF-98FB-7BF5C1B1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從第五堂課接到第六堂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4DD8CC-7C4D-4701-AFDA-AE5CF3C3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上一堂完成：單一 Flask app 的 CI/CD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0A253F-C460-4A8F-BEC0-3C3B7909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76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0A3ABC-85BA-4706-8CE2-08C7D86A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6192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GitHub Actions 綠燈，Docker Hub 有 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62DB9B-CDFE-446F-878D-D7805B5B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66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BC653C-7C3D-4DF2-8475-44B847E1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20980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本機可以 pull/run，也知道怎麼看失敗 log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0A8B6F-32BE-4400-ADE6-80D0E9331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5907A5-0FD7-472B-8247-D01BCFE7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003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今天放大成：frontend + backend + MySQL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EEAA1D-688E-43D2-9F3F-01529CBE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480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A5EDD5-CEA7-4283-9573-0BB6361AF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39090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每完成一個服務，就接 Dockerfile / Compose 驗證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137568-BB97-4418-8AFA-ACD2BE7F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38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64033B-20D8-4E35-B8DA-72CEFCE2F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814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最後再接回第五堂的 CI/CD，自動驗證整套系統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EC93D5-8ED7-4907-8C21-1A2D3AE6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堂｜02</a:t>
            </a:r>
          </a:p>
        </p:txBody>
      </p:sp>
    </p:spTree>
    <p:extLst>
      <p:ext uri="{BB962C8B-B14F-4D97-AF65-F5344CB8AC3E}">
        <p14:creationId xmlns:p14="http://schemas.microsoft.com/office/powerpoint/2010/main" val="8533404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160918-359B-4540-81F3-A53F39F6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標準三層架構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35CE98-1A9B-4A44-9E5F-9BD579DD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Browser 到 database 的請求路徑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EABF1B-D3EE-49D9-9951-25A3B552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Browser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使用者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4E3C66-1EDE-49C1-B1A9-AC3A32C0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4263EB"/>
                </a:solidFill>
              </a:defRPr>
            </a:pPr>
            <a:r>
              <a:rPr sz="2850" b="1">
                <a:solidFill>
                  <a:srgbClr val="4263EB"/>
                </a:solidFill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621D1C-49B6-4356-806E-2C0CDDA4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A9BD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React + Nginx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305FC2-7569-4A6D-A063-F87A7B3F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168A5A"/>
                </a:solidFill>
              </a:defRPr>
            </a:pPr>
            <a:r>
              <a:rPr sz="285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963B76-3CF6-4ABA-9429-69C8F1C8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backend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89E0E8-92FA-4485-9D49-E9A18054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D97706"/>
                </a:solidFill>
              </a:defRPr>
            </a:pPr>
            <a:r>
              <a:rPr sz="2850" b="1">
                <a:solidFill>
                  <a:srgbClr val="D97706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AA0ABF-76D9-4FF4-B357-E30AB3C3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1657350"/>
            <a:ext cx="1428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db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MySQL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D0C727-CA10-49C1-A0A8-8B1CA73A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371850"/>
            <a:ext cx="3714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Nginx 把 /api proxy 到 backend:5000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DF9FD1-447C-4A1F-94A5-5407FDFB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71850"/>
            <a:ext cx="3714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E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用 MYSQL_HOST=db 連資料庫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28725F-E97C-4E51-B140-ABC81548D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942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核心能力：知道每個 container 負責什麼，並讓它們透過 service name 正確溝通。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FC7BA7-5928-412E-AE1A-FE7C2B64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堂｜03</a:t>
            </a:r>
          </a:p>
        </p:txBody>
      </p:sp>
    </p:spTree>
    <p:extLst>
      <p:ext uri="{BB962C8B-B14F-4D97-AF65-F5344CB8AC3E}">
        <p14:creationId xmlns:p14="http://schemas.microsoft.com/office/powerpoint/2010/main" val="19546319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B8DBE1-BC42-4F60-89D0-11C61807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Nginx 的角色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3697F5-A427-44CF-8583-94623EF9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這裡用 Nginx，但不是所有部署都必備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D7663-FCBF-4C6D-ABD5-A9AD98A9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24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本章採用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React build + Nginx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49AB19-8A23-402A-9811-5DAB65F9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524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自租 VM 常見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GCP VM / EC2 / VPS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BFEC6-E256-4681-B1D3-ED5B2C75D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24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Managed service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可能不需要自管 Nginx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E7093A-A5D6-4FF9-9AB1-B956F83B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4B6137-7366-465D-9132-6F471D0F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3850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Nginx 在 frontend container 裡 serve React 靜態檔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32EA03-BC31-458E-8352-4356D3D6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71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F55067-3BF4-4907-B55A-2C5B67EB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1475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Nginx 把 /api proxy 到 backend:5000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52CDDA-1179-4A5F-A1AF-B7496D4E9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651D64-DEBE-4C52-9DFD-2421527C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19100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這可以避免前端直接處理 CORS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DCD3ED-1B42-40A3-8235-76D960AB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24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84460B-B4D7-4CB4-A858-49A45E81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6725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Cloud Run、Render、Railway 等平台前面可能已有 proxy / load balancer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E2F26F-B89B-4AB2-96CE-A5BF5D4A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3A093F-75EB-4BBA-867C-ED736738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4350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本章重點仍是 Compose 如何管理多個 service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B0A8DD-A8FA-4DE0-A52A-62279A49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堂｜04</a:t>
            </a:r>
          </a:p>
        </p:txBody>
      </p:sp>
    </p:spTree>
    <p:extLst>
      <p:ext uri="{BB962C8B-B14F-4D97-AF65-F5344CB8AC3E}">
        <p14:creationId xmlns:p14="http://schemas.microsoft.com/office/powerpoint/2010/main" val="1160798726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0FCE915-C54B-4F43-8BBE-7A87AE74B5AE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教材資料夾</a:t>
            </a:r>
          </a:p>
        </p:txBody>
      </p:sp>
      <p:sp>
        <p:nvSpPr>
          <p:cNvPr id="2" name="">
            <a:extLst>
              <a:ext uri="{FF2B5EF4-FFF2-40B4-BE49-F238E27FC236}">
                <ns2:creationId id="{527FF065-8A48-43A2-BCB4-7739D1D025DB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不要從 PPT 複製完整 app 程式碼</a:t>
            </a:r>
          </a:p>
        </p:txBody>
      </p:sp>
      <p:sp>
        <p:nvSpPr>
          <p:cNvPr id="3" name="">
            <a:extLst>
              <a:ext uri="{FF2B5EF4-FFF2-40B4-BE49-F238E27FC236}">
                <ns2:creationId id="{0050A62B-3277-47E4-BB3A-02E3004DF4E6}"/>
              </a:ext>
            </a:extLst>
          </p:cNvPr>
          <p:cNvSpPr>
            <a:spLocks noGrp="1"/>
          </p:cNvSpPr>
          <p:nvPr/>
        </p:nvSpPr>
        <p:spPr>
          <a:xfrm>
            <a:off x="971550" y="1428750"/>
            <a:ext cx="4572000" cy="4095750"/>
          </a:xfrm>
          <a:prstGeom prst="roundRect">
            <a:avLst>
              <a:gd name="adj" fmla="val 1860"/>
            </a:avLst>
          </a:prstGeom>
          <a:solidFill>
            <a:srgbClr val="101828"/>
          </a:solidFill>
          <a:ln w="9525">
            <a:solidFill>
              <a:srgbClr val="263244"/>
            </a:solidFill>
            <a:prstDash val="solid"/>
          </a:ln>
        </p:spPr>
        <p:style>
          <a:lnRef idx="0"/>
          <a:fillRef idx="0"/>
          <a:effectRef idx="4"/>
          <a:fontRef idx="major"/>
        </p:style>
        <p:txBody>
          <a:bodyPr/>
          <a:lstStyle/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session-06-fullstack-todo/</a:t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starter/     學生練習用</a:t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frontend/  React 程式碼已提供</a:t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backend/   Flask API 已提供</a:t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db/init.sql 範例資料已提供</a:t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solution/    完整解答</a:t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/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/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/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/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/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/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/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/>
            </a:r>
          </a:p>
        </p:txBody>
      </p:sp>
      <p:sp>
        <p:nvSpPr>
          <p:cNvPr id="4" name="">
            <a:extLst>
              <a:ext uri="{FF2B5EF4-FFF2-40B4-BE49-F238E27FC236}">
                <ns2:creationId id="{3F6580F3-CC4F-41FD-9AB1-A636232521B4}"/>
              </a:ext>
            </a:extLst>
          </p:cNvPr>
          <p:cNvSpPr>
            <a:spLocks noGrp="1"/>
          </p:cNvSpPr>
          <p:nvPr/>
        </p:nvSpPr>
        <p:spPr>
          <a:xfrm>
            <a:off x="6305550" y="17907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r>
              <a:t/>
            </a:r>
          </a:p>
        </p:txBody>
      </p:sp>
      <p:sp>
        <p:nvSpPr>
          <p:cNvPr id="5" name="">
            <a:extLst>
              <a:ext uri="{FF2B5EF4-FFF2-40B4-BE49-F238E27FC236}">
                <ns2:creationId id="{025EE14F-8402-4C66-961A-18994F21AB52}"/>
              </a:ext>
            </a:extLst>
          </p:cNvPr>
          <p:cNvSpPr>
            <a:spLocks noGrp="1"/>
          </p:cNvSpPr>
          <p:nvPr/>
        </p:nvSpPr>
        <p:spPr>
          <a:xfrm>
            <a:off x="6629400" y="1733550"/>
            <a:ext cx="41529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PPT 只放 Docker 關鍵片段</a:t>
            </a:r>
          </a:p>
        </p:txBody>
      </p:sp>
      <p:sp>
        <p:nvSpPr>
          <p:cNvPr id="6" name="">
            <a:extLst>
              <a:ext uri="{FF2B5EF4-FFF2-40B4-BE49-F238E27FC236}">
                <ns2:creationId id="{158D6274-2ED9-4D2A-B4C6-DE45AAAA343F}"/>
              </a:ext>
            </a:extLst>
          </p:cNvPr>
          <p:cNvSpPr>
            <a:spLocks noGrp="1"/>
          </p:cNvSpPr>
          <p:nvPr/>
        </p:nvSpPr>
        <p:spPr>
          <a:xfrm>
            <a:off x="6305550" y="24574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r>
              <a:t/>
            </a:r>
          </a:p>
        </p:txBody>
      </p:sp>
      <p:sp>
        <p:nvSpPr>
          <p:cNvPr id="7" name="">
            <a:extLst>
              <a:ext uri="{FF2B5EF4-FFF2-40B4-BE49-F238E27FC236}">
                <ns2:creationId id="{828F3C4E-ECFD-4CC5-905E-2813FF241FC1}"/>
              </a:ext>
            </a:extLst>
          </p:cNvPr>
          <p:cNvSpPr>
            <a:spLocks noGrp="1"/>
          </p:cNvSpPr>
          <p:nvPr/>
        </p:nvSpPr>
        <p:spPr>
          <a:xfrm>
            <a:off x="6629400" y="2400300"/>
            <a:ext cx="41529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學生補 Dockerfile / .dockerignore</a:t>
            </a:r>
          </a:p>
        </p:txBody>
      </p:sp>
      <p:sp>
        <p:nvSpPr>
          <p:cNvPr id="8" name="">
            <a:extLst>
              <a:ext uri="{FF2B5EF4-FFF2-40B4-BE49-F238E27FC236}">
                <ns2:creationId id="{A03D2C97-649B-4902-A7AF-8782517B79D7}"/>
              </a:ext>
            </a:extLst>
          </p:cNvPr>
          <p:cNvSpPr>
            <a:spLocks noGrp="1"/>
          </p:cNvSpPr>
          <p:nvPr/>
        </p:nvSpPr>
        <p:spPr>
          <a:xfrm>
            <a:off x="6305550" y="31242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r>
              <a:t/>
            </a:r>
          </a:p>
        </p:txBody>
      </p:sp>
      <p:sp>
        <p:nvSpPr>
          <p:cNvPr id="9" name="">
            <a:extLst>
              <a:ext uri="{FF2B5EF4-FFF2-40B4-BE49-F238E27FC236}">
                <ns2:creationId id="{01F50372-2197-4E61-920B-FEE7B2F7A13E}"/>
              </a:ext>
            </a:extLst>
          </p:cNvPr>
          <p:cNvSpPr>
            <a:spLocks noGrp="1"/>
          </p:cNvSpPr>
          <p:nvPr/>
        </p:nvSpPr>
        <p:spPr>
          <a:xfrm>
            <a:off x="6629400" y="3067050"/>
            <a:ext cx="41529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學生補 nginx.conf / compose.yaml</a:t>
            </a:r>
          </a:p>
        </p:txBody>
      </p:sp>
      <p:sp>
        <p:nvSpPr>
          <p:cNvPr id="10" name="">
            <a:extLst>
              <a:ext uri="{FF2B5EF4-FFF2-40B4-BE49-F238E27FC236}">
                <ns2:creationId id="{D8482FB5-9DE2-4C38-AC02-0582F0FBEB1F}"/>
              </a:ext>
            </a:extLst>
          </p:cNvPr>
          <p:cNvSpPr>
            <a:spLocks noGrp="1"/>
          </p:cNvSpPr>
          <p:nvPr/>
        </p:nvSpPr>
        <p:spPr>
          <a:xfrm>
            <a:off x="6305550" y="3790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r>
              <a:t/>
            </a:r>
          </a:p>
        </p:txBody>
      </p:sp>
      <p:sp>
        <p:nvSpPr>
          <p:cNvPr id="11" name="">
            <a:extLst>
              <a:ext uri="{FF2B5EF4-FFF2-40B4-BE49-F238E27FC236}">
                <ns2:creationId id="{4640084E-5C1F-4381-A48D-320B91521F35}"/>
              </a:ext>
            </a:extLst>
          </p:cNvPr>
          <p:cNvSpPr>
            <a:spLocks noGrp="1"/>
          </p:cNvSpPr>
          <p:nvPr/>
        </p:nvSpPr>
        <p:spPr>
          <a:xfrm>
            <a:off x="6629400" y="3733800"/>
            <a:ext cx="41529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學生補 GitHub Actions workflow</a:t>
            </a:r>
          </a:p>
        </p:txBody>
      </p:sp>
      <p:sp>
        <p:nvSpPr>
          <p:cNvPr id="12" name="">
            <a:extLst>
              <a:ext uri="{FF2B5EF4-FFF2-40B4-BE49-F238E27FC236}">
                <ns2:creationId id="{9ABE32A1-1F56-40C9-B224-F8530F76D811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堂｜05</a:t>
            </a:r>
          </a:p>
        </p:txBody>
      </p:sp>
    </p:spTree>
    <p:extLst>
      <p:ext uri="{BB962C8B-B14F-4D97-AF65-F5344CB8AC3E}">
        <ns3:creationId val="102836047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重點程式碼：backend/Dockerfile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學生要完成的關鍵檔案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3411EA-809D-4F86-96AD-8CF20B67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Frontend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37219-2AB2-435A-8D9C-EF5DA982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React 只負責畫面，Nginx 負責交付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632DED-8AF8-4B51-8BCD-CB5204F9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95450"/>
            <a:ext cx="28575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React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顯示 Product + fetch API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91C9D-1D68-46B5-A0BA-F8849D8C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4263EB"/>
                </a:solidFill>
              </a:defRPr>
            </a:pPr>
            <a:r>
              <a:rPr sz="2100" b="1">
                <a:solidFill>
                  <a:srgbClr val="4263EB"/>
                </a:solidFill>
              </a:rPr>
              <a:t>→ npm run build 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5F063A-F2AD-4822-A75C-A545DA46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695450"/>
            <a:ext cx="20955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dist/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HTML CSS JS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19107B-FBBF-4F1F-9A8C-002B5BFC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038350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68A5A"/>
                </a:solidFill>
              </a:defRPr>
            </a:pPr>
            <a:r>
              <a:rPr sz="255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B2C258-55F9-4BA7-A80B-76A6E403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695450"/>
            <a:ext cx="1524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Nginx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serve static + proxy /api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370395-4BED-47EB-960E-ACE6FAEA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95700"/>
            <a:ext cx="79819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location /api/ {</a:t>
            </a:r>
          </a:p>
          <a:p xmlns:a="http://schemas.openxmlformats.org/drawingml/2006/main">
            <a:pPr algn="l">
              <a:buNone/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  proxy_pass http://backend:5000/api/;</a:t>
            </a:r>
          </a:p>
          <a:p xmlns:a="http://schemas.openxmlformats.org/drawingml/2006/main">
            <a:pPr algn="l">
              <a:buNone/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13CEFC-1179-464B-BBF5-76482CAA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197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586174"/>
                </a:solidFill>
              </a:defRPr>
            </a:pPr>
            <a:r>
              <a:rPr sz="1800" b="0">
                <a:solidFill>
                  <a:srgbClr val="586174"/>
                </a:solidFill>
              </a:rPr>
              <a:t>前端不直接知道資料庫，也不需要處理 CORS；瀏覽器只打 frontend，Nginx 轉發 API。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57562A-F7FB-484D-9FF4-110DF177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堂｜07</a:t>
            </a:r>
          </a:p>
        </p:txBody>
      </p:sp>
    </p:spTree>
    <p:extLst>
      <p:ext uri="{BB962C8B-B14F-4D97-AF65-F5344CB8AC3E}">
        <p14:creationId xmlns:p14="http://schemas.microsoft.com/office/powerpoint/2010/main" val="125515637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重點程式碼：frontend/nginx.conf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學生要完成的關鍵檔案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listen 80;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server_name _;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root /usr/share/nginx/html;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index index.html;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location /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try_files $uri /index.html;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location /api/ {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proxy_pass http://backend:5000/api/;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proxy_set_header Host $host;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proxy_set_header X-Real-IP $remote_addr;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重點程式碼：frontend/Dockerfile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學生要完成的關鍵檔案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node:20-alpine AS build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package.json .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npm install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npm run build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nginx:1.27-alpine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nginx.conf /etc/nginx/conf.d/default.conf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--from=build /app/dist /usr/share/nginx/html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80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7912B3-F9DB-4E15-AE61-791CBF59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Dockerfile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688115-83AC-4E42-BC25-8D3EC8F7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兩個服務各自 build 成 image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ECC899-19DB-41CE-B2D8-90E01469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04950"/>
            <a:ext cx="49530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backend/Dockerfile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python:3.11-slim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WORKDIR /app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requirements.txt .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pip install --no-cache-dir -r requirements.txt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. .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CMD ["python", "app.py"]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A54DB3-C97B-4BB0-AAF9-024723DF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04950"/>
            <a:ext cx="49530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frontend/Dockerfile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node:20-alpine AS build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package.json .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npm install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npm run build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nginx:1.27-alpine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--from=build /app/dist /usr/share/nginx/html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664DE-26D5-417E-8376-3AB7FDA5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149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重點：backend 用 Python image；frontend 用 multi-stage build，最後 image 只留下 Nginx 和靜態檔。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412479-DF1E-4E4A-A401-AE4DF7F60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堂｜08</a:t>
            </a:r>
          </a:p>
        </p:txBody>
      </p:sp>
    </p:spTree>
    <p:extLst>
      <p:ext uri="{BB962C8B-B14F-4D97-AF65-F5344CB8AC3E}">
        <p14:creationId xmlns:p14="http://schemas.microsoft.com/office/powerpoint/2010/main" val="1321074543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A32B8F-3F3D-404B-8463-BD64FBF6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Compose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CC3E04-1D3F-484F-AB0A-64A77C7B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一個檔案啟動 frontend、backend、db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7C2C54-DD90-4853-9D0E-F5C8C5A3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371600"/>
            <a:ext cx="561975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services: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frontend: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image: product-frontend:1.0.0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build: ./frontend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ports: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- "8080:80"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depends_on: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- backend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backend: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image: product-backend:1.0.0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build: ./backend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environment: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MYSQL_HOST: db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depends_on: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db: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  condition: service_healthy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db: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image: mysql:8.0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volumes:</a:t>
            </a:r>
          </a:p>
          <a:p xmlns:a="http://schemas.openxmlformats.org/drawingml/2006/main"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- product-db-data:/var/lib/mysql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6F0DEA-7FA3-4D2A-AC0D-98FA1514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573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435391-3A90-439A-A232-C33AD4FD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6002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frontend 對 host 開 8080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885D9D-2AFF-4EE9-BB74-CDD069ED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66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46E96B-795B-4B7B-A183-A3F2E299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2098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backend 在 compose network 裡給 frontend 呼叫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B04BBF-F925-44DB-83E3-1C10D0CFE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765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79B1DB-4002-40EB-8324-4EED4F93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194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db 不需要暴露給瀏覽器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357A1F-58ED-42B9-9B7C-18DC44CA0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86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ADEEE2-9F10-4243-9D13-F9C91BC8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4290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depends_on + healthcheck 降低啟動順序問題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53F9F3-BAFC-43E2-A5EE-9229B495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95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096851-1B36-45C5-9D97-28CD2BBF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0386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volume 保存 MySQL 資料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BC1C1-9B8B-4AC7-968F-A4971DB5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堂｜09</a:t>
            </a:r>
          </a:p>
        </p:txBody>
      </p:sp>
    </p:spTree>
    <p:extLst>
      <p:ext uri="{BB962C8B-B14F-4D97-AF65-F5344CB8AC3E}">
        <p14:creationId xmlns:p14="http://schemas.microsoft.com/office/powerpoint/2010/main" val="46760479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重點程式碼：compose.yaml (1/2)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學生要完成的關鍵檔案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frontend: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build: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context: ./frontend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backend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backend: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build: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context: ./backend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"5000:5000"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MYSQL_HOST: db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MYSQL_PORT: 3306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${MYSQL_DATABASE}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${MYSQL_USER}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${MYSQL_PASSWORD}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db: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重點程式碼：compose.yaml (2/2)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學生要完成的關鍵檔案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85778"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condition: service_healthy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${MYSQL_ROOT_PASSWORD}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${MYSQL_DATABASE}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${MYSQL_USER}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${MYSQL_PASSWORD}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product-db-data:/var/lib/mysql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./db/init.sql:/docker-entrypoint-initdb.d/init.sql:ro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healthcheck: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test: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- CMD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- mysqladmin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- ping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- "-h"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- localhost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interval: 5s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timeout: 5s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retries: 10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 xmlns:a="http://schemas.openxmlformats.org/drawingml/2006/main"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product-db-data: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9BBFE1-CE2B-4877-BC38-52762959A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TAGGING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76CEBB-5151-4A23-9FCD-E3926D60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裡版本號該寫在哪裡？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EA8061-0372-49EE-AB9F-250537E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57325"/>
            <a:ext cx="32385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Compose 檔案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不要再寫舊式頂層 version: "3.8"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 Compose V2 會用 Compose Specification。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785721-D847-470F-8FFB-F4048810C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457325"/>
            <a:ext cx="32385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7E4C7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Service image</a:t>
            </a:r>
          </a:p>
          <a:p xmlns:a="http://schemas.openxmlformats.org/drawingml/2006/main">
            <a:pPr>
              <a:buNone/>
              <a:defRPr sz="500"/>
            </a:pPr>
            <a:r>
              <a:t/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要寫明確 tag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rPr>
              <a:t>mysql:8.0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rPr>
              <a:t>product-backend:1.0.0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961EE2-CDFD-48D1-A398-6AA252F6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457325"/>
            <a:ext cx="32385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FD999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Build 服務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image + build 可以同時寫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build 負責建立；image 負責命名與版本。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E5C696-F4F9-479A-AA1A-0443D727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24350"/>
            <a:ext cx="9144000" cy="628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教學口訣：Compose 不寫舊 version；Image 不靠 latest。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99A7DF-B9BE-46B2-A69E-47D8CC09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56200"/>
            <a:ext cx="8001000" cy="5143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9769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75" b="1">
                <a:solidFill>
                  <a:srgbClr val="0B1220"/>
                </a:solidFill>
                <a:latin typeface="Aptos Mono"/>
                <a:ea typeface="Aptos Mono"/>
                <a:cs typeface="Aptos Mono"/>
              </a:defRPr>
            </a:pPr>
            <a:r>
              <a:rPr sz="1175" b="1">
                <a:solidFill>
                  <a:srgbClr val="0B1220"/>
                </a:solidFill>
                <a:latin typeface="Aptos Mono"/>
                <a:ea typeface="Aptos Mono"/>
                <a:cs typeface="Aptos Mono"/>
              </a:rPr>
              <a:t>services:  frontend:  image: product-frontend:1.0.0  build: ./frontend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D609B40-3C20-4A63-9C98-4AC2A036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5CD8663-95F9-409A-A8D9-D4B2749D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基礎教學｜第 6 堂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F4B62F3-41F6-44CB-8AF9-F783D2D1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09B</a:t>
            </a:r>
          </a:p>
        </p:txBody>
      </p:sp>
    </p:spTree>
    <p:extLst>
      <p:ext uri="{BB962C8B-B14F-4D97-AF65-F5344CB8AC3E}">
        <p14:creationId xmlns:p14="http://schemas.microsoft.com/office/powerpoint/2010/main" val="179598198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60FA69-65E5-4D93-851D-4D7EEA36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Volume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D0AEE9-047B-4FB5-B7B5-A2E8FD4B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container 可重建，資料要留下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958A80-559A-4705-B131-1D6DF23E9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76400"/>
            <a:ext cx="2857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docker compose down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container 被刪掉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1F111D-F2B6-435B-B9C5-0C21C7C6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8120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D94A4A"/>
                </a:solidFill>
              </a:defRPr>
            </a:pPr>
            <a:r>
              <a:rPr sz="2550" b="1">
                <a:solidFill>
                  <a:srgbClr val="D94A4A"/>
                </a:solidFill>
              </a:rPr>
              <a:t>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26B1A5-2B57-4C2F-89AE-1965FC71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76400"/>
            <a:ext cx="3238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product-db-data volume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MySQL 資料仍存在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DF24EA-8348-4909-848C-B57EB783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981200"/>
            <a:ext cx="76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D97706"/>
                </a:solidFill>
              </a:defRPr>
            </a:pPr>
            <a:r>
              <a:rPr sz="2550" b="1">
                <a:solidFill>
                  <a:srgbClr val="D97706"/>
                </a:solidFill>
              </a:rPr>
              <a:t>直到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AA73FF-46C7-4187-8BBB-8531A5E7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09950"/>
            <a:ext cx="2857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docker compose down -v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volume 被刪掉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E94976-CF9D-48ED-A899-9FADB70E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09950"/>
            <a:ext cx="3238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init.sql 重新執行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資料回到初始狀態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C2E78F-AFC2-4E9A-B56F-0F6940C9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21970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</a:defRPr>
            </a:pPr>
            <a:r>
              <a:rPr sz="2025" b="1">
                <a:solidFill>
                  <a:srgbClr val="172033"/>
                </a:solidFill>
              </a:rPr>
              <a:t>這是 Docker 基本功：知道什麼可以丟、什麼必須保存。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4A5FD4-F80D-4F32-B775-7B3C74F3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堂｜10</a:t>
            </a:r>
          </a:p>
        </p:txBody>
      </p:sp>
    </p:spTree>
    <p:extLst>
      <p:ext uri="{BB962C8B-B14F-4D97-AF65-F5344CB8AC3E}">
        <p14:creationId xmlns:p14="http://schemas.microsoft.com/office/powerpoint/2010/main" val="193560253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4CF331-7891-4A3F-98EC-91AD82C8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除錯基本功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51ABCB-151A-43A5-B307-3D2968A56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不是背指令，而是知道去哪裡看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A150B4-3A3B-4B31-B586-B160E002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43050"/>
            <a:ext cx="54292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frontend</a:t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backend</a:t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db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exec backend bash</a:t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exec db mysql -u product_user -p product_app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build --no-cache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3EB49B-9099-4388-9F22-C17A606F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478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BBBEF5-80D8-4D67-8303-1EABFCDF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7907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前端問題：先看 Nginx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DCE51D-30AC-475D-95A0-654E8D87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33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092BD-F482-4CAC-A174-E45E5568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765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API 問題：看 backend logs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2B97CB-8FC3-412A-9B67-5AF70F66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19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570F58-2723-49B6-A6CF-58AEEE458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623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DB 問題：exec 進 MySQL 查資料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2D323D-B7E0-45FF-8120-5591FF94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05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93C5CB-66F6-4269-9B5B-0696D243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8481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程式碼改了沒生效：重新 build image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8D3EAA-C8D9-4EA6-B3E8-98F83DFE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堂｜11</a:t>
            </a:r>
          </a:p>
        </p:txBody>
      </p:sp>
    </p:spTree>
    <p:extLst>
      <p:ext uri="{BB962C8B-B14F-4D97-AF65-F5344CB8AC3E}">
        <p14:creationId xmlns:p14="http://schemas.microsoft.com/office/powerpoint/2010/main" val="50835305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10C7DE-976E-4F9F-BB14-554F6B9A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CI/CD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2CEDF3-803E-4396-AD7E-DAB57C1B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第五堂的能力，套到全端專題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240FD6-A580-43D6-8B22-4EB09628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95450"/>
            <a:ext cx="2286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test-backend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pytest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7FADD3-77A3-43CF-841C-A9690FA9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943100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4263EB"/>
                </a:solidFill>
              </a:defRPr>
            </a:pPr>
            <a:r>
              <a:rPr sz="2700" b="1">
                <a:solidFill>
                  <a:srgbClr val="4263EB"/>
                </a:solidFill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1BCE42-E752-426D-A0B3-3D5A67A3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695450"/>
            <a:ext cx="276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compose-check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build + up + health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03D916-D877-4388-89FF-A75D0980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943100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168A5A"/>
                </a:solidFill>
              </a:defRPr>
            </a:pPr>
            <a:r>
              <a:rPr sz="270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C4F410-B336-45B9-AAB7-22F943CE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95450"/>
            <a:ext cx="276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push-images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frontend/backend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6CAE7F-5574-4578-9CBE-ECBC0E50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486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ABE8B-80F6-4789-B268-4F03C60F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2900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PR：測試 + compose health 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CB784F-6573-4ADE-8A10-991F21A5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38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0FD9B7-CF76-4777-9873-C1A8B9A7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8145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push main：才 push Docker Hub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0789C3-0962-4768-8171-E1D82709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910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D99721-B2E8-4101-B674-D479DDD1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53390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CI 會抓到 backend、Nginx proxy、Compose 問題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30FB30-C5DE-4912-9B46-F3C15996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D9C19B-2E7C-4FA6-9E04-110BADC0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8635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真正部署前，至少確定 image 能啟動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337451-0962-4ED2-9220-9203436C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堂｜12</a:t>
            </a:r>
          </a:p>
        </p:txBody>
      </p:sp>
    </p:spTree>
    <p:extLst>
      <p:ext uri="{BB962C8B-B14F-4D97-AF65-F5344CB8AC3E}">
        <p14:creationId xmlns:p14="http://schemas.microsoft.com/office/powerpoint/2010/main" val="207220015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7A77D3-8119-4D71-9388-EBEE5E56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常見錯誤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026FAF-CB9B-4C1A-91F1-0063A57A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最後一堂要刻意練排錯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FE0B49-6321-479C-B68C-8042C365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02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MYSQL_HOST=localhost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backend 找不到 db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D39A21-8E74-4955-BA88-667815AA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002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proxy_pass 寫錯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React 打 API 失敗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8525F3-3C28-45F0-8FFF-935C6D83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623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改 init.sql 沒效果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volume 已存在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640D9A-CE78-428C-965E-906376661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623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改前端沒重 build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Nginx 還在 serve 舊 dist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CD9077-56DD-4830-91D4-C091AF41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105400"/>
            <a:ext cx="914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每個錯誤都要搭配 logs、curl、exec、rebuild 去驗證，不只看紅字猜原因。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40B94-E88F-415B-93CB-78328DBD5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堂｜13</a:t>
            </a:r>
          </a:p>
        </p:txBody>
      </p:sp>
    </p:spTree>
    <p:extLst>
      <p:ext uri="{BB962C8B-B14F-4D97-AF65-F5344CB8AC3E}">
        <p14:creationId xmlns:p14="http://schemas.microsoft.com/office/powerpoint/2010/main" val="165694490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0F57C9-C163-48E4-90BF-2D8CC41D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最終成果檢查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B1DBA5-7000-45D4-BEFB-2CF9A8C8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完成這份 checklist 才算有基本 Docker 實力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947551-33A6-47BF-A511-757F720D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24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BEFC0B-CB8A-4DE1-87CE-218E7386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4668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docker compose up -d --build 能啟動三個服務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CEA3E8-BA10-4658-BE6A-75D51FF9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76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6F07B3-6C28-4932-B995-1126AD96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193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瀏覽器打開 http://localhost:8080 看得到 Product List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B40E32-E684-4731-BEAA-BB4714781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28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4D54CD-0956-4BAA-BA36-765520CA4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5717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商品資料來自 MySQL 的 Product table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00A2A0-D2E5-4DE3-BDE3-A536B0DD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813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513D70-A0C9-4C1A-B83B-575690F3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1242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docker compose down 後重啟，資料仍存在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8CC732-B967-4AC2-9CCD-1165C720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33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4914D6-21FE-467F-BD96-EC9DFE4E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766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能看 frontend/backend/db logs 找問題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C8681E-EF9A-4BA5-A6CE-42BCAACE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86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31C24C-131F-4475-8A2D-E6A59596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291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GitHub Actions 綠燈，Docker Hub 有 images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066E22-1E28-4E7F-95C5-7C6974D6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堂｜14</a:t>
            </a:r>
          </a:p>
        </p:txBody>
      </p:sp>
    </p:spTree>
    <p:extLst>
      <p:ext uri="{BB962C8B-B14F-4D97-AF65-F5344CB8AC3E}">
        <p14:creationId xmlns:p14="http://schemas.microsoft.com/office/powerpoint/2010/main" val="882814043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530810-390E-416D-876B-0FE4D1D9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課程收尾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90F876-119B-4325-9DEA-67E4BFF6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這堂課代表的能力邊界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1245A6-B9D8-430F-AE9D-B31EED88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43050"/>
            <a:ext cx="2190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你已經會的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5EE8FF-7634-4CB9-8591-4754549A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514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EC3AAA-BEDD-4554-B77C-93D0AD28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4574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拆服務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47778-9744-4F7B-9477-DBB86BCA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803147-128F-4F80-9953-7B4DC5FF3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9146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寫 Dockerfile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942927-7B4B-469C-BFF6-458F1A77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29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0C7F99-1043-40BD-823B-EDC5628F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3718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寫 Compose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5A1719-4764-47BE-AD2D-F5CA11B1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44F60-4D1D-42EC-A090-00744E678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8290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保留資料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B0364B-B24A-4EE9-9FF9-83003662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29D8E3-9E72-471D-B6C0-BC81DE38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862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看 logs 排錯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E497CC-6922-4693-82C3-8D6B3C10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800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2B9D15-31BB-4A43-BAD3-A9A9FCDD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434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接 CI/CD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BBE71A-89D1-4417-AD47-AC20286E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543050"/>
            <a:ext cx="2190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下一步再學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8F0865-1B3D-4C59-89D5-00D61D3A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514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F09C6B-948B-4E63-AC5E-4C91DB34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574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Gunicorn / production Flask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A63985-A136-4650-8E46-D2145471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EE4813-6430-45DF-9DB5-F4C695A5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146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DB migration / backup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A3C4E4-E585-4D72-9BCA-3C443695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29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0EEE06-3233-4E17-8A91-A4970B82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3718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HTTPS / reverse proxy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53B17C-717C-4523-B92B-1A23B78BB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00A83C-9AB0-41A9-86B0-EC500961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8290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Image scan / secrets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5B5FED-1570-4D10-9749-1838F4FD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0CF2FB-78E2-4611-883A-7B0E82D4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Cloud Run / ECS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8DF542-2F48-41E5-8D47-E66C5305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800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CD24E0-1794-44A3-B640-266BA1CE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7434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Kubernetes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4BFDBA-4ABC-4F9E-8E64-EBCD3540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堂｜15</a:t>
            </a:r>
          </a:p>
        </p:txBody>
      </p:sp>
    </p:spTree>
    <p:extLst>
      <p:ext uri="{BB962C8B-B14F-4D97-AF65-F5344CB8AC3E}">
        <p14:creationId xmlns:p14="http://schemas.microsoft.com/office/powerpoint/2010/main" val="208583841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4C84FC-2337-46C1-8C83-287F785D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部署除錯情境題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33333F-C313-433F-B6B4-CBC6DEFB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最後一堂練的是：看現象、找 logs、定位 service、修檔案、再驗證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C5E377-6E68-4B89-972A-B6C3EE3A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383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268C26-AD99-4F8D-90FF-B1D89103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5811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MYSQL_HOST / service name：定位 backend 連線問題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8CA09A-2A89-41F3-BBB8-5E3C21B2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241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01A3DC-DD90-41A0-B24B-AA05747A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669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init.sql / volume：理解資料為什麼沒更新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2438EC-694D-4B8D-9E9A-2FD579D0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09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26A19E-6E9D-4C8D-B401-FF5E3036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9527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Nginx proxy / backend port：只暴露入口層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EF0C7A-88F2-4D31-9BC4-B796EF39E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738032-3929-4EF1-8644-387E5F63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385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frontend rebuild / CI path：分辨本機與 CI 問題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776A82-5BB7-4A11-9AD8-522F418E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81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52BB5E-C931-4BA1-B6D9-C387E813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243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Category 欄位：從 DB 到 API 到 UI 完整改一次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A3C974-4AAE-4BBC-A10A-9E0E8599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堂｜16</a:t>
            </a:r>
          </a:p>
        </p:txBody>
      </p:sp>
    </p:spTree>
    <p:extLst>
      <p:ext uri="{BB962C8B-B14F-4D97-AF65-F5344CB8AC3E}">
        <p14:creationId xmlns:p14="http://schemas.microsoft.com/office/powerpoint/2010/main" val="731025132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5986A7-34A5-49F0-95E9-4BD2FE82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4764F0"/>
                </a:solidFill>
              </a:defRPr>
            </a:pPr>
            <a:r>
              <a:rPr sz="1050" b="1">
                <a:solidFill>
                  <a:srgbClr val="4764F0"/>
                </a:solidFill>
              </a:rPr>
              <a:t>Deployment Debug Drill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A621BE-59F5-4CEA-B019-CA0678732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8105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</a:defRPr>
            </a:pPr>
            <a:r>
              <a:rPr sz="2550" b="1">
                <a:solidFill>
                  <a:srgbClr val="172033"/>
                </a:solidFill>
              </a:rPr>
              <a:t>情境 1：backend 連不到 MySQL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F3773C-1BB7-4DA0-B670-F0F001C41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85900"/>
            <a:ext cx="3276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2D9A06-7941-402C-B4EC-67F6C082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335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故障現象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E3B6E2-D478-42BD-97D7-1775D2C31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52650"/>
            <a:ext cx="2667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frontend 可開</a:t>
            </a:r>
          </a:p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/api/health 可能正常</a:t>
            </a:r>
          </a:p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/api/products 失敗</a:t>
            </a:r>
          </a:p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backend logs 有 MySQL connection error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763A54-05EB-464E-B55A-97D0FF77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85900"/>
            <a:ext cx="60198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0ADEA2-D9DF-4AA9-ABFC-0375C6DF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335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FDBFE"/>
                </a:solidFill>
              </a:defRPr>
            </a:pPr>
            <a:r>
              <a:rPr sz="1650" b="1">
                <a:solidFill>
                  <a:srgbClr val="BFDBFE"/>
                </a:solidFill>
              </a:rPr>
              <a:t>學生先查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BDB4B9-6315-4E8B-9ED4-1D976B46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52650"/>
            <a:ext cx="5334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docker compose logs backend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docker compose exec backend python -c "import os; print(os.getenv('MYSQL_HOST'))"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62F70-5427-4E8B-A861-FE7CF05E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4667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EA6893-9A68-4DB4-948F-441DDAEC0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修正方向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9097AC-43BF-406D-8731-495A6488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0535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把 MYSQL_HOST=localhost 改回 MYSQL_HOST=db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1C71AA-6465-499C-8802-28DBC35E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057650"/>
            <a:ext cx="4667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B9E813-3771-4772-BD50-8340DB51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05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要帶走的觀念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5E27DF-C057-4376-8408-908969C48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705350"/>
            <a:ext cx="3905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container 裡的 localhost 是自己；跨 service 要用 Compose service name。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7D4EED-5806-4058-B5B7-2B6DF9D0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A96AA"/>
                </a:solidFill>
              </a:defRPr>
            </a:pPr>
            <a:r>
              <a:rPr sz="900">
                <a:solidFill>
                  <a:srgbClr val="8A96AA"/>
                </a:solidFill>
              </a:rPr>
              <a:t>Docker 基礎教學｜第 6 堂｜17</a:t>
            </a:r>
          </a:p>
        </p:txBody>
      </p:sp>
    </p:spTree>
    <p:extLst>
      <p:ext uri="{BB962C8B-B14F-4D97-AF65-F5344CB8AC3E}">
        <p14:creationId xmlns:p14="http://schemas.microsoft.com/office/powerpoint/2010/main" val="1576067071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A72E09-899D-4AC6-9297-3693D4BC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4764F0"/>
                </a:solidFill>
              </a:defRPr>
            </a:pPr>
            <a:r>
              <a:rPr sz="1050" b="1">
                <a:solidFill>
                  <a:srgbClr val="4764F0"/>
                </a:solidFill>
              </a:rPr>
              <a:t>Deployment Debug Drill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D2C6AD-0B72-4318-A488-B354D25E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8105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</a:defRPr>
            </a:pPr>
            <a:r>
              <a:rPr sz="2550" b="1">
                <a:solidFill>
                  <a:srgbClr val="172033"/>
                </a:solidFill>
              </a:rPr>
              <a:t>情境 2：改 init.sql 但資料沒變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352703-D335-40CB-86C0-E8F15C33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85900"/>
            <a:ext cx="3276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651C6C-0235-4B21-A67B-3F079C7B4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335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故障現象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C84DE1-8CC6-4F4A-B12A-292A9EB2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52650"/>
            <a:ext cx="2667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新增商品後重啟</a:t>
            </a:r>
          </a:p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API 回傳仍是舊資料</a:t>
            </a:r>
          </a:p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MySQL table 沒有新列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570EF9-66E5-4EB6-8902-64C8F6ADC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85900"/>
            <a:ext cx="60198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39DB01-A20C-44EE-A390-44B3C1BD6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335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FDBFE"/>
                </a:solidFill>
              </a:defRPr>
            </a:pPr>
            <a:r>
              <a:rPr sz="1650" b="1">
                <a:solidFill>
                  <a:srgbClr val="BFDBFE"/>
                </a:solidFill>
              </a:rPr>
              <a:t>學生先查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B9425B-2BFB-43AC-9178-55FCD5CE1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52650"/>
            <a:ext cx="5334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docker compose exec db mysql -u product_user -p product_app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SELECT * FROM Product;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77AB0F-14AC-48B3-91CA-9DAC416D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4667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E423E1-A04C-411F-B2F7-EA1228F6A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修正方向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E63C73-09B0-4B8A-A87E-0B21DCFF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0535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docker compose down -v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docker compose up -d --build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4B3B07-9FE8-4EF5-A542-0CD0F131D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057650"/>
            <a:ext cx="4667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B2B6A7-D36F-4361-8C50-86B4A644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05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要帶走的觀念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780A7B-C000-4999-BBB8-C3BBD64C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705350"/>
            <a:ext cx="3905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init.sql 只在 MySQL volume 第一次初始化時執行。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01091E-A888-4FD0-B271-ADF13AE7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A96AA"/>
                </a:solidFill>
              </a:defRPr>
            </a:pPr>
            <a:r>
              <a:rPr sz="900">
                <a:solidFill>
                  <a:srgbClr val="8A96AA"/>
                </a:solidFill>
              </a:rPr>
              <a:t>Docker 基礎教學｜第 6 堂｜18</a:t>
            </a:r>
          </a:p>
        </p:txBody>
      </p:sp>
    </p:spTree>
    <p:extLst>
      <p:ext uri="{BB962C8B-B14F-4D97-AF65-F5344CB8AC3E}">
        <p14:creationId xmlns:p14="http://schemas.microsoft.com/office/powerpoint/2010/main" val="8222502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AD49D9-DCE8-401F-964A-666E3F913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4764F0"/>
                </a:solidFill>
              </a:defRPr>
            </a:pPr>
            <a:r>
              <a:rPr sz="1050" b="1">
                <a:solidFill>
                  <a:srgbClr val="4764F0"/>
                </a:solidFill>
              </a:rPr>
              <a:t>Deployment Debug Drill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5996FA-F29B-4EBB-88A7-2F485F99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8105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</a:defRPr>
            </a:pPr>
            <a:r>
              <a:rPr sz="2550" b="1">
                <a:solidFill>
                  <a:srgbClr val="172033"/>
                </a:solidFill>
              </a:rPr>
              <a:t>情境 3：Nginx proxy 寫錯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07FAD0-AE64-4E48-82DF-8E8D9AB1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85900"/>
            <a:ext cx="3276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146851-0320-4643-BF3F-B0185FB9D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335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故障現象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82E836-8958-4C0E-9064-477E26E19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52650"/>
            <a:ext cx="2667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首頁正常</a:t>
            </a:r>
          </a:p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/api/products 失敗</a:t>
            </a:r>
          </a:p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frontend logs 出現 upstream 錯誤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692A21-E847-42B6-9D1B-C8FE4190A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85900"/>
            <a:ext cx="60198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773292-363E-4E2C-8A24-83145288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335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FDBFE"/>
                </a:solidFill>
              </a:defRPr>
            </a:pPr>
            <a:r>
              <a:rPr sz="1650" b="1">
                <a:solidFill>
                  <a:srgbClr val="BFDBFE"/>
                </a:solidFill>
              </a:rPr>
              <a:t>學生先查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CAB076-9EA6-4516-A8BD-8AF01187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52650"/>
            <a:ext cx="5334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docker compose logs frontend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docker compose logs backend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curl -i http://localhost:8080/api/products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7D5A5E-1CE2-4519-878A-51D4A818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4667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F52982-5882-4332-9CB9-6D5F3F6AC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修正方向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F11676-A7A8-4BE4-9532-24739CD8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0535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proxy_pass http://backend:5000/api/;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3C999F-B633-49BA-A7F2-81917B42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057650"/>
            <a:ext cx="4667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778F54-0500-43AC-9D79-81960835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05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要帶走的觀念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FDF9D1-1AE2-4060-BE37-762DF38A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705350"/>
            <a:ext cx="3905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Nginx 在 frontend container 裡，也要用 service name 找 backend。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5F8FDF-05CF-429D-9002-71E63B23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A96AA"/>
                </a:solidFill>
              </a:defRPr>
            </a:pPr>
            <a:r>
              <a:rPr sz="900">
                <a:solidFill>
                  <a:srgbClr val="8A96AA"/>
                </a:solidFill>
              </a:rPr>
              <a:t>Docker 基礎教學｜第 6 堂｜19</a:t>
            </a:r>
          </a:p>
        </p:txBody>
      </p:sp>
    </p:spTree>
    <p:extLst>
      <p:ext uri="{BB962C8B-B14F-4D97-AF65-F5344CB8AC3E}">
        <p14:creationId xmlns:p14="http://schemas.microsoft.com/office/powerpoint/2010/main" val="1840547167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7BD1BE-86E9-4449-BBCB-A08A0404D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4764F0"/>
                </a:solidFill>
              </a:defRPr>
            </a:pPr>
            <a:r>
              <a:rPr sz="1050" b="1">
                <a:solidFill>
                  <a:srgbClr val="4764F0"/>
                </a:solidFill>
              </a:rPr>
              <a:t>Deployment Debug Drill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4EE213-3293-46EB-AFB0-372097BF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8105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</a:defRPr>
            </a:pPr>
            <a:r>
              <a:rPr sz="2550" b="1">
                <a:solidFill>
                  <a:srgbClr val="172033"/>
                </a:solidFill>
              </a:rPr>
              <a:t>情境 4：前端改了但畫面沒變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93A8E7-1BFD-4386-B564-4661334D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85900"/>
            <a:ext cx="3276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13E796-6C1C-4C9B-90FA-C775B8823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335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故障現象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3DDA94-4441-42FC-91F1-3DCE0479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52650"/>
            <a:ext cx="2667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App.jsx 已修改</a:t>
            </a:r>
          </a:p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瀏覽器仍看到舊畫面</a:t>
            </a:r>
          </a:p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Nginx 還在 serve 舊 dist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251864-B5E3-4B4F-BCF8-FB1F480B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85900"/>
            <a:ext cx="60198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281204-21C9-48FD-96F9-D16D033B2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335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FDBFE"/>
                </a:solidFill>
              </a:defRPr>
            </a:pPr>
            <a:r>
              <a:rPr sz="1650" b="1">
                <a:solidFill>
                  <a:srgbClr val="BFDBFE"/>
                </a:solidFill>
              </a:rPr>
              <a:t>學生先查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848D9A-1691-457D-B32B-A47384CB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52650"/>
            <a:ext cx="5334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docker compose build frontend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docker compose up -d frontend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# 或</a:t>
            </a:r>
          </a:p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docker compose up -d --build frontend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4362D5-F4CB-4AEB-A24F-CE0336BA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4667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5E75C4-A487-40D1-BA6F-B2F1B5B77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修正方向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A6DCE7-415F-4213-A237-8134DA56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0535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重新 build frontend image，再重啟 frontend service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14FBB7-0C47-4680-A4FE-2E939BD4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057650"/>
            <a:ext cx="4667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046C43-E18E-4F9B-842E-85372057F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05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要帶走的觀念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A52AA1-7483-4327-A167-515ED1000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705350"/>
            <a:ext cx="3905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production React 已經被 build 進 image；改原始碼後要重建 image。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DE2F30-52C8-4942-84AC-B0108DA2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A96AA"/>
                </a:solidFill>
              </a:defRPr>
            </a:pPr>
            <a:r>
              <a:rPr sz="900">
                <a:solidFill>
                  <a:srgbClr val="8A96AA"/>
                </a:solidFill>
              </a:rPr>
              <a:t>Docker 基礎教學｜第 6 堂｜20</a:t>
            </a:r>
          </a:p>
        </p:txBody>
      </p:sp>
    </p:spTree>
    <p:extLst>
      <p:ext uri="{BB962C8B-B14F-4D97-AF65-F5344CB8AC3E}">
        <p14:creationId xmlns:p14="http://schemas.microsoft.com/office/powerpoint/2010/main" val="1786421518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F5D452-A6D2-4173-9942-32423578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4764F0"/>
                </a:solidFill>
              </a:defRPr>
            </a:pPr>
            <a:r>
              <a:rPr sz="1050" b="1">
                <a:solidFill>
                  <a:srgbClr val="4764F0"/>
                </a:solidFill>
              </a:rPr>
              <a:t>Deployment Debug Drill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62C3F0-9C78-4449-808A-E63CBDD1A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8105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</a:defRPr>
            </a:pPr>
            <a:r>
              <a:rPr sz="2550" b="1">
                <a:solidFill>
                  <a:srgbClr val="172033"/>
                </a:solidFill>
              </a:rPr>
              <a:t>情境 5：移除 backend 對外 port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4BD31E-1CD4-4550-AA56-C252F8C52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85900"/>
            <a:ext cx="3276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C65296-20FF-438D-A77F-467FB536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335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故障現象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617B61-23A8-403E-B361-476DED91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52650"/>
            <a:ext cx="2667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localhost:5000 不能直接打</a:t>
            </a:r>
          </a:p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localhost:8080/api/health 仍可用</a:t>
            </a:r>
          </a:p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外部只進 frontend/Nginx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E9B842-D266-4D0B-ADF9-995B902E9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85900"/>
            <a:ext cx="60198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A38F3F-ED4B-4A4E-A08F-0E2CB686B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335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FDBFE"/>
                </a:solidFill>
              </a:defRPr>
            </a:pPr>
            <a:r>
              <a:rPr sz="1650" b="1">
                <a:solidFill>
                  <a:srgbClr val="BFDBFE"/>
                </a:solidFill>
              </a:rPr>
              <a:t>學生先查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CF8EA2-35BA-4B6E-A102-C45FDEED0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52650"/>
            <a:ext cx="5334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curl http://localhost:5000/api/health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curl http://localhost:8080/api/health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curl http://localhost:8080/api/products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3B607B-2A29-4665-A28C-40DD75D5F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4667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B65F20-0ECD-4886-B882-55F2CDE71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修正方向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EE25F3-1CD2-4AAB-8837-63517469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0535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刪除 backend ports，只保留 frontend 的 8080:80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919434-B2E3-4B5E-80B6-A101EA5AF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057650"/>
            <a:ext cx="4667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49C7E7-AF75-4E79-99ED-A83229E75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05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要帶走的觀念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02FDDA-BEC6-4758-9539-554FB659B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705350"/>
            <a:ext cx="3905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正式部署通常只暴露入口層；backend/db 留在內部 network。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3020A8-428B-418E-845F-7B333ACF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A96AA"/>
                </a:solidFill>
              </a:defRPr>
            </a:pPr>
            <a:r>
              <a:rPr sz="900">
                <a:solidFill>
                  <a:srgbClr val="8A96AA"/>
                </a:solidFill>
              </a:rPr>
              <a:t>Docker 基礎教學｜第 6 堂｜21</a:t>
            </a:r>
          </a:p>
        </p:txBody>
      </p:sp>
    </p:spTree>
    <p:extLst>
      <p:ext uri="{BB962C8B-B14F-4D97-AF65-F5344CB8AC3E}">
        <p14:creationId xmlns:p14="http://schemas.microsoft.com/office/powerpoint/2010/main" val="1772982747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6DCBFE-ECA4-43A0-9FB9-15751AF8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4764F0"/>
                </a:solidFill>
              </a:defRPr>
            </a:pPr>
            <a:r>
              <a:rPr sz="1050" b="1">
                <a:solidFill>
                  <a:srgbClr val="4764F0"/>
                </a:solidFill>
              </a:rPr>
              <a:t>Deployment Debug Drill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C34376-D0C6-4622-9023-63FC3F1AB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8105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</a:defRPr>
            </a:pPr>
            <a:r>
              <a:rPr sz="2550" b="1">
                <a:solidFill>
                  <a:srgbClr val="172033"/>
                </a:solidFill>
              </a:rPr>
              <a:t>情境 6：health 過了但 products 失敗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D9B95A-BF2A-4D15-ABC3-BDD28DCF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85900"/>
            <a:ext cx="3276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EBAFD7-415D-4799-A121-D54E0A44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335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故障現象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EDE06F-E2C5-4C88-B535-4A65CF7E8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52650"/>
            <a:ext cx="2667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/api/health 回 ok</a:t>
            </a:r>
          </a:p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/api/products 500</a:t>
            </a:r>
          </a:p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backend SQL 或 DB schema 有問題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20A7DF-9708-4A5D-A57F-76C65D7A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85900"/>
            <a:ext cx="60198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321693-CA26-4FC9-AC4C-23E2ABB2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335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FDBFE"/>
                </a:solidFill>
              </a:defRPr>
            </a:pPr>
            <a:r>
              <a:rPr sz="1650" b="1">
                <a:solidFill>
                  <a:srgbClr val="BFDBFE"/>
                </a:solidFill>
              </a:rPr>
              <a:t>學生先查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D40C9F-4412-4E00-B7AF-96ADAF10E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52650"/>
            <a:ext cx="5334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curl http://localhost:8080/api/health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curl -i http://localhost:8080/api/products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docker compose logs backend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635432-B0E2-4DA8-8965-7D3FA9A0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4667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9D874D-C55C-4C03-99CC-3A98DABD0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修正方向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39698B-92E7-4F89-8D20-5ADEAD29D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0535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檢查 Product table 名稱、欄位、SQL query 是否一致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167E74-7444-460A-948D-E90C6BE0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057650"/>
            <a:ext cx="4667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F7DD27-7C4B-4929-918E-44A573F56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05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要帶走的觀念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2E5695-03D5-48B0-88DC-CD4F51DD6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705350"/>
            <a:ext cx="3905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health check 不等於完整功能正常；CI smoke test 要打真正資料 API。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529E26-B014-45EA-A993-876F818F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A96AA"/>
                </a:solidFill>
              </a:defRPr>
            </a:pPr>
            <a:r>
              <a:rPr sz="900">
                <a:solidFill>
                  <a:srgbClr val="8A96AA"/>
                </a:solidFill>
              </a:rPr>
              <a:t>Docker 基礎教學｜第 6 堂｜22</a:t>
            </a:r>
          </a:p>
        </p:txBody>
      </p:sp>
    </p:spTree>
    <p:extLst>
      <p:ext uri="{BB962C8B-B14F-4D97-AF65-F5344CB8AC3E}">
        <p14:creationId xmlns:p14="http://schemas.microsoft.com/office/powerpoint/2010/main" val="958085237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10F6A2-6275-4CE9-90C3-36E8503D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4764F0"/>
                </a:solidFill>
              </a:defRPr>
            </a:pPr>
            <a:r>
              <a:rPr sz="1050" b="1">
                <a:solidFill>
                  <a:srgbClr val="4764F0"/>
                </a:solidFill>
              </a:rPr>
              <a:t>Deployment Debug Drill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723D16-A983-4273-AA5C-2F6C3737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8105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</a:defRPr>
            </a:pPr>
            <a:r>
              <a:rPr sz="2550" b="1">
                <a:solidFill>
                  <a:srgbClr val="172033"/>
                </a:solidFill>
              </a:rPr>
              <a:t>情境 7：本機正常，GitHub Actions 失敗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A7918E-C2BA-4DC1-A226-767E3A2E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85900"/>
            <a:ext cx="3276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E340CC-9A3F-4669-8C5F-ECBBF7D7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335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故障現象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277B4B-C88F-4693-8831-6B33FB32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52650"/>
            <a:ext cx="2667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本機 compose 可以跑</a:t>
            </a:r>
          </a:p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CI 找不到 compose.yaml 或 .env</a:t>
            </a:r>
          </a:p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workflow working directory 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54009F-F4AC-4925-A31C-218F99611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85900"/>
            <a:ext cx="60198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324B3B-9224-40BB-8C2C-D0D4D8B6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335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FDBFE"/>
                </a:solidFill>
              </a:defRPr>
            </a:pPr>
            <a:r>
              <a:rPr sz="1650" b="1">
                <a:solidFill>
                  <a:srgbClr val="BFDBFE"/>
                </a:solidFill>
              </a:rPr>
              <a:t>學生先查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5B6781-DB5E-4C22-87F9-49448887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52650"/>
            <a:ext cx="5334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看失敗 job</a:t>
            </a:r>
          </a:p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看失敗 step</a:t>
            </a:r>
          </a:p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找第一個 error message</a:t>
            </a:r>
          </a:p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確認 workflow 路徑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9FF237-3E4B-48CD-8D16-FD61889D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4667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5D29CB-41B5-4F67-BF10-20C6B39FC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修正方向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32A426-0B9A-4581-ABA5-F956CC50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0535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修正 docker compose -f compose.yaml --env-file .env 的相對路徑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7AA29F-E14E-46BE-94B1-79F39EB54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057650"/>
            <a:ext cx="4667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4C8416-4F42-41A9-93B0-3FBBBC01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05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要帶走的觀念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ECDC81-6A12-4083-805B-8A354DE2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705350"/>
            <a:ext cx="3905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CI runner 的工作目錄可能和你本機操作的位置不同。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B92DBD-DB77-4023-A694-33489D92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A96AA"/>
                </a:solidFill>
              </a:defRPr>
            </a:pPr>
            <a:r>
              <a:rPr sz="900">
                <a:solidFill>
                  <a:srgbClr val="8A96AA"/>
                </a:solidFill>
              </a:rPr>
              <a:t>Docker 基礎教學｜第 6 堂｜23</a:t>
            </a:r>
          </a:p>
        </p:txBody>
      </p:sp>
    </p:spTree>
    <p:extLst>
      <p:ext uri="{BB962C8B-B14F-4D97-AF65-F5344CB8AC3E}">
        <p14:creationId xmlns:p14="http://schemas.microsoft.com/office/powerpoint/2010/main" val="773859068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0617BF-2506-4434-8EEE-DFA79BF1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4764F0"/>
                </a:solidFill>
              </a:defRPr>
            </a:pPr>
            <a:r>
              <a:rPr sz="1050" b="1">
                <a:solidFill>
                  <a:srgbClr val="4764F0"/>
                </a:solidFill>
              </a:rPr>
              <a:t>Deployment Debug Drill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0B0E46-5889-4F21-B132-287F4521A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8105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</a:defRPr>
            </a:pPr>
            <a:r>
              <a:rPr sz="2550" b="1">
                <a:solidFill>
                  <a:srgbClr val="172033"/>
                </a:solidFill>
              </a:rPr>
              <a:t>情境 8：新增 Category 欄位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2DDCF8-D2C0-4A93-A455-9F3DD47E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85900"/>
            <a:ext cx="3276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9BA089-73F6-4C3D-809D-2D19A89E5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335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故障現象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943A9C-5D7E-43B2-837D-83248E7A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52650"/>
            <a:ext cx="2667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DB schema 要改</a:t>
            </a:r>
          </a:p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backend JSON 要改</a:t>
            </a:r>
          </a:p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frontend table 要改</a:t>
            </a:r>
          </a:p>
          <a:p xmlns:a="http://schemas.openxmlformats.org/drawingml/2006/main">
            <a:pPr>
              <a:defRPr sz="1425">
                <a:solidFill>
                  <a:srgbClr val="334155"/>
                </a:solidFill>
              </a:defRPr>
            </a:pPr>
            <a:r>
              <a:rPr sz="1425">
                <a:solidFill>
                  <a:srgbClr val="334155"/>
                </a:solidFill>
              </a:rPr>
              <a:t>• volume/image 都要重建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30E745-2238-44A0-AD74-67AAF2688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85900"/>
            <a:ext cx="60198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BF6D45-86D6-4681-ADE3-26FB4D66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335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FDBFE"/>
                </a:solidFill>
              </a:defRPr>
            </a:pPr>
            <a:r>
              <a:rPr sz="1650" b="1">
                <a:solidFill>
                  <a:srgbClr val="BFDBFE"/>
                </a:solidFill>
              </a:rPr>
              <a:t>學生先查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964769-7730-4B00-81EA-807B1D061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52650"/>
            <a:ext cx="5334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docker compose down -v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docker compose up -d --build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curl http://localhost:8080/api/products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BF9BAC-004D-41D6-B079-C683E89A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4667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50BE4C-0911-4A32-8884-A4D3257A9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修正方向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AAE3A3-79FC-4A0C-A129-92E6FDCE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0535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依序修改 init.sql、backend SQL、frontend table，再重建驗證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3CF4FD-F3B4-4777-8EF6-050A3A23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057650"/>
            <a:ext cx="4667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D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45DB2B-9996-4950-921B-F4C86795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05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要帶走的觀念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6FFC77-6309-4949-9A62-77709D12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705350"/>
            <a:ext cx="3905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練完整變更路徑：DB -&gt; API -&gt; UI -&gt; Docker rebuild -&gt; Compose verify。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80F78D-32B5-4B9E-8F81-8B0181DAA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A96AA"/>
                </a:solidFill>
              </a:defRPr>
            </a:pPr>
            <a:r>
              <a:rPr sz="900">
                <a:solidFill>
                  <a:srgbClr val="8A96AA"/>
                </a:solidFill>
              </a:rPr>
              <a:t>Docker 基礎教學｜第 6 堂｜24</a:t>
            </a:r>
          </a:p>
        </p:txBody>
      </p:sp>
    </p:spTree>
    <p:extLst>
      <p:ext uri="{BB962C8B-B14F-4D97-AF65-F5344CB8AC3E}">
        <p14:creationId xmlns:p14="http://schemas.microsoft.com/office/powerpoint/2010/main" val="1692365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2026-06-30T07:04:48.9110000Z</dcterms:created>
  <dcterms:modified xsi:type="dcterms:W3CDTF">2026-06-30T07:04:48.9110000Z</dcterms:modified>
</coreProperties>
</file>