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8" r:id="rId28"/>
    <p:sldId id="289" r:id="rId29"/>
    <p:sldId id="290" r:id="rId30"/>
    <p:sldId id="291" r:id="rId31"/>
    <p:sldId id="285" r:id="rId32"/>
    <p:sldId id="286" r:id="rId33"/>
    <p:sldId id="287" r:id="rId34"/>
    <p:sldId id="293" r:id="rId3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25"/>
  </p:normalViewPr>
  <p:slideViewPr>
    <p:cSldViewPr snapToGrid="0">
      <p:cViewPr varScale="1">
        <p:scale>
          <a:sx n="100" d="100"/>
          <a:sy n="100" d="100"/>
        </p:scale>
        <p:origin x="4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483113-EA67-409B-8F7B-7B5DC9728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5138" r="15138"/>
          <a:stretch>
            <a:fillRect/>
          </a:stretch>
        </p:blipFill>
        <p:spPr>
          <a:xfrm>
            <a:off x="3695700" y="0"/>
            <a:ext cx="84963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70DDAD1-BAC2-4C83-BE12-8AB4C2B5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4000">
                <a:srgbClr val="07111F">
                  <a:alpha val="98000"/>
                </a:srgbClr>
              </a:gs>
              <a:gs pos="64000">
                <a:srgbClr val="07111F">
                  <a:alpha val="58000"/>
                </a:srgbClr>
              </a:gs>
              <a:gs pos="100000">
                <a:srgbClr val="07111F">
                  <a:alpha val="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B82B7334-E7FF-4B39-83A9-47FD27A2635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69545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9276E7-DB5B-42CB-982B-8EFB34A72A41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5 堂 | CI/CD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91A914-99A4-4BC7-9AAD-4539223FF1B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CI/CD 概念與</a:t>
            </a:r>
          </a:p>
          <a:p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 Actions 入門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DEE2EC-4907-4A19-987D-FFCB1DA8C36B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500" lnSpcReduction="20000"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延續第 4 堂 flask-app，把測試、build、health check 與 Docker Hub push 自動化。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7434ED35-B37F-4673-97F9-94AE25D009B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7334250" cy="990600"/>
          </a:xfrm>
          <a:prstGeom prst="roundRect">
            <a:avLst>
              <a:gd name="adj" fmla="val 1346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B78640-736B-4F5A-8F47-7C1C5C975C72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676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80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今天完成：接上 GitHub Actions、pytest、容器健康檢查、Docker Hub 自動上傳。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2673A5-39BE-407A-AE3E-1E58F4AA24A2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6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094285EB-9877-4EB5-9350-AC754168A5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CAF71-DF7F-449B-9F02-DA2FE873D8B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06B9DC47-EC22-4F4C-BEE3-E90AD3748D4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CCA14E4-B31F-441A-BC6E-3ED6E6507DC8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16F009-CD21-49D6-8460-EBB61F5AA70D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3AAF98-B413-4586-8D06-0A936B7C442A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CI/CD 觀念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89CA63-9236-4049-B6DD-CE520D34D3F0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理解 CI、CD 各自負責什麼，以及為什麼要自動化。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0964DD6-0720-46BA-896D-67CC0E7B0288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0FF6F7-BD14-4258-80D4-5C8253E9301C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約 30 分鐘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655E120-2648-4BEA-B188-786C8A7C1D64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47445BA-8365-4EB4-8640-54D2A2E5F9DC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43C443-76FB-4413-ACE5-501C398F98AC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0B05DD-1F86-4EB8-81FC-D9903EAA176B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Actions 基礎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6A7D3-23F4-4FE7-8943-588A11366992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建立第一個 workflow，熟悉 event、job、step、runner。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6103FA4D-EC73-4BD5-AEAA-F52CEC44CE9E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FBB10C-B076-4956-8395-7A6067B6148B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30 分鐘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CBB35AD7-5A8A-419D-A622-1AA9817CF2C6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1573975-05FF-4377-B02C-D158F44F1667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BDB302-8529-43FF-824E-D29F0EA0E5D1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1E532A-7AFD-45CE-8254-3CA6862141E0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測試與 Docker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32B737-6297-47D4-87A8-45F8B1E03713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沿用 flask-app，自動跑 pytest，再 build、health check、push Docker Image。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268AE630-1C0A-4A88-A98B-7D8BCAF08C87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2227D2-68B1-4D75-8A16-3B62531F5653}"/>
              </a:ext>
            </a:extLst>
          </p:cNvPr>
          <p:cNvSpPr>
            <a:spLocks noGrp="1"/>
          </p:cNvSpPr>
          <p:nvPr/>
        </p:nvSpPr>
        <p:spPr>
          <a:xfrm>
            <a:off x="82677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2 小時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7A4A80-3ADD-4654-B0CF-418AC9598838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這堂課的核心：把第 4 堂手動 build / push 流程交給 GitHub Actions 重複執行。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B4295D-B0BF-41DC-BC6A-34D67C6FCAE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829FB2-994F-4255-85A0-EEDDDCF2378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3AAB59-F8C6-467D-B34F-0D7319E6FD8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6413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4E718AD-8A5A-41B5-B5D1-416CAAB330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1C3094-7E5E-4F71-B904-85DFF017386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CI/CD 是軟體開發的傳送帶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3B08959C-7DFD-4724-9B01-97790DFDD2D7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1910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652470-D7A3-48E4-9F04-B552E0123AFB}"/>
              </a:ext>
            </a:extLst>
          </p:cNvPr>
          <p:cNvSpPr>
            <a:spLocks noGrp="1"/>
          </p:cNvSpPr>
          <p:nvPr/>
        </p:nvSpPr>
        <p:spPr>
          <a:xfrm>
            <a:off x="1104900" y="18478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傳統做法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864DBC-0FED-427E-9C27-9ACB5A27176F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37338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寫完程式 -&gt; 自己測試 -&gt; 自己 build -&gt; 自己 push -&gt; 手動部署。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每一步都靠人記得做。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DCBC3C41-77EB-43F6-A452-E59F6420FD61}"/>
              </a:ext>
            </a:extLst>
          </p:cNvPr>
          <p:cNvSpPr>
            <a:spLocks noGrp="1"/>
          </p:cNvSpPr>
          <p:nvPr/>
        </p:nvSpPr>
        <p:spPr>
          <a:xfrm>
            <a:off x="5448300" y="2686050"/>
            <a:ext cx="952500" cy="4191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48B28A3-4B94-4EB5-B216-722A484B94C9}"/>
              </a:ext>
            </a:extLst>
          </p:cNvPr>
          <p:cNvSpPr>
            <a:spLocks noGrp="1"/>
          </p:cNvSpPr>
          <p:nvPr/>
        </p:nvSpPr>
        <p:spPr>
          <a:xfrm>
            <a:off x="6896100" y="1657350"/>
            <a:ext cx="4191000" cy="2381250"/>
          </a:xfrm>
          <a:prstGeom prst="roundRect">
            <a:avLst>
              <a:gd name="adj" fmla="val 4800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0C43F-87C9-4C14-8AEA-6C2E1CE919FF}"/>
              </a:ext>
            </a:extLst>
          </p:cNvPr>
          <p:cNvSpPr>
            <a:spLocks noGrp="1"/>
          </p:cNvSpPr>
          <p:nvPr/>
        </p:nvSpPr>
        <p:spPr>
          <a:xfrm>
            <a:off x="7124700" y="18478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自動化做法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68D9F9-C54E-4BD5-B39E-DB3B20511A55}"/>
              </a:ext>
            </a:extLst>
          </p:cNvPr>
          <p:cNvSpPr>
            <a:spLocks noGrp="1"/>
          </p:cNvSpPr>
          <p:nvPr/>
        </p:nvSpPr>
        <p:spPr>
          <a:xfrm>
            <a:off x="7124700" y="2438400"/>
            <a:ext cx="37338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寫完程式 -&gt; push。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剩下的測試、打包、上傳交給 pipeline。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4C05AC1-C47B-4B6B-BFAC-494DD8D266C7}"/>
              </a:ext>
            </a:extLst>
          </p:cNvPr>
          <p:cNvSpPr>
            <a:spLocks noGrp="1"/>
          </p:cNvSpPr>
          <p:nvPr/>
        </p:nvSpPr>
        <p:spPr>
          <a:xfrm>
            <a:off x="1676400" y="4819650"/>
            <a:ext cx="8839200" cy="590550"/>
          </a:xfrm>
          <a:prstGeom prst="roundRect">
            <a:avLst>
              <a:gd name="adj" fmla="val 16129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50E9C4-7976-48BC-8F32-5ABCE41FFA5D}"/>
              </a:ext>
            </a:extLst>
          </p:cNvPr>
          <p:cNvSpPr>
            <a:spLocks noGrp="1"/>
          </p:cNvSpPr>
          <p:nvPr/>
        </p:nvSpPr>
        <p:spPr>
          <a:xfrm>
            <a:off x="2038350" y="5010150"/>
            <a:ext cx="811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開發者專心寫程式，重複且容易漏的步驟交給自動化。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5C71B-F18D-40E3-8DEC-27A246F46E7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C082F2-460E-487C-85D1-3C100767510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6DAAFF-D50B-4C05-A3C9-C1AA1D1DF57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37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F67BB34-2D62-4E59-87C8-7ABD80A05D5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934FC7-135B-414E-A726-00A19ED6D56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CI/CD 的完整流程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3DB14A94-88C6-423E-982F-576DB8D73FC0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752600" cy="1466850"/>
          </a:xfrm>
          <a:prstGeom prst="roundRect">
            <a:avLst>
              <a:gd name="adj" fmla="val 7792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693A0-0798-4C20-A1CF-883521BE0200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Push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5E7A65-9A8A-4235-9C1B-720A0CA20D7C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開發者推程式碼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7905FCC7-9968-43D8-B3AA-0DF74FC2913E}"/>
              </a:ext>
            </a:extLst>
          </p:cNvPr>
          <p:cNvSpPr>
            <a:spLocks noGrp="1"/>
          </p:cNvSpPr>
          <p:nvPr/>
        </p:nvSpPr>
        <p:spPr>
          <a:xfrm>
            <a:off x="2533650" y="2781300"/>
            <a:ext cx="5143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421B3D66-DCE2-4E49-88E2-AD1F93522744}"/>
              </a:ext>
            </a:extLst>
          </p:cNvPr>
          <p:cNvSpPr>
            <a:spLocks noGrp="1"/>
          </p:cNvSpPr>
          <p:nvPr/>
        </p:nvSpPr>
        <p:spPr>
          <a:xfrm>
            <a:off x="2933700" y="2152650"/>
            <a:ext cx="1752600" cy="1466850"/>
          </a:xfrm>
          <a:prstGeom prst="roundRect">
            <a:avLst>
              <a:gd name="adj" fmla="val 7792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F2A721-FB94-456B-A91D-2F4B86D64B4B}"/>
              </a:ext>
            </a:extLst>
          </p:cNvPr>
          <p:cNvSpPr>
            <a:spLocks noGrp="1"/>
          </p:cNvSpPr>
          <p:nvPr/>
        </p:nvSpPr>
        <p:spPr>
          <a:xfrm>
            <a:off x="3105150" y="24765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645314-41DD-45C2-A23F-1D9D2BB7BDB1}"/>
              </a:ext>
            </a:extLst>
          </p:cNvPr>
          <p:cNvSpPr>
            <a:spLocks noGrp="1"/>
          </p:cNvSpPr>
          <p:nvPr/>
        </p:nvSpPr>
        <p:spPr>
          <a:xfrm>
            <a:off x="3105150" y="3048000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自動跑測試</a:t>
            </a: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F0191723-D929-4FC7-94E6-3C1D4BCC3046}"/>
              </a:ext>
            </a:extLst>
          </p:cNvPr>
          <p:cNvSpPr>
            <a:spLocks noGrp="1"/>
          </p:cNvSpPr>
          <p:nvPr/>
        </p:nvSpPr>
        <p:spPr>
          <a:xfrm>
            <a:off x="4800600" y="2781300"/>
            <a:ext cx="5143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C5C145C1-BDBD-4C58-9B2B-F677AE996643}"/>
              </a:ext>
            </a:extLst>
          </p:cNvPr>
          <p:cNvSpPr>
            <a:spLocks noGrp="1"/>
          </p:cNvSpPr>
          <p:nvPr/>
        </p:nvSpPr>
        <p:spPr>
          <a:xfrm>
            <a:off x="5200650" y="2152650"/>
            <a:ext cx="1752600" cy="1466850"/>
          </a:xfrm>
          <a:prstGeom prst="roundRect">
            <a:avLst>
              <a:gd name="adj" fmla="val 7792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35F7FD-FDDB-4C60-84B5-0127C74E34ED}"/>
              </a:ext>
            </a:extLst>
          </p:cNvPr>
          <p:cNvSpPr>
            <a:spLocks noGrp="1"/>
          </p:cNvSpPr>
          <p:nvPr/>
        </p:nvSpPr>
        <p:spPr>
          <a:xfrm>
            <a:off x="5372100" y="24765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D84252-BFCD-47B1-9FAE-64FF1B5CFCF2}"/>
              </a:ext>
            </a:extLst>
          </p:cNvPr>
          <p:cNvSpPr>
            <a:spLocks noGrp="1"/>
          </p:cNvSpPr>
          <p:nvPr/>
        </p:nvSpPr>
        <p:spPr>
          <a:xfrm>
            <a:off x="5372100" y="3048000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打包 Docker Image</a:t>
            </a:r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FAC43D9A-0993-4EA8-8050-06B5C96A88BC}"/>
              </a:ext>
            </a:extLst>
          </p:cNvPr>
          <p:cNvSpPr>
            <a:spLocks noGrp="1"/>
          </p:cNvSpPr>
          <p:nvPr/>
        </p:nvSpPr>
        <p:spPr>
          <a:xfrm>
            <a:off x="7067550" y="2781300"/>
            <a:ext cx="5143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B996074C-8B0A-4D3E-B19A-48B00C2D1B9B}"/>
              </a:ext>
            </a:extLst>
          </p:cNvPr>
          <p:cNvSpPr>
            <a:spLocks noGrp="1"/>
          </p:cNvSpPr>
          <p:nvPr/>
        </p:nvSpPr>
        <p:spPr>
          <a:xfrm>
            <a:off x="7467600" y="2152650"/>
            <a:ext cx="1752600" cy="1466850"/>
          </a:xfrm>
          <a:prstGeom prst="roundRect">
            <a:avLst>
              <a:gd name="adj" fmla="val 7792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E2CF0C-22DB-4B03-B869-9304699960EB}"/>
              </a:ext>
            </a:extLst>
          </p:cNvPr>
          <p:cNvSpPr>
            <a:spLocks noGrp="1"/>
          </p:cNvSpPr>
          <p:nvPr/>
        </p:nvSpPr>
        <p:spPr>
          <a:xfrm>
            <a:off x="7639050" y="24765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Push Image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3C07BF-9780-42E1-90FB-9228FA0F3299}"/>
              </a:ext>
            </a:extLst>
          </p:cNvPr>
          <p:cNvSpPr>
            <a:spLocks noGrp="1"/>
          </p:cNvSpPr>
          <p:nvPr/>
        </p:nvSpPr>
        <p:spPr>
          <a:xfrm>
            <a:off x="7639050" y="3048000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上傳 Registry</a:t>
            </a:r>
          </a:p>
        </p:txBody>
      </p:sp>
      <p:sp>
        <p:nvSpPr>
          <p:cNvPr id="18" name="向右箭號 17">
            <a:extLst>
              <a:ext uri="{FF2B5EF4-FFF2-40B4-BE49-F238E27FC236}">
                <a16:creationId xmlns:a16="http://schemas.microsoft.com/office/drawing/2014/main" id="{45099ECF-0508-4C7F-8438-6A82330EFD78}"/>
              </a:ext>
            </a:extLst>
          </p:cNvPr>
          <p:cNvSpPr>
            <a:spLocks noGrp="1"/>
          </p:cNvSpPr>
          <p:nvPr/>
        </p:nvSpPr>
        <p:spPr>
          <a:xfrm>
            <a:off x="9334500" y="2781300"/>
            <a:ext cx="5143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9332DA0A-52DA-4678-856D-E5C9DAE02426}"/>
              </a:ext>
            </a:extLst>
          </p:cNvPr>
          <p:cNvSpPr>
            <a:spLocks noGrp="1"/>
          </p:cNvSpPr>
          <p:nvPr/>
        </p:nvSpPr>
        <p:spPr>
          <a:xfrm>
            <a:off x="9734550" y="2152650"/>
            <a:ext cx="17526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3AD214-544E-4EC0-B9BD-3F82C4E60B70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B8B7DE-5E0F-41FD-B361-F07FDEF439F9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140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更新服務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F79C3B-3594-4E28-9D9E-7E64F3F769F1}"/>
              </a:ext>
            </a:extLst>
          </p:cNvPr>
          <p:cNvSpPr>
            <a:spLocks noGrp="1"/>
          </p:cNvSpPr>
          <p:nvPr/>
        </p:nvSpPr>
        <p:spPr>
          <a:xfrm>
            <a:off x="1809750" y="4781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CI：先確認程式沒壞。CD：通過後把可交付的東西送出去。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63F261-F21E-429C-BE86-73C4342AAE0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3ADBDB-7CC2-48B2-9C4D-46B5FAC64EF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AA4F2D-5B3F-45E3-84A1-75F96C5B84C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472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8219FDC-4920-4DC9-B007-6B49BED40C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1795EA-DFDF-4E6F-8FB6-B0BE56722C9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1：CI 和 CD 分別做什麼？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2E41994-FB23-473C-93DD-72DA98934640}"/>
              </a:ext>
            </a:extLst>
          </p:cNvPr>
          <p:cNvSpPr>
            <a:spLocks noGrp="1"/>
          </p:cNvSpPr>
          <p:nvPr/>
        </p:nvSpPr>
        <p:spPr>
          <a:xfrm>
            <a:off x="1104900" y="1676400"/>
            <a:ext cx="4381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4D65B6-F215-49DB-89E1-63F5B02A4DD6}"/>
              </a:ext>
            </a:extLst>
          </p:cNvPr>
          <p:cNvSpPr>
            <a:spLocks noGrp="1"/>
          </p:cNvSpPr>
          <p:nvPr/>
        </p:nvSpPr>
        <p:spPr>
          <a:xfrm>
            <a:off x="133350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F6B30C-6193-4E35-8F43-EAE80C187D75}"/>
              </a:ext>
            </a:extLst>
          </p:cNvPr>
          <p:cNvSpPr>
            <a:spLocks noGrp="1"/>
          </p:cNvSpPr>
          <p:nvPr/>
        </p:nvSpPr>
        <p:spPr>
          <a:xfrm>
            <a:off x="1333500" y="2457450"/>
            <a:ext cx="39243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Continuous Integration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持續整合</a:t>
            </a:r>
          </a:p>
          <a:p>
            <a:endParaRPr sz="1650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push 後自動跑測試，確保改動沒有弄壞功能。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A1E45B5-A03A-4545-9218-69ACDBB0BCF6}"/>
              </a:ext>
            </a:extLst>
          </p:cNvPr>
          <p:cNvSpPr>
            <a:spLocks noGrp="1"/>
          </p:cNvSpPr>
          <p:nvPr/>
        </p:nvSpPr>
        <p:spPr>
          <a:xfrm>
            <a:off x="6705600" y="1676400"/>
            <a:ext cx="4381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12316F-DAED-4147-BD6E-68942A893A35}"/>
              </a:ext>
            </a:extLst>
          </p:cNvPr>
          <p:cNvSpPr>
            <a:spLocks noGrp="1"/>
          </p:cNvSpPr>
          <p:nvPr/>
        </p:nvSpPr>
        <p:spPr>
          <a:xfrm>
            <a:off x="693420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19A1B5-B9D8-41BB-AB42-900438CCD51E}"/>
              </a:ext>
            </a:extLst>
          </p:cNvPr>
          <p:cNvSpPr>
            <a:spLocks noGrp="1"/>
          </p:cNvSpPr>
          <p:nvPr/>
        </p:nvSpPr>
        <p:spPr>
          <a:xfrm>
            <a:off x="6934200" y="2457450"/>
            <a:ext cx="39243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Continuous Delivery / Deployment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持續交付或部署</a:t>
            </a:r>
          </a:p>
          <a:p>
            <a:endParaRPr sz="157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測試通過後，自動打包、上傳或部署。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8E73DA-533A-441B-AC17-B27F6A2B57FA}"/>
              </a:ext>
            </a:extLst>
          </p:cNvPr>
          <p:cNvSpPr>
            <a:spLocks noGrp="1"/>
          </p:cNvSpPr>
          <p:nvPr/>
        </p:nvSpPr>
        <p:spPr>
          <a:xfrm>
            <a:off x="1485900" y="5105400"/>
            <a:ext cx="922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先自己說一次，再用「測試」和「交付」兩個關鍵字檢查想法。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16B157-0D3D-417F-A5AA-43348953264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EBBF2-B68C-46E5-BCE2-90215DBDFC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7CB22C-583F-4BD6-BEC4-8CD4DA7EF4D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804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882F54D-7E96-4492-9EF3-E9F950BFDE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MANUAL PAIN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E42676-6EA6-4FCB-91F3-4DCAA2E3C3F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沒有 CI/CD，痛苦會重複發生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20B9E3B-D172-418C-A896-2A25AE930A3A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7299F31A-ABC6-4889-8445-3E612568A8A3}"/>
              </a:ext>
            </a:extLst>
          </p:cNvPr>
          <p:cNvSpPr>
            <a:spLocks noGrp="1"/>
          </p:cNvSpPr>
          <p:nvPr/>
        </p:nvSpPr>
        <p:spPr>
          <a:xfrm>
            <a:off x="6838950" y="15430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1961EE-6257-41EE-B3F1-A005972F95F7}"/>
              </a:ext>
            </a:extLst>
          </p:cNvPr>
          <p:cNvSpPr>
            <a:spLocks noGrp="1"/>
          </p:cNvSpPr>
          <p:nvPr/>
        </p:nvSpPr>
        <p:spPr>
          <a:xfrm>
            <a:off x="1638300" y="17145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自己跑測試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0F416-5628-4E43-B8DA-AB5DDE7C3814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每次 push 自動跑</a:t>
            </a: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119B710B-8E84-40D8-9916-4C735915C27B}"/>
              </a:ext>
            </a:extLst>
          </p:cNvPr>
          <p:cNvSpPr>
            <a:spLocks noGrp="1"/>
          </p:cNvSpPr>
          <p:nvPr/>
        </p:nvSpPr>
        <p:spPr>
          <a:xfrm>
            <a:off x="5695950" y="1714500"/>
            <a:ext cx="6667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956BD1E-5F51-453C-8ED0-937F2EEAC89B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3BA7C21-4CDF-4EF5-A719-1F6CFCDC9A86}"/>
              </a:ext>
            </a:extLst>
          </p:cNvPr>
          <p:cNvSpPr>
            <a:spLocks noGrp="1"/>
          </p:cNvSpPr>
          <p:nvPr/>
        </p:nvSpPr>
        <p:spPr>
          <a:xfrm>
            <a:off x="6838950" y="240030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6B0A51-36B7-4E22-AFBF-881E6D1DDD84}"/>
              </a:ext>
            </a:extLst>
          </p:cNvPr>
          <p:cNvSpPr>
            <a:spLocks noGrp="1"/>
          </p:cNvSpPr>
          <p:nvPr/>
        </p:nvSpPr>
        <p:spPr>
          <a:xfrm>
            <a:off x="1638300" y="2571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自己 docker build / push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DC59FE-9E9D-483F-8B5F-AC46DF2B9845}"/>
              </a:ext>
            </a:extLst>
          </p:cNvPr>
          <p:cNvSpPr>
            <a:spLocks noGrp="1"/>
          </p:cNvSpPr>
          <p:nvPr/>
        </p:nvSpPr>
        <p:spPr>
          <a:xfrm>
            <a:off x="7124700" y="2571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自動 build / push</a:t>
            </a: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217C6C7A-E5EE-4808-AB40-9A7691145666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6667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12D7420-2283-4632-B9B3-614D253519C0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152FE27D-8A98-4FAB-B98D-B2B741AA61F6}"/>
              </a:ext>
            </a:extLst>
          </p:cNvPr>
          <p:cNvSpPr>
            <a:spLocks noGrp="1"/>
          </p:cNvSpPr>
          <p:nvPr/>
        </p:nvSpPr>
        <p:spPr>
          <a:xfrm>
            <a:off x="6838950" y="3257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F9FBF9-8B68-4BA0-9A2C-E169F47147B5}"/>
              </a:ext>
            </a:extLst>
          </p:cNvPr>
          <p:cNvSpPr>
            <a:spLocks noGrp="1"/>
          </p:cNvSpPr>
          <p:nvPr/>
        </p:nvSpPr>
        <p:spPr>
          <a:xfrm>
            <a:off x="1638300" y="3429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本機測過，上線卻壞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E378E2-C1E8-4D4D-8ECF-D1D665944058}"/>
              </a:ext>
            </a:extLst>
          </p:cNvPr>
          <p:cNvSpPr>
            <a:spLocks noGrp="1"/>
          </p:cNvSpPr>
          <p:nvPr/>
        </p:nvSpPr>
        <p:spPr>
          <a:xfrm>
            <a:off x="7124700" y="3429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統一 runner 環境測試</a:t>
            </a:r>
          </a:p>
        </p:txBody>
      </p:sp>
      <p:sp>
        <p:nvSpPr>
          <p:cNvPr id="17" name="向右箭號 16">
            <a:extLst>
              <a:ext uri="{FF2B5EF4-FFF2-40B4-BE49-F238E27FC236}">
                <a16:creationId xmlns:a16="http://schemas.microsoft.com/office/drawing/2014/main" id="{7646826A-B7D0-4F2F-AC11-4A83C9D33D27}"/>
              </a:ext>
            </a:extLst>
          </p:cNvPr>
          <p:cNvSpPr>
            <a:spLocks noGrp="1"/>
          </p:cNvSpPr>
          <p:nvPr/>
        </p:nvSpPr>
        <p:spPr>
          <a:xfrm>
            <a:off x="5695950" y="3429000"/>
            <a:ext cx="6667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A427831F-0B3C-4CC5-94AF-DCB9219AEF60}"/>
              </a:ext>
            </a:extLst>
          </p:cNvPr>
          <p:cNvSpPr>
            <a:spLocks noGrp="1"/>
          </p:cNvSpPr>
          <p:nvPr/>
        </p:nvSpPr>
        <p:spPr>
          <a:xfrm>
            <a:off x="1352550" y="411480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252B972-6A02-4760-9A88-105996858E19}"/>
              </a:ext>
            </a:extLst>
          </p:cNvPr>
          <p:cNvSpPr>
            <a:spLocks noGrp="1"/>
          </p:cNvSpPr>
          <p:nvPr/>
        </p:nvSpPr>
        <p:spPr>
          <a:xfrm>
            <a:off x="6838950" y="411480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863F1E-C347-4889-AFB2-6312F18BD44F}"/>
              </a:ext>
            </a:extLst>
          </p:cNvPr>
          <p:cNvSpPr>
            <a:spLocks noGrp="1"/>
          </p:cNvSpPr>
          <p:nvPr/>
        </p:nvSpPr>
        <p:spPr>
          <a:xfrm>
            <a:off x="1638300" y="42862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部署靠手順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C7D152-2C4C-491E-AFEC-312548399115}"/>
              </a:ext>
            </a:extLst>
          </p:cNvPr>
          <p:cNvSpPr>
            <a:spLocks noGrp="1"/>
          </p:cNvSpPr>
          <p:nvPr/>
        </p:nvSpPr>
        <p:spPr>
          <a:xfrm>
            <a:off x="7124700" y="42862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流程寫成 YAML</a:t>
            </a:r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A1C7E784-D2B3-4745-B3E7-DDFEADCB80D2}"/>
              </a:ext>
            </a:extLst>
          </p:cNvPr>
          <p:cNvSpPr>
            <a:spLocks noGrp="1"/>
          </p:cNvSpPr>
          <p:nvPr/>
        </p:nvSpPr>
        <p:spPr>
          <a:xfrm>
            <a:off x="5695950" y="4286250"/>
            <a:ext cx="666750" cy="2667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736FDD-E986-4740-92CD-6B3F2006E95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E27EAD-ABFA-4500-819D-5B1A6355DDB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B3977F-F83A-44E2-A2F9-44235B0C15B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887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1F8E273-DCF0-4AEB-990A-978A9DEC325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CI/CD TOOLS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67AD84-779D-4D88-BD21-A2D8A31C57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本課程使用 GitHub Actions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4D55BEAD-D923-43AA-B483-CD6A0855C93A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DD08CF-4E54-4BFB-B514-6B46B4EDEB03}"/>
              </a:ext>
            </a:extLst>
          </p:cNvPr>
          <p:cNvSpPr>
            <a:spLocks noGrp="1"/>
          </p:cNvSpPr>
          <p:nvPr/>
        </p:nvSpPr>
        <p:spPr>
          <a:xfrm>
            <a:off x="1009650" y="20764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GitHub Actions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B51CB1-7F8B-4A2E-8964-4D94FE8303C9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GitHub 內建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這堂課使用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BA62C7C-6383-4694-ADCA-03F1BBC3999D}"/>
              </a:ext>
            </a:extLst>
          </p:cNvPr>
          <p:cNvSpPr>
            <a:spLocks noGrp="1"/>
          </p:cNvSpPr>
          <p:nvPr/>
        </p:nvSpPr>
        <p:spPr>
          <a:xfrm>
            <a:off x="3638550" y="18859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90542A-2DE2-489D-8923-D12D28958BD3}"/>
              </a:ext>
            </a:extLst>
          </p:cNvPr>
          <p:cNvSpPr>
            <a:spLocks noGrp="1"/>
          </p:cNvSpPr>
          <p:nvPr/>
        </p:nvSpPr>
        <p:spPr>
          <a:xfrm>
            <a:off x="3867150" y="20764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GitLab CI/CD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DCFC08-AD22-4033-8D92-2EA7D5E3C6E2}"/>
              </a:ext>
            </a:extLst>
          </p:cNvPr>
          <p:cNvSpPr>
            <a:spLocks noGrp="1"/>
          </p:cNvSpPr>
          <p:nvPr/>
        </p:nvSpPr>
        <p:spPr>
          <a:xfrm>
            <a:off x="3867150" y="2609850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GitLab 專案常用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1E0CB2A-9C00-437E-9FB0-E52F88461428}"/>
              </a:ext>
            </a:extLst>
          </p:cNvPr>
          <p:cNvSpPr>
            <a:spLocks noGrp="1"/>
          </p:cNvSpPr>
          <p:nvPr/>
        </p:nvSpPr>
        <p:spPr>
          <a:xfrm>
            <a:off x="6496050" y="18859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E63D92-0DFA-4811-A7D8-E5D693324BA0}"/>
              </a:ext>
            </a:extLst>
          </p:cNvPr>
          <p:cNvSpPr>
            <a:spLocks noGrp="1"/>
          </p:cNvSpPr>
          <p:nvPr/>
        </p:nvSpPr>
        <p:spPr>
          <a:xfrm>
            <a:off x="6724650" y="20764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Jenkins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0F99E8-10F0-47D5-B9EF-DFCD278E27FA}"/>
              </a:ext>
            </a:extLst>
          </p:cNvPr>
          <p:cNvSpPr>
            <a:spLocks noGrp="1"/>
          </p:cNvSpPr>
          <p:nvPr/>
        </p:nvSpPr>
        <p:spPr>
          <a:xfrm>
            <a:off x="6724650" y="2609850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老牌工具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常需要自架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77A46-439F-45BD-9973-89FBB32B3DB8}"/>
              </a:ext>
            </a:extLst>
          </p:cNvPr>
          <p:cNvSpPr>
            <a:spLocks noGrp="1"/>
          </p:cNvSpPr>
          <p:nvPr/>
        </p:nvSpPr>
        <p:spPr>
          <a:xfrm>
            <a:off x="9353550" y="18859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A1D4AA-AB09-4B16-A7D7-2F1F816EEC79}"/>
              </a:ext>
            </a:extLst>
          </p:cNvPr>
          <p:cNvSpPr>
            <a:spLocks noGrp="1"/>
          </p:cNvSpPr>
          <p:nvPr/>
        </p:nvSpPr>
        <p:spPr>
          <a:xfrm>
            <a:off x="9582150" y="20764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CircleCI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01F75A-DA80-4E9F-8838-64A03B2913EB}"/>
              </a:ext>
            </a:extLst>
          </p:cNvPr>
          <p:cNvSpPr>
            <a:spLocks noGrp="1"/>
          </p:cNvSpPr>
          <p:nvPr/>
        </p:nvSpPr>
        <p:spPr>
          <a:xfrm>
            <a:off x="9582150" y="2609850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第三方服務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5A9BBD-867C-40D3-B4D1-3A52DD214F31}"/>
              </a:ext>
            </a:extLst>
          </p:cNvPr>
          <p:cNvSpPr>
            <a:spLocks noGrp="1"/>
          </p:cNvSpPr>
          <p:nvPr/>
        </p:nvSpPr>
        <p:spPr>
          <a:xfrm>
            <a:off x="1466850" y="4762500"/>
            <a:ext cx="925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原因很務實：專案放在 GitHub，workflow 也放在同一個 repository 裡，學生容易跟著做。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E9D514-BF08-49EB-B54A-C02DFE050B3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859969-0FF3-4F23-B36F-A7262DE4397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3EDF81-31CC-4DCE-A0FD-C94FB5D71F8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431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E6CF7F8-9A67-4B69-B3E0-9F7BD7F9614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EC3769-1D61-4FB6-A049-CF1C5F0926D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GitHub Actions 的五個核心概念</a:t>
            </a:r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rcRect l="4613" r="4613"/>
          <a:stretch>
            <a:fillRect/>
          </a:stretch>
        </p:blipFill>
        <p:spPr>
          <a:xfrm>
            <a:off x="6438900" y="1428750"/>
            <a:ext cx="4762500" cy="2952750"/>
          </a:xfrm>
          <a:prstGeom prst="roundRect">
            <a:avLst/>
          </a:prstGeom>
        </p:spPr>
      </p:pic>
      <p:sp>
        <p:nvSpPr>
          <p:cNvPr id="4" name="圓角矩形 3">
            <a:extLst>
              <a:ext uri="{FF2B5EF4-FFF2-40B4-BE49-F238E27FC236}">
                <a16:creationId xmlns:a16="http://schemas.microsoft.com/office/drawing/2014/main" id="{1D788D1F-EDBA-4F79-810E-4640A577F927}"/>
              </a:ext>
            </a:extLst>
          </p:cNvPr>
          <p:cNvSpPr>
            <a:spLocks noGrp="1"/>
          </p:cNvSpPr>
          <p:nvPr/>
        </p:nvSpPr>
        <p:spPr>
          <a:xfrm>
            <a:off x="6438900" y="1428750"/>
            <a:ext cx="4762500" cy="2952750"/>
          </a:xfrm>
          <a:prstGeom prst="roundRect">
            <a:avLst>
              <a:gd name="adj" fmla="val 4516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2181D47-29CF-4B60-85E3-E751C45E3143}"/>
              </a:ext>
            </a:extLst>
          </p:cNvPr>
          <p:cNvSpPr>
            <a:spLocks noGrp="1"/>
          </p:cNvSpPr>
          <p:nvPr/>
        </p:nvSpPr>
        <p:spPr>
          <a:xfrm>
            <a:off x="876300" y="146685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7C7D0E-15C8-4B23-B075-D5F589ED16CF}"/>
              </a:ext>
            </a:extLst>
          </p:cNvPr>
          <p:cNvSpPr>
            <a:spLocks noGrp="1"/>
          </p:cNvSpPr>
          <p:nvPr/>
        </p:nvSpPr>
        <p:spPr>
          <a:xfrm>
            <a:off x="1104900" y="16097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Workflow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5A7A58-1427-4386-854D-2FC85ACBD947}"/>
              </a:ext>
            </a:extLst>
          </p:cNvPr>
          <p:cNvSpPr>
            <a:spLocks noGrp="1"/>
          </p:cNvSpPr>
          <p:nvPr/>
        </p:nvSpPr>
        <p:spPr>
          <a:xfrm>
            <a:off x="2857500" y="16097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自動化腳本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7E06D8AE-FF97-41A9-B6FB-546E361E26B3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FA545-142E-41F8-B017-423F7316B701}"/>
              </a:ext>
            </a:extLst>
          </p:cNvPr>
          <p:cNvSpPr>
            <a:spLocks noGrp="1"/>
          </p:cNvSpPr>
          <p:nvPr/>
        </p:nvSpPr>
        <p:spPr>
          <a:xfrm>
            <a:off x="1104900" y="22764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Event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B799D8-35A7-42E6-B8D1-FF8DA1172AD5}"/>
              </a:ext>
            </a:extLst>
          </p:cNvPr>
          <p:cNvSpPr>
            <a:spLocks noGrp="1"/>
          </p:cNvSpPr>
          <p:nvPr/>
        </p:nvSpPr>
        <p:spPr>
          <a:xfrm>
            <a:off x="2857500" y="22764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什麼時候觸發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1CD0E48-76E9-444C-B980-5CB5AE9A1AEF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FDC6F1-649B-4333-BD8F-DF79B7E075CC}"/>
              </a:ext>
            </a:extLst>
          </p:cNvPr>
          <p:cNvSpPr>
            <a:spLocks noGrp="1"/>
          </p:cNvSpPr>
          <p:nvPr/>
        </p:nvSpPr>
        <p:spPr>
          <a:xfrm>
            <a:off x="1104900" y="29432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Job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658B36-2C24-40A9-B79B-9E28A90AB927}"/>
              </a:ext>
            </a:extLst>
          </p:cNvPr>
          <p:cNvSpPr>
            <a:spLocks noGrp="1"/>
          </p:cNvSpPr>
          <p:nvPr/>
        </p:nvSpPr>
        <p:spPr>
          <a:xfrm>
            <a:off x="2857500" y="29432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一個大任務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0AC4F799-C15B-4E33-92BD-B46BFD99ACE3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8CEC77-791E-42A3-8DEC-E8992851B234}"/>
              </a:ext>
            </a:extLst>
          </p:cNvPr>
          <p:cNvSpPr>
            <a:spLocks noGrp="1"/>
          </p:cNvSpPr>
          <p:nvPr/>
        </p:nvSpPr>
        <p:spPr>
          <a:xfrm>
            <a:off x="1104900" y="36099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Step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60A76F-2771-4546-A7B6-B8D0CD48B2FE}"/>
              </a:ext>
            </a:extLst>
          </p:cNvPr>
          <p:cNvSpPr>
            <a:spLocks noGrp="1"/>
          </p:cNvSpPr>
          <p:nvPr/>
        </p:nvSpPr>
        <p:spPr>
          <a:xfrm>
            <a:off x="2857500" y="36099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任務裡的一步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4F23CD1A-6E68-4E52-8404-824A9F79662C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4572000" cy="495300"/>
          </a:xfrm>
          <a:prstGeom prst="roundRect">
            <a:avLst>
              <a:gd name="adj" fmla="val 1538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5547B5-9005-49AF-82F3-92F39B0D80CB}"/>
              </a:ext>
            </a:extLst>
          </p:cNvPr>
          <p:cNvSpPr>
            <a:spLocks noGrp="1"/>
          </p:cNvSpPr>
          <p:nvPr/>
        </p:nvSpPr>
        <p:spPr>
          <a:xfrm>
            <a:off x="1104900" y="42767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Runner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47615D-A864-48B6-9131-48F699C4C1F8}"/>
              </a:ext>
            </a:extLst>
          </p:cNvPr>
          <p:cNvSpPr>
            <a:spLocks noGrp="1"/>
          </p:cNvSpPr>
          <p:nvPr/>
        </p:nvSpPr>
        <p:spPr>
          <a:xfrm>
            <a:off x="2857500" y="42767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執行的虛擬機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6DE91F-532A-4454-A7E7-88B08BEE777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1041E0-9A6A-4E08-82AE-5E39293C7B1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FCC93A-B3FB-46CB-B89B-CBD57BA9C7A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9051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E21B1A1-4DDA-4D19-AFB3-079A0AA67AF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FILE STRUCTURE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2C89DE-D6A3-4872-906C-B713DD9C52E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Workflow 放在 repository 裡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8822C6C-8EC5-4CB3-A916-07890927510F}"/>
              </a:ext>
            </a:extLst>
          </p:cNvPr>
          <p:cNvSpPr>
            <a:spLocks noGrp="1"/>
          </p:cNvSpPr>
          <p:nvPr/>
        </p:nvSpPr>
        <p:spPr>
          <a:xfrm>
            <a:off x="1085850" y="1524000"/>
            <a:ext cx="4572000" cy="3028950"/>
          </a:xfrm>
          <a:prstGeom prst="roundRect">
            <a:avLst>
              <a:gd name="adj" fmla="val 314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F4232DD-C676-4CAF-8049-2D9BE96EBE17}"/>
              </a:ext>
            </a:extLst>
          </p:cNvPr>
          <p:cNvSpPr>
            <a:spLocks noGrp="1"/>
          </p:cNvSpPr>
          <p:nvPr/>
        </p:nvSpPr>
        <p:spPr>
          <a:xfrm>
            <a:off x="1257300" y="16859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1659F60-9AD6-4A56-AF47-629F73206F24}"/>
              </a:ext>
            </a:extLst>
          </p:cNvPr>
          <p:cNvSpPr>
            <a:spLocks noGrp="1"/>
          </p:cNvSpPr>
          <p:nvPr/>
        </p:nvSpPr>
        <p:spPr>
          <a:xfrm>
            <a:off x="1428750" y="16859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D7FEB6B-9016-4FBC-992D-E3D5FC3E02E7}"/>
              </a:ext>
            </a:extLst>
          </p:cNvPr>
          <p:cNvSpPr>
            <a:spLocks noGrp="1"/>
          </p:cNvSpPr>
          <p:nvPr/>
        </p:nvSpPr>
        <p:spPr>
          <a:xfrm>
            <a:off x="1600200" y="16859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B0020E-A06E-4F4C-B98F-6ECD1278943D}"/>
              </a:ext>
            </a:extLst>
          </p:cNvPr>
          <p:cNvSpPr>
            <a:spLocks noGrp="1"/>
          </p:cNvSpPr>
          <p:nvPr/>
        </p:nvSpPr>
        <p:spPr>
          <a:xfrm>
            <a:off x="1295400" y="1943100"/>
            <a:ext cx="41529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80"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flask-app/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72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github</a:t>
            </a:r>
            <a:r>
              <a:rPr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/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workflows/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72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hello.yml</a:t>
            </a:r>
            <a:endParaRPr sz="172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0A1CC81D-D140-4EBB-A859-A1F868EDAB9E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3714750" cy="1695450"/>
          </a:xfrm>
          <a:prstGeom prst="roundRect">
            <a:avLst>
              <a:gd name="adj" fmla="val 6742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D2850-474B-484D-923B-4B012155FDEA}"/>
              </a:ext>
            </a:extLst>
          </p:cNvPr>
          <p:cNvSpPr>
            <a:spLocks noGrp="1"/>
          </p:cNvSpPr>
          <p:nvPr/>
        </p:nvSpPr>
        <p:spPr>
          <a:xfrm>
            <a:off x="6934200" y="188595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前置準備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CFB374-A450-446E-8FBC-390EE522CAE8}"/>
              </a:ext>
            </a:extLst>
          </p:cNvPr>
          <p:cNvSpPr>
            <a:spLocks noGrp="1"/>
          </p:cNvSpPr>
          <p:nvPr/>
        </p:nvSpPr>
        <p:spPr>
          <a:xfrm>
            <a:off x="6934200" y="2305050"/>
            <a:ext cx="3257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GitHub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帳號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+ Git for Windows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Hub token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準備好</a:t>
            </a:r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B43B1C5-32AE-4433-9147-769BF87F0E2C}"/>
              </a:ext>
            </a:extLst>
          </p:cNvPr>
          <p:cNvSpPr>
            <a:spLocks noGrp="1"/>
          </p:cNvSpPr>
          <p:nvPr/>
        </p:nvSpPr>
        <p:spPr>
          <a:xfrm>
            <a:off x="6705600" y="3829050"/>
            <a:ext cx="3714750" cy="1123950"/>
          </a:xfrm>
          <a:prstGeom prst="roundRect">
            <a:avLst>
              <a:gd name="adj" fmla="val 847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70F18624-53B4-4989-AC93-AE653285FB00}"/>
              </a:ext>
            </a:extLst>
          </p:cNvPr>
          <p:cNvSpPr>
            <a:spLocks noGrp="1"/>
          </p:cNvSpPr>
          <p:nvPr/>
        </p:nvSpPr>
        <p:spPr>
          <a:xfrm>
            <a:off x="6877050" y="39909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4117303-DF0C-4D23-9081-C8744761F56A}"/>
              </a:ext>
            </a:extLst>
          </p:cNvPr>
          <p:cNvSpPr>
            <a:spLocks noGrp="1"/>
          </p:cNvSpPr>
          <p:nvPr/>
        </p:nvSpPr>
        <p:spPr>
          <a:xfrm>
            <a:off x="7048500" y="39909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000B5DE-124A-44F1-BFA3-E9EEF10B47FF}"/>
              </a:ext>
            </a:extLst>
          </p:cNvPr>
          <p:cNvSpPr>
            <a:spLocks noGrp="1"/>
          </p:cNvSpPr>
          <p:nvPr/>
        </p:nvSpPr>
        <p:spPr>
          <a:xfrm>
            <a:off x="7219950" y="39909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EB27CC-D5B6-45A0-B331-7D4714FE74CA}"/>
              </a:ext>
            </a:extLst>
          </p:cNvPr>
          <p:cNvSpPr>
            <a:spLocks noGrp="1"/>
          </p:cNvSpPr>
          <p:nvPr/>
        </p:nvSpPr>
        <p:spPr>
          <a:xfrm>
            <a:off x="6915150" y="4248150"/>
            <a:ext cx="3295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/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init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remote add origin https://github.com/你的帳號/flask-app.git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push -u origin main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957428-6712-49CE-8866-EAA19BF4AA0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13BC94-F5C4-463D-BD3C-A980B86AE9A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81C5A7-FA6D-46C6-BA7A-60D0EA93D33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0167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064099-E95C-4652-8F6F-970094A4EB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HELLO.YML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778423-B19B-4792-A79D-8558006A836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Hello Workflow 範例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A0679DDC-E5C1-4CAD-B8A1-207146FF51E1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6286500" cy="4610100"/>
          </a:xfrm>
          <a:prstGeom prst="roundRect">
            <a:avLst>
              <a:gd name="adj" fmla="val 206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4BD51AE-DCD4-4E76-9BDA-BF083135B3EC}"/>
              </a:ext>
            </a:extLst>
          </p:cNvPr>
          <p:cNvSpPr>
            <a:spLocks noGrp="1"/>
          </p:cNvSpPr>
          <p:nvPr/>
        </p:nvSpPr>
        <p:spPr>
          <a:xfrm>
            <a:off x="895350" y="14192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CAEDD30-B70B-4D1A-99C9-7478BB0EEAB4}"/>
              </a:ext>
            </a:extLst>
          </p:cNvPr>
          <p:cNvSpPr>
            <a:spLocks noGrp="1"/>
          </p:cNvSpPr>
          <p:nvPr/>
        </p:nvSpPr>
        <p:spPr>
          <a:xfrm>
            <a:off x="1066800" y="14192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2E2D968-ABEA-4F2A-92B5-13AE48CD2FAB}"/>
              </a:ext>
            </a:extLst>
          </p:cNvPr>
          <p:cNvSpPr>
            <a:spLocks noGrp="1"/>
          </p:cNvSpPr>
          <p:nvPr/>
        </p:nvSpPr>
        <p:spPr>
          <a:xfrm>
            <a:off x="1238250" y="14192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EC0CE6-FB9A-40C8-93D7-CE2A85FB6634}"/>
              </a:ext>
            </a:extLst>
          </p:cNvPr>
          <p:cNvSpPr>
            <a:spLocks noGrp="1"/>
          </p:cNvSpPr>
          <p:nvPr/>
        </p:nvSpPr>
        <p:spPr>
          <a:xfrm>
            <a:off x="933450" y="1676400"/>
            <a:ext cx="5867400" cy="405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Hello GitHub Actions</a:t>
            </a:r>
          </a:p>
          <a:p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on: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push: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branches: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main</a:t>
            </a:r>
          </a:p>
          <a:p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say-hello: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2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打招呼</a:t>
            </a:r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echo "Hello GitHub Actions!"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2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顯示目前時間</a:t>
            </a:r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date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2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顯示系統資訊</a:t>
            </a:r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|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uname</a:t>
            </a: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-a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0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pwd</a:t>
            </a:r>
            <a:endParaRPr sz="12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57DDC86-79E0-4B83-9A35-84B41666B763}"/>
              </a:ext>
            </a:extLst>
          </p:cNvPr>
          <p:cNvSpPr>
            <a:spLocks noGrp="1"/>
          </p:cNvSpPr>
          <p:nvPr/>
        </p:nvSpPr>
        <p:spPr>
          <a:xfrm>
            <a:off x="7734300" y="2019300"/>
            <a:ext cx="3143250" cy="20002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55A863-CEFE-424F-AD71-50223A40E6C3}"/>
              </a:ext>
            </a:extLst>
          </p:cNvPr>
          <p:cNvSpPr>
            <a:spLocks noGrp="1"/>
          </p:cNvSpPr>
          <p:nvPr/>
        </p:nvSpPr>
        <p:spPr>
          <a:xfrm>
            <a:off x="7962900" y="22098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三個觀察點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6F5F6-C4F8-4B9D-A37C-F5DC63358B09}"/>
              </a:ext>
            </a:extLst>
          </p:cNvPr>
          <p:cNvSpPr>
            <a:spLocks noGrp="1"/>
          </p:cNvSpPr>
          <p:nvPr/>
        </p:nvSpPr>
        <p:spPr>
          <a:xfrm>
            <a:off x="7962900" y="2743200"/>
            <a:ext cx="26860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32" lnSpcReduction="10000"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on: push 代表 push 觸發。</a:t>
            </a:r>
          </a:p>
          <a:p>
            <a:endParaRPr sz="157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runs-on 是 Runner 環境。</a:t>
            </a:r>
          </a:p>
          <a:p>
            <a:endParaRPr sz="157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run 可以執行 shell 指令。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199053-208A-4A17-8B85-14F2242CE66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EEFFFB-8726-4AD6-9348-D778753D785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1C40E5-8977-4E59-8B35-C10CBA6B901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839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A136C23-2824-4ACF-BD27-9E77C0FC6C5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OBSERVE RUN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8A3933-9A42-4566-ABAC-75E3A9AA21D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Push 之後，到 Actions 看結果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593AB942-8791-4AE2-BE08-43F73F271568}"/>
              </a:ext>
            </a:extLst>
          </p:cNvPr>
          <p:cNvSpPr>
            <a:spLocks noGrp="1"/>
          </p:cNvSpPr>
          <p:nvPr/>
        </p:nvSpPr>
        <p:spPr>
          <a:xfrm>
            <a:off x="1009650" y="161925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6FF0221-5B5D-48EB-9ABF-7EE4F4570D67}"/>
              </a:ext>
            </a:extLst>
          </p:cNvPr>
          <p:cNvSpPr>
            <a:spLocks noGrp="1"/>
          </p:cNvSpPr>
          <p:nvPr/>
        </p:nvSpPr>
        <p:spPr>
          <a:xfrm>
            <a:off x="11811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182E4F9D-32B9-47F2-8AA7-26F03B49AB04}"/>
              </a:ext>
            </a:extLst>
          </p:cNvPr>
          <p:cNvSpPr>
            <a:spLocks noGrp="1"/>
          </p:cNvSpPr>
          <p:nvPr/>
        </p:nvSpPr>
        <p:spPr>
          <a:xfrm>
            <a:off x="13525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CD9AB5C-33EB-46F9-B850-84C8F41E9E0B}"/>
              </a:ext>
            </a:extLst>
          </p:cNvPr>
          <p:cNvSpPr>
            <a:spLocks noGrp="1"/>
          </p:cNvSpPr>
          <p:nvPr/>
        </p:nvSpPr>
        <p:spPr>
          <a:xfrm>
            <a:off x="15240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AD5186-D296-4C51-8D2D-D5990D0D4398}"/>
              </a:ext>
            </a:extLst>
          </p:cNvPr>
          <p:cNvSpPr>
            <a:spLocks noGrp="1"/>
          </p:cNvSpPr>
          <p:nvPr/>
        </p:nvSpPr>
        <p:spPr>
          <a:xfrm>
            <a:off x="1219200" y="2038350"/>
            <a:ext cx="4343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107" lnSpcReduction="10000"/>
          </a:bodyPr>
          <a:lstStyle/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add .</a:t>
            </a:r>
          </a:p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commit -m "add first workflow"</a:t>
            </a:r>
          </a:p>
          <a:p>
            <a:pPr algn="l">
              <a:lnSpc>
                <a:spcPct val="104000"/>
              </a:lnSpc>
              <a:buNone/>
              <a:defRPr sz="18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git push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EC340878-554D-46BA-8159-B1891BC2CA7F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2209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02CCC0-07F3-4524-9CF6-91B40E4E4855}"/>
              </a:ext>
            </a:extLst>
          </p:cNvPr>
          <p:cNvSpPr>
            <a:spLocks noGrp="1"/>
          </p:cNvSpPr>
          <p:nvPr/>
        </p:nvSpPr>
        <p:spPr>
          <a:xfrm>
            <a:off x="1238250" y="40195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9285C9-C4CE-4CC8-B203-3F4072DFF4BB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打開專案頁面</a:t>
            </a: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8F4D6202-F46D-4691-9478-DC2964A7731B}"/>
              </a:ext>
            </a:extLst>
          </p:cNvPr>
          <p:cNvSpPr>
            <a:spLocks noGrp="1"/>
          </p:cNvSpPr>
          <p:nvPr/>
        </p:nvSpPr>
        <p:spPr>
          <a:xfrm>
            <a:off x="3314700" y="4229100"/>
            <a:ext cx="438150" cy="2286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297D27F-9339-4865-A153-A0EE701CE781}"/>
              </a:ext>
            </a:extLst>
          </p:cNvPr>
          <p:cNvSpPr>
            <a:spLocks noGrp="1"/>
          </p:cNvSpPr>
          <p:nvPr/>
        </p:nvSpPr>
        <p:spPr>
          <a:xfrm>
            <a:off x="3733800" y="3829050"/>
            <a:ext cx="2209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D641CC-93FE-46D1-83CC-32EDFBFF72CA}"/>
              </a:ext>
            </a:extLst>
          </p:cNvPr>
          <p:cNvSpPr>
            <a:spLocks noGrp="1"/>
          </p:cNvSpPr>
          <p:nvPr/>
        </p:nvSpPr>
        <p:spPr>
          <a:xfrm>
            <a:off x="3962400" y="40195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Actions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E3A2C1-C071-4CF9-8491-2FD6EB1034F5}"/>
              </a:ext>
            </a:extLst>
          </p:cNvPr>
          <p:cNvSpPr>
            <a:spLocks noGrp="1"/>
          </p:cNvSpPr>
          <p:nvPr/>
        </p:nvSpPr>
        <p:spPr>
          <a:xfrm>
            <a:off x="3962400" y="44386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點上方 Actions 分頁</a:t>
            </a:r>
          </a:p>
        </p:txBody>
      </p:sp>
      <p:sp>
        <p:nvSpPr>
          <p:cNvPr id="15" name="向右箭號 14">
            <a:extLst>
              <a:ext uri="{FF2B5EF4-FFF2-40B4-BE49-F238E27FC236}">
                <a16:creationId xmlns:a16="http://schemas.microsoft.com/office/drawing/2014/main" id="{CE4F02E1-12ED-40B9-9DB6-B907FCD828B1}"/>
              </a:ext>
            </a:extLst>
          </p:cNvPr>
          <p:cNvSpPr>
            <a:spLocks noGrp="1"/>
          </p:cNvSpPr>
          <p:nvPr/>
        </p:nvSpPr>
        <p:spPr>
          <a:xfrm>
            <a:off x="6038850" y="4229100"/>
            <a:ext cx="438150" cy="2286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67FA2F7-DA59-4903-BA85-D7C7BBA9FE91}"/>
              </a:ext>
            </a:extLst>
          </p:cNvPr>
          <p:cNvSpPr>
            <a:spLocks noGrp="1"/>
          </p:cNvSpPr>
          <p:nvPr/>
        </p:nvSpPr>
        <p:spPr>
          <a:xfrm>
            <a:off x="6457950" y="3829050"/>
            <a:ext cx="2209800" cy="1143000"/>
          </a:xfrm>
          <a:prstGeom prst="roundRect">
            <a:avLst>
              <a:gd name="adj" fmla="val 10000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23FCA5-797A-4A43-9593-F25ABEDAD7F0}"/>
              </a:ext>
            </a:extLst>
          </p:cNvPr>
          <p:cNvSpPr>
            <a:spLocks noGrp="1"/>
          </p:cNvSpPr>
          <p:nvPr/>
        </p:nvSpPr>
        <p:spPr>
          <a:xfrm>
            <a:off x="6686550" y="40195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F10FD8-B90B-46FE-984F-DAB89188B4FD}"/>
              </a:ext>
            </a:extLst>
          </p:cNvPr>
          <p:cNvSpPr>
            <a:spLocks noGrp="1"/>
          </p:cNvSpPr>
          <p:nvPr/>
        </p:nvSpPr>
        <p:spPr>
          <a:xfrm>
            <a:off x="6686550" y="44386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點進 workflow run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DB111C6E-A723-4C4A-954C-81CB38577B06}"/>
              </a:ext>
            </a:extLst>
          </p:cNvPr>
          <p:cNvSpPr>
            <a:spLocks noGrp="1"/>
          </p:cNvSpPr>
          <p:nvPr/>
        </p:nvSpPr>
        <p:spPr>
          <a:xfrm>
            <a:off x="8763000" y="4229100"/>
            <a:ext cx="438150" cy="2286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1DA84A45-CAD7-4E43-8A1B-28B6281773E0}"/>
              </a:ext>
            </a:extLst>
          </p:cNvPr>
          <p:cNvSpPr>
            <a:spLocks noGrp="1"/>
          </p:cNvSpPr>
          <p:nvPr/>
        </p:nvSpPr>
        <p:spPr>
          <a:xfrm>
            <a:off x="9182100" y="3829050"/>
            <a:ext cx="2209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B8BF4F-B226-4CD0-87DE-167F6953823E}"/>
              </a:ext>
            </a:extLst>
          </p:cNvPr>
          <p:cNvSpPr>
            <a:spLocks noGrp="1"/>
          </p:cNvSpPr>
          <p:nvPr/>
        </p:nvSpPr>
        <p:spPr>
          <a:xfrm>
            <a:off x="9410700" y="40195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Logs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EDC68A-BA54-4591-B398-1194672C7AE8}"/>
              </a:ext>
            </a:extLst>
          </p:cNvPr>
          <p:cNvSpPr>
            <a:spLocks noGrp="1"/>
          </p:cNvSpPr>
          <p:nvPr/>
        </p:nvSpPr>
        <p:spPr>
          <a:xfrm>
            <a:off x="9410700" y="44386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看每個 step 輸出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9110985-314A-4419-B6EE-E82D6CC5FF3C}"/>
              </a:ext>
            </a:extLst>
          </p:cNvPr>
          <p:cNvSpPr>
            <a:spLocks noGrp="1"/>
          </p:cNvSpPr>
          <p:nvPr/>
        </p:nvSpPr>
        <p:spPr>
          <a:xfrm>
            <a:off x="6819900" y="1657350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DD82D2-9324-42FE-B12B-CC5EF843FE4A}"/>
              </a:ext>
            </a:extLst>
          </p:cNvPr>
          <p:cNvSpPr>
            <a:spLocks noGrp="1"/>
          </p:cNvSpPr>
          <p:nvPr/>
        </p:nvSpPr>
        <p:spPr>
          <a:xfrm>
            <a:off x="7048500" y="18478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第一次成功的意義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B33588E-DC09-4CD3-A07C-E7ED065344F7}"/>
              </a:ext>
            </a:extLst>
          </p:cNvPr>
          <p:cNvSpPr>
            <a:spLocks noGrp="1"/>
          </p:cNvSpPr>
          <p:nvPr/>
        </p:nvSpPr>
        <p:spPr>
          <a:xfrm>
            <a:off x="7048500" y="2266950"/>
            <a:ext cx="2876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你已經讓 GitHub 的 Runner 自動幫你跑了一段程式。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6530DE-D027-4623-9A2A-B82F7308896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792F40-5505-437A-90D1-8C94A3C3934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2A9D6C-6BD7-4B71-84DE-B21B876F4F4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994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FE262AF-A929-4738-9182-84A39B76B16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YAML ANATOMY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BA1CA4-6B9B-4331-AC77-22DD25A33F4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Workflow 語法地圖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381E8D28-C3C0-40FD-AE5F-35F3C80E04E9}"/>
              </a:ext>
            </a:extLst>
          </p:cNvPr>
          <p:cNvSpPr>
            <a:spLocks noGrp="1"/>
          </p:cNvSpPr>
          <p:nvPr/>
        </p:nvSpPr>
        <p:spPr>
          <a:xfrm>
            <a:off x="1409700" y="15049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9DC26B-B0ED-4566-B3DA-7432AC9B9BE4}"/>
              </a:ext>
            </a:extLst>
          </p:cNvPr>
          <p:cNvSpPr>
            <a:spLocks noGrp="1"/>
          </p:cNvSpPr>
          <p:nvPr/>
        </p:nvSpPr>
        <p:spPr>
          <a:xfrm>
            <a:off x="1638300" y="1666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name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39C985-01D5-4866-989A-04879451A00C}"/>
              </a:ext>
            </a:extLst>
          </p:cNvPr>
          <p:cNvSpPr>
            <a:spLocks noGrp="1"/>
          </p:cNvSpPr>
          <p:nvPr/>
        </p:nvSpPr>
        <p:spPr>
          <a:xfrm>
            <a:off x="2971800" y="16668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名稱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4A46D78-2DD4-4CA5-8A8B-FFF1003DD52B}"/>
              </a:ext>
            </a:extLst>
          </p:cNvPr>
          <p:cNvSpPr>
            <a:spLocks noGrp="1"/>
          </p:cNvSpPr>
          <p:nvPr/>
        </p:nvSpPr>
        <p:spPr>
          <a:xfrm>
            <a:off x="6743700" y="15049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0B62BC-A1E9-4272-B2CB-C1E2FF8CD7FD}"/>
              </a:ext>
            </a:extLst>
          </p:cNvPr>
          <p:cNvSpPr>
            <a:spLocks noGrp="1"/>
          </p:cNvSpPr>
          <p:nvPr/>
        </p:nvSpPr>
        <p:spPr>
          <a:xfrm>
            <a:off x="6972300" y="1666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34699-CA29-40C6-88D5-C2255986FDFC}"/>
              </a:ext>
            </a:extLst>
          </p:cNvPr>
          <p:cNvSpPr>
            <a:spLocks noGrp="1"/>
          </p:cNvSpPr>
          <p:nvPr/>
        </p:nvSpPr>
        <p:spPr>
          <a:xfrm>
            <a:off x="8305800" y="16668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觸發條件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6E0B6825-713C-47E9-AF38-E44D7D4885D9}"/>
              </a:ext>
            </a:extLst>
          </p:cNvPr>
          <p:cNvSpPr>
            <a:spLocks noGrp="1"/>
          </p:cNvSpPr>
          <p:nvPr/>
        </p:nvSpPr>
        <p:spPr>
          <a:xfrm>
            <a:off x="1409700" y="23050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89E8D4-BC76-440E-A8FD-7792AE865F4A}"/>
              </a:ext>
            </a:extLst>
          </p:cNvPr>
          <p:cNvSpPr>
            <a:spLocks noGrp="1"/>
          </p:cNvSpPr>
          <p:nvPr/>
        </p:nvSpPr>
        <p:spPr>
          <a:xfrm>
            <a:off x="1638300" y="24669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jobs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91C4F6-6495-4BAB-AF7A-AE3B965E247E}"/>
              </a:ext>
            </a:extLst>
          </p:cNvPr>
          <p:cNvSpPr>
            <a:spLocks noGrp="1"/>
          </p:cNvSpPr>
          <p:nvPr/>
        </p:nvSpPr>
        <p:spPr>
          <a:xfrm>
            <a:off x="2971800" y="24669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要執行的大任務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896D460-4F81-4CC0-97B0-04903D675922}"/>
              </a:ext>
            </a:extLst>
          </p:cNvPr>
          <p:cNvSpPr>
            <a:spLocks noGrp="1"/>
          </p:cNvSpPr>
          <p:nvPr/>
        </p:nvSpPr>
        <p:spPr>
          <a:xfrm>
            <a:off x="6743700" y="23050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EE145B-8942-47A7-94BC-C874DA315CD8}"/>
              </a:ext>
            </a:extLst>
          </p:cNvPr>
          <p:cNvSpPr>
            <a:spLocks noGrp="1"/>
          </p:cNvSpPr>
          <p:nvPr/>
        </p:nvSpPr>
        <p:spPr>
          <a:xfrm>
            <a:off x="6972300" y="24669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runs-on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EA9B0D-FEC9-4882-B775-99C2E538399E}"/>
              </a:ext>
            </a:extLst>
          </p:cNvPr>
          <p:cNvSpPr>
            <a:spLocks noGrp="1"/>
          </p:cNvSpPr>
          <p:nvPr/>
        </p:nvSpPr>
        <p:spPr>
          <a:xfrm>
            <a:off x="8305800" y="24669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Runner 環境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B7D707DF-86B9-47CD-BA08-A2251582D08E}"/>
              </a:ext>
            </a:extLst>
          </p:cNvPr>
          <p:cNvSpPr>
            <a:spLocks noGrp="1"/>
          </p:cNvSpPr>
          <p:nvPr/>
        </p:nvSpPr>
        <p:spPr>
          <a:xfrm>
            <a:off x="1409700" y="31051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04B9D7-0429-4C0D-ACB9-0BBC6BF85447}"/>
              </a:ext>
            </a:extLst>
          </p:cNvPr>
          <p:cNvSpPr>
            <a:spLocks noGrp="1"/>
          </p:cNvSpPr>
          <p:nvPr/>
        </p:nvSpPr>
        <p:spPr>
          <a:xfrm>
            <a:off x="1638300" y="32670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steps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B53FC2-5DF9-4636-85DE-9FA6E9763997}"/>
              </a:ext>
            </a:extLst>
          </p:cNvPr>
          <p:cNvSpPr>
            <a:spLocks noGrp="1"/>
          </p:cNvSpPr>
          <p:nvPr/>
        </p:nvSpPr>
        <p:spPr>
          <a:xfrm>
            <a:off x="2971800" y="32670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任務裡的步驟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A8DF450-D32A-4334-AFD1-42657E9964F4}"/>
              </a:ext>
            </a:extLst>
          </p:cNvPr>
          <p:cNvSpPr>
            <a:spLocks noGrp="1"/>
          </p:cNvSpPr>
          <p:nvPr/>
        </p:nvSpPr>
        <p:spPr>
          <a:xfrm>
            <a:off x="6743700" y="31051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91ABD8-7F1F-4BA2-8AA9-8DE306256773}"/>
              </a:ext>
            </a:extLst>
          </p:cNvPr>
          <p:cNvSpPr>
            <a:spLocks noGrp="1"/>
          </p:cNvSpPr>
          <p:nvPr/>
        </p:nvSpPr>
        <p:spPr>
          <a:xfrm>
            <a:off x="6972300" y="32670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uses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8C29D3-369F-44E5-B9E8-291E18BA7D01}"/>
              </a:ext>
            </a:extLst>
          </p:cNvPr>
          <p:cNvSpPr>
            <a:spLocks noGrp="1"/>
          </p:cNvSpPr>
          <p:nvPr/>
        </p:nvSpPr>
        <p:spPr>
          <a:xfrm>
            <a:off x="8305800" y="32670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使用別人寫好的 Action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99552C3E-B367-4F34-A07A-F5D1C0AFDEA2}"/>
              </a:ext>
            </a:extLst>
          </p:cNvPr>
          <p:cNvSpPr>
            <a:spLocks noGrp="1"/>
          </p:cNvSpPr>
          <p:nvPr/>
        </p:nvSpPr>
        <p:spPr>
          <a:xfrm>
            <a:off x="1409700" y="39052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7C506F-3920-48E0-8D83-B7670748E2C0}"/>
              </a:ext>
            </a:extLst>
          </p:cNvPr>
          <p:cNvSpPr>
            <a:spLocks noGrp="1"/>
          </p:cNvSpPr>
          <p:nvPr/>
        </p:nvSpPr>
        <p:spPr>
          <a:xfrm>
            <a:off x="1638300" y="4067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run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CF5F41-D901-474F-B658-4869F944BFE4}"/>
              </a:ext>
            </a:extLst>
          </p:cNvPr>
          <p:cNvSpPr>
            <a:spLocks noGrp="1"/>
          </p:cNvSpPr>
          <p:nvPr/>
        </p:nvSpPr>
        <p:spPr>
          <a:xfrm>
            <a:off x="2971800" y="40671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自己寫 shell 指令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90952C-974B-4059-B561-10DB3ED7D0D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E339C2-CA27-48B3-A89A-A7F96D8EABA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58AC85-35B2-4A4A-941C-2BA053F2CF8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11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37109D9-335D-4918-A9BB-472B99876E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E7C451-7308-48C8-9AAD-A949E3D7660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2：uses 和 run 差在哪？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2B93C637-A446-482C-A18B-76152561F19C}"/>
              </a:ext>
            </a:extLst>
          </p:cNvPr>
          <p:cNvSpPr>
            <a:spLocks noGrp="1"/>
          </p:cNvSpPr>
          <p:nvPr/>
        </p:nvSpPr>
        <p:spPr>
          <a:xfrm>
            <a:off x="1143000" y="1638300"/>
            <a:ext cx="4381500" cy="251460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87B836-6BBB-427D-AC10-EB2456A06CE5}"/>
              </a:ext>
            </a:extLst>
          </p:cNvPr>
          <p:cNvSpPr>
            <a:spLocks noGrp="1"/>
          </p:cNvSpPr>
          <p:nvPr/>
        </p:nvSpPr>
        <p:spPr>
          <a:xfrm>
            <a:off x="1371600" y="18288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uses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34FD54-7D58-434A-BFE2-73C95B219ED6}"/>
              </a:ext>
            </a:extLst>
          </p:cNvPr>
          <p:cNvSpPr>
            <a:spLocks noGrp="1"/>
          </p:cNvSpPr>
          <p:nvPr/>
        </p:nvSpPr>
        <p:spPr>
          <a:xfrm>
            <a:off x="1371600" y="2457450"/>
            <a:ext cx="39243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使用別人寫好的 Action。</a:t>
            </a:r>
          </a:p>
          <a:p>
            <a:endParaRPr sz="172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像使用套件。</a:t>
            </a:r>
          </a:p>
          <a:p>
            <a:endParaRPr sz="172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例：actions/checkout@v4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5C3CBAD-B679-4D64-8B9B-D6B95C81E071}"/>
              </a:ext>
            </a:extLst>
          </p:cNvPr>
          <p:cNvSpPr>
            <a:spLocks noGrp="1"/>
          </p:cNvSpPr>
          <p:nvPr/>
        </p:nvSpPr>
        <p:spPr>
          <a:xfrm>
            <a:off x="6667500" y="1638300"/>
            <a:ext cx="4381500" cy="251460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89E63C-0378-4165-AA61-69A693B3E28A}"/>
              </a:ext>
            </a:extLst>
          </p:cNvPr>
          <p:cNvSpPr>
            <a:spLocks noGrp="1"/>
          </p:cNvSpPr>
          <p:nvPr/>
        </p:nvSpPr>
        <p:spPr>
          <a:xfrm>
            <a:off x="6896100" y="18288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C748EE-8618-4D6C-AF5A-3086F9E386EF}"/>
              </a:ext>
            </a:extLst>
          </p:cNvPr>
          <p:cNvSpPr>
            <a:spLocks noGrp="1"/>
          </p:cNvSpPr>
          <p:nvPr/>
        </p:nvSpPr>
        <p:spPr>
          <a:xfrm>
            <a:off x="6896100" y="2457450"/>
            <a:ext cx="39243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自己寫 shell 指令。</a:t>
            </a:r>
          </a:p>
          <a:p>
            <a:endParaRPr sz="172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像直接在終端機打指令。</a:t>
            </a:r>
          </a:p>
          <a:p>
            <a:endParaRPr sz="1725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例：pytest test_app.py -v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308FA39-A916-4DAA-8658-E458EF95A683}"/>
              </a:ext>
            </a:extLst>
          </p:cNvPr>
          <p:cNvSpPr>
            <a:spLocks noGrp="1"/>
          </p:cNvSpPr>
          <p:nvPr/>
        </p:nvSpPr>
        <p:spPr>
          <a:xfrm>
            <a:off x="2895600" y="4857750"/>
            <a:ext cx="6400800" cy="9525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1D001316-B3EF-43AB-9B87-83F0A6E15A7D}"/>
              </a:ext>
            </a:extLst>
          </p:cNvPr>
          <p:cNvSpPr>
            <a:spLocks noGrp="1"/>
          </p:cNvSpPr>
          <p:nvPr/>
        </p:nvSpPr>
        <p:spPr>
          <a:xfrm>
            <a:off x="3067050" y="5019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313AFE1-1A61-4BCE-BD1C-5BA4AB7F9D2B}"/>
              </a:ext>
            </a:extLst>
          </p:cNvPr>
          <p:cNvSpPr>
            <a:spLocks noGrp="1"/>
          </p:cNvSpPr>
          <p:nvPr/>
        </p:nvSpPr>
        <p:spPr>
          <a:xfrm>
            <a:off x="3238500" y="5019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9240EF0-7AEF-415A-A509-2DD66CE84315}"/>
              </a:ext>
            </a:extLst>
          </p:cNvPr>
          <p:cNvSpPr>
            <a:spLocks noGrp="1"/>
          </p:cNvSpPr>
          <p:nvPr/>
        </p:nvSpPr>
        <p:spPr>
          <a:xfrm>
            <a:off x="3409950" y="5019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CB7DD5-2AB2-4DFD-A88D-53512032E318}"/>
              </a:ext>
            </a:extLst>
          </p:cNvPr>
          <p:cNvSpPr>
            <a:spLocks noGrp="1"/>
          </p:cNvSpPr>
          <p:nvPr/>
        </p:nvSpPr>
        <p:spPr>
          <a:xfrm>
            <a:off x="3105150" y="5276850"/>
            <a:ext cx="598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9153" lnSpcReduction="20000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uses: actions/checkout@v4</a:t>
            </a:r>
          </a:p>
          <a:p>
            <a:endParaRPr sz="16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 run: pip install -r requirements.txt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A50A3A-90F2-486A-875E-034BA333E93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407D0C-73D6-4CC7-8B20-13E3C9E369A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63BD8F-68EB-4627-A82A-1C3BCA6AD1F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8283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5FEF62A-01B9-4FA9-B183-8B13C1B39F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PYTHON PROJECT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C3C2C8-A447-4A5E-A067-6681AAC2457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沿用 Flask 專案：先補 app.py、requirements.txt、test_app.py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B5103314-0E05-4FB2-98C5-A53E725DA46A}"/>
              </a:ext>
            </a:extLst>
          </p:cNvPr>
          <p:cNvSpPr>
            <a:spLocks noGrp="1"/>
          </p:cNvSpPr>
          <p:nvPr/>
        </p:nvSpPr>
        <p:spPr>
          <a:xfrm>
            <a:off x="11239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0B5C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CBB002-9394-4C22-9C28-DEEB3B5BE8E4}"/>
              </a:ext>
            </a:extLst>
          </p:cNvPr>
          <p:cNvSpPr>
            <a:spLocks noGrp="1"/>
          </p:cNvSpPr>
          <p:nvPr/>
        </p:nvSpPr>
        <p:spPr>
          <a:xfrm>
            <a:off x="1352550" y="21907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app.py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A20294-DA71-42B7-92C1-EF8434F63236}"/>
              </a:ext>
            </a:extLst>
          </p:cNvPr>
          <p:cNvSpPr>
            <a:spLocks noGrp="1"/>
          </p:cNvSpPr>
          <p:nvPr/>
        </p:nvSpPr>
        <p:spPr>
          <a:xfrm>
            <a:off x="1352550" y="2724150"/>
            <a:ext cx="2400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 和 /health endpoint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確認可以直接 python app.py 啟動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F53CA1F-CD5A-4227-8061-358F28D46B1F}"/>
              </a:ext>
            </a:extLst>
          </p:cNvPr>
          <p:cNvSpPr>
            <a:spLocks noGrp="1"/>
          </p:cNvSpPr>
          <p:nvPr/>
        </p:nvSpPr>
        <p:spPr>
          <a:xfrm>
            <a:off x="45529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326F3-EF23-48DA-A0B2-FEDE8E6AE351}"/>
              </a:ext>
            </a:extLst>
          </p:cNvPr>
          <p:cNvSpPr>
            <a:spLocks noGrp="1"/>
          </p:cNvSpPr>
          <p:nvPr/>
        </p:nvSpPr>
        <p:spPr>
          <a:xfrm>
            <a:off x="4781550" y="21907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test_app.py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0D5FFC-682C-409C-965E-5D0911A4C278}"/>
              </a:ext>
            </a:extLst>
          </p:cNvPr>
          <p:cNvSpPr>
            <a:spLocks noGrp="1"/>
          </p:cNvSpPr>
          <p:nvPr/>
        </p:nvSpPr>
        <p:spPr>
          <a:xfrm>
            <a:off x="4781550" y="2724150"/>
            <a:ext cx="2400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pytest 測 Flask route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確認首頁與健康檢查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56971B24-DF87-498B-BDB4-787DE104D8D3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C9E5F2-0D18-4622-BD55-0940D1DF330D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requirements.txt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BF38D7-E5FA-4A52-A650-3019F4BFF2CC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400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+ pytest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CI 和本機都靠它安裝套件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561A5EF9-77C5-4038-A945-0BFCA6525957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5905500" cy="895350"/>
          </a:xfrm>
          <a:prstGeom prst="roundRect">
            <a:avLst>
              <a:gd name="adj" fmla="val 1063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01F46139-2303-42B3-8CAA-77A5B4800D4C}"/>
              </a:ext>
            </a:extLst>
          </p:cNvPr>
          <p:cNvSpPr>
            <a:spLocks noGrp="1"/>
          </p:cNvSpPr>
          <p:nvPr/>
        </p:nvSpPr>
        <p:spPr>
          <a:xfrm>
            <a:off x="3314700" y="49244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083DF39-B7CC-410A-97DA-1956112B26AE}"/>
              </a:ext>
            </a:extLst>
          </p:cNvPr>
          <p:cNvSpPr>
            <a:spLocks noGrp="1"/>
          </p:cNvSpPr>
          <p:nvPr/>
        </p:nvSpPr>
        <p:spPr>
          <a:xfrm>
            <a:off x="3486150" y="49244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AC28A91-4A1F-4E12-9D2A-0F3C7755F7E5}"/>
              </a:ext>
            </a:extLst>
          </p:cNvPr>
          <p:cNvSpPr>
            <a:spLocks noGrp="1"/>
          </p:cNvSpPr>
          <p:nvPr/>
        </p:nvSpPr>
        <p:spPr>
          <a:xfrm>
            <a:off x="3657600" y="49244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1DCB85-5BBC-4FBD-A83A-C0405A724144}"/>
              </a:ext>
            </a:extLst>
          </p:cNvPr>
          <p:cNvSpPr>
            <a:spLocks noGrp="1"/>
          </p:cNvSpPr>
          <p:nvPr/>
        </p:nvSpPr>
        <p:spPr>
          <a:xfrm>
            <a:off x="3352800" y="5181600"/>
            <a:ext cx="5486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7596" lnSpcReduction="20000"/>
          </a:bodyPr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 test_app.py -v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3758ED-7DF6-4572-88B8-51D574AEE70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EE1990-35C6-47F0-8B69-F3283890A40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596DAF-5DB6-429B-B104-A2395DD6660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5884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285F3312-3C28-43A8-A464-5C0B00CA25AD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7976ADE-83B3-45D9-B26F-0E9593408530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範例程式碼：app.py + 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EA4945-E9DC-48BB-9F10-9BD4220DD83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先把這兩個檔案補好，再進入 pytest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6D61FDEE-558C-4108-8959-4CABE31300D6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F4BD9CE-7C7F-4D27-BD3D-3A0C3C55794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4339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app.py
from flask import Flask, jsonify
app = Flask(__name__)
@app.route("/")
def hello():
    return "Hello Docker!"
@app.route("/health")
def health():
    data = dict(status="healthy")
    return jsonify(data)
if __name__ == "__main__":
    app.run(host="0.0.0.0", port=5000)
# requirements.txt
flask
pytest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6A64A36-D017-49A2-9FEC-0EAC9CBCBF87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F8F53ECB-6DC4-4243-B7EC-D5DDC3A4E4DD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90342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845985EA-A885-4B00-BA99-11771100A9A8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F85615-427D-40A4-9C55-0A6AD8B1D27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範例程式碼：test_app.py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A72A463-0DFE-4DE4-ABFF-9933642D5EF5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963F523E-C3A0-454F-BBDC-21B455E5D93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AC610F60-F613-4CF8-A3AF-26DBC89DA4B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
from app import app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pytest.fixture</a:t>
            </a:r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client():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app.config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["TESTING"] = True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with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app.test_client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() as client: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yield client</a:t>
            </a:r>
          </a:p>
          <a:p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test_hello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(client):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response =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client.get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("/")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response.status_code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== 200</a:t>
            </a:r>
          </a:p>
          <a:p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test_health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(client):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response =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client.get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("/health")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response.status_code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== 200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assert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response.get_json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()["status"] == "healthy"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A8A32F4-7C6A-4B47-B2C1-AFF175B03A2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5AE712EC-5692-40CA-AB4B-6623557B1ACD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9440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F67B77-3CB7-44AA-B3E6-BE2BAEC570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LOCAL TEST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17B823-D183-4B60-997B-E38C04D480C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先在本機跑一次 pytest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489AFA95-559D-4246-99C2-686D5739EAE0}"/>
              </a:ext>
            </a:extLst>
          </p:cNvPr>
          <p:cNvSpPr>
            <a:spLocks noGrp="1"/>
          </p:cNvSpPr>
          <p:nvPr/>
        </p:nvSpPr>
        <p:spPr>
          <a:xfrm>
            <a:off x="1066800" y="1562100"/>
            <a:ext cx="5905500" cy="2667000"/>
          </a:xfrm>
          <a:prstGeom prst="roundRect">
            <a:avLst>
              <a:gd name="adj" fmla="val 357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8CD667C-3BBD-495D-84FF-FED575D740B0}"/>
              </a:ext>
            </a:extLst>
          </p:cNvPr>
          <p:cNvSpPr>
            <a:spLocks noGrp="1"/>
          </p:cNvSpPr>
          <p:nvPr/>
        </p:nvSpPr>
        <p:spPr>
          <a:xfrm>
            <a:off x="1238250" y="17240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D75072F-EAFC-4B0C-B36A-2BAD6145A096}"/>
              </a:ext>
            </a:extLst>
          </p:cNvPr>
          <p:cNvSpPr>
            <a:spLocks noGrp="1"/>
          </p:cNvSpPr>
          <p:nvPr/>
        </p:nvSpPr>
        <p:spPr>
          <a:xfrm>
            <a:off x="1409700" y="17240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E2B98A1-8D9F-4E1D-ADFC-01CC77D501E9}"/>
              </a:ext>
            </a:extLst>
          </p:cNvPr>
          <p:cNvSpPr>
            <a:spLocks noGrp="1"/>
          </p:cNvSpPr>
          <p:nvPr/>
        </p:nvSpPr>
        <p:spPr>
          <a:xfrm>
            <a:off x="1581150" y="17240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D22891-C841-45D5-8255-04C1670B4ACD}"/>
              </a:ext>
            </a:extLst>
          </p:cNvPr>
          <p:cNvSpPr>
            <a:spLocks noGrp="1"/>
          </p:cNvSpPr>
          <p:nvPr/>
        </p:nvSpPr>
        <p:spPr>
          <a:xfrm>
            <a:off x="1276350" y="1981200"/>
            <a:ext cx="5486400" cy="2114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>
            <a:r>
              <a:rPr lang="en-US"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python -m </a:t>
            </a:r>
            <a:r>
              <a:rPr lang="en-US"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  <a:r>
              <a:rPr lang="en-US"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–v</a:t>
            </a:r>
          </a:p>
          <a:p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expected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test_hello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PASSED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test_health</a:t>
            </a: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PASSED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EAF7689-6295-4CB3-BDDB-913E315778FD}"/>
              </a:ext>
            </a:extLst>
          </p:cNvPr>
          <p:cNvSpPr>
            <a:spLocks noGrp="1"/>
          </p:cNvSpPr>
          <p:nvPr/>
        </p:nvSpPr>
        <p:spPr>
          <a:xfrm>
            <a:off x="7658100" y="1885950"/>
            <a:ext cx="3143250" cy="1733550"/>
          </a:xfrm>
          <a:prstGeom prst="roundRect">
            <a:avLst>
              <a:gd name="adj" fmla="val 6593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8B3090-F951-4DDA-8921-486A0BB3D96F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為什麼本機先跑？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495F33-34ED-47D4-B959-500911BF759E}"/>
              </a:ext>
            </a:extLst>
          </p:cNvPr>
          <p:cNvSpPr>
            <a:spLocks noGrp="1"/>
          </p:cNvSpPr>
          <p:nvPr/>
        </p:nvSpPr>
        <p:spPr>
          <a:xfrm>
            <a:off x="7886700" y="2495550"/>
            <a:ext cx="26860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036" lnSpcReduction="10000"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CI 不是拿來替你猜問題。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先確認 Flask route 測試能跑，再交給 runner 自動重複。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A39C1A53-9741-4E93-AC0A-8B544EA199E9}"/>
              </a:ext>
            </a:extLst>
          </p:cNvPr>
          <p:cNvSpPr>
            <a:spLocks noGrp="1"/>
          </p:cNvSpPr>
          <p:nvPr/>
        </p:nvSpPr>
        <p:spPr>
          <a:xfrm>
            <a:off x="1885950" y="5048250"/>
            <a:ext cx="842010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A6BFF3-7953-449B-B616-06CEA9C1C115}"/>
              </a:ext>
            </a:extLst>
          </p:cNvPr>
          <p:cNvSpPr>
            <a:spLocks noGrp="1"/>
          </p:cNvSpPr>
          <p:nvPr/>
        </p:nvSpPr>
        <p:spPr>
          <a:xfrm>
            <a:off x="2228850" y="5200650"/>
            <a:ext cx="7734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本機過關後，再把同一套測試寫進 workflow。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417114-29E5-48D9-8380-A9E4C876F77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806F22-3F73-4E80-8CC7-C0F4564536F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DF765C-7E88-491C-95F1-0595097778E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903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D555707D-D07B-43EC-BEC8-F953B2E371B3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6774D90-6746-441F-81FD-6E34AE1503BF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範例程式碼：Python CI workflow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318FC96-3B33-489B-8949-D2E614984C4A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6CB4457-06A4-4EA8-8638-76044C4D2E60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06183F5-AAA4-480D-9E4A-AD5806164BDF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4855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Python CI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on: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push: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branches: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main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拉取程式碼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actions/checkout@v4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安裝</a:t>
            </a:r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Python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actions/setup-python@v5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with: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python-version: '3.11'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安裝依賴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53CECDD-4966-4E0D-BEB4-F9DBDE44D943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FCA463B-8342-4105-9491-F71A4CDE2DB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24600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0C028302-951B-4114-A60F-F7CC64D7656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A6758D9-0850-4C9D-8B19-FF5414C0CC38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範例程式碼：Python CI workflow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B9BEFA4-02C2-49B4-A111-8F408F2A5AD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AF732073-6242-4EE4-850A-044DF67E5846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D84D12E6-F9D9-4600-A5C2-D4E4990A3C13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800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pip install -r requirements.txt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執行測試</a:t>
            </a:r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</a:t>
            </a:r>
            <a:r>
              <a:rPr lang="en-US"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python -m </a:t>
            </a:r>
            <a:r>
              <a:rPr lang="en-US"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  <a:r>
              <a:rPr lang="en-US"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-v</a:t>
            </a:r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5012449-C767-4DA1-B3E9-CCA93D9D2E3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D9929A9-0428-4A31-85F0-46E6F13DA420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D5F8D61-B0C3-5E0E-D94C-00C89367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 -m pytest -v</a:t>
            </a:r>
            <a:r>
              <a:rPr kumimoji="0" lang="zh-TW" altLang="zh-TW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22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B75DCAB-FBBE-4AEF-94E7-110DEA31DC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RED / GREEN FEEDBACK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9D2256-7C31-4B84-B68C-7E339CD35A7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CI 的價值：壞掉馬上紅燈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6B4F3B1B-45EF-4FAD-8F95-5A521DBCC0D1}"/>
              </a:ext>
            </a:extLst>
          </p:cNvPr>
          <p:cNvSpPr>
            <a:spLocks noGrp="1"/>
          </p:cNvSpPr>
          <p:nvPr/>
        </p:nvSpPr>
        <p:spPr>
          <a:xfrm>
            <a:off x="1333500" y="20383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202813-8E8E-47D4-8FCC-250329920CDE}"/>
              </a:ext>
            </a:extLst>
          </p:cNvPr>
          <p:cNvSpPr>
            <a:spLocks noGrp="1"/>
          </p:cNvSpPr>
          <p:nvPr/>
        </p:nvSpPr>
        <p:spPr>
          <a:xfrm>
            <a:off x="1562100" y="2228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綠燈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07883A-3CBC-47AE-B922-145625773481}"/>
              </a:ext>
            </a:extLst>
          </p:cNvPr>
          <p:cNvSpPr>
            <a:spLocks noGrp="1"/>
          </p:cNvSpPr>
          <p:nvPr/>
        </p:nvSpPr>
        <p:spPr>
          <a:xfrm>
            <a:off x="1562100" y="2876550"/>
            <a:ext cx="2590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測試通過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可以往下一步前進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A23F4873-6CB3-4507-A37D-52F0635BBC46}"/>
              </a:ext>
            </a:extLst>
          </p:cNvPr>
          <p:cNvSpPr>
            <a:spLocks noGrp="1"/>
          </p:cNvSpPr>
          <p:nvPr/>
        </p:nvSpPr>
        <p:spPr>
          <a:xfrm>
            <a:off x="4781550" y="2667000"/>
            <a:ext cx="819150" cy="3429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3C644DB-129F-4175-A017-0C172F87FE3F}"/>
              </a:ext>
            </a:extLst>
          </p:cNvPr>
          <p:cNvSpPr>
            <a:spLocks noGrp="1"/>
          </p:cNvSpPr>
          <p:nvPr/>
        </p:nvSpPr>
        <p:spPr>
          <a:xfrm>
            <a:off x="6019800" y="20383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39D88B-83B9-482F-93D6-185B74728C97}"/>
              </a:ext>
            </a:extLst>
          </p:cNvPr>
          <p:cNvSpPr>
            <a:spLocks noGrp="1"/>
          </p:cNvSpPr>
          <p:nvPr/>
        </p:nvSpPr>
        <p:spPr>
          <a:xfrm>
            <a:off x="6248400" y="22288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紅燈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85F2F4-5C90-4900-9A51-2091C8B86CA2}"/>
              </a:ext>
            </a:extLst>
          </p:cNvPr>
          <p:cNvSpPr>
            <a:spLocks noGrp="1"/>
          </p:cNvSpPr>
          <p:nvPr/>
        </p:nvSpPr>
        <p:spPr>
          <a:xfrm>
            <a:off x="6248400" y="2876550"/>
            <a:ext cx="2590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測試失敗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停止，不要 build 或部署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DDB4899-FA92-41D3-8EEE-76D4399C92C9}"/>
              </a:ext>
            </a:extLst>
          </p:cNvPr>
          <p:cNvSpPr>
            <a:spLocks noGrp="1"/>
          </p:cNvSpPr>
          <p:nvPr/>
        </p:nvSpPr>
        <p:spPr>
          <a:xfrm>
            <a:off x="2209800" y="4629150"/>
            <a:ext cx="7772400" cy="723900"/>
          </a:xfrm>
          <a:prstGeom prst="roundRect">
            <a:avLst>
              <a:gd name="adj" fmla="val 1315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9E5ABEE-03E7-43CB-9570-AAAA8E3F45DE}"/>
              </a:ext>
            </a:extLst>
          </p:cNvPr>
          <p:cNvSpPr>
            <a:spLocks noGrp="1"/>
          </p:cNvSpPr>
          <p:nvPr/>
        </p:nvSpPr>
        <p:spPr>
          <a:xfrm>
            <a:off x="2381250" y="47910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38DF322-91C8-48EA-8052-6963576FA684}"/>
              </a:ext>
            </a:extLst>
          </p:cNvPr>
          <p:cNvSpPr>
            <a:spLocks noGrp="1"/>
          </p:cNvSpPr>
          <p:nvPr/>
        </p:nvSpPr>
        <p:spPr>
          <a:xfrm>
            <a:off x="2552700" y="47910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B462F3F-BB6B-43E2-9529-813BD8562E51}"/>
              </a:ext>
            </a:extLst>
          </p:cNvPr>
          <p:cNvSpPr>
            <a:spLocks noGrp="1"/>
          </p:cNvSpPr>
          <p:nvPr/>
        </p:nvSpPr>
        <p:spPr>
          <a:xfrm>
            <a:off x="2724150" y="47910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B6703C-8438-4671-AA11-9A01232F2B83}"/>
              </a:ext>
            </a:extLst>
          </p:cNvPr>
          <p:cNvSpPr>
            <a:spLocks noGrp="1"/>
          </p:cNvSpPr>
          <p:nvPr/>
        </p:nvSpPr>
        <p:spPr>
          <a:xfrm>
            <a:off x="2419350" y="5048250"/>
            <a:ext cx="7353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059" lnSpcReduction="20000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FAILED test_app.py::test_health - assert "broken" == "healthy"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A38ED2-3096-4CA3-954F-0141C96CD68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E8ECB9-3C29-45E1-BAC7-6EF526CB437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A04937-9355-45FF-95C9-54A8E219C56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25766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8A16B8F6-6448-4ABB-9B13-90981CA676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77AEB8-F755-43CE-B6C2-4B93184CB6E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P2：寫一個有 bug 的測試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377CDBCD-AA31-47BC-8CAA-894EB306724D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9B387B6-D697-4286-98A6-5F885004A8B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FA0198-F9D6-4FCF-ADAE-19EB00590606}"/>
              </a:ext>
            </a:extLst>
          </p:cNvPr>
          <p:cNvSpPr>
            <a:spLocks noGrp="1"/>
          </p:cNvSpPr>
          <p:nvPr/>
        </p:nvSpPr>
        <p:spPr>
          <a:xfrm>
            <a:off x="1771650" y="21621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C625B8-4DB6-49D3-A46E-76363C2E2894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新增 divide(a, b)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E8B123-4829-4B31-A804-BCB39EDE678C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包含除以 0 的情境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9D3C0A3-DC2E-41AA-9C69-6E97F84BECEA}"/>
              </a:ext>
            </a:extLst>
          </p:cNvPr>
          <p:cNvSpPr>
            <a:spLocks noGrp="1"/>
          </p:cNvSpPr>
          <p:nvPr/>
        </p:nvSpPr>
        <p:spPr>
          <a:xfrm>
            <a:off x="3657600" y="17716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34B9C01-D219-4492-9840-894212719C68}"/>
              </a:ext>
            </a:extLst>
          </p:cNvPr>
          <p:cNvSpPr>
            <a:spLocks noGrp="1"/>
          </p:cNvSpPr>
          <p:nvPr/>
        </p:nvSpPr>
        <p:spPr>
          <a:xfrm>
            <a:off x="4629150" y="20383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1CFE58-80C3-40D1-9D49-06363911BA52}"/>
              </a:ext>
            </a:extLst>
          </p:cNvPr>
          <p:cNvSpPr>
            <a:spLocks noGrp="1"/>
          </p:cNvSpPr>
          <p:nvPr/>
        </p:nvSpPr>
        <p:spPr>
          <a:xfrm>
            <a:off x="4629150" y="21621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614616-88B0-4698-A87B-11E09FA56B6C}"/>
              </a:ext>
            </a:extLst>
          </p:cNvPr>
          <p:cNvSpPr>
            <a:spLocks noGrp="1"/>
          </p:cNvSpPr>
          <p:nvPr/>
        </p:nvSpPr>
        <p:spPr>
          <a:xfrm>
            <a:off x="3867150" y="2819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新增 test_divide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C35562-0D4B-4155-8A07-E5B053E98910}"/>
              </a:ext>
            </a:extLst>
          </p:cNvPr>
          <p:cNvSpPr>
            <a:spLocks noGrp="1"/>
          </p:cNvSpPr>
          <p:nvPr/>
        </p:nvSpPr>
        <p:spPr>
          <a:xfrm>
            <a:off x="3867150" y="32575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先寫出預期行為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77AADFFE-E3B9-44E4-AF5C-E5AE129E33C4}"/>
              </a:ext>
            </a:extLst>
          </p:cNvPr>
          <p:cNvSpPr>
            <a:spLocks noGrp="1"/>
          </p:cNvSpPr>
          <p:nvPr/>
        </p:nvSpPr>
        <p:spPr>
          <a:xfrm>
            <a:off x="6515100" y="17716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1CE4EBF-FC46-4BEE-B03E-086A5A9A56A1}"/>
              </a:ext>
            </a:extLst>
          </p:cNvPr>
          <p:cNvSpPr>
            <a:spLocks noGrp="1"/>
          </p:cNvSpPr>
          <p:nvPr/>
        </p:nvSpPr>
        <p:spPr>
          <a:xfrm>
            <a:off x="7486650" y="2038350"/>
            <a:ext cx="533400" cy="533400"/>
          </a:xfrm>
          <a:prstGeom prst="ellipse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3F387-D357-45D9-8791-25D8A624BA38}"/>
              </a:ext>
            </a:extLst>
          </p:cNvPr>
          <p:cNvSpPr>
            <a:spLocks noGrp="1"/>
          </p:cNvSpPr>
          <p:nvPr/>
        </p:nvSpPr>
        <p:spPr>
          <a:xfrm>
            <a:off x="7486650" y="21621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EFA9E6-2FF8-44B2-9067-3A2AE6213BBD}"/>
              </a:ext>
            </a:extLst>
          </p:cNvPr>
          <p:cNvSpPr>
            <a:spLocks noGrp="1"/>
          </p:cNvSpPr>
          <p:nvPr/>
        </p:nvSpPr>
        <p:spPr>
          <a:xfrm>
            <a:off x="6724650" y="2819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故意失敗一次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FD3A60-4847-4A1A-8D7E-A64FA8A67543}"/>
              </a:ext>
            </a:extLst>
          </p:cNvPr>
          <p:cNvSpPr>
            <a:spLocks noGrp="1"/>
          </p:cNvSpPr>
          <p:nvPr/>
        </p:nvSpPr>
        <p:spPr>
          <a:xfrm>
            <a:off x="6724650" y="32575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push 看 CI 紅燈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9A3E52F9-F8FE-4022-A0AC-781115F83440}"/>
              </a:ext>
            </a:extLst>
          </p:cNvPr>
          <p:cNvSpPr>
            <a:spLocks noGrp="1"/>
          </p:cNvSpPr>
          <p:nvPr/>
        </p:nvSpPr>
        <p:spPr>
          <a:xfrm>
            <a:off x="9372600" y="1771650"/>
            <a:ext cx="2476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56B3AC4-7240-4A2A-B9FC-9840525B1E4E}"/>
              </a:ext>
            </a:extLst>
          </p:cNvPr>
          <p:cNvSpPr>
            <a:spLocks noGrp="1"/>
          </p:cNvSpPr>
          <p:nvPr/>
        </p:nvSpPr>
        <p:spPr>
          <a:xfrm>
            <a:off x="10344150" y="2038350"/>
            <a:ext cx="533400" cy="533400"/>
          </a:xfrm>
          <a:prstGeom prst="ellipse">
            <a:avLst/>
          </a:prstGeom>
          <a:solidFill>
            <a:srgbClr val="00A97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3AAA7C-5C9C-46A6-84FF-92159B7DA6B9}"/>
              </a:ext>
            </a:extLst>
          </p:cNvPr>
          <p:cNvSpPr>
            <a:spLocks noGrp="1"/>
          </p:cNvSpPr>
          <p:nvPr/>
        </p:nvSpPr>
        <p:spPr>
          <a:xfrm>
            <a:off x="10344150" y="2162175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8DB96E-5274-41A7-9905-992BD4081E75}"/>
              </a:ext>
            </a:extLst>
          </p:cNvPr>
          <p:cNvSpPr>
            <a:spLocks noGrp="1"/>
          </p:cNvSpPr>
          <p:nvPr/>
        </p:nvSpPr>
        <p:spPr>
          <a:xfrm>
            <a:off x="9582150" y="2819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修好再 push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F6CA48-8D6B-48F1-9B1D-E14B3BE6497A}"/>
              </a:ext>
            </a:extLst>
          </p:cNvPr>
          <p:cNvSpPr>
            <a:spLocks noGrp="1"/>
          </p:cNvSpPr>
          <p:nvPr/>
        </p:nvSpPr>
        <p:spPr>
          <a:xfrm>
            <a:off x="9582150" y="32575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確認回到綠燈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DEC239A5-E9B5-4479-B80B-33C9CC766E0C}"/>
              </a:ext>
            </a:extLst>
          </p:cNvPr>
          <p:cNvSpPr>
            <a:spLocks noGrp="1"/>
          </p:cNvSpPr>
          <p:nvPr/>
        </p:nvSpPr>
        <p:spPr>
          <a:xfrm>
            <a:off x="1809750" y="4743450"/>
            <a:ext cx="8572500" cy="685800"/>
          </a:xfrm>
          <a:prstGeom prst="roundRect">
            <a:avLst>
              <a:gd name="adj" fmla="val 1388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6FD1E1-03F8-45BF-883B-8415D4AF7909}"/>
              </a:ext>
            </a:extLst>
          </p:cNvPr>
          <p:cNvSpPr>
            <a:spLocks noGrp="1"/>
          </p:cNvSpPr>
          <p:nvPr/>
        </p:nvSpPr>
        <p:spPr>
          <a:xfrm>
            <a:off x="2190750" y="4972050"/>
            <a:ext cx="781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完成標準：能解釋哪個測試失敗、為什麼失敗、修好後為什麼變綠。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63EF79-6873-4764-AB0C-2D6AA7F1638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911279E-2FAD-4E73-90D8-A30586614EE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52698F-9B49-46CF-A7EC-14C2BDABEB9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12605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3A532D0-417D-4DF7-8147-0E52A5BD04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IN PIPELINE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20A597-74B2-4D78-98CF-0A9CFC5A0C8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Docker 加進 CI 流程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rcRect l="6031" r="6031"/>
          <a:stretch>
            <a:fillRect/>
          </a:stretch>
        </p:blipFill>
        <p:spPr>
          <a:xfrm>
            <a:off x="6553200" y="1352550"/>
            <a:ext cx="4762500" cy="3048000"/>
          </a:xfrm>
          <a:prstGeom prst="roundRect">
            <a:avLst/>
          </a:prstGeom>
        </p:spPr>
      </p:pic>
      <p:sp>
        <p:nvSpPr>
          <p:cNvPr id="4" name="圓角矩形 3">
            <a:extLst>
              <a:ext uri="{FF2B5EF4-FFF2-40B4-BE49-F238E27FC236}">
                <a16:creationId xmlns:a16="http://schemas.microsoft.com/office/drawing/2014/main" id="{79947ED8-807D-4B6A-AE54-12053A635B2B}"/>
              </a:ext>
            </a:extLst>
          </p:cNvPr>
          <p:cNvSpPr>
            <a:spLocks noGrp="1"/>
          </p:cNvSpPr>
          <p:nvPr/>
        </p:nvSpPr>
        <p:spPr>
          <a:xfrm>
            <a:off x="6553200" y="1352550"/>
            <a:ext cx="4762500" cy="3048000"/>
          </a:xfrm>
          <a:prstGeom prst="roundRect">
            <a:avLst>
              <a:gd name="adj" fmla="val 4375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E50976C-9875-4A19-BC92-3B36A439A13D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4381500" cy="2095500"/>
          </a:xfrm>
          <a:prstGeom prst="roundRect">
            <a:avLst>
              <a:gd name="adj" fmla="val 545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D54416-7C0E-4E2B-ADDD-8B2D15E3D963}"/>
              </a:ext>
            </a:extLst>
          </p:cNvPr>
          <p:cNvSpPr>
            <a:spLocks noGrp="1"/>
          </p:cNvSpPr>
          <p:nvPr/>
        </p:nvSpPr>
        <p:spPr>
          <a:xfrm>
            <a:off x="1219200" y="18478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ctr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目標流程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7CF585-C13F-47E6-9FCA-EEC44DC1A65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3924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193"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git push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自動跑測試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測試通過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build Docker Image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run container / curl /health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FA85965-17C2-4AF2-B6C5-817845D95D95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839200" cy="533400"/>
          </a:xfrm>
          <a:prstGeom prst="roundRect">
            <a:avLst>
              <a:gd name="adj" fmla="val 1785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5AF7C9-78FB-4230-BC73-34CF8CA4F6D4}"/>
              </a:ext>
            </a:extLst>
          </p:cNvPr>
          <p:cNvSpPr>
            <a:spLocks noGrp="1"/>
          </p:cNvSpPr>
          <p:nvPr/>
        </p:nvSpPr>
        <p:spPr>
          <a:xfrm>
            <a:off x="2038350" y="5029200"/>
            <a:ext cx="811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health check 通過後才 push 到 Docker Hub，避免壞 image 被上傳。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E006CF-25B2-4BC7-B9DE-05352547A7A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76780-F3C2-467A-85FB-B4794E306CB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C45C65-511E-4A2A-90FE-BA53D473968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10798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2C96558-8977-409F-9D87-752DF6A6857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0CBC7D-E7C6-4A7A-B158-7167EDC6FAA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Dockerfile：沿用第 4 堂 Web App Image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F505CAF-5EC0-48E3-A235-E3F137AEEB6D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6381750" cy="3257550"/>
          </a:xfrm>
          <a:prstGeom prst="roundRect">
            <a:avLst>
              <a:gd name="adj" fmla="val 292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933C778-5991-4A71-90CF-D1F9C26E10F8}"/>
              </a:ext>
            </a:extLst>
          </p:cNvPr>
          <p:cNvSpPr>
            <a:spLocks noGrp="1"/>
          </p:cNvSpPr>
          <p:nvPr/>
        </p:nvSpPr>
        <p:spPr>
          <a:xfrm>
            <a:off x="1047750" y="16859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B83D431-304D-4BA7-91C5-9E9682DAFC59}"/>
              </a:ext>
            </a:extLst>
          </p:cNvPr>
          <p:cNvSpPr>
            <a:spLocks noGrp="1"/>
          </p:cNvSpPr>
          <p:nvPr/>
        </p:nvSpPr>
        <p:spPr>
          <a:xfrm>
            <a:off x="1219200" y="16859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5D667F6-5674-4F44-820E-F7F06979F961}"/>
              </a:ext>
            </a:extLst>
          </p:cNvPr>
          <p:cNvSpPr>
            <a:spLocks noGrp="1"/>
          </p:cNvSpPr>
          <p:nvPr/>
        </p:nvSpPr>
        <p:spPr>
          <a:xfrm>
            <a:off x="1390650" y="16859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1C5A16-5704-4DDE-A226-9C416F9CE3B4}"/>
              </a:ext>
            </a:extLst>
          </p:cNvPr>
          <p:cNvSpPr>
            <a:spLocks noGrp="1"/>
          </p:cNvSpPr>
          <p:nvPr/>
        </p:nvSpPr>
        <p:spPr>
          <a:xfrm>
            <a:off x="1085850" y="1943100"/>
            <a:ext cx="596265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>
            <a:r>
              <a:rPr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update \</a:t>
            </a:r>
          </a:p>
          <a:p>
            <a:r>
              <a:rPr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&amp;&amp; apt-get install -y nano </a:t>
            </a:r>
          </a:p>
          <a:p>
            <a:endParaRPr sz="15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>
            <a:r>
              <a:rPr sz="15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-r requirements.txt</a:t>
            </a:r>
          </a:p>
          <a:p>
            <a:endParaRPr sz="15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50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dirty="0"/>
              <a:t>EXPOSE 5000</a:t>
            </a:r>
          </a:p>
          <a:p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"app.py"]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15EAD45-CB8F-417C-9D65-78E94F25F54A}"/>
              </a:ext>
            </a:extLst>
          </p:cNvPr>
          <p:cNvSpPr>
            <a:spLocks noGrp="1"/>
          </p:cNvSpPr>
          <p:nvPr/>
        </p:nvSpPr>
        <p:spPr>
          <a:xfrm>
            <a:off x="7905750" y="2133600"/>
            <a:ext cx="3048000" cy="165735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340A70-DEA7-4984-983E-67504496A90F}"/>
              </a:ext>
            </a:extLst>
          </p:cNvPr>
          <p:cNvSpPr>
            <a:spLocks noGrp="1"/>
          </p:cNvSpPr>
          <p:nvPr/>
        </p:nvSpPr>
        <p:spPr>
          <a:xfrm>
            <a:off x="8134350" y="23241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502" lnSpcReduction="10000"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這個 Image 跑起來會做什麼？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52F5AE-5F1D-405E-B80D-C9131FD60D0B}"/>
              </a:ext>
            </a:extLst>
          </p:cNvPr>
          <p:cNvSpPr>
            <a:spLocks noGrp="1"/>
          </p:cNvSpPr>
          <p:nvPr/>
        </p:nvSpPr>
        <p:spPr>
          <a:xfrm>
            <a:off x="8134350" y="2838450"/>
            <a:ext cx="2590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487" lnSpcReduction="10000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啟動 Flask Web server。</a:t>
            </a:r>
          </a:p>
          <a:p>
            <a:endParaRPr sz="1500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CI 會先 build image，再真的 run container 測 /health。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C0C66-7ED1-4801-8298-E9BCBB16872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8F040B-ED30-4359-BF5D-B9C40E855CE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694F9D-21D0-4CB3-A304-87C34EBB61F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23228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931AC82-67D2-4DAA-8007-64973AE6A71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F561EE-F827-4933-B2D0-DAF4C9133B3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Hub 密碼要放在 Secrets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12EF7AE8-D89E-4BE3-9CA7-F3C696FF1C84}"/>
              </a:ext>
            </a:extLst>
          </p:cNvPr>
          <p:cNvSpPr>
            <a:spLocks noGrp="1"/>
          </p:cNvSpPr>
          <p:nvPr/>
        </p:nvSpPr>
        <p:spPr>
          <a:xfrm>
            <a:off x="1009650" y="1790700"/>
            <a:ext cx="4381500" cy="2095500"/>
          </a:xfrm>
          <a:prstGeom prst="roundRect">
            <a:avLst>
              <a:gd name="adj" fmla="val 5455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E78C85-4CE1-46F8-8836-0AC4FE6BF12A}"/>
              </a:ext>
            </a:extLst>
          </p:cNvPr>
          <p:cNvSpPr>
            <a:spLocks noGrp="1"/>
          </p:cNvSpPr>
          <p:nvPr/>
        </p:nvSpPr>
        <p:spPr>
          <a:xfrm>
            <a:off x="1238250" y="19812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不要寫在 workflow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392BB8-F3D2-43E8-B148-83E9715B6180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3924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會 commit 進 Git。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只要 repository 可見，敏感資訊就有外洩風險。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60C2AC3C-5102-4EAC-BFEA-A440AFE79914}"/>
              </a:ext>
            </a:extLst>
          </p:cNvPr>
          <p:cNvSpPr>
            <a:spLocks noGrp="1"/>
          </p:cNvSpPr>
          <p:nvPr/>
        </p:nvSpPr>
        <p:spPr>
          <a:xfrm>
            <a:off x="5772150" y="2628900"/>
            <a:ext cx="8001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2245F53F-7AC3-488A-8AEA-816EAFD91C51}"/>
              </a:ext>
            </a:extLst>
          </p:cNvPr>
          <p:cNvSpPr>
            <a:spLocks noGrp="1"/>
          </p:cNvSpPr>
          <p:nvPr/>
        </p:nvSpPr>
        <p:spPr>
          <a:xfrm>
            <a:off x="6896100" y="1790700"/>
            <a:ext cx="4381500" cy="2095500"/>
          </a:xfrm>
          <a:prstGeom prst="roundRect">
            <a:avLst>
              <a:gd name="adj" fmla="val 545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F39A96-261B-4EDC-8873-181F74AD7EB3}"/>
              </a:ext>
            </a:extLst>
          </p:cNvPr>
          <p:cNvSpPr>
            <a:spLocks noGrp="1"/>
          </p:cNvSpPr>
          <p:nvPr/>
        </p:nvSpPr>
        <p:spPr>
          <a:xfrm>
            <a:off x="7124700" y="19812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放進 GitHub Secrets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B92720-6491-4DCC-90C2-D57DE63F0AB6}"/>
              </a:ext>
            </a:extLst>
          </p:cNvPr>
          <p:cNvSpPr>
            <a:spLocks noGrp="1"/>
          </p:cNvSpPr>
          <p:nvPr/>
        </p:nvSpPr>
        <p:spPr>
          <a:xfrm>
            <a:off x="7124700" y="2571750"/>
            <a:ext cx="3924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加密儲存。</a:t>
            </a:r>
          </a:p>
          <a:p>
            <a:endParaRPr sz="157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 執行時才讀取，log 中不會直接顯示值。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BC3E60D9-AE5E-483A-9A84-23A1003DBD95}"/>
              </a:ext>
            </a:extLst>
          </p:cNvPr>
          <p:cNvSpPr>
            <a:spLocks noGrp="1"/>
          </p:cNvSpPr>
          <p:nvPr/>
        </p:nvSpPr>
        <p:spPr>
          <a:xfrm>
            <a:off x="3257550" y="4838700"/>
            <a:ext cx="5676900" cy="895350"/>
          </a:xfrm>
          <a:prstGeom prst="roundRect">
            <a:avLst>
              <a:gd name="adj" fmla="val 1063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5ED092D-A684-4576-94D4-3C36B5E0EA7D}"/>
              </a:ext>
            </a:extLst>
          </p:cNvPr>
          <p:cNvSpPr>
            <a:spLocks noGrp="1"/>
          </p:cNvSpPr>
          <p:nvPr/>
        </p:nvSpPr>
        <p:spPr>
          <a:xfrm>
            <a:off x="3429000" y="50006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53A280B-DD83-45CE-BD86-39CDB44D1FA7}"/>
              </a:ext>
            </a:extLst>
          </p:cNvPr>
          <p:cNvSpPr>
            <a:spLocks noGrp="1"/>
          </p:cNvSpPr>
          <p:nvPr/>
        </p:nvSpPr>
        <p:spPr>
          <a:xfrm>
            <a:off x="3600450" y="50006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DDE7E494-5EB8-4CED-92E9-5D6B8A8A79E8}"/>
              </a:ext>
            </a:extLst>
          </p:cNvPr>
          <p:cNvSpPr>
            <a:spLocks noGrp="1"/>
          </p:cNvSpPr>
          <p:nvPr/>
        </p:nvSpPr>
        <p:spPr>
          <a:xfrm>
            <a:off x="3771900" y="50006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642143-92B2-47B1-A728-4C329153BB14}"/>
              </a:ext>
            </a:extLst>
          </p:cNvPr>
          <p:cNvSpPr>
            <a:spLocks noGrp="1"/>
          </p:cNvSpPr>
          <p:nvPr/>
        </p:nvSpPr>
        <p:spPr>
          <a:xfrm>
            <a:off x="3467100" y="5257800"/>
            <a:ext cx="5257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9011" lnSpcReduction="20000"/>
          </a:bodyPr>
          <a:lstStyle/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DOCKERHUB_USERNAME</a:t>
            </a:r>
          </a:p>
          <a:p>
            <a:pPr algn="l">
              <a:lnSpc>
                <a:spcPct val="104000"/>
              </a:lnSpc>
              <a:buNone/>
              <a:defRPr sz="21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DOCKERHUB_TOKEN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7C4486-B0EE-46CF-AB06-0136720AF0E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8C393B-E8B7-4A61-8F22-2536FBD443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FBB5F0-4FBE-4B4F-9A4D-5143A246614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5760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C71EB66-8145-4C71-97F6-B4FE9B33C3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56A742-1461-4CC0-BAF0-6FF4019BE5E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3：為什麼要用 Secrets？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0C4CB7DA-0F28-4864-ADA2-BBE8A71446E9}"/>
              </a:ext>
            </a:extLst>
          </p:cNvPr>
          <p:cNvSpPr>
            <a:spLocks noGrp="1"/>
          </p:cNvSpPr>
          <p:nvPr/>
        </p:nvSpPr>
        <p:spPr>
          <a:xfrm>
            <a:off x="1143000" y="1638300"/>
            <a:ext cx="4381500" cy="209550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9525">
            <a:solidFill>
              <a:srgbClr val="FB71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B24DFA-6E9F-40A0-B134-2F72668E2AEE}"/>
              </a:ext>
            </a:extLst>
          </p:cNvPr>
          <p:cNvSpPr>
            <a:spLocks noGrp="1"/>
          </p:cNvSpPr>
          <p:nvPr/>
        </p:nvSpPr>
        <p:spPr>
          <a:xfrm>
            <a:off x="1371600" y="18288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24" lnSpcReduction="10000"/>
          </a:bodyPr>
          <a:lstStyle/>
          <a:p>
            <a:pPr algn="ctr">
              <a:lnSpc>
                <a:spcPct val="106000"/>
              </a:lnSpc>
              <a:buNone/>
              <a:defRPr sz="232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問題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D81E3-BF6D-424C-AF8D-B3BB292C2A0E}"/>
              </a:ext>
            </a:extLst>
          </p:cNvPr>
          <p:cNvSpPr>
            <a:spLocks noGrp="1"/>
          </p:cNvSpPr>
          <p:nvPr/>
        </p:nvSpPr>
        <p:spPr>
          <a:xfrm>
            <a:off x="1371600" y="2476500"/>
            <a:ext cx="3924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為什麼 Docker Hub 的密碼不能直接寫在 workflow 檔案裡？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D22A2A4-C9E9-4908-8234-BA3BA22F5DBF}"/>
              </a:ext>
            </a:extLst>
          </p:cNvPr>
          <p:cNvSpPr>
            <a:spLocks noGrp="1"/>
          </p:cNvSpPr>
          <p:nvPr/>
        </p:nvSpPr>
        <p:spPr>
          <a:xfrm>
            <a:off x="6667500" y="1638300"/>
            <a:ext cx="4381500" cy="209550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4C2AA7-19E7-416D-8525-EA509B55D9E2}"/>
              </a:ext>
            </a:extLst>
          </p:cNvPr>
          <p:cNvSpPr>
            <a:spLocks noGrp="1"/>
          </p:cNvSpPr>
          <p:nvPr/>
        </p:nvSpPr>
        <p:spPr>
          <a:xfrm>
            <a:off x="6896100" y="18288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24" lnSpcReduction="10000"/>
          </a:bodyPr>
          <a:lstStyle/>
          <a:p>
            <a:pPr algn="ctr">
              <a:lnSpc>
                <a:spcPct val="106000"/>
              </a:lnSpc>
              <a:buNone/>
              <a:defRPr sz="23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討論提示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84672A-D51D-42E3-B943-FB73DC530AB9}"/>
              </a:ext>
            </a:extLst>
          </p:cNvPr>
          <p:cNvSpPr>
            <a:spLocks noGrp="1"/>
          </p:cNvSpPr>
          <p:nvPr/>
        </p:nvSpPr>
        <p:spPr>
          <a:xfrm>
            <a:off x="6896100" y="2476500"/>
            <a:ext cx="3924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workflow 檔案會進 Git，可能被看見。</a:t>
            </a:r>
          </a:p>
          <a:p>
            <a:endParaRPr sz="1650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Secrets 加密保存，只有 workflow 執行時能讀取，而且不會直接出現在 log。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B17BF62D-B145-4EFF-ACC2-AA35CE2CD34D}"/>
              </a:ext>
            </a:extLst>
          </p:cNvPr>
          <p:cNvSpPr>
            <a:spLocks noGrp="1"/>
          </p:cNvSpPr>
          <p:nvPr/>
        </p:nvSpPr>
        <p:spPr>
          <a:xfrm>
            <a:off x="2724150" y="4857750"/>
            <a:ext cx="6743700" cy="819150"/>
          </a:xfrm>
          <a:prstGeom prst="roundRect">
            <a:avLst>
              <a:gd name="adj" fmla="val 1162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A2D31D5-C28F-419C-9298-D7A400C604D4}"/>
              </a:ext>
            </a:extLst>
          </p:cNvPr>
          <p:cNvSpPr>
            <a:spLocks noGrp="1"/>
          </p:cNvSpPr>
          <p:nvPr/>
        </p:nvSpPr>
        <p:spPr>
          <a:xfrm>
            <a:off x="2895600" y="5019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EDA63BF-D81D-4730-A384-232DA9C3B213}"/>
              </a:ext>
            </a:extLst>
          </p:cNvPr>
          <p:cNvSpPr>
            <a:spLocks noGrp="1"/>
          </p:cNvSpPr>
          <p:nvPr/>
        </p:nvSpPr>
        <p:spPr>
          <a:xfrm>
            <a:off x="3067050" y="5019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63D1046-38FF-4F96-8CF9-A8FC193E7E86}"/>
              </a:ext>
            </a:extLst>
          </p:cNvPr>
          <p:cNvSpPr>
            <a:spLocks noGrp="1"/>
          </p:cNvSpPr>
          <p:nvPr/>
        </p:nvSpPr>
        <p:spPr>
          <a:xfrm>
            <a:off x="3238500" y="5019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809B2F-5A32-4207-9F21-BF0D4F3AE620}"/>
              </a:ext>
            </a:extLst>
          </p:cNvPr>
          <p:cNvSpPr>
            <a:spLocks noGrp="1"/>
          </p:cNvSpPr>
          <p:nvPr/>
        </p:nvSpPr>
        <p:spPr>
          <a:xfrm>
            <a:off x="2933700" y="5276850"/>
            <a:ext cx="632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491" lnSpcReduction="20000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username: ${{ secrets.DOCKERHUB_USERNAME }}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password: ${{ secrets.DOCKERHUB_TOKEN }}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E5DA7-6368-4A8A-A048-302E7B39830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1D7077-5F84-439A-A1D9-B694F353E28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E90610-2FFF-49D3-8A78-81BE3883A74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01395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C14EA95-7264-43B2-87BF-20017CB8FEC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DOCKER.YML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8AE103-C473-4A04-AFED-0C15CF7F923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 build、health check、push workflow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B5627A9-8DDE-408F-8202-2ADB28068157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6191250" cy="4343400"/>
          </a:xfrm>
          <a:prstGeom prst="roundRect">
            <a:avLst>
              <a:gd name="adj" fmla="val 219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15C77C6-2626-438E-9B84-BD105B671DC1}"/>
              </a:ext>
            </a:extLst>
          </p:cNvPr>
          <p:cNvSpPr>
            <a:spLocks noGrp="1"/>
          </p:cNvSpPr>
          <p:nvPr/>
        </p:nvSpPr>
        <p:spPr>
          <a:xfrm>
            <a:off x="895350" y="14192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AF8FE2C-1EE2-4C40-A17B-E9285503DBFF}"/>
              </a:ext>
            </a:extLst>
          </p:cNvPr>
          <p:cNvSpPr>
            <a:spLocks noGrp="1"/>
          </p:cNvSpPr>
          <p:nvPr/>
        </p:nvSpPr>
        <p:spPr>
          <a:xfrm>
            <a:off x="1066800" y="14192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4025DDC-A644-4990-A369-FDBD44FE4C52}"/>
              </a:ext>
            </a:extLst>
          </p:cNvPr>
          <p:cNvSpPr>
            <a:spLocks noGrp="1"/>
          </p:cNvSpPr>
          <p:nvPr/>
        </p:nvSpPr>
        <p:spPr>
          <a:xfrm>
            <a:off x="1238250" y="14192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5EF71A-C08D-4B9D-AD74-71A94B060FC2}"/>
              </a:ext>
            </a:extLst>
          </p:cNvPr>
          <p:cNvSpPr>
            <a:spLocks noGrp="1"/>
          </p:cNvSpPr>
          <p:nvPr/>
        </p:nvSpPr>
        <p:spPr>
          <a:xfrm>
            <a:off x="933450" y="1676400"/>
            <a:ext cx="5772150" cy="3790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test: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uses: actions/checkout@v4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uses: actions/setup-python@v5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run: pip install -r requirements.txt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run: 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test_app.py -v</a:t>
            </a:r>
          </a:p>
          <a:p>
            <a:endParaRPr sz="12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docker: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needs: test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uses: actions/checkout@v4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run: docker build -t 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image:latest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</a:t>
            </a:r>
            <a:r>
              <a:rPr lang="en-US"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run: docker run -d --name app -p 5000:5000 </a:t>
            </a:r>
            <a:r>
              <a:rPr lang="en-US"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image:latest</a:t>
            </a:r>
            <a:r>
              <a:rPr lang="en-US"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&amp;&amp; sleep 5 &amp;&amp; curl http://127.0.0.1:5000/health</a:t>
            </a:r>
            <a:endParaRPr sz="12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5299821-7244-4757-914E-320634E53024}"/>
              </a:ext>
            </a:extLst>
          </p:cNvPr>
          <p:cNvSpPr>
            <a:spLocks noGrp="1"/>
          </p:cNvSpPr>
          <p:nvPr/>
        </p:nvSpPr>
        <p:spPr>
          <a:xfrm>
            <a:off x="7696200" y="1619250"/>
            <a:ext cx="3238500" cy="2609850"/>
          </a:xfrm>
          <a:prstGeom prst="roundRect">
            <a:avLst>
              <a:gd name="adj" fmla="val 4380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5DC28C-FBDA-4A89-80EC-81B3842704EE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三個重點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B81F96-8C7C-4FE3-B229-5FC756061C20}"/>
              </a:ext>
            </a:extLst>
          </p:cNvPr>
          <p:cNvSpPr>
            <a:spLocks noGrp="1"/>
          </p:cNvSpPr>
          <p:nvPr/>
        </p:nvSpPr>
        <p:spPr>
          <a:xfrm>
            <a:off x="7924800" y="2305050"/>
            <a:ext cx="27813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710" lnSpcReduction="10000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needs: test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確保測試通過才 build。</a:t>
            </a:r>
          </a:p>
          <a:p>
            <a:endParaRPr sz="1500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health check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真的啟動容器並測 /health。</a:t>
            </a:r>
          </a:p>
          <a:p>
            <a:endParaRPr sz="1500" b="0">
              <a:solidFill>
                <a:srgbClr val="E2E8F0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docker push</a:t>
            </a:r>
          </a:p>
          <a:p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健康檢查通過後才 push。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266DF8-FF71-4AE9-AF2F-51D31DEFC84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CC03EA-A4BF-429E-94DF-48F4B71DA72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128A03-5A31-4997-943F-F7D2C4C1C92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03600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E951527-DB76-4530-A9B9-25ED38D7AC1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JOB DEPENDENCY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DEF75E-DFE7-4312-8863-0B0CFAF4454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needs: test 是保護門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A103DC72-0603-4F78-806A-E4793D6D3416}"/>
              </a:ext>
            </a:extLst>
          </p:cNvPr>
          <p:cNvSpPr>
            <a:spLocks noGrp="1"/>
          </p:cNvSpPr>
          <p:nvPr/>
        </p:nvSpPr>
        <p:spPr>
          <a:xfrm>
            <a:off x="1562100" y="2209800"/>
            <a:ext cx="2857500" cy="1504950"/>
          </a:xfrm>
          <a:prstGeom prst="roundRect">
            <a:avLst>
              <a:gd name="adj" fmla="val 759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AEB7E-370B-4F3A-80CA-FF70976220FA}"/>
              </a:ext>
            </a:extLst>
          </p:cNvPr>
          <p:cNvSpPr>
            <a:spLocks noGrp="1"/>
          </p:cNvSpPr>
          <p:nvPr/>
        </p:nvSpPr>
        <p:spPr>
          <a:xfrm>
            <a:off x="1790700" y="240030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24" lnSpcReduction="10000"/>
          </a:bodyPr>
          <a:lstStyle/>
          <a:p>
            <a:pPr algn="ctr">
              <a:lnSpc>
                <a:spcPct val="106000"/>
              </a:lnSpc>
              <a:buNone/>
              <a:def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test job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6EBFF1-6341-45C9-87F6-A1CFA23BADD9}"/>
              </a:ext>
            </a:extLst>
          </p:cNvPr>
          <p:cNvSpPr>
            <a:spLocks noGrp="1"/>
          </p:cNvSpPr>
          <p:nvPr/>
        </p:nvSpPr>
        <p:spPr>
          <a:xfrm>
            <a:off x="1790700" y="29908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跑 pytest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確認程式正確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0F7ACAF7-903E-46E5-A538-05F5CE987AF0}"/>
              </a:ext>
            </a:extLst>
          </p:cNvPr>
          <p:cNvSpPr>
            <a:spLocks noGrp="1"/>
          </p:cNvSpPr>
          <p:nvPr/>
        </p:nvSpPr>
        <p:spPr>
          <a:xfrm>
            <a:off x="4819650" y="2781300"/>
            <a:ext cx="952500" cy="38100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12BD9C8-F750-47F9-9CDF-B9682331F9E7}"/>
              </a:ext>
            </a:extLst>
          </p:cNvPr>
          <p:cNvSpPr>
            <a:spLocks noGrp="1"/>
          </p:cNvSpPr>
          <p:nvPr/>
        </p:nvSpPr>
        <p:spPr>
          <a:xfrm>
            <a:off x="6172200" y="2209800"/>
            <a:ext cx="2857500" cy="1504950"/>
          </a:xfrm>
          <a:prstGeom prst="roundRect">
            <a:avLst>
              <a:gd name="adj" fmla="val 7595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C2E3D9-5399-4688-9F49-148B7C1F27B7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24" lnSpcReduction="10000"/>
          </a:bodyPr>
          <a:lstStyle/>
          <a:p>
            <a:pPr algn="ctr">
              <a:lnSpc>
                <a:spcPct val="106000"/>
              </a:lnSpc>
              <a:buNone/>
              <a:def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job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3526AA-13BC-44F3-B5C2-3587D5A99AAA}"/>
              </a:ext>
            </a:extLst>
          </p:cNvPr>
          <p:cNvSpPr>
            <a:spLocks noGrp="1"/>
          </p:cNvSpPr>
          <p:nvPr/>
        </p:nvSpPr>
        <p:spPr>
          <a:xfrm>
            <a:off x="6400800" y="299085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Image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push Docker Hub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E64E5C1-9AB3-4872-A496-DB5826821E2D}"/>
              </a:ext>
            </a:extLst>
          </p:cNvPr>
          <p:cNvSpPr>
            <a:spLocks noGrp="1"/>
          </p:cNvSpPr>
          <p:nvPr/>
        </p:nvSpPr>
        <p:spPr>
          <a:xfrm>
            <a:off x="3676650" y="4400550"/>
            <a:ext cx="4838700" cy="990600"/>
          </a:xfrm>
          <a:prstGeom prst="roundRect">
            <a:avLst>
              <a:gd name="adj" fmla="val 11538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7B1721-0EAD-4348-95BD-8E8ED770CBB0}"/>
              </a:ext>
            </a:extLst>
          </p:cNvPr>
          <p:cNvSpPr>
            <a:spLocks noGrp="1"/>
          </p:cNvSpPr>
          <p:nvPr/>
        </p:nvSpPr>
        <p:spPr>
          <a:xfrm>
            <a:off x="3905250" y="45910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測試失敗時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E47E07-E340-4783-A760-0DBB43CEE29F}"/>
              </a:ext>
            </a:extLst>
          </p:cNvPr>
          <p:cNvSpPr>
            <a:spLocks noGrp="1"/>
          </p:cNvSpPr>
          <p:nvPr/>
        </p:nvSpPr>
        <p:spPr>
          <a:xfrm>
            <a:off x="3905250" y="4972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4670" lnSpcReduction="20000"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job 不會跑。</a:t>
            </a:r>
          </a:p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壞掉的程式不會被打包成 Image。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D3AF63-A596-4E2A-92E0-0273C47F4E5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040BC3-E2E3-4275-82B3-1899BBAB9C3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00EADF-3B55-48B2-8D5B-C4A6AD1F3C6A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11740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209566C-4CE2-4343-8F20-12499E80D0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WORKFLOW VARIABLES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F86D-F590-40A7-BC74-1258F044092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先用 latest 做 Image tag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E576F6A-C824-4D82-BEA0-F04F6A8CAAC4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7810500" cy="1257300"/>
          </a:xfrm>
          <a:prstGeom prst="roundRect">
            <a:avLst>
              <a:gd name="adj" fmla="val 7576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319131A-AA14-4B04-939B-8BE9E586340F}"/>
              </a:ext>
            </a:extLst>
          </p:cNvPr>
          <p:cNvSpPr>
            <a:spLocks noGrp="1"/>
          </p:cNvSpPr>
          <p:nvPr/>
        </p:nvSpPr>
        <p:spPr>
          <a:xfrm>
            <a:off x="1085850" y="17240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1144231-ABF3-4C4A-A2EA-193E4E5F5140}"/>
              </a:ext>
            </a:extLst>
          </p:cNvPr>
          <p:cNvSpPr>
            <a:spLocks noGrp="1"/>
          </p:cNvSpPr>
          <p:nvPr/>
        </p:nvSpPr>
        <p:spPr>
          <a:xfrm>
            <a:off x="1257300" y="17240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8B17E06-2D16-4519-B037-E013F47E63C6}"/>
              </a:ext>
            </a:extLst>
          </p:cNvPr>
          <p:cNvSpPr>
            <a:spLocks noGrp="1"/>
          </p:cNvSpPr>
          <p:nvPr/>
        </p:nvSpPr>
        <p:spPr>
          <a:xfrm>
            <a:off x="1428750" y="17240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0E1D48-786A-4E17-90DE-294B90430704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7391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119"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 tag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${{ secrets.DOCKERHUB_USERNAME }}/my-flask-app:latest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F415B7-728D-449E-A6E0-B0DDC799DAD5}"/>
              </a:ext>
            </a:extLst>
          </p:cNvPr>
          <p:cNvSpPr>
            <a:spLocks noGrp="1"/>
          </p:cNvSpPr>
          <p:nvPr/>
        </p:nvSpPr>
        <p:spPr>
          <a:xfrm>
            <a:off x="1466850" y="3562350"/>
            <a:ext cx="3714750" cy="1104900"/>
          </a:xfrm>
          <a:prstGeom prst="roundRect">
            <a:avLst>
              <a:gd name="adj" fmla="val 1034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525ECD-D243-4675-8662-6F0BFC9524CB}"/>
              </a:ext>
            </a:extLst>
          </p:cNvPr>
          <p:cNvSpPr>
            <a:spLocks noGrp="1"/>
          </p:cNvSpPr>
          <p:nvPr/>
        </p:nvSpPr>
        <p:spPr>
          <a:xfrm>
            <a:off x="1695450" y="375285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45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secrets.DOCKERHUB_USERNAME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8BD989-A23D-4BB0-BF1F-2D36A8A5B772}"/>
              </a:ext>
            </a:extLst>
          </p:cNvPr>
          <p:cNvSpPr>
            <a:spLocks noGrp="1"/>
          </p:cNvSpPr>
          <p:nvPr/>
        </p:nvSpPr>
        <p:spPr>
          <a:xfrm>
            <a:off x="1695450" y="4133850"/>
            <a:ext cx="3257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從 Secrets 讀 Docker Hub 帳號。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2FEF661-09C5-46EA-8F40-B4A85B18C6B4}"/>
              </a:ext>
            </a:extLst>
          </p:cNvPr>
          <p:cNvSpPr>
            <a:spLocks noGrp="1"/>
          </p:cNvSpPr>
          <p:nvPr/>
        </p:nvSpPr>
        <p:spPr>
          <a:xfrm>
            <a:off x="7010400" y="3562350"/>
            <a:ext cx="3714750" cy="1104900"/>
          </a:xfrm>
          <a:prstGeom prst="roundRect">
            <a:avLst>
              <a:gd name="adj" fmla="val 10345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D56F45-4DA4-45B0-89C8-0BC235A83ED7}"/>
              </a:ext>
            </a:extLst>
          </p:cNvPr>
          <p:cNvSpPr>
            <a:spLocks noGrp="1"/>
          </p:cNvSpPr>
          <p:nvPr/>
        </p:nvSpPr>
        <p:spPr>
          <a:xfrm>
            <a:off x="7239000" y="375285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正式版 tag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FF31C5-AE3B-4FFF-A687-789170FB7C80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257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20000"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真正上線時，通常由人決定版本號。</a:t>
            </a:r>
          </a:p>
          <a:p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例如 1.0.0、1.0.1。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BF3746-6170-4A01-82E5-52D4E26D90C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D7D1A0-4BDF-4853-BE53-85A5870D900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042B58-2CA1-43E3-91E5-A3EED926041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78053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8332278-C76E-4765-9BDF-3C1EA639F44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CA7D4E-564F-44BC-95AA-942267A095D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P3：讓 flask-app 自動更新 Docker Hub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7DD1A00A-138D-46E9-9C4B-F90298210348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E3C9A1-9B01-4EF7-8849-84DDDB5E13B8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設定 Secrets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BC2228-5939-4D15-B342-099079F638AD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DOCKERHUB_USERNAME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DOCKERHUB_TOKEN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359757D-4ABD-430F-AA8E-D744CB0DFE14}"/>
              </a:ext>
            </a:extLst>
          </p:cNvPr>
          <p:cNvSpPr>
            <a:spLocks noGrp="1"/>
          </p:cNvSpPr>
          <p:nvPr/>
        </p:nvSpPr>
        <p:spPr>
          <a:xfrm>
            <a:off x="3657600" y="18097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C6F4EA-7AC0-4465-8C9B-02429BB1F6FA}"/>
              </a:ext>
            </a:extLst>
          </p:cNvPr>
          <p:cNvSpPr>
            <a:spLocks noGrp="1"/>
          </p:cNvSpPr>
          <p:nvPr/>
        </p:nvSpPr>
        <p:spPr>
          <a:xfrm>
            <a:off x="3886200" y="2000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建立 cicd.yml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A5BEB-567E-47ED-A02A-B610D7DC2822}"/>
              </a:ext>
            </a:extLst>
          </p:cNvPr>
          <p:cNvSpPr>
            <a:spLocks noGrp="1"/>
          </p:cNvSpPr>
          <p:nvPr/>
        </p:nvSpPr>
        <p:spPr>
          <a:xfrm>
            <a:off x="3886200" y="24955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-&gt; build -&gt; health -&gt; push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8623DD4B-B42D-48EC-AEC8-FA204C10EF28}"/>
              </a:ext>
            </a:extLst>
          </p:cNvPr>
          <p:cNvSpPr>
            <a:spLocks noGrp="1"/>
          </p:cNvSpPr>
          <p:nvPr/>
        </p:nvSpPr>
        <p:spPr>
          <a:xfrm>
            <a:off x="6515100" y="18097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2C079A-9F5A-4501-9AC0-D28393F22CB0}"/>
              </a:ext>
            </a:extLst>
          </p:cNvPr>
          <p:cNvSpPr>
            <a:spLocks noGrp="1"/>
          </p:cNvSpPr>
          <p:nvPr/>
        </p:nvSpPr>
        <p:spPr>
          <a:xfrm>
            <a:off x="6743700" y="2000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0774BB-27B6-46D9-A558-7EFB529B7D20}"/>
              </a:ext>
            </a:extLst>
          </p:cNvPr>
          <p:cNvSpPr>
            <a:spLocks noGrp="1"/>
          </p:cNvSpPr>
          <p:nvPr/>
        </p:nvSpPr>
        <p:spPr>
          <a:xfrm>
            <a:off x="6743700" y="24955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觀察 test -&gt; docker 順序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7D6081C3-9A9E-49C6-8448-7CE67665F38F}"/>
              </a:ext>
            </a:extLst>
          </p:cNvPr>
          <p:cNvSpPr>
            <a:spLocks noGrp="1"/>
          </p:cNvSpPr>
          <p:nvPr/>
        </p:nvSpPr>
        <p:spPr>
          <a:xfrm>
            <a:off x="9372600" y="1809750"/>
            <a:ext cx="2476500" cy="1714500"/>
          </a:xfrm>
          <a:prstGeom prst="roundRect">
            <a:avLst>
              <a:gd name="adj" fmla="val 666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791BFC-1FED-4E91-9C63-2DE4BB78438B}"/>
              </a:ext>
            </a:extLst>
          </p:cNvPr>
          <p:cNvSpPr>
            <a:spLocks noGrp="1"/>
          </p:cNvSpPr>
          <p:nvPr/>
        </p:nvSpPr>
        <p:spPr>
          <a:xfrm>
            <a:off x="9601200" y="20002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確認 Docker Hub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CEED1F-BB4C-40A4-BCAB-2717EBEC7F3E}"/>
              </a:ext>
            </a:extLst>
          </p:cNvPr>
          <p:cNvSpPr>
            <a:spLocks noGrp="1"/>
          </p:cNvSpPr>
          <p:nvPr/>
        </p:nvSpPr>
        <p:spPr>
          <a:xfrm>
            <a:off x="9601200" y="2495550"/>
            <a:ext cx="2019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my-flask-app 已自動上傳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2B47A85-0756-426D-8D88-F17F450A035E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8572500" cy="742950"/>
          </a:xfrm>
          <a:prstGeom prst="roundRect">
            <a:avLst>
              <a:gd name="adj" fmla="val 12821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6B2BE9-B4E5-4D24-B405-077FC547AD8D}"/>
              </a:ext>
            </a:extLst>
          </p:cNvPr>
          <p:cNvSpPr>
            <a:spLocks noGrp="1"/>
          </p:cNvSpPr>
          <p:nvPr/>
        </p:nvSpPr>
        <p:spPr>
          <a:xfrm>
            <a:off x="2152650" y="4914900"/>
            <a:ext cx="788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66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完成標準：Actions 綠燈，Docker Hub 看得到 latest tag。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31F380-0DAF-4F2F-9B2D-F423A4AAB7D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6BCFA0-A972-4ED5-B0E6-892077797D9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7DB884-DD78-49B9-A78A-6ECF57E16C2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12671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A9EE609-9A48-4986-85B4-8505EAFB23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DEBUG CHECKLIST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913FBA-EA2F-498E-8027-27C398AF12D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Actions 出錯時先看這四件事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2AD4A04F-8560-4022-9DCC-BE551BEEC2BE}"/>
              </a:ext>
            </a:extLst>
          </p:cNvPr>
          <p:cNvSpPr>
            <a:spLocks noGrp="1"/>
          </p:cNvSpPr>
          <p:nvPr/>
        </p:nvSpPr>
        <p:spPr>
          <a:xfrm>
            <a:off x="1219200" y="1695450"/>
            <a:ext cx="4267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85CA4-88A6-4EA8-91D2-DE5DC1750014}"/>
              </a:ext>
            </a:extLst>
          </p:cNvPr>
          <p:cNvSpPr>
            <a:spLocks noGrp="1"/>
          </p:cNvSpPr>
          <p:nvPr/>
        </p:nvSpPr>
        <p:spPr>
          <a:xfrm>
            <a:off x="1447800" y="18859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YAML 縮排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425767-A179-401F-A1E6-FB45303949C9}"/>
              </a:ext>
            </a:extLst>
          </p:cNvPr>
          <p:cNvSpPr>
            <a:spLocks noGrp="1"/>
          </p:cNvSpPr>
          <p:nvPr/>
        </p:nvSpPr>
        <p:spPr>
          <a:xfrm>
            <a:off x="1447800" y="24193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空格錯了，workflow 可能無法解析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AAC6526-68F5-4984-9FAF-D6AF65966844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4267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F7BB40-B39E-4482-952D-D1D87D60385F}"/>
              </a:ext>
            </a:extLst>
          </p:cNvPr>
          <p:cNvSpPr>
            <a:spLocks noGrp="1"/>
          </p:cNvSpPr>
          <p:nvPr/>
        </p:nvSpPr>
        <p:spPr>
          <a:xfrm>
            <a:off x="6934200" y="18859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檔案路徑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E725D6-0B4C-4FB2-843F-18726D3267C9}"/>
              </a:ext>
            </a:extLst>
          </p:cNvPr>
          <p:cNvSpPr>
            <a:spLocks noGrp="1"/>
          </p:cNvSpPr>
          <p:nvPr/>
        </p:nvSpPr>
        <p:spPr>
          <a:xfrm>
            <a:off x="6934200" y="24193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.github/workflows/*.yml 是否放對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A7EB0876-0439-42FD-9540-632C5982FE08}"/>
              </a:ext>
            </a:extLst>
          </p:cNvPr>
          <p:cNvSpPr>
            <a:spLocks noGrp="1"/>
          </p:cNvSpPr>
          <p:nvPr/>
        </p:nvSpPr>
        <p:spPr>
          <a:xfrm>
            <a:off x="1219200" y="3733800"/>
            <a:ext cx="4267200" cy="1390650"/>
          </a:xfrm>
          <a:prstGeom prst="roundRect">
            <a:avLst>
              <a:gd name="adj" fmla="val 821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6F1A1E-08A7-41E6-8237-147F9150AE01}"/>
              </a:ext>
            </a:extLst>
          </p:cNvPr>
          <p:cNvSpPr>
            <a:spLocks noGrp="1"/>
          </p:cNvSpPr>
          <p:nvPr/>
        </p:nvSpPr>
        <p:spPr>
          <a:xfrm>
            <a:off x="1447800" y="3924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Secrets 名稱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5811BB-AF1C-48B2-A4DE-71B27BFC50FE}"/>
              </a:ext>
            </a:extLst>
          </p:cNvPr>
          <p:cNvSpPr>
            <a:spLocks noGrp="1"/>
          </p:cNvSpPr>
          <p:nvPr/>
        </p:nvSpPr>
        <p:spPr>
          <a:xfrm>
            <a:off x="1447800" y="445770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大小寫要和 workflow 完全一致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11A0395-AEA6-4228-9AC7-AD992C28E578}"/>
              </a:ext>
            </a:extLst>
          </p:cNvPr>
          <p:cNvSpPr>
            <a:spLocks noGrp="1"/>
          </p:cNvSpPr>
          <p:nvPr/>
        </p:nvSpPr>
        <p:spPr>
          <a:xfrm>
            <a:off x="6705600" y="3733800"/>
            <a:ext cx="4267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64B175-43AF-4B0C-98FC-CF1A325A394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測試 log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6BA9D0-E63A-44C6-8F13-3933E16ADBD2}"/>
              </a:ext>
            </a:extLst>
          </p:cNvPr>
          <p:cNvSpPr>
            <a:spLocks noGrp="1"/>
          </p:cNvSpPr>
          <p:nvPr/>
        </p:nvSpPr>
        <p:spPr>
          <a:xfrm>
            <a:off x="6934200" y="445770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失敗的是安裝、測試，還是 Docker push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ED4465-3D47-49FE-BAE3-0EC836C2CC6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D3C2AC-34B2-4045-9BB0-6FA09E9969A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3BACB9-B2B7-448A-90CE-E35B5C45B42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385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05BAF886-3945-4F3F-8D59-FB7BF4A469FD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D839861-CE62-44E4-914E-B2CF4F79E90C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範例程式碼：Docker Build &amp; Push workflow (1/3)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ADF519E-A39F-4C5B-B925-ACE5527F1205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FA57850D-EEB4-46EA-9E23-A23F731E2EAD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5E582B3A-889F-415E-9BAD-2A1A0BDFF903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Docker Build &amp; Push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on: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push: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branches: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main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jobs: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test: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拉取程式碼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actions/checkout@v4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安裝</a:t>
            </a:r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Python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actions/setup-python@v5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with: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python-version: '3.11'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安裝依賴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pip install -r requirements.txt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執行測試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E9A5C9B-83DA-4D64-861F-36DF44558ED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3DE52A21-4156-407E-A93E-CB8D7B4DA1B5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12540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92198B80-7EAD-43D9-B8DE-FEB365A2E072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B3E686-5939-44D0-886A-60AE4E0E143F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範例程式碼：Docker Build &amp; Push workflow (2/3)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254BAE4-690E-4053-9AAF-778C3AF03AC1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E662330C-04C6-44BC-BA1B-294714C3545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CAD8F989-F3F2-4877-B492-99EC8DC3CB99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pytest</a:t>
            </a:r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test_app.py -v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docker: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runs-on: ubuntu-latest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needs: test              # 等 test job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通過才跑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IMAGE_NAME: ${{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secrets.DOCKERHUB_USERNAME</a:t>
            </a:r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}}/my-flask-app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steps: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拉取程式碼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actions/checkout@v4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Build image locally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docker build -t $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IMAGE_NAME:latest</a:t>
            </a:r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.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Run container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docker run -d --name app -p 5000:5000 $</a:t>
            </a:r>
            <a:r>
              <a:rPr sz="10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IMAGE_NAME:latest</a:t>
            </a:r>
            <a:endParaRPr sz="10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Check health endpoint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333D228-D425-4CCD-9CAB-BE09E822A6FA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A05E3FF5-6BA1-4CEF-BF30-0BCBF3245547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030412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9B7636BD-0EE9-4468-A696-8C07C5EE4771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60EDB56-3939-4F04-A9B6-105CA620FD82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範例程式碼：Docker Build &amp; Push workflow (3/3)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8A56F08-2B2E-4260-B7E8-01663C7334D7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5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B85C57F0-B813-445D-B8A2-4C954652B91D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1B7BAB4C-2CBD-4C82-B30E-7AC0E4D71A28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|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sleep 5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curl --fail http://127.0.0.1:5000/health</a:t>
            </a:r>
          </a:p>
          <a:p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Login to Docker Hub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uses: docker/login-action@v3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with: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username: ${{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secrets.DOCKERHUB_USERNAME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}}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password: ${{ 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secrets.DOCKERHUB_TOKEN</a:t>
            </a:r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}}</a:t>
            </a:r>
          </a:p>
          <a:p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name: Push image</a:t>
            </a:r>
          </a:p>
          <a:p>
            <a:r>
              <a:rPr sz="115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run: docker push $</a:t>
            </a:r>
            <a:r>
              <a:rPr sz="115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IMAGE_NAME:latest</a:t>
            </a:r>
            <a:endParaRPr sz="11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26DFADE-2980-4430-A46F-8C7A62BEB91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5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A01CC0FE-CD98-462E-8F4E-A901264E0A9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93441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2E476B2-A212-4FA4-8A93-5B524D3A4E4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678992-8A94-4CC3-A4F1-8E6ABAECC5D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今天要帶走的心智模型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A9932EF9-8B0C-4B0B-86F2-33D25690348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C768FE-3762-445E-B7EA-E935E9F86A80}"/>
              </a:ext>
            </a:extLst>
          </p:cNvPr>
          <p:cNvSpPr>
            <a:spLocks noGrp="1"/>
          </p:cNvSpPr>
          <p:nvPr/>
        </p:nvSpPr>
        <p:spPr>
          <a:xfrm>
            <a:off x="1047750" y="18669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E991A9-4B06-4151-AFE4-E2897DA8822F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push / PR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-&gt; pytest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-&gt; pass or fail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4039F80-D347-4D51-9E1B-A159C9B0DBD3}"/>
              </a:ext>
            </a:extLst>
          </p:cNvPr>
          <p:cNvSpPr>
            <a:spLocks noGrp="1"/>
          </p:cNvSpPr>
          <p:nvPr/>
        </p:nvSpPr>
        <p:spPr>
          <a:xfrm>
            <a:off x="4495800" y="16764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6217B-BE3F-4A29-AEF6-AAD33804908D}"/>
              </a:ext>
            </a:extLst>
          </p:cNvPr>
          <p:cNvSpPr>
            <a:spLocks noGrp="1"/>
          </p:cNvSpPr>
          <p:nvPr/>
        </p:nvSpPr>
        <p:spPr>
          <a:xfrm>
            <a:off x="4724400" y="18669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Actions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14D173-7F3D-4386-85D0-5BD6E5E16875}"/>
              </a:ext>
            </a:extLst>
          </p:cNvPr>
          <p:cNvSpPr>
            <a:spLocks noGrp="1"/>
          </p:cNvSpPr>
          <p:nvPr/>
        </p:nvSpPr>
        <p:spPr>
          <a:xfrm>
            <a:off x="4724400" y="25146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workflow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on / jobs / steps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uses / run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C9F84BC-1893-415A-92E2-768077A101DF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E7A3F0-93F5-4D21-8323-B833DFD978A7}"/>
              </a:ext>
            </a:extLst>
          </p:cNvPr>
          <p:cNvSpPr>
            <a:spLocks noGrp="1"/>
          </p:cNvSpPr>
          <p:nvPr/>
        </p:nvSpPr>
        <p:spPr>
          <a:xfrm>
            <a:off x="8401050" y="18669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CD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974B7-B1BD-49DA-8D4A-391789FD556A}"/>
              </a:ext>
            </a:extLst>
          </p:cNvPr>
          <p:cNvSpPr>
            <a:spLocks noGrp="1"/>
          </p:cNvSpPr>
          <p:nvPr/>
        </p:nvSpPr>
        <p:spPr>
          <a:xfrm>
            <a:off x="8401050" y="25146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needs: test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login-action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build / run / push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0B13D30-C11F-4B20-8154-9F379003726A}"/>
              </a:ext>
            </a:extLst>
          </p:cNvPr>
          <p:cNvSpPr>
            <a:spLocks noGrp="1"/>
          </p:cNvSpPr>
          <p:nvPr/>
        </p:nvSpPr>
        <p:spPr>
          <a:xfrm>
            <a:off x="1885950" y="4838700"/>
            <a:ext cx="84201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FA34DC-907B-4086-8909-2683B6728C32}"/>
              </a:ext>
            </a:extLst>
          </p:cNvPr>
          <p:cNvSpPr>
            <a:spLocks noGrp="1"/>
          </p:cNvSpPr>
          <p:nvPr/>
        </p:nvSpPr>
        <p:spPr>
          <a:xfrm>
            <a:off x="2228850" y="5048250"/>
            <a:ext cx="773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35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下一堂：Docker Compose 全端專題，把 frontend、backend、db 和 CI/CD 串起來。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BB3ABF-40E2-437B-894D-69CBDC9618D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9382AA-7C3C-49C0-B2C6-9EA2D19149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5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113B2A-2859-46D7-B382-DDA97A4C5A14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262164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2255</Words>
  <Application>Microsoft Macintosh PowerPoint</Application>
  <DocSecurity>0</DocSecurity>
  <PresentationFormat>寬螢幕</PresentationFormat>
  <Paragraphs>552</Paragraphs>
  <Slides>34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1" baseType="lpstr">
      <vt:lpstr>Arial Unicode MS</vt:lpstr>
      <vt:lpstr>Aptos</vt:lpstr>
      <vt:lpstr>Aptos Display</vt:lpstr>
      <vt:lpstr>Arial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許哲綱</cp:lastModifiedBy>
  <cp:revision>9</cp:revision>
  <dcterms:created xsi:type="dcterms:W3CDTF">2026-06-29T07:06:39Z</dcterms:created>
  <dcterms:modified xsi:type="dcterms:W3CDTF">2026-07-01T06:54:06Z</dcterms:modified>
</cp:coreProperties>
</file>