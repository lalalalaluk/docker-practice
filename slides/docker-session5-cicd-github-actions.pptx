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685aafe62048b9" /><Relationship Type="http://schemas.openxmlformats.org/officeDocument/2006/relationships/extended-properties" Target="/docProps/app.xml" Id="R5d78ce62c358465f" /><Relationship Type="http://schemas.openxmlformats.org/officeDocument/2006/relationships/officeDocument" Target="/ppt/presentation.xml" Id="R740105d0f4dc44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11cf5fa8fb4c46"/>
  </p:sldMasterIdLst>
  <p:notesMasterIdLst>
    <p:notesMasterId xmlns:r="http://schemas.openxmlformats.org/officeDocument/2006/relationships" r:id="R9fd6af064f3f4e87"/>
  </p:notesMasterIdLst>
  <p:sldIdLst>
    <p:sldId xmlns:r="http://schemas.openxmlformats.org/officeDocument/2006/relationships" id="256" r:id="R5969d93a27f84788"/>
    <p:sldId xmlns:r="http://schemas.openxmlformats.org/officeDocument/2006/relationships" id="257" r:id="R8c0e390456084308"/>
    <p:sldId xmlns:r="http://schemas.openxmlformats.org/officeDocument/2006/relationships" id="258" r:id="Rabac5b0ed4cf48fb"/>
    <p:sldId xmlns:r="http://schemas.openxmlformats.org/officeDocument/2006/relationships" id="259" r:id="Rdb37855e0b854a95"/>
    <p:sldId xmlns:r="http://schemas.openxmlformats.org/officeDocument/2006/relationships" id="260" r:id="R733b004604154d99"/>
    <p:sldId xmlns:r="http://schemas.openxmlformats.org/officeDocument/2006/relationships" id="261" r:id="Rf77d36b2a91245aa"/>
    <p:sldId xmlns:r="http://schemas.openxmlformats.org/officeDocument/2006/relationships" id="262" r:id="R4f84ef8b3bf940bc"/>
    <p:sldId xmlns:r="http://schemas.openxmlformats.org/officeDocument/2006/relationships" id="263" r:id="Re597a1aa34184597"/>
    <p:sldId xmlns:r="http://schemas.openxmlformats.org/officeDocument/2006/relationships" id="264" r:id="R181ef11937234be4"/>
    <p:sldId xmlns:r="http://schemas.openxmlformats.org/officeDocument/2006/relationships" id="265" r:id="Rb4df531aef254007"/>
    <p:sldId xmlns:r="http://schemas.openxmlformats.org/officeDocument/2006/relationships" id="266" r:id="R079b63d8083a4ab2"/>
    <p:sldId xmlns:r="http://schemas.openxmlformats.org/officeDocument/2006/relationships" id="267" r:id="R6883c8f12bb44ff8"/>
    <p:sldId xmlns:r="http://schemas.openxmlformats.org/officeDocument/2006/relationships" id="268" r:id="R5749f8ef7e004474"/>
    <p:sldId xmlns:r="http://schemas.openxmlformats.org/officeDocument/2006/relationships" id="269" r:id="Ra41526a95a904697"/>
    <p:sldId xmlns:r="http://schemas.openxmlformats.org/officeDocument/2006/relationships" id="270" r:id="Rd7caf1bb835e49bf"/>
    <p:sldId xmlns:r="http://schemas.openxmlformats.org/officeDocument/2006/relationships" id="271" r:id="R9a00748e749e4e8d"/>
    <p:sldId xmlns:r="http://schemas.openxmlformats.org/officeDocument/2006/relationships" id="272" r:id="Rc8010c1cbab64514"/>
    <p:sldId xmlns:r="http://schemas.openxmlformats.org/officeDocument/2006/relationships" id="273" r:id="Rd9e4393b1b784bc7"/>
    <p:sldId xmlns:r="http://schemas.openxmlformats.org/officeDocument/2006/relationships" id="274" r:id="R08a9bda68b31476c"/>
    <p:sldId xmlns:r="http://schemas.openxmlformats.org/officeDocument/2006/relationships" id="275" r:id="R9763e088b8e24b2e"/>
    <p:sldId xmlns:r="http://schemas.openxmlformats.org/officeDocument/2006/relationships" id="276" r:id="R823e4227aae04c34"/>
    <p:sldId xmlns:r="http://schemas.openxmlformats.org/officeDocument/2006/relationships" id="277" r:id="R392e92ba986141aa"/>
    <p:sldId xmlns:r="http://schemas.openxmlformats.org/officeDocument/2006/relationships" id="278" r:id="R78db3fe8abaa475e"/>
    <p:sldId xmlns:r="http://schemas.openxmlformats.org/officeDocument/2006/relationships" id="279" r:id="R81d7f607a4104a64"/>
    <p:sldId xmlns:r="http://schemas.openxmlformats.org/officeDocument/2006/relationships" id="280" r:id="R0a64e32c11074801"/>
    <p:sldId xmlns:r="http://schemas.openxmlformats.org/officeDocument/2006/relationships" id="281" r:id="Re128f448688844cb"/>
    <p:sldId xmlns:r="http://schemas.openxmlformats.org/officeDocument/2006/relationships" id="282" r:id="R34cfec5a99e44447"/>
    <p:sldId xmlns:r="http://schemas.openxmlformats.org/officeDocument/2006/relationships" id="283" r:id="R1f192622a1124df5"/>
    <p:sldId xmlns:r="http://schemas.openxmlformats.org/officeDocument/2006/relationships" id="284" r:id="Red2bd17385eb455f"/>
    <p:sldId xmlns:r="http://schemas.openxmlformats.org/officeDocument/2006/relationships" id="285" r:id="Rb9618ff1d83a4727"/>
    <p:sldId xmlns:r="http://schemas.openxmlformats.org/officeDocument/2006/relationships" id="286" r:id="R75335c10c50e4dab"/>
    <p:sldId xmlns:r="http://schemas.openxmlformats.org/officeDocument/2006/relationships" id="287" r:id="R95efd6a93b5b49d5"/>
    <p:sldId xmlns:r="http://schemas.openxmlformats.org/officeDocument/2006/relationships" id="288" r:id="Raab501316a4b4971"/>
    <p:sldId xmlns:r="http://schemas.openxmlformats.org/officeDocument/2006/relationships" id="289" r:id="R63860632ab494533"/>
    <p:sldId xmlns:r="http://schemas.openxmlformats.org/officeDocument/2006/relationships" id="290" r:id="R0fccf81e4ad142c6"/>
    <p:sldId xmlns:r="http://schemas.openxmlformats.org/officeDocument/2006/relationships" id="291" r:id="R8aca88ee6f11402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ac846b153d49df" /><Relationship Type="http://schemas.openxmlformats.org/officeDocument/2006/relationships/slideMaster" Target="/ppt/slideMasters/slideMaster1.xml" Id="R4311cf5fa8fb4c46" /><Relationship Type="http://schemas.openxmlformats.org/officeDocument/2006/relationships/notesMaster" Target="/ppt/notesMasters/notesMaster1.xml" Id="R9fd6af064f3f4e87" /><Relationship Type="http://schemas.openxmlformats.org/officeDocument/2006/relationships/presProps" Target="/ppt/presProps.xml" Id="R3f6d13d679474be8" /><Relationship Type="http://schemas.openxmlformats.org/officeDocument/2006/relationships/tableStyles" Target="/ppt/tableStyles.xml" Id="Rc91b806d3d7042f3" /><Relationship Type="http://schemas.openxmlformats.org/officeDocument/2006/relationships/slide" Target="/ppt/slides/slide1.xml" Id="R5969d93a27f84788" /><Relationship Type="http://schemas.openxmlformats.org/officeDocument/2006/relationships/slide" Target="/ppt/slides/slide2.xml" Id="R8c0e390456084308" /><Relationship Type="http://schemas.openxmlformats.org/officeDocument/2006/relationships/slide" Target="/ppt/slides/slide3.xml" Id="Rabac5b0ed4cf48fb" /><Relationship Type="http://schemas.openxmlformats.org/officeDocument/2006/relationships/slide" Target="/ppt/slides/slide4.xml" Id="Rdb37855e0b854a95" /><Relationship Type="http://schemas.openxmlformats.org/officeDocument/2006/relationships/slide" Target="/ppt/slides/slide5.xml" Id="R733b004604154d99" /><Relationship Type="http://schemas.openxmlformats.org/officeDocument/2006/relationships/slide" Target="/ppt/slides/slide6.xml" Id="Rf77d36b2a91245aa" /><Relationship Type="http://schemas.openxmlformats.org/officeDocument/2006/relationships/slide" Target="/ppt/slides/slide7.xml" Id="R4f84ef8b3bf940bc" /><Relationship Type="http://schemas.openxmlformats.org/officeDocument/2006/relationships/slide" Target="/ppt/slides/slide8.xml" Id="Re597a1aa34184597" /><Relationship Type="http://schemas.openxmlformats.org/officeDocument/2006/relationships/slide" Target="/ppt/slides/slide9.xml" Id="R181ef11937234be4" /><Relationship Type="http://schemas.openxmlformats.org/officeDocument/2006/relationships/slide" Target="/ppt/slides/slide10.xml" Id="Rb4df531aef254007" /><Relationship Type="http://schemas.openxmlformats.org/officeDocument/2006/relationships/slide" Target="/ppt/slides/slide11.xml" Id="R079b63d8083a4ab2" /><Relationship Type="http://schemas.openxmlformats.org/officeDocument/2006/relationships/slide" Target="/ppt/slides/slide12.xml" Id="R6883c8f12bb44ff8" /><Relationship Type="http://schemas.openxmlformats.org/officeDocument/2006/relationships/slide" Target="/ppt/slides/slide13.xml" Id="R5749f8ef7e004474" /><Relationship Type="http://schemas.openxmlformats.org/officeDocument/2006/relationships/slide" Target="/ppt/slides/slide14.xml" Id="Ra41526a95a904697" /><Relationship Type="http://schemas.openxmlformats.org/officeDocument/2006/relationships/slide" Target="/ppt/slides/slide15.xml" Id="Rd7caf1bb835e49bf" /><Relationship Type="http://schemas.openxmlformats.org/officeDocument/2006/relationships/slide" Target="/ppt/slides/slide16.xml" Id="R9a00748e749e4e8d" /><Relationship Type="http://schemas.openxmlformats.org/officeDocument/2006/relationships/slide" Target="/ppt/slides/slide17.xml" Id="Rc8010c1cbab64514" /><Relationship Type="http://schemas.openxmlformats.org/officeDocument/2006/relationships/slide" Target="/ppt/slides/slide18.xml" Id="Rd9e4393b1b784bc7" /><Relationship Type="http://schemas.openxmlformats.org/officeDocument/2006/relationships/slide" Target="/ppt/slides/slide19.xml" Id="R08a9bda68b31476c" /><Relationship Type="http://schemas.openxmlformats.org/officeDocument/2006/relationships/slide" Target="/ppt/slides/slide20.xml" Id="R9763e088b8e24b2e" /><Relationship Type="http://schemas.openxmlformats.org/officeDocument/2006/relationships/slide" Target="/ppt/slides/slide21.xml" Id="R823e4227aae04c34" /><Relationship Type="http://schemas.openxmlformats.org/officeDocument/2006/relationships/slide" Target="/ppt/slides/slide22.xml" Id="R392e92ba986141aa" /><Relationship Type="http://schemas.openxmlformats.org/officeDocument/2006/relationships/slide" Target="/ppt/slides/slide23.xml" Id="R78db3fe8abaa475e" /><Relationship Type="http://schemas.openxmlformats.org/officeDocument/2006/relationships/slide" Target="/ppt/slides/slide24.xml" Id="R81d7f607a4104a64" /><Relationship Type="http://schemas.openxmlformats.org/officeDocument/2006/relationships/slide" Target="/ppt/slides/slide25.xml" Id="R0a64e32c11074801" /><Relationship Type="http://schemas.openxmlformats.org/officeDocument/2006/relationships/slide" Target="/ppt/slides/slide26.xml" Id="Re128f448688844cb" /><Relationship Type="http://schemas.openxmlformats.org/officeDocument/2006/relationships/slide" Target="/ppt/slides/slide27.xml" Id="R34cfec5a99e44447" /><Relationship Type="http://schemas.openxmlformats.org/officeDocument/2006/relationships/slide" Target="/ppt/slides/slide28.xml" Id="R1f192622a1124df5" /><Relationship Type="http://schemas.openxmlformats.org/officeDocument/2006/relationships/slide" Target="/ppt/slides/slide29.xml" Id="Red2bd17385eb455f" /><Relationship Type="http://schemas.openxmlformats.org/officeDocument/2006/relationships/slide" Target="/ppt/slides/slide30.xml" Id="Rb9618ff1d83a4727" /><Relationship Type="http://schemas.openxmlformats.org/officeDocument/2006/relationships/slide" Target="/ppt/slides/slide31.xml" Id="R75335c10c50e4dab" /><Relationship Type="http://schemas.openxmlformats.org/officeDocument/2006/relationships/slide" Target="/ppt/slides/slide32.xml" Id="R95efd6a93b5b49d5" /><Relationship Type="http://schemas.openxmlformats.org/officeDocument/2006/relationships/slide" Target="/ppt/slides/slide33.xml" Id="Raab501316a4b4971" /><Relationship Type="http://schemas.openxmlformats.org/officeDocument/2006/relationships/slide" Target="/ppt/slides/slide34.xml" Id="R63860632ab494533" /><Relationship Type="http://schemas.openxmlformats.org/officeDocument/2006/relationships/slide" Target="/ppt/slides/slide35.xml" Id="R0fccf81e4ad142c6" /><Relationship Type="http://schemas.openxmlformats.org/officeDocument/2006/relationships/slide" Target="/ppt/slides/slide36.xml" Id="R8aca88ee6f1140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a90166f6e448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1966cd62a34ab1" /><Relationship Type="http://schemas.openxmlformats.org/officeDocument/2006/relationships/notesMaster" Target="/ppt/notesMasters/notesMaster1.xml" Id="R526b7a8c83c04d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ad6756521546e6" /><Relationship Type="http://schemas.openxmlformats.org/officeDocument/2006/relationships/notesMaster" Target="/ppt/notesMasters/notesMaster1.xml" Id="Rb408f0eca2154b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d9a7d461824feb" /><Relationship Type="http://schemas.openxmlformats.org/officeDocument/2006/relationships/notesMaster" Target="/ppt/notesMasters/notesMaster1.xml" Id="Rf0055f434c5d4c9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6a7db3f8f94bdf" /><Relationship Type="http://schemas.openxmlformats.org/officeDocument/2006/relationships/notesMaster" Target="/ppt/notesMasters/notesMaster1.xml" Id="R37f76699aa1648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510c573238434c" /><Relationship Type="http://schemas.openxmlformats.org/officeDocument/2006/relationships/notesMaster" Target="/ppt/notesMasters/notesMaster1.xml" Id="R14ca54f2f4d245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95ada04b5a4b66" /><Relationship Type="http://schemas.openxmlformats.org/officeDocument/2006/relationships/notesMaster" Target="/ppt/notesMasters/notesMaster1.xml" Id="R3ce569adb4b84b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2374ea997d4cbb" /><Relationship Type="http://schemas.openxmlformats.org/officeDocument/2006/relationships/notesMaster" Target="/ppt/notesMasters/notesMaster1.xml" Id="R8ee316846d214f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5e02b8b73840c9" /><Relationship Type="http://schemas.openxmlformats.org/officeDocument/2006/relationships/notesMaster" Target="/ppt/notesMasters/notesMaster1.xml" Id="Ra7b82d80874e44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1d13d675bb4559" /><Relationship Type="http://schemas.openxmlformats.org/officeDocument/2006/relationships/notesMaster" Target="/ppt/notesMasters/notesMaster1.xml" Id="Rf2e441cef02b4e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e1576a712054856" /><Relationship Type="http://schemas.openxmlformats.org/officeDocument/2006/relationships/notesMaster" Target="/ppt/notesMasters/notesMaster1.xml" Id="R5b9a749148a74f7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b75cfcc03814363" /><Relationship Type="http://schemas.openxmlformats.org/officeDocument/2006/relationships/notesMaster" Target="/ppt/notesMasters/notesMaster1.xml" Id="Rbe0072fdc3a647e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63e32eb79dc4149" /><Relationship Type="http://schemas.openxmlformats.org/officeDocument/2006/relationships/notesMaster" Target="/ppt/notesMasters/notesMaster1.xml" Id="R71fa4aa597a24ae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3f4e89375e644b8" /><Relationship Type="http://schemas.openxmlformats.org/officeDocument/2006/relationships/notesMaster" Target="/ppt/notesMasters/notesMaster1.xml" Id="R3619f224a219456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67ad7b7e9c44830" /><Relationship Type="http://schemas.openxmlformats.org/officeDocument/2006/relationships/notesMaster" Target="/ppt/notesMasters/notesMaster1.xml" Id="R42403be4aab1453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c41d6b75e884024" /><Relationship Type="http://schemas.openxmlformats.org/officeDocument/2006/relationships/notesMaster" Target="/ppt/notesMasters/notesMaster1.xml" Id="R9e81c46d903e4a5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c266469e47d4af8" /><Relationship Type="http://schemas.openxmlformats.org/officeDocument/2006/relationships/notesMaster" Target="/ppt/notesMasters/notesMaster1.xml" Id="Ra2e4f1b4b17b445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b910f71c00e46c6" /><Relationship Type="http://schemas.openxmlformats.org/officeDocument/2006/relationships/notesMaster" Target="/ppt/notesMasters/notesMaster1.xml" Id="Ree4e2a661b67499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28abaa9a1a2493f" /><Relationship Type="http://schemas.openxmlformats.org/officeDocument/2006/relationships/notesMaster" Target="/ppt/notesMasters/notesMaster1.xml" Id="Rd6952fcb6cba4f5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fc9355eaf064126" /><Relationship Type="http://schemas.openxmlformats.org/officeDocument/2006/relationships/notesMaster" Target="/ppt/notesMasters/notesMaster1.xml" Id="Rcd69326e5c044ef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af3d5b51fb5469f" /><Relationship Type="http://schemas.openxmlformats.org/officeDocument/2006/relationships/notesMaster" Target="/ppt/notesMasters/notesMaster1.xml" Id="R67636fcfe6e9476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3e52034befd4f65" /><Relationship Type="http://schemas.openxmlformats.org/officeDocument/2006/relationships/notesMaster" Target="/ppt/notesMasters/notesMaster1.xml" Id="R1060b2e8ff94413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ae30a32d1c4462e" /><Relationship Type="http://schemas.openxmlformats.org/officeDocument/2006/relationships/notesMaster" Target="/ppt/notesMasters/notesMaster1.xml" Id="R20618b0f19f84cf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4a6727ed0ad45f3" /><Relationship Type="http://schemas.openxmlformats.org/officeDocument/2006/relationships/notesMaster" Target="/ppt/notesMasters/notesMaster1.xml" Id="R9490180bafdd4dc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ffd1d12e57a4573" /><Relationship Type="http://schemas.openxmlformats.org/officeDocument/2006/relationships/notesMaster" Target="/ppt/notesMasters/notesMaster1.xml" Id="Re205c2f1ce1142f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df6cdb1218c453b" /><Relationship Type="http://schemas.openxmlformats.org/officeDocument/2006/relationships/notesMaster" Target="/ppt/notesMasters/notesMaster1.xml" Id="Rf567dab33ea1435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087cd1a1126437a" /><Relationship Type="http://schemas.openxmlformats.org/officeDocument/2006/relationships/notesMaster" Target="/ppt/notesMasters/notesMaster1.xml" Id="R1950ab353d6744a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3467e2aee674a26" /><Relationship Type="http://schemas.openxmlformats.org/officeDocument/2006/relationships/notesMaster" Target="/ppt/notesMasters/notesMaster1.xml" Id="R2f1767fa414e4b9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184b58095fe4dd5" /><Relationship Type="http://schemas.openxmlformats.org/officeDocument/2006/relationships/notesMaster" Target="/ppt/notesMasters/notesMaster1.xml" Id="R2b04c9302793445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38cbf0052b64322" /><Relationship Type="http://schemas.openxmlformats.org/officeDocument/2006/relationships/notesMaster" Target="/ppt/notesMasters/notesMaster1.xml" Id="R2a46ecf015a1402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4f9eb2930ce4dfd" /><Relationship Type="http://schemas.openxmlformats.org/officeDocument/2006/relationships/notesMaster" Target="/ppt/notesMasters/notesMaster1.xml" Id="R2afceba92d5742c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5757b70502c4886" /><Relationship Type="http://schemas.openxmlformats.org/officeDocument/2006/relationships/notesMaster" Target="/ppt/notesMasters/notesMaster1.xml" Id="R3fe4d8e98b1e47c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d580bcda2134d26" /><Relationship Type="http://schemas.openxmlformats.org/officeDocument/2006/relationships/notesMaster" Target="/ppt/notesMasters/notesMaster1.xml" Id="Ra885f02dfc3f478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4713ac0fa7a4354" /><Relationship Type="http://schemas.openxmlformats.org/officeDocument/2006/relationships/notesMaster" Target="/ppt/notesMasters/notesMaster1.xml" Id="R823cf556ccc34f1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c2d91d43387413d" /><Relationship Type="http://schemas.openxmlformats.org/officeDocument/2006/relationships/notesMaster" Target="/ppt/notesMasters/notesMaster1.xml" Id="R8af85ddcbbf24e3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459f8ec91b24aec" /><Relationship Type="http://schemas.openxmlformats.org/officeDocument/2006/relationships/notesMaster" Target="/ppt/notesMasters/notesMaster1.xml" Id="Raf53dc5780784346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0fd20cfe6a94101" /><Relationship Type="http://schemas.openxmlformats.org/officeDocument/2006/relationships/notesMaster" Target="/ppt/notesMasters/notesMaster1.xml" Id="Rdb6d791a9e094f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83a51cdd6f40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2509db49454abc" /><Relationship Type="http://schemas.openxmlformats.org/officeDocument/2006/relationships/slideLayout" Target="/ppt/slideLayouts/slideLayout1.xml" Id="R79a51aa7719f41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a51aa7719f41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f011268fbd453a" /><Relationship Type="http://schemas.openxmlformats.org/officeDocument/2006/relationships/image" Target="/ppt/media/image.png" Id="R68603741aeb2485d" /><Relationship Type="http://schemas.openxmlformats.org/officeDocument/2006/relationships/notesSlide" Target="/ppt/notesSlides/notesSlide1.xml" Id="R0c9449f7c1d34e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9b7229199d435f" /><Relationship Type="http://schemas.openxmlformats.org/officeDocument/2006/relationships/notesSlide" Target="/ppt/notesSlides/notesSlide2.xml" Id="Rcdbd074f911647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9f165e4775416a" /><Relationship Type="http://schemas.openxmlformats.org/officeDocument/2006/relationships/notesSlide" Target="/ppt/notesSlides/notesSlide3.xml" Id="R5ffd3ed3b3bf47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4e28b81774a4b" /><Relationship Type="http://schemas.openxmlformats.org/officeDocument/2006/relationships/notesSlide" Target="/ppt/notesSlides/notesSlide4.xml" Id="R64a52fb697fc40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2b9699e91a43e6" /><Relationship Type="http://schemas.openxmlformats.org/officeDocument/2006/relationships/notesSlide" Target="/ppt/notesSlides/notesSlide5.xml" Id="R0db540535c8d45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1011ba7f344c3" /><Relationship Type="http://schemas.openxmlformats.org/officeDocument/2006/relationships/notesSlide" Target="/ppt/notesSlides/notesSlide6.xml" Id="Re7139d31928448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b102549375454c" /><Relationship Type="http://schemas.openxmlformats.org/officeDocument/2006/relationships/notesSlide" Target="/ppt/notesSlides/notesSlide7.xml" Id="Rb12ddf120589493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3cf7eae9f54a67" /><Relationship Type="http://schemas.openxmlformats.org/officeDocument/2006/relationships/image" Target="/ppt/media/image2.png" Id="R842402b64dee4fd8" /><Relationship Type="http://schemas.openxmlformats.org/officeDocument/2006/relationships/notesSlide" Target="/ppt/notesSlides/notesSlide8.xml" Id="Rc8357cdb98fe4a6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f7f2edd22042b3" /><Relationship Type="http://schemas.openxmlformats.org/officeDocument/2006/relationships/notesSlide" Target="/ppt/notesSlides/notesSlide9.xml" Id="R2cfa10386d77407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6f8be019ce4efc" /><Relationship Type="http://schemas.openxmlformats.org/officeDocument/2006/relationships/notesSlide" Target="/ppt/notesSlides/notesSlide10.xml" Id="R13f4492a628d416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e3decf5564b27" /><Relationship Type="http://schemas.openxmlformats.org/officeDocument/2006/relationships/notesSlide" Target="/ppt/notesSlides/notesSlide11.xml" Id="Re8ae55fcbf0a4a1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636d82240e4cbe" /><Relationship Type="http://schemas.openxmlformats.org/officeDocument/2006/relationships/notesSlide" Target="/ppt/notesSlides/notesSlide12.xml" Id="R16fcfcf3e6e34c7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d95ee714448c5" /><Relationship Type="http://schemas.openxmlformats.org/officeDocument/2006/relationships/notesSlide" Target="/ppt/notesSlides/notesSlide13.xml" Id="R4585ff403be941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53d07ee2c4e31" /><Relationship Type="http://schemas.openxmlformats.org/officeDocument/2006/relationships/notesSlide" Target="/ppt/notesSlides/notesSlide14.xml" Id="R21225bf41ae8457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2a917ac7d94192" /><Relationship Type="http://schemas.openxmlformats.org/officeDocument/2006/relationships/notesSlide" Target="/ppt/notesSlides/notesSlide15.xml" Id="Rdb2bc92a29cf490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0230ccfd614e3d" /><Relationship Type="http://schemas.openxmlformats.org/officeDocument/2006/relationships/notesSlide" Target="/ppt/notesSlides/notesSlide16.xml" Id="R591d9686cfa448a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599be0dec4663" /><Relationship Type="http://schemas.openxmlformats.org/officeDocument/2006/relationships/notesSlide" Target="/ppt/notesSlides/notesSlide17.xml" Id="R2ecf84e421a64ef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bf7c88d214ed6" /><Relationship Type="http://schemas.openxmlformats.org/officeDocument/2006/relationships/notesSlide" Target="/ppt/notesSlides/notesSlide18.xml" Id="R80880eaa9a1045a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4a15d62224e7e" /><Relationship Type="http://schemas.openxmlformats.org/officeDocument/2006/relationships/notesSlide" Target="/ppt/notesSlides/notesSlide19.xml" Id="R252f211316f7480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256487b164ad4" /><Relationship Type="http://schemas.openxmlformats.org/officeDocument/2006/relationships/notesSlide" Target="/ppt/notesSlides/notesSlide20.xml" Id="R33b99d8e40284ed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4c517dd4845fc" /><Relationship Type="http://schemas.openxmlformats.org/officeDocument/2006/relationships/notesSlide" Target="/ppt/notesSlides/notesSlide21.xml" Id="Rd0aa51a93782409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fef3e40cb64aea" /><Relationship Type="http://schemas.openxmlformats.org/officeDocument/2006/relationships/image" Target="/ppt/media/image.png" Id="R72f67a85c3644fdb" /><Relationship Type="http://schemas.openxmlformats.org/officeDocument/2006/relationships/notesSlide" Target="/ppt/notesSlides/notesSlide22.xml" Id="Rffe8522e05aa469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d4771e84f64361" /><Relationship Type="http://schemas.openxmlformats.org/officeDocument/2006/relationships/notesSlide" Target="/ppt/notesSlides/notesSlide23.xml" Id="R1ad7595a434c45b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cf3e337b24cce" /><Relationship Type="http://schemas.openxmlformats.org/officeDocument/2006/relationships/notesSlide" Target="/ppt/notesSlides/notesSlide24.xml" Id="R928839ec744646b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fec64734364e9e" /><Relationship Type="http://schemas.openxmlformats.org/officeDocument/2006/relationships/notesSlide" Target="/ppt/notesSlides/notesSlide25.xml" Id="R8e96732ab10944a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ce849b0b584e3e" /><Relationship Type="http://schemas.openxmlformats.org/officeDocument/2006/relationships/notesSlide" Target="/ppt/notesSlides/notesSlide26.xml" Id="R992461e159254bd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3c1f463c4a45b3" /><Relationship Type="http://schemas.openxmlformats.org/officeDocument/2006/relationships/notesSlide" Target="/ppt/notesSlides/notesSlide27.xml" Id="R6a73c2ac9693481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2ac8aa6304b49" /><Relationship Type="http://schemas.openxmlformats.org/officeDocument/2006/relationships/notesSlide" Target="/ppt/notesSlides/notesSlide28.xml" Id="R2637897b73db4f8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325ea14414d60" /><Relationship Type="http://schemas.openxmlformats.org/officeDocument/2006/relationships/notesSlide" Target="/ppt/notesSlides/notesSlide29.xml" Id="R4d777610cc6a48e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43e8a7033418b" /><Relationship Type="http://schemas.openxmlformats.org/officeDocument/2006/relationships/notesSlide" Target="/ppt/notesSlides/notesSlide30.xml" Id="R9e850d8daad54fb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01976d4cd84d1b" /><Relationship Type="http://schemas.openxmlformats.org/officeDocument/2006/relationships/notesSlide" Target="/ppt/notesSlides/notesSlide31.xml" Id="R97f8c65dd6764dd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0805ffafd44bd" /><Relationship Type="http://schemas.openxmlformats.org/officeDocument/2006/relationships/notesSlide" Target="/ppt/notesSlides/notesSlide32.xml" Id="R78b787b209c4411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bd73b8ad1240e3" /><Relationship Type="http://schemas.openxmlformats.org/officeDocument/2006/relationships/notesSlide" Target="/ppt/notesSlides/notesSlide33.xml" Id="Rb0c09cddb41242c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3b5c8d7e7b413c" /><Relationship Type="http://schemas.openxmlformats.org/officeDocument/2006/relationships/notesSlide" Target="/ppt/notesSlides/notesSlide34.xml" Id="R46dc29b063fb4db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eda21110c4443" /><Relationship Type="http://schemas.openxmlformats.org/officeDocument/2006/relationships/notesSlide" Target="/ppt/notesSlides/notesSlide35.xml" Id="R6a867e216361469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6699ef38de4355" /><Relationship Type="http://schemas.openxmlformats.org/officeDocument/2006/relationships/notesSlide" Target="/ppt/notesSlides/notesSlide36.xml" Id="Rfab96040450644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4483113-EA67-409B-8F7B-7B5DC972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3" name="圖片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603741aeb2485d"/>
          <a:srcRect xmlns:a="http://schemas.openxmlformats.org/drawingml/2006/main" l="15138" t="0" r="1513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95700" y="0"/>
            <a:ext cx="84963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270DDAD1-BAC2-4C83-BE12-8AB4C2B5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8000"/>
                </a:srgbClr>
              </a:gs>
              <a:gs pos="100000">
                <a:srgbClr val="07111F">
                  <a:alpha val="4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圓角矩形 3">
            <a:extLst xmlns:a="http://schemas.openxmlformats.org/drawingml/2006/main">
              <a:ext uri="{FF2B5EF4-FFF2-40B4-BE49-F238E27FC236}">
                <a16:creationId xmlns:a16="http://schemas.microsoft.com/office/drawing/2014/main" id="{B82B7334-E7FF-4B39-83A9-47FD27A2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6954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A9276E7-DB5B-42CB-982B-8EFB34A7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143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5 堂 | CI/CD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B91A914-99A4-4BC7-9AAD-4539223F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CI/CD 概念與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GitHub Actions 入門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DDEE2EC-4907-4A19-987D-FFCB1DA8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500" lnSpcReduction="2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延續第 4 堂 flask-app，把測試、build、health check 與 Docker Hub push 自動化。</a:t>
            </a:r>
          </a:p>
        </p:txBody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7434ED35-B37F-4673-97F9-94AE25D0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73342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1B78640-736B-4F5A-8F47-7C1C5C97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529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58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今天完成：接上 GitHub Actions、pytest、容器健康檢查、Docker Hub 自動上傳。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F2673A5-39BE-407A-AE3E-1E58F4AA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</a:p>
        </p:txBody>
      </p:sp>
    </p:spTree>
    <p:extLst>
      <p:ext uri="{BB962C8B-B14F-4D97-AF65-F5344CB8AC3E}">
        <p14:creationId xmlns:p14="http://schemas.microsoft.com/office/powerpoint/2010/main" val="3049686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094285EB-9877-4EB5-9350-AC754168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20CAF71-DF7F-449B-9F02-DA2FE873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06B9DC47-EC22-4F4C-BEE3-E90AD374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橢圓 3">
            <a:extLst xmlns:a="http://schemas.openxmlformats.org/drawingml/2006/main">
              <a:ext uri="{FF2B5EF4-FFF2-40B4-BE49-F238E27FC236}">
                <a16:creationId xmlns:a16="http://schemas.microsoft.com/office/drawing/2014/main" id="{ACCA14E4-B31F-441A-BC6E-3ED6E650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616F009-CD21-49D6-8460-EBB61F5A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E3AAF98-B413-4586-8D06-0A936B7C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CI/CD 觀念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089CA63-9236-4049-B6DD-CE520D34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理解 CI、CD 各自負責什麼，以及為什麼要自動化。</a:t>
            </a:r>
          </a:p>
        </p:txBody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50964DD6-0720-46BA-896D-67CC0E7B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60FF6F7-BD14-4258-80D4-5C8253E9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30 分鐘</a:t>
            </a:r>
          </a:p>
        </p:txBody>
      </p:sp>
      <p:sp>
        <p:nvSpPr>
          <p:cNvPr id="10" name="圓角矩形 9">
            <a:extLst xmlns:a="http://schemas.openxmlformats.org/drawingml/2006/main">
              <a:ext uri="{FF2B5EF4-FFF2-40B4-BE49-F238E27FC236}">
                <a16:creationId xmlns:a16="http://schemas.microsoft.com/office/drawing/2014/main" id="{0655E120-2648-4BEA-B188-786C8A7C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橢圓 10">
            <a:extLst xmlns:a="http://schemas.openxmlformats.org/drawingml/2006/main">
              <a:ext uri="{FF2B5EF4-FFF2-40B4-BE49-F238E27FC236}">
                <a16:creationId xmlns:a16="http://schemas.microsoft.com/office/drawing/2014/main" id="{D47445BA-8365-4EB4-8640-54D2A2E5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7143C443-76FB-4413-ACE5-501C398F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E0B05DD-1F86-4EB8-81FC-D9903EAA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Actions 基礎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846A7D3-23F4-4FE7-8943-588A1136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建立第一個 workflow，熟悉 event、job、step、runner。</a:t>
            </a:r>
          </a:p>
        </p:txBody>
      </p:sp>
      <p:sp>
        <p:nvSpPr>
          <p:cNvPr id="15" name="圓角矩形 14">
            <a:extLst xmlns:a="http://schemas.openxmlformats.org/drawingml/2006/main">
              <a:ext uri="{FF2B5EF4-FFF2-40B4-BE49-F238E27FC236}">
                <a16:creationId xmlns:a16="http://schemas.microsoft.com/office/drawing/2014/main" id="{6103FA4D-EC73-4BD5-AEAA-F52CEC44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14FBB10C-B076-4956-8395-7A6067B6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30 分鐘</a:t>
            </a:r>
          </a:p>
        </p:txBody>
      </p:sp>
      <p:sp>
        <p:nvSpPr>
          <p:cNvPr id="17" name="圓角矩形 16">
            <a:extLst xmlns:a="http://schemas.openxmlformats.org/drawingml/2006/main">
              <a:ext uri="{FF2B5EF4-FFF2-40B4-BE49-F238E27FC236}">
                <a16:creationId xmlns:a16="http://schemas.microsoft.com/office/drawing/2014/main" id="{CBB35AD7-5A8A-419D-A622-1AA9817C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橢圓 17">
            <a:extLst xmlns:a="http://schemas.openxmlformats.org/drawingml/2006/main">
              <a:ext uri="{FF2B5EF4-FFF2-40B4-BE49-F238E27FC236}">
                <a16:creationId xmlns:a16="http://schemas.microsoft.com/office/drawing/2014/main" id="{A1573975-05FF-4377-B02C-D158F44F1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C7BDB302-8529-43FF-824E-D29F0EA0E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7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A51E532A-7AFD-45CE-8254-3CA686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測試與 Docker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A32B737-6297-47D4-87A8-45F8B1E03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19450"/>
            <a:ext cx="2743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沿用 flask-app，自動跑 pytest，再 build、health check、push Docker Image。</a:t>
            </a:r>
          </a:p>
        </p:txBody>
      </p:sp>
      <p:sp>
        <p:nvSpPr>
          <p:cNvPr id="22" name="圓角矩形 21">
            <a:extLst xmlns:a="http://schemas.openxmlformats.org/drawingml/2006/main">
              <a:ext uri="{FF2B5EF4-FFF2-40B4-BE49-F238E27FC236}">
                <a16:creationId xmlns:a16="http://schemas.microsoft.com/office/drawing/2014/main" id="{268AE630-1C0A-4A88-A98B-7D8BCAF0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722227D2-68B1-4D75-8A16-3B62531F5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52925"/>
            <a:ext cx="1009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2 小時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AC7A4A80-3ADD-4654-B0CF-418AC959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這堂課的核心：把第 4 堂手動 build / push 流程交給 GitHub Actions 重複執行。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42B4295D-B0BF-41DC-BC6A-34D67C6FC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D5829FB2-994F-4255-85A0-EEDDDCF2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D03AAB59-F8C6-467D-B34F-0D7319E6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564131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44E718AD-8A5A-41B5-B5D1-416CAAB3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STORY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01C3094-7E5E-4F71-B904-85DFF017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CI/CD 是軟體開發的傳送帶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3B08959C-7DFD-4724-9B01-97790DFD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4191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AD652470-D7A3-48E4-9F04-B552E012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598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傳統做法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6864DBC-0FED-427E-9C27-9ACB5A27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8400"/>
            <a:ext cx="37338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寫完程式 -&gt; 自己測試 -&gt; 自己 build -&gt; 自己 push -&gt; 手動部署。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每一步都靠人記得做。</a:t>
            </a:r>
          </a:p>
        </p:txBody>
      </p:sp>
      <p:sp>
        <p:nvSpPr>
          <p:cNvPr id="6" name="向右箭號 5">
            <a:extLst xmlns:a="http://schemas.openxmlformats.org/drawingml/2006/main">
              <a:ext uri="{FF2B5EF4-FFF2-40B4-BE49-F238E27FC236}">
                <a16:creationId xmlns:a16="http://schemas.microsoft.com/office/drawing/2014/main" id="{DCBC3C41-77EB-43F6-A452-E59F6420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686050"/>
            <a:ext cx="9525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 xmlns:a="http://schemas.openxmlformats.org/drawingml/2006/main">
              <a:ext uri="{FF2B5EF4-FFF2-40B4-BE49-F238E27FC236}">
                <a16:creationId xmlns:a16="http://schemas.microsoft.com/office/drawing/2014/main" id="{048B28A3-4B94-4EB5-B216-722A484B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657350"/>
            <a:ext cx="4191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4510C43F-87C9-4C14-8AEA-6C2E1CE9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47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598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自動化做法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768D9F9-C54E-4BD5-B39E-DB3B2051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38400"/>
            <a:ext cx="37338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寫完程式 -&gt; push。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剩下的測試、打包、上傳交給 pipeline。</a:t>
            </a:r>
          </a:p>
        </p:txBody>
      </p:sp>
      <p:sp>
        <p:nvSpPr>
          <p:cNvPr id="10" name="圓角矩形 9">
            <a:extLst xmlns:a="http://schemas.openxmlformats.org/drawingml/2006/main">
              <a:ext uri="{FF2B5EF4-FFF2-40B4-BE49-F238E27FC236}">
                <a16:creationId xmlns:a16="http://schemas.microsoft.com/office/drawing/2014/main" id="{04C05AC1-C47B-4B6B-BFAC-494DD8D2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19650"/>
            <a:ext cx="88392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4C50E9C4-7976-48BC-8F32-5ABCE41F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010150"/>
            <a:ext cx="811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263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開發者專心寫程式，重複且容易漏的步驟交給自動化。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2F5C71B-F18D-40E3-8DEC-27A246F4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22C082F2-460E-487C-85D1-3C100767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B6DAAFF-D50B-4C05-A3C9-C1AA1D1D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63780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9F67BB34-2D62-4E59-87C8-7ABD80A0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E934FC7-135B-414E-A726-00A19ED6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CI/CD 的完整流程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3DB14A94-88C6-423E-982F-576DB8D7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1752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2A693A0-0798-4C20-A1CF-883521BE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19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75E7A65-9A8A-4235-9C1B-720A0CA2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開發者推程式碼</a:t>
            </a:r>
          </a:p>
        </p:txBody>
      </p:sp>
      <p:sp>
        <p:nvSpPr>
          <p:cNvPr id="6" name="向右箭號 5">
            <a:extLst xmlns:a="http://schemas.openxmlformats.org/drawingml/2006/main">
              <a:ext uri="{FF2B5EF4-FFF2-40B4-BE49-F238E27FC236}">
                <a16:creationId xmlns:a16="http://schemas.microsoft.com/office/drawing/2014/main" id="{7905FCC7-9968-43D8-B3AA-0DF74FC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81300"/>
            <a:ext cx="5143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 xmlns:a="http://schemas.openxmlformats.org/drawingml/2006/main">
              <a:ext uri="{FF2B5EF4-FFF2-40B4-BE49-F238E27FC236}">
                <a16:creationId xmlns:a16="http://schemas.microsoft.com/office/drawing/2014/main" id="{421B3D66-DCE2-4E49-88E2-AD1F9352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52650"/>
            <a:ext cx="1752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7F2A721-FB94-456B-A91D-2F4B86D6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765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19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CI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E645314-41DD-45C2-A23F-1D9D2BB7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480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自動跑測試</a:t>
            </a:r>
          </a:p>
        </p:txBody>
      </p:sp>
      <p:sp>
        <p:nvSpPr>
          <p:cNvPr id="10" name="向右箭號 9">
            <a:extLst xmlns:a="http://schemas.openxmlformats.org/drawingml/2006/main">
              <a:ext uri="{FF2B5EF4-FFF2-40B4-BE49-F238E27FC236}">
                <a16:creationId xmlns:a16="http://schemas.microsoft.com/office/drawing/2014/main" id="{F0191723-D929-4FC7-94E6-3C1D4BCC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81300"/>
            <a:ext cx="5143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1" name="圓角矩形 10">
            <a:extLst xmlns:a="http://schemas.openxmlformats.org/drawingml/2006/main">
              <a:ext uri="{FF2B5EF4-FFF2-40B4-BE49-F238E27FC236}">
                <a16:creationId xmlns:a16="http://schemas.microsoft.com/office/drawing/2014/main" id="{C5C145C1-BDBD-4C58-9B2B-F677AE99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152650"/>
            <a:ext cx="1752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C635F7FD-FDDB-4C60-84B5-0127C74E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765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19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3D84252-BFCD-47B1-9FAE-64FF1B5C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480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 Docker Image</a:t>
            </a:r>
          </a:p>
        </p:txBody>
      </p:sp>
      <p:sp>
        <p:nvSpPr>
          <p:cNvPr id="14" name="向右箭號 13">
            <a:extLst xmlns:a="http://schemas.openxmlformats.org/drawingml/2006/main">
              <a:ext uri="{FF2B5EF4-FFF2-40B4-BE49-F238E27FC236}">
                <a16:creationId xmlns:a16="http://schemas.microsoft.com/office/drawing/2014/main" id="{FAC43D9A-0993-4EA8-8050-06B5C96A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81300"/>
            <a:ext cx="5143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5" name="圓角矩形 14">
            <a:extLst xmlns:a="http://schemas.openxmlformats.org/drawingml/2006/main">
              <a:ext uri="{FF2B5EF4-FFF2-40B4-BE49-F238E27FC236}">
                <a16:creationId xmlns:a16="http://schemas.microsoft.com/office/drawing/2014/main" id="{B996074C-8B0A-4D3E-B19A-48B00C2D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152650"/>
            <a:ext cx="1752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7E2CF0C-22DB-4B03-B869-93046999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765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19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Push Image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13C07BF-9780-42E1-90FB-9228FA0F3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0480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上傳 Registry</a:t>
            </a:r>
          </a:p>
        </p:txBody>
      </p:sp>
      <p:sp>
        <p:nvSpPr>
          <p:cNvPr id="18" name="向右箭號 17">
            <a:extLst xmlns:a="http://schemas.openxmlformats.org/drawingml/2006/main">
              <a:ext uri="{FF2B5EF4-FFF2-40B4-BE49-F238E27FC236}">
                <a16:creationId xmlns:a16="http://schemas.microsoft.com/office/drawing/2014/main" id="{45099ECF-0508-4C7F-8438-6A82330E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81300"/>
            <a:ext cx="5143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9" name="圓角矩形 18">
            <a:extLst xmlns:a="http://schemas.openxmlformats.org/drawingml/2006/main">
              <a:ext uri="{FF2B5EF4-FFF2-40B4-BE49-F238E27FC236}">
                <a16:creationId xmlns:a16="http://schemas.microsoft.com/office/drawing/2014/main" id="{9332DA0A-52DA-4678-856D-E5C9DAE0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152650"/>
            <a:ext cx="1752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893AD214-544E-4EC0-B9BD-3F82C4E6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765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19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64748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748B"/>
                </a:solidFill>
                <a:latin typeface="Aptos Display"/>
                <a:ea typeface="Aptos Display"/>
                <a:cs typeface="Aptos Display"/>
              </a:rPr>
              <a:t>Deploy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7B8B7DE-5E0F-41FD-B361-F07FDEF4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48000"/>
            <a:ext cx="140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更新服務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E9F79C3B-3594-4E28-9D9E-7E64F3F7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815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7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CI：先確認程式沒壞。CD：通過後把可交付的東西送出去。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63F261-F21E-429C-BE86-73C4342A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523ADBDB-7CC2-48B2-9C4D-46B5FAC6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94AA4F2D-5B3F-45E3-84A1-75F96C5B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047216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8219FDC-4920-4DC9-B007-6B49BED4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41795EA-DFDF-4E6F-8FB6-B0BE5672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1：CI 和 CD 分別做什麼？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E2E41994-FB23-473C-93DD-72DA9893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76400"/>
            <a:ext cx="4381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A94D65B6-F215-49DB-89E1-63F5B02A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116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CI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2F6B30C-6193-4E35-8F43-EAE80C18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57450"/>
            <a:ext cx="3924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Continuous Integration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持續整合</a:t>
            </a:r>
          </a:p>
          <a:p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push 後自動跑測試，確保改動沒有弄壞功能。</a:t>
            </a:r>
          </a:p>
        </p:txBody>
      </p:sp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7A1E45B5-A03A-4545-9218-69ACDBB0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76400"/>
            <a:ext cx="4381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B12316F-DAED-4147-BD6E-68942A89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669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116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CD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E19A1B5-B9D8-41BB-AB42-900438CC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57450"/>
            <a:ext cx="3924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Continuous Delivery / Deployment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持續交付或部署</a:t>
            </a:r>
          </a:p>
          <a:p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測試通過後，自動打包、上傳或部署。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18E73DA-533A-441B-AC17-B27F6A2B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105400"/>
            <a:ext cx="922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先自己說一次，再用「測試」和「交付」兩個關鍵字檢查想法。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16B157-0D3D-417F-A5AA-43348953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43EBBF2-B68C-46E5-BCE2-90215DBD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67CB22C-583F-4BD6-BEC4-8CD4DA7E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480472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3882F54D-7E96-4492-9EF3-E9F950BF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MANUAL PAIN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8E42676-6EA6-4FCB-91F3-4DCAA2E3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CI/CD，痛苦會重複發生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C20B9E3B-D172-418C-A896-2A25AE93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5430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</p:sp>
      <p:sp>
        <p:nvSpPr>
          <p:cNvPr id="4" name="圓角矩形 3">
            <a:extLst xmlns:a="http://schemas.openxmlformats.org/drawingml/2006/main">
              <a:ext uri="{FF2B5EF4-FFF2-40B4-BE49-F238E27FC236}">
                <a16:creationId xmlns:a16="http://schemas.microsoft.com/office/drawing/2014/main" id="{7299F31A-ABC6-4889-8445-3E612568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430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01961EE-6257-41EE-B3F1-A005972F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714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自己跑測試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750F416-5628-4E43-B8DA-AB5DDE7C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714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每次 push 自動跑</a:t>
            </a:r>
          </a:p>
        </p:txBody>
      </p:sp>
      <p:sp>
        <p:nvSpPr>
          <p:cNvPr id="7" name="向右箭號 6">
            <a:extLst xmlns:a="http://schemas.openxmlformats.org/drawingml/2006/main">
              <a:ext uri="{FF2B5EF4-FFF2-40B4-BE49-F238E27FC236}">
                <a16:creationId xmlns:a16="http://schemas.microsoft.com/office/drawing/2014/main" id="{119B710B-8E84-40D8-9916-4C735915C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714500"/>
            <a:ext cx="6667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A956BD1E-5F51-453C-8ED0-937F2EEA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0030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圓角矩形 8">
            <a:extLst xmlns:a="http://schemas.openxmlformats.org/drawingml/2006/main">
              <a:ext uri="{FF2B5EF4-FFF2-40B4-BE49-F238E27FC236}">
                <a16:creationId xmlns:a16="http://schemas.microsoft.com/office/drawing/2014/main" id="{13BA7C21-4CDF-4EF5-A719-1F6CFCDC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E6B0A51-36B7-4E22-AFBF-881E6D1D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自己 docker build / push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6ADC59FE-9E9D-483F-8B5F-AC46DF2B9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717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自動 build / push</a:t>
            </a:r>
          </a:p>
        </p:txBody>
      </p:sp>
      <p:sp>
        <p:nvSpPr>
          <p:cNvPr id="12" name="向右箭號 11">
            <a:extLst xmlns:a="http://schemas.openxmlformats.org/drawingml/2006/main">
              <a:ext uri="{FF2B5EF4-FFF2-40B4-BE49-F238E27FC236}">
                <a16:creationId xmlns:a16="http://schemas.microsoft.com/office/drawing/2014/main" id="{217C6C7A-E5EE-4808-AB40-9A769114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571750"/>
            <a:ext cx="6667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3" name="圓角矩形 12">
            <a:extLst xmlns:a="http://schemas.openxmlformats.org/drawingml/2006/main">
              <a:ext uri="{FF2B5EF4-FFF2-40B4-BE49-F238E27FC236}">
                <a16:creationId xmlns:a16="http://schemas.microsoft.com/office/drawing/2014/main" id="{212D7420-2283-4632-B9B3-614D2535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575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</p:sp>
      <p:sp>
        <p:nvSpPr>
          <p:cNvPr id="14" name="圓角矩形 13">
            <a:extLst xmlns:a="http://schemas.openxmlformats.org/drawingml/2006/main">
              <a:ext uri="{FF2B5EF4-FFF2-40B4-BE49-F238E27FC236}">
                <a16:creationId xmlns:a16="http://schemas.microsoft.com/office/drawing/2014/main" id="{152FE27D-8A98-4FAB-B98D-B2B741AA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25755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05F9FBF9-8B68-4BA0-9A2C-E169F471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4290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本機測過，上線卻壞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7AE378E2-C1E8-4D4D-8ECF-D1D66594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4290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統一 runner 環境測試</a:t>
            </a:r>
          </a:p>
        </p:txBody>
      </p:sp>
      <p:sp>
        <p:nvSpPr>
          <p:cNvPr id="17" name="向右箭號 16">
            <a:extLst xmlns:a="http://schemas.openxmlformats.org/drawingml/2006/main">
              <a:ext uri="{FF2B5EF4-FFF2-40B4-BE49-F238E27FC236}">
                <a16:creationId xmlns:a16="http://schemas.microsoft.com/office/drawing/2014/main" id="{7646826A-B7D0-4F2F-AC11-4A83C9D3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429000"/>
            <a:ext cx="6667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8" name="圓角矩形 17">
            <a:extLst xmlns:a="http://schemas.openxmlformats.org/drawingml/2006/main">
              <a:ext uri="{FF2B5EF4-FFF2-40B4-BE49-F238E27FC236}">
                <a16:creationId xmlns:a16="http://schemas.microsoft.com/office/drawing/2014/main" id="{A427831F-0B3C-4CC5-94AF-DCB9219A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1480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圓角矩形 18">
            <a:extLst xmlns:a="http://schemas.openxmlformats.org/drawingml/2006/main">
              <a:ext uri="{FF2B5EF4-FFF2-40B4-BE49-F238E27FC236}">
                <a16:creationId xmlns:a16="http://schemas.microsoft.com/office/drawing/2014/main" id="{F252B972-6A02-4760-9A88-10599685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0863F1E-C347-4889-AFB2-6312F18B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2862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部署靠手順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28C7D152-2C4C-491E-AFEC-31254839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862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流程寫成 YAML</a:t>
            </a:r>
          </a:p>
        </p:txBody>
      </p:sp>
      <p:sp>
        <p:nvSpPr>
          <p:cNvPr id="22" name="向右箭號 21">
            <a:extLst xmlns:a="http://schemas.openxmlformats.org/drawingml/2006/main">
              <a:ext uri="{FF2B5EF4-FFF2-40B4-BE49-F238E27FC236}">
                <a16:creationId xmlns:a16="http://schemas.microsoft.com/office/drawing/2014/main" id="{A1C7E784-D2B3-4745-B3E7-DDFEADCB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286250"/>
            <a:ext cx="6667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A0736FDD-E986-4740-92CD-6B3F2006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1DE27EAD-ABFA-4500-819D-5B1A6355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0B3977F-F83A-44E2-A2F9-44235B0C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188760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1F8E273-DCF0-4AEB-990A-978A9DEC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CI/CD TOOLS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267AD84-779D-4D88-BD21-A2D8A31C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本課程使用 GitHub Actions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4D55BEAD-D923-43AA-B483-CD6A0855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2476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0DD08CF-4E54-4BFB-B514-6B46B4EDE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GitHub Actions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FB51CB1-7F8B-4A2E-8964-4D94FE83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09850"/>
            <a:ext cx="2019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GitHub 內建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這堂課使用</a:t>
            </a:r>
          </a:p>
        </p:txBody>
      </p:sp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2BA62C7C-6383-4694-ADCA-03F1BBC3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885950"/>
            <a:ext cx="2476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C90542A-2DE2-489D-8923-D12D2895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0764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GitLab CI/CD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FDCFC08-AD22-4033-8D92-2EA7D5E3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09850"/>
            <a:ext cx="2019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GitLab 專案常用</a:t>
            </a:r>
          </a:p>
        </p:txBody>
      </p:sp>
      <p:sp>
        <p:nvSpPr>
          <p:cNvPr id="9" name="圓角矩形 8">
            <a:extLst xmlns:a="http://schemas.openxmlformats.org/drawingml/2006/main">
              <a:ext uri="{FF2B5EF4-FFF2-40B4-BE49-F238E27FC236}">
                <a16:creationId xmlns:a16="http://schemas.microsoft.com/office/drawing/2014/main" id="{D1E0CB2A-9C00-437E-9FB0-E52F8846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85950"/>
            <a:ext cx="2476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AE63D92-0DFA-4811-A7D8-E5D69332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764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Jenkins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50F99E8-10F0-47D5-B9EF-DFCD278E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9850"/>
            <a:ext cx="2019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老牌工具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常需要自架</a:t>
            </a:r>
          </a:p>
        </p:txBody>
      </p:sp>
      <p:sp>
        <p:nvSpPr>
          <p:cNvPr id="12" name="圓角矩形 11">
            <a:extLst xmlns:a="http://schemas.openxmlformats.org/drawingml/2006/main">
              <a:ext uri="{FF2B5EF4-FFF2-40B4-BE49-F238E27FC236}">
                <a16:creationId xmlns:a16="http://schemas.microsoft.com/office/drawing/2014/main" id="{21777A46-439F-45BD-9973-89FBB32B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85950"/>
            <a:ext cx="2476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AA1D4AA-AB09-4B16-A7D7-2F1F816E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0764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CircleCI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0301F75A-DA80-4E9F-8838-64A03B2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09850"/>
            <a:ext cx="2019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第三方服務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05A9BBD-867C-40D3-B4D1-3A52DD21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62500"/>
            <a:ext cx="9258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原因很務實：專案放在 GitHub，workflow 也放在同一個 repository 裡，學生容易跟著做。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5E9D514-BF08-49EB-B54A-C02DFE05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E2859969-0FF3-4F23-B36F-A7262DE43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443EDF81-31CC-4DCE-A0FD-C94FB5D7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143112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E6CF7F8-9A67-4B69-B3E0-9F7BD7F9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1EC3769-1D61-4FB6-A049-CF1C5F09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GitHub Actions 的五個核心概念</a:t>
            </a:r>
          </a:p>
        </p:txBody>
      </p:sp>
      <p:pic>
        <p:nvPicPr>
          <p:cNvPr id="26" name="圖片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2402b64dee4fd8"/>
          <a:srcRect xmlns:a="http://schemas.openxmlformats.org/drawingml/2006/main" l="4613" t="0" r="46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8900" y="1428750"/>
            <a:ext cx="4762500" cy="2952750"/>
          </a:xfrm>
          <a:prstGeom xmlns:a="http://schemas.openxmlformats.org/drawingml/2006/main" prst="roundRect">
            <a:avLst/>
          </a:prstGeom>
        </p:spPr>
      </p:pic>
      <p:sp>
        <p:nvSpPr>
          <p:cNvPr id="4" name="圓角矩形 3">
            <a:extLst xmlns:a="http://schemas.openxmlformats.org/drawingml/2006/main">
              <a:ext uri="{FF2B5EF4-FFF2-40B4-BE49-F238E27FC236}">
                <a16:creationId xmlns:a16="http://schemas.microsoft.com/office/drawing/2014/main" id="{1D788D1F-EDBA-4F79-810E-4640A577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428750"/>
            <a:ext cx="4762500" cy="295275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圓角矩形 4">
            <a:extLst xmlns:a="http://schemas.openxmlformats.org/drawingml/2006/main">
              <a:ext uri="{FF2B5EF4-FFF2-40B4-BE49-F238E27FC236}">
                <a16:creationId xmlns:a16="http://schemas.microsoft.com/office/drawing/2014/main" id="{C2181D47-29CF-4B60-85E3-E751C45E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66850"/>
            <a:ext cx="457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17C7D0E-15C8-4B23-B075-D5F589ED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097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529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Workflow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C5A7A58-1427-4386-854D-2FC85ACB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6097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自動化腳本</a:t>
            </a:r>
          </a:p>
        </p:txBody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7E06D8AE-FF97-41A9-B6FB-546E361E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457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B4FA545-142E-41F8-B017-423F7316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764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529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Event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6B799D8-35A7-42E6-B8D1-FF8DA117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7647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什麼時候觸發</a:t>
            </a:r>
          </a:p>
        </p:txBody>
      </p:sp>
      <p:sp>
        <p:nvSpPr>
          <p:cNvPr id="11" name="圓角矩形 10">
            <a:extLst xmlns:a="http://schemas.openxmlformats.org/drawingml/2006/main">
              <a:ext uri="{FF2B5EF4-FFF2-40B4-BE49-F238E27FC236}">
                <a16:creationId xmlns:a16="http://schemas.microsoft.com/office/drawing/2014/main" id="{B1CD0E48-76E9-444C-B980-5CB5AE9A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457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A3FDC6F1-649B-4333-BD8F-DF79B7E0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432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529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Job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B658B36-2C24-40A9-B79B-9E28A90AB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432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一個大任務</a:t>
            </a:r>
          </a:p>
        </p:txBody>
      </p:sp>
      <p:sp>
        <p:nvSpPr>
          <p:cNvPr id="14" name="圓角矩形 13">
            <a:extLst xmlns:a="http://schemas.openxmlformats.org/drawingml/2006/main">
              <a:ext uri="{FF2B5EF4-FFF2-40B4-BE49-F238E27FC236}">
                <a16:creationId xmlns:a16="http://schemas.microsoft.com/office/drawing/2014/main" id="{0AC4F799-C15B-4E33-92BD-B46BFD99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67100"/>
            <a:ext cx="457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78CEC77-791E-42A3-8DEC-E8992851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099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529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Step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1F60A76F-2771-4546-A7B6-B8D0CD48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997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任務裡的一步</a:t>
            </a:r>
          </a:p>
        </p:txBody>
      </p:sp>
      <p:sp>
        <p:nvSpPr>
          <p:cNvPr id="17" name="圓角矩形 16">
            <a:extLst xmlns:a="http://schemas.openxmlformats.org/drawingml/2006/main">
              <a:ext uri="{FF2B5EF4-FFF2-40B4-BE49-F238E27FC236}">
                <a16:creationId xmlns:a16="http://schemas.microsoft.com/office/drawing/2014/main" id="{4F23CD1A-6E68-4E52-8404-824A9F79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4572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EF5547B5-9005-49AF-82F3-92F39B0D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7672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529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Runner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6647615D-A864-48B6-9131-48F699C4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767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執行的虛擬機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D56DE91F-532A-4454-A7E7-88B08BEE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C11041E0-9A6A-4E08-82AE-5E39293C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F7FCC93A-B3FB-46CB-B89B-CBD57BA9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490512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6E21B1A1-4DDA-4D19-AFB3-079A0AA6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FILE STRUCTURE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52C89DE-D6A3-4872-906C-B713DD9C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Workflow 放在 repository 裡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C8822C6C-8EC5-4CB3-A916-078909275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524000"/>
            <a:ext cx="4572000" cy="3028950"/>
          </a:xfrm>
          <a:prstGeom xmlns:a="http://schemas.openxmlformats.org/drawingml/2006/main" prst="roundRect">
            <a:avLst>
              <a:gd name="adj" fmla="val 314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橢圓 3">
            <a:extLst xmlns:a="http://schemas.openxmlformats.org/drawingml/2006/main">
              <a:ext uri="{FF2B5EF4-FFF2-40B4-BE49-F238E27FC236}">
                <a16:creationId xmlns:a16="http://schemas.microsoft.com/office/drawing/2014/main" id="{BF4232DD-C676-4CAF-8049-2D9BE96E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橢圓 4">
            <a:extLst xmlns:a="http://schemas.openxmlformats.org/drawingml/2006/main">
              <a:ext uri="{FF2B5EF4-FFF2-40B4-BE49-F238E27FC236}">
                <a16:creationId xmlns:a16="http://schemas.microsoft.com/office/drawing/2014/main" id="{C1659F60-9AD6-4A56-AF47-629F7320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橢圓 5">
            <a:extLst xmlns:a="http://schemas.openxmlformats.org/drawingml/2006/main">
              <a:ext uri="{FF2B5EF4-FFF2-40B4-BE49-F238E27FC236}">
                <a16:creationId xmlns:a16="http://schemas.microsoft.com/office/drawing/2014/main" id="{9D7FEB6B-9016-4FBC-992D-E3D5FC3E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CB0020E-A06E-4F4C-B98F-6ECD1278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43100"/>
            <a:ext cx="41529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08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flask-app/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github</a:t>
            </a: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workflows/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hello.yml</a:t>
            </a:r>
          </a:p>
        </p:txBody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0A1CC81D-D140-4EBB-A859-A1F868ED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37147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E0D2850-474B-484D-923B-4B012155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8595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前置準備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4CFB374-A450-446E-8FBC-390EE522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05050"/>
            <a:ext cx="3257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GitHub </a:t>
            </a: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帳號</a:t>
            </a: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+ Git for Windows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Hub token </a:t>
            </a: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準備好</a:t>
            </a:r>
          </a:p>
        </p:txBody>
      </p:sp>
      <p:sp>
        <p:nvSpPr>
          <p:cNvPr id="11" name="圓角矩形 10">
            <a:extLst xmlns:a="http://schemas.openxmlformats.org/drawingml/2006/main">
              <a:ext uri="{FF2B5EF4-FFF2-40B4-BE49-F238E27FC236}">
                <a16:creationId xmlns:a16="http://schemas.microsoft.com/office/drawing/2014/main" id="{BB43B1C5-32AE-4433-9147-769BF87F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371475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2" name="橢圓 11">
            <a:extLst xmlns:a="http://schemas.openxmlformats.org/drawingml/2006/main">
              <a:ext uri="{FF2B5EF4-FFF2-40B4-BE49-F238E27FC236}">
                <a16:creationId xmlns:a16="http://schemas.microsoft.com/office/drawing/2014/main" id="{70F18624-53B4-4989-AC93-AE653285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90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橢圓 12">
            <a:extLst xmlns:a="http://schemas.openxmlformats.org/drawingml/2006/main">
              <a:ext uri="{FF2B5EF4-FFF2-40B4-BE49-F238E27FC236}">
                <a16:creationId xmlns:a16="http://schemas.microsoft.com/office/drawing/2014/main" id="{54117303-DF0C-4D23-9081-C8744761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990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橢圓 13">
            <a:extLst xmlns:a="http://schemas.openxmlformats.org/drawingml/2006/main">
              <a:ext uri="{FF2B5EF4-FFF2-40B4-BE49-F238E27FC236}">
                <a16:creationId xmlns:a16="http://schemas.microsoft.com/office/drawing/2014/main" id="{9000B5DE-124A-44F1-BFA3-E9EEF10B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90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DEB27CC-D5B6-45A0-B331-7D4714FE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48150"/>
            <a:ext cx="3295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00" lnSpcReduction="2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init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remote add origin https://github.com/你的帳號/flask-app.git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push -u origin main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53957428-6712-49CE-8866-EAA19BF4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E13BC94-F5C4-463D-BD3C-A980B86A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0D81C5A7-FA6D-46C6-BA7A-60D0EA93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001679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F064099-E95C-4652-8F6F-970094A4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HELLO.YML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0778423-B19B-4792-A79D-8558006A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Hello Workflow 範例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A0679DDC-E5C1-4CAD-B8A1-207146FF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6286500" cy="4610100"/>
          </a:xfrm>
          <a:prstGeom xmlns:a="http://schemas.openxmlformats.org/drawingml/2006/main" prst="roundRect">
            <a:avLst>
              <a:gd name="adj" fmla="val 206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橢圓 3">
            <a:extLst xmlns:a="http://schemas.openxmlformats.org/drawingml/2006/main">
              <a:ext uri="{FF2B5EF4-FFF2-40B4-BE49-F238E27FC236}">
                <a16:creationId xmlns:a16="http://schemas.microsoft.com/office/drawing/2014/main" id="{94BD51AE-DCD4-4E76-9BDA-BF083135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橢圓 4">
            <a:extLst xmlns:a="http://schemas.openxmlformats.org/drawingml/2006/main">
              <a:ext uri="{FF2B5EF4-FFF2-40B4-BE49-F238E27FC236}">
                <a16:creationId xmlns:a16="http://schemas.microsoft.com/office/drawing/2014/main" id="{0CAEDD30-B70B-4D1A-99C9-7478BB0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橢圓 5">
            <a:extLst xmlns:a="http://schemas.openxmlformats.org/drawingml/2006/main">
              <a:ext uri="{FF2B5EF4-FFF2-40B4-BE49-F238E27FC236}">
                <a16:creationId xmlns:a16="http://schemas.microsoft.com/office/drawing/2014/main" id="{D2E2D968-ABEA-4F2A-92B5-13AE48CD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1EC0CE6-FB9A-40C8-93D7-CE2A85FB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5867400" cy="405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Hello GitHub Actions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main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say-hello: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打招呼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echo "Hello GitHub Actions!"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顯示目前時間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date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顯示系統資訊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uname</a:t>
            </a: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-a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2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</p:txBody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357DDC86-79E0-4B83-9A35-84B41666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14325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F55A863-CEFE-424F-AD71-50223A40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098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三個觀察點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7436F5F6-C4F8-4B9D-A37C-F5DC6335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43200"/>
            <a:ext cx="26860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332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on: push 代表 push 觸發。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runs-on 是 Runner 環境。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run 可以執行 shell 指令。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3A199053-208A-4A17-8B85-14F2242C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64EEFFFB-8726-4AD6-9348-D778753D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61C40E5-8977-4E59-8B35-C10CBA6B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383956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4A136C23-2824-4ACF-BD27-9E77C0FC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OBSERVE RUN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28A3933-9A42-4566-ABAC-75E3A9AA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 之後，到 Actions 看結果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593AB942-8791-4AE2-BE08-43F73F27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19250"/>
            <a:ext cx="4762500" cy="13335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橢圓 3">
            <a:extLst xmlns:a="http://schemas.openxmlformats.org/drawingml/2006/main">
              <a:ext uri="{FF2B5EF4-FFF2-40B4-BE49-F238E27FC236}">
                <a16:creationId xmlns:a16="http://schemas.microsoft.com/office/drawing/2014/main" id="{36FF0221-5B5D-48EB-9ABF-7EE4F457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橢圓 4">
            <a:extLst xmlns:a="http://schemas.openxmlformats.org/drawingml/2006/main">
              <a:ext uri="{FF2B5EF4-FFF2-40B4-BE49-F238E27FC236}">
                <a16:creationId xmlns:a16="http://schemas.microsoft.com/office/drawing/2014/main" id="{182E4F9D-32B9-47F2-8AA7-26F03B49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橢圓 5">
            <a:extLst xmlns:a="http://schemas.openxmlformats.org/drawingml/2006/main">
              <a:ext uri="{FF2B5EF4-FFF2-40B4-BE49-F238E27FC236}">
                <a16:creationId xmlns:a16="http://schemas.microsoft.com/office/drawing/2014/main" id="{4CD9AB5C-33EB-46F9-B850-84C8F41E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781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9AD5186-D296-4C51-8D2D-D5990D0D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38350"/>
            <a:ext cx="4343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107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add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commit -m "add first workflow"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git push</a:t>
            </a:r>
          </a:p>
        </p:txBody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EC340878-554D-46BA-8159-B1891BC2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29050"/>
            <a:ext cx="22098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AF02CCC0-07F3-4524-9CF6-91B40E4E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195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Repository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09285C9-C4CE-4CC8-B203-3F4072DFF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38650"/>
            <a:ext cx="175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打開專案頁面</a:t>
            </a:r>
          </a:p>
        </p:txBody>
      </p:sp>
      <p:sp>
        <p:nvSpPr>
          <p:cNvPr id="11" name="向右箭號 10">
            <a:extLst xmlns:a="http://schemas.openxmlformats.org/drawingml/2006/main">
              <a:ext uri="{FF2B5EF4-FFF2-40B4-BE49-F238E27FC236}">
                <a16:creationId xmlns:a16="http://schemas.microsoft.com/office/drawing/2014/main" id="{8F4D6202-F46D-4691-9478-DC2964A7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229100"/>
            <a:ext cx="4381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2" name="圓角矩形 11">
            <a:extLst xmlns:a="http://schemas.openxmlformats.org/drawingml/2006/main">
              <a:ext uri="{FF2B5EF4-FFF2-40B4-BE49-F238E27FC236}">
                <a16:creationId xmlns:a16="http://schemas.microsoft.com/office/drawing/2014/main" id="{0297D27F-9339-4865-A153-A0EE701C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829050"/>
            <a:ext cx="22098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4BD641CC-93FE-46D1-83CC-32EDFBFF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195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Actions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DE3A2C1-C071-4CF9-8491-2FD6EB10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438650"/>
            <a:ext cx="175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點上方 Actions 分頁</a:t>
            </a:r>
          </a:p>
        </p:txBody>
      </p:sp>
      <p:sp>
        <p:nvSpPr>
          <p:cNvPr id="15" name="向右箭號 14">
            <a:extLst xmlns:a="http://schemas.openxmlformats.org/drawingml/2006/main">
              <a:ext uri="{FF2B5EF4-FFF2-40B4-BE49-F238E27FC236}">
                <a16:creationId xmlns:a16="http://schemas.microsoft.com/office/drawing/2014/main" id="{CE4F02E1-12ED-40B9-9DB6-B907FCD8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229100"/>
            <a:ext cx="4381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6" name="圓角矩形 15">
            <a:extLst xmlns:a="http://schemas.openxmlformats.org/drawingml/2006/main">
              <a:ext uri="{FF2B5EF4-FFF2-40B4-BE49-F238E27FC236}">
                <a16:creationId xmlns:a16="http://schemas.microsoft.com/office/drawing/2014/main" id="{767FA2F7-DA59-4903-BA85-D7C7BBA9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829050"/>
            <a:ext cx="22098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E23FCA5-797A-4A43-9593-F25ABEDA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195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89F10FD8-B90B-46FE-984F-DAB89188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38650"/>
            <a:ext cx="175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點進 workflow run</a:t>
            </a:r>
          </a:p>
        </p:txBody>
      </p:sp>
      <p:sp>
        <p:nvSpPr>
          <p:cNvPr id="19" name="向右箭號 18">
            <a:extLst xmlns:a="http://schemas.openxmlformats.org/drawingml/2006/main">
              <a:ext uri="{FF2B5EF4-FFF2-40B4-BE49-F238E27FC236}">
                <a16:creationId xmlns:a16="http://schemas.microsoft.com/office/drawing/2014/main" id="{DB111C6E-A723-4C4A-954C-81CB3857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29100"/>
            <a:ext cx="4381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20" name="圓角矩形 19">
            <a:extLst xmlns:a="http://schemas.openxmlformats.org/drawingml/2006/main">
              <a:ext uri="{FF2B5EF4-FFF2-40B4-BE49-F238E27FC236}">
                <a16:creationId xmlns:a16="http://schemas.microsoft.com/office/drawing/2014/main" id="{1DA84A45-CAD7-4E43-8A1B-28B62817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829050"/>
            <a:ext cx="22098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45B8BF4F-B226-4CD0-87DE-167F6953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0195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Logs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BDEDC68A-BA54-4591-B398-1194672C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38650"/>
            <a:ext cx="1752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看每個 step 輸出</a:t>
            </a:r>
          </a:p>
        </p:txBody>
      </p:sp>
      <p:sp>
        <p:nvSpPr>
          <p:cNvPr id="23" name="圓角矩形 22">
            <a:extLst xmlns:a="http://schemas.openxmlformats.org/drawingml/2006/main">
              <a:ext uri="{FF2B5EF4-FFF2-40B4-BE49-F238E27FC236}">
                <a16:creationId xmlns:a16="http://schemas.microsoft.com/office/drawing/2014/main" id="{39110985-314A-4419-B6EE-E82D6CC5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57350"/>
            <a:ext cx="333375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A6DD82D2-9324-42FE-B12B-CC5EF843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478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第一次成功的意義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AB33588E-DC09-4CD3-A07C-E7ED0653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66950"/>
            <a:ext cx="2876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你已經讓 GitHub 的 Runner 自動幫你跑了一段程式。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CA6530DE-D027-4623-9A2A-B82F7308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F5792F40-5505-437A-90D1-8C94A3C3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0C2A9D6C-6BD7-4B71-84DE-B21B876F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799456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6FE262AF-A929-4738-9182-84A39B76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ANATOMY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BA1CA4-6B9B-4331-AC77-22DD25A3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Workflow 語法地圖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381E8D28-C3C0-40FD-AE5F-35F3C80E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504950"/>
            <a:ext cx="4038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A79DC26B-B0ED-4566-B3DA-7432AC9B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66687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name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2539C985-01D5-4866-989A-04879451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6668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名稱</a:t>
            </a:r>
          </a:p>
        </p:txBody>
      </p:sp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A4A46D78-2DD4-4CA5-8A8B-FFF1003D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04950"/>
            <a:ext cx="4038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40B62BC-A1E9-4272-B2CB-C1E2FF8C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66687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on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3C534699-CA29-40C6-88D5-C2255986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6668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觸發條件</a:t>
            </a:r>
          </a:p>
        </p:txBody>
      </p:sp>
      <p:sp>
        <p:nvSpPr>
          <p:cNvPr id="9" name="圓角矩形 8">
            <a:extLst xmlns:a="http://schemas.openxmlformats.org/drawingml/2006/main">
              <a:ext uri="{FF2B5EF4-FFF2-40B4-BE49-F238E27FC236}">
                <a16:creationId xmlns:a16="http://schemas.microsoft.com/office/drawing/2014/main" id="{6E0B6825-713C-47E9-AF38-E44D7D48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05050"/>
            <a:ext cx="4038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E89E8D4-BC76-440E-A8FD-7792AE86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6697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jobs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291C4F6-6495-4BAB-AF7A-AE3B965E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669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要執行的大任務</a:t>
            </a:r>
          </a:p>
        </p:txBody>
      </p:sp>
      <p:sp>
        <p:nvSpPr>
          <p:cNvPr id="12" name="圓角矩形 11">
            <a:extLst xmlns:a="http://schemas.openxmlformats.org/drawingml/2006/main">
              <a:ext uri="{FF2B5EF4-FFF2-40B4-BE49-F238E27FC236}">
                <a16:creationId xmlns:a16="http://schemas.microsoft.com/office/drawing/2014/main" id="{D896D460-4F81-4CC0-97B0-04903D67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05050"/>
            <a:ext cx="4038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BEE145B-8942-47A7-94BC-C874DA31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6697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runs-on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43EA9B0D-FEC9-4882-B775-99C2E538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669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Runner 環境</a:t>
            </a:r>
          </a:p>
        </p:txBody>
      </p:sp>
      <p:sp>
        <p:nvSpPr>
          <p:cNvPr id="15" name="圓角矩形 14">
            <a:extLst xmlns:a="http://schemas.openxmlformats.org/drawingml/2006/main">
              <a:ext uri="{FF2B5EF4-FFF2-40B4-BE49-F238E27FC236}">
                <a16:creationId xmlns:a16="http://schemas.microsoft.com/office/drawing/2014/main" id="{B7D707DF-86B9-47CD-BA08-A2251582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05150"/>
            <a:ext cx="4038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9E04B9D7-0429-4C0D-ACB9-0BBC6BF8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26707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steps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7AB53FC2-5DF9-4636-85DE-9FA6E976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670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任務裡的步驟</a:t>
            </a:r>
          </a:p>
        </p:txBody>
      </p:sp>
      <p:sp>
        <p:nvSpPr>
          <p:cNvPr id="18" name="圓角矩形 17">
            <a:extLst xmlns:a="http://schemas.openxmlformats.org/drawingml/2006/main">
              <a:ext uri="{FF2B5EF4-FFF2-40B4-BE49-F238E27FC236}">
                <a16:creationId xmlns:a16="http://schemas.microsoft.com/office/drawing/2014/main" id="{EA8DF450-D32A-4334-AFD1-42657E99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05150"/>
            <a:ext cx="4038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D91ABD8-7F1F-4BA2-8AA9-8DE306256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6707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uses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48C29D3-369F-44E5-B9E8-291E18BA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670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使用別人寫好的 Action</a:t>
            </a:r>
          </a:p>
        </p:txBody>
      </p:sp>
      <p:sp>
        <p:nvSpPr>
          <p:cNvPr id="21" name="圓角矩形 20">
            <a:extLst xmlns:a="http://schemas.openxmlformats.org/drawingml/2006/main">
              <a:ext uri="{FF2B5EF4-FFF2-40B4-BE49-F238E27FC236}">
                <a16:creationId xmlns:a16="http://schemas.microsoft.com/office/drawing/2014/main" id="{99552C3E-B367-4F34-A07A-F5D1C0AF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905250"/>
            <a:ext cx="4038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017C506F-3920-48E0-8D83-B7670748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6717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99CF5F41-D901-474F-B658-4869F944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6717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自己寫 shell 指令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A990952C-974B-4059-B561-10DB3ED7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9FE339C2-CA27-48B3-A89A-A7F96D8E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5D58AC85-35B2-4A4A-941C-2BA053F2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0711471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37109D9-335D-4918-A9BB-472B9987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90E7C451-7308-48C8-9AAD-A949E3D7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2：uses 和 run 差在哪？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2B93C637-A446-482C-A18B-76152561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38300"/>
            <a:ext cx="4381500" cy="25146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0887B836-6BBB-427D-AC10-EB2456A0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8288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116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uses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134FD54-7D58-434A-BFE2-73C95B219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57450"/>
            <a:ext cx="39243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使用別人寫好的 Action。</a:t>
            </a:r>
          </a:p>
          <a:p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像使用套件。</a:t>
            </a:r>
          </a:p>
          <a:p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例：actions/checkout@v4</a:t>
            </a:r>
          </a:p>
        </p:txBody>
      </p:sp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75C3CBAD-B679-4D64-8B9B-D6B95C81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38300"/>
            <a:ext cx="4381500" cy="25146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289E63C-0378-4165-AA61-69A693B3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288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116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5C748EE-8618-4D6C-AF5A-3086F9E3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457450"/>
            <a:ext cx="39243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自己寫 shell 指令。</a:t>
            </a:r>
          </a:p>
          <a:p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像直接在終端機打指令。</a:t>
            </a:r>
          </a:p>
          <a:p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例：pytest test_app.py -v</a:t>
            </a:r>
          </a:p>
        </p:txBody>
      </p:sp>
      <p:sp>
        <p:nvSpPr>
          <p:cNvPr id="9" name="圓角矩形 8">
            <a:extLst xmlns:a="http://schemas.openxmlformats.org/drawingml/2006/main">
              <a:ext uri="{FF2B5EF4-FFF2-40B4-BE49-F238E27FC236}">
                <a16:creationId xmlns:a16="http://schemas.microsoft.com/office/drawing/2014/main" id="{C308FA39-A916-4DAA-8658-E458EF95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57750"/>
            <a:ext cx="6400800" cy="952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橢圓 9">
            <a:extLst xmlns:a="http://schemas.openxmlformats.org/drawingml/2006/main">
              <a:ext uri="{FF2B5EF4-FFF2-40B4-BE49-F238E27FC236}">
                <a16:creationId xmlns:a16="http://schemas.microsoft.com/office/drawing/2014/main" id="{1D001316-B3EF-43AB-9B87-83F0A6E1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19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橢圓 10">
            <a:extLst xmlns:a="http://schemas.openxmlformats.org/drawingml/2006/main">
              <a:ext uri="{FF2B5EF4-FFF2-40B4-BE49-F238E27FC236}">
                <a16:creationId xmlns:a16="http://schemas.microsoft.com/office/drawing/2014/main" id="{E313AFE1-1A61-4BCE-BD1C-5BA4AB7F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19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橢圓 11">
            <a:extLst xmlns:a="http://schemas.openxmlformats.org/drawingml/2006/main">
              <a:ext uri="{FF2B5EF4-FFF2-40B4-BE49-F238E27FC236}">
                <a16:creationId xmlns:a16="http://schemas.microsoft.com/office/drawing/2014/main" id="{49240EF0-7AEF-415A-A509-2DD66CE8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019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FCB7DD5-2AB2-4DFD-A88D-53512032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276850"/>
            <a:ext cx="5981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9153" lnSpcReduction="2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uses: actions/checkout@v4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run: pip install -r requirements.txt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A4A50A3A-90F2-486A-875E-034BA333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12407D0C-73D6-4CC7-8B20-13E3C9E3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6663BD8F-68EB-4627-A82A-1C3BCA6A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5282836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C5FEF62A-01B9-4FA9-B183-8B13C1B3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PYTHON PROJECT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FC3C2C8-A447-4A5E-A067-6681AAC2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沿用 Flask 專案：先補 app.py、requirements.txt、test_app.py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B5103314-0E05-4FB2-98C5-A53E725D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ECBB002-9394-4C22-9C28-DEEB3B5BE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907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app.py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8A20294-DA71-42B7-92C1-EF8434F6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24150"/>
            <a:ext cx="2400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/ 和 /health endpoint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確認可以直接 python app.py 啟動</a:t>
            </a:r>
          </a:p>
        </p:txBody>
      </p:sp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6F53CA1F-CD5A-4227-8061-358F28D4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BE326F3-EF23-48DA-A0B2-FEDE8E6A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907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test_app.py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00D5FFC-682C-409C-965E-5D0911A4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724150"/>
            <a:ext cx="2400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pytest 測 Flask route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確認首頁與健康檢查</a:t>
            </a:r>
          </a:p>
        </p:txBody>
      </p:sp>
      <p:sp>
        <p:nvSpPr>
          <p:cNvPr id="9" name="圓角矩形 8">
            <a:extLst xmlns:a="http://schemas.openxmlformats.org/drawingml/2006/main">
              <a:ext uri="{FF2B5EF4-FFF2-40B4-BE49-F238E27FC236}">
                <a16:creationId xmlns:a16="http://schemas.microsoft.com/office/drawing/2014/main" id="{56971B24-DF87-498B-BDB4-787DE104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0025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7DC9E5F2-0D18-4622-BD55-0940D1DF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907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34BF38D7-E5FA-4A52-A650-3019F4BF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24150"/>
            <a:ext cx="2400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+ pytest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CI 和本機都靠它安裝套件</a:t>
            </a:r>
          </a:p>
        </p:txBody>
      </p:sp>
      <p:sp>
        <p:nvSpPr>
          <p:cNvPr id="12" name="圓角矩形 11">
            <a:extLst xmlns:a="http://schemas.openxmlformats.org/drawingml/2006/main">
              <a:ext uri="{FF2B5EF4-FFF2-40B4-BE49-F238E27FC236}">
                <a16:creationId xmlns:a16="http://schemas.microsoft.com/office/drawing/2014/main" id="{561A5EF9-77C5-4038-A945-0BFCA652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62500"/>
            <a:ext cx="59055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橢圓 12">
            <a:extLst xmlns:a="http://schemas.openxmlformats.org/drawingml/2006/main">
              <a:ext uri="{FF2B5EF4-FFF2-40B4-BE49-F238E27FC236}">
                <a16:creationId xmlns:a16="http://schemas.microsoft.com/office/drawing/2014/main" id="{01F46139-2303-42B3-8CAA-77A5B480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橢圓 13">
            <a:extLst xmlns:a="http://schemas.openxmlformats.org/drawingml/2006/main">
              <a:ext uri="{FF2B5EF4-FFF2-40B4-BE49-F238E27FC236}">
                <a16:creationId xmlns:a16="http://schemas.microsoft.com/office/drawing/2014/main" id="{2083DF39-B7CC-410A-97DA-1956112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橢圓 14">
            <a:extLst xmlns:a="http://schemas.openxmlformats.org/drawingml/2006/main">
              <a:ext uri="{FF2B5EF4-FFF2-40B4-BE49-F238E27FC236}">
                <a16:creationId xmlns:a16="http://schemas.microsoft.com/office/drawing/2014/main" id="{BAC28A91-4A1F-4E12-9D2A-0F3C7755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831DCB85-5BBC-4FBD-A83A-C0405A72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181600"/>
            <a:ext cx="5486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7596" lnSpcReduction="2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 test_app.py -v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F3758ED-7DF6-4572-88B8-51D574AE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6DEE1990-35C6-47F0-8B69-F3283890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8F596DAF-5DB6-429B-B104-A2395DD6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78588453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285F3312-3C28-43A8-A464-5C0B00CA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976ADE-83B3-45D9-B26F-0E959340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範例程式碼：app.py + requirements.txt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81EA4945-E9DC-48BB-9F10-9BD4220D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先把這兩個檔案補好，再進入 pytest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6D61FDEE-558C-4108-8959-4CABE313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F4BD9CE-7C7F-4D27-BD3D-3A0C3C55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433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app.py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
from flask import Flask,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jsonify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
app = Flask(__name__)
@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app.route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("/")
def hello():
    return "Hello Docker!"
@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app.route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("/health")
def health():
    data =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dict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(status="healthy")
    return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jsonify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(data)
if __name__ == "__main__":
   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app.run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(host="0.0.0.0", port=5000)
#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requirements.txt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
flask
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</a:t>
            </a:r>
          </a:p>
          <a:p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/>
          <a:p xmlns:a="http://schemas.openxmlformats.org/drawingml/2006/main"/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6A64A36-D017-49A2-9FEC-0EAC9CBC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F8F53ECB-6DC4-4243-B7EC-D5DDC3A4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0342173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845985EA-A885-4B00-BA99-11771100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6F85615-427D-40A4-9C55-0A6AD8B1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範例程式碼：test_app.py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EA72A463-0DFE-4DE4-ABFF-9933642D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963F523E-C3A0-454F-BBDC-21B455E5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AC610F60-F613-4CF8-A3AF-26DBC89DA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
from app import app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pytest.fixture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client():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app.config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["TESTING"] = True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with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app.test_client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() as client: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yield client</a:t>
            </a:r>
          </a:p>
          <a:p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test_hello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(client):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response =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client.get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("/")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response.status_code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== 200</a:t>
            </a:r>
          </a:p>
          <a:p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test_health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(client):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response =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client.get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("/health")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response.status_code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== 200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assert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response.get_json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()["status"] == "healthy"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A8A32F4-7C6A-4B47-B2C1-AFF175B0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5AE712EC-5692-40CA-AB4B-6623557B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440249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10F67B77-3CB7-44AA-B3E6-BE2BAEC5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 TEST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C17B823-D183-4B60-997B-E38C04D4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先在本機跑一次 pytest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489AFA95-559D-4246-99C2-686D5739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62100"/>
            <a:ext cx="5905500" cy="26670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橢圓 3">
            <a:extLst xmlns:a="http://schemas.openxmlformats.org/drawingml/2006/main">
              <a:ext uri="{FF2B5EF4-FFF2-40B4-BE49-F238E27FC236}">
                <a16:creationId xmlns:a16="http://schemas.microsoft.com/office/drawing/2014/main" id="{E8CD667C-3BBD-495D-84FF-FED575D7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橢圓 4">
            <a:extLst xmlns:a="http://schemas.openxmlformats.org/drawingml/2006/main">
              <a:ext uri="{FF2B5EF4-FFF2-40B4-BE49-F238E27FC236}">
                <a16:creationId xmlns:a16="http://schemas.microsoft.com/office/drawing/2014/main" id="{CD75072F-EAFC-4B0C-B36A-2BAD6145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橢圓 5">
            <a:extLst xmlns:a="http://schemas.openxmlformats.org/drawingml/2006/main">
              <a:ext uri="{FF2B5EF4-FFF2-40B4-BE49-F238E27FC236}">
                <a16:creationId xmlns:a16="http://schemas.microsoft.com/office/drawing/2014/main" id="{8E2B98A1-8D9F-4E1D-ADFC-01CC77D5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3D22891-C841-45D5-8255-04C1670B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54864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 xmlns:a="http://schemas.openxmlformats.org/drawingml/2006/main"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-m </a:t>
            </a: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</a:t>
            </a: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–v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expected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test_hello</a:t>
            </a: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PASSED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test_health</a:t>
            </a: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PASSED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</a:p>
        </p:txBody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DEAF7689-6295-4CB3-BDDB-913E3157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885950"/>
            <a:ext cx="3143250" cy="1733550"/>
          </a:xfrm>
          <a:prstGeom xmlns:a="http://schemas.openxmlformats.org/drawingml/2006/main" prst="roundRect">
            <a:avLst>
              <a:gd name="adj" fmla="val 659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98B3090-F951-4DDA-8921-486A0BB3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764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為什麼本機先跑？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6495F33-34ED-47D4-B959-500911BF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95550"/>
            <a:ext cx="26860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036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CI 不是拿來替你猜問題。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先確認 Flask route 測試能跑，再交給 runner 自動重複。</a:t>
            </a:r>
          </a:p>
        </p:txBody>
      </p:sp>
      <p:sp>
        <p:nvSpPr>
          <p:cNvPr id="11" name="圓角矩形 10">
            <a:extLst xmlns:a="http://schemas.openxmlformats.org/drawingml/2006/main">
              <a:ext uri="{FF2B5EF4-FFF2-40B4-BE49-F238E27FC236}">
                <a16:creationId xmlns:a16="http://schemas.microsoft.com/office/drawing/2014/main" id="{A39C1A53-9741-4E93-AC0A-8B544EA1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048250"/>
            <a:ext cx="84201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04A6BFF3-7953-449B-B616-06CEA9C1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200650"/>
            <a:ext cx="7734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263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本機過關後，再把同一套測試寫進 workflow。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2417114-29E5-48D9-8380-A9E4C876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C806F22-3F73-4E80-8CC7-C0F45645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FDF765C-7E88-491C-95F1-05950977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8903411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D555707D-D07B-43EC-BEC8-F953B2E3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774D90-6746-441F-81FD-6E34AE15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範例程式碼：Python CI workflow (1/2)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D318FC96-3B33-489B-8949-D2E61498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76CB4457-06A4-4EA8-8638-76044C4D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006183F5-AAA4-480D-9E4A-AD580616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4855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Python CI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main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拉取程式碼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安裝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Python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actions/setup-python@v5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'3.11'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安裝依賴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53CECDD-4966-4E0D-BEB4-F9DBDE44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FCA463B-8342-4105-9491-F71A4CDE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246007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0C028302-951B-4114-A60F-F7CC64D7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A6758D9-0850-4C9D-8B19-FF5414C0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範例程式碼：Python CI workflow (2/2)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4B9BEFA4-02C2-49B4-A111-8F408F2A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AF732073-6242-4EE4-850A-044DF67E5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D84D12E6-F9D9-4600-A5C2-D4E4990A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800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pip install -r requirements.txt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執行測試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-m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-v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5012449-C767-4DA1-B3E9-CCA93D9D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2D9929A9-0428-4A31-85F0-46E6F13D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7932263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CB75DCAB-FBBE-4AEF-94E7-110DEA31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RED / GREEN FEEDBACK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89D2256-7C31-4B84-B68C-7E339CD3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CI 的價值：壞掉馬上紅燈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6B4F3B1B-45EF-4FAD-8F95-5A521DBC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38350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4202813-8E8E-47D4-8FCC-25032992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288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116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綠燈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CF07883A-3CBC-47AE-B922-14562577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76550"/>
            <a:ext cx="259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測試通過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可以往下一步前進</a:t>
            </a:r>
          </a:p>
        </p:txBody>
      </p:sp>
      <p:sp>
        <p:nvSpPr>
          <p:cNvPr id="6" name="向右箭號 5">
            <a:extLst xmlns:a="http://schemas.openxmlformats.org/drawingml/2006/main">
              <a:ext uri="{FF2B5EF4-FFF2-40B4-BE49-F238E27FC236}">
                <a16:creationId xmlns:a16="http://schemas.microsoft.com/office/drawing/2014/main" id="{A23F4873-6CB3-4507-A37D-52F0635B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667000"/>
            <a:ext cx="8191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 xmlns:a="http://schemas.openxmlformats.org/drawingml/2006/main">
              <a:ext uri="{FF2B5EF4-FFF2-40B4-BE49-F238E27FC236}">
                <a16:creationId xmlns:a16="http://schemas.microsoft.com/office/drawing/2014/main" id="{83C644DB-129F-4175-A017-0C172F87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F339D88B-83B9-482F-93D6-185B7472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116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紅燈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B85F2F4-5C90-4900-9A51-2091C8B8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259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測試失敗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停止，不要 build 或部署</a:t>
            </a:r>
          </a:p>
        </p:txBody>
      </p:sp>
      <p:sp>
        <p:nvSpPr>
          <p:cNvPr id="10" name="圓角矩形 9">
            <a:extLst xmlns:a="http://schemas.openxmlformats.org/drawingml/2006/main">
              <a:ext uri="{FF2B5EF4-FFF2-40B4-BE49-F238E27FC236}">
                <a16:creationId xmlns:a16="http://schemas.microsoft.com/office/drawing/2014/main" id="{0DDB4899-FA92-41D3-8EEE-76D4399C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29150"/>
            <a:ext cx="777240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1" name="橢圓 10">
            <a:extLst xmlns:a="http://schemas.openxmlformats.org/drawingml/2006/main">
              <a:ext uri="{FF2B5EF4-FFF2-40B4-BE49-F238E27FC236}">
                <a16:creationId xmlns:a16="http://schemas.microsoft.com/office/drawing/2014/main" id="{89E5ABEE-03E7-43CB-9570-AAAA8E3F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91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橢圓 11">
            <a:extLst xmlns:a="http://schemas.openxmlformats.org/drawingml/2006/main">
              <a:ext uri="{FF2B5EF4-FFF2-40B4-BE49-F238E27FC236}">
                <a16:creationId xmlns:a16="http://schemas.microsoft.com/office/drawing/2014/main" id="{538DF322-91C8-48EA-8052-6963576F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91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橢圓 12">
            <a:extLst xmlns:a="http://schemas.openxmlformats.org/drawingml/2006/main">
              <a:ext uri="{FF2B5EF4-FFF2-40B4-BE49-F238E27FC236}">
                <a16:creationId xmlns:a16="http://schemas.microsoft.com/office/drawing/2014/main" id="{1B462F3F-BB6B-43E2-9529-813BD856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91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DEB6703C-8438-4671-AA11-9A01232F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048250"/>
            <a:ext cx="7353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559" lnSpcReduction="2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FAILED test_app.py::test_health - assert "broken" == "healthy"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35A38ED2-3096-4CA3-954F-0141C96C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10E8ECB9-3C29-45E1-BAC7-6EF526CB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AA04937-9355-45FF-95C9-54A8E219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32576699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8A16B8F6-6448-4ABB-9B13-90981CA6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377AEB8-F755-43CE-B6C2-4B93184C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P2：寫一個有 bug 的測試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377CDBCD-AA31-47BC-8CAA-894EB306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2476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橢圓 3">
            <a:extLst xmlns:a="http://schemas.openxmlformats.org/drawingml/2006/main">
              <a:ext uri="{FF2B5EF4-FFF2-40B4-BE49-F238E27FC236}">
                <a16:creationId xmlns:a16="http://schemas.microsoft.com/office/drawing/2014/main" id="{79B387B6-D697-4286-98A6-5F885004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383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4FA0198-F9D6-4FCF-ADAE-19EB0059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1621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263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ADC625B8-4DB6-49D3-A46E-76363C2E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194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新增 divide(a, b)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8E8B123-4829-4B31-A804-BCB39EDE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5755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包含除以 0 的情境</a:t>
            </a:r>
          </a:p>
        </p:txBody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F9D3C0A3-DC2E-41AA-9C69-6E97F84B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71650"/>
            <a:ext cx="2476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橢圓 8">
            <a:extLst xmlns:a="http://schemas.openxmlformats.org/drawingml/2006/main">
              <a:ext uri="{FF2B5EF4-FFF2-40B4-BE49-F238E27FC236}">
                <a16:creationId xmlns:a16="http://schemas.microsoft.com/office/drawing/2014/main" id="{C34B9C01-D219-4492-9840-89421271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383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731CFE58-80C3-40D1-9D49-06363911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621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263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8614616-88B0-4698-A87B-11E09FA5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194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新增 test_divide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7C35562-0D4B-4155-8A07-E5B053E9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5755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先寫出預期行為</a:t>
            </a:r>
          </a:p>
        </p:txBody>
      </p:sp>
      <p:sp>
        <p:nvSpPr>
          <p:cNvPr id="13" name="圓角矩形 12">
            <a:extLst xmlns:a="http://schemas.openxmlformats.org/drawingml/2006/main">
              <a:ext uri="{FF2B5EF4-FFF2-40B4-BE49-F238E27FC236}">
                <a16:creationId xmlns:a16="http://schemas.microsoft.com/office/drawing/2014/main" id="{77AADFFE-E3B9-44E4-AF5C-E5AE129E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71650"/>
            <a:ext cx="2476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橢圓 13">
            <a:extLst xmlns:a="http://schemas.openxmlformats.org/drawingml/2006/main">
              <a:ext uri="{FF2B5EF4-FFF2-40B4-BE49-F238E27FC236}">
                <a16:creationId xmlns:a16="http://schemas.microsoft.com/office/drawing/2014/main" id="{91CE4EBF-FC46-4BEE-B03E-086A5A9A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0383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1D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4D3F387-D357-45D9-8791-25D8A624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1621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263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EFA9E6-2FF8-44B2-9067-3A2AE621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194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故意失敗一次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3CFD3A60-4847-4A1A-8D7E-A64FA8A6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5755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push 看 CI 紅燈</a:t>
            </a:r>
          </a:p>
        </p:txBody>
      </p:sp>
      <p:sp>
        <p:nvSpPr>
          <p:cNvPr id="18" name="圓角矩形 17">
            <a:extLst xmlns:a="http://schemas.openxmlformats.org/drawingml/2006/main">
              <a:ext uri="{FF2B5EF4-FFF2-40B4-BE49-F238E27FC236}">
                <a16:creationId xmlns:a16="http://schemas.microsoft.com/office/drawing/2014/main" id="{9A3E52F9-F8FE-4022-A0AC-781115F8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71650"/>
            <a:ext cx="2476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橢圓 18">
            <a:extLst xmlns:a="http://schemas.openxmlformats.org/drawingml/2006/main">
              <a:ext uri="{FF2B5EF4-FFF2-40B4-BE49-F238E27FC236}">
                <a16:creationId xmlns:a16="http://schemas.microsoft.com/office/drawing/2014/main" id="{D56B3AC4-7240-4A2A-B9FC-9840525B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0383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843AAA7C-5C9C-46A6-84FF-92159B7D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6217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263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C18DB96E-5274-41A7-9905-992BD408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1940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修好再 push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63F6CA48-8D6B-48F1-9B1D-E14B3BE6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確認回到綠燈</a:t>
            </a:r>
          </a:p>
        </p:txBody>
      </p:sp>
      <p:sp>
        <p:nvSpPr>
          <p:cNvPr id="23" name="圓角矩形 22">
            <a:extLst xmlns:a="http://schemas.openxmlformats.org/drawingml/2006/main">
              <a:ext uri="{FF2B5EF4-FFF2-40B4-BE49-F238E27FC236}">
                <a16:creationId xmlns:a16="http://schemas.microsoft.com/office/drawing/2014/main" id="{DEC239A5-E9B5-4479-B80B-33C9CC76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43450"/>
            <a:ext cx="85725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986FD1E1-03F8-45BF-883B-8415D4AF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720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完成標準：能解釋哪個測試失敗、為什麼失敗、修好後為什麼變綠。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3563EF79-6873-4764-AB0C-2D6AA7F1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6911279E-2FAD-4E73-90D8-A3058661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7752698F-9B49-46CF-A7EC-14C2BDAB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31260541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93A532D0-417D-4DF7-8147-0E52A5BD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IN PIPELINE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320A597-74B2-4D78-98CF-0A9CFC5A0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Docker 加進 CI 流程</a:t>
            </a:r>
          </a:p>
        </p:txBody>
      </p:sp>
      <p:pic>
        <p:nvPicPr>
          <p:cNvPr id="16" name="圖片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67a85c3644fdb"/>
          <a:srcRect xmlns:a="http://schemas.openxmlformats.org/drawingml/2006/main" l="6031" t="0" r="603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3200" y="1352550"/>
            <a:ext cx="4762500" cy="3048000"/>
          </a:xfrm>
          <a:prstGeom xmlns:a="http://schemas.openxmlformats.org/drawingml/2006/main" prst="roundRect">
            <a:avLst/>
          </a:prstGeom>
        </p:spPr>
      </p:pic>
      <p:sp>
        <p:nvSpPr>
          <p:cNvPr id="4" name="圓角矩形 3">
            <a:extLst xmlns:a="http://schemas.openxmlformats.org/drawingml/2006/main">
              <a:ext uri="{FF2B5EF4-FFF2-40B4-BE49-F238E27FC236}">
                <a16:creationId xmlns:a16="http://schemas.microsoft.com/office/drawing/2014/main" id="{79947ED8-807D-4B6A-AE54-12053A63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352550"/>
            <a:ext cx="4762500" cy="3048000"/>
          </a:xfrm>
          <a:prstGeom xmlns:a="http://schemas.openxmlformats.org/drawingml/2006/main" prst="roundRect">
            <a:avLst>
              <a:gd name="adj" fmla="val 4375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圓角矩形 4">
            <a:extLst xmlns:a="http://schemas.openxmlformats.org/drawingml/2006/main">
              <a:ext uri="{FF2B5EF4-FFF2-40B4-BE49-F238E27FC236}">
                <a16:creationId xmlns:a16="http://schemas.microsoft.com/office/drawing/2014/main" id="{8E50976C-9875-4A19-BC92-3B36A439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57350"/>
            <a:ext cx="43815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0D54416-7C0E-4E2B-ADDD-8B2D15E3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4785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598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目標流程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7CF585-C13F-47E6-9FCA-EEC44DC1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00300"/>
            <a:ext cx="39243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1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 push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-&gt; 自動跑測試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-&gt; 測試通過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-&gt; build Docker Image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-&gt; run container / curl /health</a:t>
            </a:r>
          </a:p>
        </p:txBody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2FA85965-17C2-4AF2-B6C5-817845D9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57750"/>
            <a:ext cx="883920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15AF7C9-78FB-4230-BC73-34CF8CA4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029200"/>
            <a:ext cx="8115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978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health check 通過後才 push 到 Docker Hub，避免壞 image 被上傳。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96E006CF-25B2-4BC7-B9DE-05352547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75276780-F3C2-467A-85FB-B4794E30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C2C45C65-511E-4A2A-90FE-BA53D473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21079873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2C96558-8977-409F-9D87-752DF6A6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F0CBC7D-E7C6-4A7A-B158-7167EDC6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Dockerfile：沿用第 4 堂 Web App Image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EF505CAF-5EC0-48E3-A235-E3F137AE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24000"/>
            <a:ext cx="6381750" cy="3257550"/>
          </a:xfrm>
          <a:prstGeom xmlns:a="http://schemas.openxmlformats.org/drawingml/2006/main" prst="roundRect">
            <a:avLst>
              <a:gd name="adj" fmla="val 292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橢圓 3">
            <a:extLst xmlns:a="http://schemas.openxmlformats.org/drawingml/2006/main">
              <a:ext uri="{FF2B5EF4-FFF2-40B4-BE49-F238E27FC236}">
                <a16:creationId xmlns:a16="http://schemas.microsoft.com/office/drawing/2014/main" id="{5933C778-5991-4A71-90CF-D1F9C26E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橢圓 4">
            <a:extLst xmlns:a="http://schemas.openxmlformats.org/drawingml/2006/main">
              <a:ext uri="{FF2B5EF4-FFF2-40B4-BE49-F238E27FC236}">
                <a16:creationId xmlns:a16="http://schemas.microsoft.com/office/drawing/2014/main" id="{CB83D431-304D-4BA7-91C5-9E9682DA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橢圓 5">
            <a:extLst xmlns:a="http://schemas.openxmlformats.org/drawingml/2006/main">
              <a:ext uri="{FF2B5EF4-FFF2-40B4-BE49-F238E27FC236}">
                <a16:creationId xmlns:a16="http://schemas.microsoft.com/office/drawing/2014/main" id="{C5D667F6-5674-4F44-820E-F7F06979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51C5A16-5704-4DDE-A226-9C416F9C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43100"/>
            <a:ext cx="59626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00" lnSpcReduction="2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 xmlns:a="http://schemas.openxmlformats.org/drawingml/2006/main"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\</a:t>
            </a:r>
          </a:p>
          <a:p xmlns:a="http://schemas.openxmlformats.org/drawingml/2006/main"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apt-get install -y nano 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 xmlns:a="http://schemas.openxmlformats.org/drawingml/2006/main"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</a:p>
          <a:p xmlns:a="http://schemas.openxmlformats.org/drawingml/2006/main">
            <a:pPr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/>
              <a:t>EXPOSE 5000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815EAD45-CB8F-417C-9D65-78E94F25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33600"/>
            <a:ext cx="30480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D340A70-DEA7-4984-983E-67504496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241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502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這個 Image 跑起來會做什麼？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352F5AE-5F1D-405E-B80D-C9131FD6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83845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487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啟動 Flask Web server。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CI 會先 build image，再真的 run container 測 /health。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3AC0C66-7ED1-4801-8298-E9BCBB16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88F040B-ED30-4359-BF5D-B9C40E85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20694F9D-21D0-4CB3-A304-87C34EBB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12322891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C931AC82-67D2-4DAA-8007-64973AE6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SECRETS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BF561EE-F827-4933-B2D0-DAF4C913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Hub 密碼要放在 Secrets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12EF7AE8-D89E-4BE3-9CA7-F3C696FF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43815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7E78C85-4CE1-46F8-8836-0AC4FE6B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812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671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不要寫在 workflow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2392BB8-F3D2-43E8-B148-83E9715B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39243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會 commit 進 Git。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 repository 可見，敏感資訊就有外洩風險。</a:t>
            </a:r>
          </a:p>
        </p:txBody>
      </p:sp>
      <p:sp>
        <p:nvSpPr>
          <p:cNvPr id="6" name="向右箭號 5">
            <a:extLst xmlns:a="http://schemas.openxmlformats.org/drawingml/2006/main">
              <a:ext uri="{FF2B5EF4-FFF2-40B4-BE49-F238E27FC236}">
                <a16:creationId xmlns:a16="http://schemas.microsoft.com/office/drawing/2014/main" id="{60C2AC3C-5102-4EAC-BFEA-A440AFE7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628900"/>
            <a:ext cx="8001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 xmlns:a="http://schemas.openxmlformats.org/drawingml/2006/main">
              <a:ext uri="{FF2B5EF4-FFF2-40B4-BE49-F238E27FC236}">
                <a16:creationId xmlns:a16="http://schemas.microsoft.com/office/drawing/2014/main" id="{2245F53F-7AC3-488A-8AEA-816EAFD9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90700"/>
            <a:ext cx="43815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CF39A96-261B-4EDC-8873-181F74AD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9812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671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放進 GitHub Secrets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8B92720-6491-4DCC-90C2-D57DE63F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71750"/>
            <a:ext cx="39243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加密儲存。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workflow 執行時才讀取，log 中不會直接顯示值。</a:t>
            </a:r>
          </a:p>
        </p:txBody>
      </p:sp>
      <p:sp>
        <p:nvSpPr>
          <p:cNvPr id="10" name="圓角矩形 9">
            <a:extLst xmlns:a="http://schemas.openxmlformats.org/drawingml/2006/main">
              <a:ext uri="{FF2B5EF4-FFF2-40B4-BE49-F238E27FC236}">
                <a16:creationId xmlns:a16="http://schemas.microsoft.com/office/drawing/2014/main" id="{BC3E60D9-AE5E-483A-9A84-23A1003D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838700"/>
            <a:ext cx="56769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1" name="橢圓 10">
            <a:extLst xmlns:a="http://schemas.openxmlformats.org/drawingml/2006/main">
              <a:ext uri="{FF2B5EF4-FFF2-40B4-BE49-F238E27FC236}">
                <a16:creationId xmlns:a16="http://schemas.microsoft.com/office/drawing/2014/main" id="{45ED092D-A684-4576-94D4-3C36B5E0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橢圓 11">
            <a:extLst xmlns:a="http://schemas.openxmlformats.org/drawingml/2006/main">
              <a:ext uri="{FF2B5EF4-FFF2-40B4-BE49-F238E27FC236}">
                <a16:creationId xmlns:a16="http://schemas.microsoft.com/office/drawing/2014/main" id="{353A280B-DD83-45CE-BD86-39CDB44D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橢圓 12">
            <a:extLst xmlns:a="http://schemas.openxmlformats.org/drawingml/2006/main">
              <a:ext uri="{FF2B5EF4-FFF2-40B4-BE49-F238E27FC236}">
                <a16:creationId xmlns:a16="http://schemas.microsoft.com/office/drawing/2014/main" id="{DDE7E494-5EB8-4CED-92E9-5D6B8A8A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000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C642143-92B2-47B1-A728-4C329153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257800"/>
            <a:ext cx="5257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9011" lnSpcReduction="2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DOCKERHUB_USERNAME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DOCKERHUB_TOKEN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97C4486-B0EE-46CF-AB06-0136720A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8D8C393B-E8B7-4A61-8F22-2536FBD4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8EFBB5F0-4FBE-4B4F-9A4D-5143A246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75760543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6C71EB66-8145-4C71-97F6-B4FE9B33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156A742-1461-4CC0-BAF0-6FF4019B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3：為什麼要用 Secrets？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0C4CB7DA-0F28-4864-ADA2-BBE8A714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38300"/>
            <a:ext cx="43815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FB718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6B24DFA-6E9F-40A0-B134-2F72668E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8288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24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問題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C9D81E3-BF6D-424C-AF8D-B3BB292C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76500"/>
            <a:ext cx="39243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為什麼 Docker Hub 的密碼不能直接寫在 workflow 檔案裡？</a:t>
            </a:r>
          </a:p>
        </p:txBody>
      </p:sp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1D22A2A4-C9E9-4908-8234-BA3BA22F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38300"/>
            <a:ext cx="43815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D4C2AA7-19E7-416D-8525-EA509B55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28800"/>
            <a:ext cx="3924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24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討論提示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E84672A-D51D-42E3-B943-FB73DC53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476500"/>
            <a:ext cx="39243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workflow 檔案會進 Git，可能被看見。</a:t>
            </a:r>
          </a:p>
          <a:p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Secrets 加密保存，只有 workflow 執行時能讀取，而且不會直接出現在 log。</a:t>
            </a:r>
          </a:p>
        </p:txBody>
      </p:sp>
      <p:sp>
        <p:nvSpPr>
          <p:cNvPr id="9" name="圓角矩形 8">
            <a:extLst xmlns:a="http://schemas.openxmlformats.org/drawingml/2006/main">
              <a:ext uri="{FF2B5EF4-FFF2-40B4-BE49-F238E27FC236}">
                <a16:creationId xmlns:a16="http://schemas.microsoft.com/office/drawing/2014/main" id="{B17BF62D-B145-4EFF-ACC2-AA35CE2C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857750"/>
            <a:ext cx="674370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橢圓 9">
            <a:extLst xmlns:a="http://schemas.openxmlformats.org/drawingml/2006/main">
              <a:ext uri="{FF2B5EF4-FFF2-40B4-BE49-F238E27FC236}">
                <a16:creationId xmlns:a16="http://schemas.microsoft.com/office/drawing/2014/main" id="{EA2D31D5-C28F-419C-9298-D7A400C60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19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橢圓 10">
            <a:extLst xmlns:a="http://schemas.openxmlformats.org/drawingml/2006/main">
              <a:ext uri="{FF2B5EF4-FFF2-40B4-BE49-F238E27FC236}">
                <a16:creationId xmlns:a16="http://schemas.microsoft.com/office/drawing/2014/main" id="{4EDA63BF-D81D-4730-A384-232DA9C3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019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橢圓 11">
            <a:extLst xmlns:a="http://schemas.openxmlformats.org/drawingml/2006/main">
              <a:ext uri="{FF2B5EF4-FFF2-40B4-BE49-F238E27FC236}">
                <a16:creationId xmlns:a16="http://schemas.microsoft.com/office/drawing/2014/main" id="{563D1046-38FF-4F96-8CF9-A8FC193E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19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6809B2F-5A32-4207-9F21-BF0D4F3A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276850"/>
            <a:ext cx="6324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8491" lnSpcReduction="2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username: ${{ secrets.DOCKERHUB_USERNAME }}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password: ${{ secrets.DOCKERHUB_TOKEN }}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14E5DA7-6368-4A8A-A048-302E7B39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281D7077-5F84-439A-A1D9-B694F353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1EE90610-2FFF-49D3-8A78-81BE3883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0139518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BC14EA95-7264-43B2-87BF-20017CB8F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DOCKER.YML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38AE103-C473-4A04-AFED-0C15CF7F9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build、health check、push workflow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CB5627A9-8DDE-408F-8202-2ADB2806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6191250" cy="4343400"/>
          </a:xfrm>
          <a:prstGeom xmlns:a="http://schemas.openxmlformats.org/drawingml/2006/main" prst="roundRect">
            <a:avLst>
              <a:gd name="adj" fmla="val 2193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橢圓 3">
            <a:extLst xmlns:a="http://schemas.openxmlformats.org/drawingml/2006/main">
              <a:ext uri="{FF2B5EF4-FFF2-40B4-BE49-F238E27FC236}">
                <a16:creationId xmlns:a16="http://schemas.microsoft.com/office/drawing/2014/main" id="{B15C77C6-2626-438E-9B84-BD105B67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橢圓 4">
            <a:extLst xmlns:a="http://schemas.openxmlformats.org/drawingml/2006/main">
              <a:ext uri="{FF2B5EF4-FFF2-40B4-BE49-F238E27FC236}">
                <a16:creationId xmlns:a16="http://schemas.microsoft.com/office/drawing/2014/main" id="{2AF8FE2C-1EE2-4C40-A17B-E9285503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橢圓 5">
            <a:extLst xmlns:a="http://schemas.openxmlformats.org/drawingml/2006/main">
              <a:ext uri="{FF2B5EF4-FFF2-40B4-BE49-F238E27FC236}">
                <a16:creationId xmlns:a16="http://schemas.microsoft.com/office/drawing/2014/main" id="{B4025DDC-A644-4990-A369-FDBD44FE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419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05EF71A-C08D-4B9D-AD74-71A94B06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5772150" cy="3790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uses: actions/checkout@v4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uses: actions/setup-python@v5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run: pip install -r requirements.txt</a:t>
            </a:r>
          </a:p>
          <a:p xmlns:a="http://schemas.openxmlformats.org/drawingml/2006/main"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run</a:t>
            </a:r>
            <a:r>
              <a:rPr sz="127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27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-m pytest test_app.py -v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docker: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needs: 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uses: actions/checkout@v4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run: docker build -t </a:t>
            </a: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image:latest</a:t>
            </a: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</a:t>
            </a: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run: docker run -d --name app -p 5000:5000 </a:t>
            </a: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image:latest</a:t>
            </a: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&amp;&amp; sleep 5 &amp;&amp; curl http://127.0.0.1:5000/health</a:t>
            </a:r>
          </a:p>
        </p:txBody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B5299821-7244-4757-914E-320634E5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19250"/>
            <a:ext cx="3238500" cy="2609850"/>
          </a:xfrm>
          <a:prstGeom xmlns:a="http://schemas.openxmlformats.org/drawingml/2006/main" prst="roundRect">
            <a:avLst>
              <a:gd name="adj" fmla="val 438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95DC28C-FBDA-4A89-80EC-81B38427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809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三個重點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8DB81F96-8C7C-4FE3-B229-5FC75606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05050"/>
            <a:ext cx="27813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10" lnSpcReduction="1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needs: test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確保測試通過才 build。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health check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真的啟動容器並測 /health。</a:t>
            </a:r>
          </a:p>
          <a:p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push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健康檢查通過後才 push。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E266DF8-FF71-4AE9-AF2F-51D31DEF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7BCC03EA-A4BF-429E-94DF-48F4B71D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4128A03-5A31-4997-943F-F7D2C4C1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10360088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E951527-DB76-4530-A9B9-25ED38D7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JOB DEPENDENCY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7DEF75E-DFE7-4312-8863-0B0CFAF4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needs: test 是保護門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A103DC72-0603-4F78-806A-E4793D6D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09800"/>
            <a:ext cx="285750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A53AEB7E-370B-4F3A-80CA-FF709762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4003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24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test job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236EBFF1-6341-45C9-87F6-A1CFA23B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9908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跑 pytest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確認程式正確</a:t>
            </a:r>
          </a:p>
        </p:txBody>
      </p:sp>
      <p:sp>
        <p:nvSpPr>
          <p:cNvPr id="6" name="向右箭號 5">
            <a:extLst xmlns:a="http://schemas.openxmlformats.org/drawingml/2006/main">
              <a:ext uri="{FF2B5EF4-FFF2-40B4-BE49-F238E27FC236}">
                <a16:creationId xmlns:a16="http://schemas.microsoft.com/office/drawing/2014/main" id="{0F7ACAF7-903E-46E5-A538-05F5CE98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81300"/>
            <a:ext cx="9525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圓角矩形 6">
            <a:extLst xmlns:a="http://schemas.openxmlformats.org/drawingml/2006/main">
              <a:ext uri="{FF2B5EF4-FFF2-40B4-BE49-F238E27FC236}">
                <a16:creationId xmlns:a16="http://schemas.microsoft.com/office/drawing/2014/main" id="{812BD9C8-F750-47F9-9CDF-B9682331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09800"/>
            <a:ext cx="2857500" cy="1504950"/>
          </a:xfrm>
          <a:prstGeom xmlns:a="http://schemas.openxmlformats.org/drawingml/2006/main" prst="roundRect">
            <a:avLst>
              <a:gd name="adj" fmla="val 759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4C2E3D9-5399-4688-9F49-148B7C1F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003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24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job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63526AA-13BC-44F3-B5C2-3587D5A9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908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Image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push Docker Hub</a:t>
            </a:r>
          </a:p>
        </p:txBody>
      </p:sp>
      <p:sp>
        <p:nvSpPr>
          <p:cNvPr id="10" name="圓角矩形 9">
            <a:extLst xmlns:a="http://schemas.openxmlformats.org/drawingml/2006/main">
              <a:ext uri="{FF2B5EF4-FFF2-40B4-BE49-F238E27FC236}">
                <a16:creationId xmlns:a16="http://schemas.microsoft.com/office/drawing/2014/main" id="{5E64E5C1-9AB3-4872-A496-DB582682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400550"/>
            <a:ext cx="48387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7A7B1721-0EAD-4348-95BD-8E8ED770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9105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測試失敗時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4E47E07-E340-4783-A760-0DBB43CE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972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670" lnSpcReduction="2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job 不會跑。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壞掉的程式不會被打包成 Image。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CD3AF63-A596-4E2A-92E0-0273C47F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E040BC3-E2E3-4275-82B3-1899BBAB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2B00EADF-3B55-48B2-8D5B-C4A6AD1F3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51174005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209566C-4CE2-4343-8F20-12499E80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WORKFLOW VARIABLES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617F86D-F590-40A7-BC74-1258F0440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 latest 做 Image tag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CE576F6A-C824-4D82-BEA0-F04F6A8C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62100"/>
            <a:ext cx="78105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橢圓 3">
            <a:extLst xmlns:a="http://schemas.openxmlformats.org/drawingml/2006/main">
              <a:ext uri="{FF2B5EF4-FFF2-40B4-BE49-F238E27FC236}">
                <a16:creationId xmlns:a16="http://schemas.microsoft.com/office/drawing/2014/main" id="{D319131A-AA14-4B04-939B-8BE9E586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橢圓 4">
            <a:extLst xmlns:a="http://schemas.openxmlformats.org/drawingml/2006/main">
              <a:ext uri="{FF2B5EF4-FFF2-40B4-BE49-F238E27FC236}">
                <a16:creationId xmlns:a16="http://schemas.microsoft.com/office/drawing/2014/main" id="{B1144231-ABF3-4C4A-A2EA-193E4E5F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橢圓 5">
            <a:extLst xmlns:a="http://schemas.openxmlformats.org/drawingml/2006/main">
              <a:ext uri="{FF2B5EF4-FFF2-40B4-BE49-F238E27FC236}">
                <a16:creationId xmlns:a16="http://schemas.microsoft.com/office/drawing/2014/main" id="{88B17E06-2D16-4519-B037-E013F47E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724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00E1D48-786A-4E17-90DE-294B9043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81200"/>
            <a:ext cx="7391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1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image tag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${{ secrets.DOCKERHUB_USERNAME }}/my-flask-app:latest</a:t>
            </a:r>
          </a:p>
        </p:txBody>
      </p:sp>
      <p:sp>
        <p:nvSpPr>
          <p:cNvPr id="8" name="圓角矩形 7">
            <a:extLst xmlns:a="http://schemas.openxmlformats.org/drawingml/2006/main">
              <a:ext uri="{FF2B5EF4-FFF2-40B4-BE49-F238E27FC236}">
                <a16:creationId xmlns:a16="http://schemas.microsoft.com/office/drawing/2014/main" id="{C1F415B7-728D-449E-A6E0-B0DDC799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562350"/>
            <a:ext cx="3714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F525ECD-D243-4675-8662-6F0BFC95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75285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secrets.DOCKERHUB_USERNAME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68BD989-A23D-4BB0-BF1F-2D36A8A5B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13385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Secrets 讀 Docker Hub 帳號。</a:t>
            </a:r>
          </a:p>
        </p:txBody>
      </p:sp>
      <p:sp>
        <p:nvSpPr>
          <p:cNvPr id="11" name="圓角矩形 10">
            <a:extLst xmlns:a="http://schemas.openxmlformats.org/drawingml/2006/main">
              <a:ext uri="{FF2B5EF4-FFF2-40B4-BE49-F238E27FC236}">
                <a16:creationId xmlns:a16="http://schemas.microsoft.com/office/drawing/2014/main" id="{72FEF661-09C5-46EA-8F40-B4A85B18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62350"/>
            <a:ext cx="3714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C0D56F45-4DA4-45B0-89C8-0BC235A8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52850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正式版 tag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24FF31C5-AE3B-4FFF-A687-789170FB7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33850"/>
            <a:ext cx="3257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116" lnSpcReduction="2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真正上線時，通常由人決定版本號。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例如 1.0.0、1.0.1。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D6BF3746-6170-4A01-82E5-52D4E26D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57D7D1A0-4BDF-4853-BE53-85A5870D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9042B58-2CA1-43E3-91E5-A3EED926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47805349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8332278-C76E-4765-9BDF-3C1EA639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CCA7D4E-564F-44BC-95AA-942267A0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P3：讓 flask-app 自動更新 Docker Hub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7DD1A00A-138D-46E9-9C4B-F9029821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476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DE3C9A1-9B01-4EF7-8849-84DDDB5E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002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設定 Secrets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CBC2228-5939-4D15-B342-099079F6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95550"/>
            <a:ext cx="2019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DOCKERHUB_USERNAME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DOCKERHUB_TOKEN</a:t>
            </a:r>
          </a:p>
        </p:txBody>
      </p:sp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7359757D-4ABD-430F-AA8E-D744CB0D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09750"/>
            <a:ext cx="2476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4C6F4EA-7AC0-4465-8C9B-02429BB1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0002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cicd.yml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74A5BEB-567E-47ED-A02A-B610D7DC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95550"/>
            <a:ext cx="2019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test -&gt; build -&gt; health -&gt; push</a:t>
            </a:r>
          </a:p>
        </p:txBody>
      </p:sp>
      <p:sp>
        <p:nvSpPr>
          <p:cNvPr id="9" name="圓角矩形 8">
            <a:extLst xmlns:a="http://schemas.openxmlformats.org/drawingml/2006/main">
              <a:ext uri="{FF2B5EF4-FFF2-40B4-BE49-F238E27FC236}">
                <a16:creationId xmlns:a16="http://schemas.microsoft.com/office/drawing/2014/main" id="{8623DD4B-B42D-48EC-AEC8-FA204C10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09750"/>
            <a:ext cx="2476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72C079A-9F5A-4501-9AC0-D28393F2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002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Push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40774BB-27B6-46D9-A558-7EFB529B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495550"/>
            <a:ext cx="2019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test -&gt; docker 順序</a:t>
            </a:r>
          </a:p>
        </p:txBody>
      </p:sp>
      <p:sp>
        <p:nvSpPr>
          <p:cNvPr id="12" name="圓角矩形 11">
            <a:extLst xmlns:a="http://schemas.openxmlformats.org/drawingml/2006/main">
              <a:ext uri="{FF2B5EF4-FFF2-40B4-BE49-F238E27FC236}">
                <a16:creationId xmlns:a16="http://schemas.microsoft.com/office/drawing/2014/main" id="{7D6081C3-9A9E-49C6-8448-7CE67665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809750"/>
            <a:ext cx="2476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6791BFC-1FED-4E91-9C63-2DE4BB78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0002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確認 Docker Hub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6CEED1F-BB4C-40A4-BCAB-2717EBEC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495550"/>
            <a:ext cx="2019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my-flask-app 已自動上傳</a:t>
            </a:r>
          </a:p>
        </p:txBody>
      </p:sp>
      <p:sp>
        <p:nvSpPr>
          <p:cNvPr id="15" name="圓角矩形 14">
            <a:extLst xmlns:a="http://schemas.openxmlformats.org/drawingml/2006/main">
              <a:ext uri="{FF2B5EF4-FFF2-40B4-BE49-F238E27FC236}">
                <a16:creationId xmlns:a16="http://schemas.microsoft.com/office/drawing/2014/main" id="{72B47A85-0756-426D-8D88-F17F450A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86300"/>
            <a:ext cx="85725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6B2BE9-B4E5-4D24-B405-077FC547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914900"/>
            <a:ext cx="788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96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完成標準：Actions 綠燈，Docker Hub 看得到 latest tag。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E731F380-0DAF-4F2F-9B2D-F423A4AA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6E6BCFA0-A972-4ED5-B0E6-89207779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87DB884-DD78-49B9-A78A-6ECF57E1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2126717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4A9EE609-9A48-4986-85B4-8505EAFB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DEBUG CHECKLIST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6913FBA-EA2F-498E-8027-27C398AF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Actions 出錯時先看這四件事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2AD4A04F-8560-4022-9DCC-BE551BEEC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95450"/>
            <a:ext cx="42672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99585CA4-88A6-4EA8-91D2-DE5DC175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縮排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C425767-A179-401F-A1E6-FB453039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1935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空格錯了，workflow 可能無法解析</a:t>
            </a:r>
          </a:p>
        </p:txBody>
      </p:sp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CAAC6526-68F5-4984-9FAF-D6AF6596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95450"/>
            <a:ext cx="42672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F7BB40-B39E-4482-952D-D1D87D60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85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檔案路徑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C9E725D6-0B4C-4FB2-843F-18726D32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1935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.github/workflows/*.yml 是否放對</a:t>
            </a:r>
          </a:p>
        </p:txBody>
      </p:sp>
      <p:sp>
        <p:nvSpPr>
          <p:cNvPr id="9" name="圓角矩形 8">
            <a:extLst xmlns:a="http://schemas.openxmlformats.org/drawingml/2006/main">
              <a:ext uri="{FF2B5EF4-FFF2-40B4-BE49-F238E27FC236}">
                <a16:creationId xmlns:a16="http://schemas.microsoft.com/office/drawing/2014/main" id="{A7EB0876-0439-42FD-9540-632C5982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42672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C6F1A1E-08A7-41E6-8237-147F9150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Secrets 名稱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85811BB-AF1C-48B2-A4DE-71B27BFC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5770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大小寫要和 workflow 完全一致</a:t>
            </a:r>
          </a:p>
        </p:txBody>
      </p:sp>
      <p:sp>
        <p:nvSpPr>
          <p:cNvPr id="12" name="圓角矩形 11">
            <a:extLst xmlns:a="http://schemas.openxmlformats.org/drawingml/2006/main">
              <a:ext uri="{FF2B5EF4-FFF2-40B4-BE49-F238E27FC236}">
                <a16:creationId xmlns:a16="http://schemas.microsoft.com/office/drawing/2014/main" id="{911A0395-AEA6-4228-9AC7-AD992C28E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672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E64B175-43AF-4B0C-98FC-CF1A325A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46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log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AF6BA9D0-E63A-44C6-8F13-3933E16AD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5770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失敗的是安裝、測試，還是 Docker push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0ED4465-3D47-49FE-BAE3-0EC836C2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BD3C2AC-34B2-4045-9BB0-6FA09E99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13BACB9-B2B7-448A-90CE-E35B5C45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6838533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05BAF886-3945-4F3F-8D59-FB7BF4A4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D839861-CE62-44E4-914E-B2CF4F79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Build &amp; Push workflow (1/3)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4ADF519E-A39F-4C5B-B925-ACE5527F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FA57850D-EEB4-46EA-9E23-A23F731E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5E582B3A-889F-415E-9BAD-2A1A0BDF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Docker Build &amp; Push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on: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push: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branches: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main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jobs: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test: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拉取程式碼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安裝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Python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actions/setup-python@v5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python-version: '3.11'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安裝依賴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pip install -r requirements.txt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執行測試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E9A5C9B-83DA-4D64-861F-36DF4455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3DE52A21-4156-407E-A93E-CB8D7B4D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1254048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2198B80-7EAD-43D9-B8DE-FEB365A2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6B3E686-5939-44D0-886A-60AE4E0E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Build &amp; Push workflow (2/3)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5254BAE4-690E-4053-9AAF-778C3AF0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E662330C-04C6-44BC-BA1B-294714C3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CAD8F989-F3F2-4877-B492-99EC8DC3C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pytest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test_app.py -v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docker: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runs-on: ubuntu-latest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needs: test              # 等 test job 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通過才跑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IMAGE_NAME: ${{ 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secrets.DOCKERHUB_USERNAME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}}/my-flask-app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steps: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拉取程式碼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actions/checkout@v4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Build image locally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build -t $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IMAGE_NAME:latest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.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Run container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run -d --name app -p 5000:5000 $</a:t>
            </a:r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IMAGE_NAME:latest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 xmlns:a="http://schemas.openxmlformats.org/drawingml/2006/main"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Check health endpoint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333D228-D425-4CCD-9CAB-BE09E822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A05E3FF5-6BA1-4CEF-BF30-0BCBF3245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03041225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B7636BD-0EE9-4468-A696-8C07C5EE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60EDB56-3939-4F04-A9B6-105CA620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Build &amp; Push workflow (3/3)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F8A56F08-2B2E-4260-B7E8-01663C73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5 堂 | 可直接照做的完整範例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B85C57F0-B813-445D-B8A2-4C954652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1B7BAB4C-2CBD-4C82-B30E-7AC0E4D7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|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sleep 5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curl --fail http://127.0.0.1:5000/health</a:t>
            </a:r>
          </a:p>
          <a:p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Login to Docker Hub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uses: docker/login-action@v3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with: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username: ${{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secrets.DOCKERHUB_USERNAME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}}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password: ${{ 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secrets.DOCKERHUB_TOKEN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}}</a:t>
            </a:r>
          </a:p>
          <a:p xmlns:a="http://schemas.openxmlformats.org/drawingml/2006/main"/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name: Push image</a:t>
            </a:r>
          </a:p>
          <a:p xmlns:a="http://schemas.openxmlformats.org/drawingml/2006/main"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run: docker push $</a:t>
            </a:r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IMAGE_NAME:latest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26DFADE-2980-4430-A46F-8C7A62BE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範例程式碼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A01CC0FE-CD98-462E-8F4E-A901264E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9344154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2E476B2-A212-4FA4-8A93-5B524D3A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9678992-8A94-4CC3-A4F1-8E6ABAEC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今天要帶走的心智模型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A9932EF9-8B0C-4B0B-86F2-33D25690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DC768FE-3762-445E-B7EA-E935E9F8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116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CI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CE991A9-4B06-4151-AFE4-E2897DA8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1460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push / PR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-&gt; pytest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-&gt; pass or fail</a:t>
            </a:r>
          </a:p>
        </p:txBody>
      </p:sp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F4039F80-D347-4D51-9E1B-A159C9B0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9306217B-BE3F-4A29-AEF6-AAD33804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116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Actions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314D173-7F3D-4386-85D0-5BD6E5E1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1460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workflow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on / jobs / steps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uses / run</a:t>
            </a:r>
          </a:p>
        </p:txBody>
      </p:sp>
      <p:sp>
        <p:nvSpPr>
          <p:cNvPr id="9" name="圓角矩形 8">
            <a:extLst xmlns:a="http://schemas.openxmlformats.org/drawingml/2006/main">
              <a:ext uri="{FF2B5EF4-FFF2-40B4-BE49-F238E27FC236}">
                <a16:creationId xmlns:a16="http://schemas.microsoft.com/office/drawing/2014/main" id="{EC9F84BC-1893-415A-92E2-768077A1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0E7A3F0-93F5-4D21-8323-B833DFD9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116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CD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6E974B7-B1BD-49DA-8D4A-391789FD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1460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needs: test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login-action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/ run / push</a:t>
            </a:r>
          </a:p>
        </p:txBody>
      </p:sp>
      <p:sp>
        <p:nvSpPr>
          <p:cNvPr id="12" name="圓角矩形 11">
            <a:extLst xmlns:a="http://schemas.openxmlformats.org/drawingml/2006/main">
              <a:ext uri="{FF2B5EF4-FFF2-40B4-BE49-F238E27FC236}">
                <a16:creationId xmlns:a16="http://schemas.microsoft.com/office/drawing/2014/main" id="{20B13D30-C11F-4B20-8154-9F379003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38700"/>
            <a:ext cx="84201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70FA34DC-907B-4086-8909-2683B672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048250"/>
            <a:ext cx="773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下一堂：Docker Compose 全端專題，把 frontend、backend、db 和 CI/CD 串起來。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3BB3ABF-40E2-437B-894D-69CBDC96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19382AA-7C3C-49C0-B2C6-9EA2D191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3113B2A-2859-46D7-B382-DDA97A4C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12621643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2E476B2-A212-4FA4-8A93-5B524D3A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EXTRA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9678992-8A94-4CC3-A4F1-8E6ABAEC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額外補充：業界常用 SHA 當 image tag</a:t>
            </a:r>
          </a:p>
        </p:txBody>
      </p:sp>
      <p:sp>
        <p:nvSpPr>
          <p:cNvPr id="3" name="圓角矩形 2">
            <a:extLst xmlns:a="http://schemas.openxmlformats.org/drawingml/2006/main">
              <a:ext uri="{FF2B5EF4-FFF2-40B4-BE49-F238E27FC236}">
                <a16:creationId xmlns:a16="http://schemas.microsoft.com/office/drawing/2014/main" id="{A9932EF9-8B0C-4B0B-86F2-33D25690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DC768FE-3762-445E-B7EA-E935E9F8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latest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CE991A9-4B06-4151-AFE4-E2897DA8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1460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方便拉最新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但會一直移動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不適合追版本</a:t>
            </a:r>
          </a:p>
        </p:txBody>
      </p:sp>
      <p:sp>
        <p:nvSpPr>
          <p:cNvPr id="6" name="圓角矩形 5">
            <a:extLst xmlns:a="http://schemas.openxmlformats.org/drawingml/2006/main">
              <a:ext uri="{FF2B5EF4-FFF2-40B4-BE49-F238E27FC236}">
                <a16:creationId xmlns:a16="http://schemas.microsoft.com/office/drawing/2014/main" id="{F4039F80-D347-4D51-9E1B-A159C9B0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9306217B-BE3F-4A29-AEF6-AAD33804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SHA tag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314D173-7F3D-4386-85D0-5BD6E5E1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1460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對應某次 commit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可追 GitHub Actions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方便回滾除錯</a:t>
            </a:r>
          </a:p>
        </p:txBody>
      </p:sp>
      <p:sp>
        <p:nvSpPr>
          <p:cNvPr id="9" name="圓角矩形 8">
            <a:extLst xmlns:a="http://schemas.openxmlformats.org/drawingml/2006/main">
              <a:ext uri="{FF2B5EF4-FFF2-40B4-BE49-F238E27FC236}">
                <a16:creationId xmlns:a16="http://schemas.microsoft.com/office/drawing/2014/main" id="{EC9F84BC-1893-415A-92E2-768077A1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76400"/>
            <a:ext cx="3143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0E7A3F0-93F5-4D21-8323-B833DFD9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669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616" lnSpcReduction="1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業界常見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6E974B7-B1BD-49DA-8D4A-391789FD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14600"/>
            <a:ext cx="26860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同時推兩個 tag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latest + a1b2c3d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正式版再加 v1.0.0</a:t>
            </a:r>
          </a:p>
        </p:txBody>
      </p:sp>
      <p:sp>
        <p:nvSpPr>
          <p:cNvPr id="12" name="圓角矩形 11">
            <a:extLst xmlns:a="http://schemas.openxmlformats.org/drawingml/2006/main">
              <a:ext uri="{FF2B5EF4-FFF2-40B4-BE49-F238E27FC236}">
                <a16:creationId xmlns:a16="http://schemas.microsoft.com/office/drawing/2014/main" id="{20B13D30-C11F-4B20-8154-9F379003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38700"/>
            <a:ext cx="84201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70FA34DC-907B-4086-8909-2683B672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048250"/>
            <a:ext cx="773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3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備用補充：這頁可以不講；先讓學生知道 latest 方便，SHA 方便追蹤與回滾。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3BB3ABF-40E2-437B-894D-69CBDC96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19382AA-7C3C-49C0-B2C6-9EA2D191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5 堂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3113B2A-2859-46D7-B382-DDA97A4C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12621643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ppendixLabel">
            <a:extLst xmlns:a="http://schemas.openxmlformats.org/drawingml/2006/main">
              <a:ext uri="{FF2B5EF4-FFF2-40B4-BE49-F238E27FC236}">
                <a16:creationId xmlns:a16="http://schemas.microsoft.com/office/drawing/2014/main" id="{9B7636BD-0EE9-4468-A696-8C07C5EE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00"/>
            <a:ext cx="2600000" cy="2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defRPr sz="110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EXTRA PRACTICE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60EDB56-3939-4F04-A9B6-105CA620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000"/>
            <a:ext cx="10600000" cy="5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defRPr sz="230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額外練習：同時推 latest 和 SHA tag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F8A56F08-2B2E-4260-B7E8-01663C73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60000"/>
            <a:ext cx="8000000" cy="3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defRPr sz="12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想練習的同學，把原本 latest build / push 改成這三段</a:t>
            </a:r>
          </a:p>
        </p:txBody>
      </p:sp>
      <p:sp>
        <p:nvSpPr>
          <p:cNvPr id="5" name="CodeBackground">
            <a:extLst xmlns:a="http://schemas.openxmlformats.org/drawingml/2006/main">
              <a:ext uri="{FF2B5EF4-FFF2-40B4-BE49-F238E27FC236}">
                <a16:creationId xmlns:a16="http://schemas.microsoft.com/office/drawing/2014/main" id="{B85C57F0-B813-445D-B8A2-4C954652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0000"/>
            <a:ext cx="10972800" cy="437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Code">
            <a:extLst xmlns:a="http://schemas.openxmlformats.org/drawingml/2006/main">
              <a:ext uri="{FF2B5EF4-FFF2-40B4-BE49-F238E27FC236}">
                <a16:creationId xmlns:a16="http://schemas.microsoft.com/office/drawing/2014/main" id="{1B7BAB4C-2CBD-4C82-B30E-7AC0E4D7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000" y="1870000"/>
            <a:ext cx="10550000" cy="39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name: Create image tag</a:t>
            </a:r>
          </a:p>
          <a:p xmlns:a="http://schemas.openxmlformats.org/drawingml/2006/main">
            <a:pPr algn="l">
              <a:defRPr sz="13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id: meta</a:t>
            </a:r>
          </a:p>
          <a:p xmlns:a="http://schemas.openxmlformats.org/drawingml/2006/main">
            <a:pPr algn="l">
              <a:defRPr sz="13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run: echo "sha_short=$(git rev-parse --short HEAD)" &gt;&gt; "$GITHUB_OUTPUT"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name: Build image locally</a:t>
            </a:r>
          </a:p>
          <a:p xmlns:a="http://schemas.openxmlformats.org/drawingml/2006/main">
            <a:pPr algn="l">
              <a:defRPr sz="13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run: |</a:t>
            </a:r>
          </a:p>
          <a:p xmlns:a="http://schemas.openxmlformats.org/drawingml/2006/main">
            <a:pPr algn="l">
              <a:defRPr sz="13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docker build \</a:t>
            </a:r>
          </a:p>
          <a:p xmlns:a="http://schemas.openxmlformats.org/drawingml/2006/main">
            <a:pPr algn="l">
              <a:defRPr sz="13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-t $IMAGE_NAME:latest \</a:t>
            </a:r>
          </a:p>
          <a:p xmlns:a="http://schemas.openxmlformats.org/drawingml/2006/main">
            <a:pPr algn="l">
              <a:defRPr sz="13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-t $IMAGE_NAME:${{ steps.meta.outputs.sha_short }} 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 name: Push image</a:t>
            </a:r>
          </a:p>
          <a:p xmlns:a="http://schemas.openxmlformats.org/drawingml/2006/main">
            <a:pPr algn="l">
              <a:defRPr sz="13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run: |</a:t>
            </a:r>
          </a:p>
          <a:p xmlns:a="http://schemas.openxmlformats.org/drawingml/2006/main">
            <a:pPr algn="l">
              <a:defRPr sz="13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docker push $IMAGE_NAME:latest</a:t>
            </a:r>
          </a:p>
          <a:p xmlns:a="http://schemas.openxmlformats.org/drawingml/2006/main">
            <a:pPr algn="l">
              <a:defRPr sz="13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docker push $IMAGE_NAME:${{ steps.meta.outputs.sha_short }}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26DFADE-2980-4430-A46F-8C7A62BE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0000"/>
            <a:ext cx="780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5 堂 | 額外練習</a:t>
            </a:r>
          </a:p>
        </p:txBody>
      </p:sp>
      <p:sp>
        <p:nvSpPr>
          <p:cNvPr id="8" name="Page">
            <a:extLst xmlns:a="http://schemas.openxmlformats.org/drawingml/2006/main">
              <a:ext uri="{FF2B5EF4-FFF2-40B4-BE49-F238E27FC236}">
                <a16:creationId xmlns:a16="http://schemas.microsoft.com/office/drawing/2014/main" id="{A01CC0FE-CD98-462E-8F4E-A901264E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0000" y="6330000"/>
            <a:ext cx="650000" cy="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EXTRA</a:t>
            </a:r>
          </a:p>
        </p:txBody>
      </p:sp>
    </p:spTree>
    <p:extLst>
      <p:ext uri="{BB962C8B-B14F-4D97-AF65-F5344CB8AC3E}">
        <p14:creationId xmlns:p14="http://schemas.microsoft.com/office/powerpoint/2010/main" val="10934415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2026-07-01T15:54:28.9510000Z</dcterms:created>
  <dcterms:modified xsi:type="dcterms:W3CDTF">2026-07-01T15:54:28.9520000Z</dcterms:modified>
</coreProperties>
</file>